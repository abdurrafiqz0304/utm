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350" r:id="rId2"/>
    <p:sldId id="297" r:id="rId3"/>
    <p:sldId id="361" r:id="rId4"/>
    <p:sldId id="351" r:id="rId5"/>
    <p:sldId id="422" r:id="rId6"/>
    <p:sldId id="423" r:id="rId7"/>
    <p:sldId id="424" r:id="rId8"/>
    <p:sldId id="360" r:id="rId9"/>
    <p:sldId id="425" r:id="rId10"/>
    <p:sldId id="426" r:id="rId11"/>
    <p:sldId id="428" r:id="rId12"/>
    <p:sldId id="429" r:id="rId13"/>
    <p:sldId id="427" r:id="rId14"/>
    <p:sldId id="268" r:id="rId15"/>
    <p:sldId id="269" r:id="rId16"/>
    <p:sldId id="270" r:id="rId17"/>
    <p:sldId id="271" r:id="rId18"/>
    <p:sldId id="272" r:id="rId19"/>
    <p:sldId id="273" r:id="rId20"/>
    <p:sldId id="274" r:id="rId21"/>
    <p:sldId id="430" r:id="rId22"/>
    <p:sldId id="431" r:id="rId23"/>
    <p:sldId id="432" r:id="rId24"/>
    <p:sldId id="433" r:id="rId25"/>
    <p:sldId id="434" r:id="rId26"/>
    <p:sldId id="435" r:id="rId27"/>
    <p:sldId id="436" r:id="rId28"/>
    <p:sldId id="437" r:id="rId29"/>
    <p:sldId id="438" r:id="rId30"/>
    <p:sldId id="439" r:id="rId31"/>
    <p:sldId id="440" r:id="rId32"/>
    <p:sldId id="441" r:id="rId33"/>
    <p:sldId id="442" r:id="rId34"/>
    <p:sldId id="443" r:id="rId35"/>
    <p:sldId id="287" r:id="rId36"/>
    <p:sldId id="288" r:id="rId37"/>
    <p:sldId id="289" r:id="rId38"/>
    <p:sldId id="290" r:id="rId39"/>
    <p:sldId id="291" r:id="rId40"/>
    <p:sldId id="292" r:id="rId41"/>
    <p:sldId id="293" r:id="rId42"/>
    <p:sldId id="294" r:id="rId43"/>
    <p:sldId id="295" r:id="rId44"/>
    <p:sldId id="296" r:id="rId45"/>
    <p:sldId id="445" r:id="rId46"/>
    <p:sldId id="446" r:id="rId47"/>
    <p:sldId id="447" r:id="rId48"/>
    <p:sldId id="448" r:id="rId49"/>
    <p:sldId id="449"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8B745B1-CBCD-9C44-B51D-59FFB508B89E}">
          <p14:sldIdLst>
            <p14:sldId id="350"/>
            <p14:sldId id="297"/>
            <p14:sldId id="361"/>
          </p14:sldIdLst>
        </p14:section>
        <p14:section name="01 Heuristic evaluation" id="{BFCD6D87-0D06-9549-A44F-EE84C2CF001C}">
          <p14:sldIdLst>
            <p14:sldId id="351"/>
            <p14:sldId id="422"/>
            <p14:sldId id="423"/>
            <p14:sldId id="424"/>
            <p14:sldId id="360"/>
            <p14:sldId id="425"/>
            <p14:sldId id="426"/>
            <p14:sldId id="428"/>
            <p14:sldId id="429"/>
            <p14:sldId id="427"/>
            <p14:sldId id="268"/>
            <p14:sldId id="269"/>
            <p14:sldId id="270"/>
            <p14:sldId id="271"/>
            <p14:sldId id="272"/>
            <p14:sldId id="273"/>
            <p14:sldId id="274"/>
            <p14:sldId id="430"/>
            <p14:sldId id="431"/>
            <p14:sldId id="432"/>
          </p14:sldIdLst>
        </p14:section>
        <p14:section name="02 COGNITIVE WALKTHROUGH" id="{76CD747B-A60A-D748-81C3-FA5ABA452E3E}">
          <p14:sldIdLst>
            <p14:sldId id="433"/>
            <p14:sldId id="434"/>
            <p14:sldId id="435"/>
            <p14:sldId id="436"/>
          </p14:sldIdLst>
        </p14:section>
        <p14:section name="03 Analytics" id="{CC7C7349-F3FC-EF4F-B050-8EB8B73FEC44}">
          <p14:sldIdLst>
            <p14:sldId id="437"/>
            <p14:sldId id="438"/>
            <p14:sldId id="439"/>
            <p14:sldId id="440"/>
            <p14:sldId id="441"/>
            <p14:sldId id="442"/>
            <p14:sldId id="443"/>
            <p14:sldId id="287"/>
            <p14:sldId id="288"/>
            <p14:sldId id="289"/>
            <p14:sldId id="290"/>
            <p14:sldId id="291"/>
            <p14:sldId id="292"/>
            <p14:sldId id="293"/>
            <p14:sldId id="294"/>
            <p14:sldId id="295"/>
            <p14:sldId id="296"/>
            <p14:sldId id="445"/>
            <p14:sldId id="446"/>
            <p14:sldId id="447"/>
            <p14:sldId id="448"/>
            <p14:sldId id="44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A6A6A6"/>
    <a:srgbClr val="5F5F5F"/>
    <a:srgbClr val="D9D9D9"/>
    <a:srgbClr val="2C2C2C"/>
    <a:srgbClr val="74121D"/>
    <a:srgbClr val="351F2D"/>
    <a:srgbClr val="5A5A5A"/>
    <a:srgbClr val="D3A76D"/>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FC7B7-EC16-8645-B6F0-D9F0747F1495}" v="174" dt="2025-06-11T17:13:47.6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8966" autoAdjust="0"/>
    <p:restoredTop sz="92409" autoAdjust="0"/>
  </p:normalViewPr>
  <p:slideViewPr>
    <p:cSldViewPr snapToGrid="0">
      <p:cViewPr varScale="1">
        <p:scale>
          <a:sx n="63" d="100"/>
          <a:sy n="63" d="100"/>
        </p:scale>
        <p:origin x="4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1D7E4D-1C43-4CE4-B917-58544725CB43}"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MY"/>
        </a:p>
      </dgm:t>
    </dgm:pt>
    <dgm:pt modelId="{0C039468-0CCD-47CA-B086-42AB657CBB90}">
      <dgm:prSet phldrT="[Text]"/>
      <dgm:spPr/>
      <dgm:t>
        <a:bodyPr/>
        <a:lstStyle/>
        <a:p>
          <a:pPr>
            <a:buFont typeface="Arial" panose="020B0604020202020204" pitchFamily="34" charset="0"/>
            <a:buChar char="•"/>
          </a:pPr>
          <a:r>
            <a:rPr lang="en-US" dirty="0">
              <a:solidFill>
                <a:schemeClr val="bg1"/>
              </a:solidFill>
            </a:rPr>
            <a:t>Simplicity</a:t>
          </a:r>
          <a:endParaRPr lang="en-MY" dirty="0">
            <a:solidFill>
              <a:schemeClr val="bg1"/>
            </a:solidFill>
          </a:endParaRPr>
        </a:p>
      </dgm:t>
    </dgm:pt>
    <dgm:pt modelId="{834F5BC1-AA36-4C3D-BCE3-B58DCFE6ED16}" type="parTrans" cxnId="{E9C8DA9D-596C-4D9F-AAA6-7EEDD4D87F6F}">
      <dgm:prSet/>
      <dgm:spPr/>
      <dgm:t>
        <a:bodyPr/>
        <a:lstStyle/>
        <a:p>
          <a:endParaRPr lang="en-MY"/>
        </a:p>
      </dgm:t>
    </dgm:pt>
    <dgm:pt modelId="{B0E80381-00CE-4DE5-B374-D46878A40EFB}" type="sibTrans" cxnId="{E9C8DA9D-596C-4D9F-AAA6-7EEDD4D87F6F}">
      <dgm:prSet/>
      <dgm:spPr/>
      <dgm:t>
        <a:bodyPr/>
        <a:lstStyle/>
        <a:p>
          <a:endParaRPr lang="en-MY"/>
        </a:p>
      </dgm:t>
    </dgm:pt>
    <dgm:pt modelId="{8DE23804-F1C1-41A6-A4BD-8FB92F217CED}">
      <dgm:prSet/>
      <dgm:spPr/>
      <dgm:t>
        <a:bodyPr/>
        <a:lstStyle/>
        <a:p>
          <a:r>
            <a:rPr lang="en-US" dirty="0">
              <a:solidFill>
                <a:schemeClr val="bg1"/>
              </a:solidFill>
            </a:rPr>
            <a:t>Proximity</a:t>
          </a:r>
        </a:p>
      </dgm:t>
    </dgm:pt>
    <dgm:pt modelId="{0D4DD881-5D88-46AA-8730-4CC441B72F31}" type="parTrans" cxnId="{1CEC3BDB-E525-48FD-B17C-691F34BE5C2A}">
      <dgm:prSet/>
      <dgm:spPr/>
      <dgm:t>
        <a:bodyPr/>
        <a:lstStyle/>
        <a:p>
          <a:endParaRPr lang="en-MY"/>
        </a:p>
      </dgm:t>
    </dgm:pt>
    <dgm:pt modelId="{A4B705D8-8670-4BA8-B137-6C0F492ED55B}" type="sibTrans" cxnId="{1CEC3BDB-E525-48FD-B17C-691F34BE5C2A}">
      <dgm:prSet/>
      <dgm:spPr/>
      <dgm:t>
        <a:bodyPr/>
        <a:lstStyle/>
        <a:p>
          <a:endParaRPr lang="en-MY"/>
        </a:p>
      </dgm:t>
    </dgm:pt>
    <dgm:pt modelId="{A1995D4A-8FDB-480C-9990-5DB53E46211B}">
      <dgm:prSet/>
      <dgm:spPr/>
      <dgm:t>
        <a:bodyPr/>
        <a:lstStyle/>
        <a:p>
          <a:r>
            <a:rPr lang="en-US" dirty="0">
              <a:solidFill>
                <a:schemeClr val="bg1"/>
              </a:solidFill>
            </a:rPr>
            <a:t>Enclosure</a:t>
          </a:r>
        </a:p>
      </dgm:t>
    </dgm:pt>
    <dgm:pt modelId="{86306F05-42DF-401B-BD6F-4A0818972496}" type="parTrans" cxnId="{D4FE1F9A-A126-4514-9734-7497FA48637A}">
      <dgm:prSet/>
      <dgm:spPr/>
      <dgm:t>
        <a:bodyPr/>
        <a:lstStyle/>
        <a:p>
          <a:endParaRPr lang="en-MY"/>
        </a:p>
      </dgm:t>
    </dgm:pt>
    <dgm:pt modelId="{D17438BD-248C-4183-8DA3-73F383F99A4B}" type="sibTrans" cxnId="{D4FE1F9A-A126-4514-9734-7497FA48637A}">
      <dgm:prSet/>
      <dgm:spPr/>
      <dgm:t>
        <a:bodyPr/>
        <a:lstStyle/>
        <a:p>
          <a:endParaRPr lang="en-MY"/>
        </a:p>
      </dgm:t>
    </dgm:pt>
    <dgm:pt modelId="{5E169C79-DEC9-4A14-88D6-312ADD999099}">
      <dgm:prSet/>
      <dgm:spPr/>
      <dgm:t>
        <a:bodyPr/>
        <a:lstStyle/>
        <a:p>
          <a:r>
            <a:rPr lang="en-US" dirty="0">
              <a:solidFill>
                <a:schemeClr val="bg1"/>
              </a:solidFill>
            </a:rPr>
            <a:t>Continuation</a:t>
          </a:r>
        </a:p>
      </dgm:t>
    </dgm:pt>
    <dgm:pt modelId="{E54823F0-AC85-42AF-AA39-6E286E7887A4}" type="parTrans" cxnId="{34C79C64-2E68-431E-951E-3ABEEA0C6290}">
      <dgm:prSet/>
      <dgm:spPr/>
      <dgm:t>
        <a:bodyPr/>
        <a:lstStyle/>
        <a:p>
          <a:endParaRPr lang="en-MY"/>
        </a:p>
      </dgm:t>
    </dgm:pt>
    <dgm:pt modelId="{0C1A61C4-8BC5-4C6E-9A25-42DA4146D9C3}" type="sibTrans" cxnId="{34C79C64-2E68-431E-951E-3ABEEA0C6290}">
      <dgm:prSet/>
      <dgm:spPr/>
      <dgm:t>
        <a:bodyPr/>
        <a:lstStyle/>
        <a:p>
          <a:endParaRPr lang="en-MY"/>
        </a:p>
      </dgm:t>
    </dgm:pt>
    <dgm:pt modelId="{AE28E608-02E3-4C15-B6E8-F5DE53EF4992}">
      <dgm:prSet/>
      <dgm:spPr/>
      <dgm:t>
        <a:bodyPr/>
        <a:lstStyle/>
        <a:p>
          <a:r>
            <a:rPr lang="en-US" dirty="0">
              <a:solidFill>
                <a:schemeClr val="bg1"/>
              </a:solidFill>
            </a:rPr>
            <a:t>Figure and Ground</a:t>
          </a:r>
        </a:p>
      </dgm:t>
    </dgm:pt>
    <dgm:pt modelId="{1DA6C01B-920E-45EB-A284-811CDED33F9D}" type="parTrans" cxnId="{120B7A63-5718-4118-BA95-B3B4606CD7BD}">
      <dgm:prSet/>
      <dgm:spPr/>
      <dgm:t>
        <a:bodyPr/>
        <a:lstStyle/>
        <a:p>
          <a:endParaRPr lang="en-MY"/>
        </a:p>
      </dgm:t>
    </dgm:pt>
    <dgm:pt modelId="{67AA04CA-C799-45D3-A2BE-11BB1D6F5995}" type="sibTrans" cxnId="{120B7A63-5718-4118-BA95-B3B4606CD7BD}">
      <dgm:prSet/>
      <dgm:spPr/>
      <dgm:t>
        <a:bodyPr/>
        <a:lstStyle/>
        <a:p>
          <a:endParaRPr lang="en-MY"/>
        </a:p>
      </dgm:t>
    </dgm:pt>
    <dgm:pt modelId="{1C920065-8A84-49C1-8CB8-EF08A3AC9B6F}" type="pres">
      <dgm:prSet presAssocID="{0D1D7E4D-1C43-4CE4-B917-58544725CB43}" presName="diagram" presStyleCnt="0">
        <dgm:presLayoutVars>
          <dgm:dir/>
          <dgm:resizeHandles val="exact"/>
        </dgm:presLayoutVars>
      </dgm:prSet>
      <dgm:spPr/>
    </dgm:pt>
    <dgm:pt modelId="{C1AD5044-7B8E-4E57-B163-35186260FD89}" type="pres">
      <dgm:prSet presAssocID="{0C039468-0CCD-47CA-B086-42AB657CBB90}" presName="node" presStyleLbl="node1" presStyleIdx="0" presStyleCnt="5">
        <dgm:presLayoutVars>
          <dgm:bulletEnabled val="1"/>
        </dgm:presLayoutVars>
      </dgm:prSet>
      <dgm:spPr/>
    </dgm:pt>
    <dgm:pt modelId="{E6A18C3F-1AC6-46FF-9A91-D153E75F8492}" type="pres">
      <dgm:prSet presAssocID="{B0E80381-00CE-4DE5-B374-D46878A40EFB}" presName="sibTrans" presStyleCnt="0"/>
      <dgm:spPr/>
    </dgm:pt>
    <dgm:pt modelId="{56C5F8FE-BCF3-4978-9EDC-425947F723C6}" type="pres">
      <dgm:prSet presAssocID="{8DE23804-F1C1-41A6-A4BD-8FB92F217CED}" presName="node" presStyleLbl="node1" presStyleIdx="1" presStyleCnt="5">
        <dgm:presLayoutVars>
          <dgm:bulletEnabled val="1"/>
        </dgm:presLayoutVars>
      </dgm:prSet>
      <dgm:spPr/>
    </dgm:pt>
    <dgm:pt modelId="{65D9E822-023B-49C5-A8E7-EA3B7D5160F3}" type="pres">
      <dgm:prSet presAssocID="{A4B705D8-8670-4BA8-B137-6C0F492ED55B}" presName="sibTrans" presStyleCnt="0"/>
      <dgm:spPr/>
    </dgm:pt>
    <dgm:pt modelId="{798F245B-4AA6-4E2D-B171-A21DA47CBFDA}" type="pres">
      <dgm:prSet presAssocID="{A1995D4A-8FDB-480C-9990-5DB53E46211B}" presName="node" presStyleLbl="node1" presStyleIdx="2" presStyleCnt="5">
        <dgm:presLayoutVars>
          <dgm:bulletEnabled val="1"/>
        </dgm:presLayoutVars>
      </dgm:prSet>
      <dgm:spPr/>
    </dgm:pt>
    <dgm:pt modelId="{C6B739D8-48F8-4C03-8FD1-991D4107468F}" type="pres">
      <dgm:prSet presAssocID="{D17438BD-248C-4183-8DA3-73F383F99A4B}" presName="sibTrans" presStyleCnt="0"/>
      <dgm:spPr/>
    </dgm:pt>
    <dgm:pt modelId="{0662D6AA-F044-4441-A44E-9ED887D939BD}" type="pres">
      <dgm:prSet presAssocID="{5E169C79-DEC9-4A14-88D6-312ADD999099}" presName="node" presStyleLbl="node1" presStyleIdx="3" presStyleCnt="5">
        <dgm:presLayoutVars>
          <dgm:bulletEnabled val="1"/>
        </dgm:presLayoutVars>
      </dgm:prSet>
      <dgm:spPr/>
    </dgm:pt>
    <dgm:pt modelId="{67A2187F-9DC3-405A-A8F7-D640DF3D18F8}" type="pres">
      <dgm:prSet presAssocID="{0C1A61C4-8BC5-4C6E-9A25-42DA4146D9C3}" presName="sibTrans" presStyleCnt="0"/>
      <dgm:spPr/>
    </dgm:pt>
    <dgm:pt modelId="{11871354-E4FA-469B-9D91-5D00389EACD9}" type="pres">
      <dgm:prSet presAssocID="{AE28E608-02E3-4C15-B6E8-F5DE53EF4992}" presName="node" presStyleLbl="node1" presStyleIdx="4" presStyleCnt="5">
        <dgm:presLayoutVars>
          <dgm:bulletEnabled val="1"/>
        </dgm:presLayoutVars>
      </dgm:prSet>
      <dgm:spPr/>
    </dgm:pt>
  </dgm:ptLst>
  <dgm:cxnLst>
    <dgm:cxn modelId="{08D7702D-2E56-459A-8E13-FB3319FD1CF5}" type="presOf" srcId="{8DE23804-F1C1-41A6-A4BD-8FB92F217CED}" destId="{56C5F8FE-BCF3-4978-9EDC-425947F723C6}" srcOrd="0" destOrd="0" presId="urn:microsoft.com/office/officeart/2005/8/layout/default"/>
    <dgm:cxn modelId="{7A36163E-6FB1-44DC-894C-235BB83B7CCE}" type="presOf" srcId="{0C039468-0CCD-47CA-B086-42AB657CBB90}" destId="{C1AD5044-7B8E-4E57-B163-35186260FD89}" srcOrd="0" destOrd="0" presId="urn:microsoft.com/office/officeart/2005/8/layout/default"/>
    <dgm:cxn modelId="{9EBA323E-564F-4ACB-B6E2-6E1FA1E183C3}" type="presOf" srcId="{AE28E608-02E3-4C15-B6E8-F5DE53EF4992}" destId="{11871354-E4FA-469B-9D91-5D00389EACD9}" srcOrd="0" destOrd="0" presId="urn:microsoft.com/office/officeart/2005/8/layout/default"/>
    <dgm:cxn modelId="{36A49D62-8DC9-43C9-8D43-40D93A9D73FA}" type="presOf" srcId="{5E169C79-DEC9-4A14-88D6-312ADD999099}" destId="{0662D6AA-F044-4441-A44E-9ED887D939BD}" srcOrd="0" destOrd="0" presId="urn:microsoft.com/office/officeart/2005/8/layout/default"/>
    <dgm:cxn modelId="{120B7A63-5718-4118-BA95-B3B4606CD7BD}" srcId="{0D1D7E4D-1C43-4CE4-B917-58544725CB43}" destId="{AE28E608-02E3-4C15-B6E8-F5DE53EF4992}" srcOrd="4" destOrd="0" parTransId="{1DA6C01B-920E-45EB-A284-811CDED33F9D}" sibTransId="{67AA04CA-C799-45D3-A2BE-11BB1D6F5995}"/>
    <dgm:cxn modelId="{34C79C64-2E68-431E-951E-3ABEEA0C6290}" srcId="{0D1D7E4D-1C43-4CE4-B917-58544725CB43}" destId="{5E169C79-DEC9-4A14-88D6-312ADD999099}" srcOrd="3" destOrd="0" parTransId="{E54823F0-AC85-42AF-AA39-6E286E7887A4}" sibTransId="{0C1A61C4-8BC5-4C6E-9A25-42DA4146D9C3}"/>
    <dgm:cxn modelId="{606B2B7F-AF29-45D7-803F-C65809C8391F}" type="presOf" srcId="{0D1D7E4D-1C43-4CE4-B917-58544725CB43}" destId="{1C920065-8A84-49C1-8CB8-EF08A3AC9B6F}" srcOrd="0" destOrd="0" presId="urn:microsoft.com/office/officeart/2005/8/layout/default"/>
    <dgm:cxn modelId="{D4FE1F9A-A126-4514-9734-7497FA48637A}" srcId="{0D1D7E4D-1C43-4CE4-B917-58544725CB43}" destId="{A1995D4A-8FDB-480C-9990-5DB53E46211B}" srcOrd="2" destOrd="0" parTransId="{86306F05-42DF-401B-BD6F-4A0818972496}" sibTransId="{D17438BD-248C-4183-8DA3-73F383F99A4B}"/>
    <dgm:cxn modelId="{E9C8DA9D-596C-4D9F-AAA6-7EEDD4D87F6F}" srcId="{0D1D7E4D-1C43-4CE4-B917-58544725CB43}" destId="{0C039468-0CCD-47CA-B086-42AB657CBB90}" srcOrd="0" destOrd="0" parTransId="{834F5BC1-AA36-4C3D-BCE3-B58DCFE6ED16}" sibTransId="{B0E80381-00CE-4DE5-B374-D46878A40EFB}"/>
    <dgm:cxn modelId="{1CEC3BDB-E525-48FD-B17C-691F34BE5C2A}" srcId="{0D1D7E4D-1C43-4CE4-B917-58544725CB43}" destId="{8DE23804-F1C1-41A6-A4BD-8FB92F217CED}" srcOrd="1" destOrd="0" parTransId="{0D4DD881-5D88-46AA-8730-4CC441B72F31}" sibTransId="{A4B705D8-8670-4BA8-B137-6C0F492ED55B}"/>
    <dgm:cxn modelId="{EA540AE5-CE2B-472A-9DFA-9780313CDDB7}" type="presOf" srcId="{A1995D4A-8FDB-480C-9990-5DB53E46211B}" destId="{798F245B-4AA6-4E2D-B171-A21DA47CBFDA}" srcOrd="0" destOrd="0" presId="urn:microsoft.com/office/officeart/2005/8/layout/default"/>
    <dgm:cxn modelId="{00F6431D-7C09-4231-8F51-F26F07000D95}" type="presParOf" srcId="{1C920065-8A84-49C1-8CB8-EF08A3AC9B6F}" destId="{C1AD5044-7B8E-4E57-B163-35186260FD89}" srcOrd="0" destOrd="0" presId="urn:microsoft.com/office/officeart/2005/8/layout/default"/>
    <dgm:cxn modelId="{2D48D94A-7AB9-49F5-96CB-F9FCE58B7AA1}" type="presParOf" srcId="{1C920065-8A84-49C1-8CB8-EF08A3AC9B6F}" destId="{E6A18C3F-1AC6-46FF-9A91-D153E75F8492}" srcOrd="1" destOrd="0" presId="urn:microsoft.com/office/officeart/2005/8/layout/default"/>
    <dgm:cxn modelId="{4A5F8828-8E76-42EC-A01A-91301E66F547}" type="presParOf" srcId="{1C920065-8A84-49C1-8CB8-EF08A3AC9B6F}" destId="{56C5F8FE-BCF3-4978-9EDC-425947F723C6}" srcOrd="2" destOrd="0" presId="urn:microsoft.com/office/officeart/2005/8/layout/default"/>
    <dgm:cxn modelId="{B8184D18-DEE4-489E-BF7F-02ED44CD4CEF}" type="presParOf" srcId="{1C920065-8A84-49C1-8CB8-EF08A3AC9B6F}" destId="{65D9E822-023B-49C5-A8E7-EA3B7D5160F3}" srcOrd="3" destOrd="0" presId="urn:microsoft.com/office/officeart/2005/8/layout/default"/>
    <dgm:cxn modelId="{C6172B17-1AFB-44BA-A168-48B7B05FC429}" type="presParOf" srcId="{1C920065-8A84-49C1-8CB8-EF08A3AC9B6F}" destId="{798F245B-4AA6-4E2D-B171-A21DA47CBFDA}" srcOrd="4" destOrd="0" presId="urn:microsoft.com/office/officeart/2005/8/layout/default"/>
    <dgm:cxn modelId="{801187A8-1D6C-4B38-A395-9E49464C9BD5}" type="presParOf" srcId="{1C920065-8A84-49C1-8CB8-EF08A3AC9B6F}" destId="{C6B739D8-48F8-4C03-8FD1-991D4107468F}" srcOrd="5" destOrd="0" presId="urn:microsoft.com/office/officeart/2005/8/layout/default"/>
    <dgm:cxn modelId="{E5D2EEF9-363B-486A-9EC7-BB1FF2AD1F2C}" type="presParOf" srcId="{1C920065-8A84-49C1-8CB8-EF08A3AC9B6F}" destId="{0662D6AA-F044-4441-A44E-9ED887D939BD}" srcOrd="6" destOrd="0" presId="urn:microsoft.com/office/officeart/2005/8/layout/default"/>
    <dgm:cxn modelId="{3222B21A-EF59-4A60-A847-FE20017DD2BD}" type="presParOf" srcId="{1C920065-8A84-49C1-8CB8-EF08A3AC9B6F}" destId="{67A2187F-9DC3-405A-A8F7-D640DF3D18F8}" srcOrd="7" destOrd="0" presId="urn:microsoft.com/office/officeart/2005/8/layout/default"/>
    <dgm:cxn modelId="{335276B1-ED89-424A-BB14-4010451F45CE}" type="presParOf" srcId="{1C920065-8A84-49C1-8CB8-EF08A3AC9B6F}" destId="{11871354-E4FA-469B-9D91-5D00389EACD9}"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D5044-7B8E-4E57-B163-35186260FD89}">
      <dsp:nvSpPr>
        <dsp:cNvPr id="0" name=""/>
        <dsp:cNvSpPr/>
      </dsp:nvSpPr>
      <dsp:spPr>
        <a:xfrm>
          <a:off x="569073" y="338"/>
          <a:ext cx="2008494" cy="120509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Font typeface="Arial" panose="020B0604020202020204" pitchFamily="34" charset="0"/>
            <a:buNone/>
          </a:pPr>
          <a:r>
            <a:rPr lang="en-US" sz="2200" kern="1200" dirty="0">
              <a:solidFill>
                <a:schemeClr val="bg1"/>
              </a:solidFill>
            </a:rPr>
            <a:t>Simplicity</a:t>
          </a:r>
          <a:endParaRPr lang="en-MY" sz="2200" kern="1200" dirty="0">
            <a:solidFill>
              <a:schemeClr val="bg1"/>
            </a:solidFill>
          </a:endParaRPr>
        </a:p>
      </dsp:txBody>
      <dsp:txXfrm>
        <a:off x="569073" y="338"/>
        <a:ext cx="2008494" cy="1205096"/>
      </dsp:txXfrm>
    </dsp:sp>
    <dsp:sp modelId="{56C5F8FE-BCF3-4978-9EDC-425947F723C6}">
      <dsp:nvSpPr>
        <dsp:cNvPr id="0" name=""/>
        <dsp:cNvSpPr/>
      </dsp:nvSpPr>
      <dsp:spPr>
        <a:xfrm>
          <a:off x="2778417" y="338"/>
          <a:ext cx="2008494" cy="120509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rPr>
            <a:t>Proximity</a:t>
          </a:r>
        </a:p>
      </dsp:txBody>
      <dsp:txXfrm>
        <a:off x="2778417" y="338"/>
        <a:ext cx="2008494" cy="1205096"/>
      </dsp:txXfrm>
    </dsp:sp>
    <dsp:sp modelId="{798F245B-4AA6-4E2D-B171-A21DA47CBFDA}">
      <dsp:nvSpPr>
        <dsp:cNvPr id="0" name=""/>
        <dsp:cNvSpPr/>
      </dsp:nvSpPr>
      <dsp:spPr>
        <a:xfrm>
          <a:off x="569073" y="1406284"/>
          <a:ext cx="2008494" cy="120509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rPr>
            <a:t>Enclosure</a:t>
          </a:r>
        </a:p>
      </dsp:txBody>
      <dsp:txXfrm>
        <a:off x="569073" y="1406284"/>
        <a:ext cx="2008494" cy="1205096"/>
      </dsp:txXfrm>
    </dsp:sp>
    <dsp:sp modelId="{0662D6AA-F044-4441-A44E-9ED887D939BD}">
      <dsp:nvSpPr>
        <dsp:cNvPr id="0" name=""/>
        <dsp:cNvSpPr/>
      </dsp:nvSpPr>
      <dsp:spPr>
        <a:xfrm>
          <a:off x="2778417" y="1406284"/>
          <a:ext cx="2008494" cy="120509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rPr>
            <a:t>Continuation</a:t>
          </a:r>
        </a:p>
      </dsp:txBody>
      <dsp:txXfrm>
        <a:off x="2778417" y="1406284"/>
        <a:ext cx="2008494" cy="1205096"/>
      </dsp:txXfrm>
    </dsp:sp>
    <dsp:sp modelId="{11871354-E4FA-469B-9D91-5D00389EACD9}">
      <dsp:nvSpPr>
        <dsp:cNvPr id="0" name=""/>
        <dsp:cNvSpPr/>
      </dsp:nvSpPr>
      <dsp:spPr>
        <a:xfrm>
          <a:off x="1673745" y="2812230"/>
          <a:ext cx="2008494" cy="120509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chemeClr val="bg1"/>
              </a:solidFill>
            </a:rPr>
            <a:t>Figure and Ground</a:t>
          </a:r>
        </a:p>
      </dsp:txBody>
      <dsp:txXfrm>
        <a:off x="1673745" y="2812230"/>
        <a:ext cx="2008494" cy="120509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C0A0B-0DD5-4CD4-9112-161D1F3640A5}" type="datetimeFigureOut">
              <a:rPr lang="en-MY" smtClean="0"/>
              <a:t>18/12/2025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F4BD2-F681-4682-A133-A395F45EFB31}" type="slidenum">
              <a:rPr lang="en-MY" smtClean="0"/>
              <a:t>‹#›</a:t>
            </a:fld>
            <a:endParaRPr lang="en-MY"/>
          </a:p>
        </p:txBody>
      </p:sp>
    </p:spTree>
    <p:extLst>
      <p:ext uri="{BB962C8B-B14F-4D97-AF65-F5344CB8AC3E}">
        <p14:creationId xmlns:p14="http://schemas.microsoft.com/office/powerpoint/2010/main" val="5168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aa0818392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gaa0818392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gaa08183922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08183922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8" name="Google Shape;228;gaa08183922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gaa08183922_0_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aa08183922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aa08183922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gaa08183922_0_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4" name="Google Shape;384;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Times"/>
                <a:ea typeface="Times"/>
                <a:cs typeface="Times"/>
                <a:sym typeface="Times"/>
              </a:rPr>
              <a:t>36</a:t>
            </a:fld>
            <a:endParaRPr sz="1200">
              <a:solidFill>
                <a:schemeClr val="dk1"/>
              </a:solidFill>
              <a:latin typeface="Times"/>
              <a:ea typeface="Times"/>
              <a:cs typeface="Times"/>
              <a:sym typeface="Times"/>
            </a:endParaRPr>
          </a:p>
        </p:txBody>
      </p:sp>
      <p:sp>
        <p:nvSpPr>
          <p:cNvPr id="389" name="Google Shape;38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0" name="Google Shape;39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latin typeface="Times"/>
              <a:ea typeface="Times"/>
              <a:cs typeface="Times"/>
              <a:sym typeface="Time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Times"/>
                <a:ea typeface="Times"/>
                <a:cs typeface="Times"/>
                <a:sym typeface="Times"/>
              </a:rPr>
              <a:t>37</a:t>
            </a:fld>
            <a:endParaRPr sz="1200">
              <a:solidFill>
                <a:schemeClr val="dk1"/>
              </a:solidFill>
              <a:latin typeface="Times"/>
              <a:ea typeface="Times"/>
              <a:cs typeface="Times"/>
              <a:sym typeface="Times"/>
            </a:endParaRPr>
          </a:p>
        </p:txBody>
      </p:sp>
      <p:sp>
        <p:nvSpPr>
          <p:cNvPr id="397" name="Google Shape;39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8" name="Google Shape;398;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r>
              <a:rPr lang="en-US">
                <a:latin typeface="Times"/>
                <a:ea typeface="Times"/>
                <a:cs typeface="Times"/>
                <a:sym typeface="Times"/>
              </a:rPr>
              <a:t>Age has a significant impact on speed and accuracy</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5" name="Google Shape;40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0" name="Google Shape;410;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Times"/>
                <a:ea typeface="Times"/>
                <a:cs typeface="Times"/>
                <a:sym typeface="Times"/>
              </a:rPr>
              <a:t>40</a:t>
            </a:fld>
            <a:endParaRPr sz="1200">
              <a:solidFill>
                <a:schemeClr val="dk1"/>
              </a:solidFill>
              <a:latin typeface="Times"/>
              <a:ea typeface="Times"/>
              <a:cs typeface="Times"/>
              <a:sym typeface="Times"/>
            </a:endParaRPr>
          </a:p>
        </p:txBody>
      </p:sp>
      <p:sp>
        <p:nvSpPr>
          <p:cNvPr id="415" name="Google Shape;41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16" name="Google Shape;416;p29: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latin typeface="Times"/>
              <a:ea typeface="Times"/>
              <a:cs typeface="Times"/>
              <a:sym typeface="Time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Times"/>
                <a:ea typeface="Times"/>
                <a:cs typeface="Times"/>
                <a:sym typeface="Times"/>
              </a:rPr>
              <a:t>41</a:t>
            </a:fld>
            <a:endParaRPr sz="1200">
              <a:solidFill>
                <a:schemeClr val="dk1"/>
              </a:solidFill>
              <a:latin typeface="Times"/>
              <a:ea typeface="Times"/>
              <a:cs typeface="Times"/>
              <a:sym typeface="Times"/>
            </a:endParaRPr>
          </a:p>
        </p:txBody>
      </p:sp>
      <p:sp>
        <p:nvSpPr>
          <p:cNvPr id="425" name="Google Shape;42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26" name="Google Shape;426;p30: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latin typeface="Times"/>
              <a:ea typeface="Times"/>
              <a:cs typeface="Times"/>
              <a:sym typeface="Time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solidFill>
                  <a:schemeClr val="dk1"/>
                </a:solidFill>
                <a:latin typeface="Times"/>
                <a:ea typeface="Times"/>
                <a:cs typeface="Times"/>
                <a:sym typeface="Times"/>
              </a:rPr>
              <a:t>42</a:t>
            </a:fld>
            <a:endParaRPr sz="1200">
              <a:solidFill>
                <a:schemeClr val="dk1"/>
              </a:solidFill>
              <a:latin typeface="Times"/>
              <a:ea typeface="Times"/>
              <a:cs typeface="Times"/>
              <a:sym typeface="Times"/>
            </a:endParaRPr>
          </a:p>
        </p:txBody>
      </p:sp>
      <p:sp>
        <p:nvSpPr>
          <p:cNvPr id="434" name="Google Shape;4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a:noFill/>
          </a:ln>
        </p:spPr>
      </p:sp>
      <p:sp>
        <p:nvSpPr>
          <p:cNvPr id="435" name="Google Shape;435;p31:notes"/>
          <p:cNvSpPr txBox="1">
            <a:spLocks noGrp="1"/>
          </p:cNvSpPr>
          <p:nvPr>
            <p:ph type="body" idx="1"/>
          </p:nvPr>
        </p:nvSpPr>
        <p:spPr>
          <a:xfrm>
            <a:off x="685800" y="4343400"/>
            <a:ext cx="5486400" cy="4114800"/>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latin typeface="Times"/>
              <a:ea typeface="Times"/>
              <a:cs typeface="Times"/>
              <a:sym typeface="Time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47A934-3E89-05AD-D5A0-7A5B35BA2332}"/>
              </a:ext>
            </a:extLst>
          </p:cNvPr>
          <p:cNvPicPr>
            <a:picLocks noChangeAspect="1"/>
          </p:cNvPicPr>
          <p:nvPr userDrawn="1"/>
        </p:nvPicPr>
        <p:blipFill>
          <a:blip r:embed="rId2"/>
          <a:stretch>
            <a:fillRect/>
          </a:stretch>
        </p:blipFill>
        <p:spPr>
          <a:xfrm flipV="1">
            <a:off x="-5939" y="3718377"/>
            <a:ext cx="12192000" cy="3139623"/>
          </a:xfrm>
          <a:prstGeom prst="rect">
            <a:avLst/>
          </a:prstGeom>
        </p:spPr>
      </p:pic>
      <p:pic>
        <p:nvPicPr>
          <p:cNvPr id="22" name="Graphic 21">
            <a:extLst>
              <a:ext uri="{FF2B5EF4-FFF2-40B4-BE49-F238E27FC236}">
                <a16:creationId xmlns:a16="http://schemas.microsoft.com/office/drawing/2014/main" id="{E508D8A1-89F7-FAFD-B2C1-05BE220248EC}"/>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939" y="0"/>
            <a:ext cx="8736520" cy="6858000"/>
          </a:xfrm>
          <a:prstGeom prst="rect">
            <a:avLst/>
          </a:prstGeom>
        </p:spPr>
      </p:pic>
      <p:pic>
        <p:nvPicPr>
          <p:cNvPr id="13" name="Picture 12" descr="Logo&#10;&#10;Description automatically generated">
            <a:extLst>
              <a:ext uri="{FF2B5EF4-FFF2-40B4-BE49-F238E27FC236}">
                <a16:creationId xmlns:a16="http://schemas.microsoft.com/office/drawing/2014/main" id="{F9298E6D-C367-3666-0F68-F1EE2297B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812346" y="943365"/>
            <a:ext cx="1963312" cy="664029"/>
          </a:xfrm>
          <a:prstGeom prst="rect">
            <a:avLst/>
          </a:prstGeom>
        </p:spPr>
      </p:pic>
      <p:sp>
        <p:nvSpPr>
          <p:cNvPr id="5" name="Picture Placeholder 58">
            <a:extLst>
              <a:ext uri="{FF2B5EF4-FFF2-40B4-BE49-F238E27FC236}">
                <a16:creationId xmlns:a16="http://schemas.microsoft.com/office/drawing/2014/main" id="{E4A24835-5836-BEDC-49A3-504DF24B1D3B}"/>
              </a:ext>
            </a:extLst>
          </p:cNvPr>
          <p:cNvSpPr>
            <a:spLocks noGrp="1"/>
          </p:cNvSpPr>
          <p:nvPr>
            <p:ph type="pic" sz="quarter" idx="10"/>
          </p:nvPr>
        </p:nvSpPr>
        <p:spPr>
          <a:xfrm>
            <a:off x="7093358" y="-16187"/>
            <a:ext cx="5097012" cy="6880967"/>
          </a:xfrm>
          <a:custGeom>
            <a:avLst/>
            <a:gdLst>
              <a:gd name="connsiteX0" fmla="*/ 0 w 7679193"/>
              <a:gd name="connsiteY0" fmla="*/ 3502541 h 7005082"/>
              <a:gd name="connsiteX1" fmla="*/ 1751271 w 7679193"/>
              <a:gd name="connsiteY1" fmla="*/ 2 h 7005082"/>
              <a:gd name="connsiteX2" fmla="*/ 5927923 w 7679193"/>
              <a:gd name="connsiteY2" fmla="*/ 2 h 7005082"/>
              <a:gd name="connsiteX3" fmla="*/ 7679193 w 7679193"/>
              <a:gd name="connsiteY3" fmla="*/ 3502541 h 7005082"/>
              <a:gd name="connsiteX4" fmla="*/ 5927923 w 7679193"/>
              <a:gd name="connsiteY4" fmla="*/ 7005080 h 7005082"/>
              <a:gd name="connsiteX5" fmla="*/ 1751271 w 7679193"/>
              <a:gd name="connsiteY5" fmla="*/ 7005080 h 7005082"/>
              <a:gd name="connsiteX6" fmla="*/ 0 w 7679193"/>
              <a:gd name="connsiteY6" fmla="*/ 3502541 h 7005082"/>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37969 w 7679193"/>
              <a:gd name="connsiteY2" fmla="*/ 106878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502539 h 7005078"/>
              <a:gd name="connsiteX1" fmla="*/ 1751271 w 7679193"/>
              <a:gd name="connsiteY1" fmla="*/ 0 h 7005078"/>
              <a:gd name="connsiteX2" fmla="*/ 7661719 w 7679193"/>
              <a:gd name="connsiteY2" fmla="*/ 23750 h 7005078"/>
              <a:gd name="connsiteX3" fmla="*/ 7679193 w 7679193"/>
              <a:gd name="connsiteY3" fmla="*/ 3502539 h 7005078"/>
              <a:gd name="connsiteX4" fmla="*/ 5927923 w 7679193"/>
              <a:gd name="connsiteY4" fmla="*/ 7005078 h 7005078"/>
              <a:gd name="connsiteX5" fmla="*/ 1751271 w 7679193"/>
              <a:gd name="connsiteY5" fmla="*/ 7005078 h 7005078"/>
              <a:gd name="connsiteX6" fmla="*/ 0 w 7679193"/>
              <a:gd name="connsiteY6" fmla="*/ 3502539 h 7005078"/>
              <a:gd name="connsiteX0" fmla="*/ 0 w 7679193"/>
              <a:gd name="connsiteY0" fmla="*/ 3490663 h 6993202"/>
              <a:gd name="connsiteX1" fmla="*/ 4221339 w 7679193"/>
              <a:gd name="connsiteY1" fmla="*/ 0 h 6993202"/>
              <a:gd name="connsiteX2" fmla="*/ 7661719 w 7679193"/>
              <a:gd name="connsiteY2" fmla="*/ 11874 h 6993202"/>
              <a:gd name="connsiteX3" fmla="*/ 7679193 w 7679193"/>
              <a:gd name="connsiteY3" fmla="*/ 3490663 h 6993202"/>
              <a:gd name="connsiteX4" fmla="*/ 5927923 w 7679193"/>
              <a:gd name="connsiteY4" fmla="*/ 6993202 h 6993202"/>
              <a:gd name="connsiteX5" fmla="*/ 1751271 w 7679193"/>
              <a:gd name="connsiteY5" fmla="*/ 6993202 h 6993202"/>
              <a:gd name="connsiteX6" fmla="*/ 0 w 7679193"/>
              <a:gd name="connsiteY6" fmla="*/ 3490663 h 6993202"/>
              <a:gd name="connsiteX0" fmla="*/ 0 w 7679193"/>
              <a:gd name="connsiteY0" fmla="*/ 3478789 h 6981328"/>
              <a:gd name="connsiteX1" fmla="*/ 4236579 w 7679193"/>
              <a:gd name="connsiteY1" fmla="*/ 3366 h 6981328"/>
              <a:gd name="connsiteX2" fmla="*/ 7661719 w 7679193"/>
              <a:gd name="connsiteY2" fmla="*/ 0 h 6981328"/>
              <a:gd name="connsiteX3" fmla="*/ 7679193 w 7679193"/>
              <a:gd name="connsiteY3" fmla="*/ 3478789 h 6981328"/>
              <a:gd name="connsiteX4" fmla="*/ 5927923 w 7679193"/>
              <a:gd name="connsiteY4" fmla="*/ 6981328 h 6981328"/>
              <a:gd name="connsiteX5" fmla="*/ 1751271 w 7679193"/>
              <a:gd name="connsiteY5" fmla="*/ 6981328 h 6981328"/>
              <a:gd name="connsiteX6" fmla="*/ 0 w 7679193"/>
              <a:gd name="connsiteY6" fmla="*/ 3478789 h 6981328"/>
              <a:gd name="connsiteX0" fmla="*/ 1898709 w 5927922"/>
              <a:gd name="connsiteY0" fmla="*/ 1794769 h 6981328"/>
              <a:gd name="connsiteX1" fmla="*/ 24853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4720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3478789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27922"/>
              <a:gd name="connsiteY0" fmla="*/ 1794769 h 6981328"/>
              <a:gd name="connsiteX1" fmla="*/ 2470068 w 5927922"/>
              <a:gd name="connsiteY1" fmla="*/ 3366 h 6981328"/>
              <a:gd name="connsiteX2" fmla="*/ 5910448 w 5927922"/>
              <a:gd name="connsiteY2" fmla="*/ 0 h 6981328"/>
              <a:gd name="connsiteX3" fmla="*/ 5927922 w 5927922"/>
              <a:gd name="connsiteY3" fmla="*/ 6891062 h 6981328"/>
              <a:gd name="connsiteX4" fmla="*/ 4176652 w 5927922"/>
              <a:gd name="connsiteY4" fmla="*/ 6981328 h 6981328"/>
              <a:gd name="connsiteX5" fmla="*/ 0 w 5927922"/>
              <a:gd name="connsiteY5" fmla="*/ 6981328 h 6981328"/>
              <a:gd name="connsiteX6" fmla="*/ 1898709 w 5927922"/>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4176652 w 5916771"/>
              <a:gd name="connsiteY4" fmla="*/ 6981328 h 6981328"/>
              <a:gd name="connsiteX5" fmla="*/ 0 w 5916771"/>
              <a:gd name="connsiteY5" fmla="*/ 6981328 h 6981328"/>
              <a:gd name="connsiteX6" fmla="*/ 1898709 w 5916771"/>
              <a:gd name="connsiteY6" fmla="*/ 1794769 h 6981328"/>
              <a:gd name="connsiteX0" fmla="*/ 1898709 w 5916771"/>
              <a:gd name="connsiteY0" fmla="*/ 1794769 h 6981328"/>
              <a:gd name="connsiteX1" fmla="*/ 2470068 w 5916771"/>
              <a:gd name="connsiteY1" fmla="*/ 3366 h 6981328"/>
              <a:gd name="connsiteX2" fmla="*/ 5910448 w 5916771"/>
              <a:gd name="connsiteY2" fmla="*/ 0 h 6981328"/>
              <a:gd name="connsiteX3" fmla="*/ 5916771 w 5916771"/>
              <a:gd name="connsiteY3" fmla="*/ 6902214 h 6981328"/>
              <a:gd name="connsiteX4" fmla="*/ 730925 w 5916771"/>
              <a:gd name="connsiteY4" fmla="*/ 6892118 h 6981328"/>
              <a:gd name="connsiteX5" fmla="*/ 0 w 5916771"/>
              <a:gd name="connsiteY5" fmla="*/ 6981328 h 6981328"/>
              <a:gd name="connsiteX6" fmla="*/ 1898709 w 5916771"/>
              <a:gd name="connsiteY6" fmla="*/ 1794769 h 6981328"/>
              <a:gd name="connsiteX0" fmla="*/ 1167784 w 5185846"/>
              <a:gd name="connsiteY0" fmla="*/ 1794769 h 6902214"/>
              <a:gd name="connsiteX1" fmla="*/ 1739143 w 5185846"/>
              <a:gd name="connsiteY1" fmla="*/ 3366 h 6902214"/>
              <a:gd name="connsiteX2" fmla="*/ 5179523 w 5185846"/>
              <a:gd name="connsiteY2" fmla="*/ 0 h 6902214"/>
              <a:gd name="connsiteX3" fmla="*/ 5185846 w 5185846"/>
              <a:gd name="connsiteY3" fmla="*/ 6902214 h 6902214"/>
              <a:gd name="connsiteX4" fmla="*/ 0 w 5185846"/>
              <a:gd name="connsiteY4" fmla="*/ 6892118 h 6902214"/>
              <a:gd name="connsiteX5" fmla="*/ 1700041 w 5185846"/>
              <a:gd name="connsiteY5" fmla="*/ 1818313 h 6902214"/>
              <a:gd name="connsiteX6" fmla="*/ 1167784 w 5185846"/>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44285 w 5130090"/>
              <a:gd name="connsiteY5" fmla="*/ 1818313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08843 w 5130090"/>
              <a:gd name="connsiteY5" fmla="*/ 1789960 h 6902214"/>
              <a:gd name="connsiteX6" fmla="*/ 1112028 w 5130090"/>
              <a:gd name="connsiteY6" fmla="*/ 1794769 h 6902214"/>
              <a:gd name="connsiteX0" fmla="*/ 1112028 w 5130090"/>
              <a:gd name="connsiteY0" fmla="*/ 1794769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112028 w 5130090"/>
              <a:gd name="connsiteY6" fmla="*/ 1794769 h 6902214"/>
              <a:gd name="connsiteX0" fmla="*/ 1097851 w 5130090"/>
              <a:gd name="connsiteY0" fmla="*/ 1808946 h 6902214"/>
              <a:gd name="connsiteX1" fmla="*/ 1683387 w 5130090"/>
              <a:gd name="connsiteY1" fmla="*/ 3366 h 6902214"/>
              <a:gd name="connsiteX2" fmla="*/ 5123767 w 5130090"/>
              <a:gd name="connsiteY2" fmla="*/ 0 h 6902214"/>
              <a:gd name="connsiteX3" fmla="*/ 5130090 w 5130090"/>
              <a:gd name="connsiteY3" fmla="*/ 6902214 h 6902214"/>
              <a:gd name="connsiteX4" fmla="*/ 0 w 5130090"/>
              <a:gd name="connsiteY4" fmla="*/ 6880967 h 6902214"/>
              <a:gd name="connsiteX5" fmla="*/ 1623020 w 5130090"/>
              <a:gd name="connsiteY5" fmla="*/ 1811225 h 6902214"/>
              <a:gd name="connsiteX6" fmla="*/ 1097851 w 5130090"/>
              <a:gd name="connsiteY6" fmla="*/ 1808946 h 6902214"/>
              <a:gd name="connsiteX0" fmla="*/ 1069498 w 5101737"/>
              <a:gd name="connsiteY0" fmla="*/ 1808946 h 6902214"/>
              <a:gd name="connsiteX1" fmla="*/ 1655034 w 5101737"/>
              <a:gd name="connsiteY1" fmla="*/ 3366 h 6902214"/>
              <a:gd name="connsiteX2" fmla="*/ 5095414 w 5101737"/>
              <a:gd name="connsiteY2" fmla="*/ 0 h 6902214"/>
              <a:gd name="connsiteX3" fmla="*/ 5101737 w 5101737"/>
              <a:gd name="connsiteY3" fmla="*/ 6902214 h 6902214"/>
              <a:gd name="connsiteX4" fmla="*/ 0 w 5101737"/>
              <a:gd name="connsiteY4" fmla="*/ 6880967 h 6902214"/>
              <a:gd name="connsiteX5" fmla="*/ 1594667 w 5101737"/>
              <a:gd name="connsiteY5" fmla="*/ 1811225 h 6902214"/>
              <a:gd name="connsiteX6" fmla="*/ 1069498 w 5101737"/>
              <a:gd name="connsiteY6" fmla="*/ 1808946 h 6902214"/>
              <a:gd name="connsiteX0" fmla="*/ 1069498 w 5101737"/>
              <a:gd name="connsiteY0" fmla="*/ 1808946 h 6895125"/>
              <a:gd name="connsiteX1" fmla="*/ 1655034 w 5101737"/>
              <a:gd name="connsiteY1" fmla="*/ 3366 h 6895125"/>
              <a:gd name="connsiteX2" fmla="*/ 5095414 w 5101737"/>
              <a:gd name="connsiteY2" fmla="*/ 0 h 6895125"/>
              <a:gd name="connsiteX3" fmla="*/ 5101737 w 5101737"/>
              <a:gd name="connsiteY3" fmla="*/ 6895125 h 6895125"/>
              <a:gd name="connsiteX4" fmla="*/ 0 w 5101737"/>
              <a:gd name="connsiteY4" fmla="*/ 6880967 h 6895125"/>
              <a:gd name="connsiteX5" fmla="*/ 1594667 w 5101737"/>
              <a:gd name="connsiteY5" fmla="*/ 1811225 h 6895125"/>
              <a:gd name="connsiteX6" fmla="*/ 1069498 w 5101737"/>
              <a:gd name="connsiteY6" fmla="*/ 1808946 h 6895125"/>
              <a:gd name="connsiteX0" fmla="*/ 1069498 w 5097012"/>
              <a:gd name="connsiteY0" fmla="*/ 1808946 h 6880967"/>
              <a:gd name="connsiteX1" fmla="*/ 1655034 w 5097012"/>
              <a:gd name="connsiteY1" fmla="*/ 3366 h 6880967"/>
              <a:gd name="connsiteX2" fmla="*/ 5095414 w 5097012"/>
              <a:gd name="connsiteY2" fmla="*/ 0 h 6880967"/>
              <a:gd name="connsiteX3" fmla="*/ 5094649 w 5097012"/>
              <a:gd name="connsiteY3" fmla="*/ 6880948 h 6880967"/>
              <a:gd name="connsiteX4" fmla="*/ 0 w 5097012"/>
              <a:gd name="connsiteY4" fmla="*/ 6880967 h 6880967"/>
              <a:gd name="connsiteX5" fmla="*/ 1594667 w 5097012"/>
              <a:gd name="connsiteY5" fmla="*/ 1811225 h 6880967"/>
              <a:gd name="connsiteX6" fmla="*/ 1069498 w 5097012"/>
              <a:gd name="connsiteY6" fmla="*/ 1808946 h 6880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97012" h="6880967">
                <a:moveTo>
                  <a:pt x="1069498" y="1808946"/>
                </a:moveTo>
                <a:lnTo>
                  <a:pt x="1655034" y="3366"/>
                </a:lnTo>
                <a:lnTo>
                  <a:pt x="5095414" y="0"/>
                </a:lnTo>
                <a:cubicBezTo>
                  <a:pt x="5101239" y="1159596"/>
                  <a:pt x="5088824" y="5721352"/>
                  <a:pt x="5094649" y="6880948"/>
                </a:cubicBezTo>
                <a:lnTo>
                  <a:pt x="0" y="6880967"/>
                </a:lnTo>
                <a:lnTo>
                  <a:pt x="1594667" y="1811225"/>
                </a:lnTo>
                <a:lnTo>
                  <a:pt x="1069498" y="1808946"/>
                </a:lnTo>
                <a:close/>
              </a:path>
            </a:pathLst>
          </a:custGeom>
        </p:spPr>
        <p:txBody>
          <a:bodyPr/>
          <a:lstStyle/>
          <a:p>
            <a:endParaRPr lang="en-MY"/>
          </a:p>
        </p:txBody>
      </p:sp>
    </p:spTree>
    <p:extLst>
      <p:ext uri="{BB962C8B-B14F-4D97-AF65-F5344CB8AC3E}">
        <p14:creationId xmlns:p14="http://schemas.microsoft.com/office/powerpoint/2010/main" val="2732219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intro">
    <p:bg>
      <p:bgPr>
        <a:solidFill>
          <a:srgbClr val="2C2C2C"/>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9DAC918-69A7-1F81-9143-C4470BEA4510}"/>
              </a:ext>
            </a:extLst>
          </p:cNvPr>
          <p:cNvSpPr/>
          <p:nvPr userDrawn="1"/>
        </p:nvSpPr>
        <p:spPr>
          <a:xfrm>
            <a:off x="0" y="0"/>
            <a:ext cx="12192000" cy="6858000"/>
          </a:xfrm>
          <a:prstGeom prst="rect">
            <a:avLst/>
          </a:prstGeom>
          <a:gradFill>
            <a:gsLst>
              <a:gs pos="52000">
                <a:schemeClr val="bg1"/>
              </a:gs>
              <a:gs pos="82000">
                <a:schemeClr val="bg1">
                  <a:lumMod val="95000"/>
                </a:schemeClr>
              </a:gs>
              <a:gs pos="100000">
                <a:schemeClr val="bg1"/>
              </a:gs>
            </a:gsLst>
            <a:lin ang="6000000" scaled="0"/>
          </a:gradFill>
          <a:ln w="71585" cap="flat">
            <a:noFill/>
            <a:prstDash val="solid"/>
            <a:miter/>
          </a:ln>
        </p:spPr>
        <p:txBody>
          <a:bodyPr rtlCol="0" anchor="ctr"/>
          <a:lstStyle/>
          <a:p>
            <a:pPr algn="l"/>
            <a:endParaRPr lang="en-MY"/>
          </a:p>
        </p:txBody>
      </p:sp>
      <p:sp>
        <p:nvSpPr>
          <p:cNvPr id="59" name="Picture Placeholder 58">
            <a:extLst>
              <a:ext uri="{FF2B5EF4-FFF2-40B4-BE49-F238E27FC236}">
                <a16:creationId xmlns:a16="http://schemas.microsoft.com/office/drawing/2014/main" id="{24F89DFC-6C4C-1B65-FADE-ED74049BFD28}"/>
              </a:ext>
            </a:extLst>
          </p:cNvPr>
          <p:cNvSpPr>
            <a:spLocks noGrp="1"/>
          </p:cNvSpPr>
          <p:nvPr>
            <p:ph type="pic" sz="quarter" idx="10"/>
          </p:nvPr>
        </p:nvSpPr>
        <p:spPr>
          <a:xfrm>
            <a:off x="4527052" y="-39938"/>
            <a:ext cx="7679193" cy="7005082"/>
          </a:xfrm>
          <a:custGeom>
            <a:avLst/>
            <a:gdLst>
              <a:gd name="connsiteX0" fmla="*/ 7 w 6342063"/>
              <a:gd name="connsiteY0" fmla="*/ 2636495 h 6902450"/>
              <a:gd name="connsiteX1" fmla="*/ 3171032 w 6342063"/>
              <a:gd name="connsiteY1" fmla="*/ 0 h 6902450"/>
              <a:gd name="connsiteX2" fmla="*/ 6342056 w 6342063"/>
              <a:gd name="connsiteY2" fmla="*/ 2636495 h 6902450"/>
              <a:gd name="connsiteX3" fmla="*/ 5130833 w 6342063"/>
              <a:gd name="connsiteY3" fmla="*/ 6902432 h 6902450"/>
              <a:gd name="connsiteX4" fmla="*/ 1211230 w 6342063"/>
              <a:gd name="connsiteY4" fmla="*/ 6902432 h 6902450"/>
              <a:gd name="connsiteX5" fmla="*/ 7 w 6342063"/>
              <a:gd name="connsiteY5" fmla="*/ 2636495 h 6902450"/>
              <a:gd name="connsiteX0" fmla="*/ 930398 w 7272447"/>
              <a:gd name="connsiteY0" fmla="*/ 2636495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930398 w 7272447"/>
              <a:gd name="connsiteY5" fmla="*/ 2636495 h 6902432"/>
              <a:gd name="connsiteX0" fmla="*/ 3637504 w 7272447"/>
              <a:gd name="connsiteY0" fmla="*/ 25642 h 6902432"/>
              <a:gd name="connsiteX1" fmla="*/ 4101423 w 7272447"/>
              <a:gd name="connsiteY1" fmla="*/ 0 h 6902432"/>
              <a:gd name="connsiteX2" fmla="*/ 7272447 w 7272447"/>
              <a:gd name="connsiteY2" fmla="*/ 2636495 h 6902432"/>
              <a:gd name="connsiteX3" fmla="*/ 6061224 w 7272447"/>
              <a:gd name="connsiteY3" fmla="*/ 6902432 h 6902432"/>
              <a:gd name="connsiteX4" fmla="*/ 0 w 7272447"/>
              <a:gd name="connsiteY4" fmla="*/ 6866337 h 6902432"/>
              <a:gd name="connsiteX5" fmla="*/ 3637504 w 7272447"/>
              <a:gd name="connsiteY5" fmla="*/ 25642 h 6902432"/>
              <a:gd name="connsiteX0" fmla="*/ 4022514 w 7657457"/>
              <a:gd name="connsiteY0" fmla="*/ 25642 h 6902432"/>
              <a:gd name="connsiteX1" fmla="*/ 4486433 w 7657457"/>
              <a:gd name="connsiteY1" fmla="*/ 0 h 6902432"/>
              <a:gd name="connsiteX2" fmla="*/ 7657457 w 7657457"/>
              <a:gd name="connsiteY2" fmla="*/ 2636495 h 6902432"/>
              <a:gd name="connsiteX3" fmla="*/ 6446234 w 7657457"/>
              <a:gd name="connsiteY3" fmla="*/ 6902432 h 6902432"/>
              <a:gd name="connsiteX4" fmla="*/ 0 w 7657457"/>
              <a:gd name="connsiteY4" fmla="*/ 6878369 h 6902432"/>
              <a:gd name="connsiteX5" fmla="*/ 4022514 w 7657457"/>
              <a:gd name="connsiteY5" fmla="*/ 25642 h 6902432"/>
              <a:gd name="connsiteX0" fmla="*/ 3842040 w 7657457"/>
              <a:gd name="connsiteY0" fmla="*/ 0 h 6924916"/>
              <a:gd name="connsiteX1" fmla="*/ 4486433 w 7657457"/>
              <a:gd name="connsiteY1" fmla="*/ 22484 h 6924916"/>
              <a:gd name="connsiteX2" fmla="*/ 7657457 w 7657457"/>
              <a:gd name="connsiteY2" fmla="*/ 2658979 h 6924916"/>
              <a:gd name="connsiteX3" fmla="*/ 6446234 w 7657457"/>
              <a:gd name="connsiteY3" fmla="*/ 6924916 h 6924916"/>
              <a:gd name="connsiteX4" fmla="*/ 0 w 7657457"/>
              <a:gd name="connsiteY4" fmla="*/ 6900853 h 6924916"/>
              <a:gd name="connsiteX5" fmla="*/ 3842040 w 7657457"/>
              <a:gd name="connsiteY5" fmla="*/ 0 h 6924916"/>
              <a:gd name="connsiteX0" fmla="*/ 3842040 w 7759022"/>
              <a:gd name="connsiteY0" fmla="*/ 1579 h 6926495"/>
              <a:gd name="connsiteX1" fmla="*/ 7759022 w 7759022"/>
              <a:gd name="connsiteY1" fmla="*/ 0 h 6926495"/>
              <a:gd name="connsiteX2" fmla="*/ 7657457 w 7759022"/>
              <a:gd name="connsiteY2" fmla="*/ 2660558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177916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77773"/>
              <a:gd name="connsiteY0" fmla="*/ 1579 h 6926495"/>
              <a:gd name="connsiteX1" fmla="*/ 7759022 w 7777773"/>
              <a:gd name="connsiteY1" fmla="*/ 0 h 6926495"/>
              <a:gd name="connsiteX2" fmla="*/ 7777773 w 7777773"/>
              <a:gd name="connsiteY2" fmla="*/ 3335232 h 6926495"/>
              <a:gd name="connsiteX3" fmla="*/ 6446234 w 7777773"/>
              <a:gd name="connsiteY3" fmla="*/ 6926495 h 6926495"/>
              <a:gd name="connsiteX4" fmla="*/ 0 w 7777773"/>
              <a:gd name="connsiteY4" fmla="*/ 6902432 h 6926495"/>
              <a:gd name="connsiteX5" fmla="*/ 3842040 w 7777773"/>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446234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327623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26495"/>
              <a:gd name="connsiteX1" fmla="*/ 7759022 w 7759022"/>
              <a:gd name="connsiteY1" fmla="*/ 0 h 6926495"/>
              <a:gd name="connsiteX2" fmla="*/ 7758109 w 7759022"/>
              <a:gd name="connsiteY2" fmla="*/ 4333859 h 6926495"/>
              <a:gd name="connsiteX3" fmla="*/ 6303015 w 7759022"/>
              <a:gd name="connsiteY3" fmla="*/ 6926495 h 6926495"/>
              <a:gd name="connsiteX4" fmla="*/ 0 w 7759022"/>
              <a:gd name="connsiteY4" fmla="*/ 6902432 h 6926495"/>
              <a:gd name="connsiteX5" fmla="*/ 3842040 w 7759022"/>
              <a:gd name="connsiteY5" fmla="*/ 1579 h 6926495"/>
              <a:gd name="connsiteX0" fmla="*/ 3842040 w 7759022"/>
              <a:gd name="connsiteY0" fmla="*/ 1579 h 6959545"/>
              <a:gd name="connsiteX1" fmla="*/ 7759022 w 7759022"/>
              <a:gd name="connsiteY1" fmla="*/ 0 h 6959545"/>
              <a:gd name="connsiteX2" fmla="*/ 7758109 w 7759022"/>
              <a:gd name="connsiteY2" fmla="*/ 4333859 h 6959545"/>
              <a:gd name="connsiteX3" fmla="*/ 6258948 w 7759022"/>
              <a:gd name="connsiteY3" fmla="*/ 6959545 h 6959545"/>
              <a:gd name="connsiteX4" fmla="*/ 0 w 7759022"/>
              <a:gd name="connsiteY4" fmla="*/ 6902432 h 6959545"/>
              <a:gd name="connsiteX5" fmla="*/ 3842040 w 7759022"/>
              <a:gd name="connsiteY5" fmla="*/ 1579 h 6959545"/>
              <a:gd name="connsiteX0" fmla="*/ 3842040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3842040 w 7759022"/>
              <a:gd name="connsiteY5" fmla="*/ 1579 h 6990567"/>
              <a:gd name="connsiteX0" fmla="*/ 4125068 w 7759022"/>
              <a:gd name="connsiteY0" fmla="*/ 1579 h 6990567"/>
              <a:gd name="connsiteX1" fmla="*/ 7759022 w 7759022"/>
              <a:gd name="connsiteY1" fmla="*/ 0 h 6990567"/>
              <a:gd name="connsiteX2" fmla="*/ 7758109 w 7759022"/>
              <a:gd name="connsiteY2" fmla="*/ 4333859 h 6990567"/>
              <a:gd name="connsiteX3" fmla="*/ 6258948 w 7759022"/>
              <a:gd name="connsiteY3" fmla="*/ 6959545 h 6990567"/>
              <a:gd name="connsiteX4" fmla="*/ 0 w 7759022"/>
              <a:gd name="connsiteY4" fmla="*/ 6990567 h 6990567"/>
              <a:gd name="connsiteX5" fmla="*/ 4125068 w 7759022"/>
              <a:gd name="connsiteY5" fmla="*/ 1579 h 6990567"/>
              <a:gd name="connsiteX0" fmla="*/ 4023468 w 7657422"/>
              <a:gd name="connsiteY0" fmla="*/ 1579 h 6959545"/>
              <a:gd name="connsiteX1" fmla="*/ 7657422 w 7657422"/>
              <a:gd name="connsiteY1" fmla="*/ 0 h 6959545"/>
              <a:gd name="connsiteX2" fmla="*/ 7656509 w 7657422"/>
              <a:gd name="connsiteY2" fmla="*/ 4333859 h 6959545"/>
              <a:gd name="connsiteX3" fmla="*/ 6157348 w 7657422"/>
              <a:gd name="connsiteY3" fmla="*/ 6959545 h 6959545"/>
              <a:gd name="connsiteX4" fmla="*/ 0 w 7657422"/>
              <a:gd name="connsiteY4" fmla="*/ 6939767 h 6959545"/>
              <a:gd name="connsiteX5" fmla="*/ 4023468 w 7657422"/>
              <a:gd name="connsiteY5" fmla="*/ 1579 h 6959545"/>
              <a:gd name="connsiteX0" fmla="*/ 4045239 w 7679193"/>
              <a:gd name="connsiteY0" fmla="*/ 1579 h 7005082"/>
              <a:gd name="connsiteX1" fmla="*/ 7679193 w 7679193"/>
              <a:gd name="connsiteY1" fmla="*/ 0 h 7005082"/>
              <a:gd name="connsiteX2" fmla="*/ 7678280 w 7679193"/>
              <a:gd name="connsiteY2" fmla="*/ 4333859 h 7005082"/>
              <a:gd name="connsiteX3" fmla="*/ 6179119 w 7679193"/>
              <a:gd name="connsiteY3" fmla="*/ 6959545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707404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78280 w 7679193"/>
              <a:gd name="connsiteY2" fmla="*/ 4333859 h 7005082"/>
              <a:gd name="connsiteX3" fmla="*/ 5801747 w 7679193"/>
              <a:gd name="connsiteY3" fmla="*/ 6988573 h 7005082"/>
              <a:gd name="connsiteX4" fmla="*/ 0 w 7679193"/>
              <a:gd name="connsiteY4" fmla="*/ 7005082 h 7005082"/>
              <a:gd name="connsiteX5" fmla="*/ 4045239 w 7679193"/>
              <a:gd name="connsiteY5" fmla="*/ 1579 h 7005082"/>
              <a:gd name="connsiteX0" fmla="*/ 4045239 w 7679193"/>
              <a:gd name="connsiteY0" fmla="*/ 1579 h 7005082"/>
              <a:gd name="connsiteX1" fmla="*/ 7679193 w 7679193"/>
              <a:gd name="connsiteY1" fmla="*/ 0 h 7005082"/>
              <a:gd name="connsiteX2" fmla="*/ 7663766 w 7679193"/>
              <a:gd name="connsiteY2" fmla="*/ 3804087 h 7005082"/>
              <a:gd name="connsiteX3" fmla="*/ 5801747 w 7679193"/>
              <a:gd name="connsiteY3" fmla="*/ 6988573 h 7005082"/>
              <a:gd name="connsiteX4" fmla="*/ 0 w 7679193"/>
              <a:gd name="connsiteY4" fmla="*/ 7005082 h 7005082"/>
              <a:gd name="connsiteX5" fmla="*/ 4045239 w 7679193"/>
              <a:gd name="connsiteY5" fmla="*/ 1579 h 7005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79193" h="7005082">
                <a:moveTo>
                  <a:pt x="4045239" y="1579"/>
                </a:moveTo>
                <a:lnTo>
                  <a:pt x="7679193" y="0"/>
                </a:lnTo>
                <a:cubicBezTo>
                  <a:pt x="7678889" y="1092080"/>
                  <a:pt x="7664070" y="2712007"/>
                  <a:pt x="7663766" y="3804087"/>
                </a:cubicBezTo>
                <a:lnTo>
                  <a:pt x="5801747" y="6988573"/>
                </a:lnTo>
                <a:lnTo>
                  <a:pt x="0" y="7005082"/>
                </a:lnTo>
                <a:lnTo>
                  <a:pt x="4045239" y="1579"/>
                </a:lnTo>
                <a:close/>
              </a:path>
            </a:pathLst>
          </a:custGeom>
        </p:spPr>
        <p:txBody>
          <a:bodyPr/>
          <a:lstStyle/>
          <a:p>
            <a:endParaRPr lang="en-MY"/>
          </a:p>
        </p:txBody>
      </p:sp>
      <p:sp>
        <p:nvSpPr>
          <p:cNvPr id="38" name="Freeform 5">
            <a:extLst>
              <a:ext uri="{FF2B5EF4-FFF2-40B4-BE49-F238E27FC236}">
                <a16:creationId xmlns:a16="http://schemas.microsoft.com/office/drawing/2014/main" id="{A67EEDB7-4D0A-A800-DE28-0C4984B110CA}"/>
              </a:ext>
            </a:extLst>
          </p:cNvPr>
          <p:cNvSpPr>
            <a:spLocks/>
          </p:cNvSpPr>
          <p:nvPr userDrawn="1"/>
        </p:nvSpPr>
        <p:spPr bwMode="auto">
          <a:xfrm>
            <a:off x="876629" y="-15775"/>
            <a:ext cx="7686809" cy="6857999"/>
          </a:xfrm>
          <a:custGeom>
            <a:avLst/>
            <a:gdLst>
              <a:gd name="T0" fmla="*/ 0 w 956"/>
              <a:gd name="T1" fmla="*/ 513 h 801"/>
              <a:gd name="T2" fmla="*/ 0 w 956"/>
              <a:gd name="T3" fmla="*/ 801 h 801"/>
              <a:gd name="T4" fmla="*/ 495 w 956"/>
              <a:gd name="T5" fmla="*/ 801 h 801"/>
              <a:gd name="T6" fmla="*/ 956 w 956"/>
              <a:gd name="T7" fmla="*/ 0 h 801"/>
              <a:gd name="T8" fmla="*/ 290 w 956"/>
              <a:gd name="T9" fmla="*/ 0 h 801"/>
              <a:gd name="T10" fmla="*/ 0 w 956"/>
              <a:gd name="T11" fmla="*/ 513 h 801"/>
              <a:gd name="connsiteX0" fmla="*/ 0 w 10000"/>
              <a:gd name="connsiteY0" fmla="*/ 6404 h 10000"/>
              <a:gd name="connsiteX1" fmla="*/ 0 w 10000"/>
              <a:gd name="connsiteY1" fmla="*/ 10000 h 10000"/>
              <a:gd name="connsiteX2" fmla="*/ 4844 w 10000"/>
              <a:gd name="connsiteY2" fmla="*/ 10000 h 10000"/>
              <a:gd name="connsiteX3" fmla="*/ 10000 w 10000"/>
              <a:gd name="connsiteY3" fmla="*/ 0 h 10000"/>
              <a:gd name="connsiteX4" fmla="*/ 3033 w 10000"/>
              <a:gd name="connsiteY4" fmla="*/ 0 h 10000"/>
              <a:gd name="connsiteX5" fmla="*/ 0 w 10000"/>
              <a:gd name="connsiteY5" fmla="*/ 6404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00" h="10000">
                <a:moveTo>
                  <a:pt x="0" y="6404"/>
                </a:moveTo>
                <a:lnTo>
                  <a:pt x="0" y="10000"/>
                </a:lnTo>
                <a:lnTo>
                  <a:pt x="4844" y="10000"/>
                </a:lnTo>
                <a:lnTo>
                  <a:pt x="10000" y="0"/>
                </a:lnTo>
                <a:lnTo>
                  <a:pt x="3033" y="0"/>
                </a:lnTo>
                <a:lnTo>
                  <a:pt x="0" y="6404"/>
                </a:lnTo>
                <a:close/>
              </a:path>
            </a:pathLst>
          </a:custGeom>
          <a:gradFill>
            <a:gsLst>
              <a:gs pos="5000">
                <a:srgbClr val="2C2C2C"/>
              </a:gs>
              <a:gs pos="62000">
                <a:schemeClr val="tx2">
                  <a:lumMod val="50000"/>
                  <a:lumOff val="50000"/>
                </a:schemeClr>
              </a:gs>
              <a:gs pos="100000">
                <a:schemeClr val="bg1">
                  <a:lumMod val="50000"/>
                </a:schemeClr>
              </a:gs>
            </a:gsLst>
            <a:lin ang="6000000" scaled="0"/>
          </a:gradFill>
          <a:ln>
            <a:noFill/>
          </a:ln>
        </p:spPr>
        <p:txBody>
          <a:bodyPr vert="horz" wrap="square" lIns="91440" tIns="45720" rIns="91440" bIns="45720" numCol="1" anchor="t" anchorCtr="0" compatLnSpc="1">
            <a:prstTxWarp prst="textNoShape">
              <a:avLst/>
            </a:prstTxWarp>
          </a:bodyPr>
          <a:lstStyle/>
          <a:p>
            <a:endParaRPr lang="id-ID"/>
          </a:p>
        </p:txBody>
      </p:sp>
      <p:sp>
        <p:nvSpPr>
          <p:cNvPr id="31" name="Freeform 5">
            <a:extLst>
              <a:ext uri="{FF2B5EF4-FFF2-40B4-BE49-F238E27FC236}">
                <a16:creationId xmlns:a16="http://schemas.microsoft.com/office/drawing/2014/main" id="{33CB460A-39A9-54F6-0195-13B362A33766}"/>
              </a:ext>
            </a:extLst>
          </p:cNvPr>
          <p:cNvSpPr>
            <a:spLocks/>
          </p:cNvSpPr>
          <p:nvPr userDrawn="1"/>
        </p:nvSpPr>
        <p:spPr bwMode="auto">
          <a:xfrm>
            <a:off x="-32223" y="-14401"/>
            <a:ext cx="8108976" cy="6902576"/>
          </a:xfrm>
          <a:custGeom>
            <a:avLst/>
            <a:gdLst>
              <a:gd name="T0" fmla="*/ 0 w 722"/>
              <a:gd name="T1" fmla="*/ 0 h 796"/>
              <a:gd name="T2" fmla="*/ 722 w 722"/>
              <a:gd name="T3" fmla="*/ 0 h 796"/>
              <a:gd name="T4" fmla="*/ 273 w 722"/>
              <a:gd name="T5" fmla="*/ 796 h 796"/>
              <a:gd name="T6" fmla="*/ 0 w 722"/>
              <a:gd name="T7" fmla="*/ 796 h 796"/>
              <a:gd name="T8" fmla="*/ 0 w 722"/>
              <a:gd name="T9" fmla="*/ 0 h 796"/>
              <a:gd name="connsiteX0" fmla="*/ 0 w 10000"/>
              <a:gd name="connsiteY0" fmla="*/ 0 h 10000"/>
              <a:gd name="connsiteX1" fmla="*/ 10000 w 10000"/>
              <a:gd name="connsiteY1" fmla="*/ 0 h 10000"/>
              <a:gd name="connsiteX2" fmla="*/ 6231 w 10000"/>
              <a:gd name="connsiteY2" fmla="*/ 9977 h 10000"/>
              <a:gd name="connsiteX3" fmla="*/ 0 w 10000"/>
              <a:gd name="connsiteY3" fmla="*/ 10000 h 10000"/>
              <a:gd name="connsiteX4" fmla="*/ 0 w 10000"/>
              <a:gd name="connsiteY4" fmla="*/ 0 h 10000"/>
              <a:gd name="connsiteX0" fmla="*/ 0 w 12115"/>
              <a:gd name="connsiteY0" fmla="*/ 23 h 10023"/>
              <a:gd name="connsiteX1" fmla="*/ 12115 w 12115"/>
              <a:gd name="connsiteY1" fmla="*/ 0 h 10023"/>
              <a:gd name="connsiteX2" fmla="*/ 6231 w 12115"/>
              <a:gd name="connsiteY2" fmla="*/ 10000 h 10023"/>
              <a:gd name="connsiteX3" fmla="*/ 0 w 12115"/>
              <a:gd name="connsiteY3" fmla="*/ 10023 h 10023"/>
              <a:gd name="connsiteX4" fmla="*/ 0 w 12115"/>
              <a:gd name="connsiteY4" fmla="*/ 23 h 10023"/>
              <a:gd name="connsiteX0" fmla="*/ 0 w 12270"/>
              <a:gd name="connsiteY0" fmla="*/ 46 h 10046"/>
              <a:gd name="connsiteX1" fmla="*/ 12270 w 12270"/>
              <a:gd name="connsiteY1" fmla="*/ 0 h 10046"/>
              <a:gd name="connsiteX2" fmla="*/ 6231 w 12270"/>
              <a:gd name="connsiteY2" fmla="*/ 10023 h 10046"/>
              <a:gd name="connsiteX3" fmla="*/ 0 w 12270"/>
              <a:gd name="connsiteY3" fmla="*/ 10046 h 10046"/>
              <a:gd name="connsiteX4" fmla="*/ 0 w 12270"/>
              <a:gd name="connsiteY4" fmla="*/ 46 h 10046"/>
              <a:gd name="connsiteX0" fmla="*/ 0 w 12451"/>
              <a:gd name="connsiteY0" fmla="*/ 23 h 10023"/>
              <a:gd name="connsiteX1" fmla="*/ 12451 w 12451"/>
              <a:gd name="connsiteY1" fmla="*/ 0 h 10023"/>
              <a:gd name="connsiteX2" fmla="*/ 6231 w 12451"/>
              <a:gd name="connsiteY2" fmla="*/ 10000 h 10023"/>
              <a:gd name="connsiteX3" fmla="*/ 0 w 12451"/>
              <a:gd name="connsiteY3" fmla="*/ 10023 h 10023"/>
              <a:gd name="connsiteX4" fmla="*/ 0 w 12451"/>
              <a:gd name="connsiteY4" fmla="*/ 23 h 10023"/>
              <a:gd name="connsiteX0" fmla="*/ 0 w 12606"/>
              <a:gd name="connsiteY0" fmla="*/ 23 h 10023"/>
              <a:gd name="connsiteX1" fmla="*/ 12606 w 12606"/>
              <a:gd name="connsiteY1" fmla="*/ 0 h 10023"/>
              <a:gd name="connsiteX2" fmla="*/ 6231 w 12606"/>
              <a:gd name="connsiteY2" fmla="*/ 10000 h 10023"/>
              <a:gd name="connsiteX3" fmla="*/ 0 w 12606"/>
              <a:gd name="connsiteY3" fmla="*/ 10023 h 10023"/>
              <a:gd name="connsiteX4" fmla="*/ 0 w 12606"/>
              <a:gd name="connsiteY4" fmla="*/ 23 h 10023"/>
              <a:gd name="connsiteX0" fmla="*/ 1496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1496 w 14102"/>
              <a:gd name="connsiteY4" fmla="*/ 23 h 10046"/>
              <a:gd name="connsiteX0" fmla="*/ 52 w 14102"/>
              <a:gd name="connsiteY0" fmla="*/ 23 h 10046"/>
              <a:gd name="connsiteX1" fmla="*/ 14102 w 14102"/>
              <a:gd name="connsiteY1" fmla="*/ 0 h 10046"/>
              <a:gd name="connsiteX2" fmla="*/ 7727 w 14102"/>
              <a:gd name="connsiteY2" fmla="*/ 10000 h 10046"/>
              <a:gd name="connsiteX3" fmla="*/ 0 w 14102"/>
              <a:gd name="connsiteY3" fmla="*/ 10046 h 10046"/>
              <a:gd name="connsiteX4" fmla="*/ 52 w 14102"/>
              <a:gd name="connsiteY4" fmla="*/ 23 h 10046"/>
              <a:gd name="connsiteX0" fmla="*/ 52 w 14102"/>
              <a:gd name="connsiteY0" fmla="*/ 23 h 10046"/>
              <a:gd name="connsiteX1" fmla="*/ 14102 w 14102"/>
              <a:gd name="connsiteY1" fmla="*/ 0 h 10046"/>
              <a:gd name="connsiteX2" fmla="*/ 7762 w 14102"/>
              <a:gd name="connsiteY2" fmla="*/ 10016 h 10046"/>
              <a:gd name="connsiteX3" fmla="*/ 0 w 14102"/>
              <a:gd name="connsiteY3" fmla="*/ 10046 h 10046"/>
              <a:gd name="connsiteX4" fmla="*/ 52 w 14102"/>
              <a:gd name="connsiteY4" fmla="*/ 23 h 10046"/>
              <a:gd name="connsiteX0" fmla="*/ 52 w 16864"/>
              <a:gd name="connsiteY0" fmla="*/ 3 h 10026"/>
              <a:gd name="connsiteX1" fmla="*/ 16864 w 16864"/>
              <a:gd name="connsiteY1" fmla="*/ 0 h 10026"/>
              <a:gd name="connsiteX2" fmla="*/ 7762 w 16864"/>
              <a:gd name="connsiteY2" fmla="*/ 9996 h 10026"/>
              <a:gd name="connsiteX3" fmla="*/ 0 w 16864"/>
              <a:gd name="connsiteY3" fmla="*/ 10026 h 10026"/>
              <a:gd name="connsiteX4" fmla="*/ 52 w 16864"/>
              <a:gd name="connsiteY4" fmla="*/ 3 h 10026"/>
              <a:gd name="connsiteX0" fmla="*/ 52 w 16864"/>
              <a:gd name="connsiteY0" fmla="*/ 3 h 10036"/>
              <a:gd name="connsiteX1" fmla="*/ 16864 w 16864"/>
              <a:gd name="connsiteY1" fmla="*/ 0 h 10036"/>
              <a:gd name="connsiteX2" fmla="*/ 10479 w 16864"/>
              <a:gd name="connsiteY2" fmla="*/ 10036 h 10036"/>
              <a:gd name="connsiteX3" fmla="*/ 0 w 16864"/>
              <a:gd name="connsiteY3" fmla="*/ 10026 h 10036"/>
              <a:gd name="connsiteX4" fmla="*/ 52 w 16864"/>
              <a:gd name="connsiteY4" fmla="*/ 3 h 10036"/>
              <a:gd name="connsiteX0" fmla="*/ 52 w 17532"/>
              <a:gd name="connsiteY0" fmla="*/ 3 h 10036"/>
              <a:gd name="connsiteX1" fmla="*/ 17532 w 17532"/>
              <a:gd name="connsiteY1" fmla="*/ 0 h 10036"/>
              <a:gd name="connsiteX2" fmla="*/ 10479 w 17532"/>
              <a:gd name="connsiteY2" fmla="*/ 10036 h 10036"/>
              <a:gd name="connsiteX3" fmla="*/ 0 w 17532"/>
              <a:gd name="connsiteY3" fmla="*/ 10026 h 10036"/>
              <a:gd name="connsiteX4" fmla="*/ 52 w 17532"/>
              <a:gd name="connsiteY4" fmla="*/ 3 h 10036"/>
              <a:gd name="connsiteX0" fmla="*/ 52 w 17532"/>
              <a:gd name="connsiteY0" fmla="*/ 3 h 10026"/>
              <a:gd name="connsiteX1" fmla="*/ 17532 w 17532"/>
              <a:gd name="connsiteY1" fmla="*/ 0 h 10026"/>
              <a:gd name="connsiteX2" fmla="*/ 11014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081 w 17532"/>
              <a:gd name="connsiteY2" fmla="*/ 9975 h 10026"/>
              <a:gd name="connsiteX3" fmla="*/ 0 w 17532"/>
              <a:gd name="connsiteY3" fmla="*/ 10026 h 10026"/>
              <a:gd name="connsiteX4" fmla="*/ 52 w 17532"/>
              <a:gd name="connsiteY4" fmla="*/ 3 h 10026"/>
              <a:gd name="connsiteX0" fmla="*/ 52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52 w 17532"/>
              <a:gd name="connsiteY4" fmla="*/ 3 h 10026"/>
              <a:gd name="connsiteX0" fmla="*/ 19 w 17532"/>
              <a:gd name="connsiteY0" fmla="*/ 3 h 10026"/>
              <a:gd name="connsiteX1" fmla="*/ 17532 w 17532"/>
              <a:gd name="connsiteY1" fmla="*/ 0 h 10026"/>
              <a:gd name="connsiteX2" fmla="*/ 11215 w 17532"/>
              <a:gd name="connsiteY2" fmla="*/ 9995 h 10026"/>
              <a:gd name="connsiteX3" fmla="*/ 0 w 17532"/>
              <a:gd name="connsiteY3" fmla="*/ 10026 h 10026"/>
              <a:gd name="connsiteX4" fmla="*/ 19 w 17532"/>
              <a:gd name="connsiteY4" fmla="*/ 3 h 10026"/>
              <a:gd name="connsiteX0" fmla="*/ 19 w 17543"/>
              <a:gd name="connsiteY0" fmla="*/ 13 h 10036"/>
              <a:gd name="connsiteX1" fmla="*/ 17543 w 17543"/>
              <a:gd name="connsiteY1" fmla="*/ 0 h 10036"/>
              <a:gd name="connsiteX2" fmla="*/ 11215 w 17543"/>
              <a:gd name="connsiteY2" fmla="*/ 10005 h 10036"/>
              <a:gd name="connsiteX3" fmla="*/ 0 w 17543"/>
              <a:gd name="connsiteY3" fmla="*/ 10036 h 10036"/>
              <a:gd name="connsiteX4" fmla="*/ 19 w 17543"/>
              <a:gd name="connsiteY4" fmla="*/ 13 h 10036"/>
              <a:gd name="connsiteX0" fmla="*/ 8 w 17543"/>
              <a:gd name="connsiteY0" fmla="*/ 0 h 10044"/>
              <a:gd name="connsiteX1" fmla="*/ 17543 w 17543"/>
              <a:gd name="connsiteY1" fmla="*/ 8 h 10044"/>
              <a:gd name="connsiteX2" fmla="*/ 11215 w 17543"/>
              <a:gd name="connsiteY2" fmla="*/ 10013 h 10044"/>
              <a:gd name="connsiteX3" fmla="*/ 0 w 17543"/>
              <a:gd name="connsiteY3" fmla="*/ 10044 h 10044"/>
              <a:gd name="connsiteX4" fmla="*/ 8 w 17543"/>
              <a:gd name="connsiteY4" fmla="*/ 0 h 10044"/>
              <a:gd name="connsiteX0" fmla="*/ 8 w 11215"/>
              <a:gd name="connsiteY0" fmla="*/ 27 h 10071"/>
              <a:gd name="connsiteX1" fmla="*/ 10522 w 11215"/>
              <a:gd name="connsiteY1" fmla="*/ 0 h 10071"/>
              <a:gd name="connsiteX2" fmla="*/ 11215 w 11215"/>
              <a:gd name="connsiteY2" fmla="*/ 10040 h 10071"/>
              <a:gd name="connsiteX3" fmla="*/ 0 w 11215"/>
              <a:gd name="connsiteY3" fmla="*/ 10071 h 10071"/>
              <a:gd name="connsiteX4" fmla="*/ 8 w 11215"/>
              <a:gd name="connsiteY4" fmla="*/ 27 h 10071"/>
              <a:gd name="connsiteX0" fmla="*/ 8 w 10522"/>
              <a:gd name="connsiteY0" fmla="*/ 27 h 10075"/>
              <a:gd name="connsiteX1" fmla="*/ 10522 w 10522"/>
              <a:gd name="connsiteY1" fmla="*/ 0 h 10075"/>
              <a:gd name="connsiteX2" fmla="*/ 6940 w 10522"/>
              <a:gd name="connsiteY2" fmla="*/ 10075 h 10075"/>
              <a:gd name="connsiteX3" fmla="*/ 0 w 10522"/>
              <a:gd name="connsiteY3" fmla="*/ 10071 h 10075"/>
              <a:gd name="connsiteX4" fmla="*/ 8 w 10522"/>
              <a:gd name="connsiteY4" fmla="*/ 27 h 10075"/>
              <a:gd name="connsiteX0" fmla="*/ 8 w 13036"/>
              <a:gd name="connsiteY0" fmla="*/ 0 h 10048"/>
              <a:gd name="connsiteX1" fmla="*/ 13036 w 13036"/>
              <a:gd name="connsiteY1" fmla="*/ 26 h 10048"/>
              <a:gd name="connsiteX2" fmla="*/ 6940 w 13036"/>
              <a:gd name="connsiteY2" fmla="*/ 10048 h 10048"/>
              <a:gd name="connsiteX3" fmla="*/ 0 w 13036"/>
              <a:gd name="connsiteY3" fmla="*/ 10044 h 10048"/>
              <a:gd name="connsiteX4" fmla="*/ 8 w 13036"/>
              <a:gd name="connsiteY4" fmla="*/ 0 h 10048"/>
              <a:gd name="connsiteX0" fmla="*/ 8 w 13036"/>
              <a:gd name="connsiteY0" fmla="*/ 0 h 10044"/>
              <a:gd name="connsiteX1" fmla="*/ 13036 w 13036"/>
              <a:gd name="connsiteY1" fmla="*/ 26 h 10044"/>
              <a:gd name="connsiteX2" fmla="*/ 6882 w 13036"/>
              <a:gd name="connsiteY2" fmla="*/ 10030 h 10044"/>
              <a:gd name="connsiteX3" fmla="*/ 0 w 13036"/>
              <a:gd name="connsiteY3" fmla="*/ 10044 h 10044"/>
              <a:gd name="connsiteX4" fmla="*/ 8 w 13036"/>
              <a:gd name="connsiteY4" fmla="*/ 0 h 10044"/>
              <a:gd name="connsiteX0" fmla="*/ 8 w 13036"/>
              <a:gd name="connsiteY0" fmla="*/ 0 h 10065"/>
              <a:gd name="connsiteX1" fmla="*/ 13036 w 13036"/>
              <a:gd name="connsiteY1" fmla="*/ 26 h 10065"/>
              <a:gd name="connsiteX2" fmla="*/ 6689 w 13036"/>
              <a:gd name="connsiteY2" fmla="*/ 10065 h 10065"/>
              <a:gd name="connsiteX3" fmla="*/ 0 w 13036"/>
              <a:gd name="connsiteY3" fmla="*/ 10044 h 10065"/>
              <a:gd name="connsiteX4" fmla="*/ 8 w 13036"/>
              <a:gd name="connsiteY4" fmla="*/ 0 h 1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36" h="10065">
                <a:moveTo>
                  <a:pt x="8" y="0"/>
                </a:moveTo>
                <a:lnTo>
                  <a:pt x="13036" y="26"/>
                </a:lnTo>
                <a:lnTo>
                  <a:pt x="6689" y="10065"/>
                </a:lnTo>
                <a:lnTo>
                  <a:pt x="0" y="10044"/>
                </a:lnTo>
                <a:cubicBezTo>
                  <a:pt x="17" y="6703"/>
                  <a:pt x="-9" y="3341"/>
                  <a:pt x="8" y="0"/>
                </a:cubicBezTo>
                <a:close/>
              </a:path>
            </a:pathLst>
          </a:custGeom>
          <a:gradFill>
            <a:gsLst>
              <a:gs pos="52000">
                <a:schemeClr val="tx1">
                  <a:lumMod val="75000"/>
                  <a:lumOff val="25000"/>
                </a:schemeClr>
              </a:gs>
              <a:gs pos="82000">
                <a:srgbClr val="5A5A5A"/>
              </a:gs>
              <a:gs pos="100000">
                <a:srgbClr val="5F5F5F"/>
              </a:gs>
            </a:gsLst>
            <a:lin ang="30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3" name="Freeform 6">
            <a:extLst>
              <a:ext uri="{FF2B5EF4-FFF2-40B4-BE49-F238E27FC236}">
                <a16:creationId xmlns:a16="http://schemas.microsoft.com/office/drawing/2014/main" id="{5D4E811A-68E1-6A97-C96E-3F27C8F76BE0}"/>
              </a:ext>
            </a:extLst>
          </p:cNvPr>
          <p:cNvSpPr>
            <a:spLocks/>
          </p:cNvSpPr>
          <p:nvPr userDrawn="1"/>
        </p:nvSpPr>
        <p:spPr bwMode="auto">
          <a:xfrm>
            <a:off x="2209176" y="3456710"/>
            <a:ext cx="4299176" cy="3429000"/>
          </a:xfrm>
          <a:custGeom>
            <a:avLst/>
            <a:gdLst>
              <a:gd name="T0" fmla="*/ 499 w 499"/>
              <a:gd name="T1" fmla="*/ 0 h 398"/>
              <a:gd name="T2" fmla="*/ 226 w 499"/>
              <a:gd name="T3" fmla="*/ 0 h 398"/>
              <a:gd name="T4" fmla="*/ 0 w 499"/>
              <a:gd name="T5" fmla="*/ 398 h 398"/>
              <a:gd name="T6" fmla="*/ 273 w 499"/>
              <a:gd name="T7" fmla="*/ 398 h 398"/>
              <a:gd name="T8" fmla="*/ 499 w 499"/>
              <a:gd name="T9" fmla="*/ 0 h 398"/>
            </a:gdLst>
            <a:ahLst/>
            <a:cxnLst>
              <a:cxn ang="0">
                <a:pos x="T0" y="T1"/>
              </a:cxn>
              <a:cxn ang="0">
                <a:pos x="T2" y="T3"/>
              </a:cxn>
              <a:cxn ang="0">
                <a:pos x="T4" y="T5"/>
              </a:cxn>
              <a:cxn ang="0">
                <a:pos x="T6" y="T7"/>
              </a:cxn>
              <a:cxn ang="0">
                <a:pos x="T8" y="T9"/>
              </a:cxn>
            </a:cxnLst>
            <a:rect l="0" t="0" r="r" b="b"/>
            <a:pathLst>
              <a:path w="499" h="398">
                <a:moveTo>
                  <a:pt x="499" y="0"/>
                </a:moveTo>
                <a:lnTo>
                  <a:pt x="226" y="0"/>
                </a:lnTo>
                <a:lnTo>
                  <a:pt x="0" y="398"/>
                </a:lnTo>
                <a:lnTo>
                  <a:pt x="273" y="398"/>
                </a:lnTo>
                <a:lnTo>
                  <a:pt x="499" y="0"/>
                </a:lnTo>
                <a:close/>
              </a:path>
            </a:pathLst>
          </a:custGeom>
          <a:gradFill>
            <a:gsLst>
              <a:gs pos="100000">
                <a:schemeClr val="bg1">
                  <a:lumMod val="75000"/>
                </a:schemeClr>
              </a:gs>
              <a:gs pos="68000">
                <a:schemeClr val="tx2">
                  <a:lumMod val="50000"/>
                  <a:lumOff val="50000"/>
                </a:schemeClr>
              </a:gs>
              <a:gs pos="0">
                <a:schemeClr val="tx1">
                  <a:lumMod val="65000"/>
                  <a:lumOff val="35000"/>
                </a:schemeClr>
              </a:gs>
            </a:gsLst>
            <a:lin ang="5400000" scaled="0"/>
          </a:gra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34" name="Freeform 7">
            <a:extLst>
              <a:ext uri="{FF2B5EF4-FFF2-40B4-BE49-F238E27FC236}">
                <a16:creationId xmlns:a16="http://schemas.microsoft.com/office/drawing/2014/main" id="{CF0C25A0-646B-916D-80E6-B03039928697}"/>
              </a:ext>
            </a:extLst>
          </p:cNvPr>
          <p:cNvSpPr>
            <a:spLocks/>
          </p:cNvSpPr>
          <p:nvPr userDrawn="1"/>
        </p:nvSpPr>
        <p:spPr bwMode="auto">
          <a:xfrm>
            <a:off x="3960220" y="3450562"/>
            <a:ext cx="2619136" cy="3429000"/>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Lst>
            <a:ahLst/>
            <a:cxnLst>
              <a:cxn ang="0">
                <a:pos x="T0" y="T1"/>
              </a:cxn>
              <a:cxn ang="0">
                <a:pos x="T2" y="T3"/>
              </a:cxn>
              <a:cxn ang="0">
                <a:pos x="T4" y="T5"/>
              </a:cxn>
              <a:cxn ang="0">
                <a:pos x="T6" y="T7"/>
              </a:cxn>
              <a:cxn ang="0">
                <a:pos x="T8" y="T9"/>
              </a:cxn>
            </a:cxnLst>
            <a:rect l="0" t="0" r="r" b="b"/>
            <a:pathLst>
              <a:path w="304" h="398">
                <a:moveTo>
                  <a:pt x="0" y="398"/>
                </a:moveTo>
                <a:lnTo>
                  <a:pt x="74" y="398"/>
                </a:lnTo>
                <a:lnTo>
                  <a:pt x="304" y="0"/>
                </a:lnTo>
                <a:lnTo>
                  <a:pt x="223" y="0"/>
                </a:lnTo>
                <a:lnTo>
                  <a:pt x="0" y="398"/>
                </a:lnTo>
                <a:close/>
              </a:path>
            </a:pathLst>
          </a:custGeom>
          <a:solidFill>
            <a:schemeClr val="bg1">
              <a:lumMod val="65000"/>
            </a:schemeClr>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
        <p:nvSpPr>
          <p:cNvPr id="35" name="Freeform 8">
            <a:extLst>
              <a:ext uri="{FF2B5EF4-FFF2-40B4-BE49-F238E27FC236}">
                <a16:creationId xmlns:a16="http://schemas.microsoft.com/office/drawing/2014/main" id="{C4A6C08A-1102-22D6-CDC7-F94643959DC1}"/>
              </a:ext>
            </a:extLst>
          </p:cNvPr>
          <p:cNvSpPr>
            <a:spLocks/>
          </p:cNvSpPr>
          <p:nvPr userDrawn="1"/>
        </p:nvSpPr>
        <p:spPr bwMode="auto">
          <a:xfrm>
            <a:off x="10367888" y="3713311"/>
            <a:ext cx="1835121" cy="3144689"/>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pic>
        <p:nvPicPr>
          <p:cNvPr id="27" name="Picture 26" descr="Logo&#10;&#10;Description automatically generated">
            <a:extLst>
              <a:ext uri="{FF2B5EF4-FFF2-40B4-BE49-F238E27FC236}">
                <a16:creationId xmlns:a16="http://schemas.microsoft.com/office/drawing/2014/main" id="{AFD0B610-2095-390B-36E3-2861E97A12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56097" y="970721"/>
            <a:ext cx="1963312" cy="664029"/>
          </a:xfrm>
          <a:prstGeom prst="rect">
            <a:avLst/>
          </a:prstGeom>
        </p:spPr>
      </p:pic>
      <p:sp>
        <p:nvSpPr>
          <p:cNvPr id="40" name="Diagonal Stripe 39">
            <a:extLst>
              <a:ext uri="{FF2B5EF4-FFF2-40B4-BE49-F238E27FC236}">
                <a16:creationId xmlns:a16="http://schemas.microsoft.com/office/drawing/2014/main" id="{ABD29FDD-D53B-A316-CE9E-C0BB1690ADF0}"/>
              </a:ext>
            </a:extLst>
          </p:cNvPr>
          <p:cNvSpPr/>
          <p:nvPr userDrawn="1"/>
        </p:nvSpPr>
        <p:spPr>
          <a:xfrm rot="175485">
            <a:off x="1821520" y="4675411"/>
            <a:ext cx="2314796" cy="2272379"/>
          </a:xfrm>
          <a:custGeom>
            <a:avLst/>
            <a:gdLst>
              <a:gd name="connsiteX0" fmla="*/ 0 w 2262277"/>
              <a:gd name="connsiteY0" fmla="*/ 2214205 h 4428410"/>
              <a:gd name="connsiteX1" fmla="*/ 1131139 w 2262277"/>
              <a:gd name="connsiteY1" fmla="*/ 0 h 4428410"/>
              <a:gd name="connsiteX2" fmla="*/ 2262277 w 2262277"/>
              <a:gd name="connsiteY2" fmla="*/ 0 h 4428410"/>
              <a:gd name="connsiteX3" fmla="*/ 0 w 2262277"/>
              <a:gd name="connsiteY3" fmla="*/ 4428410 h 4428410"/>
              <a:gd name="connsiteX4" fmla="*/ 0 w 2262277"/>
              <a:gd name="connsiteY4" fmla="*/ 2214205 h 4428410"/>
              <a:gd name="connsiteX0" fmla="*/ 0 w 2262277"/>
              <a:gd name="connsiteY0" fmla="*/ 2214205 h 2708951"/>
              <a:gd name="connsiteX1" fmla="*/ 1131139 w 2262277"/>
              <a:gd name="connsiteY1" fmla="*/ 0 h 2708951"/>
              <a:gd name="connsiteX2" fmla="*/ 2262277 w 2262277"/>
              <a:gd name="connsiteY2" fmla="*/ 0 h 2708951"/>
              <a:gd name="connsiteX3" fmla="*/ 799998 w 2262277"/>
              <a:gd name="connsiteY3" fmla="*/ 2708951 h 2708951"/>
              <a:gd name="connsiteX4" fmla="*/ 0 w 2262277"/>
              <a:gd name="connsiteY4" fmla="*/ 2214205 h 2708951"/>
              <a:gd name="connsiteX0" fmla="*/ 0 w 2262277"/>
              <a:gd name="connsiteY0" fmla="*/ 2214205 h 2214205"/>
              <a:gd name="connsiteX1" fmla="*/ 1131139 w 2262277"/>
              <a:gd name="connsiteY1" fmla="*/ 0 h 2214205"/>
              <a:gd name="connsiteX2" fmla="*/ 2262277 w 2262277"/>
              <a:gd name="connsiteY2" fmla="*/ 0 h 2214205"/>
              <a:gd name="connsiteX3" fmla="*/ 1174394 w 2262277"/>
              <a:gd name="connsiteY3" fmla="*/ 2162664 h 2214205"/>
              <a:gd name="connsiteX4" fmla="*/ 0 w 2262277"/>
              <a:gd name="connsiteY4" fmla="*/ 2214205 h 2214205"/>
              <a:gd name="connsiteX0" fmla="*/ 0 w 2314796"/>
              <a:gd name="connsiteY0" fmla="*/ 2272379 h 2272379"/>
              <a:gd name="connsiteX1" fmla="*/ 1183658 w 2314796"/>
              <a:gd name="connsiteY1" fmla="*/ 0 h 2272379"/>
              <a:gd name="connsiteX2" fmla="*/ 2314796 w 2314796"/>
              <a:gd name="connsiteY2" fmla="*/ 0 h 2272379"/>
              <a:gd name="connsiteX3" fmla="*/ 1226913 w 2314796"/>
              <a:gd name="connsiteY3" fmla="*/ 2162664 h 2272379"/>
              <a:gd name="connsiteX4" fmla="*/ 0 w 2314796"/>
              <a:gd name="connsiteY4" fmla="*/ 2272379 h 2272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4796" h="2272379">
                <a:moveTo>
                  <a:pt x="0" y="2272379"/>
                </a:moveTo>
                <a:lnTo>
                  <a:pt x="1183658" y="0"/>
                </a:lnTo>
                <a:lnTo>
                  <a:pt x="2314796" y="0"/>
                </a:lnTo>
                <a:lnTo>
                  <a:pt x="1226913" y="2162664"/>
                </a:lnTo>
                <a:lnTo>
                  <a:pt x="0" y="2272379"/>
                </a:lnTo>
                <a:close/>
              </a:path>
            </a:pathLst>
          </a:custGeom>
          <a:solidFill>
            <a:schemeClr val="bg1">
              <a:lumMod val="75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46" name="Freeform 8">
            <a:extLst>
              <a:ext uri="{FF2B5EF4-FFF2-40B4-BE49-F238E27FC236}">
                <a16:creationId xmlns:a16="http://schemas.microsoft.com/office/drawing/2014/main" id="{324D19CD-B969-9A41-96FD-3C48671D55E3}"/>
              </a:ext>
            </a:extLst>
          </p:cNvPr>
          <p:cNvSpPr>
            <a:spLocks/>
          </p:cNvSpPr>
          <p:nvPr userDrawn="1"/>
        </p:nvSpPr>
        <p:spPr bwMode="auto">
          <a:xfrm rot="10800000">
            <a:off x="0" y="5616"/>
            <a:ext cx="1317018" cy="2121303"/>
          </a:xfrm>
          <a:custGeom>
            <a:avLst/>
            <a:gdLst>
              <a:gd name="T0" fmla="*/ 213 w 213"/>
              <a:gd name="T1" fmla="*/ 0 h 365"/>
              <a:gd name="T2" fmla="*/ 0 w 213"/>
              <a:gd name="T3" fmla="*/ 365 h 365"/>
              <a:gd name="T4" fmla="*/ 213 w 213"/>
              <a:gd name="T5" fmla="*/ 365 h 365"/>
              <a:gd name="T6" fmla="*/ 213 w 213"/>
              <a:gd name="T7" fmla="*/ 0 h 365"/>
            </a:gdLst>
            <a:ahLst/>
            <a:cxnLst>
              <a:cxn ang="0">
                <a:pos x="T0" y="T1"/>
              </a:cxn>
              <a:cxn ang="0">
                <a:pos x="T2" y="T3"/>
              </a:cxn>
              <a:cxn ang="0">
                <a:pos x="T4" y="T5"/>
              </a:cxn>
              <a:cxn ang="0">
                <a:pos x="T6" y="T7"/>
              </a:cxn>
            </a:cxnLst>
            <a:rect l="0" t="0" r="r" b="b"/>
            <a:pathLst>
              <a:path w="213" h="365">
                <a:moveTo>
                  <a:pt x="213" y="0"/>
                </a:moveTo>
                <a:lnTo>
                  <a:pt x="0" y="365"/>
                </a:lnTo>
                <a:lnTo>
                  <a:pt x="213" y="365"/>
                </a:lnTo>
                <a:lnTo>
                  <a:pt x="213" y="0"/>
                </a:lnTo>
                <a:close/>
              </a:path>
            </a:pathLst>
          </a:custGeom>
          <a:solidFill>
            <a:srgbClr val="74121D"/>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a:p>
        </p:txBody>
      </p:sp>
      <p:sp>
        <p:nvSpPr>
          <p:cNvPr id="50" name="Freeform 7">
            <a:extLst>
              <a:ext uri="{FF2B5EF4-FFF2-40B4-BE49-F238E27FC236}">
                <a16:creationId xmlns:a16="http://schemas.microsoft.com/office/drawing/2014/main" id="{0A2D9FB8-C727-0DEB-593D-6A0268E96FC9}"/>
              </a:ext>
            </a:extLst>
          </p:cNvPr>
          <p:cNvSpPr>
            <a:spLocks/>
          </p:cNvSpPr>
          <p:nvPr userDrawn="1"/>
        </p:nvSpPr>
        <p:spPr bwMode="auto">
          <a:xfrm>
            <a:off x="10469449" y="3095152"/>
            <a:ext cx="1758053" cy="3140035"/>
          </a:xfrm>
          <a:custGeom>
            <a:avLst/>
            <a:gdLst>
              <a:gd name="T0" fmla="*/ 0 w 304"/>
              <a:gd name="T1" fmla="*/ 398 h 398"/>
              <a:gd name="T2" fmla="*/ 74 w 304"/>
              <a:gd name="T3" fmla="*/ 398 h 398"/>
              <a:gd name="T4" fmla="*/ 304 w 304"/>
              <a:gd name="T5" fmla="*/ 0 h 398"/>
              <a:gd name="T6" fmla="*/ 223 w 304"/>
              <a:gd name="T7" fmla="*/ 0 h 398"/>
              <a:gd name="T8" fmla="*/ 0 w 304"/>
              <a:gd name="T9" fmla="*/ 398 h 398"/>
              <a:gd name="connsiteX0" fmla="*/ 0 w 10000"/>
              <a:gd name="connsiteY0" fmla="*/ 10000 h 10000"/>
              <a:gd name="connsiteX1" fmla="*/ 2434 w 10000"/>
              <a:gd name="connsiteY1" fmla="*/ 10000 h 10000"/>
              <a:gd name="connsiteX2" fmla="*/ 10000 w 10000"/>
              <a:gd name="connsiteY2" fmla="*/ 0 h 10000"/>
              <a:gd name="connsiteX3" fmla="*/ 6202 w 10000"/>
              <a:gd name="connsiteY3" fmla="*/ 1468 h 10000"/>
              <a:gd name="connsiteX4" fmla="*/ 0 w 10000"/>
              <a:gd name="connsiteY4" fmla="*/ 10000 h 10000"/>
              <a:gd name="connsiteX0" fmla="*/ 0 w 6254"/>
              <a:gd name="connsiteY0" fmla="*/ 8532 h 8532"/>
              <a:gd name="connsiteX1" fmla="*/ 2434 w 6254"/>
              <a:gd name="connsiteY1" fmla="*/ 8532 h 8532"/>
              <a:gd name="connsiteX2" fmla="*/ 6254 w 6254"/>
              <a:gd name="connsiteY2" fmla="*/ 3388 h 8532"/>
              <a:gd name="connsiteX3" fmla="*/ 6202 w 6254"/>
              <a:gd name="connsiteY3" fmla="*/ 0 h 8532"/>
              <a:gd name="connsiteX4" fmla="*/ 0 w 6254"/>
              <a:gd name="connsiteY4" fmla="*/ 8532 h 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 h="8532">
                <a:moveTo>
                  <a:pt x="0" y="8532"/>
                </a:moveTo>
                <a:lnTo>
                  <a:pt x="2434" y="8532"/>
                </a:lnTo>
                <a:lnTo>
                  <a:pt x="6254" y="3388"/>
                </a:lnTo>
                <a:cubicBezTo>
                  <a:pt x="6237" y="2259"/>
                  <a:pt x="6219" y="1129"/>
                  <a:pt x="6202" y="0"/>
                </a:cubicBezTo>
                <a:lnTo>
                  <a:pt x="0" y="8532"/>
                </a:lnTo>
                <a:close/>
              </a:path>
            </a:pathLst>
          </a:custGeom>
          <a:solidFill>
            <a:srgbClr val="A6A6A6"/>
          </a:solidFill>
          <a:ln w="14288"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id-ID" dirty="0"/>
          </a:p>
        </p:txBody>
      </p:sp>
    </p:spTree>
    <p:extLst>
      <p:ext uri="{BB962C8B-B14F-4D97-AF65-F5344CB8AC3E}">
        <p14:creationId xmlns:p14="http://schemas.microsoft.com/office/powerpoint/2010/main" val="181223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ayout_0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F209197-5B03-3CAB-F2C4-DC93EB13BA43}"/>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7" name="Footer Placeholder 6">
            <a:extLst>
              <a:ext uri="{FF2B5EF4-FFF2-40B4-BE49-F238E27FC236}">
                <a16:creationId xmlns:a16="http://schemas.microsoft.com/office/drawing/2014/main" id="{9CBA1C1F-29AE-DA6E-A103-FEB58C507FE6}"/>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903A43F0-FAB0-EB23-6D56-32DE4381249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Title 8">
            <a:extLst>
              <a:ext uri="{FF2B5EF4-FFF2-40B4-BE49-F238E27FC236}">
                <a16:creationId xmlns:a16="http://schemas.microsoft.com/office/drawing/2014/main" id="{C7E2F138-F467-9B3A-16DD-3501AE105817}"/>
              </a:ext>
            </a:extLst>
          </p:cNvPr>
          <p:cNvSpPr>
            <a:spLocks noGrp="1"/>
          </p:cNvSpPr>
          <p:nvPr>
            <p:ph type="title"/>
          </p:nvPr>
        </p:nvSpPr>
        <p:spPr>
          <a:xfrm>
            <a:off x="4612640" y="921703"/>
            <a:ext cx="7081520" cy="1325563"/>
          </a:xfrm>
        </p:spPr>
        <p:txBody>
          <a:bodyPr/>
          <a:lstStyle/>
          <a:p>
            <a:r>
              <a:rPr lang="en-US"/>
              <a:t>Click to edit Master title style</a:t>
            </a:r>
            <a:endParaRPr lang="en-MY"/>
          </a:p>
        </p:txBody>
      </p:sp>
      <p:sp>
        <p:nvSpPr>
          <p:cNvPr id="10" name="Rectangle 9">
            <a:extLst>
              <a:ext uri="{FF2B5EF4-FFF2-40B4-BE49-F238E27FC236}">
                <a16:creationId xmlns:a16="http://schemas.microsoft.com/office/drawing/2014/main" id="{C004EF5E-20B7-12DB-D863-48833C32BD39}"/>
              </a:ext>
            </a:extLst>
          </p:cNvPr>
          <p:cNvSpPr/>
          <p:nvPr userDrawn="1"/>
        </p:nvSpPr>
        <p:spPr>
          <a:xfrm rot="10800000">
            <a:off x="-1" y="1719943"/>
            <a:ext cx="622301" cy="309558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2" name="Text Placeholder 11">
            <a:extLst>
              <a:ext uri="{FF2B5EF4-FFF2-40B4-BE49-F238E27FC236}">
                <a16:creationId xmlns:a16="http://schemas.microsoft.com/office/drawing/2014/main" id="{16DC78ED-462E-4ABB-181F-9D1A16009AE2}"/>
              </a:ext>
            </a:extLst>
          </p:cNvPr>
          <p:cNvSpPr>
            <a:spLocks noGrp="1"/>
          </p:cNvSpPr>
          <p:nvPr>
            <p:ph type="body" sz="quarter" idx="12"/>
          </p:nvPr>
        </p:nvSpPr>
        <p:spPr>
          <a:xfrm>
            <a:off x="4612641" y="2573973"/>
            <a:ext cx="7081520" cy="2626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3" name="Picture Placeholder 2">
            <a:extLst>
              <a:ext uri="{FF2B5EF4-FFF2-40B4-BE49-F238E27FC236}">
                <a16:creationId xmlns:a16="http://schemas.microsoft.com/office/drawing/2014/main" id="{4CDDBD3A-27D0-26DD-0032-C1DE757FF013}"/>
              </a:ext>
            </a:extLst>
          </p:cNvPr>
          <p:cNvSpPr>
            <a:spLocks noGrp="1"/>
          </p:cNvSpPr>
          <p:nvPr>
            <p:ph type="pic" sz="quarter" idx="13"/>
          </p:nvPr>
        </p:nvSpPr>
        <p:spPr>
          <a:xfrm>
            <a:off x="1228724" y="921703"/>
            <a:ext cx="2905785" cy="427863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69499 w 2905125"/>
              <a:gd name="connsiteY2" fmla="*/ 1330689 h 4278630"/>
              <a:gd name="connsiteX3" fmla="*/ 2905125 w 2905125"/>
              <a:gd name="connsiteY3" fmla="*/ 4278630 h 4278630"/>
              <a:gd name="connsiteX4" fmla="*/ 0 w 2905125"/>
              <a:gd name="connsiteY4" fmla="*/ 4278630 h 4278630"/>
              <a:gd name="connsiteX5" fmla="*/ 0 w 2905125"/>
              <a:gd name="connsiteY5" fmla="*/ 0 h 4278630"/>
              <a:gd name="connsiteX0" fmla="*/ 0 w 2905125"/>
              <a:gd name="connsiteY0" fmla="*/ 0 h 4278630"/>
              <a:gd name="connsiteX1" fmla="*/ 2049449 w 2905125"/>
              <a:gd name="connsiteY1" fmla="*/ 0 h 4278630"/>
              <a:gd name="connsiteX2" fmla="*/ 2891271 w 2905125"/>
              <a:gd name="connsiteY2" fmla="*/ 1323432 h 4278630"/>
              <a:gd name="connsiteX3" fmla="*/ 2905125 w 2905125"/>
              <a:gd name="connsiteY3" fmla="*/ 4278630 h 4278630"/>
              <a:gd name="connsiteX4" fmla="*/ 0 w 2905125"/>
              <a:gd name="connsiteY4" fmla="*/ 4278630 h 4278630"/>
              <a:gd name="connsiteX5" fmla="*/ 0 w 2905125"/>
              <a:gd name="connsiteY5" fmla="*/ 0 h 4278630"/>
              <a:gd name="connsiteX0" fmla="*/ 0 w 2905785"/>
              <a:gd name="connsiteY0" fmla="*/ 0 h 4278630"/>
              <a:gd name="connsiteX1" fmla="*/ 2049449 w 2905785"/>
              <a:gd name="connsiteY1" fmla="*/ 0 h 4278630"/>
              <a:gd name="connsiteX2" fmla="*/ 2905785 w 2905785"/>
              <a:gd name="connsiteY2" fmla="*/ 1330689 h 4278630"/>
              <a:gd name="connsiteX3" fmla="*/ 2905125 w 2905785"/>
              <a:gd name="connsiteY3" fmla="*/ 4278630 h 4278630"/>
              <a:gd name="connsiteX4" fmla="*/ 0 w 2905785"/>
              <a:gd name="connsiteY4" fmla="*/ 4278630 h 4278630"/>
              <a:gd name="connsiteX5" fmla="*/ 0 w 2905785"/>
              <a:gd name="connsiteY5" fmla="*/ 0 h 4278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785" h="4278630">
                <a:moveTo>
                  <a:pt x="0" y="0"/>
                </a:moveTo>
                <a:lnTo>
                  <a:pt x="2049449" y="0"/>
                </a:lnTo>
                <a:lnTo>
                  <a:pt x="2905785" y="1330689"/>
                </a:lnTo>
                <a:lnTo>
                  <a:pt x="2905125" y="4278630"/>
                </a:lnTo>
                <a:lnTo>
                  <a:pt x="0" y="4278630"/>
                </a:lnTo>
                <a:lnTo>
                  <a:pt x="0" y="0"/>
                </a:lnTo>
                <a:close/>
              </a:path>
            </a:pathLst>
          </a:custGeom>
        </p:spPr>
        <p:txBody>
          <a:bodyPr/>
          <a:lstStyle/>
          <a:p>
            <a:endParaRPr lang="en-MY"/>
          </a:p>
        </p:txBody>
      </p:sp>
      <p:pic>
        <p:nvPicPr>
          <p:cNvPr id="13" name="Picture 12" descr="Logo&#10;&#10;Description automatically generated">
            <a:extLst>
              <a:ext uri="{FF2B5EF4-FFF2-40B4-BE49-F238E27FC236}">
                <a16:creationId xmlns:a16="http://schemas.microsoft.com/office/drawing/2014/main" id="{847847F8-C089-4AEF-C431-C6509AC01A6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649665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Layout_02">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7049-D09A-FC97-5AE3-7684D9970CD2}"/>
              </a:ext>
            </a:extLst>
          </p:cNvPr>
          <p:cNvSpPr>
            <a:spLocks noGrp="1"/>
          </p:cNvSpPr>
          <p:nvPr>
            <p:ph type="title"/>
          </p:nvPr>
        </p:nvSpPr>
        <p:spPr>
          <a:xfrm>
            <a:off x="838200" y="295161"/>
            <a:ext cx="10515600" cy="1325563"/>
          </a:xfrm>
        </p:spPr>
        <p:txBody>
          <a:bodyPr/>
          <a:lstStyle>
            <a:lvl1pPr algn="ctr">
              <a:defRPr>
                <a:solidFill>
                  <a:schemeClr val="tx1">
                    <a:lumMod val="65000"/>
                    <a:lumOff val="35000"/>
                  </a:schemeClr>
                </a:solidFill>
              </a:defRPr>
            </a:lvl1pPr>
          </a:lstStyle>
          <a:p>
            <a:r>
              <a:rPr lang="en-US"/>
              <a:t>Click to edit Master title style</a:t>
            </a:r>
            <a:endParaRPr lang="en-MY"/>
          </a:p>
        </p:txBody>
      </p:sp>
      <p:sp>
        <p:nvSpPr>
          <p:cNvPr id="6" name="Footer Placeholder 5">
            <a:extLst>
              <a:ext uri="{FF2B5EF4-FFF2-40B4-BE49-F238E27FC236}">
                <a16:creationId xmlns:a16="http://schemas.microsoft.com/office/drawing/2014/main" id="{C40CA447-4B33-14A4-A8B3-A50941C7FA6D}"/>
              </a:ext>
            </a:extLst>
          </p:cNvPr>
          <p:cNvSpPr>
            <a:spLocks noGrp="1"/>
          </p:cNvSpPr>
          <p:nvPr>
            <p:ph type="ftr" sz="quarter" idx="10"/>
          </p:nvPr>
        </p:nvSpPr>
        <p:spPr/>
        <p:txBody>
          <a:bodyPr/>
          <a:lstStyle/>
          <a:p>
            <a:endParaRPr lang="en-MY"/>
          </a:p>
        </p:txBody>
      </p:sp>
      <p:sp>
        <p:nvSpPr>
          <p:cNvPr id="7" name="Slide Number Placeholder 6">
            <a:extLst>
              <a:ext uri="{FF2B5EF4-FFF2-40B4-BE49-F238E27FC236}">
                <a16:creationId xmlns:a16="http://schemas.microsoft.com/office/drawing/2014/main" id="{C9180811-CF70-450A-27A7-6650EC921EA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5" name="Diagonal Stripe 4">
            <a:extLst>
              <a:ext uri="{FF2B5EF4-FFF2-40B4-BE49-F238E27FC236}">
                <a16:creationId xmlns:a16="http://schemas.microsoft.com/office/drawing/2014/main" id="{8DC6A165-7707-B831-4D31-547D2097E0C0}"/>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pic>
        <p:nvPicPr>
          <p:cNvPr id="9" name="Picture 8" descr="Logo&#10;&#10;Description automatically generated">
            <a:extLst>
              <a:ext uri="{FF2B5EF4-FFF2-40B4-BE49-F238E27FC236}">
                <a16:creationId xmlns:a16="http://schemas.microsoft.com/office/drawing/2014/main" id="{7C2E61BC-4260-06A6-E9F0-F6A586DC649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888550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yout_03">
    <p:bg>
      <p:bgPr>
        <a:solidFill>
          <a:srgbClr val="C04C4C"/>
        </a:solidFill>
        <a:effectLst/>
      </p:bgPr>
    </p:bg>
    <p:spTree>
      <p:nvGrpSpPr>
        <p:cNvPr id="1" name=""/>
        <p:cNvGrpSpPr/>
        <p:nvPr/>
      </p:nvGrpSpPr>
      <p:grpSpPr>
        <a:xfrm>
          <a:off x="0" y="0"/>
          <a:ext cx="0" cy="0"/>
          <a:chOff x="0" y="0"/>
          <a:chExt cx="0" cy="0"/>
        </a:xfrm>
      </p:grpSpPr>
      <p:sp>
        <p:nvSpPr>
          <p:cNvPr id="11" name="Freeform 88">
            <a:extLst>
              <a:ext uri="{FF2B5EF4-FFF2-40B4-BE49-F238E27FC236}">
                <a16:creationId xmlns:a16="http://schemas.microsoft.com/office/drawing/2014/main" id="{2EC006B8-36F2-B291-87A1-3D4528A9F2D9}"/>
              </a:ext>
            </a:extLst>
          </p:cNvPr>
          <p:cNvSpPr>
            <a:spLocks noEditPoints="1"/>
          </p:cNvSpPr>
          <p:nvPr userDrawn="1"/>
        </p:nvSpPr>
        <p:spPr bwMode="auto">
          <a:xfrm rot="13500000">
            <a:off x="2009576" y="364092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ooter Placeholder 6">
            <a:extLst>
              <a:ext uri="{FF2B5EF4-FFF2-40B4-BE49-F238E27FC236}">
                <a16:creationId xmlns:a16="http://schemas.microsoft.com/office/drawing/2014/main" id="{8D376308-4430-17DE-55D8-C62E713A416C}"/>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D9F87F34-3A4F-BEE8-D6A3-75E86F6048D2}"/>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7" name="Rectangle 16">
            <a:extLst>
              <a:ext uri="{FF2B5EF4-FFF2-40B4-BE49-F238E27FC236}">
                <a16:creationId xmlns:a16="http://schemas.microsoft.com/office/drawing/2014/main" id="{AB1995BA-762F-0E75-164E-C2DC8E53AF1E}"/>
              </a:ext>
            </a:extLst>
          </p:cNvPr>
          <p:cNvSpPr/>
          <p:nvPr userDrawn="1"/>
        </p:nvSpPr>
        <p:spPr>
          <a:xfrm>
            <a:off x="7293428" y="0"/>
            <a:ext cx="4365171" cy="6858000"/>
          </a:xfrm>
          <a:prstGeom prst="rect">
            <a:avLst/>
          </a:prstGeom>
          <a:solidFill>
            <a:schemeClr val="bg1">
              <a:lumMod val="95000"/>
            </a:schemeClr>
          </a:solidFill>
          <a:ln>
            <a:noFill/>
          </a:ln>
          <a:effectLst>
            <a:outerShdw blurRad="431800" dist="508000" dir="786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19" name="Group 18">
            <a:extLst>
              <a:ext uri="{FF2B5EF4-FFF2-40B4-BE49-F238E27FC236}">
                <a16:creationId xmlns:a16="http://schemas.microsoft.com/office/drawing/2014/main" id="{A8344EBC-0EE1-6D60-DD13-A025929EB2A2}"/>
              </a:ext>
            </a:extLst>
          </p:cNvPr>
          <p:cNvGrpSpPr/>
          <p:nvPr userDrawn="1"/>
        </p:nvGrpSpPr>
        <p:grpSpPr>
          <a:xfrm rot="10800000">
            <a:off x="9169016" y="6004017"/>
            <a:ext cx="613993" cy="75107"/>
            <a:chOff x="-1587" y="4763"/>
            <a:chExt cx="300037" cy="42862"/>
          </a:xfrm>
          <a:solidFill>
            <a:srgbClr val="C04C4C"/>
          </a:solidFill>
        </p:grpSpPr>
        <p:sp>
          <p:nvSpPr>
            <p:cNvPr id="20" name="Oval 13">
              <a:extLst>
                <a:ext uri="{FF2B5EF4-FFF2-40B4-BE49-F238E27FC236}">
                  <a16:creationId xmlns:a16="http://schemas.microsoft.com/office/drawing/2014/main" id="{BCD5BC98-703E-C5F4-6A62-09FCC6A36DB8}"/>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1" name="Oval 14">
              <a:extLst>
                <a:ext uri="{FF2B5EF4-FFF2-40B4-BE49-F238E27FC236}">
                  <a16:creationId xmlns:a16="http://schemas.microsoft.com/office/drawing/2014/main" id="{ECA11C4B-3AD6-EB59-443E-E2E20B42D274}"/>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2" name="Oval 15">
              <a:extLst>
                <a:ext uri="{FF2B5EF4-FFF2-40B4-BE49-F238E27FC236}">
                  <a16:creationId xmlns:a16="http://schemas.microsoft.com/office/drawing/2014/main" id="{080E09A2-A318-7937-F507-9F4F1573C372}"/>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23" name="Oval 16">
              <a:extLst>
                <a:ext uri="{FF2B5EF4-FFF2-40B4-BE49-F238E27FC236}">
                  <a16:creationId xmlns:a16="http://schemas.microsoft.com/office/drawing/2014/main" id="{806198F1-CD00-115B-03EB-DA6337A9FA51}"/>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24" name="Title 23">
            <a:extLst>
              <a:ext uri="{FF2B5EF4-FFF2-40B4-BE49-F238E27FC236}">
                <a16:creationId xmlns:a16="http://schemas.microsoft.com/office/drawing/2014/main" id="{814EC3F6-24D4-D885-5046-3A3D68236E2E}"/>
              </a:ext>
            </a:extLst>
          </p:cNvPr>
          <p:cNvSpPr>
            <a:spLocks noGrp="1"/>
          </p:cNvSpPr>
          <p:nvPr>
            <p:ph type="title"/>
          </p:nvPr>
        </p:nvSpPr>
        <p:spPr>
          <a:xfrm>
            <a:off x="326572" y="1388382"/>
            <a:ext cx="6672943" cy="1325563"/>
          </a:xfrm>
        </p:spPr>
        <p:txBody>
          <a:bodyPr/>
          <a:lstStyle>
            <a:lvl1pPr>
              <a:defRPr>
                <a:solidFill>
                  <a:schemeClr val="bg1"/>
                </a:solidFill>
              </a:defRPr>
            </a:lvl1pPr>
          </a:lstStyle>
          <a:p>
            <a:r>
              <a:rPr lang="en-US" dirty="0"/>
              <a:t>Click to edit Master title style</a:t>
            </a:r>
            <a:endParaRPr lang="en-MY" dirty="0"/>
          </a:p>
        </p:txBody>
      </p:sp>
      <p:sp>
        <p:nvSpPr>
          <p:cNvPr id="12" name="Freeform 88">
            <a:extLst>
              <a:ext uri="{FF2B5EF4-FFF2-40B4-BE49-F238E27FC236}">
                <a16:creationId xmlns:a16="http://schemas.microsoft.com/office/drawing/2014/main" id="{FFE63D60-4033-0963-0257-340E61B3359D}"/>
              </a:ext>
            </a:extLst>
          </p:cNvPr>
          <p:cNvSpPr>
            <a:spLocks noEditPoints="1"/>
          </p:cNvSpPr>
          <p:nvPr userDrawn="1"/>
        </p:nvSpPr>
        <p:spPr bwMode="auto">
          <a:xfrm rot="16200000">
            <a:off x="5061976" y="2610139"/>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8339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_04">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BC5600A4-3E4E-EC47-12EA-B6310B747A8B}"/>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6" name="Rectangle 15">
            <a:extLst>
              <a:ext uri="{FF2B5EF4-FFF2-40B4-BE49-F238E27FC236}">
                <a16:creationId xmlns:a16="http://schemas.microsoft.com/office/drawing/2014/main" id="{7ABC459D-A688-50A7-E022-E57A39DF24C8}"/>
              </a:ext>
            </a:extLst>
          </p:cNvPr>
          <p:cNvSpPr/>
          <p:nvPr userDrawn="1"/>
        </p:nvSpPr>
        <p:spPr>
          <a:xfrm>
            <a:off x="729342" y="0"/>
            <a:ext cx="4285887" cy="6237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8" name="Footer Placeholder 7">
            <a:extLst>
              <a:ext uri="{FF2B5EF4-FFF2-40B4-BE49-F238E27FC236}">
                <a16:creationId xmlns:a16="http://schemas.microsoft.com/office/drawing/2014/main" id="{1642AE79-79E4-0073-0455-4CDA30AD8F65}"/>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6954D628-8D81-1CDE-6D27-24AB85F650D6}"/>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11" name="Group 10">
            <a:extLst>
              <a:ext uri="{FF2B5EF4-FFF2-40B4-BE49-F238E27FC236}">
                <a16:creationId xmlns:a16="http://schemas.microsoft.com/office/drawing/2014/main" id="{9C2342FF-69D1-829A-9394-7FDD7C8DC0D8}"/>
              </a:ext>
            </a:extLst>
          </p:cNvPr>
          <p:cNvGrpSpPr/>
          <p:nvPr userDrawn="1"/>
        </p:nvGrpSpPr>
        <p:grpSpPr>
          <a:xfrm>
            <a:off x="2561933" y="419857"/>
            <a:ext cx="613993" cy="75107"/>
            <a:chOff x="-1587" y="4763"/>
            <a:chExt cx="300037" cy="42862"/>
          </a:xfrm>
          <a:solidFill>
            <a:srgbClr val="C04C4C"/>
          </a:solidFill>
        </p:grpSpPr>
        <p:sp>
          <p:nvSpPr>
            <p:cNvPr id="12" name="Oval 13">
              <a:extLst>
                <a:ext uri="{FF2B5EF4-FFF2-40B4-BE49-F238E27FC236}">
                  <a16:creationId xmlns:a16="http://schemas.microsoft.com/office/drawing/2014/main" id="{23262089-B548-7EB2-7E11-8E96F2D4ECA1}"/>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3" name="Oval 14">
              <a:extLst>
                <a:ext uri="{FF2B5EF4-FFF2-40B4-BE49-F238E27FC236}">
                  <a16:creationId xmlns:a16="http://schemas.microsoft.com/office/drawing/2014/main" id="{E939BD00-47B2-AF84-6481-FC6D266B933A}"/>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4" name="Oval 15">
              <a:extLst>
                <a:ext uri="{FF2B5EF4-FFF2-40B4-BE49-F238E27FC236}">
                  <a16:creationId xmlns:a16="http://schemas.microsoft.com/office/drawing/2014/main" id="{3247BFCB-8D78-A506-7B1C-F4FFA425C85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15" name="Oval 16">
              <a:extLst>
                <a:ext uri="{FF2B5EF4-FFF2-40B4-BE49-F238E27FC236}">
                  <a16:creationId xmlns:a16="http://schemas.microsoft.com/office/drawing/2014/main" id="{B4410486-EA59-BC01-71A7-DDAC2A1EA4CB}"/>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18" name="Title 17">
            <a:extLst>
              <a:ext uri="{FF2B5EF4-FFF2-40B4-BE49-F238E27FC236}">
                <a16:creationId xmlns:a16="http://schemas.microsoft.com/office/drawing/2014/main" id="{B3FE10FD-D9C0-C344-A74A-C6F10F75D789}"/>
              </a:ext>
            </a:extLst>
          </p:cNvPr>
          <p:cNvSpPr>
            <a:spLocks noGrp="1"/>
          </p:cNvSpPr>
          <p:nvPr>
            <p:ph type="title"/>
          </p:nvPr>
        </p:nvSpPr>
        <p:spPr>
          <a:xfrm>
            <a:off x="1008176" y="2103437"/>
            <a:ext cx="3815716" cy="1325563"/>
          </a:xfrm>
        </p:spPr>
        <p:txBody>
          <a:bodyPr/>
          <a:lstStyle>
            <a:lvl1pPr algn="ctr">
              <a:defRPr/>
            </a:lvl1pPr>
          </a:lstStyle>
          <a:p>
            <a:r>
              <a:rPr lang="en-US"/>
              <a:t>Click to edit Master title style</a:t>
            </a:r>
            <a:endParaRPr lang="en-MY"/>
          </a:p>
        </p:txBody>
      </p:sp>
    </p:spTree>
    <p:extLst>
      <p:ext uri="{BB962C8B-B14F-4D97-AF65-F5344CB8AC3E}">
        <p14:creationId xmlns:p14="http://schemas.microsoft.com/office/powerpoint/2010/main" val="360316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yout_05">
    <p:bg>
      <p:bgPr>
        <a:solidFill>
          <a:srgbClr val="C04C4C"/>
        </a:solidFill>
        <a:effectLst/>
      </p:bgPr>
    </p:bg>
    <p:spTree>
      <p:nvGrpSpPr>
        <p:cNvPr id="1" name=""/>
        <p:cNvGrpSpPr/>
        <p:nvPr/>
      </p:nvGrpSpPr>
      <p:grpSpPr>
        <a:xfrm>
          <a:off x="0" y="0"/>
          <a:ext cx="0" cy="0"/>
          <a:chOff x="0" y="0"/>
          <a:chExt cx="0" cy="0"/>
        </a:xfrm>
      </p:grpSpPr>
      <p:sp>
        <p:nvSpPr>
          <p:cNvPr id="14" name="Freeform 16">
            <a:extLst>
              <a:ext uri="{FF2B5EF4-FFF2-40B4-BE49-F238E27FC236}">
                <a16:creationId xmlns:a16="http://schemas.microsoft.com/office/drawing/2014/main" id="{955C00B2-487B-35F9-EFC4-6711B63378F0}"/>
              </a:ext>
            </a:extLst>
          </p:cNvPr>
          <p:cNvSpPr>
            <a:spLocks/>
          </p:cNvSpPr>
          <p:nvPr userDrawn="1"/>
        </p:nvSpPr>
        <p:spPr bwMode="auto">
          <a:xfrm rot="10800000">
            <a:off x="11064240" y="0"/>
            <a:ext cx="1127760" cy="1447800"/>
          </a:xfrm>
          <a:custGeom>
            <a:avLst/>
            <a:gdLst>
              <a:gd name="T0" fmla="*/ 1 w 343"/>
              <a:gd name="T1" fmla="*/ 0 h 344"/>
              <a:gd name="T2" fmla="*/ 343 w 343"/>
              <a:gd name="T3" fmla="*/ 343 h 344"/>
              <a:gd name="T4" fmla="*/ 43 w 343"/>
              <a:gd name="T5" fmla="*/ 344 h 344"/>
              <a:gd name="T6" fmla="*/ 0 w 343"/>
              <a:gd name="T7" fmla="*/ 301 h 344"/>
              <a:gd name="T8" fmla="*/ 1 w 343"/>
              <a:gd name="T9" fmla="*/ 0 h 344"/>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 name="connsiteX0" fmla="*/ 30 w 10001"/>
              <a:gd name="connsiteY0" fmla="*/ 0 h 10000"/>
              <a:gd name="connsiteX1" fmla="*/ 10001 w 10001"/>
              <a:gd name="connsiteY1" fmla="*/ 9971 h 10000"/>
              <a:gd name="connsiteX2" fmla="*/ 1255 w 10001"/>
              <a:gd name="connsiteY2" fmla="*/ 10000 h 10000"/>
              <a:gd name="connsiteX3" fmla="*/ 1 w 10001"/>
              <a:gd name="connsiteY3" fmla="*/ 8750 h 10000"/>
              <a:gd name="connsiteX4" fmla="*/ 30 w 10001"/>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a:effectLst>
            <a:innerShdw blurRad="901700" dist="50800" dir="18900000">
              <a:prstClr val="black">
                <a:alpha val="30000"/>
              </a:prstClr>
            </a:innerShdw>
          </a:effectLst>
        </p:spPr>
        <p:txBody>
          <a:bodyPr vert="horz" wrap="square" lIns="91440" tIns="45720" rIns="91440" bIns="45720" numCol="1" anchor="t" anchorCtr="0" compatLnSpc="1">
            <a:prstTxWarp prst="textNoShape">
              <a:avLst/>
            </a:prstTxWarp>
          </a:bodyPr>
          <a:lstStyle/>
          <a:p>
            <a:endParaRPr lang="en-US" dirty="0"/>
          </a:p>
        </p:txBody>
      </p:sp>
      <p:sp>
        <p:nvSpPr>
          <p:cNvPr id="24" name="Rectangle 23">
            <a:extLst>
              <a:ext uri="{FF2B5EF4-FFF2-40B4-BE49-F238E27FC236}">
                <a16:creationId xmlns:a16="http://schemas.microsoft.com/office/drawing/2014/main" id="{561A13B1-4FE2-47EF-C699-2F5D32C46C7B}"/>
              </a:ext>
            </a:extLst>
          </p:cNvPr>
          <p:cNvSpPr/>
          <p:nvPr userDrawn="1"/>
        </p:nvSpPr>
        <p:spPr>
          <a:xfrm>
            <a:off x="0" y="0"/>
            <a:ext cx="5148943" cy="6858000"/>
          </a:xfrm>
          <a:prstGeom prst="rect">
            <a:avLst/>
          </a:prstGeom>
          <a:solidFill>
            <a:schemeClr val="tx1">
              <a:lumMod val="75000"/>
              <a:lumOff val="25000"/>
            </a:schemeClr>
          </a:solidFill>
          <a:ln>
            <a:solidFill>
              <a:schemeClr val="tx2">
                <a:lumMod val="25000"/>
                <a:lumOff val="75000"/>
              </a:schemeClr>
            </a:solidFill>
          </a:ln>
          <a:effectLst>
            <a:outerShdw blurRad="457200" dist="215900" sx="96000" sy="960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Footer Placeholder 7">
            <a:extLst>
              <a:ext uri="{FF2B5EF4-FFF2-40B4-BE49-F238E27FC236}">
                <a16:creationId xmlns:a16="http://schemas.microsoft.com/office/drawing/2014/main" id="{38B5F1C4-1CE7-DD7E-48D5-4216747D32ED}"/>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A6223489-9DE8-D078-A240-0B0232406F2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21" name="Title 20">
            <a:extLst>
              <a:ext uri="{FF2B5EF4-FFF2-40B4-BE49-F238E27FC236}">
                <a16:creationId xmlns:a16="http://schemas.microsoft.com/office/drawing/2014/main" id="{5B65FFBD-94D0-7BC8-3B24-CAF4FC2B7924}"/>
              </a:ext>
            </a:extLst>
          </p:cNvPr>
          <p:cNvSpPr>
            <a:spLocks noGrp="1"/>
          </p:cNvSpPr>
          <p:nvPr>
            <p:ph type="title"/>
          </p:nvPr>
        </p:nvSpPr>
        <p:spPr>
          <a:xfrm>
            <a:off x="500742" y="1286581"/>
            <a:ext cx="4169229" cy="1325563"/>
          </a:xfrm>
        </p:spPr>
        <p:txBody>
          <a:bodyPr/>
          <a:lstStyle>
            <a:lvl1pPr>
              <a:defRPr>
                <a:solidFill>
                  <a:schemeClr val="bg1"/>
                </a:solidFill>
              </a:defRPr>
            </a:lvl1pPr>
          </a:lstStyle>
          <a:p>
            <a:r>
              <a:rPr lang="en-US" dirty="0"/>
              <a:t>Click to edit Master title style</a:t>
            </a:r>
            <a:endParaRPr lang="en-MY" dirty="0"/>
          </a:p>
        </p:txBody>
      </p:sp>
      <p:sp>
        <p:nvSpPr>
          <p:cNvPr id="23" name="Picture Placeholder 22">
            <a:extLst>
              <a:ext uri="{FF2B5EF4-FFF2-40B4-BE49-F238E27FC236}">
                <a16:creationId xmlns:a16="http://schemas.microsoft.com/office/drawing/2014/main" id="{062D7562-98EB-7777-7293-CA6B3C3C6E27}"/>
              </a:ext>
            </a:extLst>
          </p:cNvPr>
          <p:cNvSpPr>
            <a:spLocks noGrp="1"/>
          </p:cNvSpPr>
          <p:nvPr>
            <p:ph type="pic" sz="quarter" idx="12"/>
          </p:nvPr>
        </p:nvSpPr>
        <p:spPr>
          <a:xfrm>
            <a:off x="8752114" y="733425"/>
            <a:ext cx="2939143" cy="2363380"/>
          </a:xfrm>
        </p:spPr>
        <p:txBody>
          <a:bodyPr/>
          <a:lstStyle/>
          <a:p>
            <a:endParaRPr lang="en-MY"/>
          </a:p>
        </p:txBody>
      </p:sp>
      <p:sp>
        <p:nvSpPr>
          <p:cNvPr id="26" name="Picture Placeholder 22">
            <a:extLst>
              <a:ext uri="{FF2B5EF4-FFF2-40B4-BE49-F238E27FC236}">
                <a16:creationId xmlns:a16="http://schemas.microsoft.com/office/drawing/2014/main" id="{B3311D2B-C82E-1CAD-A451-9734F58E57B4}"/>
              </a:ext>
            </a:extLst>
          </p:cNvPr>
          <p:cNvSpPr>
            <a:spLocks noGrp="1"/>
          </p:cNvSpPr>
          <p:nvPr>
            <p:ph type="pic" sz="quarter" idx="14"/>
          </p:nvPr>
        </p:nvSpPr>
        <p:spPr>
          <a:xfrm>
            <a:off x="5595258" y="733425"/>
            <a:ext cx="2939143" cy="2363380"/>
          </a:xfrm>
        </p:spPr>
        <p:txBody>
          <a:bodyPr/>
          <a:lstStyle/>
          <a:p>
            <a:endParaRPr lang="en-MY"/>
          </a:p>
        </p:txBody>
      </p:sp>
      <p:sp>
        <p:nvSpPr>
          <p:cNvPr id="27" name="Picture Placeholder 22">
            <a:extLst>
              <a:ext uri="{FF2B5EF4-FFF2-40B4-BE49-F238E27FC236}">
                <a16:creationId xmlns:a16="http://schemas.microsoft.com/office/drawing/2014/main" id="{74429CBD-241C-5A28-0B76-94FBEBD0C02B}"/>
              </a:ext>
            </a:extLst>
          </p:cNvPr>
          <p:cNvSpPr>
            <a:spLocks noGrp="1"/>
          </p:cNvSpPr>
          <p:nvPr>
            <p:ph type="pic" sz="quarter" idx="15"/>
          </p:nvPr>
        </p:nvSpPr>
        <p:spPr>
          <a:xfrm>
            <a:off x="8752114" y="3244668"/>
            <a:ext cx="2939143" cy="2363380"/>
          </a:xfrm>
        </p:spPr>
        <p:txBody>
          <a:bodyPr/>
          <a:lstStyle/>
          <a:p>
            <a:endParaRPr lang="en-MY"/>
          </a:p>
        </p:txBody>
      </p:sp>
      <p:sp>
        <p:nvSpPr>
          <p:cNvPr id="28" name="Picture Placeholder 22">
            <a:extLst>
              <a:ext uri="{FF2B5EF4-FFF2-40B4-BE49-F238E27FC236}">
                <a16:creationId xmlns:a16="http://schemas.microsoft.com/office/drawing/2014/main" id="{CFCC5C12-97DC-F983-E825-5420E2382DF3}"/>
              </a:ext>
            </a:extLst>
          </p:cNvPr>
          <p:cNvSpPr>
            <a:spLocks noGrp="1"/>
          </p:cNvSpPr>
          <p:nvPr>
            <p:ph type="pic" sz="quarter" idx="16"/>
          </p:nvPr>
        </p:nvSpPr>
        <p:spPr>
          <a:xfrm>
            <a:off x="5595258" y="3244668"/>
            <a:ext cx="2939143" cy="2363380"/>
          </a:xfrm>
        </p:spPr>
        <p:txBody>
          <a:bodyPr/>
          <a:lstStyle/>
          <a:p>
            <a:endParaRPr lang="en-MY"/>
          </a:p>
        </p:txBody>
      </p:sp>
      <p:pic>
        <p:nvPicPr>
          <p:cNvPr id="12" name="Picture 11" descr="Logo&#10;&#10;Description automatically generated">
            <a:extLst>
              <a:ext uri="{FF2B5EF4-FFF2-40B4-BE49-F238E27FC236}">
                <a16:creationId xmlns:a16="http://schemas.microsoft.com/office/drawing/2014/main" id="{3AA3835C-FADD-1650-B8D8-CE293B5F5BB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235033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solidFill>
                <a:schemeClr val="tx1"/>
              </a:solidFill>
            </a:endParaRPr>
          </a:p>
        </p:txBody>
      </p:sp>
      <p:sp>
        <p:nvSpPr>
          <p:cNvPr id="7" name="Rectangle 6">
            <a:extLst>
              <a:ext uri="{FF2B5EF4-FFF2-40B4-BE49-F238E27FC236}">
                <a16:creationId xmlns:a16="http://schemas.microsoft.com/office/drawing/2014/main" id="{3368261F-6835-9486-4798-B9A07195D78C}"/>
              </a:ext>
            </a:extLst>
          </p:cNvPr>
          <p:cNvSpPr/>
          <p:nvPr userDrawn="1"/>
        </p:nvSpPr>
        <p:spPr>
          <a:xfrm rot="10800000">
            <a:off x="2093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A847E563-BFAE-519A-4A8B-22300B086917}"/>
              </a:ext>
            </a:extLst>
          </p:cNvPr>
          <p:cNvSpPr/>
          <p:nvPr userDrawn="1"/>
        </p:nvSpPr>
        <p:spPr>
          <a:xfrm rot="10800000">
            <a:off x="2095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BBFDF2C4-A780-511B-093B-368D5530493C}"/>
              </a:ext>
            </a:extLst>
          </p:cNvPr>
          <p:cNvSpPr/>
          <p:nvPr userDrawn="1"/>
        </p:nvSpPr>
        <p:spPr>
          <a:xfrm rot="10800000">
            <a:off x="2093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1E7417D1-014A-5984-58A6-AA6486BF755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792788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blank_layout_0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6A5AEAA-D9F4-2E35-437C-BA8524DF94F6}"/>
              </a:ext>
            </a:extLst>
          </p:cNvPr>
          <p:cNvSpPr/>
          <p:nvPr userDrawn="1"/>
        </p:nvSpPr>
        <p:spPr>
          <a:xfrm flipH="1">
            <a:off x="11899557" y="0"/>
            <a:ext cx="61784" cy="627723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Diagonal Stripe 4">
            <a:extLst>
              <a:ext uri="{FF2B5EF4-FFF2-40B4-BE49-F238E27FC236}">
                <a16:creationId xmlns:a16="http://schemas.microsoft.com/office/drawing/2014/main" id="{2C42E429-2984-FD06-B980-5826B41BC123}"/>
              </a:ext>
            </a:extLst>
          </p:cNvPr>
          <p:cNvSpPr/>
          <p:nvPr userDrawn="1"/>
        </p:nvSpPr>
        <p:spPr>
          <a:xfrm>
            <a:off x="0" y="0"/>
            <a:ext cx="5606143" cy="6858000"/>
          </a:xfrm>
          <a:prstGeom prst="diagStripe">
            <a:avLst/>
          </a:prstGeom>
          <a:solidFill>
            <a:schemeClr val="bg1">
              <a:lumMod val="75000"/>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pic>
        <p:nvPicPr>
          <p:cNvPr id="7" name="Picture 6" descr="Logo&#10;&#10;Description automatically generated">
            <a:extLst>
              <a:ext uri="{FF2B5EF4-FFF2-40B4-BE49-F238E27FC236}">
                <a16:creationId xmlns:a16="http://schemas.microsoft.com/office/drawing/2014/main" id="{B1924BF6-BCDA-9AF9-A625-9294B79A5C3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641459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46817E6-AD1A-08AC-88A5-0C62449E0C76}"/>
              </a:ext>
            </a:extLst>
          </p:cNvPr>
          <p:cNvSpPr/>
          <p:nvPr userDrawn="1"/>
        </p:nvSpPr>
        <p:spPr>
          <a:xfrm>
            <a:off x="0" y="0"/>
            <a:ext cx="12192000" cy="193765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rot="10800000" flipV="1">
            <a:off x="-5939" y="1901929"/>
            <a:ext cx="12192000" cy="3139623"/>
          </a:xfrm>
          <a:prstGeom prst="rect">
            <a:avLst/>
          </a:prstGeom>
        </p:spPr>
      </p:pic>
      <p:pic>
        <p:nvPicPr>
          <p:cNvPr id="4" name="Picture 3" descr="Logo&#10;&#10;Description automatically generated">
            <a:extLst>
              <a:ext uri="{FF2B5EF4-FFF2-40B4-BE49-F238E27FC236}">
                <a16:creationId xmlns:a16="http://schemas.microsoft.com/office/drawing/2014/main" id="{AFED6FC9-C93A-9F07-CF8D-C0E1F0B2152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21526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_06">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5A8456C-09BE-F772-4E09-AC8E5EFE5A98}"/>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13" name="Rectangle 12">
            <a:extLst>
              <a:ext uri="{FF2B5EF4-FFF2-40B4-BE49-F238E27FC236}">
                <a16:creationId xmlns:a16="http://schemas.microsoft.com/office/drawing/2014/main" id="{C4A970D6-E749-96E3-83B1-8B21AB192873}"/>
              </a:ext>
            </a:extLst>
          </p:cNvPr>
          <p:cNvSpPr/>
          <p:nvPr userDrawn="1"/>
        </p:nvSpPr>
        <p:spPr>
          <a:xfrm>
            <a:off x="0" y="0"/>
            <a:ext cx="4539343" cy="612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solidFill>
                <a:schemeClr val="bg1"/>
              </a:solidFill>
            </a:endParaRPr>
          </a:p>
        </p:txBody>
      </p:sp>
      <p:sp>
        <p:nvSpPr>
          <p:cNvPr id="2" name="Title 1">
            <a:extLst>
              <a:ext uri="{FF2B5EF4-FFF2-40B4-BE49-F238E27FC236}">
                <a16:creationId xmlns:a16="http://schemas.microsoft.com/office/drawing/2014/main" id="{0968299B-C422-1510-F32A-0DFF889E93C4}"/>
              </a:ext>
            </a:extLst>
          </p:cNvPr>
          <p:cNvSpPr>
            <a:spLocks noGrp="1"/>
          </p:cNvSpPr>
          <p:nvPr>
            <p:ph type="title"/>
          </p:nvPr>
        </p:nvSpPr>
        <p:spPr>
          <a:xfrm>
            <a:off x="6151338" y="2766217"/>
            <a:ext cx="5822948" cy="1325563"/>
          </a:xfrm>
        </p:spPr>
        <p:txBody>
          <a:bodyPr/>
          <a:lstStyle>
            <a:lvl1pPr algn="ctr">
              <a:defRPr/>
            </a:lvl1pPr>
          </a:lstStyle>
          <a:p>
            <a:r>
              <a:rPr lang="en-US"/>
              <a:t>Click to edit Master title style</a:t>
            </a:r>
            <a:endParaRPr lang="en-MY"/>
          </a:p>
        </p:txBody>
      </p:sp>
      <p:sp>
        <p:nvSpPr>
          <p:cNvPr id="10" name="Footer Placeholder 9">
            <a:extLst>
              <a:ext uri="{FF2B5EF4-FFF2-40B4-BE49-F238E27FC236}">
                <a16:creationId xmlns:a16="http://schemas.microsoft.com/office/drawing/2014/main" id="{37270406-6097-F873-9773-CC94FA23047F}"/>
              </a:ext>
            </a:extLst>
          </p:cNvPr>
          <p:cNvSpPr>
            <a:spLocks noGrp="1"/>
          </p:cNvSpPr>
          <p:nvPr>
            <p:ph type="ftr" sz="quarter" idx="10"/>
          </p:nvPr>
        </p:nvSpPr>
        <p:spPr/>
        <p:txBody>
          <a:bodyPr/>
          <a:lstStyle/>
          <a:p>
            <a:endParaRPr lang="en-MY"/>
          </a:p>
        </p:txBody>
      </p:sp>
      <p:sp>
        <p:nvSpPr>
          <p:cNvPr id="11" name="Slide Number Placeholder 10">
            <a:extLst>
              <a:ext uri="{FF2B5EF4-FFF2-40B4-BE49-F238E27FC236}">
                <a16:creationId xmlns:a16="http://schemas.microsoft.com/office/drawing/2014/main" id="{A4759327-3B5D-3BFA-5CCA-6BD5BACEAD3D}"/>
              </a:ext>
            </a:extLst>
          </p:cNvPr>
          <p:cNvSpPr>
            <a:spLocks noGrp="1"/>
          </p:cNvSpPr>
          <p:nvPr>
            <p:ph type="sldNum" sz="quarter" idx="11"/>
          </p:nvPr>
        </p:nvSpPr>
        <p:spPr/>
        <p:txBody>
          <a:bodyPr/>
          <a:lstStyle/>
          <a:p>
            <a:fld id="{7737D3DD-0AB3-4F16-99FA-6262B2B4036D}" type="slidenum">
              <a:rPr lang="en-MY" smtClean="0"/>
              <a:t>‹#›</a:t>
            </a:fld>
            <a:endParaRPr lang="en-MY"/>
          </a:p>
        </p:txBody>
      </p:sp>
      <p:grpSp>
        <p:nvGrpSpPr>
          <p:cNvPr id="9" name="Group 8">
            <a:extLst>
              <a:ext uri="{FF2B5EF4-FFF2-40B4-BE49-F238E27FC236}">
                <a16:creationId xmlns:a16="http://schemas.microsoft.com/office/drawing/2014/main" id="{CB557F9C-2B1B-1E45-919F-2CBA963082F1}"/>
              </a:ext>
            </a:extLst>
          </p:cNvPr>
          <p:cNvGrpSpPr/>
          <p:nvPr userDrawn="1"/>
        </p:nvGrpSpPr>
        <p:grpSpPr>
          <a:xfrm>
            <a:off x="580088" y="1982368"/>
            <a:ext cx="5265908" cy="2893260"/>
            <a:chOff x="-548507" y="477868"/>
            <a:chExt cx="11570449" cy="6357177"/>
          </a:xfrm>
        </p:grpSpPr>
        <p:sp>
          <p:nvSpPr>
            <p:cNvPr id="14" name="Freeform: Shape 13">
              <a:extLst>
                <a:ext uri="{FF2B5EF4-FFF2-40B4-BE49-F238E27FC236}">
                  <a16:creationId xmlns:a16="http://schemas.microsoft.com/office/drawing/2014/main" id="{6B4D37DD-77A1-3F66-1AB7-0D02A7AA05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69939251-1BCB-8F28-4AEB-3F5C698F7844}"/>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76B35D63-3320-AD9B-342D-29A2461E1E90}"/>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1EA1DA0-4667-A070-5433-AD3862F8F01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31CCFE93-102B-5253-326B-9C14E78024FF}"/>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20" name="Group 19">
              <a:extLst>
                <a:ext uri="{FF2B5EF4-FFF2-40B4-BE49-F238E27FC236}">
                  <a16:creationId xmlns:a16="http://schemas.microsoft.com/office/drawing/2014/main" id="{9271F50C-004D-6614-9952-C20CF9F23F84}"/>
                </a:ext>
              </a:extLst>
            </p:cNvPr>
            <p:cNvGrpSpPr/>
            <p:nvPr/>
          </p:nvGrpSpPr>
          <p:grpSpPr>
            <a:xfrm>
              <a:off x="1606" y="6382978"/>
              <a:ext cx="413937" cy="115242"/>
              <a:chOff x="5955" y="6353672"/>
              <a:chExt cx="413937" cy="115242"/>
            </a:xfrm>
          </p:grpSpPr>
          <p:sp>
            <p:nvSpPr>
              <p:cNvPr id="25" name="Rectangle: Rounded Corners 24">
                <a:extLst>
                  <a:ext uri="{FF2B5EF4-FFF2-40B4-BE49-F238E27FC236}">
                    <a16:creationId xmlns:a16="http://schemas.microsoft.com/office/drawing/2014/main" id="{28837067-0E6E-EBDC-C7A8-86F4033B63D3}"/>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Rounded Corners 25">
                <a:extLst>
                  <a:ext uri="{FF2B5EF4-FFF2-40B4-BE49-F238E27FC236}">
                    <a16:creationId xmlns:a16="http://schemas.microsoft.com/office/drawing/2014/main" id="{3AC60AB8-5AB3-8260-897B-FB410ACB3FB8}"/>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4D931CFE-A63B-8125-E9D4-949B42E5C546}"/>
                </a:ext>
              </a:extLst>
            </p:cNvPr>
            <p:cNvGrpSpPr/>
            <p:nvPr/>
          </p:nvGrpSpPr>
          <p:grpSpPr>
            <a:xfrm>
              <a:off x="9855291" y="6381600"/>
              <a:ext cx="885989" cy="115242"/>
              <a:chOff x="5955" y="6353672"/>
              <a:chExt cx="413937" cy="115242"/>
            </a:xfrm>
          </p:grpSpPr>
          <p:sp>
            <p:nvSpPr>
              <p:cNvPr id="23" name="Rectangle: Rounded Corners 22">
                <a:extLst>
                  <a:ext uri="{FF2B5EF4-FFF2-40B4-BE49-F238E27FC236}">
                    <a16:creationId xmlns:a16="http://schemas.microsoft.com/office/drawing/2014/main" id="{20BC883D-1639-3A5C-4006-DBE2E6597109}"/>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Rounded Corners 23">
                <a:extLst>
                  <a:ext uri="{FF2B5EF4-FFF2-40B4-BE49-F238E27FC236}">
                    <a16:creationId xmlns:a16="http://schemas.microsoft.com/office/drawing/2014/main" id="{BBA29C7B-554C-081E-2135-BFC59AE98156}"/>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Freeform: Shape 21">
              <a:extLst>
                <a:ext uri="{FF2B5EF4-FFF2-40B4-BE49-F238E27FC236}">
                  <a16:creationId xmlns:a16="http://schemas.microsoft.com/office/drawing/2014/main" id="{60D7FD87-F429-AB50-CEC1-95CBDAABB01E}"/>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pic>
        <p:nvPicPr>
          <p:cNvPr id="27" name="Picture 26" descr="Logo&#10;&#10;Description automatically generated">
            <a:extLst>
              <a:ext uri="{FF2B5EF4-FFF2-40B4-BE49-F238E27FC236}">
                <a16:creationId xmlns:a16="http://schemas.microsoft.com/office/drawing/2014/main" id="{EBD843B1-0951-A33D-BCC6-E0640022F3A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480437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8" name="Picture Placeholder 7">
            <a:extLst>
              <a:ext uri="{FF2B5EF4-FFF2-40B4-BE49-F238E27FC236}">
                <a16:creationId xmlns:a16="http://schemas.microsoft.com/office/drawing/2014/main" id="{89987F70-64EC-CA05-E8A9-766DF9840D38}"/>
              </a:ext>
            </a:extLst>
          </p:cNvPr>
          <p:cNvSpPr>
            <a:spLocks noGrp="1"/>
          </p:cNvSpPr>
          <p:nvPr>
            <p:ph type="pic" sz="quarter" idx="12"/>
          </p:nvPr>
        </p:nvSpPr>
        <p:spPr>
          <a:xfrm>
            <a:off x="1622425" y="833378"/>
            <a:ext cx="8947150" cy="4554638"/>
          </a:xfrm>
        </p:spPr>
        <p:txBody>
          <a:bodyPr/>
          <a:lstStyle/>
          <a:p>
            <a:endParaRPr lang="en-MY"/>
          </a:p>
        </p:txBody>
      </p:sp>
      <p:pic>
        <p:nvPicPr>
          <p:cNvPr id="9" name="Picture 8" descr="Logo&#10;&#10;Description automatically generated">
            <a:extLst>
              <a:ext uri="{FF2B5EF4-FFF2-40B4-BE49-F238E27FC236}">
                <a16:creationId xmlns:a16="http://schemas.microsoft.com/office/drawing/2014/main" id="{FA832A2C-2644-6658-956A-F6CDE4CFC8A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1295942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Layout_07">
    <p:bg>
      <p:bgPr>
        <a:solidFill>
          <a:schemeClr val="bg1">
            <a:alpha val="37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28DB6A-3639-804F-5B60-C6592BBF091F}"/>
              </a:ext>
            </a:extLst>
          </p:cNvPr>
          <p:cNvPicPr>
            <a:picLocks noChangeAspect="1"/>
          </p:cNvPicPr>
          <p:nvPr userDrawn="1"/>
        </p:nvPicPr>
        <p:blipFill>
          <a:blip r:embed="rId2"/>
          <a:stretch>
            <a:fillRect/>
          </a:stretch>
        </p:blipFill>
        <p:spPr>
          <a:xfrm rot="10800000" flipV="1">
            <a:off x="0" y="-29928"/>
            <a:ext cx="12192000" cy="3956927"/>
          </a:xfrm>
          <a:prstGeom prst="rect">
            <a:avLst/>
          </a:prstGeom>
        </p:spPr>
      </p:pic>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9" name="Rectangle 8">
            <a:extLst>
              <a:ext uri="{FF2B5EF4-FFF2-40B4-BE49-F238E27FC236}">
                <a16:creationId xmlns:a16="http://schemas.microsoft.com/office/drawing/2014/main" id="{6A28F128-2C1E-BF90-7B50-EEA520A8E0D1}"/>
              </a:ext>
            </a:extLst>
          </p:cNvPr>
          <p:cNvSpPr/>
          <p:nvPr userDrawn="1"/>
        </p:nvSpPr>
        <p:spPr>
          <a:xfrm rot="10800000">
            <a:off x="2161479" y="-29927"/>
            <a:ext cx="10024582" cy="59854"/>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0" name="Rectangle 9">
            <a:extLst>
              <a:ext uri="{FF2B5EF4-FFF2-40B4-BE49-F238E27FC236}">
                <a16:creationId xmlns:a16="http://schemas.microsoft.com/office/drawing/2014/main" id="{AB14BB5F-78D4-C98C-F6C3-95F1B716981E}"/>
              </a:ext>
            </a:extLst>
          </p:cNvPr>
          <p:cNvSpPr/>
          <p:nvPr userDrawn="1"/>
        </p:nvSpPr>
        <p:spPr>
          <a:xfrm>
            <a:off x="0" y="-52790"/>
            <a:ext cx="5148943" cy="225287"/>
          </a:xfrm>
          <a:prstGeom prst="rect">
            <a:avLst/>
          </a:prstGeom>
          <a:solidFill>
            <a:schemeClr val="tx1">
              <a:lumMod val="75000"/>
              <a:lumOff val="2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8" name="Picture 7" descr="Logo&#10;&#10;Description automatically generated">
            <a:extLst>
              <a:ext uri="{FF2B5EF4-FFF2-40B4-BE49-F238E27FC236}">
                <a16:creationId xmlns:a16="http://schemas.microsoft.com/office/drawing/2014/main" id="{456F8D6F-4FEB-ED3E-E7ED-26FDD0376D6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2411962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_08">
    <p:bg>
      <p:bgPr>
        <a:solidFill>
          <a:srgbClr val="C04C4C"/>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6764FE-4266-9C28-BBAD-0C0CE59F74C2}"/>
              </a:ext>
            </a:extLst>
          </p:cNvPr>
          <p:cNvSpPr/>
          <p:nvPr userDrawn="1"/>
        </p:nvSpPr>
        <p:spPr>
          <a:xfrm>
            <a:off x="0" y="0"/>
            <a:ext cx="12192000" cy="4737100"/>
          </a:xfrm>
          <a:prstGeom prst="rect">
            <a:avLst/>
          </a:prstGeom>
          <a:solidFill>
            <a:schemeClr val="bg1"/>
          </a:solidFill>
          <a:ln>
            <a:noFill/>
          </a:ln>
          <a:effectLst>
            <a:outerShdw blurRad="254000" dist="215900" dir="5400000" sx="98000" sy="98000" algn="t"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Footer Placeholder 4">
            <a:extLst>
              <a:ext uri="{FF2B5EF4-FFF2-40B4-BE49-F238E27FC236}">
                <a16:creationId xmlns:a16="http://schemas.microsoft.com/office/drawing/2014/main" id="{C226471F-60E2-4515-0BAA-0DB6D5757165}"/>
              </a:ext>
            </a:extLst>
          </p:cNvPr>
          <p:cNvSpPr>
            <a:spLocks noGrp="1"/>
          </p:cNvSpPr>
          <p:nvPr>
            <p:ph type="ftr" sz="quarter" idx="10"/>
          </p:nvPr>
        </p:nvSpPr>
        <p:spPr/>
        <p:txBody>
          <a:bodyPr/>
          <a:lstStyle/>
          <a:p>
            <a:endParaRPr lang="en-MY"/>
          </a:p>
        </p:txBody>
      </p:sp>
      <p:sp>
        <p:nvSpPr>
          <p:cNvPr id="6" name="Slide Number Placeholder 5">
            <a:extLst>
              <a:ext uri="{FF2B5EF4-FFF2-40B4-BE49-F238E27FC236}">
                <a16:creationId xmlns:a16="http://schemas.microsoft.com/office/drawing/2014/main" id="{CA9885EA-F2ED-0679-F34F-5A78B2C6146D}"/>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7" name="Title 6">
            <a:extLst>
              <a:ext uri="{FF2B5EF4-FFF2-40B4-BE49-F238E27FC236}">
                <a16:creationId xmlns:a16="http://schemas.microsoft.com/office/drawing/2014/main" id="{46D67C0D-AE8E-41E4-EB71-DE0656956001}"/>
              </a:ext>
            </a:extLst>
          </p:cNvPr>
          <p:cNvSpPr>
            <a:spLocks noGrp="1"/>
          </p:cNvSpPr>
          <p:nvPr>
            <p:ph type="title"/>
          </p:nvPr>
        </p:nvSpPr>
        <p:spPr/>
        <p:txBody>
          <a:bodyPr/>
          <a:lstStyle/>
          <a:p>
            <a:r>
              <a:rPr lang="en-US"/>
              <a:t>Click to edit Master title style</a:t>
            </a:r>
            <a:endParaRPr lang="en-MY"/>
          </a:p>
        </p:txBody>
      </p:sp>
      <p:pic>
        <p:nvPicPr>
          <p:cNvPr id="9" name="Picture 8" descr="Logo&#10;&#10;Description automatically generated">
            <a:extLst>
              <a:ext uri="{FF2B5EF4-FFF2-40B4-BE49-F238E27FC236}">
                <a16:creationId xmlns:a16="http://schemas.microsoft.com/office/drawing/2014/main" id="{C938784C-798A-313F-6BDD-2EEF86FBF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10580" y="6338033"/>
            <a:ext cx="1069391" cy="361688"/>
          </a:xfrm>
          <a:prstGeom prst="rect">
            <a:avLst/>
          </a:prstGeom>
        </p:spPr>
      </p:pic>
    </p:spTree>
    <p:extLst>
      <p:ext uri="{BB962C8B-B14F-4D97-AF65-F5344CB8AC3E}">
        <p14:creationId xmlns:p14="http://schemas.microsoft.com/office/powerpoint/2010/main" val="12496405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_09">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A40B45C3-8E81-6BAE-010D-9B6CD2D56226}"/>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DA03FB80-B1FC-DDFA-448B-BCE958EA32DE}"/>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0" name="Title 9">
            <a:extLst>
              <a:ext uri="{FF2B5EF4-FFF2-40B4-BE49-F238E27FC236}">
                <a16:creationId xmlns:a16="http://schemas.microsoft.com/office/drawing/2014/main" id="{A81EEF20-E6C8-6C8E-7FE9-279D53479B22}"/>
              </a:ext>
            </a:extLst>
          </p:cNvPr>
          <p:cNvSpPr>
            <a:spLocks noGrp="1"/>
          </p:cNvSpPr>
          <p:nvPr>
            <p:ph type="title"/>
          </p:nvPr>
        </p:nvSpPr>
        <p:spPr/>
        <p:txBody>
          <a:bodyPr/>
          <a:lstStyle/>
          <a:p>
            <a:r>
              <a:rPr lang="en-US"/>
              <a:t>Click to edit Master title style</a:t>
            </a:r>
            <a:endParaRPr lang="en-MY"/>
          </a:p>
        </p:txBody>
      </p:sp>
      <p:sp>
        <p:nvSpPr>
          <p:cNvPr id="12" name="Picture Placeholder 11">
            <a:extLst>
              <a:ext uri="{FF2B5EF4-FFF2-40B4-BE49-F238E27FC236}">
                <a16:creationId xmlns:a16="http://schemas.microsoft.com/office/drawing/2014/main" id="{066CCFD3-9BC4-D4C1-9392-EA327203EA89}"/>
              </a:ext>
            </a:extLst>
          </p:cNvPr>
          <p:cNvSpPr>
            <a:spLocks noGrp="1"/>
          </p:cNvSpPr>
          <p:nvPr>
            <p:ph type="pic" sz="quarter" idx="12"/>
          </p:nvPr>
        </p:nvSpPr>
        <p:spPr>
          <a:xfrm>
            <a:off x="838200" y="1863725"/>
            <a:ext cx="3200400" cy="2939769"/>
          </a:xfrm>
        </p:spPr>
        <p:txBody>
          <a:bodyPr/>
          <a:lstStyle/>
          <a:p>
            <a:endParaRPr lang="en-MY"/>
          </a:p>
        </p:txBody>
      </p:sp>
      <p:sp>
        <p:nvSpPr>
          <p:cNvPr id="14" name="Picture Placeholder 13">
            <a:extLst>
              <a:ext uri="{FF2B5EF4-FFF2-40B4-BE49-F238E27FC236}">
                <a16:creationId xmlns:a16="http://schemas.microsoft.com/office/drawing/2014/main" id="{5EFB77A9-6E81-95F5-77AD-E75BB87A5A77}"/>
              </a:ext>
            </a:extLst>
          </p:cNvPr>
          <p:cNvSpPr>
            <a:spLocks noGrp="1"/>
          </p:cNvSpPr>
          <p:nvPr>
            <p:ph type="pic" sz="quarter" idx="13"/>
          </p:nvPr>
        </p:nvSpPr>
        <p:spPr>
          <a:xfrm>
            <a:off x="4495800" y="1863725"/>
            <a:ext cx="3200400" cy="2939769"/>
          </a:xfrm>
        </p:spPr>
        <p:txBody>
          <a:bodyPr/>
          <a:lstStyle/>
          <a:p>
            <a:endParaRPr lang="en-MY"/>
          </a:p>
        </p:txBody>
      </p:sp>
      <p:sp>
        <p:nvSpPr>
          <p:cNvPr id="16" name="Picture Placeholder 15">
            <a:extLst>
              <a:ext uri="{FF2B5EF4-FFF2-40B4-BE49-F238E27FC236}">
                <a16:creationId xmlns:a16="http://schemas.microsoft.com/office/drawing/2014/main" id="{439127F8-03DB-5D0F-A98C-B82B076E4B38}"/>
              </a:ext>
            </a:extLst>
          </p:cNvPr>
          <p:cNvSpPr>
            <a:spLocks noGrp="1"/>
          </p:cNvSpPr>
          <p:nvPr>
            <p:ph type="pic" sz="quarter" idx="14"/>
          </p:nvPr>
        </p:nvSpPr>
        <p:spPr>
          <a:xfrm>
            <a:off x="8158725" y="1863725"/>
            <a:ext cx="3200400" cy="2939769"/>
          </a:xfrm>
        </p:spPr>
        <p:txBody>
          <a:bodyPr/>
          <a:lstStyle/>
          <a:p>
            <a:endParaRPr lang="en-MY"/>
          </a:p>
        </p:txBody>
      </p:sp>
      <p:pic>
        <p:nvPicPr>
          <p:cNvPr id="11" name="Picture 10" descr="Logo&#10;&#10;Description automatically generated">
            <a:extLst>
              <a:ext uri="{FF2B5EF4-FFF2-40B4-BE49-F238E27FC236}">
                <a16:creationId xmlns:a16="http://schemas.microsoft.com/office/drawing/2014/main" id="{99728D72-5D76-DC8D-B044-63CA42649D7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938016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_10">
    <p:bg>
      <p:bgPr>
        <a:solidFill>
          <a:schemeClr val="bg1">
            <a:alpha val="37000"/>
          </a:schemeClr>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69CEC78F-2030-F657-D94C-EC9916E70239}"/>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8" name="Footer Placeholder 7">
            <a:extLst>
              <a:ext uri="{FF2B5EF4-FFF2-40B4-BE49-F238E27FC236}">
                <a16:creationId xmlns:a16="http://schemas.microsoft.com/office/drawing/2014/main" id="{1D72305A-2320-94A9-D78D-83FAEFAD6021}"/>
              </a:ext>
            </a:extLst>
          </p:cNvPr>
          <p:cNvSpPr>
            <a:spLocks noGrp="1"/>
          </p:cNvSpPr>
          <p:nvPr>
            <p:ph type="ftr" sz="quarter" idx="10"/>
          </p:nvPr>
        </p:nvSpPr>
        <p:spPr/>
        <p:txBody>
          <a:bodyPr/>
          <a:lstStyle/>
          <a:p>
            <a:endParaRPr lang="en-MY"/>
          </a:p>
        </p:txBody>
      </p:sp>
      <p:sp>
        <p:nvSpPr>
          <p:cNvPr id="9" name="Slide Number Placeholder 8">
            <a:extLst>
              <a:ext uri="{FF2B5EF4-FFF2-40B4-BE49-F238E27FC236}">
                <a16:creationId xmlns:a16="http://schemas.microsoft.com/office/drawing/2014/main" id="{F1A13F7E-A796-3E64-A559-FCC5922DB727}"/>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15" name="Picture Placeholder 14">
            <a:extLst>
              <a:ext uri="{FF2B5EF4-FFF2-40B4-BE49-F238E27FC236}">
                <a16:creationId xmlns:a16="http://schemas.microsoft.com/office/drawing/2014/main" id="{1F9FC79A-20DE-55EB-11E3-BAD01F6F979A}"/>
              </a:ext>
            </a:extLst>
          </p:cNvPr>
          <p:cNvSpPr>
            <a:spLocks noGrp="1"/>
          </p:cNvSpPr>
          <p:nvPr>
            <p:ph type="pic" sz="quarter" idx="12"/>
          </p:nvPr>
        </p:nvSpPr>
        <p:spPr>
          <a:xfrm>
            <a:off x="0" y="0"/>
            <a:ext cx="2222500" cy="2036763"/>
          </a:xfrm>
        </p:spPr>
        <p:txBody>
          <a:bodyPr/>
          <a:lstStyle/>
          <a:p>
            <a:endParaRPr lang="en-MY"/>
          </a:p>
        </p:txBody>
      </p:sp>
      <p:sp>
        <p:nvSpPr>
          <p:cNvPr id="17" name="Picture Placeholder 16">
            <a:extLst>
              <a:ext uri="{FF2B5EF4-FFF2-40B4-BE49-F238E27FC236}">
                <a16:creationId xmlns:a16="http://schemas.microsoft.com/office/drawing/2014/main" id="{37AC4A9C-BE82-674B-5A73-6F2F8CA14FAD}"/>
              </a:ext>
            </a:extLst>
          </p:cNvPr>
          <p:cNvSpPr>
            <a:spLocks noGrp="1"/>
          </p:cNvSpPr>
          <p:nvPr>
            <p:ph type="pic" sz="quarter" idx="13"/>
          </p:nvPr>
        </p:nvSpPr>
        <p:spPr>
          <a:xfrm>
            <a:off x="2222200" y="2048338"/>
            <a:ext cx="2222500" cy="2036763"/>
          </a:xfrm>
        </p:spPr>
        <p:txBody>
          <a:bodyPr/>
          <a:lstStyle/>
          <a:p>
            <a:endParaRPr lang="en-MY"/>
          </a:p>
        </p:txBody>
      </p:sp>
      <p:sp>
        <p:nvSpPr>
          <p:cNvPr id="19" name="Picture Placeholder 18">
            <a:extLst>
              <a:ext uri="{FF2B5EF4-FFF2-40B4-BE49-F238E27FC236}">
                <a16:creationId xmlns:a16="http://schemas.microsoft.com/office/drawing/2014/main" id="{FA81B629-0F07-B59C-0408-FD208CA15356}"/>
              </a:ext>
            </a:extLst>
          </p:cNvPr>
          <p:cNvSpPr>
            <a:spLocks noGrp="1"/>
          </p:cNvSpPr>
          <p:nvPr>
            <p:ph type="pic" sz="quarter" idx="14"/>
          </p:nvPr>
        </p:nvSpPr>
        <p:spPr>
          <a:xfrm>
            <a:off x="0" y="4096676"/>
            <a:ext cx="2222500" cy="2036762"/>
          </a:xfrm>
        </p:spPr>
        <p:txBody>
          <a:bodyPr/>
          <a:lstStyle/>
          <a:p>
            <a:endParaRPr lang="en-MY"/>
          </a:p>
        </p:txBody>
      </p:sp>
      <p:sp>
        <p:nvSpPr>
          <p:cNvPr id="20" name="Title 19">
            <a:extLst>
              <a:ext uri="{FF2B5EF4-FFF2-40B4-BE49-F238E27FC236}">
                <a16:creationId xmlns:a16="http://schemas.microsoft.com/office/drawing/2014/main" id="{1C049FB6-D146-812F-7363-6D35184CA511}"/>
              </a:ext>
            </a:extLst>
          </p:cNvPr>
          <p:cNvSpPr>
            <a:spLocks noGrp="1"/>
          </p:cNvSpPr>
          <p:nvPr>
            <p:ph type="title"/>
          </p:nvPr>
        </p:nvSpPr>
        <p:spPr>
          <a:xfrm>
            <a:off x="5370653" y="355599"/>
            <a:ext cx="6642904" cy="1325563"/>
          </a:xfrm>
        </p:spPr>
        <p:txBody>
          <a:bodyPr/>
          <a:lstStyle/>
          <a:p>
            <a:r>
              <a:rPr lang="en-US"/>
              <a:t>Click to edit Master title style</a:t>
            </a:r>
            <a:endParaRPr lang="en-MY"/>
          </a:p>
        </p:txBody>
      </p:sp>
      <p:sp>
        <p:nvSpPr>
          <p:cNvPr id="21" name="Rectangle 20">
            <a:extLst>
              <a:ext uri="{FF2B5EF4-FFF2-40B4-BE49-F238E27FC236}">
                <a16:creationId xmlns:a16="http://schemas.microsoft.com/office/drawing/2014/main" id="{BF6C5D5C-CDCC-C784-973F-88390D45C53B}"/>
              </a:ext>
            </a:extLst>
          </p:cNvPr>
          <p:cNvSpPr/>
          <p:nvPr userDrawn="1"/>
        </p:nvSpPr>
        <p:spPr>
          <a:xfrm rot="10800000">
            <a:off x="2234075" y="7088"/>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2" name="Rectangle 21">
            <a:extLst>
              <a:ext uri="{FF2B5EF4-FFF2-40B4-BE49-F238E27FC236}">
                <a16:creationId xmlns:a16="http://schemas.microsoft.com/office/drawing/2014/main" id="{ADFD5EF8-AC54-E00C-8C75-712DD23935AA}"/>
              </a:ext>
            </a:extLst>
          </p:cNvPr>
          <p:cNvSpPr/>
          <p:nvPr userDrawn="1"/>
        </p:nvSpPr>
        <p:spPr>
          <a:xfrm rot="10800000">
            <a:off x="0" y="2048637"/>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3" name="Rectangle 22">
            <a:extLst>
              <a:ext uri="{FF2B5EF4-FFF2-40B4-BE49-F238E27FC236}">
                <a16:creationId xmlns:a16="http://schemas.microsoft.com/office/drawing/2014/main" id="{493DF42E-2BE3-EBA6-205B-2A8268FF878D}"/>
              </a:ext>
            </a:extLst>
          </p:cNvPr>
          <p:cNvSpPr/>
          <p:nvPr userDrawn="1"/>
        </p:nvSpPr>
        <p:spPr>
          <a:xfrm rot="10800000">
            <a:off x="2238562" y="4096676"/>
            <a:ext cx="2222500" cy="2036762"/>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pic>
        <p:nvPicPr>
          <p:cNvPr id="12" name="Picture 11" descr="Logo&#10;&#10;Description automatically generated">
            <a:extLst>
              <a:ext uri="{FF2B5EF4-FFF2-40B4-BE49-F238E27FC236}">
                <a16:creationId xmlns:a16="http://schemas.microsoft.com/office/drawing/2014/main" id="{46EDB3BB-164A-CD1A-BF26-D10A4E43D23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3872082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ayout_11">
    <p:bg>
      <p:bgPr>
        <a:solidFill>
          <a:schemeClr val="bg1">
            <a:alpha val="34000"/>
          </a:schemeClr>
        </a:solidFill>
        <a:effectLst/>
      </p:bgPr>
    </p:bg>
    <p:spTree>
      <p:nvGrpSpPr>
        <p:cNvPr id="1" name=""/>
        <p:cNvGrpSpPr/>
        <p:nvPr/>
      </p:nvGrpSpPr>
      <p:grpSpPr>
        <a:xfrm>
          <a:off x="0" y="0"/>
          <a:ext cx="0" cy="0"/>
          <a:chOff x="0" y="0"/>
          <a:chExt cx="0" cy="0"/>
        </a:xfrm>
      </p:grpSpPr>
      <p:sp>
        <p:nvSpPr>
          <p:cNvPr id="406" name="Rectangle 402">
            <a:extLst>
              <a:ext uri="{FF2B5EF4-FFF2-40B4-BE49-F238E27FC236}">
                <a16:creationId xmlns:a16="http://schemas.microsoft.com/office/drawing/2014/main" id="{20B52243-B80A-3445-8806-0BE94A96B286}"/>
              </a:ext>
            </a:extLst>
          </p:cNvPr>
          <p:cNvSpPr/>
          <p:nvPr userDrawn="1"/>
        </p:nvSpPr>
        <p:spPr>
          <a:xfrm rot="10800000">
            <a:off x="-26938" y="-20387"/>
            <a:ext cx="5402774" cy="6014786"/>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 name="connsiteX0" fmla="*/ 2921000 w 5359400"/>
              <a:gd name="connsiteY0" fmla="*/ 12700 h 6007101"/>
              <a:gd name="connsiteX1" fmla="*/ 4953000 w 5359400"/>
              <a:gd name="connsiteY1" fmla="*/ 0 h 6007101"/>
              <a:gd name="connsiteX2" fmla="*/ 5359400 w 5359400"/>
              <a:gd name="connsiteY2" fmla="*/ 6007101 h 6007101"/>
              <a:gd name="connsiteX3" fmla="*/ 0 w 5359400"/>
              <a:gd name="connsiteY3" fmla="*/ 6007101 h 6007101"/>
              <a:gd name="connsiteX4" fmla="*/ 2921000 w 5359400"/>
              <a:gd name="connsiteY4" fmla="*/ 12700 h 6007101"/>
              <a:gd name="connsiteX0" fmla="*/ 2921000 w 5384800"/>
              <a:gd name="connsiteY0" fmla="*/ 0 h 5994401"/>
              <a:gd name="connsiteX1" fmla="*/ 5384800 w 5384800"/>
              <a:gd name="connsiteY1" fmla="*/ 0 h 5994401"/>
              <a:gd name="connsiteX2" fmla="*/ 5359400 w 5384800"/>
              <a:gd name="connsiteY2" fmla="*/ 5994401 h 5994401"/>
              <a:gd name="connsiteX3" fmla="*/ 0 w 5384800"/>
              <a:gd name="connsiteY3" fmla="*/ 5994401 h 5994401"/>
              <a:gd name="connsiteX4" fmla="*/ 2921000 w 5384800"/>
              <a:gd name="connsiteY4" fmla="*/ 0 h 5994401"/>
              <a:gd name="connsiteX0" fmla="*/ 2921000 w 5384800"/>
              <a:gd name="connsiteY0" fmla="*/ 0 h 6002085"/>
              <a:gd name="connsiteX1" fmla="*/ 5384800 w 5384800"/>
              <a:gd name="connsiteY1" fmla="*/ 0 h 6002085"/>
              <a:gd name="connsiteX2" fmla="*/ 5305612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921000 w 5384800"/>
              <a:gd name="connsiteY0" fmla="*/ 0 h 6002085"/>
              <a:gd name="connsiteX1" fmla="*/ 5384800 w 5384800"/>
              <a:gd name="connsiteY1" fmla="*/ 0 h 6002085"/>
              <a:gd name="connsiteX2" fmla="*/ 5374768 w 5384800"/>
              <a:gd name="connsiteY2" fmla="*/ 6002085 h 6002085"/>
              <a:gd name="connsiteX3" fmla="*/ 0 w 5384800"/>
              <a:gd name="connsiteY3" fmla="*/ 5994401 h 6002085"/>
              <a:gd name="connsiteX4" fmla="*/ 2921000 w 5384800"/>
              <a:gd name="connsiteY4" fmla="*/ 0 h 6002085"/>
              <a:gd name="connsiteX0" fmla="*/ 2899735 w 5384800"/>
              <a:gd name="connsiteY0" fmla="*/ 7074 h 6002085"/>
              <a:gd name="connsiteX1" fmla="*/ 5384800 w 5384800"/>
              <a:gd name="connsiteY1" fmla="*/ 0 h 6002085"/>
              <a:gd name="connsiteX2" fmla="*/ 5374768 w 5384800"/>
              <a:gd name="connsiteY2" fmla="*/ 6002085 h 6002085"/>
              <a:gd name="connsiteX3" fmla="*/ 0 w 5384800"/>
              <a:gd name="connsiteY3" fmla="*/ 5994401 h 6002085"/>
              <a:gd name="connsiteX4" fmla="*/ 2899735 w 5384800"/>
              <a:gd name="connsiteY4" fmla="*/ 7074 h 6002085"/>
              <a:gd name="connsiteX0" fmla="*/ 2899735 w 5391888"/>
              <a:gd name="connsiteY0" fmla="*/ 7074 h 6002085"/>
              <a:gd name="connsiteX1" fmla="*/ 5391888 w 5391888"/>
              <a:gd name="connsiteY1" fmla="*/ 0 h 6002085"/>
              <a:gd name="connsiteX2" fmla="*/ 5374768 w 5391888"/>
              <a:gd name="connsiteY2" fmla="*/ 6002085 h 6002085"/>
              <a:gd name="connsiteX3" fmla="*/ 0 w 5391888"/>
              <a:gd name="connsiteY3" fmla="*/ 5994401 h 6002085"/>
              <a:gd name="connsiteX4" fmla="*/ 2899735 w 5391888"/>
              <a:gd name="connsiteY4" fmla="*/ 7074 h 6002085"/>
              <a:gd name="connsiteX0" fmla="*/ 2910621 w 5402774"/>
              <a:gd name="connsiteY0" fmla="*/ 7074 h 6002085"/>
              <a:gd name="connsiteX1" fmla="*/ 5402774 w 5402774"/>
              <a:gd name="connsiteY1" fmla="*/ 0 h 6002085"/>
              <a:gd name="connsiteX2" fmla="*/ 5385654 w 5402774"/>
              <a:gd name="connsiteY2" fmla="*/ 6002085 h 6002085"/>
              <a:gd name="connsiteX3" fmla="*/ 0 w 5402774"/>
              <a:gd name="connsiteY3" fmla="*/ 5983539 h 6002085"/>
              <a:gd name="connsiteX4" fmla="*/ 2910621 w 5402774"/>
              <a:gd name="connsiteY4" fmla="*/ 7074 h 6002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2774" h="6002085">
                <a:moveTo>
                  <a:pt x="2910621" y="7074"/>
                </a:moveTo>
                <a:lnTo>
                  <a:pt x="5402774" y="0"/>
                </a:lnTo>
                <a:cubicBezTo>
                  <a:pt x="5397067" y="2000695"/>
                  <a:pt x="5391361" y="4001390"/>
                  <a:pt x="5385654" y="6002085"/>
                </a:cubicBezTo>
                <a:lnTo>
                  <a:pt x="0" y="5983539"/>
                </a:lnTo>
                <a:lnTo>
                  <a:pt x="2910621" y="7074"/>
                </a:lnTo>
                <a:close/>
              </a:path>
            </a:pathLst>
          </a:custGeom>
          <a:gradFill flip="none" rotWithShape="1">
            <a:gsLst>
              <a:gs pos="92697">
                <a:schemeClr val="tx2">
                  <a:lumMod val="90000"/>
                  <a:lumOff val="10000"/>
                </a:schemeClr>
              </a:gs>
              <a:gs pos="0">
                <a:schemeClr val="tx2">
                  <a:lumMod val="90000"/>
                  <a:lumOff val="10000"/>
                </a:schemeClr>
              </a:gs>
              <a:gs pos="0">
                <a:schemeClr val="tx2">
                  <a:lumMod val="90000"/>
                  <a:lumOff val="10000"/>
                </a:schemeClr>
              </a:gs>
              <a:gs pos="0">
                <a:schemeClr val="tx2">
                  <a:lumMod val="75000"/>
                  <a:lumOff val="25000"/>
                </a:schemeClr>
              </a:gs>
              <a:gs pos="0">
                <a:schemeClr val="tx1">
                  <a:lumMod val="50000"/>
                  <a:lumOff val="50000"/>
                </a:schemeClr>
              </a:gs>
            </a:gsLst>
            <a:lin ang="5400000" scaled="1"/>
            <a:tileRect/>
          </a:gra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2" name="Title 1">
            <a:extLst>
              <a:ext uri="{FF2B5EF4-FFF2-40B4-BE49-F238E27FC236}">
                <a16:creationId xmlns:a16="http://schemas.microsoft.com/office/drawing/2014/main" id="{0A9964C8-A175-D7AF-3FA4-B94E39C6FA6A}"/>
              </a:ext>
            </a:extLst>
          </p:cNvPr>
          <p:cNvSpPr>
            <a:spLocks noGrp="1"/>
          </p:cNvSpPr>
          <p:nvPr>
            <p:ph type="title"/>
          </p:nvPr>
        </p:nvSpPr>
        <p:spPr>
          <a:xfrm>
            <a:off x="5177642" y="863600"/>
            <a:ext cx="6602409" cy="1325563"/>
          </a:xfrm>
        </p:spPr>
        <p:txBody>
          <a:bodyPr/>
          <a:lstStyle>
            <a:lvl1pPr algn="l">
              <a:defRPr/>
            </a:lvl1pPr>
          </a:lstStyle>
          <a:p>
            <a:r>
              <a:rPr lang="en-US"/>
              <a:t>Click to edit Master title style</a:t>
            </a:r>
            <a:endParaRPr lang="en-MY"/>
          </a:p>
        </p:txBody>
      </p:sp>
      <p:sp>
        <p:nvSpPr>
          <p:cNvPr id="7" name="Footer Placeholder 6">
            <a:extLst>
              <a:ext uri="{FF2B5EF4-FFF2-40B4-BE49-F238E27FC236}">
                <a16:creationId xmlns:a16="http://schemas.microsoft.com/office/drawing/2014/main" id="{218BB686-D3F9-1D8F-D64E-90E02ADE7149}"/>
              </a:ext>
            </a:extLst>
          </p:cNvPr>
          <p:cNvSpPr>
            <a:spLocks noGrp="1"/>
          </p:cNvSpPr>
          <p:nvPr>
            <p:ph type="ftr" sz="quarter" idx="10"/>
          </p:nvPr>
        </p:nvSpPr>
        <p:spPr/>
        <p:txBody>
          <a:bodyPr/>
          <a:lstStyle/>
          <a:p>
            <a:endParaRPr lang="en-MY"/>
          </a:p>
        </p:txBody>
      </p:sp>
      <p:sp>
        <p:nvSpPr>
          <p:cNvPr id="8" name="Slide Number Placeholder 7">
            <a:extLst>
              <a:ext uri="{FF2B5EF4-FFF2-40B4-BE49-F238E27FC236}">
                <a16:creationId xmlns:a16="http://schemas.microsoft.com/office/drawing/2014/main" id="{6920BB4C-A1BB-9467-1FED-1640114B7ECB}"/>
              </a:ext>
            </a:extLst>
          </p:cNvPr>
          <p:cNvSpPr>
            <a:spLocks noGrp="1"/>
          </p:cNvSpPr>
          <p:nvPr>
            <p:ph type="sldNum" sz="quarter" idx="11"/>
          </p:nvPr>
        </p:nvSpPr>
        <p:spPr/>
        <p:txBody>
          <a:bodyPr/>
          <a:lstStyle/>
          <a:p>
            <a:fld id="{7737D3DD-0AB3-4F16-99FA-6262B2B4036D}" type="slidenum">
              <a:rPr lang="en-MY" smtClean="0"/>
              <a:t>‹#›</a:t>
            </a:fld>
            <a:endParaRPr lang="en-MY"/>
          </a:p>
        </p:txBody>
      </p:sp>
      <p:sp>
        <p:nvSpPr>
          <p:cNvPr id="403" name="Rectangle 402">
            <a:extLst>
              <a:ext uri="{FF2B5EF4-FFF2-40B4-BE49-F238E27FC236}">
                <a16:creationId xmlns:a16="http://schemas.microsoft.com/office/drawing/2014/main" id="{6A000B49-9D64-40CD-6D5C-B6D3C3A05783}"/>
              </a:ext>
            </a:extLst>
          </p:cNvPr>
          <p:cNvSpPr/>
          <p:nvPr userDrawn="1"/>
        </p:nvSpPr>
        <p:spPr>
          <a:xfrm rot="10800000">
            <a:off x="589750" y="-12702"/>
            <a:ext cx="4953000" cy="6007101"/>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rgbClr val="C04C4C"/>
          </a:solidFill>
          <a:ln>
            <a:solidFill>
              <a:schemeClr val="tx2">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grpSp>
        <p:nvGrpSpPr>
          <p:cNvPr id="407" name="Group 406">
            <a:extLst>
              <a:ext uri="{FF2B5EF4-FFF2-40B4-BE49-F238E27FC236}">
                <a16:creationId xmlns:a16="http://schemas.microsoft.com/office/drawing/2014/main" id="{E3D9D7C3-250B-C66B-DB51-0E6C7E10BD02}"/>
              </a:ext>
            </a:extLst>
          </p:cNvPr>
          <p:cNvGrpSpPr/>
          <p:nvPr userDrawn="1"/>
        </p:nvGrpSpPr>
        <p:grpSpPr>
          <a:xfrm>
            <a:off x="1433777" y="5528221"/>
            <a:ext cx="613993" cy="75107"/>
            <a:chOff x="-1587" y="4763"/>
            <a:chExt cx="300037" cy="42862"/>
          </a:xfrm>
          <a:solidFill>
            <a:schemeClr val="bg1"/>
          </a:solidFill>
        </p:grpSpPr>
        <p:sp>
          <p:nvSpPr>
            <p:cNvPr id="408" name="Oval 13">
              <a:extLst>
                <a:ext uri="{FF2B5EF4-FFF2-40B4-BE49-F238E27FC236}">
                  <a16:creationId xmlns:a16="http://schemas.microsoft.com/office/drawing/2014/main" id="{EFF050FE-D3FD-BAE4-B33F-FCD8ABD26715}"/>
                </a:ext>
              </a:extLst>
            </p:cNvPr>
            <p:cNvSpPr>
              <a:spLocks noChangeArrowheads="1"/>
            </p:cNvSpPr>
            <p:nvPr/>
          </p:nvSpPr>
          <p:spPr bwMode="auto">
            <a:xfrm>
              <a:off x="-1587"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09" name="Oval 14">
              <a:extLst>
                <a:ext uri="{FF2B5EF4-FFF2-40B4-BE49-F238E27FC236}">
                  <a16:creationId xmlns:a16="http://schemas.microsoft.com/office/drawing/2014/main" id="{87630A76-4060-4BB0-EF18-A53082D0D8A0}"/>
                </a:ext>
              </a:extLst>
            </p:cNvPr>
            <p:cNvSpPr>
              <a:spLocks noChangeArrowheads="1"/>
            </p:cNvSpPr>
            <p:nvPr/>
          </p:nvSpPr>
          <p:spPr bwMode="auto">
            <a:xfrm>
              <a:off x="85725"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0" name="Oval 15">
              <a:extLst>
                <a:ext uri="{FF2B5EF4-FFF2-40B4-BE49-F238E27FC236}">
                  <a16:creationId xmlns:a16="http://schemas.microsoft.com/office/drawing/2014/main" id="{46B2C827-42B9-DBEC-F22A-F17CC0C8A77B}"/>
                </a:ext>
              </a:extLst>
            </p:cNvPr>
            <p:cNvSpPr>
              <a:spLocks noChangeArrowheads="1"/>
            </p:cNvSpPr>
            <p:nvPr/>
          </p:nvSpPr>
          <p:spPr bwMode="auto">
            <a:xfrm>
              <a:off x="171450"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sp>
          <p:nvSpPr>
            <p:cNvPr id="411" name="Oval 16">
              <a:extLst>
                <a:ext uri="{FF2B5EF4-FFF2-40B4-BE49-F238E27FC236}">
                  <a16:creationId xmlns:a16="http://schemas.microsoft.com/office/drawing/2014/main" id="{B59EBCEA-4042-970A-98AD-2F36CD31C175}"/>
                </a:ext>
              </a:extLst>
            </p:cNvPr>
            <p:cNvSpPr>
              <a:spLocks noChangeArrowheads="1"/>
            </p:cNvSpPr>
            <p:nvPr/>
          </p:nvSpPr>
          <p:spPr bwMode="auto">
            <a:xfrm>
              <a:off x="261938" y="4763"/>
              <a:ext cx="36512" cy="4286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eaLnBrk="1" fontAlgn="auto" hangingPunct="1">
                <a:spcBef>
                  <a:spcPts val="0"/>
                </a:spcBef>
                <a:spcAft>
                  <a:spcPts val="0"/>
                </a:spcAft>
                <a:defRPr/>
              </a:pPr>
              <a:endParaRPr lang="en-US" sz="1350">
                <a:latin typeface="+mn-lt"/>
              </a:endParaRPr>
            </a:p>
          </p:txBody>
        </p:sp>
      </p:grpSp>
      <p:sp>
        <p:nvSpPr>
          <p:cNvPr id="412" name="Rectangle 402">
            <a:extLst>
              <a:ext uri="{FF2B5EF4-FFF2-40B4-BE49-F238E27FC236}">
                <a16:creationId xmlns:a16="http://schemas.microsoft.com/office/drawing/2014/main" id="{673165B6-3265-E64F-D897-23F76C1FB9DB}"/>
              </a:ext>
            </a:extLst>
          </p:cNvPr>
          <p:cNvSpPr/>
          <p:nvPr userDrawn="1"/>
        </p:nvSpPr>
        <p:spPr>
          <a:xfrm rot="10800000">
            <a:off x="2231874" y="4927332"/>
            <a:ext cx="1150304" cy="1395112"/>
          </a:xfrm>
          <a:custGeom>
            <a:avLst/>
            <a:gdLst>
              <a:gd name="connsiteX0" fmla="*/ 0 w 1854200"/>
              <a:gd name="connsiteY0" fmla="*/ 0 h 5994401"/>
              <a:gd name="connsiteX1" fmla="*/ 1854200 w 1854200"/>
              <a:gd name="connsiteY1" fmla="*/ 0 h 5994401"/>
              <a:gd name="connsiteX2" fmla="*/ 1854200 w 1854200"/>
              <a:gd name="connsiteY2" fmla="*/ 5994401 h 5994401"/>
              <a:gd name="connsiteX3" fmla="*/ 0 w 1854200"/>
              <a:gd name="connsiteY3" fmla="*/ 5994401 h 5994401"/>
              <a:gd name="connsiteX4" fmla="*/ 0 w 1854200"/>
              <a:gd name="connsiteY4" fmla="*/ 0 h 5994401"/>
              <a:gd name="connsiteX0" fmla="*/ 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0 w 4953000"/>
              <a:gd name="connsiteY4" fmla="*/ 12700 h 6007101"/>
              <a:gd name="connsiteX0" fmla="*/ 2921000 w 4953000"/>
              <a:gd name="connsiteY0" fmla="*/ 12700 h 6007101"/>
              <a:gd name="connsiteX1" fmla="*/ 4953000 w 4953000"/>
              <a:gd name="connsiteY1" fmla="*/ 0 h 6007101"/>
              <a:gd name="connsiteX2" fmla="*/ 1854200 w 4953000"/>
              <a:gd name="connsiteY2" fmla="*/ 6007101 h 6007101"/>
              <a:gd name="connsiteX3" fmla="*/ 0 w 4953000"/>
              <a:gd name="connsiteY3" fmla="*/ 6007101 h 6007101"/>
              <a:gd name="connsiteX4" fmla="*/ 2921000 w 4953000"/>
              <a:gd name="connsiteY4" fmla="*/ 12700 h 6007101"/>
              <a:gd name="connsiteX0" fmla="*/ 2921000 w 4953000"/>
              <a:gd name="connsiteY0" fmla="*/ 12700 h 6007101"/>
              <a:gd name="connsiteX1" fmla="*/ 4953000 w 4953000"/>
              <a:gd name="connsiteY1" fmla="*/ 0 h 6007101"/>
              <a:gd name="connsiteX2" fmla="*/ 1968500 w 4953000"/>
              <a:gd name="connsiteY2" fmla="*/ 5994401 h 6007101"/>
              <a:gd name="connsiteX3" fmla="*/ 0 w 4953000"/>
              <a:gd name="connsiteY3" fmla="*/ 6007101 h 6007101"/>
              <a:gd name="connsiteX4" fmla="*/ 2921000 w 4953000"/>
              <a:gd name="connsiteY4" fmla="*/ 12700 h 6007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3000" h="6007101">
                <a:moveTo>
                  <a:pt x="2921000" y="12700"/>
                </a:moveTo>
                <a:lnTo>
                  <a:pt x="4953000" y="0"/>
                </a:lnTo>
                <a:lnTo>
                  <a:pt x="1968500" y="5994401"/>
                </a:lnTo>
                <a:lnTo>
                  <a:pt x="0" y="6007101"/>
                </a:lnTo>
                <a:lnTo>
                  <a:pt x="2921000" y="1270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4" name="Picture Placeholder 2">
            <a:extLst>
              <a:ext uri="{FF2B5EF4-FFF2-40B4-BE49-F238E27FC236}">
                <a16:creationId xmlns:a16="http://schemas.microsoft.com/office/drawing/2014/main" id="{ED6BC3D2-2522-41DF-7A30-2E8260076555}"/>
              </a:ext>
            </a:extLst>
          </p:cNvPr>
          <p:cNvSpPr>
            <a:spLocks noGrp="1"/>
          </p:cNvSpPr>
          <p:nvPr>
            <p:ph type="pic" sz="quarter" idx="13"/>
          </p:nvPr>
        </p:nvSpPr>
        <p:spPr>
          <a:xfrm>
            <a:off x="68665" y="921703"/>
            <a:ext cx="4459468" cy="4278630"/>
          </a:xfrm>
          <a:custGeom>
            <a:avLst/>
            <a:gdLst>
              <a:gd name="connsiteX0" fmla="*/ 0 w 2905125"/>
              <a:gd name="connsiteY0" fmla="*/ 4278630 h 4278630"/>
              <a:gd name="connsiteX1" fmla="*/ 1053834 w 2905125"/>
              <a:gd name="connsiteY1" fmla="*/ 0 h 4278630"/>
              <a:gd name="connsiteX2" fmla="*/ 2905125 w 2905125"/>
              <a:gd name="connsiteY2" fmla="*/ 0 h 4278630"/>
              <a:gd name="connsiteX3" fmla="*/ 1851291 w 2905125"/>
              <a:gd name="connsiteY3" fmla="*/ 4278630 h 4278630"/>
              <a:gd name="connsiteX4" fmla="*/ 0 w 2905125"/>
              <a:gd name="connsiteY4" fmla="*/ 4278630 h 4278630"/>
              <a:gd name="connsiteX0" fmla="*/ 0 w 4065185"/>
              <a:gd name="connsiteY0" fmla="*/ 4278630 h 4278630"/>
              <a:gd name="connsiteX1" fmla="*/ 2213894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3011351 w 4065185"/>
              <a:gd name="connsiteY3" fmla="*/ 4278630 h 4278630"/>
              <a:gd name="connsiteX4" fmla="*/ 0 w 4065185"/>
              <a:gd name="connsiteY4" fmla="*/ 4278630 h 4278630"/>
              <a:gd name="connsiteX0" fmla="*/ 0 w 4065185"/>
              <a:gd name="connsiteY0" fmla="*/ 4278630 h 4278630"/>
              <a:gd name="connsiteX1" fmla="*/ 997490 w 4065185"/>
              <a:gd name="connsiteY1" fmla="*/ 0 h 4278630"/>
              <a:gd name="connsiteX2" fmla="*/ 4065185 w 4065185"/>
              <a:gd name="connsiteY2" fmla="*/ 0 h 4278630"/>
              <a:gd name="connsiteX3" fmla="*/ 2432510 w 4065185"/>
              <a:gd name="connsiteY3" fmla="*/ 4270241 h 4278630"/>
              <a:gd name="connsiteX4" fmla="*/ 0 w 4065185"/>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442690"/>
              <a:gd name="connsiteY0" fmla="*/ 4278630 h 4278630"/>
              <a:gd name="connsiteX1" fmla="*/ 997490 w 4442690"/>
              <a:gd name="connsiteY1" fmla="*/ 0 h 4278630"/>
              <a:gd name="connsiteX2" fmla="*/ 4442690 w 4442690"/>
              <a:gd name="connsiteY2" fmla="*/ 16778 h 4278630"/>
              <a:gd name="connsiteX3" fmla="*/ 2432510 w 4442690"/>
              <a:gd name="connsiteY3" fmla="*/ 4270241 h 4278630"/>
              <a:gd name="connsiteX4" fmla="*/ 0 w 4442690"/>
              <a:gd name="connsiteY4" fmla="*/ 4278630 h 4278630"/>
              <a:gd name="connsiteX0" fmla="*/ 0 w 4375578"/>
              <a:gd name="connsiteY0" fmla="*/ 4278630 h 4278630"/>
              <a:gd name="connsiteX1" fmla="*/ 997490 w 4375578"/>
              <a:gd name="connsiteY1" fmla="*/ 0 h 4278630"/>
              <a:gd name="connsiteX2" fmla="*/ 4375578 w 4375578"/>
              <a:gd name="connsiteY2" fmla="*/ 8389 h 4278630"/>
              <a:gd name="connsiteX3" fmla="*/ 2432510 w 4375578"/>
              <a:gd name="connsiteY3" fmla="*/ 4270241 h 4278630"/>
              <a:gd name="connsiteX4" fmla="*/ 0 w 4375578"/>
              <a:gd name="connsiteY4" fmla="*/ 4278630 h 4278630"/>
              <a:gd name="connsiteX0" fmla="*/ 0 w 4459468"/>
              <a:gd name="connsiteY0" fmla="*/ 4278630 h 4278630"/>
              <a:gd name="connsiteX1" fmla="*/ 997490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 name="connsiteX0" fmla="*/ 0 w 4459468"/>
              <a:gd name="connsiteY0" fmla="*/ 4278630 h 4278630"/>
              <a:gd name="connsiteX1" fmla="*/ 2130004 w 4459468"/>
              <a:gd name="connsiteY1" fmla="*/ 0 h 4278630"/>
              <a:gd name="connsiteX2" fmla="*/ 4459468 w 4459468"/>
              <a:gd name="connsiteY2" fmla="*/ 0 h 4278630"/>
              <a:gd name="connsiteX3" fmla="*/ 2432510 w 4459468"/>
              <a:gd name="connsiteY3" fmla="*/ 4270241 h 4278630"/>
              <a:gd name="connsiteX4" fmla="*/ 0 w 4459468"/>
              <a:gd name="connsiteY4" fmla="*/ 4278630 h 42786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9468" h="4278630">
                <a:moveTo>
                  <a:pt x="0" y="4278630"/>
                </a:moveTo>
                <a:lnTo>
                  <a:pt x="2130004" y="0"/>
                </a:lnTo>
                <a:lnTo>
                  <a:pt x="4459468" y="0"/>
                </a:lnTo>
                <a:lnTo>
                  <a:pt x="2432510" y="4270241"/>
                </a:lnTo>
                <a:lnTo>
                  <a:pt x="0" y="4278630"/>
                </a:lnTo>
                <a:close/>
              </a:path>
            </a:pathLst>
          </a:custGeom>
        </p:spPr>
        <p:txBody>
          <a:bodyPr/>
          <a:lstStyle/>
          <a:p>
            <a:endParaRPr lang="en-MY"/>
          </a:p>
        </p:txBody>
      </p:sp>
      <p:pic>
        <p:nvPicPr>
          <p:cNvPr id="15" name="Picture 14" descr="Logo&#10;&#10;Description automatically generated">
            <a:extLst>
              <a:ext uri="{FF2B5EF4-FFF2-40B4-BE49-F238E27FC236}">
                <a16:creationId xmlns:a16="http://schemas.microsoft.com/office/drawing/2014/main" id="{12B52E9B-EBD9-59E5-FD4A-F852C1B6F5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937655" y="6401122"/>
            <a:ext cx="1067458" cy="361688"/>
          </a:xfrm>
          <a:prstGeom prst="rect">
            <a:avLst/>
          </a:prstGeom>
        </p:spPr>
      </p:pic>
    </p:spTree>
    <p:extLst>
      <p:ext uri="{BB962C8B-B14F-4D97-AF65-F5344CB8AC3E}">
        <p14:creationId xmlns:p14="http://schemas.microsoft.com/office/powerpoint/2010/main" val="666644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_layout_01">
    <p:bg>
      <p:bgPr>
        <a:solidFill>
          <a:srgbClr val="C04C4C"/>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97D312-FCF4-DE33-A475-5EF12430433B}"/>
              </a:ext>
            </a:extLst>
          </p:cNvPr>
          <p:cNvSpPr>
            <a:spLocks noGrp="1"/>
          </p:cNvSpPr>
          <p:nvPr>
            <p:ph type="ftr" sz="quarter" idx="10"/>
          </p:nvPr>
        </p:nvSpPr>
        <p:spPr/>
        <p:txBody>
          <a:bodyPr/>
          <a:lstStyle/>
          <a:p>
            <a:endParaRPr lang="en-MY" dirty="0"/>
          </a:p>
        </p:txBody>
      </p:sp>
      <p:sp>
        <p:nvSpPr>
          <p:cNvPr id="4" name="Slide Number Placeholder 3">
            <a:extLst>
              <a:ext uri="{FF2B5EF4-FFF2-40B4-BE49-F238E27FC236}">
                <a16:creationId xmlns:a16="http://schemas.microsoft.com/office/drawing/2014/main" id="{D2C172CD-6881-B6F2-739F-2CB7D2B50239}"/>
              </a:ext>
            </a:extLst>
          </p:cNvPr>
          <p:cNvSpPr>
            <a:spLocks noGrp="1"/>
          </p:cNvSpPr>
          <p:nvPr>
            <p:ph type="sldNum" sz="quarter" idx="11"/>
          </p:nvPr>
        </p:nvSpPr>
        <p:spPr/>
        <p:txBody>
          <a:bodyPr/>
          <a:lstStyle/>
          <a:p>
            <a:fld id="{7737D3DD-0AB3-4F16-99FA-6262B2B4036D}" type="slidenum">
              <a:rPr lang="en-MY" smtClean="0"/>
              <a:pPr/>
              <a:t>‹#›</a:t>
            </a:fld>
            <a:endParaRPr lang="en-MY" dirty="0"/>
          </a:p>
        </p:txBody>
      </p:sp>
      <p:sp>
        <p:nvSpPr>
          <p:cNvPr id="5" name="Rectangle 4">
            <a:extLst>
              <a:ext uri="{FF2B5EF4-FFF2-40B4-BE49-F238E27FC236}">
                <a16:creationId xmlns:a16="http://schemas.microsoft.com/office/drawing/2014/main" id="{0569989E-F336-675A-C17F-6BEC4980C6E2}"/>
              </a:ext>
            </a:extLst>
          </p:cNvPr>
          <p:cNvSpPr/>
          <p:nvPr userDrawn="1"/>
        </p:nvSpPr>
        <p:spPr>
          <a:xfrm>
            <a:off x="0" y="-1"/>
            <a:ext cx="12192000" cy="685800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7" name="Picture 6">
            <a:extLst>
              <a:ext uri="{FF2B5EF4-FFF2-40B4-BE49-F238E27FC236}">
                <a16:creationId xmlns:a16="http://schemas.microsoft.com/office/drawing/2014/main" id="{A2B09A61-C8B8-77A3-B50F-C473B78F17E2}"/>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9" name="Freeform 88">
            <a:extLst>
              <a:ext uri="{FF2B5EF4-FFF2-40B4-BE49-F238E27FC236}">
                <a16:creationId xmlns:a16="http://schemas.microsoft.com/office/drawing/2014/main" id="{B895953F-CAF8-92F3-1EC5-F97B90F9D599}"/>
              </a:ext>
            </a:extLst>
          </p:cNvPr>
          <p:cNvSpPr>
            <a:spLocks noEditPoints="1"/>
          </p:cNvSpPr>
          <p:nvPr userDrawn="1"/>
        </p:nvSpPr>
        <p:spPr bwMode="auto">
          <a:xfrm rot="13500000">
            <a:off x="8565369" y="-3309433"/>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88">
            <a:extLst>
              <a:ext uri="{FF2B5EF4-FFF2-40B4-BE49-F238E27FC236}">
                <a16:creationId xmlns:a16="http://schemas.microsoft.com/office/drawing/2014/main" id="{063183E8-ED2B-748E-7754-13955CBFDBE0}"/>
              </a:ext>
            </a:extLst>
          </p:cNvPr>
          <p:cNvSpPr>
            <a:spLocks noEditPoints="1"/>
          </p:cNvSpPr>
          <p:nvPr userDrawn="1"/>
        </p:nvSpPr>
        <p:spPr bwMode="auto">
          <a:xfrm rot="1408779">
            <a:off x="6843673" y="-6248482"/>
            <a:ext cx="12148525" cy="10716021"/>
          </a:xfrm>
          <a:custGeom>
            <a:avLst/>
            <a:gdLst>
              <a:gd name="T0" fmla="*/ 456 w 460"/>
              <a:gd name="T1" fmla="*/ 144 h 405"/>
              <a:gd name="T2" fmla="*/ 389 w 460"/>
              <a:gd name="T3" fmla="*/ 39 h 405"/>
              <a:gd name="T4" fmla="*/ 253 w 460"/>
              <a:gd name="T5" fmla="*/ 3 h 405"/>
              <a:gd name="T6" fmla="*/ 175 w 460"/>
              <a:gd name="T7" fmla="*/ 21 h 405"/>
              <a:gd name="T8" fmla="*/ 107 w 460"/>
              <a:gd name="T9" fmla="*/ 59 h 405"/>
              <a:gd name="T10" fmla="*/ 28 w 460"/>
              <a:gd name="T11" fmla="*/ 137 h 405"/>
              <a:gd name="T12" fmla="*/ 12 w 460"/>
              <a:gd name="T13" fmla="*/ 248 h 405"/>
              <a:gd name="T14" fmla="*/ 76 w 460"/>
              <a:gd name="T15" fmla="*/ 340 h 405"/>
              <a:gd name="T16" fmla="*/ 186 w 460"/>
              <a:gd name="T17" fmla="*/ 398 h 405"/>
              <a:gd name="T18" fmla="*/ 243 w 460"/>
              <a:gd name="T19" fmla="*/ 404 h 405"/>
              <a:gd name="T20" fmla="*/ 306 w 460"/>
              <a:gd name="T21" fmla="*/ 390 h 405"/>
              <a:gd name="T22" fmla="*/ 416 w 460"/>
              <a:gd name="T23" fmla="*/ 307 h 405"/>
              <a:gd name="T24" fmla="*/ 460 w 460"/>
              <a:gd name="T25" fmla="*/ 179 h 405"/>
              <a:gd name="T26" fmla="*/ 456 w 460"/>
              <a:gd name="T27" fmla="*/ 144 h 405"/>
              <a:gd name="T28" fmla="*/ 456 w 460"/>
              <a:gd name="T29" fmla="*/ 144 h 405"/>
              <a:gd name="T30" fmla="*/ 423 w 460"/>
              <a:gd name="T31" fmla="*/ 195 h 405"/>
              <a:gd name="T32" fmla="*/ 380 w 460"/>
              <a:gd name="T33" fmla="*/ 297 h 405"/>
              <a:gd name="T34" fmla="*/ 299 w 460"/>
              <a:gd name="T35" fmla="*/ 350 h 405"/>
              <a:gd name="T36" fmla="*/ 240 w 460"/>
              <a:gd name="T37" fmla="*/ 355 h 405"/>
              <a:gd name="T38" fmla="*/ 240 w 460"/>
              <a:gd name="T39" fmla="*/ 355 h 405"/>
              <a:gd name="T40" fmla="*/ 127 w 460"/>
              <a:gd name="T41" fmla="*/ 281 h 405"/>
              <a:gd name="T42" fmla="*/ 95 w 460"/>
              <a:gd name="T43" fmla="*/ 212 h 405"/>
              <a:gd name="T44" fmla="*/ 103 w 460"/>
              <a:gd name="T45" fmla="*/ 167 h 405"/>
              <a:gd name="T46" fmla="*/ 143 w 460"/>
              <a:gd name="T47" fmla="*/ 112 h 405"/>
              <a:gd name="T48" fmla="*/ 186 w 460"/>
              <a:gd name="T49" fmla="*/ 78 h 405"/>
              <a:gd name="T50" fmla="*/ 339 w 460"/>
              <a:gd name="T51" fmla="*/ 66 h 405"/>
              <a:gd name="T52" fmla="*/ 423 w 460"/>
              <a:gd name="T53" fmla="*/ 180 h 405"/>
              <a:gd name="T54" fmla="*/ 423 w 460"/>
              <a:gd name="T55" fmla="*/ 195 h 405"/>
              <a:gd name="T56" fmla="*/ 423 w 460"/>
              <a:gd name="T57" fmla="*/ 19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60" h="405">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bg1">
              <a:alpha val="3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Picture Placeholder 2">
            <a:extLst>
              <a:ext uri="{FF2B5EF4-FFF2-40B4-BE49-F238E27FC236}">
                <a16:creationId xmlns:a16="http://schemas.microsoft.com/office/drawing/2014/main" id="{070865CC-7406-8BF6-F1B8-F40A463E721C}"/>
              </a:ext>
            </a:extLst>
          </p:cNvPr>
          <p:cNvSpPr>
            <a:spLocks noGrp="1"/>
          </p:cNvSpPr>
          <p:nvPr>
            <p:ph type="pic" sz="quarter" idx="13"/>
          </p:nvPr>
        </p:nvSpPr>
        <p:spPr>
          <a:xfrm>
            <a:off x="-109538" y="-83942"/>
            <a:ext cx="7441671" cy="7093790"/>
          </a:xfrm>
          <a:custGeom>
            <a:avLst/>
            <a:gdLst>
              <a:gd name="connsiteX0" fmla="*/ 0 w 2905125"/>
              <a:gd name="connsiteY0" fmla="*/ 0 h 4278630"/>
              <a:gd name="connsiteX1" fmla="*/ 2049449 w 2905125"/>
              <a:gd name="connsiteY1" fmla="*/ 0 h 4278630"/>
              <a:gd name="connsiteX2" fmla="*/ 2905125 w 2905125"/>
              <a:gd name="connsiteY2" fmla="*/ 855676 h 4278630"/>
              <a:gd name="connsiteX3" fmla="*/ 2905125 w 2905125"/>
              <a:gd name="connsiteY3" fmla="*/ 4278630 h 4278630"/>
              <a:gd name="connsiteX4" fmla="*/ 0 w 2905125"/>
              <a:gd name="connsiteY4" fmla="*/ 4278630 h 4278630"/>
              <a:gd name="connsiteX5" fmla="*/ 0 w 2905125"/>
              <a:gd name="connsiteY5" fmla="*/ 0 h 4278630"/>
              <a:gd name="connsiteX0" fmla="*/ 0 w 5206987"/>
              <a:gd name="connsiteY0" fmla="*/ 971550 h 5250180"/>
              <a:gd name="connsiteX1" fmla="*/ 5206987 w 5206987"/>
              <a:gd name="connsiteY1" fmla="*/ 0 h 5250180"/>
              <a:gd name="connsiteX2" fmla="*/ 2905125 w 5206987"/>
              <a:gd name="connsiteY2" fmla="*/ 1827226 h 5250180"/>
              <a:gd name="connsiteX3" fmla="*/ 2905125 w 5206987"/>
              <a:gd name="connsiteY3" fmla="*/ 5250180 h 5250180"/>
              <a:gd name="connsiteX4" fmla="*/ 0 w 5206987"/>
              <a:gd name="connsiteY4" fmla="*/ 5250180 h 5250180"/>
              <a:gd name="connsiteX5" fmla="*/ 0 w 5206987"/>
              <a:gd name="connsiteY5" fmla="*/ 971550 h 5250180"/>
              <a:gd name="connsiteX0" fmla="*/ 0 w 5206987"/>
              <a:gd name="connsiteY0" fmla="*/ 971550 h 6827851"/>
              <a:gd name="connsiteX1" fmla="*/ 5206987 w 5206987"/>
              <a:gd name="connsiteY1" fmla="*/ 0 h 6827851"/>
              <a:gd name="connsiteX2" fmla="*/ 3405188 w 5206987"/>
              <a:gd name="connsiteY2" fmla="*/ 6827851 h 6827851"/>
              <a:gd name="connsiteX3" fmla="*/ 2905125 w 5206987"/>
              <a:gd name="connsiteY3" fmla="*/ 5250180 h 6827851"/>
              <a:gd name="connsiteX4" fmla="*/ 0 w 5206987"/>
              <a:gd name="connsiteY4" fmla="*/ 5250180 h 6827851"/>
              <a:gd name="connsiteX5" fmla="*/ 0 w 5206987"/>
              <a:gd name="connsiteY5" fmla="*/ 971550 h 6827851"/>
              <a:gd name="connsiteX0" fmla="*/ 1323975 w 6530962"/>
              <a:gd name="connsiteY0" fmla="*/ 971550 h 6950393"/>
              <a:gd name="connsiteX1" fmla="*/ 6530962 w 6530962"/>
              <a:gd name="connsiteY1" fmla="*/ 0 h 6950393"/>
              <a:gd name="connsiteX2" fmla="*/ 4729163 w 6530962"/>
              <a:gd name="connsiteY2" fmla="*/ 6827851 h 6950393"/>
              <a:gd name="connsiteX3" fmla="*/ 0 w 6530962"/>
              <a:gd name="connsiteY3" fmla="*/ 6950393 h 6950393"/>
              <a:gd name="connsiteX4" fmla="*/ 1323975 w 6530962"/>
              <a:gd name="connsiteY4" fmla="*/ 5250180 h 6950393"/>
              <a:gd name="connsiteX5" fmla="*/ 1323975 w 6530962"/>
              <a:gd name="connsiteY5" fmla="*/ 971550 h 6950393"/>
              <a:gd name="connsiteX0" fmla="*/ 1323975 w 6530962"/>
              <a:gd name="connsiteY0" fmla="*/ 971550 h 7127888"/>
              <a:gd name="connsiteX1" fmla="*/ 6530962 w 6530962"/>
              <a:gd name="connsiteY1" fmla="*/ 0 h 7127888"/>
              <a:gd name="connsiteX2" fmla="*/ 5386388 w 6530962"/>
              <a:gd name="connsiteY2" fmla="*/ 7127888 h 7127888"/>
              <a:gd name="connsiteX3" fmla="*/ 0 w 6530962"/>
              <a:gd name="connsiteY3" fmla="*/ 6950393 h 7127888"/>
              <a:gd name="connsiteX4" fmla="*/ 1323975 w 6530962"/>
              <a:gd name="connsiteY4" fmla="*/ 5250180 h 7127888"/>
              <a:gd name="connsiteX5" fmla="*/ 1323975 w 6530962"/>
              <a:gd name="connsiteY5" fmla="*/ 971550 h 7127888"/>
              <a:gd name="connsiteX0" fmla="*/ 1323975 w 6530962"/>
              <a:gd name="connsiteY0" fmla="*/ 971550 h 7013588"/>
              <a:gd name="connsiteX1" fmla="*/ 6530962 w 6530962"/>
              <a:gd name="connsiteY1" fmla="*/ 0 h 7013588"/>
              <a:gd name="connsiteX2" fmla="*/ 5514976 w 6530962"/>
              <a:gd name="connsiteY2" fmla="*/ 7013588 h 7013588"/>
              <a:gd name="connsiteX3" fmla="*/ 0 w 6530962"/>
              <a:gd name="connsiteY3" fmla="*/ 6950393 h 7013588"/>
              <a:gd name="connsiteX4" fmla="*/ 1323975 w 6530962"/>
              <a:gd name="connsiteY4" fmla="*/ 5250180 h 7013588"/>
              <a:gd name="connsiteX5" fmla="*/ 1323975 w 6530962"/>
              <a:gd name="connsiteY5" fmla="*/ 971550 h 7013588"/>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1338263 w 6545250"/>
              <a:gd name="connsiteY0" fmla="*/ 971550 h 7050406"/>
              <a:gd name="connsiteX1" fmla="*/ 6545250 w 6545250"/>
              <a:gd name="connsiteY1" fmla="*/ 0 h 7050406"/>
              <a:gd name="connsiteX2" fmla="*/ 5529264 w 6545250"/>
              <a:gd name="connsiteY2" fmla="*/ 7013588 h 7050406"/>
              <a:gd name="connsiteX3" fmla="*/ 0 w 6545250"/>
              <a:gd name="connsiteY3" fmla="*/ 7050406 h 7050406"/>
              <a:gd name="connsiteX4" fmla="*/ 1338263 w 6545250"/>
              <a:gd name="connsiteY4" fmla="*/ 5250180 h 7050406"/>
              <a:gd name="connsiteX5" fmla="*/ 1338263 w 6545250"/>
              <a:gd name="connsiteY5" fmla="*/ 971550 h 7050406"/>
              <a:gd name="connsiteX0" fmla="*/ 2424113 w 6545250"/>
              <a:gd name="connsiteY0" fmla="*/ 0 h 7078982"/>
              <a:gd name="connsiteX1" fmla="*/ 6545250 w 6545250"/>
              <a:gd name="connsiteY1" fmla="*/ 28576 h 7078982"/>
              <a:gd name="connsiteX2" fmla="*/ 5529264 w 6545250"/>
              <a:gd name="connsiteY2" fmla="*/ 7042164 h 7078982"/>
              <a:gd name="connsiteX3" fmla="*/ 0 w 6545250"/>
              <a:gd name="connsiteY3" fmla="*/ 7078982 h 7078982"/>
              <a:gd name="connsiteX4" fmla="*/ 1338263 w 6545250"/>
              <a:gd name="connsiteY4" fmla="*/ 5278756 h 7078982"/>
              <a:gd name="connsiteX5" fmla="*/ 2424113 w 6545250"/>
              <a:gd name="connsiteY5" fmla="*/ 0 h 7078982"/>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1338263 w 7045312"/>
              <a:gd name="connsiteY4" fmla="*/ 5307330 h 7107556"/>
              <a:gd name="connsiteX5" fmla="*/ 2424113 w 7045312"/>
              <a:gd name="connsiteY5"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7045312"/>
              <a:gd name="connsiteY0" fmla="*/ 28574 h 7107556"/>
              <a:gd name="connsiteX1" fmla="*/ 7045312 w 7045312"/>
              <a:gd name="connsiteY1" fmla="*/ 0 h 7107556"/>
              <a:gd name="connsiteX2" fmla="*/ 5529264 w 7045312"/>
              <a:gd name="connsiteY2" fmla="*/ 7070738 h 7107556"/>
              <a:gd name="connsiteX3" fmla="*/ 0 w 7045312"/>
              <a:gd name="connsiteY3" fmla="*/ 7107556 h 7107556"/>
              <a:gd name="connsiteX4" fmla="*/ 2424113 w 7045312"/>
              <a:gd name="connsiteY4" fmla="*/ 28574 h 7107556"/>
              <a:gd name="connsiteX0" fmla="*/ 2424113 w 8090341"/>
              <a:gd name="connsiteY0" fmla="*/ 16698 h 7095680"/>
              <a:gd name="connsiteX1" fmla="*/ 8090341 w 8090341"/>
              <a:gd name="connsiteY1" fmla="*/ 0 h 7095680"/>
              <a:gd name="connsiteX2" fmla="*/ 5529264 w 8090341"/>
              <a:gd name="connsiteY2" fmla="*/ 7058862 h 7095680"/>
              <a:gd name="connsiteX3" fmla="*/ 0 w 8090341"/>
              <a:gd name="connsiteY3" fmla="*/ 7095680 h 7095680"/>
              <a:gd name="connsiteX4" fmla="*/ 2424113 w 8090341"/>
              <a:gd name="connsiteY4" fmla="*/ 16698 h 7095680"/>
              <a:gd name="connsiteX0" fmla="*/ 2424113 w 8173468"/>
              <a:gd name="connsiteY0" fmla="*/ 0 h 7078982"/>
              <a:gd name="connsiteX1" fmla="*/ 8173468 w 8173468"/>
              <a:gd name="connsiteY1" fmla="*/ 18928 h 7078982"/>
              <a:gd name="connsiteX2" fmla="*/ 5529264 w 8173468"/>
              <a:gd name="connsiteY2" fmla="*/ 7042164 h 7078982"/>
              <a:gd name="connsiteX3" fmla="*/ 0 w 8173468"/>
              <a:gd name="connsiteY3" fmla="*/ 7078982 h 7078982"/>
              <a:gd name="connsiteX4" fmla="*/ 2424113 w 8173468"/>
              <a:gd name="connsiteY4" fmla="*/ 0 h 7078982"/>
              <a:gd name="connsiteX0" fmla="*/ 2424113 w 8173468"/>
              <a:gd name="connsiteY0" fmla="*/ 16698 h 7095680"/>
              <a:gd name="connsiteX1" fmla="*/ 8173468 w 8173468"/>
              <a:gd name="connsiteY1" fmla="*/ 0 h 7095680"/>
              <a:gd name="connsiteX2" fmla="*/ 5529264 w 8173468"/>
              <a:gd name="connsiteY2" fmla="*/ 7058862 h 7095680"/>
              <a:gd name="connsiteX3" fmla="*/ 0 w 8173468"/>
              <a:gd name="connsiteY3" fmla="*/ 7095680 h 7095680"/>
              <a:gd name="connsiteX4" fmla="*/ 2424113 w 8173468"/>
              <a:gd name="connsiteY4" fmla="*/ 16698 h 7095680"/>
              <a:gd name="connsiteX0" fmla="*/ 2424113 w 8173468"/>
              <a:gd name="connsiteY0" fmla="*/ 28574 h 7107556"/>
              <a:gd name="connsiteX1" fmla="*/ 8173468 w 8173468"/>
              <a:gd name="connsiteY1" fmla="*/ 0 h 7107556"/>
              <a:gd name="connsiteX2" fmla="*/ 5529264 w 8173468"/>
              <a:gd name="connsiteY2" fmla="*/ 7070738 h 7107556"/>
              <a:gd name="connsiteX3" fmla="*/ 0 w 8173468"/>
              <a:gd name="connsiteY3" fmla="*/ 7107556 h 7107556"/>
              <a:gd name="connsiteX4" fmla="*/ 2424113 w 8173468"/>
              <a:gd name="connsiteY4" fmla="*/ 28574 h 7107556"/>
              <a:gd name="connsiteX0" fmla="*/ 2424113 w 8204204"/>
              <a:gd name="connsiteY0" fmla="*/ 28574 h 7107556"/>
              <a:gd name="connsiteX1" fmla="*/ 8204204 w 8204204"/>
              <a:gd name="connsiteY1" fmla="*/ 0 h 7107556"/>
              <a:gd name="connsiteX2" fmla="*/ 5529264 w 8204204"/>
              <a:gd name="connsiteY2" fmla="*/ 7070738 h 7107556"/>
              <a:gd name="connsiteX3" fmla="*/ 0 w 8204204"/>
              <a:gd name="connsiteY3" fmla="*/ 7107556 h 7107556"/>
              <a:gd name="connsiteX4" fmla="*/ 2424113 w 8204204"/>
              <a:gd name="connsiteY4" fmla="*/ 28574 h 7107556"/>
              <a:gd name="connsiteX0" fmla="*/ 2424113 w 8219573"/>
              <a:gd name="connsiteY0" fmla="*/ 28574 h 7107556"/>
              <a:gd name="connsiteX1" fmla="*/ 8219573 w 8219573"/>
              <a:gd name="connsiteY1" fmla="*/ 0 h 7107556"/>
              <a:gd name="connsiteX2" fmla="*/ 5529264 w 8219573"/>
              <a:gd name="connsiteY2" fmla="*/ 7070738 h 7107556"/>
              <a:gd name="connsiteX3" fmla="*/ 0 w 8219573"/>
              <a:gd name="connsiteY3" fmla="*/ 7107556 h 7107556"/>
              <a:gd name="connsiteX4" fmla="*/ 2424113 w 8219573"/>
              <a:gd name="connsiteY4" fmla="*/ 28574 h 7107556"/>
              <a:gd name="connsiteX0" fmla="*/ 2424113 w 8265677"/>
              <a:gd name="connsiteY0" fmla="*/ 20889 h 7099871"/>
              <a:gd name="connsiteX1" fmla="*/ 8265677 w 8265677"/>
              <a:gd name="connsiteY1" fmla="*/ 0 h 7099871"/>
              <a:gd name="connsiteX2" fmla="*/ 5529264 w 8265677"/>
              <a:gd name="connsiteY2" fmla="*/ 7063053 h 7099871"/>
              <a:gd name="connsiteX3" fmla="*/ 0 w 8265677"/>
              <a:gd name="connsiteY3" fmla="*/ 7099871 h 7099871"/>
              <a:gd name="connsiteX4" fmla="*/ 2424113 w 8265677"/>
              <a:gd name="connsiteY4" fmla="*/ 20889 h 7099871"/>
              <a:gd name="connsiteX0" fmla="*/ 2424113 w 8288729"/>
              <a:gd name="connsiteY0" fmla="*/ 20889 h 7099871"/>
              <a:gd name="connsiteX1" fmla="*/ 8288729 w 8288729"/>
              <a:gd name="connsiteY1" fmla="*/ 0 h 7099871"/>
              <a:gd name="connsiteX2" fmla="*/ 5529264 w 8288729"/>
              <a:gd name="connsiteY2" fmla="*/ 7063053 h 7099871"/>
              <a:gd name="connsiteX3" fmla="*/ 0 w 8288729"/>
              <a:gd name="connsiteY3" fmla="*/ 7099871 h 7099871"/>
              <a:gd name="connsiteX4" fmla="*/ 2424113 w 8288729"/>
              <a:gd name="connsiteY4" fmla="*/ 20889 h 7099871"/>
              <a:gd name="connsiteX0" fmla="*/ 2424113 w 8319465"/>
              <a:gd name="connsiteY0" fmla="*/ 5521 h 7084503"/>
              <a:gd name="connsiteX1" fmla="*/ 8319465 w 8319465"/>
              <a:gd name="connsiteY1" fmla="*/ 0 h 7084503"/>
              <a:gd name="connsiteX2" fmla="*/ 5529264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4463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58305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21472 w 8319465"/>
              <a:gd name="connsiteY2" fmla="*/ 7047685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69831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2136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36733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84503"/>
              <a:gd name="connsiteX1" fmla="*/ 8319465 w 8319465"/>
              <a:gd name="connsiteY1" fmla="*/ 0 h 7084503"/>
              <a:gd name="connsiteX2" fmla="*/ 5759785 w 8319465"/>
              <a:gd name="connsiteY2" fmla="*/ 7063054 h 7084503"/>
              <a:gd name="connsiteX3" fmla="*/ 0 w 8319465"/>
              <a:gd name="connsiteY3" fmla="*/ 7084503 h 7084503"/>
              <a:gd name="connsiteX4" fmla="*/ 2424113 w 8319465"/>
              <a:gd name="connsiteY4" fmla="*/ 5521 h 7084503"/>
              <a:gd name="connsiteX0" fmla="*/ 2424113 w 8319465"/>
              <a:gd name="connsiteY0" fmla="*/ 5521 h 7093790"/>
              <a:gd name="connsiteX1" fmla="*/ 8319465 w 8319465"/>
              <a:gd name="connsiteY1" fmla="*/ 0 h 7093790"/>
              <a:gd name="connsiteX2" fmla="*/ 5782837 w 8319465"/>
              <a:gd name="connsiteY2" fmla="*/ 7093790 h 7093790"/>
              <a:gd name="connsiteX3" fmla="*/ 0 w 8319465"/>
              <a:gd name="connsiteY3" fmla="*/ 7084503 h 7093790"/>
              <a:gd name="connsiteX4" fmla="*/ 2424113 w 8319465"/>
              <a:gd name="connsiteY4" fmla="*/ 5521 h 70937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19465" h="7093790">
                <a:moveTo>
                  <a:pt x="2424113" y="5521"/>
                </a:moveTo>
                <a:lnTo>
                  <a:pt x="8319465" y="0"/>
                </a:lnTo>
                <a:lnTo>
                  <a:pt x="5782837" y="7093790"/>
                </a:lnTo>
                <a:lnTo>
                  <a:pt x="0" y="7084503"/>
                </a:lnTo>
                <a:lnTo>
                  <a:pt x="2424113" y="5521"/>
                </a:lnTo>
                <a:close/>
              </a:path>
            </a:pathLst>
          </a:custGeom>
        </p:spPr>
        <p:txBody>
          <a:bodyPr/>
          <a:lstStyle/>
          <a:p>
            <a:endParaRPr lang="en-MY"/>
          </a:p>
        </p:txBody>
      </p:sp>
    </p:spTree>
    <p:extLst>
      <p:ext uri="{BB962C8B-B14F-4D97-AF65-F5344CB8AC3E}">
        <p14:creationId xmlns:p14="http://schemas.microsoft.com/office/powerpoint/2010/main" val="37857510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blank_layout_0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B2AE6E-5012-F925-B9E0-2C9A3DBC0A6A}"/>
              </a:ext>
            </a:extLst>
          </p:cNvPr>
          <p:cNvSpPr/>
          <p:nvPr userDrawn="1"/>
        </p:nvSpPr>
        <p:spPr>
          <a:xfrm>
            <a:off x="0" y="-1"/>
            <a:ext cx="1219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pic>
        <p:nvPicPr>
          <p:cNvPr id="6" name="Picture 5">
            <a:extLst>
              <a:ext uri="{FF2B5EF4-FFF2-40B4-BE49-F238E27FC236}">
                <a16:creationId xmlns:a16="http://schemas.microsoft.com/office/drawing/2014/main" id="{E6CB95AD-15CE-F7B7-4048-D4BC4039F11A}"/>
              </a:ext>
            </a:extLst>
          </p:cNvPr>
          <p:cNvPicPr>
            <a:picLocks noChangeAspect="1"/>
          </p:cNvPicPr>
          <p:nvPr userDrawn="1"/>
        </p:nvPicPr>
        <p:blipFill>
          <a:blip r:embed="rId2"/>
          <a:stretch>
            <a:fillRect/>
          </a:stretch>
        </p:blipFill>
        <p:spPr>
          <a:xfrm flipV="1">
            <a:off x="-5939" y="3718377"/>
            <a:ext cx="12192000" cy="3139623"/>
          </a:xfrm>
          <a:prstGeom prst="rect">
            <a:avLst/>
          </a:prstGeom>
        </p:spPr>
      </p:pic>
      <p:sp>
        <p:nvSpPr>
          <p:cNvPr id="5" name="Rectangle 4">
            <a:extLst>
              <a:ext uri="{FF2B5EF4-FFF2-40B4-BE49-F238E27FC236}">
                <a16:creationId xmlns:a16="http://schemas.microsoft.com/office/drawing/2014/main" id="{221C01C2-421D-6D47-A4A6-F3FBD49FCCD9}"/>
              </a:ext>
            </a:extLst>
          </p:cNvPr>
          <p:cNvSpPr/>
          <p:nvPr userDrawn="1"/>
        </p:nvSpPr>
        <p:spPr>
          <a:xfrm rot="10800000">
            <a:off x="12096521" y="0"/>
            <a:ext cx="99164" cy="3058510"/>
          </a:xfrm>
          <a:prstGeom prst="rect">
            <a:avLst/>
          </a:prstGeom>
          <a:solidFill>
            <a:srgbClr val="C04C4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7" name="Rectangle 6">
            <a:extLst>
              <a:ext uri="{FF2B5EF4-FFF2-40B4-BE49-F238E27FC236}">
                <a16:creationId xmlns:a16="http://schemas.microsoft.com/office/drawing/2014/main" id="{0BD78213-2FB4-C549-781F-4073598A4AE7}"/>
              </a:ext>
            </a:extLst>
          </p:cNvPr>
          <p:cNvSpPr/>
          <p:nvPr userDrawn="1"/>
        </p:nvSpPr>
        <p:spPr>
          <a:xfrm rot="10800000">
            <a:off x="12096718" y="3139623"/>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8" name="Rectangle 7">
            <a:extLst>
              <a:ext uri="{FF2B5EF4-FFF2-40B4-BE49-F238E27FC236}">
                <a16:creationId xmlns:a16="http://schemas.microsoft.com/office/drawing/2014/main" id="{EF466068-AD20-659C-746B-81BEE50E9ADA}"/>
              </a:ext>
            </a:extLst>
          </p:cNvPr>
          <p:cNvSpPr/>
          <p:nvPr userDrawn="1"/>
        </p:nvSpPr>
        <p:spPr>
          <a:xfrm rot="10800000">
            <a:off x="12096521" y="3654629"/>
            <a:ext cx="99164" cy="433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dirty="0"/>
          </a:p>
        </p:txBody>
      </p:sp>
      <p:sp>
        <p:nvSpPr>
          <p:cNvPr id="15" name="Diagonal Stripe 14">
            <a:extLst>
              <a:ext uri="{FF2B5EF4-FFF2-40B4-BE49-F238E27FC236}">
                <a16:creationId xmlns:a16="http://schemas.microsoft.com/office/drawing/2014/main" id="{D82BA350-C437-1B6C-0082-CD7CF0CE547D}"/>
              </a:ext>
            </a:extLst>
          </p:cNvPr>
          <p:cNvSpPr/>
          <p:nvPr userDrawn="1"/>
        </p:nvSpPr>
        <p:spPr>
          <a:xfrm>
            <a:off x="0" y="0"/>
            <a:ext cx="5606143" cy="6858000"/>
          </a:xfrm>
          <a:prstGeom prst="diagStripe">
            <a:avLst/>
          </a:prstGeom>
          <a:solidFill>
            <a:schemeClr val="bg1">
              <a:lumMod val="75000"/>
              <a:alpha val="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50" dirty="0">
              <a:solidFill>
                <a:schemeClr val="tx1"/>
              </a:solidFill>
            </a:endParaRPr>
          </a:p>
        </p:txBody>
      </p:sp>
    </p:spTree>
    <p:extLst>
      <p:ext uri="{BB962C8B-B14F-4D97-AF65-F5344CB8AC3E}">
        <p14:creationId xmlns:p14="http://schemas.microsoft.com/office/powerpoint/2010/main" val="98221641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6"/>
        <p:cNvGrpSpPr/>
        <p:nvPr/>
      </p:nvGrpSpPr>
      <p:grpSpPr>
        <a:xfrm>
          <a:off x="0" y="0"/>
          <a:ext cx="0" cy="0"/>
          <a:chOff x="0" y="0"/>
          <a:chExt cx="0" cy="0"/>
        </a:xfrm>
      </p:grpSpPr>
      <p:sp>
        <p:nvSpPr>
          <p:cNvPr id="37" name="Google Shape;37;p4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41"/>
          <p:cNvSpPr txBox="1">
            <a:spLocks noGrp="1"/>
          </p:cNvSpPr>
          <p:nvPr>
            <p:ph type="dt" idx="10"/>
          </p:nvPr>
        </p:nvSpPr>
        <p:spPr>
          <a:xfrm>
            <a:off x="609600" y="6598397"/>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41"/>
          <p:cNvSpPr txBox="1">
            <a:spLocks noGrp="1"/>
          </p:cNvSpPr>
          <p:nvPr>
            <p:ph type="ftr" idx="11"/>
          </p:nvPr>
        </p:nvSpPr>
        <p:spPr>
          <a:xfrm>
            <a:off x="3293036" y="6620436"/>
            <a:ext cx="5588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41"/>
          <p:cNvSpPr txBox="1">
            <a:spLocks noGrp="1"/>
          </p:cNvSpPr>
          <p:nvPr>
            <p:ph type="sldNum" idx="12"/>
          </p:nvPr>
        </p:nvSpPr>
        <p:spPr>
          <a:xfrm>
            <a:off x="8737600" y="6598397"/>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5376532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Text, and Content" type="txAndObj">
  <p:cSld name="Title, Text, and Content">
    <p:spTree>
      <p:nvGrpSpPr>
        <p:cNvPr id="1" name="Shape 47"/>
        <p:cNvGrpSpPr/>
        <p:nvPr/>
      </p:nvGrpSpPr>
      <p:grpSpPr>
        <a:xfrm>
          <a:off x="0" y="0"/>
          <a:ext cx="0" cy="0"/>
          <a:chOff x="0" y="0"/>
          <a:chExt cx="0" cy="0"/>
        </a:xfrm>
      </p:grpSpPr>
      <p:sp>
        <p:nvSpPr>
          <p:cNvPr id="48" name="Google Shape;48;p72"/>
          <p:cNvSpPr txBox="1">
            <a:spLocks noGrp="1"/>
          </p:cNvSpPr>
          <p:nvPr>
            <p:ph type="title"/>
          </p:nvPr>
        </p:nvSpPr>
        <p:spPr>
          <a:xfrm>
            <a:off x="609600" y="457200"/>
            <a:ext cx="10972800" cy="13716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2"/>
          <p:cNvSpPr txBox="1">
            <a:spLocks noGrp="1"/>
          </p:cNvSpPr>
          <p:nvPr>
            <p:ph type="body" idx="1"/>
          </p:nvPr>
        </p:nvSpPr>
        <p:spPr>
          <a:xfrm>
            <a:off x="609600" y="1981200"/>
            <a:ext cx="5384800" cy="3886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0" name="Google Shape;50;p72"/>
          <p:cNvSpPr txBox="1">
            <a:spLocks noGrp="1"/>
          </p:cNvSpPr>
          <p:nvPr>
            <p:ph type="body" idx="2"/>
          </p:nvPr>
        </p:nvSpPr>
        <p:spPr>
          <a:xfrm>
            <a:off x="6197600" y="1981200"/>
            <a:ext cx="5384800" cy="38862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1" name="Google Shape;51;p72"/>
          <p:cNvSpPr txBox="1">
            <a:spLocks noGrp="1"/>
          </p:cNvSpPr>
          <p:nvPr>
            <p:ph type="ftr" idx="11"/>
          </p:nvPr>
        </p:nvSpPr>
        <p:spPr>
          <a:xfrm>
            <a:off x="4165600" y="6248400"/>
            <a:ext cx="3860800" cy="45720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0"/>
              </a:spcBef>
              <a:spcAft>
                <a:spcPts val="0"/>
              </a:spcAft>
              <a:buSzPts val="1400"/>
              <a:buNone/>
              <a:defRPr>
                <a:latin typeface="Times"/>
                <a:ea typeface="Times"/>
                <a:cs typeface="Times"/>
                <a:sym typeface="Time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2"/>
          <p:cNvSpPr txBox="1">
            <a:spLocks noGrp="1"/>
          </p:cNvSpPr>
          <p:nvPr>
            <p:ph type="sldNum" idx="12"/>
          </p:nvPr>
        </p:nvSpPr>
        <p:spPr>
          <a:xfrm>
            <a:off x="8737600" y="6248400"/>
            <a:ext cx="2844800" cy="457200"/>
          </a:xfrm>
          <a:prstGeom prst="rect">
            <a:avLst/>
          </a:prstGeom>
          <a:noFill/>
          <a:ln>
            <a:noFill/>
          </a:ln>
        </p:spPr>
        <p:txBody>
          <a:bodyPr spcFirstLastPara="1" wrap="square" lIns="91425" tIns="45700" rIns="91425" bIns="45700" anchor="t"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Times"/>
                <a:ea typeface="Times"/>
                <a:cs typeface="Times"/>
                <a:sym typeface="Times"/>
              </a:defRPr>
            </a:lvl9pPr>
          </a:lstStyle>
          <a:p>
            <a:fld id="{00000000-1234-1234-1234-123412341234}" type="slidenum">
              <a:rPr lang="en-US" smtClean="0"/>
              <a:pPr/>
              <a:t>‹#›</a:t>
            </a:fld>
            <a:endParaRPr lang="en-US"/>
          </a:p>
        </p:txBody>
      </p:sp>
      <p:sp>
        <p:nvSpPr>
          <p:cNvPr id="53" name="Google Shape;53;p72"/>
          <p:cNvSpPr txBox="1">
            <a:spLocks noGrp="1"/>
          </p:cNvSpPr>
          <p:nvPr>
            <p:ph type="dt" idx="10"/>
          </p:nvPr>
        </p:nvSpPr>
        <p:spPr>
          <a:xfrm>
            <a:off x="609600" y="6245225"/>
            <a:ext cx="2844800" cy="47625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atin typeface="Times"/>
                <a:ea typeface="Times"/>
                <a:cs typeface="Times"/>
                <a:sym typeface="Time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723392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37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A71898-202E-A9B0-5802-EB291E6E6BDA}"/>
              </a:ext>
            </a:extLst>
          </p:cNvPr>
          <p:cNvSpPr>
            <a:spLocks noGrp="1"/>
          </p:cNvSpPr>
          <p:nvPr>
            <p:ph type="title"/>
          </p:nvPr>
        </p:nvSpPr>
        <p:spPr>
          <a:xfrm>
            <a:off x="838200" y="336550"/>
            <a:ext cx="10515600" cy="1325563"/>
          </a:xfrm>
          <a:prstGeom prst="rect">
            <a:avLst/>
          </a:prstGeom>
        </p:spPr>
        <p:txBody>
          <a:bodyPr vert="horz" lIns="91440" tIns="45720" rIns="91440" bIns="45720" rtlCol="0" anchor="ctr">
            <a:normAutofit/>
          </a:bodyPr>
          <a:lstStyle/>
          <a:p>
            <a:r>
              <a:rPr lang="en-US" dirty="0"/>
              <a:t>Click to edit Master title style</a:t>
            </a:r>
            <a:endParaRPr lang="en-MY" dirty="0"/>
          </a:p>
        </p:txBody>
      </p:sp>
      <p:sp>
        <p:nvSpPr>
          <p:cNvPr id="3" name="Text Placeholder 2">
            <a:extLst>
              <a:ext uri="{FF2B5EF4-FFF2-40B4-BE49-F238E27FC236}">
                <a16:creationId xmlns:a16="http://schemas.microsoft.com/office/drawing/2014/main" id="{7E086769-6690-B393-F5E4-DCECFF4195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Footer Placeholder 4">
            <a:extLst>
              <a:ext uri="{FF2B5EF4-FFF2-40B4-BE49-F238E27FC236}">
                <a16:creationId xmlns:a16="http://schemas.microsoft.com/office/drawing/2014/main" id="{55DC639E-4B25-1826-B194-296A678A915A}"/>
              </a:ext>
            </a:extLst>
          </p:cNvPr>
          <p:cNvSpPr>
            <a:spLocks noGrp="1"/>
          </p:cNvSpPr>
          <p:nvPr>
            <p:ph type="ftr" sz="quarter" idx="3"/>
          </p:nvPr>
        </p:nvSpPr>
        <p:spPr>
          <a:xfrm>
            <a:off x="186887" y="644403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dirty="0"/>
          </a:p>
        </p:txBody>
      </p:sp>
      <p:sp>
        <p:nvSpPr>
          <p:cNvPr id="9" name="Freeform: Shape 8">
            <a:extLst>
              <a:ext uri="{FF2B5EF4-FFF2-40B4-BE49-F238E27FC236}">
                <a16:creationId xmlns:a16="http://schemas.microsoft.com/office/drawing/2014/main" id="{F6E48471-839B-1190-2A8F-CDE90D81E453}"/>
              </a:ext>
            </a:extLst>
          </p:cNvPr>
          <p:cNvSpPr/>
          <p:nvPr userDrawn="1"/>
        </p:nvSpPr>
        <p:spPr>
          <a:xfrm>
            <a:off x="5553075" y="6413500"/>
            <a:ext cx="1085850" cy="444500"/>
          </a:xfrm>
          <a:custGeom>
            <a:avLst/>
            <a:gdLst>
              <a:gd name="connsiteX0" fmla="*/ 550981 w 2344943"/>
              <a:gd name="connsiteY0" fmla="*/ 0 h 407428"/>
              <a:gd name="connsiteX1" fmla="*/ 940996 w 2344943"/>
              <a:gd name="connsiteY1" fmla="*/ 0 h 407428"/>
              <a:gd name="connsiteX2" fmla="*/ 1403945 w 2344943"/>
              <a:gd name="connsiteY2" fmla="*/ 0 h 407428"/>
              <a:gd name="connsiteX3" fmla="*/ 1793961 w 2344943"/>
              <a:gd name="connsiteY3" fmla="*/ 0 h 407428"/>
              <a:gd name="connsiteX4" fmla="*/ 2288061 w 2344943"/>
              <a:gd name="connsiteY4" fmla="*/ 355358 h 407428"/>
              <a:gd name="connsiteX5" fmla="*/ 2344943 w 2344943"/>
              <a:gd name="connsiteY5" fmla="*/ 407428 h 407428"/>
              <a:gd name="connsiteX6" fmla="*/ 0 w 2344943"/>
              <a:gd name="connsiteY6" fmla="*/ 407428 h 407428"/>
              <a:gd name="connsiteX7" fmla="*/ 56882 w 2344943"/>
              <a:gd name="connsiteY7" fmla="*/ 355358 h 407428"/>
              <a:gd name="connsiteX8" fmla="*/ 550981 w 2344943"/>
              <a:gd name="connsiteY8" fmla="*/ 0 h 4074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44943" h="407428">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E9B71315-3089-4F92-F4F2-BBC69C1FAA52}"/>
              </a:ext>
            </a:extLst>
          </p:cNvPr>
          <p:cNvSpPr>
            <a:spLocks noGrp="1"/>
          </p:cNvSpPr>
          <p:nvPr>
            <p:ph type="sldNum" sz="quarter" idx="4"/>
          </p:nvPr>
        </p:nvSpPr>
        <p:spPr>
          <a:xfrm>
            <a:off x="4718816" y="6433021"/>
            <a:ext cx="2743200" cy="365125"/>
          </a:xfrm>
          <a:prstGeom prst="rect">
            <a:avLst/>
          </a:prstGeom>
        </p:spPr>
        <p:txBody>
          <a:bodyPr vert="horz" lIns="91440" tIns="45720" rIns="91440" bIns="45720" rtlCol="0" anchor="ctr"/>
          <a:lstStyle>
            <a:lvl1pPr algn="ctr">
              <a:defRPr sz="1400">
                <a:solidFill>
                  <a:schemeClr val="tx1">
                    <a:lumMod val="85000"/>
                    <a:lumOff val="15000"/>
                  </a:schemeClr>
                </a:solidFill>
              </a:defRPr>
            </a:lvl1pPr>
          </a:lstStyle>
          <a:p>
            <a:fld id="{7737D3DD-0AB3-4F16-99FA-6262B2B4036D}" type="slidenum">
              <a:rPr lang="en-MY" smtClean="0"/>
              <a:pPr/>
              <a:t>‹#›</a:t>
            </a:fld>
            <a:endParaRPr lang="en-MY" dirty="0"/>
          </a:p>
        </p:txBody>
      </p:sp>
    </p:spTree>
    <p:extLst>
      <p:ext uri="{BB962C8B-B14F-4D97-AF65-F5344CB8AC3E}">
        <p14:creationId xmlns:p14="http://schemas.microsoft.com/office/powerpoint/2010/main" val="2158109776"/>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649" r:id="rId3"/>
    <p:sldLayoutId id="2147483654" r:id="rId4"/>
    <p:sldLayoutId id="2147483650" r:id="rId5"/>
    <p:sldLayoutId id="2147483651" r:id="rId6"/>
    <p:sldLayoutId id="2147483652" r:id="rId7"/>
    <p:sldLayoutId id="2147483659" r:id="rId8"/>
    <p:sldLayoutId id="2147483665" r:id="rId9"/>
    <p:sldLayoutId id="2147483666" r:id="rId10"/>
    <p:sldLayoutId id="2147483653" r:id="rId11"/>
    <p:sldLayoutId id="2147483655" r:id="rId12"/>
    <p:sldLayoutId id="2147483663" r:id="rId13"/>
    <p:sldLayoutId id="2147483660" r:id="rId14"/>
    <p:sldLayoutId id="2147483656" r:id="rId15"/>
    <p:sldLayoutId id="2147483657" r:id="rId16"/>
    <p:sldLayoutId id="2147483658" r:id="rId17"/>
    <p:sldLayoutId id="2147483661" r:id="rId18"/>
    <p:sldLayoutId id="2147483664" r:id="rId19"/>
    <p:sldLayoutId id="2147483668" r:id="rId20"/>
    <p:sldLayoutId id="2147483669" r:id="rId21"/>
  </p:sldLayoutIdLst>
  <p:hf hdr="0" ftr="0" dt="0"/>
  <p:txStyles>
    <p:titleStyle>
      <a:lvl1pPr algn="l" defTabSz="914400" rtl="0" eaLnBrk="1" latinLnBrk="0" hangingPunct="1">
        <a:lnSpc>
          <a:spcPct val="90000"/>
        </a:lnSpc>
        <a:spcBef>
          <a:spcPct val="0"/>
        </a:spcBef>
        <a:buNone/>
        <a:defRPr sz="3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www.wiley.com/en-us" TargetMode="External"/><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nngroup.com/articles/how-to-rate-the-severity-of-usability-problems/"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www.nngroup.com/articles/how-to-rate-the-severity-of-usability-problems/"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www.nngroup.com/articles/how-to-rate-the-severity-of-usability-problems/"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hyperlink" Target="https://measuringu.com/rating-severity/"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hyperlink" Target="https://www.nngroup.com/articles/how-to-rate-the-severity-of-usability-problem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hyperlink" Target="https://www.w3.org/WAI/standards-guidelines/wcag/glance/" TargetMode="Externa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www.id-book.com/"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hyperlink" Target="http://www.asktog.com/columns/022DesignedToGiveFitts.html"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oleObject" Target="../embeddings/oleObject2.bin"/><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5.bin"/><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321F6-0790-616A-8EAF-18348D7908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9181100-FF79-92DD-2D59-F8730F46A416}"/>
              </a:ext>
            </a:extLst>
          </p:cNvPr>
          <p:cNvSpPr txBox="1"/>
          <p:nvPr/>
        </p:nvSpPr>
        <p:spPr>
          <a:xfrm>
            <a:off x="602883" y="809974"/>
            <a:ext cx="6372225" cy="3054682"/>
          </a:xfrm>
          <a:prstGeom prst="rect">
            <a:avLst/>
          </a:prstGeom>
          <a:noFill/>
        </p:spPr>
        <p:txBody>
          <a:bodyPr>
            <a:spAutoFit/>
          </a:bodyPr>
          <a:lstStyle/>
          <a:p>
            <a:pPr eaLnBrk="1" fontAlgn="auto" hangingPunct="1">
              <a:lnSpc>
                <a:spcPct val="150000"/>
              </a:lnSpc>
              <a:spcBef>
                <a:spcPts val="0"/>
              </a:spcBef>
              <a:spcAft>
                <a:spcPts val="0"/>
              </a:spcAft>
              <a:defRPr/>
            </a:pPr>
            <a:r>
              <a:rPr lang="en-GB" sz="4400" b="1" dirty="0">
                <a:solidFill>
                  <a:srgbClr val="F2F2F2"/>
                </a:solidFill>
                <a:latin typeface="+mj-lt"/>
              </a:rPr>
              <a:t>Topic 8: Inspections, Analytics &amp; Models (Part 3)</a:t>
            </a:r>
          </a:p>
        </p:txBody>
      </p:sp>
      <p:sp>
        <p:nvSpPr>
          <p:cNvPr id="6" name="Rectangle 5">
            <a:extLst>
              <a:ext uri="{FF2B5EF4-FFF2-40B4-BE49-F238E27FC236}">
                <a16:creationId xmlns:a16="http://schemas.microsoft.com/office/drawing/2014/main" id="{8DBE485B-F0EC-0DB9-E008-2849E6E25E8D}"/>
              </a:ext>
            </a:extLst>
          </p:cNvPr>
          <p:cNvSpPr>
            <a:spLocks noChangeArrowheads="1"/>
          </p:cNvSpPr>
          <p:nvPr/>
        </p:nvSpPr>
        <p:spPr bwMode="auto">
          <a:xfrm>
            <a:off x="656092" y="3864656"/>
            <a:ext cx="5439908" cy="1530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Open Sans" panose="020B0606030504020204" pitchFamily="34" charset="0"/>
              </a:defRPr>
            </a:lvl1pPr>
            <a:lvl2pPr marL="742950" indent="-285750">
              <a:defRPr>
                <a:solidFill>
                  <a:schemeClr val="tx1"/>
                </a:solidFill>
                <a:latin typeface="Open Sans" panose="020B0606030504020204" pitchFamily="34" charset="0"/>
              </a:defRPr>
            </a:lvl2pPr>
            <a:lvl3pPr marL="1143000" indent="-228600">
              <a:defRPr>
                <a:solidFill>
                  <a:schemeClr val="tx1"/>
                </a:solidFill>
                <a:latin typeface="Open Sans" panose="020B0606030504020204" pitchFamily="34" charset="0"/>
              </a:defRPr>
            </a:lvl3pPr>
            <a:lvl4pPr marL="1600200" indent="-228600">
              <a:defRPr>
                <a:solidFill>
                  <a:schemeClr val="tx1"/>
                </a:solidFill>
                <a:latin typeface="Open Sans" panose="020B0606030504020204" pitchFamily="34" charset="0"/>
              </a:defRPr>
            </a:lvl4pPr>
            <a:lvl5pPr marL="2057400" indent="-228600">
              <a:defRPr>
                <a:solidFill>
                  <a:schemeClr val="tx1"/>
                </a:solidFill>
                <a:latin typeface="Open Sans" panose="020B0606030504020204" pitchFamily="34" charset="0"/>
              </a:defRPr>
            </a:lvl5pPr>
            <a:lvl6pPr marL="2514600" indent="-228600" defTabSz="457200" fontAlgn="base">
              <a:spcBef>
                <a:spcPct val="0"/>
              </a:spcBef>
              <a:spcAft>
                <a:spcPct val="0"/>
              </a:spcAft>
              <a:defRPr>
                <a:solidFill>
                  <a:schemeClr val="tx1"/>
                </a:solidFill>
                <a:latin typeface="Open Sans" panose="020B0606030504020204" pitchFamily="34" charset="0"/>
              </a:defRPr>
            </a:lvl6pPr>
            <a:lvl7pPr marL="2971800" indent="-228600" defTabSz="457200" fontAlgn="base">
              <a:spcBef>
                <a:spcPct val="0"/>
              </a:spcBef>
              <a:spcAft>
                <a:spcPct val="0"/>
              </a:spcAft>
              <a:defRPr>
                <a:solidFill>
                  <a:schemeClr val="tx1"/>
                </a:solidFill>
                <a:latin typeface="Open Sans" panose="020B0606030504020204" pitchFamily="34" charset="0"/>
              </a:defRPr>
            </a:lvl7pPr>
            <a:lvl8pPr marL="3429000" indent="-228600" defTabSz="457200" fontAlgn="base">
              <a:spcBef>
                <a:spcPct val="0"/>
              </a:spcBef>
              <a:spcAft>
                <a:spcPct val="0"/>
              </a:spcAft>
              <a:defRPr>
                <a:solidFill>
                  <a:schemeClr val="tx1"/>
                </a:solidFill>
                <a:latin typeface="Open Sans" panose="020B0606030504020204" pitchFamily="34" charset="0"/>
              </a:defRPr>
            </a:lvl8pPr>
            <a:lvl9pPr marL="3886200" indent="-228600" defTabSz="457200" fontAlgn="base">
              <a:spcBef>
                <a:spcPct val="0"/>
              </a:spcBef>
              <a:spcAft>
                <a:spcPct val="0"/>
              </a:spcAft>
              <a:defRPr>
                <a:solidFill>
                  <a:schemeClr val="tx1"/>
                </a:solidFill>
                <a:latin typeface="Open Sans" panose="020B0606030504020204" pitchFamily="34" charset="0"/>
              </a:defRPr>
            </a:lvl9pPr>
          </a:lstStyle>
          <a:p>
            <a:pPr>
              <a:lnSpc>
                <a:spcPct val="150000"/>
              </a:lnSpc>
            </a:pPr>
            <a:r>
              <a:rPr lang="en-GB" sz="1600" b="1" dirty="0">
                <a:solidFill>
                  <a:schemeClr val="bg2"/>
                </a:solidFill>
              </a:rPr>
              <a:t>SECV2113 Human-Computer Interaction</a:t>
            </a:r>
          </a:p>
          <a:p>
            <a:pPr>
              <a:lnSpc>
                <a:spcPct val="150000"/>
              </a:lnSpc>
            </a:pPr>
            <a:endParaRPr lang="en-GB" sz="1600" b="1" dirty="0">
              <a:solidFill>
                <a:schemeClr val="bg2"/>
              </a:solidFill>
            </a:endParaRPr>
          </a:p>
          <a:p>
            <a:pPr>
              <a:lnSpc>
                <a:spcPct val="150000"/>
              </a:lnSpc>
            </a:pPr>
            <a:r>
              <a:rPr lang="en-GB" sz="1600" b="1" dirty="0">
                <a:solidFill>
                  <a:schemeClr val="bg2"/>
                </a:solidFill>
              </a:rPr>
              <a:t>Faculty of Computing</a:t>
            </a:r>
          </a:p>
          <a:p>
            <a:pPr>
              <a:lnSpc>
                <a:spcPct val="150000"/>
              </a:lnSpc>
            </a:pPr>
            <a:r>
              <a:rPr lang="en-GB" sz="1600" b="1" dirty="0" err="1">
                <a:solidFill>
                  <a:schemeClr val="bg2"/>
                </a:solidFill>
              </a:rPr>
              <a:t>Universiti</a:t>
            </a:r>
            <a:r>
              <a:rPr lang="en-GB" sz="1600" b="1" dirty="0">
                <a:solidFill>
                  <a:schemeClr val="bg2"/>
                </a:solidFill>
              </a:rPr>
              <a:t> </a:t>
            </a:r>
            <a:r>
              <a:rPr lang="en-GB" sz="1600" b="1" dirty="0" err="1">
                <a:solidFill>
                  <a:schemeClr val="bg2"/>
                </a:solidFill>
              </a:rPr>
              <a:t>Teknologi</a:t>
            </a:r>
            <a:r>
              <a:rPr lang="en-GB" sz="1600" b="1" dirty="0">
                <a:solidFill>
                  <a:schemeClr val="bg2"/>
                </a:solidFill>
              </a:rPr>
              <a:t> Malaysia</a:t>
            </a:r>
          </a:p>
        </p:txBody>
      </p:sp>
      <p:sp>
        <p:nvSpPr>
          <p:cNvPr id="2" name="Slide Number Placeholder 1">
            <a:extLst>
              <a:ext uri="{FF2B5EF4-FFF2-40B4-BE49-F238E27FC236}">
                <a16:creationId xmlns:a16="http://schemas.microsoft.com/office/drawing/2014/main" id="{341CED56-1665-8124-A721-BB53B4632B43}"/>
              </a:ext>
            </a:extLst>
          </p:cNvPr>
          <p:cNvSpPr>
            <a:spLocks noGrp="1"/>
          </p:cNvSpPr>
          <p:nvPr>
            <p:ph type="sldNum" sz="quarter" idx="11"/>
          </p:nvPr>
        </p:nvSpPr>
        <p:spPr/>
        <p:txBody>
          <a:bodyPr/>
          <a:lstStyle/>
          <a:p>
            <a:fld id="{7737D3DD-0AB3-4F16-99FA-6262B2B4036D}" type="slidenum">
              <a:rPr lang="en-GB" smtClean="0"/>
              <a:t>1</a:t>
            </a:fld>
            <a:endParaRPr lang="en-GB" dirty="0"/>
          </a:p>
        </p:txBody>
      </p:sp>
    </p:spTree>
    <p:extLst>
      <p:ext uri="{BB962C8B-B14F-4D97-AF65-F5344CB8AC3E}">
        <p14:creationId xmlns:p14="http://schemas.microsoft.com/office/powerpoint/2010/main" val="83958817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F91112-E67B-52E0-5CE0-84E598D5ACC2}"/>
              </a:ext>
            </a:extLst>
          </p:cNvPr>
          <p:cNvSpPr txBox="1"/>
          <p:nvPr/>
        </p:nvSpPr>
        <p:spPr>
          <a:xfrm>
            <a:off x="1166992" y="884634"/>
            <a:ext cx="823913" cy="646112"/>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01</a:t>
            </a:r>
          </a:p>
        </p:txBody>
      </p:sp>
      <p:sp>
        <p:nvSpPr>
          <p:cNvPr id="3" name="TextBox 2">
            <a:extLst>
              <a:ext uri="{FF2B5EF4-FFF2-40B4-BE49-F238E27FC236}">
                <a16:creationId xmlns:a16="http://schemas.microsoft.com/office/drawing/2014/main" id="{0BC73770-F834-B3F6-8C54-7A5C1249A7AA}"/>
              </a:ext>
            </a:extLst>
          </p:cNvPr>
          <p:cNvSpPr txBox="1"/>
          <p:nvPr/>
        </p:nvSpPr>
        <p:spPr>
          <a:xfrm>
            <a:off x="2094786" y="656801"/>
            <a:ext cx="8592264"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INSPECTION: HEURISTIC EVALUATION</a:t>
            </a:r>
          </a:p>
        </p:txBody>
      </p:sp>
      <p:sp>
        <p:nvSpPr>
          <p:cNvPr id="4" name="TextBox 3">
            <a:extLst>
              <a:ext uri="{FF2B5EF4-FFF2-40B4-BE49-F238E27FC236}">
                <a16:creationId xmlns:a16="http://schemas.microsoft.com/office/drawing/2014/main" id="{BAF8E65B-A985-5225-3DBE-AE4CF54409A9}"/>
              </a:ext>
            </a:extLst>
          </p:cNvPr>
          <p:cNvSpPr txBox="1"/>
          <p:nvPr/>
        </p:nvSpPr>
        <p:spPr>
          <a:xfrm>
            <a:off x="1166992" y="2184189"/>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02</a:t>
            </a:r>
          </a:p>
        </p:txBody>
      </p:sp>
      <p:sp>
        <p:nvSpPr>
          <p:cNvPr id="6" name="TextBox 5">
            <a:extLst>
              <a:ext uri="{FF2B5EF4-FFF2-40B4-BE49-F238E27FC236}">
                <a16:creationId xmlns:a16="http://schemas.microsoft.com/office/drawing/2014/main" id="{2A3CD455-E96D-A90F-3D91-16AFB50725EE}"/>
              </a:ext>
            </a:extLst>
          </p:cNvPr>
          <p:cNvSpPr txBox="1"/>
          <p:nvPr/>
        </p:nvSpPr>
        <p:spPr>
          <a:xfrm>
            <a:off x="1166992" y="3502094"/>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03</a:t>
            </a:r>
          </a:p>
        </p:txBody>
      </p:sp>
      <p:sp>
        <p:nvSpPr>
          <p:cNvPr id="14" name="Slide Number Placeholder 13">
            <a:extLst>
              <a:ext uri="{FF2B5EF4-FFF2-40B4-BE49-F238E27FC236}">
                <a16:creationId xmlns:a16="http://schemas.microsoft.com/office/drawing/2014/main" id="{57082154-5F28-3427-0747-570968D9939E}"/>
              </a:ext>
            </a:extLst>
          </p:cNvPr>
          <p:cNvSpPr>
            <a:spLocks noGrp="1"/>
          </p:cNvSpPr>
          <p:nvPr>
            <p:ph type="sldNum" sz="quarter" idx="11"/>
          </p:nvPr>
        </p:nvSpPr>
        <p:spPr/>
        <p:txBody>
          <a:bodyPr/>
          <a:lstStyle/>
          <a:p>
            <a:fld id="{7737D3DD-0AB3-4F16-99FA-6262B2B4036D}" type="slidenum">
              <a:rPr lang="en-MY" smtClean="0"/>
              <a:t>2</a:t>
            </a:fld>
            <a:endParaRPr lang="en-MY"/>
          </a:p>
        </p:txBody>
      </p:sp>
      <p:sp>
        <p:nvSpPr>
          <p:cNvPr id="26" name="TextBox 25">
            <a:extLst>
              <a:ext uri="{FF2B5EF4-FFF2-40B4-BE49-F238E27FC236}">
                <a16:creationId xmlns:a16="http://schemas.microsoft.com/office/drawing/2014/main" id="{DC4E9F6C-91FE-5CC8-7FA1-70BB68B23BFA}"/>
              </a:ext>
            </a:extLst>
          </p:cNvPr>
          <p:cNvSpPr txBox="1"/>
          <p:nvPr/>
        </p:nvSpPr>
        <p:spPr>
          <a:xfrm>
            <a:off x="1145466" y="4822719"/>
            <a:ext cx="823913" cy="646113"/>
          </a:xfrm>
          <a:prstGeom prst="rect">
            <a:avLst/>
          </a:prstGeom>
          <a:noFill/>
        </p:spPr>
        <p:txBody>
          <a:bodyPr>
            <a:spAutoFit/>
          </a:bodyPr>
          <a:lstStyle/>
          <a:p>
            <a:pPr algn="ctr" eaLnBrk="1" fontAlgn="auto" hangingPunct="1">
              <a:spcBef>
                <a:spcPts val="0"/>
              </a:spcBef>
              <a:spcAft>
                <a:spcPts val="0"/>
              </a:spcAft>
              <a:defRPr/>
            </a:pPr>
            <a:r>
              <a:rPr lang="en-US" sz="3600" b="1" dirty="0">
                <a:solidFill>
                  <a:schemeClr val="accent3">
                    <a:lumMod val="75000"/>
                  </a:schemeClr>
                </a:solidFill>
                <a:latin typeface="+mj-lt"/>
              </a:rPr>
              <a:t>04</a:t>
            </a:r>
          </a:p>
        </p:txBody>
      </p:sp>
      <p:sp>
        <p:nvSpPr>
          <p:cNvPr id="15" name="TextBox 14">
            <a:extLst>
              <a:ext uri="{FF2B5EF4-FFF2-40B4-BE49-F238E27FC236}">
                <a16:creationId xmlns:a16="http://schemas.microsoft.com/office/drawing/2014/main" id="{7EC946D2-7E11-A49F-CFDD-1AC8AF53C957}"/>
              </a:ext>
            </a:extLst>
          </p:cNvPr>
          <p:cNvSpPr txBox="1"/>
          <p:nvPr/>
        </p:nvSpPr>
        <p:spPr>
          <a:xfrm>
            <a:off x="2094786" y="1976222"/>
            <a:ext cx="8592264"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INSPECTION: WALK-THROUGHS</a:t>
            </a:r>
          </a:p>
        </p:txBody>
      </p:sp>
      <p:sp>
        <p:nvSpPr>
          <p:cNvPr id="16" name="TextBox 15">
            <a:extLst>
              <a:ext uri="{FF2B5EF4-FFF2-40B4-BE49-F238E27FC236}">
                <a16:creationId xmlns:a16="http://schemas.microsoft.com/office/drawing/2014/main" id="{A535CD31-F92E-8B2C-2DA9-5474A8A188F5}"/>
              </a:ext>
            </a:extLst>
          </p:cNvPr>
          <p:cNvSpPr txBox="1"/>
          <p:nvPr/>
        </p:nvSpPr>
        <p:spPr>
          <a:xfrm>
            <a:off x="2094786" y="3295643"/>
            <a:ext cx="7539867"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ANALYTICS AND A/B TESTING</a:t>
            </a:r>
          </a:p>
        </p:txBody>
      </p:sp>
      <p:sp>
        <p:nvSpPr>
          <p:cNvPr id="17" name="TextBox 16">
            <a:extLst>
              <a:ext uri="{FF2B5EF4-FFF2-40B4-BE49-F238E27FC236}">
                <a16:creationId xmlns:a16="http://schemas.microsoft.com/office/drawing/2014/main" id="{8EFC1AA5-6F7F-F747-4320-0EA3318DBD97}"/>
              </a:ext>
            </a:extLst>
          </p:cNvPr>
          <p:cNvSpPr txBox="1"/>
          <p:nvPr/>
        </p:nvSpPr>
        <p:spPr>
          <a:xfrm>
            <a:off x="2094787" y="4567572"/>
            <a:ext cx="7539866" cy="854080"/>
          </a:xfrm>
          <a:prstGeom prst="rect">
            <a:avLst/>
          </a:prstGeom>
          <a:noFill/>
        </p:spPr>
        <p:txBody>
          <a:bodyPr wrap="square">
            <a:spAutoFit/>
          </a:bodyPr>
          <a:lstStyle/>
          <a:p>
            <a:pPr eaLnBrk="1" fontAlgn="auto" hangingPunct="1">
              <a:lnSpc>
                <a:spcPct val="150000"/>
              </a:lnSpc>
              <a:spcBef>
                <a:spcPts val="0"/>
              </a:spcBef>
              <a:spcAft>
                <a:spcPts val="0"/>
              </a:spcAft>
              <a:defRPr/>
            </a:pPr>
            <a:r>
              <a:rPr lang="en-US" sz="3600" dirty="0">
                <a:solidFill>
                  <a:schemeClr val="tx1">
                    <a:lumMod val="75000"/>
                    <a:lumOff val="25000"/>
                  </a:schemeClr>
                </a:solidFill>
              </a:rPr>
              <a:t>PREDICTIVE MODELS</a:t>
            </a:r>
          </a:p>
        </p:txBody>
      </p:sp>
    </p:spTree>
    <p:extLst>
      <p:ext uri="{BB962C8B-B14F-4D97-AF65-F5344CB8AC3E}">
        <p14:creationId xmlns:p14="http://schemas.microsoft.com/office/powerpoint/2010/main" val="261219412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accel="20000" decel="6000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1000" fill="hold"/>
                                        <p:tgtEl>
                                          <p:spTgt spid="3"/>
                                        </p:tgtEl>
                                        <p:attrNameLst>
                                          <p:attrName>ppt_x</p:attrName>
                                        </p:attrNameLst>
                                      </p:cBhvr>
                                      <p:tavLst>
                                        <p:tav tm="0">
                                          <p:val>
                                            <p:strVal val="#ppt_x"/>
                                          </p:val>
                                        </p:tav>
                                        <p:tav tm="100000">
                                          <p:val>
                                            <p:strVal val="#ppt_x"/>
                                          </p:val>
                                        </p:tav>
                                      </p:tavLst>
                                    </p:anim>
                                    <p:anim calcmode="lin" valueType="num">
                                      <p:cBhvr additive="base">
                                        <p:cTn id="12" dur="1000" fill="hold"/>
                                        <p:tgtEl>
                                          <p:spTgt spid="3"/>
                                        </p:tgtEl>
                                        <p:attrNameLst>
                                          <p:attrName>ppt_y</p:attrName>
                                        </p:attrNameLst>
                                      </p:cBhvr>
                                      <p:tavLst>
                                        <p:tav tm="0">
                                          <p:val>
                                            <p:strVal val="1+#ppt_h/2"/>
                                          </p:val>
                                        </p:tav>
                                        <p:tav tm="100000">
                                          <p:val>
                                            <p:strVal val="#ppt_y"/>
                                          </p:val>
                                        </p:tav>
                                      </p:tavLst>
                                    </p:anim>
                                  </p:childTnLst>
                                </p:cTn>
                              </p:par>
                              <p:par>
                                <p:cTn id="13" presetID="2" presetClass="entr" presetSubtype="4" accel="20000" decel="6000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1000" fill="hold"/>
                                        <p:tgtEl>
                                          <p:spTgt spid="4"/>
                                        </p:tgtEl>
                                        <p:attrNameLst>
                                          <p:attrName>ppt_x</p:attrName>
                                        </p:attrNameLst>
                                      </p:cBhvr>
                                      <p:tavLst>
                                        <p:tav tm="0">
                                          <p:val>
                                            <p:strVal val="#ppt_x"/>
                                          </p:val>
                                        </p:tav>
                                        <p:tav tm="100000">
                                          <p:val>
                                            <p:strVal val="#ppt_x"/>
                                          </p:val>
                                        </p:tav>
                                      </p:tavLst>
                                    </p:anim>
                                    <p:anim calcmode="lin" valueType="num">
                                      <p:cBhvr additive="base">
                                        <p:cTn id="16" dur="1000" fill="hold"/>
                                        <p:tgtEl>
                                          <p:spTgt spid="4"/>
                                        </p:tgtEl>
                                        <p:attrNameLst>
                                          <p:attrName>ppt_y</p:attrName>
                                        </p:attrNameLst>
                                      </p:cBhvr>
                                      <p:tavLst>
                                        <p:tav tm="0">
                                          <p:val>
                                            <p:strVal val="1+#ppt_h/2"/>
                                          </p:val>
                                        </p:tav>
                                        <p:tav tm="100000">
                                          <p:val>
                                            <p:strVal val="#ppt_y"/>
                                          </p:val>
                                        </p:tav>
                                      </p:tavLst>
                                    </p:anim>
                                  </p:childTnLst>
                                </p:cTn>
                              </p:par>
                              <p:par>
                                <p:cTn id="17" presetID="2" presetClass="entr" presetSubtype="4" accel="20000" decel="6000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1000" fill="hold"/>
                                        <p:tgtEl>
                                          <p:spTgt spid="6"/>
                                        </p:tgtEl>
                                        <p:attrNameLst>
                                          <p:attrName>ppt_x</p:attrName>
                                        </p:attrNameLst>
                                      </p:cBhvr>
                                      <p:tavLst>
                                        <p:tav tm="0">
                                          <p:val>
                                            <p:strVal val="#ppt_x"/>
                                          </p:val>
                                        </p:tav>
                                        <p:tav tm="100000">
                                          <p:val>
                                            <p:strVal val="#ppt_x"/>
                                          </p:val>
                                        </p:tav>
                                      </p:tavLst>
                                    </p:anim>
                                    <p:anim calcmode="lin" valueType="num">
                                      <p:cBhvr additive="base">
                                        <p:cTn id="20" dur="10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accel="20000" decel="6000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additive="base">
                                        <p:cTn id="23" dur="1000" fill="hold"/>
                                        <p:tgtEl>
                                          <p:spTgt spid="26"/>
                                        </p:tgtEl>
                                        <p:attrNameLst>
                                          <p:attrName>ppt_x</p:attrName>
                                        </p:attrNameLst>
                                      </p:cBhvr>
                                      <p:tavLst>
                                        <p:tav tm="0">
                                          <p:val>
                                            <p:strVal val="#ppt_x"/>
                                          </p:val>
                                        </p:tav>
                                        <p:tav tm="100000">
                                          <p:val>
                                            <p:strVal val="#ppt_x"/>
                                          </p:val>
                                        </p:tav>
                                      </p:tavLst>
                                    </p:anim>
                                    <p:anim calcmode="lin" valueType="num">
                                      <p:cBhvr additive="base">
                                        <p:cTn id="24" dur="1000" fill="hold"/>
                                        <p:tgtEl>
                                          <p:spTgt spid="26"/>
                                        </p:tgtEl>
                                        <p:attrNameLst>
                                          <p:attrName>ppt_y</p:attrName>
                                        </p:attrNameLst>
                                      </p:cBhvr>
                                      <p:tavLst>
                                        <p:tav tm="0">
                                          <p:val>
                                            <p:strVal val="1+#ppt_h/2"/>
                                          </p:val>
                                        </p:tav>
                                        <p:tav tm="100000">
                                          <p:val>
                                            <p:strVal val="#ppt_y"/>
                                          </p:val>
                                        </p:tav>
                                      </p:tavLst>
                                    </p:anim>
                                  </p:childTnLst>
                                </p:cTn>
                              </p:par>
                              <p:par>
                                <p:cTn id="25" presetID="2" presetClass="entr" presetSubtype="4" accel="20000" decel="6000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 calcmode="lin" valueType="num">
                                      <p:cBhvr additive="base">
                                        <p:cTn id="27" dur="1000" fill="hold"/>
                                        <p:tgtEl>
                                          <p:spTgt spid="15"/>
                                        </p:tgtEl>
                                        <p:attrNameLst>
                                          <p:attrName>ppt_x</p:attrName>
                                        </p:attrNameLst>
                                      </p:cBhvr>
                                      <p:tavLst>
                                        <p:tav tm="0">
                                          <p:val>
                                            <p:strVal val="#ppt_x"/>
                                          </p:val>
                                        </p:tav>
                                        <p:tav tm="100000">
                                          <p:val>
                                            <p:strVal val="#ppt_x"/>
                                          </p:val>
                                        </p:tav>
                                      </p:tavLst>
                                    </p:anim>
                                    <p:anim calcmode="lin" valueType="num">
                                      <p:cBhvr additive="base">
                                        <p:cTn id="28" dur="1000" fill="hold"/>
                                        <p:tgtEl>
                                          <p:spTgt spid="15"/>
                                        </p:tgtEl>
                                        <p:attrNameLst>
                                          <p:attrName>ppt_y</p:attrName>
                                        </p:attrNameLst>
                                      </p:cBhvr>
                                      <p:tavLst>
                                        <p:tav tm="0">
                                          <p:val>
                                            <p:strVal val="1+#ppt_h/2"/>
                                          </p:val>
                                        </p:tav>
                                        <p:tav tm="100000">
                                          <p:val>
                                            <p:strVal val="#ppt_y"/>
                                          </p:val>
                                        </p:tav>
                                      </p:tavLst>
                                    </p:anim>
                                  </p:childTnLst>
                                </p:cTn>
                              </p:par>
                              <p:par>
                                <p:cTn id="29" presetID="2" presetClass="entr" presetSubtype="4" accel="20000" decel="6000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1000" fill="hold"/>
                                        <p:tgtEl>
                                          <p:spTgt spid="16"/>
                                        </p:tgtEl>
                                        <p:attrNameLst>
                                          <p:attrName>ppt_x</p:attrName>
                                        </p:attrNameLst>
                                      </p:cBhvr>
                                      <p:tavLst>
                                        <p:tav tm="0">
                                          <p:val>
                                            <p:strVal val="#ppt_x"/>
                                          </p:val>
                                        </p:tav>
                                        <p:tav tm="100000">
                                          <p:val>
                                            <p:strVal val="#ppt_x"/>
                                          </p:val>
                                        </p:tav>
                                      </p:tavLst>
                                    </p:anim>
                                    <p:anim calcmode="lin" valueType="num">
                                      <p:cBhvr additive="base">
                                        <p:cTn id="32" dur="10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accel="20000" decel="6000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1000" fill="hold"/>
                                        <p:tgtEl>
                                          <p:spTgt spid="17"/>
                                        </p:tgtEl>
                                        <p:attrNameLst>
                                          <p:attrName>ppt_x</p:attrName>
                                        </p:attrNameLst>
                                      </p:cBhvr>
                                      <p:tavLst>
                                        <p:tav tm="0">
                                          <p:val>
                                            <p:strVal val="#ppt_x"/>
                                          </p:val>
                                        </p:tav>
                                        <p:tav tm="100000">
                                          <p:val>
                                            <p:strVal val="#ppt_x"/>
                                          </p:val>
                                        </p:tav>
                                      </p:tavLst>
                                    </p:anim>
                                    <p:anim calcmode="lin" valueType="num">
                                      <p:cBhvr additive="base">
                                        <p:cTn id="36" dur="10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P spid="26" grpId="0"/>
      <p:bldP spid="15" grpId="0"/>
      <p:bldP spid="16" grpId="0"/>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A2438-6C99-266C-2D7C-86FDF823AC8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F8ABBDF-3747-8705-1924-07418AF13822}"/>
              </a:ext>
            </a:extLst>
          </p:cNvPr>
          <p:cNvSpPr txBox="1"/>
          <p:nvPr/>
        </p:nvSpPr>
        <p:spPr>
          <a:xfrm>
            <a:off x="1674734" y="550685"/>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No Direct Involvement of Users</a:t>
            </a:r>
          </a:p>
        </p:txBody>
      </p:sp>
      <p:sp>
        <p:nvSpPr>
          <p:cNvPr id="24" name="Rectangle 23">
            <a:extLst>
              <a:ext uri="{FF2B5EF4-FFF2-40B4-BE49-F238E27FC236}">
                <a16:creationId xmlns:a16="http://schemas.microsoft.com/office/drawing/2014/main" id="{F661811A-DEE6-3FF2-146E-A7FF2A655DF1}"/>
              </a:ext>
            </a:extLst>
          </p:cNvPr>
          <p:cNvSpPr/>
          <p:nvPr/>
        </p:nvSpPr>
        <p:spPr>
          <a:xfrm>
            <a:off x="1035386" y="1713750"/>
            <a:ext cx="10110060" cy="42088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evaluation methods described in previous topics involved users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 methods described in this topic </a:t>
            </a:r>
            <a:r>
              <a:rPr lang="en-US" sz="2000" dirty="0">
                <a:solidFill>
                  <a:srgbClr val="C00000"/>
                </a:solidFill>
              </a:rPr>
              <a:t>do not directly involve users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These methods are based on an </a:t>
            </a:r>
            <a:r>
              <a:rPr lang="en-US" sz="2000" dirty="0">
                <a:solidFill>
                  <a:srgbClr val="C00000"/>
                </a:solidFill>
              </a:rPr>
              <a:t>understanding of users’ </a:t>
            </a:r>
            <a:r>
              <a:rPr lang="en-US" sz="2000" dirty="0" err="1">
                <a:solidFill>
                  <a:srgbClr val="C00000"/>
                </a:solidFill>
              </a:rPr>
              <a:t>behaviour</a:t>
            </a:r>
            <a:r>
              <a:rPr lang="en-US" sz="2000" dirty="0">
                <a:solidFill>
                  <a:srgbClr val="C00000"/>
                </a:solidFill>
              </a:rPr>
              <a:t> </a:t>
            </a:r>
            <a:r>
              <a:rPr lang="en-US" sz="2000" dirty="0">
                <a:solidFill>
                  <a:schemeClr val="tx1">
                    <a:lumMod val="65000"/>
                    <a:lumOff val="35000"/>
                  </a:schemeClr>
                </a:solidFill>
              </a:rPr>
              <a:t>but users are not directly involved </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Three types of methods </a:t>
            </a:r>
            <a:r>
              <a:rPr lang="en-US" sz="2000" dirty="0">
                <a:solidFill>
                  <a:schemeClr val="tx1">
                    <a:lumMod val="65000"/>
                    <a:lumOff val="35000"/>
                  </a:schemeClr>
                </a:solidFill>
              </a:rPr>
              <a:t>are discussed:</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Knowledge codified in </a:t>
            </a:r>
            <a:r>
              <a:rPr lang="en-US" sz="2000" dirty="0">
                <a:solidFill>
                  <a:srgbClr val="C00000"/>
                </a:solidFill>
              </a:rPr>
              <a:t>heuristics</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Data </a:t>
            </a:r>
            <a:r>
              <a:rPr lang="en-US" sz="2000" dirty="0">
                <a:solidFill>
                  <a:srgbClr val="C00000"/>
                </a:solidFill>
              </a:rPr>
              <a:t>collected remotely</a:t>
            </a:r>
          </a:p>
          <a:p>
            <a:pPr marL="800100" lvl="1" indent="-342900" algn="just">
              <a:lnSpc>
                <a:spcPct val="150000"/>
              </a:lnSpc>
              <a:buFont typeface="Arial" panose="020B0604020202020204" pitchFamily="34" charset="0"/>
              <a:buChar char="•"/>
            </a:pPr>
            <a:r>
              <a:rPr lang="en-US" sz="2000" dirty="0">
                <a:solidFill>
                  <a:schemeClr val="tx1">
                    <a:lumMod val="65000"/>
                    <a:lumOff val="35000"/>
                  </a:schemeClr>
                </a:solidFill>
              </a:rPr>
              <a:t>Models that </a:t>
            </a:r>
            <a:r>
              <a:rPr lang="en-US" sz="2000" dirty="0">
                <a:solidFill>
                  <a:srgbClr val="C00000"/>
                </a:solidFill>
              </a:rPr>
              <a:t>predict people’s performance </a:t>
            </a:r>
          </a:p>
        </p:txBody>
      </p:sp>
      <p:sp>
        <p:nvSpPr>
          <p:cNvPr id="4" name="Slide Number Placeholder 1">
            <a:extLst>
              <a:ext uri="{FF2B5EF4-FFF2-40B4-BE49-F238E27FC236}">
                <a16:creationId xmlns:a16="http://schemas.microsoft.com/office/drawing/2014/main" id="{9B2989F2-FC63-3B7C-8084-C33836BF910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a:t>
            </a:fld>
            <a:endParaRPr lang="en-MY" dirty="0"/>
          </a:p>
        </p:txBody>
      </p:sp>
    </p:spTree>
    <p:extLst>
      <p:ext uri="{BB962C8B-B14F-4D97-AF65-F5344CB8AC3E}">
        <p14:creationId xmlns:p14="http://schemas.microsoft.com/office/powerpoint/2010/main" val="409705801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AED3-1FAE-62B3-01CA-2CFFA96BB7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653D112-937F-C422-88F7-4A329C5BA2C3}"/>
              </a:ext>
            </a:extLst>
          </p:cNvPr>
          <p:cNvSpPr txBox="1"/>
          <p:nvPr/>
        </p:nvSpPr>
        <p:spPr>
          <a:xfrm>
            <a:off x="7258050" y="1782972"/>
            <a:ext cx="4402060" cy="2585323"/>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INSPECTION:</a:t>
            </a:r>
          </a:p>
          <a:p>
            <a:pPr algn="ctr"/>
            <a:r>
              <a:rPr lang="en-US" sz="5400" b="1" kern="0" dirty="0">
                <a:solidFill>
                  <a:srgbClr val="C04C4C"/>
                </a:solidFill>
                <a:latin typeface="+mj-lt"/>
              </a:rPr>
              <a:t>HEURISTIC EVALUATION</a:t>
            </a:r>
          </a:p>
        </p:txBody>
      </p:sp>
      <p:sp>
        <p:nvSpPr>
          <p:cNvPr id="2" name="Slide Number Placeholder 1">
            <a:extLst>
              <a:ext uri="{FF2B5EF4-FFF2-40B4-BE49-F238E27FC236}">
                <a16:creationId xmlns:a16="http://schemas.microsoft.com/office/drawing/2014/main" id="{749C2D68-CEA8-024C-9CDC-21D8AF977321}"/>
              </a:ext>
            </a:extLst>
          </p:cNvPr>
          <p:cNvSpPr>
            <a:spLocks noGrp="1"/>
          </p:cNvSpPr>
          <p:nvPr>
            <p:ph type="sldNum" sz="quarter" idx="11"/>
          </p:nvPr>
        </p:nvSpPr>
        <p:spPr/>
        <p:txBody>
          <a:bodyPr/>
          <a:lstStyle/>
          <a:p>
            <a:fld id="{7737D3DD-0AB3-4F16-99FA-6262B2B4036D}" type="slidenum">
              <a:rPr lang="en-MY" smtClean="0"/>
              <a:t>4</a:t>
            </a:fld>
            <a:endParaRPr lang="en-MY"/>
          </a:p>
        </p:txBody>
      </p:sp>
    </p:spTree>
    <p:extLst>
      <p:ext uri="{BB962C8B-B14F-4D97-AF65-F5344CB8AC3E}">
        <p14:creationId xmlns:p14="http://schemas.microsoft.com/office/powerpoint/2010/main" val="138660269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C022-F6D7-3BAB-687F-222BFCE4775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BCEAEA1-36B2-20A3-7F84-1ABD3FE7C0A2}"/>
              </a:ext>
            </a:extLst>
          </p:cNvPr>
          <p:cNvSpPr txBox="1"/>
          <p:nvPr/>
        </p:nvSpPr>
        <p:spPr>
          <a:xfrm>
            <a:off x="1674734" y="550685"/>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Inspections: Heuristic Evaluation &amp; Walkthroughs</a:t>
            </a:r>
          </a:p>
        </p:txBody>
      </p:sp>
      <p:sp>
        <p:nvSpPr>
          <p:cNvPr id="24" name="Rectangle 23">
            <a:extLst>
              <a:ext uri="{FF2B5EF4-FFF2-40B4-BE49-F238E27FC236}">
                <a16:creationId xmlns:a16="http://schemas.microsoft.com/office/drawing/2014/main" id="{E4788BFC-5C9D-DBFB-7CD2-D068478F1DEB}"/>
              </a:ext>
            </a:extLst>
          </p:cNvPr>
          <p:cNvSpPr/>
          <p:nvPr/>
        </p:nvSpPr>
        <p:spPr>
          <a:xfrm>
            <a:off x="1035386" y="2208021"/>
            <a:ext cx="10110060" cy="32855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Several kinds</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Experts or researchers </a:t>
            </a:r>
            <a:r>
              <a:rPr lang="en-US" sz="2000" dirty="0">
                <a:solidFill>
                  <a:schemeClr val="tx1">
                    <a:lumMod val="65000"/>
                    <a:lumOff val="35000"/>
                  </a:schemeClr>
                </a:solidFill>
              </a:rPr>
              <a:t>use </a:t>
            </a:r>
            <a:r>
              <a:rPr lang="en-US" sz="2000" dirty="0">
                <a:solidFill>
                  <a:srgbClr val="C00000"/>
                </a:solidFill>
              </a:rPr>
              <a:t>their knowledge of people and technology </a:t>
            </a:r>
            <a:r>
              <a:rPr lang="en-US" sz="2000" dirty="0">
                <a:solidFill>
                  <a:schemeClr val="tx1">
                    <a:lumMod val="65000"/>
                    <a:lumOff val="35000"/>
                  </a:schemeClr>
                </a:solidFill>
              </a:rPr>
              <a:t>to </a:t>
            </a:r>
            <a:r>
              <a:rPr lang="en-US" sz="2000" dirty="0">
                <a:solidFill>
                  <a:srgbClr val="C00000"/>
                </a:solidFill>
              </a:rPr>
              <a:t>review software usability</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Critiques</a:t>
            </a:r>
            <a:r>
              <a:rPr lang="en-US" sz="2000" dirty="0">
                <a:solidFill>
                  <a:schemeClr val="tx1">
                    <a:lumMod val="65000"/>
                    <a:lumOff val="35000"/>
                  </a:schemeClr>
                </a:solidFill>
              </a:rPr>
              <a:t> can be </a:t>
            </a:r>
            <a:r>
              <a:rPr lang="en-US" sz="2000" dirty="0">
                <a:solidFill>
                  <a:srgbClr val="C00000"/>
                </a:solidFill>
              </a:rPr>
              <a:t>formal or informal</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Heuristic evaluation </a:t>
            </a:r>
            <a:r>
              <a:rPr lang="en-US" sz="2000" dirty="0">
                <a:solidFill>
                  <a:schemeClr val="tx1">
                    <a:lumMod val="65000"/>
                    <a:lumOff val="35000"/>
                  </a:schemeClr>
                </a:solidFill>
              </a:rPr>
              <a:t>is a review guided by </a:t>
            </a:r>
            <a:r>
              <a:rPr lang="en-US" sz="2000" dirty="0">
                <a:solidFill>
                  <a:srgbClr val="C00000"/>
                </a:solidFill>
              </a:rPr>
              <a:t>a set of heuristics</a:t>
            </a:r>
          </a:p>
          <a:p>
            <a:pPr marL="342900" indent="-342900" algn="just">
              <a:lnSpc>
                <a:spcPct val="150000"/>
              </a:lnSpc>
              <a:buFont typeface="Arial" panose="020B0604020202020204" pitchFamily="34" charset="0"/>
              <a:buChar char="•"/>
            </a:pPr>
            <a:r>
              <a:rPr lang="en-US" sz="2000" b="1" dirty="0">
                <a:solidFill>
                  <a:schemeClr val="tx1">
                    <a:lumMod val="65000"/>
                    <a:lumOff val="35000"/>
                  </a:schemeClr>
                </a:solidFill>
              </a:rPr>
              <a:t>Walkthroughs</a:t>
            </a:r>
            <a:r>
              <a:rPr lang="en-US" sz="2000" dirty="0">
                <a:solidFill>
                  <a:schemeClr val="tx1">
                    <a:lumMod val="65000"/>
                    <a:lumOff val="35000"/>
                  </a:schemeClr>
                </a:solidFill>
              </a:rPr>
              <a:t> involve stepping through </a:t>
            </a:r>
            <a:r>
              <a:rPr lang="en-US" sz="2000" dirty="0">
                <a:solidFill>
                  <a:srgbClr val="C00000"/>
                </a:solidFill>
              </a:rPr>
              <a:t>a pre-planned scenario </a:t>
            </a:r>
            <a:r>
              <a:rPr lang="en-US" sz="2000" dirty="0">
                <a:solidFill>
                  <a:schemeClr val="tx1">
                    <a:lumMod val="65000"/>
                    <a:lumOff val="35000"/>
                  </a:schemeClr>
                </a:solidFill>
              </a:rPr>
              <a:t>noting potential problems</a:t>
            </a:r>
          </a:p>
        </p:txBody>
      </p:sp>
      <p:sp>
        <p:nvSpPr>
          <p:cNvPr id="4" name="Slide Number Placeholder 1">
            <a:extLst>
              <a:ext uri="{FF2B5EF4-FFF2-40B4-BE49-F238E27FC236}">
                <a16:creationId xmlns:a16="http://schemas.microsoft.com/office/drawing/2014/main" id="{D0522516-FCAB-27C3-375C-CEC6A2934E0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5</a:t>
            </a:fld>
            <a:endParaRPr lang="en-MY" dirty="0"/>
          </a:p>
        </p:txBody>
      </p:sp>
    </p:spTree>
    <p:extLst>
      <p:ext uri="{BB962C8B-B14F-4D97-AF65-F5344CB8AC3E}">
        <p14:creationId xmlns:p14="http://schemas.microsoft.com/office/powerpoint/2010/main" val="126960887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767B-11C6-C846-7B67-0E86CC8FCF8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D114659-0B5E-2238-DC51-14D20D6FA6DE}"/>
              </a:ext>
            </a:extLst>
          </p:cNvPr>
          <p:cNvSpPr txBox="1"/>
          <p:nvPr/>
        </p:nvSpPr>
        <p:spPr>
          <a:xfrm>
            <a:off x="1674734" y="550685"/>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Heuristic Evaluation</a:t>
            </a:r>
          </a:p>
        </p:txBody>
      </p:sp>
      <p:sp>
        <p:nvSpPr>
          <p:cNvPr id="24" name="Rectangle 23">
            <a:extLst>
              <a:ext uri="{FF2B5EF4-FFF2-40B4-BE49-F238E27FC236}">
                <a16:creationId xmlns:a16="http://schemas.microsoft.com/office/drawing/2014/main" id="{794A0D53-F823-9FAE-38E6-7B213E013E65}"/>
              </a:ext>
            </a:extLst>
          </p:cNvPr>
          <p:cNvSpPr/>
          <p:nvPr/>
        </p:nvSpPr>
        <p:spPr>
          <a:xfrm>
            <a:off x="1035386" y="1320126"/>
            <a:ext cx="10110060" cy="4901342"/>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Developed by </a:t>
            </a:r>
            <a:r>
              <a:rPr lang="en-US" sz="2000" dirty="0">
                <a:solidFill>
                  <a:srgbClr val="C00000"/>
                </a:solidFill>
              </a:rPr>
              <a:t>Jacob Nielsen</a:t>
            </a:r>
            <a:r>
              <a:rPr lang="en-US" sz="2000" dirty="0">
                <a:solidFill>
                  <a:schemeClr val="tx1">
                    <a:lumMod val="65000"/>
                    <a:lumOff val="35000"/>
                  </a:schemeClr>
                </a:solidFill>
              </a:rPr>
              <a:t> in the early 1990s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Based on </a:t>
            </a:r>
            <a:r>
              <a:rPr lang="en-US" sz="2000" dirty="0">
                <a:solidFill>
                  <a:srgbClr val="C00000"/>
                </a:solidFill>
              </a:rPr>
              <a:t>heuristics distilled from an empirical analysis</a:t>
            </a:r>
            <a:r>
              <a:rPr lang="en-US" sz="2000" dirty="0">
                <a:solidFill>
                  <a:schemeClr val="tx1">
                    <a:lumMod val="65000"/>
                    <a:lumOff val="35000"/>
                  </a:schemeClr>
                </a:solidFill>
              </a:rPr>
              <a:t> of 249 usability problems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These heuristics have been </a:t>
            </a:r>
            <a:r>
              <a:rPr lang="en-US" sz="2000" dirty="0">
                <a:solidFill>
                  <a:srgbClr val="C00000"/>
                </a:solidFill>
              </a:rPr>
              <a:t>revised for current technology </a:t>
            </a:r>
            <a:r>
              <a:rPr lang="en-US" sz="2000" dirty="0">
                <a:solidFill>
                  <a:schemeClr val="tx1">
                    <a:lumMod val="65000"/>
                    <a:lumOff val="35000"/>
                  </a:schemeClr>
                </a:solidFill>
              </a:rPr>
              <a:t>by Nielsen and others for:</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Mobile devices</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Wearables</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Virtual worlds</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Social media</a:t>
            </a:r>
          </a:p>
          <a:p>
            <a:pPr marL="800100" lvl="1" indent="-342900" algn="just">
              <a:lnSpc>
                <a:spcPct val="150000"/>
              </a:lnSpc>
              <a:buFont typeface="Arial" panose="020B0604020202020204" pitchFamily="34" charset="0"/>
              <a:buChar char="•"/>
            </a:pPr>
            <a:r>
              <a:rPr lang="en-US" dirty="0">
                <a:solidFill>
                  <a:schemeClr val="tx1">
                    <a:lumMod val="65000"/>
                    <a:lumOff val="35000"/>
                  </a:schemeClr>
                </a:solidFill>
              </a:rPr>
              <a:t>Other types of systems</a:t>
            </a:r>
          </a:p>
          <a:p>
            <a:pPr marL="342900" indent="-342900" algn="just">
              <a:lnSpc>
                <a:spcPct val="150000"/>
              </a:lnSpc>
              <a:buFont typeface="Arial" panose="020B0604020202020204" pitchFamily="34" charset="0"/>
              <a:buChar char="•"/>
            </a:pPr>
            <a:r>
              <a:rPr lang="en-US" sz="2000" dirty="0">
                <a:solidFill>
                  <a:srgbClr val="C00000"/>
                </a:solidFill>
              </a:rPr>
              <a:t>Design guidelines </a:t>
            </a:r>
            <a:r>
              <a:rPr lang="en-US" sz="2000" dirty="0">
                <a:solidFill>
                  <a:schemeClr val="tx1">
                    <a:lumMod val="65000"/>
                    <a:lumOff val="35000"/>
                  </a:schemeClr>
                </a:solidFill>
              </a:rPr>
              <a:t>often form a basis </a:t>
            </a:r>
            <a:r>
              <a:rPr lang="en-US" sz="2000" dirty="0">
                <a:solidFill>
                  <a:srgbClr val="C00000"/>
                </a:solidFill>
              </a:rPr>
              <a:t>for developing heuristics</a:t>
            </a:r>
          </a:p>
        </p:txBody>
      </p:sp>
      <p:sp>
        <p:nvSpPr>
          <p:cNvPr id="4" name="Slide Number Placeholder 1">
            <a:extLst>
              <a:ext uri="{FF2B5EF4-FFF2-40B4-BE49-F238E27FC236}">
                <a16:creationId xmlns:a16="http://schemas.microsoft.com/office/drawing/2014/main" id="{9143F2EF-E63F-5173-EC08-061E483D8196}"/>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6</a:t>
            </a:fld>
            <a:endParaRPr lang="en-MY" dirty="0"/>
          </a:p>
        </p:txBody>
      </p:sp>
    </p:spTree>
    <p:extLst>
      <p:ext uri="{BB962C8B-B14F-4D97-AF65-F5344CB8AC3E}">
        <p14:creationId xmlns:p14="http://schemas.microsoft.com/office/powerpoint/2010/main" val="314505787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26D7B-FE1B-72E5-746A-5F8BBE5CFF4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1B2575D-6252-F7F4-E698-3DBD9B2138A8}"/>
              </a:ext>
            </a:extLst>
          </p:cNvPr>
          <p:cNvSpPr txBox="1"/>
          <p:nvPr/>
        </p:nvSpPr>
        <p:spPr>
          <a:xfrm>
            <a:off x="1674734" y="465150"/>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Revised Version (2014) of Nielsen’s Original Heuristics</a:t>
            </a:r>
          </a:p>
        </p:txBody>
      </p:sp>
      <p:sp>
        <p:nvSpPr>
          <p:cNvPr id="24" name="Rectangle 23">
            <a:extLst>
              <a:ext uri="{FF2B5EF4-FFF2-40B4-BE49-F238E27FC236}">
                <a16:creationId xmlns:a16="http://schemas.microsoft.com/office/drawing/2014/main" id="{BD9823E3-951F-4C61-EEC4-8895E0AC8BD1}"/>
              </a:ext>
            </a:extLst>
          </p:cNvPr>
          <p:cNvSpPr/>
          <p:nvPr/>
        </p:nvSpPr>
        <p:spPr>
          <a:xfrm>
            <a:off x="2669333" y="1798411"/>
            <a:ext cx="7836765" cy="467050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Visibility of system status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Match between system and real world</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User control and freedom</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Consistency and standards</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Error prevention</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Recognition rather than recall</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Flexibility and efficiency</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Aesthestic and minimalist design</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Support error recovery</a:t>
            </a: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Provide help and documentation</a:t>
            </a:r>
          </a:p>
        </p:txBody>
      </p:sp>
      <p:sp>
        <p:nvSpPr>
          <p:cNvPr id="4" name="Slide Number Placeholder 1">
            <a:extLst>
              <a:ext uri="{FF2B5EF4-FFF2-40B4-BE49-F238E27FC236}">
                <a16:creationId xmlns:a16="http://schemas.microsoft.com/office/drawing/2014/main" id="{5BEB27B7-07F6-2655-A8FE-12B1ACA2C45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7</a:t>
            </a:fld>
            <a:endParaRPr lang="en-MY" dirty="0"/>
          </a:p>
        </p:txBody>
      </p:sp>
    </p:spTree>
    <p:extLst>
      <p:ext uri="{BB962C8B-B14F-4D97-AF65-F5344CB8AC3E}">
        <p14:creationId xmlns:p14="http://schemas.microsoft.com/office/powerpoint/2010/main" val="336453042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CBB2A-70FA-944F-6139-A6B79ECD5CC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A5982DD-5229-0A3C-FAC7-EA278FD929CD}"/>
              </a:ext>
            </a:extLst>
          </p:cNvPr>
          <p:cNvSpPr txBox="1"/>
          <p:nvPr/>
        </p:nvSpPr>
        <p:spPr>
          <a:xfrm>
            <a:off x="1309816" y="479685"/>
            <a:ext cx="9885406"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No of Evaluators and Problems</a:t>
            </a:r>
          </a:p>
        </p:txBody>
      </p:sp>
      <p:sp>
        <p:nvSpPr>
          <p:cNvPr id="5" name="Slide Number Placeholder 1">
            <a:extLst>
              <a:ext uri="{FF2B5EF4-FFF2-40B4-BE49-F238E27FC236}">
                <a16:creationId xmlns:a16="http://schemas.microsoft.com/office/drawing/2014/main" id="{631507DB-F948-6F77-0569-74C534039F7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8</a:t>
            </a:fld>
            <a:endParaRPr lang="en-MY" dirty="0"/>
          </a:p>
        </p:txBody>
      </p:sp>
      <p:pic>
        <p:nvPicPr>
          <p:cNvPr id="2" name="Picture 1" descr="Graphical representation of the proportion of usability problems in an interface found in heuristic evaluation using various numbers of evaluators.">
            <a:extLst>
              <a:ext uri="{FF2B5EF4-FFF2-40B4-BE49-F238E27FC236}">
                <a16:creationId xmlns:a16="http://schemas.microsoft.com/office/drawing/2014/main" id="{EFED96FD-F901-5CD9-C3B7-83CAA5D6B2A1}"/>
              </a:ext>
            </a:extLst>
          </p:cNvPr>
          <p:cNvPicPr>
            <a:picLocks noChangeAspect="1"/>
          </p:cNvPicPr>
          <p:nvPr/>
        </p:nvPicPr>
        <p:blipFill>
          <a:blip r:embed="rId2"/>
          <a:stretch>
            <a:fillRect/>
          </a:stretch>
        </p:blipFill>
        <p:spPr>
          <a:xfrm>
            <a:off x="3314607" y="1483505"/>
            <a:ext cx="5551617" cy="3317148"/>
          </a:xfrm>
          <a:prstGeom prst="rect">
            <a:avLst/>
          </a:prstGeom>
        </p:spPr>
      </p:pic>
      <p:sp>
        <p:nvSpPr>
          <p:cNvPr id="3" name="TextBox 2">
            <a:extLst>
              <a:ext uri="{FF2B5EF4-FFF2-40B4-BE49-F238E27FC236}">
                <a16:creationId xmlns:a16="http://schemas.microsoft.com/office/drawing/2014/main" id="{BCBBD325-3B3C-15A7-A9D0-2C5875669471}"/>
              </a:ext>
              <a:ext uri="{C183D7F6-B498-43B3-948B-1728B52AA6E4}">
                <adec:decorative xmlns:adec="http://schemas.microsoft.com/office/drawing/2017/decorative" val="0"/>
              </a:ext>
            </a:extLst>
          </p:cNvPr>
          <p:cNvSpPr txBox="1"/>
          <p:nvPr/>
        </p:nvSpPr>
        <p:spPr>
          <a:xfrm>
            <a:off x="2666539" y="4893370"/>
            <a:ext cx="8528683" cy="1015663"/>
          </a:xfrm>
          <a:prstGeom prst="rect">
            <a:avLst/>
          </a:prstGeom>
          <a:noFill/>
        </p:spPr>
        <p:txBody>
          <a:bodyPr wrap="square" rtlCol="0">
            <a:spAutoFit/>
          </a:bodyPr>
          <a:lstStyle/>
          <a:p>
            <a:r>
              <a:rPr lang="en-US" sz="2000" dirty="0">
                <a:solidFill>
                  <a:schemeClr val="tx1">
                    <a:lumMod val="65000"/>
                    <a:lumOff val="35000"/>
                  </a:schemeClr>
                </a:solidFill>
              </a:rPr>
              <a:t>Curve showing the proportion of usability problems in an interface found by heuristic evaluation using different numbers of evaluators</a:t>
            </a:r>
          </a:p>
        </p:txBody>
      </p:sp>
      <p:sp>
        <p:nvSpPr>
          <p:cNvPr id="4" name="TextBox 3">
            <a:extLst>
              <a:ext uri="{FF2B5EF4-FFF2-40B4-BE49-F238E27FC236}">
                <a16:creationId xmlns:a16="http://schemas.microsoft.com/office/drawing/2014/main" id="{99CF149E-750D-B10C-55F1-C77F25F12791}"/>
              </a:ext>
              <a:ext uri="{C183D7F6-B498-43B3-948B-1728B52AA6E4}">
                <adec:decorative xmlns:adec="http://schemas.microsoft.com/office/drawing/2017/decorative" val="0"/>
              </a:ext>
            </a:extLst>
          </p:cNvPr>
          <p:cNvSpPr txBox="1"/>
          <p:nvPr/>
        </p:nvSpPr>
        <p:spPr>
          <a:xfrm>
            <a:off x="2666539" y="5909033"/>
            <a:ext cx="5259773" cy="338554"/>
          </a:xfrm>
          <a:prstGeom prst="rect">
            <a:avLst/>
          </a:prstGeom>
          <a:noFill/>
        </p:spPr>
        <p:txBody>
          <a:bodyPr wrap="none" rtlCol="0">
            <a:spAutoFit/>
          </a:bodyPr>
          <a:lstStyle/>
          <a:p>
            <a:r>
              <a:rPr lang="en-US" sz="1600" dirty="0">
                <a:solidFill>
                  <a:schemeClr val="tx1">
                    <a:lumMod val="65000"/>
                    <a:lumOff val="35000"/>
                  </a:schemeClr>
                </a:solidFill>
              </a:rPr>
              <a:t>Source: Nielsen and Mack, 1994. Courtesy of </a:t>
            </a:r>
            <a:r>
              <a:rPr lang="en-US" sz="1600" dirty="0">
                <a:solidFill>
                  <a:schemeClr val="tx1">
                    <a:lumMod val="65000"/>
                    <a:lumOff val="35000"/>
                  </a:schemeClr>
                </a:solidFill>
                <a:hlinkClick r:id="rId3">
                  <a:extLst>
                    <a:ext uri="{A12FA001-AC4F-418D-AE19-62706E023703}">
                      <ahyp:hlinkClr xmlns:ahyp="http://schemas.microsoft.com/office/drawing/2018/hyperlinkcolor" val="tx"/>
                    </a:ext>
                  </a:extLst>
                </a:hlinkClick>
              </a:rPr>
              <a:t>Wiley</a:t>
            </a:r>
            <a:r>
              <a:rPr lang="en-US" sz="1600" dirty="0">
                <a:solidFill>
                  <a:schemeClr val="tx1">
                    <a:lumMod val="65000"/>
                    <a:lumOff val="35000"/>
                  </a:schemeClr>
                </a:solidFill>
              </a:rPr>
              <a:t>.</a:t>
            </a:r>
          </a:p>
        </p:txBody>
      </p:sp>
    </p:spTree>
    <p:extLst>
      <p:ext uri="{BB962C8B-B14F-4D97-AF65-F5344CB8AC3E}">
        <p14:creationId xmlns:p14="http://schemas.microsoft.com/office/powerpoint/2010/main" val="33093895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80E74-3AAB-B4F0-D197-F77EEED3551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BEE62AF-2BEE-9AE5-F73D-8E648F63B9AB}"/>
              </a:ext>
            </a:extLst>
          </p:cNvPr>
          <p:cNvSpPr txBox="1"/>
          <p:nvPr/>
        </p:nvSpPr>
        <p:spPr>
          <a:xfrm>
            <a:off x="1674734" y="550685"/>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No of Evaluators</a:t>
            </a:r>
          </a:p>
        </p:txBody>
      </p:sp>
      <p:sp>
        <p:nvSpPr>
          <p:cNvPr id="24" name="Rectangle 23">
            <a:extLst>
              <a:ext uri="{FF2B5EF4-FFF2-40B4-BE49-F238E27FC236}">
                <a16:creationId xmlns:a16="http://schemas.microsoft.com/office/drawing/2014/main" id="{245F55C1-1AF1-17D4-06F0-28AEA577A9CA}"/>
              </a:ext>
            </a:extLst>
          </p:cNvPr>
          <p:cNvSpPr/>
          <p:nvPr/>
        </p:nvSpPr>
        <p:spPr>
          <a:xfrm>
            <a:off x="1035386" y="1786242"/>
            <a:ext cx="10110060" cy="3285515"/>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Nielsen suggests that on </a:t>
            </a:r>
            <a:r>
              <a:rPr lang="en-US" sz="2000" dirty="0">
                <a:solidFill>
                  <a:srgbClr val="C00000"/>
                </a:solidFill>
              </a:rPr>
              <a:t>average 5 evaluators identify 75-80 % of usability problems</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This often depends on </a:t>
            </a:r>
            <a:r>
              <a:rPr lang="en-US" sz="2000" dirty="0">
                <a:solidFill>
                  <a:srgbClr val="C00000"/>
                </a:solidFill>
              </a:rPr>
              <a:t>the context or type of application </a:t>
            </a:r>
            <a:r>
              <a:rPr lang="en-US" sz="2000" dirty="0">
                <a:solidFill>
                  <a:schemeClr val="tx1">
                    <a:lumMod val="65000"/>
                    <a:lumOff val="35000"/>
                  </a:schemeClr>
                </a:solidFill>
              </a:rPr>
              <a:t>(</a:t>
            </a:r>
            <a:r>
              <a:rPr lang="en-US" sz="2000" dirty="0" err="1">
                <a:solidFill>
                  <a:schemeClr val="tx1">
                    <a:lumMod val="65000"/>
                    <a:lumOff val="35000"/>
                  </a:schemeClr>
                </a:solidFill>
              </a:rPr>
              <a:t>Cockton</a:t>
            </a:r>
            <a:r>
              <a:rPr lang="en-US" sz="2000" dirty="0">
                <a:solidFill>
                  <a:schemeClr val="tx1">
                    <a:lumMod val="65000"/>
                    <a:lumOff val="35000"/>
                  </a:schemeClr>
                </a:solidFill>
              </a:rPr>
              <a:t> &amp; </a:t>
            </a:r>
            <a:r>
              <a:rPr lang="en-US" sz="2000" dirty="0" err="1">
                <a:solidFill>
                  <a:schemeClr val="tx1">
                    <a:lumMod val="65000"/>
                    <a:lumOff val="35000"/>
                  </a:schemeClr>
                </a:solidFill>
              </a:rPr>
              <a:t>Woolrych</a:t>
            </a:r>
            <a:r>
              <a:rPr lang="en-US" sz="2000" dirty="0">
                <a:solidFill>
                  <a:schemeClr val="tx1">
                    <a:lumMod val="65000"/>
                    <a:lumOff val="35000"/>
                  </a:schemeClr>
                </a:solidFill>
              </a:rPr>
              <a:t>, 2001)</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Also depends on </a:t>
            </a:r>
            <a:r>
              <a:rPr lang="en-US" sz="2000" dirty="0">
                <a:solidFill>
                  <a:srgbClr val="C00000"/>
                </a:solidFill>
              </a:rPr>
              <a:t>the skills and experience of the evaluators</a:t>
            </a:r>
          </a:p>
        </p:txBody>
      </p:sp>
      <p:sp>
        <p:nvSpPr>
          <p:cNvPr id="4" name="Slide Number Placeholder 1">
            <a:extLst>
              <a:ext uri="{FF2B5EF4-FFF2-40B4-BE49-F238E27FC236}">
                <a16:creationId xmlns:a16="http://schemas.microsoft.com/office/drawing/2014/main" id="{07EC591A-3821-EE66-E670-AF3C944BDED4}"/>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9</a:t>
            </a:fld>
            <a:endParaRPr lang="en-MY" dirty="0"/>
          </a:p>
        </p:txBody>
      </p:sp>
    </p:spTree>
    <p:extLst>
      <p:ext uri="{BB962C8B-B14F-4D97-AF65-F5344CB8AC3E}">
        <p14:creationId xmlns:p14="http://schemas.microsoft.com/office/powerpoint/2010/main" val="20390131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29E77-72BF-2C72-81F4-8E727F2EE1D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3539B4D-DA9E-2917-D311-9DA69E917C34}"/>
              </a:ext>
            </a:extLst>
          </p:cNvPr>
          <p:cNvSpPr txBox="1"/>
          <p:nvPr/>
        </p:nvSpPr>
        <p:spPr>
          <a:xfrm>
            <a:off x="1674734" y="550685"/>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Heuristics for Websites Focus on Key Criteria</a:t>
            </a:r>
          </a:p>
        </p:txBody>
      </p:sp>
      <p:sp>
        <p:nvSpPr>
          <p:cNvPr id="24" name="Rectangle 23">
            <a:extLst>
              <a:ext uri="{FF2B5EF4-FFF2-40B4-BE49-F238E27FC236}">
                <a16:creationId xmlns:a16="http://schemas.microsoft.com/office/drawing/2014/main" id="{5E1BA8E2-EB9C-CD01-AF29-E86262CE8468}"/>
              </a:ext>
            </a:extLst>
          </p:cNvPr>
          <p:cNvSpPr/>
          <p:nvPr/>
        </p:nvSpPr>
        <p:spPr>
          <a:xfrm>
            <a:off x="1035386" y="1997235"/>
            <a:ext cx="10110060" cy="4208844"/>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chemeClr val="tx1">
                    <a:lumMod val="65000"/>
                    <a:lumOff val="35000"/>
                  </a:schemeClr>
                </a:solidFill>
              </a:rPr>
              <a:t>Ensure website is designed for </a:t>
            </a:r>
            <a:r>
              <a:rPr lang="en-US" sz="2000" dirty="0">
                <a:solidFill>
                  <a:srgbClr val="C00000"/>
                </a:solidFill>
              </a:rPr>
              <a:t>people who will use it</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rgbClr val="C00000"/>
                </a:solidFill>
              </a:rPr>
              <a:t>Clarity</a:t>
            </a:r>
            <a:r>
              <a:rPr lang="en-US" sz="2000" dirty="0">
                <a:solidFill>
                  <a:schemeClr val="tx1">
                    <a:lumMod val="65000"/>
                    <a:lumOff val="35000"/>
                  </a:schemeClr>
                </a:solidFill>
              </a:rPr>
              <a:t> - avoid jargon, be concise &amp; clear</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err="1">
                <a:solidFill>
                  <a:srgbClr val="C00000"/>
                </a:solidFill>
              </a:rPr>
              <a:t>Minimise</a:t>
            </a:r>
            <a:r>
              <a:rPr lang="en-US" sz="2000" dirty="0">
                <a:solidFill>
                  <a:schemeClr val="tx1">
                    <a:lumMod val="65000"/>
                    <a:lumOff val="35000"/>
                  </a:schemeClr>
                </a:solidFill>
              </a:rPr>
              <a:t> unnecessary </a:t>
            </a:r>
            <a:r>
              <a:rPr lang="en-US" sz="2000" dirty="0">
                <a:solidFill>
                  <a:srgbClr val="C00000"/>
                </a:solidFill>
              </a:rPr>
              <a:t>complexity &amp; reduce cognitive load</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rgbClr val="C00000"/>
                </a:solidFill>
              </a:rPr>
              <a:t>Provide users with context </a:t>
            </a:r>
            <a:r>
              <a:rPr lang="en-US" sz="2000" dirty="0">
                <a:solidFill>
                  <a:schemeClr val="tx1">
                    <a:lumMod val="65000"/>
                    <a:lumOff val="35000"/>
                  </a:schemeClr>
                </a:solidFill>
              </a:rPr>
              <a:t>– clear name &amp; statement of purpose</a:t>
            </a:r>
          </a:p>
          <a:p>
            <a:pPr marL="342900" indent="-3429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342900" indent="-342900" algn="just">
              <a:lnSpc>
                <a:spcPct val="150000"/>
              </a:lnSpc>
              <a:buFont typeface="Arial" panose="020B0604020202020204" pitchFamily="34" charset="0"/>
              <a:buChar char="•"/>
            </a:pPr>
            <a:r>
              <a:rPr lang="en-US" sz="2000" dirty="0">
                <a:solidFill>
                  <a:srgbClr val="C00000"/>
                </a:solidFill>
              </a:rPr>
              <a:t>Promote</a:t>
            </a:r>
            <a:r>
              <a:rPr lang="en-US" sz="2000" dirty="0">
                <a:solidFill>
                  <a:schemeClr val="tx1">
                    <a:lumMod val="65000"/>
                    <a:lumOff val="35000"/>
                  </a:schemeClr>
                </a:solidFill>
              </a:rPr>
              <a:t> positive &amp; pleasurable </a:t>
            </a:r>
            <a:r>
              <a:rPr lang="en-US" sz="2000" dirty="0">
                <a:solidFill>
                  <a:srgbClr val="C00000"/>
                </a:solidFill>
              </a:rPr>
              <a:t>experience</a:t>
            </a:r>
          </a:p>
        </p:txBody>
      </p:sp>
      <p:sp>
        <p:nvSpPr>
          <p:cNvPr id="4" name="Slide Number Placeholder 1">
            <a:extLst>
              <a:ext uri="{FF2B5EF4-FFF2-40B4-BE49-F238E27FC236}">
                <a16:creationId xmlns:a16="http://schemas.microsoft.com/office/drawing/2014/main" id="{C26E56D5-02E1-F394-E221-F784EC8922B4}"/>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10</a:t>
            </a:fld>
            <a:endParaRPr lang="en-MY" dirty="0"/>
          </a:p>
        </p:txBody>
      </p:sp>
    </p:spTree>
    <p:extLst>
      <p:ext uri="{BB962C8B-B14F-4D97-AF65-F5344CB8AC3E}">
        <p14:creationId xmlns:p14="http://schemas.microsoft.com/office/powerpoint/2010/main" val="1590921147"/>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A6553-8C9E-9CED-56E2-241947E5CBA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D021646-395E-806A-EE92-D5A797D6BBC2}"/>
              </a:ext>
            </a:extLst>
          </p:cNvPr>
          <p:cNvSpPr txBox="1"/>
          <p:nvPr/>
        </p:nvSpPr>
        <p:spPr>
          <a:xfrm>
            <a:off x="1674734" y="550685"/>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Heuristics for UI Design based on Gestalt Principles</a:t>
            </a:r>
          </a:p>
        </p:txBody>
      </p:sp>
      <p:sp>
        <p:nvSpPr>
          <p:cNvPr id="4" name="Slide Number Placeholder 1">
            <a:extLst>
              <a:ext uri="{FF2B5EF4-FFF2-40B4-BE49-F238E27FC236}">
                <a16:creationId xmlns:a16="http://schemas.microsoft.com/office/drawing/2014/main" id="{3820A3B0-27B4-3B93-751A-D6D3EE1DD8D3}"/>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11</a:t>
            </a:fld>
            <a:endParaRPr lang="en-MY" dirty="0"/>
          </a:p>
        </p:txBody>
      </p:sp>
      <p:graphicFrame>
        <p:nvGraphicFramePr>
          <p:cNvPr id="2" name="Diagram 1">
            <a:extLst>
              <a:ext uri="{FF2B5EF4-FFF2-40B4-BE49-F238E27FC236}">
                <a16:creationId xmlns:a16="http://schemas.microsoft.com/office/drawing/2014/main" id="{634DCBBD-5161-E135-15D9-380174D0FF91}"/>
              </a:ext>
            </a:extLst>
          </p:cNvPr>
          <p:cNvGraphicFramePr/>
          <p:nvPr>
            <p:extLst>
              <p:ext uri="{D42A27DB-BD31-4B8C-83A1-F6EECF244321}">
                <p14:modId xmlns:p14="http://schemas.microsoft.com/office/powerpoint/2010/main" val="1097730384"/>
              </p:ext>
            </p:extLst>
          </p:nvPr>
        </p:nvGraphicFramePr>
        <p:xfrm>
          <a:off x="3248168" y="2206295"/>
          <a:ext cx="5355986" cy="40176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493166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A2DF3-9F35-DAA3-BEBD-36E516DB2AB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EB12105-6CD9-4EF7-E897-EE4223B06FE8}"/>
              </a:ext>
            </a:extLst>
          </p:cNvPr>
          <p:cNvSpPr txBox="1"/>
          <p:nvPr/>
        </p:nvSpPr>
        <p:spPr>
          <a:xfrm>
            <a:off x="1319279" y="575398"/>
            <a:ext cx="9542271"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Heuristics for Ambient Displays</a:t>
            </a:r>
          </a:p>
        </p:txBody>
      </p:sp>
      <p:sp>
        <p:nvSpPr>
          <p:cNvPr id="4" name="Slide Number Placeholder 1">
            <a:extLst>
              <a:ext uri="{FF2B5EF4-FFF2-40B4-BE49-F238E27FC236}">
                <a16:creationId xmlns:a16="http://schemas.microsoft.com/office/drawing/2014/main" id="{897C75F9-1B72-FB1F-AFBA-EBF2FE4C5985}"/>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12</a:t>
            </a:fld>
            <a:endParaRPr lang="en-MY" dirty="0"/>
          </a:p>
        </p:txBody>
      </p:sp>
      <p:pic>
        <p:nvPicPr>
          <p:cNvPr id="2" name="Google Shape;195;gb4c48904d8_0_41">
            <a:extLst>
              <a:ext uri="{FF2B5EF4-FFF2-40B4-BE49-F238E27FC236}">
                <a16:creationId xmlns:a16="http://schemas.microsoft.com/office/drawing/2014/main" id="{C8B0D6A8-20B9-662D-5A50-EE2CAF2C1E8F}"/>
              </a:ext>
            </a:extLst>
          </p:cNvPr>
          <p:cNvPicPr preferRelativeResize="0"/>
          <p:nvPr/>
        </p:nvPicPr>
        <p:blipFill rotWithShape="1">
          <a:blip r:embed="rId2">
            <a:alphaModFix/>
          </a:blip>
          <a:srcRect/>
          <a:stretch/>
        </p:blipFill>
        <p:spPr>
          <a:xfrm>
            <a:off x="2143378" y="1586930"/>
            <a:ext cx="7894071" cy="4603999"/>
          </a:xfrm>
          <a:prstGeom prst="rect">
            <a:avLst/>
          </a:prstGeom>
          <a:noFill/>
          <a:ln>
            <a:noFill/>
          </a:ln>
        </p:spPr>
      </p:pic>
    </p:spTree>
    <p:extLst>
      <p:ext uri="{BB962C8B-B14F-4D97-AF65-F5344CB8AC3E}">
        <p14:creationId xmlns:p14="http://schemas.microsoft.com/office/powerpoint/2010/main" val="330841675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83DE8-E2CA-AA7A-86E8-1FC861CB0A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B6E813C8-C9D7-C04A-54A9-EC2694A106E9}"/>
              </a:ext>
            </a:extLst>
          </p:cNvPr>
          <p:cNvSpPr txBox="1"/>
          <p:nvPr/>
        </p:nvSpPr>
        <p:spPr>
          <a:xfrm>
            <a:off x="1674734" y="723116"/>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Doing Heuristic Evaluation</a:t>
            </a:r>
          </a:p>
        </p:txBody>
      </p:sp>
      <p:sp>
        <p:nvSpPr>
          <p:cNvPr id="24" name="Rectangle 23">
            <a:extLst>
              <a:ext uri="{FF2B5EF4-FFF2-40B4-BE49-F238E27FC236}">
                <a16:creationId xmlns:a16="http://schemas.microsoft.com/office/drawing/2014/main" id="{83D34EA6-5E8C-EC95-743A-B1448587E830}"/>
              </a:ext>
            </a:extLst>
          </p:cNvPr>
          <p:cNvSpPr/>
          <p:nvPr/>
        </p:nvSpPr>
        <p:spPr>
          <a:xfrm>
            <a:off x="1035386" y="2002983"/>
            <a:ext cx="10110060" cy="3747180"/>
          </a:xfrm>
          <a:prstGeom prst="rect">
            <a:avLst/>
          </a:prstGeom>
        </p:spPr>
        <p:txBody>
          <a:bodyPr wrap="square">
            <a:spAutoFit/>
          </a:bodyPr>
          <a:lstStyle/>
          <a:p>
            <a:pPr marL="457200" indent="-457200" algn="just">
              <a:lnSpc>
                <a:spcPct val="150000"/>
              </a:lnSpc>
              <a:buFont typeface="+mj-lt"/>
              <a:buAutoNum type="arabicPeriod"/>
            </a:pPr>
            <a:r>
              <a:rPr lang="en-US" sz="2000" dirty="0">
                <a:solidFill>
                  <a:srgbClr val="C00000"/>
                </a:solidFill>
              </a:rPr>
              <a:t>Briefing session </a:t>
            </a:r>
            <a:r>
              <a:rPr lang="en-US" sz="2000" dirty="0">
                <a:solidFill>
                  <a:schemeClr val="tx1">
                    <a:lumMod val="65000"/>
                    <a:lumOff val="35000"/>
                  </a:schemeClr>
                </a:solidFill>
              </a:rPr>
              <a:t>to tell evaluators what to do</a:t>
            </a:r>
          </a:p>
          <a:p>
            <a:pPr marL="457200" indent="-457200" algn="just">
              <a:lnSpc>
                <a:spcPct val="150000"/>
              </a:lnSpc>
              <a:buFont typeface="+mj-lt"/>
              <a:buAutoNum type="arabicPeriod"/>
            </a:pPr>
            <a:endParaRPr lang="en-US" sz="2000" dirty="0">
              <a:solidFill>
                <a:schemeClr val="tx1">
                  <a:lumMod val="65000"/>
                  <a:lumOff val="35000"/>
                </a:schemeClr>
              </a:solidFill>
            </a:endParaRPr>
          </a:p>
          <a:p>
            <a:pPr marL="457200" indent="-457200" algn="just">
              <a:lnSpc>
                <a:spcPct val="150000"/>
              </a:lnSpc>
              <a:buFont typeface="+mj-lt"/>
              <a:buAutoNum type="arabicPeriod"/>
            </a:pPr>
            <a:r>
              <a:rPr lang="en-US" sz="2000" dirty="0">
                <a:solidFill>
                  <a:srgbClr val="C00000"/>
                </a:solidFill>
              </a:rPr>
              <a:t>Evaluation period </a:t>
            </a:r>
            <a:r>
              <a:rPr lang="en-US" sz="2000" dirty="0">
                <a:solidFill>
                  <a:schemeClr val="tx1">
                    <a:lumMod val="65000"/>
                    <a:lumOff val="35000"/>
                  </a:schemeClr>
                </a:solidFill>
              </a:rPr>
              <a:t>of 1-2 hours in which:</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Each evaluator works separately</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Take one pass to get a feel for the product</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Take a second pass to focus on specific features</a:t>
            </a:r>
          </a:p>
          <a:p>
            <a:pPr marL="457200" indent="-457200" algn="just">
              <a:lnSpc>
                <a:spcPct val="150000"/>
              </a:lnSpc>
              <a:buFont typeface="+mj-lt"/>
              <a:buAutoNum type="arabicPeriod"/>
            </a:pPr>
            <a:endParaRPr lang="en-US" sz="2000" dirty="0">
              <a:solidFill>
                <a:schemeClr val="tx1">
                  <a:lumMod val="65000"/>
                  <a:lumOff val="35000"/>
                </a:schemeClr>
              </a:solidFill>
            </a:endParaRPr>
          </a:p>
          <a:p>
            <a:pPr marL="457200" indent="-457200" algn="just">
              <a:lnSpc>
                <a:spcPct val="150000"/>
              </a:lnSpc>
              <a:buFont typeface="+mj-lt"/>
              <a:buAutoNum type="arabicPeriod"/>
            </a:pPr>
            <a:r>
              <a:rPr lang="en-US" sz="2000" dirty="0">
                <a:solidFill>
                  <a:srgbClr val="C00000"/>
                </a:solidFill>
              </a:rPr>
              <a:t>Debriefing session </a:t>
            </a:r>
            <a:r>
              <a:rPr lang="en-US" sz="2000" dirty="0">
                <a:solidFill>
                  <a:schemeClr val="tx1">
                    <a:lumMod val="65000"/>
                    <a:lumOff val="35000"/>
                  </a:schemeClr>
                </a:solidFill>
              </a:rPr>
              <a:t>in which evaluators work together to prioritize problems</a:t>
            </a:r>
          </a:p>
        </p:txBody>
      </p:sp>
      <p:sp>
        <p:nvSpPr>
          <p:cNvPr id="4" name="Slide Number Placeholder 1">
            <a:extLst>
              <a:ext uri="{FF2B5EF4-FFF2-40B4-BE49-F238E27FC236}">
                <a16:creationId xmlns:a16="http://schemas.microsoft.com/office/drawing/2014/main" id="{CDFE0FE5-63D9-6B37-D41D-F4A9C7221D8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13</a:t>
            </a:fld>
            <a:endParaRPr lang="en-MY" dirty="0"/>
          </a:p>
        </p:txBody>
      </p:sp>
    </p:spTree>
    <p:extLst>
      <p:ext uri="{BB962C8B-B14F-4D97-AF65-F5344CB8AC3E}">
        <p14:creationId xmlns:p14="http://schemas.microsoft.com/office/powerpoint/2010/main" val="404637827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1"/>
          <p:cNvSpPr txBox="1">
            <a:spLocks noGrp="1"/>
          </p:cNvSpPr>
          <p:nvPr>
            <p:ph type="title" idx="4294967295"/>
          </p:nvPr>
        </p:nvSpPr>
        <p:spPr>
          <a:xfrm>
            <a:off x="1760560" y="476237"/>
            <a:ext cx="8229600" cy="1143000"/>
          </a:xfrm>
          <a:prstGeom prst="rect">
            <a:avLst/>
          </a:prstGeom>
          <a:noFill/>
          <a:ln>
            <a:noFill/>
          </a:ln>
        </p:spPr>
        <p:txBody>
          <a:bodyPr spcFirstLastPara="1" vert="horz" wrap="square" lIns="91425" tIns="45700" rIns="91425" bIns="45700" rtlCol="0" anchor="ctr" anchorCtr="0">
            <a:normAutofit fontScale="90000"/>
          </a:bodyPr>
          <a:lstStyle/>
          <a:p>
            <a:pPr algn="ctr">
              <a:buSzPts val="3959"/>
            </a:pPr>
            <a:r>
              <a:rPr lang="en-US" sz="3959" b="0" dirty="0"/>
              <a:t>Severity Ratings in Heuristic Evaluation</a:t>
            </a:r>
            <a:endParaRPr b="0" dirty="0"/>
          </a:p>
        </p:txBody>
      </p:sp>
      <p:sp>
        <p:nvSpPr>
          <p:cNvPr id="213" name="Google Shape;213;p11"/>
          <p:cNvSpPr txBox="1">
            <a:spLocks noGrp="1"/>
          </p:cNvSpPr>
          <p:nvPr>
            <p:ph type="body" idx="4294967295"/>
          </p:nvPr>
        </p:nvSpPr>
        <p:spPr>
          <a:xfrm>
            <a:off x="1218416" y="2066925"/>
            <a:ext cx="9567862" cy="3419475"/>
          </a:xfrm>
          <a:prstGeom prst="rect">
            <a:avLst/>
          </a:prstGeom>
          <a:noFill/>
          <a:ln>
            <a:noFill/>
          </a:ln>
        </p:spPr>
        <p:txBody>
          <a:bodyPr spcFirstLastPara="1" vert="horz" wrap="square" lIns="91425" tIns="45700" rIns="91425" bIns="45700" rtlCol="0" anchor="t" anchorCtr="0">
            <a:normAutofit/>
          </a:bodyPr>
          <a:lstStyle/>
          <a:p>
            <a:pPr marL="342900">
              <a:lnSpc>
                <a:spcPct val="90000"/>
              </a:lnSpc>
              <a:spcBef>
                <a:spcPts val="0"/>
              </a:spcBef>
              <a:buSzPts val="2720"/>
            </a:pPr>
            <a:r>
              <a:rPr lang="en-US" sz="2000" b="1" dirty="0">
                <a:solidFill>
                  <a:srgbClr val="C00000"/>
                </a:solidFill>
              </a:rPr>
              <a:t>Severity ratings </a:t>
            </a:r>
            <a:r>
              <a:rPr lang="en-US" sz="2000" dirty="0"/>
              <a:t>can be used </a:t>
            </a:r>
            <a:r>
              <a:rPr lang="en-US" sz="2000" dirty="0">
                <a:solidFill>
                  <a:srgbClr val="C00000"/>
                </a:solidFill>
              </a:rPr>
              <a:t>to allocate the most resources to fix </a:t>
            </a:r>
            <a:r>
              <a:rPr lang="en-US" sz="2000" dirty="0"/>
              <a:t>the most serious problems and can also provide a rough estimate of the need for additional usability efforts.</a:t>
            </a:r>
          </a:p>
          <a:p>
            <a:pPr marL="0" indent="0">
              <a:lnSpc>
                <a:spcPct val="90000"/>
              </a:lnSpc>
              <a:spcBef>
                <a:spcPts val="0"/>
              </a:spcBef>
              <a:buSzPts val="2720"/>
              <a:buNone/>
            </a:pPr>
            <a:r>
              <a:rPr lang="en-US" sz="2000" dirty="0"/>
              <a:t> </a:t>
            </a:r>
            <a:endParaRPr sz="1400" dirty="0"/>
          </a:p>
          <a:p>
            <a:pPr marL="342900">
              <a:lnSpc>
                <a:spcPct val="90000"/>
              </a:lnSpc>
              <a:spcBef>
                <a:spcPts val="544"/>
              </a:spcBef>
              <a:buSzPts val="2720"/>
            </a:pPr>
            <a:r>
              <a:rPr lang="en-US" sz="2000" dirty="0"/>
              <a:t>If the severity ratings indicate that </a:t>
            </a:r>
            <a:r>
              <a:rPr lang="en-US" sz="2000" dirty="0">
                <a:solidFill>
                  <a:srgbClr val="C00000"/>
                </a:solidFill>
              </a:rPr>
              <a:t>several disastrous usability problems </a:t>
            </a:r>
            <a:r>
              <a:rPr lang="en-US" sz="2000" dirty="0"/>
              <a:t>remain in an interface, it will probably be inadvisable to release it. </a:t>
            </a:r>
          </a:p>
          <a:p>
            <a:pPr marL="342900">
              <a:lnSpc>
                <a:spcPct val="90000"/>
              </a:lnSpc>
              <a:spcBef>
                <a:spcPts val="544"/>
              </a:spcBef>
              <a:buSzPts val="2720"/>
            </a:pPr>
            <a:endParaRPr sz="1400" dirty="0"/>
          </a:p>
          <a:p>
            <a:pPr marL="342900">
              <a:lnSpc>
                <a:spcPct val="90000"/>
              </a:lnSpc>
              <a:spcBef>
                <a:spcPts val="544"/>
              </a:spcBef>
              <a:buSzPts val="2720"/>
            </a:pPr>
            <a:r>
              <a:rPr lang="en-US" sz="2000" dirty="0"/>
              <a:t>But one might decide to go ahead with the release of a system with several usability problems if </a:t>
            </a:r>
            <a:r>
              <a:rPr lang="en-US" sz="2000" dirty="0">
                <a:solidFill>
                  <a:srgbClr val="C00000"/>
                </a:solidFill>
              </a:rPr>
              <a:t>they are all judged as being cosmetic in nature.</a:t>
            </a:r>
            <a:endParaRPr sz="1400" dirty="0">
              <a:solidFill>
                <a:srgbClr val="C00000"/>
              </a:solidFill>
            </a:endParaRPr>
          </a:p>
        </p:txBody>
      </p:sp>
      <p:sp>
        <p:nvSpPr>
          <p:cNvPr id="216" name="Google Shape;216;p11"/>
          <p:cNvSpPr txBox="1"/>
          <p:nvPr/>
        </p:nvSpPr>
        <p:spPr>
          <a:xfrm>
            <a:off x="1552434" y="5735473"/>
            <a:ext cx="8153400" cy="646290"/>
          </a:xfrm>
          <a:prstGeom prst="rect">
            <a:avLst/>
          </a:prstGeom>
          <a:noFill/>
          <a:ln>
            <a:noFill/>
          </a:ln>
        </p:spPr>
        <p:txBody>
          <a:bodyPr spcFirstLastPara="1" wrap="square" lIns="91425" tIns="45700" rIns="91425" bIns="45700" anchor="t" anchorCtr="0">
            <a:spAutoFit/>
          </a:bodyPr>
          <a:lstStyle/>
          <a:p>
            <a:pPr>
              <a:buClr>
                <a:srgbClr val="000000"/>
              </a:buClr>
              <a:buSzPts val="1800"/>
            </a:pPr>
            <a:r>
              <a:rPr lang="en-US" dirty="0">
                <a:solidFill>
                  <a:schemeClr val="dk1"/>
                </a:solidFill>
                <a:latin typeface="Calibri"/>
                <a:ea typeface="Calibri"/>
                <a:cs typeface="Calibri"/>
                <a:sym typeface="Calibri"/>
              </a:rPr>
              <a:t>Source: </a:t>
            </a:r>
            <a:r>
              <a:rPr lang="en-US" dirty="0">
                <a:solidFill>
                  <a:schemeClr val="dk1"/>
                </a:solidFill>
                <a:latin typeface="Calibri"/>
                <a:ea typeface="Calibri"/>
                <a:cs typeface="Calibri"/>
                <a:sym typeface="Calibri"/>
                <a:hlinkClick r:id="rId3"/>
              </a:rPr>
              <a:t>https://www.nngroup.com/articles/how-to-rate-the-severity-of-usability-problems/</a:t>
            </a:r>
            <a:endParaRPr sz="1400"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4" name="Google Shape;224;gaa08183922_0_0"/>
          <p:cNvSpPr txBox="1">
            <a:spLocks noGrp="1"/>
          </p:cNvSpPr>
          <p:nvPr>
            <p:ph type="sldNum" sz="quarter" idx="11"/>
          </p:nvPr>
        </p:nvSpPr>
        <p:spPr>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15</a:t>
            </a:fld>
            <a:endParaRPr/>
          </a:p>
        </p:txBody>
      </p:sp>
      <p:sp>
        <p:nvSpPr>
          <p:cNvPr id="222" name="Google Shape;222;gaa08183922_0_0"/>
          <p:cNvSpPr txBox="1">
            <a:spLocks noGrp="1"/>
          </p:cNvSpPr>
          <p:nvPr>
            <p:ph type="title" idx="4294967295"/>
          </p:nvPr>
        </p:nvSpPr>
        <p:spPr>
          <a:xfrm>
            <a:off x="1883392" y="593725"/>
            <a:ext cx="8229600" cy="1143000"/>
          </a:xfrm>
          <a:prstGeom prst="rect">
            <a:avLst/>
          </a:prstGeom>
          <a:noFill/>
          <a:ln>
            <a:noFill/>
          </a:ln>
        </p:spPr>
        <p:txBody>
          <a:bodyPr spcFirstLastPara="1" vert="horz" wrap="square" lIns="91425" tIns="45700" rIns="91425" bIns="45700" rtlCol="0" anchor="ctr" anchorCtr="0">
            <a:noAutofit/>
          </a:bodyPr>
          <a:lstStyle/>
          <a:p>
            <a:pPr algn="ctr">
              <a:buSzPts val="3959"/>
            </a:pPr>
            <a:r>
              <a:rPr lang="en-US" sz="3959" b="0" dirty="0"/>
              <a:t>Contributing factors to a problem</a:t>
            </a:r>
            <a:endParaRPr b="0" dirty="0"/>
          </a:p>
        </p:txBody>
      </p:sp>
      <p:sp>
        <p:nvSpPr>
          <p:cNvPr id="223" name="Google Shape;223;gaa08183922_0_0"/>
          <p:cNvSpPr txBox="1">
            <a:spLocks noGrp="1"/>
          </p:cNvSpPr>
          <p:nvPr>
            <p:ph type="body" idx="4294967295"/>
          </p:nvPr>
        </p:nvSpPr>
        <p:spPr>
          <a:xfrm>
            <a:off x="1405719" y="2101825"/>
            <a:ext cx="9321421" cy="3590950"/>
          </a:xfrm>
          <a:prstGeom prst="rect">
            <a:avLst/>
          </a:prstGeom>
          <a:noFill/>
          <a:ln>
            <a:noFill/>
          </a:ln>
        </p:spPr>
        <p:txBody>
          <a:bodyPr spcFirstLastPara="1" vert="horz" wrap="square" lIns="91425" tIns="45700" rIns="91425" bIns="45700" rtlCol="0" anchor="t" anchorCtr="0">
            <a:noAutofit/>
          </a:bodyPr>
          <a:lstStyle/>
          <a:p>
            <a:pPr marL="0" indent="0">
              <a:buNone/>
            </a:pPr>
            <a:r>
              <a:rPr lang="en-US" sz="2000" dirty="0"/>
              <a:t>The severity of a usability problem is a combination of </a:t>
            </a:r>
            <a:r>
              <a:rPr lang="en-US" sz="2000" dirty="0">
                <a:solidFill>
                  <a:srgbClr val="C00000"/>
                </a:solidFill>
              </a:rPr>
              <a:t>three factors</a:t>
            </a:r>
            <a:r>
              <a:rPr lang="en-US" sz="2000" dirty="0"/>
              <a:t>: </a:t>
            </a:r>
            <a:endParaRPr sz="2000" dirty="0"/>
          </a:p>
          <a:p>
            <a:pPr marL="342900" indent="-342900">
              <a:buSzPts val="2200"/>
              <a:buFont typeface="+mj-lt"/>
              <a:buAutoNum type="arabicPeriod"/>
            </a:pPr>
            <a:r>
              <a:rPr lang="en-US" dirty="0"/>
              <a:t>The </a:t>
            </a:r>
            <a:r>
              <a:rPr lang="en-US" b="1" dirty="0"/>
              <a:t>frequency</a:t>
            </a:r>
            <a:r>
              <a:rPr lang="en-US" dirty="0"/>
              <a:t> with which the problem occurs: Is it common or rare?</a:t>
            </a:r>
          </a:p>
          <a:p>
            <a:pPr marL="342900" indent="-342900">
              <a:buSzPts val="2200"/>
              <a:buFont typeface="+mj-lt"/>
              <a:buAutoNum type="arabicPeriod"/>
            </a:pPr>
            <a:endParaRPr dirty="0"/>
          </a:p>
          <a:p>
            <a:pPr marL="342900" indent="-342900">
              <a:spcBef>
                <a:spcPts val="0"/>
              </a:spcBef>
              <a:buSzPts val="2200"/>
              <a:buFont typeface="+mj-lt"/>
              <a:buAutoNum type="arabicPeriod"/>
            </a:pPr>
            <a:r>
              <a:rPr lang="en-US" dirty="0"/>
              <a:t>The </a:t>
            </a:r>
            <a:r>
              <a:rPr lang="en-US" b="1" dirty="0"/>
              <a:t>impact </a:t>
            </a:r>
            <a:r>
              <a:rPr lang="en-US" dirty="0"/>
              <a:t>of the problem if it occurs: Will it be easy or difficult for the users to overcome?</a:t>
            </a:r>
          </a:p>
          <a:p>
            <a:pPr marL="342900" indent="-342900">
              <a:spcBef>
                <a:spcPts val="0"/>
              </a:spcBef>
              <a:buSzPts val="2200"/>
              <a:buFont typeface="+mj-lt"/>
              <a:buAutoNum type="arabicPeriod"/>
            </a:pPr>
            <a:endParaRPr lang="en-US" dirty="0"/>
          </a:p>
          <a:p>
            <a:pPr marL="342900" indent="-342900">
              <a:spcBef>
                <a:spcPts val="0"/>
              </a:spcBef>
              <a:buSzPts val="2200"/>
              <a:buFont typeface="+mj-lt"/>
              <a:buAutoNum type="arabicPeriod"/>
            </a:pPr>
            <a:r>
              <a:rPr lang="en-US" dirty="0"/>
              <a:t>The </a:t>
            </a:r>
            <a:r>
              <a:rPr lang="en-US" b="1" dirty="0"/>
              <a:t>persistence </a:t>
            </a:r>
            <a:r>
              <a:rPr lang="en-US" dirty="0"/>
              <a:t>of the problem: Is it a one-time problem that users can overcome once they know about it or will users repeatedly be bothered by the problem?</a:t>
            </a:r>
          </a:p>
          <a:p>
            <a:pPr marL="0" indent="0">
              <a:spcBef>
                <a:spcPts val="0"/>
              </a:spcBef>
              <a:buSzPts val="2200"/>
              <a:buNone/>
            </a:pPr>
            <a:endParaRPr lang="en-US" dirty="0"/>
          </a:p>
          <a:p>
            <a:pPr marL="0" indent="0">
              <a:spcBef>
                <a:spcPts val="0"/>
              </a:spcBef>
              <a:buSzPts val="2200"/>
              <a:buNone/>
            </a:pPr>
            <a:r>
              <a:rPr lang="en-US" dirty="0"/>
              <a:t>If a problem has most of these factors, it should be rated more severe</a:t>
            </a:r>
          </a:p>
          <a:p>
            <a:pPr marL="0" indent="0">
              <a:spcBef>
                <a:spcPts val="0"/>
              </a:spcBef>
              <a:buSzPts val="2200"/>
              <a:buNone/>
            </a:pPr>
            <a:endParaRPr dirty="0"/>
          </a:p>
          <a:p>
            <a:pPr indent="0">
              <a:buNone/>
            </a:pPr>
            <a:endParaRPr dirty="0"/>
          </a:p>
        </p:txBody>
      </p:sp>
      <p:sp>
        <p:nvSpPr>
          <p:cNvPr id="225" name="Google Shape;225;gaa08183922_0_0"/>
          <p:cNvSpPr txBox="1"/>
          <p:nvPr/>
        </p:nvSpPr>
        <p:spPr>
          <a:xfrm>
            <a:off x="1405719" y="5697798"/>
            <a:ext cx="8153400" cy="365100"/>
          </a:xfrm>
          <a:prstGeom prst="rect">
            <a:avLst/>
          </a:prstGeom>
          <a:noFill/>
          <a:ln>
            <a:noFill/>
          </a:ln>
        </p:spPr>
        <p:txBody>
          <a:bodyPr spcFirstLastPara="1" wrap="square" lIns="91425" tIns="45700" rIns="91425" bIns="45700" anchor="t" anchorCtr="0">
            <a:noAutofit/>
          </a:bodyPr>
          <a:lstStyle/>
          <a:p>
            <a:pPr>
              <a:buClr>
                <a:srgbClr val="000000"/>
              </a:buClr>
              <a:buSzPts val="1800"/>
            </a:pPr>
            <a:r>
              <a:rPr lang="en-US" dirty="0">
                <a:solidFill>
                  <a:schemeClr val="dk1"/>
                </a:solidFill>
                <a:latin typeface="Calibri"/>
                <a:ea typeface="Calibri"/>
                <a:cs typeface="Calibri"/>
                <a:sym typeface="Calibri"/>
              </a:rPr>
              <a:t>Source: </a:t>
            </a:r>
            <a:r>
              <a:rPr lang="en-US" dirty="0">
                <a:solidFill>
                  <a:schemeClr val="dk1"/>
                </a:solidFill>
                <a:latin typeface="Calibri"/>
                <a:ea typeface="Calibri"/>
                <a:cs typeface="Calibri"/>
                <a:sym typeface="Calibri"/>
                <a:hlinkClick r:id="rId3"/>
              </a:rPr>
              <a:t>https://www.nngroup.com/articles/how-to-rate-the-severity-of-usability-problems/</a:t>
            </a:r>
            <a:endParaRPr sz="1400"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3" name="Google Shape;233;gaa08183922_0_20"/>
          <p:cNvSpPr txBox="1">
            <a:spLocks noGrp="1"/>
          </p:cNvSpPr>
          <p:nvPr>
            <p:ph type="sldNum" sz="quarter" idx="11"/>
          </p:nvPr>
        </p:nvSpPr>
        <p:spPr>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16</a:t>
            </a:fld>
            <a:endParaRPr/>
          </a:p>
        </p:txBody>
      </p:sp>
      <p:sp>
        <p:nvSpPr>
          <p:cNvPr id="231" name="Google Shape;231;gaa08183922_0_20"/>
          <p:cNvSpPr txBox="1">
            <a:spLocks noGrp="1"/>
          </p:cNvSpPr>
          <p:nvPr>
            <p:ph type="title" idx="4294967295"/>
          </p:nvPr>
        </p:nvSpPr>
        <p:spPr>
          <a:xfrm>
            <a:off x="1678675" y="329229"/>
            <a:ext cx="8229600" cy="1143000"/>
          </a:xfrm>
          <a:prstGeom prst="rect">
            <a:avLst/>
          </a:prstGeom>
          <a:noFill/>
          <a:ln>
            <a:noFill/>
          </a:ln>
        </p:spPr>
        <p:txBody>
          <a:bodyPr spcFirstLastPara="1" vert="horz" wrap="square" lIns="91425" tIns="45700" rIns="91425" bIns="45700" rtlCol="0" anchor="ctr" anchorCtr="0">
            <a:noAutofit/>
          </a:bodyPr>
          <a:lstStyle/>
          <a:p>
            <a:pPr algn="ctr"/>
            <a:r>
              <a:rPr lang="en-US" sz="3959" b="0" dirty="0"/>
              <a:t>Severity Rating Scale</a:t>
            </a:r>
            <a:endParaRPr b="0" dirty="0"/>
          </a:p>
        </p:txBody>
      </p:sp>
      <p:sp>
        <p:nvSpPr>
          <p:cNvPr id="232" name="Google Shape;232;gaa08183922_0_20"/>
          <p:cNvSpPr txBox="1">
            <a:spLocks noGrp="1"/>
          </p:cNvSpPr>
          <p:nvPr>
            <p:ph type="body" idx="4294967295"/>
          </p:nvPr>
        </p:nvSpPr>
        <p:spPr>
          <a:xfrm>
            <a:off x="1105469" y="1907059"/>
            <a:ext cx="9880980" cy="4525962"/>
          </a:xfrm>
          <a:prstGeom prst="rect">
            <a:avLst/>
          </a:prstGeom>
          <a:noFill/>
          <a:ln>
            <a:noFill/>
          </a:ln>
        </p:spPr>
        <p:txBody>
          <a:bodyPr spcFirstLastPara="1" vert="horz" wrap="square" lIns="91425" tIns="45700" rIns="91425" bIns="45700" rtlCol="0" anchor="t" anchorCtr="0">
            <a:noAutofit/>
          </a:bodyPr>
          <a:lstStyle/>
          <a:p>
            <a:pPr marL="0" indent="0">
              <a:buNone/>
            </a:pPr>
            <a:r>
              <a:rPr lang="en-US" sz="2400" u="sng" dirty="0">
                <a:solidFill>
                  <a:schemeClr val="hlink"/>
                </a:solidFill>
                <a:hlinkClick r:id="rId3"/>
              </a:rPr>
              <a:t>Nielsen (1994)</a:t>
            </a:r>
            <a:r>
              <a:rPr lang="en-US" sz="2400" dirty="0"/>
              <a:t> proposed the following </a:t>
            </a:r>
            <a:r>
              <a:rPr lang="en-US" sz="2400" dirty="0">
                <a:solidFill>
                  <a:srgbClr val="C00000"/>
                </a:solidFill>
              </a:rPr>
              <a:t>0 to 4 rating scale to rate</a:t>
            </a:r>
            <a:r>
              <a:rPr lang="en-US" sz="2400" dirty="0"/>
              <a:t> the severity of </a:t>
            </a:r>
            <a:r>
              <a:rPr lang="en-US" sz="2400" dirty="0">
                <a:solidFill>
                  <a:srgbClr val="C00000"/>
                </a:solidFill>
              </a:rPr>
              <a:t>usability problems</a:t>
            </a:r>
            <a:r>
              <a:rPr lang="en-US" sz="2400" dirty="0"/>
              <a:t>:</a:t>
            </a:r>
          </a:p>
          <a:p>
            <a:pPr marL="0" indent="0">
              <a:buNone/>
            </a:pPr>
            <a:endParaRPr lang="en-US" sz="2400" dirty="0"/>
          </a:p>
          <a:p>
            <a:pPr marL="0" indent="0">
              <a:buNone/>
            </a:pPr>
            <a:r>
              <a:rPr lang="en-US" sz="2000" b="1" dirty="0"/>
              <a:t>0 =</a:t>
            </a:r>
            <a:r>
              <a:rPr lang="en-US" sz="2000" dirty="0"/>
              <a:t> I don't agree that this is a usability problem at all</a:t>
            </a:r>
          </a:p>
          <a:p>
            <a:pPr marL="0" indent="0">
              <a:buNone/>
            </a:pPr>
            <a:r>
              <a:rPr lang="en-US" sz="2000" b="1" dirty="0"/>
              <a:t>1 =</a:t>
            </a:r>
            <a:r>
              <a:rPr lang="en-US" sz="2000" dirty="0"/>
              <a:t> Cosmetic problem only: need not be fixed unless extra time is available on project</a:t>
            </a:r>
          </a:p>
          <a:p>
            <a:pPr marL="0" indent="0">
              <a:buNone/>
            </a:pPr>
            <a:r>
              <a:rPr lang="en-US" sz="2000" b="1" dirty="0"/>
              <a:t>2 = </a:t>
            </a:r>
            <a:r>
              <a:rPr lang="en-US" sz="2000" dirty="0"/>
              <a:t>Minor usability problem: fixing this should be given low priority</a:t>
            </a:r>
          </a:p>
          <a:p>
            <a:pPr marL="0" indent="0">
              <a:buNone/>
            </a:pPr>
            <a:r>
              <a:rPr lang="en-US" sz="2000" b="1" dirty="0"/>
              <a:t>3 =</a:t>
            </a:r>
            <a:r>
              <a:rPr lang="en-US" sz="2000" dirty="0"/>
              <a:t> Major usability problem: important to fix, so should be given high priority</a:t>
            </a:r>
          </a:p>
          <a:p>
            <a:pPr marL="0" indent="0">
              <a:buNone/>
            </a:pPr>
            <a:r>
              <a:rPr lang="en-US" sz="2000" b="1" dirty="0"/>
              <a:t>4 =</a:t>
            </a:r>
            <a:r>
              <a:rPr lang="en-US" sz="2000" dirty="0"/>
              <a:t> Usability catastrophe: imperative to fix this before product can be released</a:t>
            </a:r>
            <a:endParaRPr sz="2000" dirty="0"/>
          </a:p>
          <a:p>
            <a:pPr marL="0" indent="0">
              <a:buNone/>
            </a:pPr>
            <a:endParaRPr sz="2000"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41" name="Google Shape;241;gaa08183922_0_31"/>
          <p:cNvSpPr txBox="1">
            <a:spLocks noGrp="1"/>
          </p:cNvSpPr>
          <p:nvPr>
            <p:ph type="sldNum" sz="quarter" idx="11"/>
          </p:nvPr>
        </p:nvSpPr>
        <p:spPr>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17</a:t>
            </a:fld>
            <a:endParaRPr/>
          </a:p>
        </p:txBody>
      </p:sp>
      <p:sp>
        <p:nvSpPr>
          <p:cNvPr id="239" name="Google Shape;239;gaa08183922_0_31"/>
          <p:cNvSpPr txBox="1">
            <a:spLocks noGrp="1"/>
          </p:cNvSpPr>
          <p:nvPr>
            <p:ph type="title" idx="4294967295"/>
          </p:nvPr>
        </p:nvSpPr>
        <p:spPr>
          <a:xfrm>
            <a:off x="1975616" y="356717"/>
            <a:ext cx="8229600" cy="1143000"/>
          </a:xfrm>
          <a:prstGeom prst="rect">
            <a:avLst/>
          </a:prstGeom>
          <a:noFill/>
          <a:ln>
            <a:noFill/>
          </a:ln>
        </p:spPr>
        <p:txBody>
          <a:bodyPr spcFirstLastPara="1" vert="horz" wrap="square" lIns="91425" tIns="45700" rIns="91425" bIns="45700" rtlCol="0" anchor="ctr" anchorCtr="0">
            <a:noAutofit/>
          </a:bodyPr>
          <a:lstStyle/>
          <a:p>
            <a:pPr algn="ctr"/>
            <a:r>
              <a:rPr lang="en-US" sz="3959" b="0" dirty="0"/>
              <a:t>Severity Rating Scale (cont.)</a:t>
            </a:r>
            <a:endParaRPr b="0" dirty="0"/>
          </a:p>
        </p:txBody>
      </p:sp>
      <p:sp>
        <p:nvSpPr>
          <p:cNvPr id="240" name="Google Shape;240;gaa08183922_0_31"/>
          <p:cNvSpPr txBox="1">
            <a:spLocks noGrp="1"/>
          </p:cNvSpPr>
          <p:nvPr>
            <p:ph type="body" idx="4294967295"/>
          </p:nvPr>
        </p:nvSpPr>
        <p:spPr>
          <a:xfrm>
            <a:off x="1160060" y="1580066"/>
            <a:ext cx="9730853" cy="4602369"/>
          </a:xfrm>
          <a:prstGeom prst="rect">
            <a:avLst/>
          </a:prstGeom>
          <a:noFill/>
          <a:ln>
            <a:noFill/>
          </a:ln>
        </p:spPr>
        <p:txBody>
          <a:bodyPr spcFirstLastPara="1" vert="horz" wrap="square" lIns="91425" tIns="45700" rIns="91425" bIns="45700" rtlCol="0" anchor="t" anchorCtr="0">
            <a:noAutofit/>
          </a:bodyPr>
          <a:lstStyle/>
          <a:p>
            <a:pPr marL="0" indent="0">
              <a:buNone/>
            </a:pPr>
            <a:r>
              <a:rPr lang="en-US" sz="2400" dirty="0"/>
              <a:t>Barnum, C. (2011) proposed a </a:t>
            </a:r>
            <a:r>
              <a:rPr lang="en-US" sz="2400" dirty="0">
                <a:solidFill>
                  <a:srgbClr val="C00000"/>
                </a:solidFill>
              </a:rPr>
              <a:t>3-point severity rating scale</a:t>
            </a:r>
            <a:r>
              <a:rPr lang="en-US" sz="2400" dirty="0"/>
              <a:t>:</a:t>
            </a:r>
            <a:endParaRPr sz="2400" dirty="0"/>
          </a:p>
          <a:p>
            <a:pPr indent="0">
              <a:buNone/>
            </a:pPr>
            <a:r>
              <a:rPr lang="en-US" sz="2000" b="1" dirty="0"/>
              <a:t>1 =</a:t>
            </a:r>
            <a:r>
              <a:rPr lang="en-US" sz="2000" dirty="0"/>
              <a:t> </a:t>
            </a:r>
            <a:r>
              <a:rPr lang="en-US" sz="2000" dirty="0">
                <a:solidFill>
                  <a:srgbClr val="C00000"/>
                </a:solidFill>
              </a:rPr>
              <a:t>Catastrophe</a:t>
            </a:r>
            <a:r>
              <a:rPr lang="en-US" sz="2000" dirty="0"/>
              <a:t>—user cannot complete task; or user can complete the process but expresses extreme irritation at the process; or user needs assistance (business goal is to make the process independent of user assistance).</a:t>
            </a:r>
            <a:endParaRPr sz="2000" dirty="0"/>
          </a:p>
          <a:p>
            <a:pPr indent="0">
              <a:buNone/>
            </a:pPr>
            <a:r>
              <a:rPr lang="en-US" sz="2000" b="1" dirty="0"/>
              <a:t>2 =</a:t>
            </a:r>
            <a:r>
              <a:rPr lang="en-US" sz="2000" dirty="0"/>
              <a:t> </a:t>
            </a:r>
            <a:r>
              <a:rPr lang="en-US" sz="2000" dirty="0">
                <a:solidFill>
                  <a:srgbClr val="C00000"/>
                </a:solidFill>
              </a:rPr>
              <a:t>Serious problem</a:t>
            </a:r>
            <a:r>
              <a:rPr lang="en-US" sz="2000" dirty="0"/>
              <a:t>—user is frustrated but gets through it; suggests that others may be less inclined to put up with the inconvenience or that frustration level will be high.</a:t>
            </a:r>
            <a:endParaRPr sz="2000" dirty="0"/>
          </a:p>
          <a:p>
            <a:pPr indent="0">
              <a:buNone/>
            </a:pPr>
            <a:r>
              <a:rPr lang="en-US" sz="2000" b="1" dirty="0"/>
              <a:t>3 =</a:t>
            </a:r>
            <a:r>
              <a:rPr lang="en-US" sz="2000" dirty="0"/>
              <a:t> </a:t>
            </a:r>
            <a:r>
              <a:rPr lang="en-US" sz="2000" dirty="0">
                <a:solidFill>
                  <a:srgbClr val="C00000"/>
                </a:solidFill>
              </a:rPr>
              <a:t>Cosmetic problem</a:t>
            </a:r>
            <a:r>
              <a:rPr lang="en-US" sz="2000" dirty="0"/>
              <a:t>—user may hesitate or pick the wrong option, but user corrects it without incident; or user expresses minor irritation or annoyance, but it doesn’t affect ability to complete tasks.</a:t>
            </a:r>
            <a:endParaRPr sz="2000" dirty="0"/>
          </a:p>
          <a:p>
            <a:pPr indent="0">
              <a:buNone/>
            </a:pPr>
            <a:endParaRPr sz="2000" dirty="0"/>
          </a:p>
          <a:p>
            <a:pPr marL="0" indent="0">
              <a:buNone/>
            </a:pPr>
            <a:endParaRPr sz="2000" dirty="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2"/>
          <p:cNvSpPr txBox="1">
            <a:spLocks noGrp="1"/>
          </p:cNvSpPr>
          <p:nvPr>
            <p:ph type="title" idx="4294967295"/>
          </p:nvPr>
        </p:nvSpPr>
        <p:spPr>
          <a:xfrm>
            <a:off x="2129054" y="274638"/>
            <a:ext cx="82296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Problem </a:t>
            </a:r>
            <a:r>
              <a:rPr lang="en-US" sz="3960" b="0" dirty="0" err="1"/>
              <a:t>Prioritisation</a:t>
            </a:r>
            <a:endParaRPr sz="3960" b="0" dirty="0"/>
          </a:p>
        </p:txBody>
      </p:sp>
      <p:sp>
        <p:nvSpPr>
          <p:cNvPr id="247" name="Google Shape;247;p12"/>
          <p:cNvSpPr txBox="1">
            <a:spLocks noGrp="1"/>
          </p:cNvSpPr>
          <p:nvPr>
            <p:ph type="body" idx="4294967295"/>
          </p:nvPr>
        </p:nvSpPr>
        <p:spPr>
          <a:xfrm>
            <a:off x="1405720" y="1689207"/>
            <a:ext cx="9062109" cy="3194050"/>
          </a:xfrm>
          <a:prstGeom prst="rect">
            <a:avLst/>
          </a:prstGeom>
          <a:noFill/>
          <a:ln>
            <a:noFill/>
          </a:ln>
        </p:spPr>
        <p:txBody>
          <a:bodyPr spcFirstLastPara="1" vert="horz" wrap="square" lIns="91425" tIns="45700" rIns="91425" bIns="45700" rtlCol="0" anchor="t" anchorCtr="0">
            <a:normAutofit/>
          </a:bodyPr>
          <a:lstStyle/>
          <a:p>
            <a:pPr>
              <a:buSzPts val="2600"/>
            </a:pPr>
            <a:r>
              <a:rPr lang="en-US" sz="2000" dirty="0"/>
              <a:t>Besides the rating scales shown in previous slides, there are </a:t>
            </a:r>
            <a:r>
              <a:rPr lang="en-US" sz="2000" u="sng" dirty="0">
                <a:solidFill>
                  <a:schemeClr val="hlink"/>
                </a:solidFill>
                <a:hlinkClick r:id="rId3"/>
              </a:rPr>
              <a:t>other examples</a:t>
            </a:r>
            <a:r>
              <a:rPr lang="en-US" sz="2000" dirty="0"/>
              <a:t> of severity rating scales that has been proposed over the years. </a:t>
            </a:r>
          </a:p>
          <a:p>
            <a:pPr>
              <a:buSzPts val="2600"/>
            </a:pPr>
            <a:r>
              <a:rPr lang="en-US" sz="2000" dirty="0"/>
              <a:t>To effectively understand the impact of each usability problems found, some researchers estimate its severity using dual ratings, for example in terms of usability principles and the ease to solve the problem. </a:t>
            </a:r>
          </a:p>
          <a:p>
            <a:pPr>
              <a:buSzPts val="2600"/>
            </a:pPr>
            <a:r>
              <a:rPr lang="en-US" sz="2000" dirty="0"/>
              <a:t>This can further help in </a:t>
            </a:r>
            <a:r>
              <a:rPr lang="en-US" sz="2000" dirty="0" err="1"/>
              <a:t>prioritising</a:t>
            </a:r>
            <a:r>
              <a:rPr lang="en-US" sz="2000" dirty="0"/>
              <a:t> the problem areas </a:t>
            </a:r>
            <a:endParaRPr sz="2000" dirty="0"/>
          </a:p>
          <a:p>
            <a:pPr indent="0">
              <a:lnSpc>
                <a:spcPct val="80000"/>
              </a:lnSpc>
              <a:spcBef>
                <a:spcPts val="592"/>
              </a:spcBef>
              <a:buNone/>
            </a:pPr>
            <a:endParaRPr sz="2000" dirty="0"/>
          </a:p>
          <a:p>
            <a:pPr marL="342900" indent="-154940">
              <a:lnSpc>
                <a:spcPct val="80000"/>
              </a:lnSpc>
              <a:spcBef>
                <a:spcPts val="592"/>
              </a:spcBef>
              <a:buSzPts val="2960"/>
              <a:buNone/>
            </a:pPr>
            <a:endParaRPr sz="2000" dirty="0"/>
          </a:p>
        </p:txBody>
      </p:sp>
      <p:sp>
        <p:nvSpPr>
          <p:cNvPr id="250" name="Google Shape;250;p12"/>
          <p:cNvSpPr txBox="1"/>
          <p:nvPr/>
        </p:nvSpPr>
        <p:spPr>
          <a:xfrm>
            <a:off x="1596784" y="5036024"/>
            <a:ext cx="8871045" cy="483902"/>
          </a:xfrm>
          <a:prstGeom prst="rect">
            <a:avLst/>
          </a:prstGeom>
          <a:noFill/>
          <a:ln>
            <a:noFill/>
          </a:ln>
        </p:spPr>
        <p:txBody>
          <a:bodyPr spcFirstLastPara="1" wrap="square" lIns="91425" tIns="45700" rIns="91425" bIns="45700" anchor="t" anchorCtr="0">
            <a:noAutofit/>
          </a:bodyPr>
          <a:lstStyle/>
          <a:p>
            <a:pPr>
              <a:buClr>
                <a:srgbClr val="000000"/>
              </a:buClr>
              <a:buSzPts val="1800"/>
            </a:pPr>
            <a:r>
              <a:rPr lang="en-US" dirty="0">
                <a:solidFill>
                  <a:schemeClr val="dk1"/>
                </a:solidFill>
                <a:latin typeface="Calibri"/>
                <a:ea typeface="Calibri"/>
                <a:cs typeface="Calibri"/>
                <a:sym typeface="Calibri"/>
              </a:rPr>
              <a:t>Source: </a:t>
            </a:r>
            <a:r>
              <a:rPr lang="en-US" dirty="0">
                <a:solidFill>
                  <a:schemeClr val="dk1"/>
                </a:solidFill>
                <a:latin typeface="Calibri"/>
                <a:ea typeface="Calibri"/>
                <a:cs typeface="Calibri"/>
                <a:sym typeface="Calibri"/>
                <a:hlinkClick r:id="rId4"/>
              </a:rPr>
              <a:t>https://irp-cdn.multiscreensite.com/b18f9b96/files/uploaded/HE_NWApp_v01.pdf</a:t>
            </a:r>
            <a:endParaRPr sz="1400" dirty="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6" name="Google Shape;256;p13"/>
          <p:cNvSpPr txBox="1">
            <a:spLocks noGrp="1"/>
          </p:cNvSpPr>
          <p:nvPr>
            <p:ph type="sldNum" sz="quarter" idx="11"/>
          </p:nvPr>
        </p:nvSpPr>
        <p:spPr>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19</a:t>
            </a:fld>
            <a:endParaRPr/>
          </a:p>
        </p:txBody>
      </p:sp>
      <p:sp>
        <p:nvSpPr>
          <p:cNvPr id="255" name="Google Shape;255;p13"/>
          <p:cNvSpPr txBox="1">
            <a:spLocks noGrp="1"/>
          </p:cNvSpPr>
          <p:nvPr>
            <p:ph type="title" idx="4294967295"/>
          </p:nvPr>
        </p:nvSpPr>
        <p:spPr>
          <a:xfrm>
            <a:off x="655094" y="465138"/>
            <a:ext cx="11218458" cy="1143000"/>
          </a:xfrm>
          <a:prstGeom prst="rect">
            <a:avLst/>
          </a:prstGeom>
          <a:noFill/>
          <a:ln>
            <a:noFill/>
          </a:ln>
        </p:spPr>
        <p:txBody>
          <a:bodyPr spcFirstLastPara="1" vert="horz" wrap="square" lIns="91425" tIns="45700" rIns="91425" bIns="45700" rtlCol="0" anchor="ctr" anchorCtr="0">
            <a:noAutofit/>
          </a:bodyPr>
          <a:lstStyle/>
          <a:p>
            <a:pPr algn="ctr">
              <a:buSzPct val="111111"/>
            </a:pPr>
            <a:r>
              <a:rPr lang="en-US" sz="3960" b="0" dirty="0" err="1"/>
              <a:t>Prioritisation</a:t>
            </a:r>
            <a:r>
              <a:rPr lang="en-US" sz="3960" b="0" dirty="0"/>
              <a:t> Steps(Dual rating example) </a:t>
            </a:r>
            <a:endParaRPr sz="3960" b="0" dirty="0"/>
          </a:p>
          <a:p>
            <a:pPr algn="ctr">
              <a:buSzPct val="111111"/>
            </a:pPr>
            <a:endParaRPr sz="3960" b="0" dirty="0"/>
          </a:p>
        </p:txBody>
      </p:sp>
      <p:graphicFrame>
        <p:nvGraphicFramePr>
          <p:cNvPr id="257" name="Google Shape;257;p13"/>
          <p:cNvGraphicFramePr/>
          <p:nvPr>
            <p:extLst>
              <p:ext uri="{D42A27DB-BD31-4B8C-83A1-F6EECF244321}">
                <p14:modId xmlns:p14="http://schemas.microsoft.com/office/powerpoint/2010/main" val="256714552"/>
              </p:ext>
            </p:extLst>
          </p:nvPr>
        </p:nvGraphicFramePr>
        <p:xfrm>
          <a:off x="1981200" y="1742600"/>
          <a:ext cx="8229600" cy="2108200"/>
        </p:xfrm>
        <a:graphic>
          <a:graphicData uri="http://schemas.openxmlformats.org/drawingml/2006/table">
            <a:tbl>
              <a:tblPr firstRow="1" firstCol="1" bandRow="1">
                <a:noFill/>
              </a:tblPr>
              <a:tblGrid>
                <a:gridCol w="914400">
                  <a:extLst>
                    <a:ext uri="{9D8B030D-6E8A-4147-A177-3AD203B41FA5}">
                      <a16:colId xmlns:a16="http://schemas.microsoft.com/office/drawing/2014/main" val="20000"/>
                    </a:ext>
                  </a:extLst>
                </a:gridCol>
                <a:gridCol w="7315200">
                  <a:extLst>
                    <a:ext uri="{9D8B030D-6E8A-4147-A177-3AD203B41FA5}">
                      <a16:colId xmlns:a16="http://schemas.microsoft.com/office/drawing/2014/main" val="20001"/>
                    </a:ext>
                  </a:extLst>
                </a:gridCol>
              </a:tblGrid>
              <a:tr h="266700">
                <a:tc gridSpan="2">
                  <a:txBody>
                    <a:bodyPr/>
                    <a:lstStyle/>
                    <a:p>
                      <a:pPr marL="0" marR="0" lvl="0" indent="0" algn="ctr" rtl="0">
                        <a:lnSpc>
                          <a:spcPct val="100000"/>
                        </a:lnSpc>
                        <a:spcBef>
                          <a:spcPts val="0"/>
                        </a:spcBef>
                        <a:spcAft>
                          <a:spcPts val="0"/>
                        </a:spcAft>
                        <a:buClr>
                          <a:schemeClr val="dk1"/>
                        </a:buClr>
                        <a:buSzPts val="1100"/>
                        <a:buFont typeface="Arial"/>
                        <a:buNone/>
                      </a:pPr>
                      <a:r>
                        <a:rPr lang="en-US" sz="1400" b="1" u="none" strike="noStrike" cap="none" dirty="0">
                          <a:latin typeface="+mn-lt"/>
                          <a:ea typeface="Times New Roman"/>
                          <a:cs typeface="Times New Roman"/>
                          <a:sym typeface="Times New Roman"/>
                        </a:rPr>
                        <a:t>Severity Ranking</a:t>
                      </a:r>
                      <a:endParaRPr sz="1400" b="1" u="none" strike="noStrike" cap="none" dirty="0">
                        <a:latin typeface="+mn-lt"/>
                        <a:ea typeface="Times New Roman"/>
                        <a:cs typeface="Times New Roman"/>
                        <a:sym typeface="Times New Roman"/>
                      </a:endParaRPr>
                    </a:p>
                  </a:txBody>
                  <a:tcPr marL="63500" marR="63500" marT="63500" marB="63500"/>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t>Rating</a:t>
                      </a:r>
                      <a:endParaRPr sz="1200" b="1"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b="1" u="none" strike="noStrike" cap="none" dirty="0"/>
                        <a:t>Definition</a:t>
                      </a:r>
                      <a:endParaRPr sz="1200" b="1" u="none" strike="noStrike" cap="none"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0</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u="none" strike="noStrike" cap="none" dirty="0"/>
                        <a:t>This is not a usability problem at all </a:t>
                      </a:r>
                      <a:endParaRPr sz="1200" u="none" strike="noStrike" cap="none"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1</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u="none" strike="noStrike" cap="none"/>
                        <a:t>Cosmetic problem only: need not be fixed unless extra time is available on project</a:t>
                      </a:r>
                      <a:endParaRPr sz="12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2</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u="none" strike="noStrike" cap="none"/>
                        <a:t>Minor usability problem: fixing this should be given low priority </a:t>
                      </a:r>
                      <a:endParaRPr sz="12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3</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u="none" strike="noStrike" cap="none" dirty="0"/>
                        <a:t>Major usability problem: important to fix, so should be given high priority</a:t>
                      </a:r>
                      <a:endParaRPr sz="1200" u="none" strike="noStrike" cap="none"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5"/>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4</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just" rtl="0">
                        <a:lnSpc>
                          <a:spcPct val="100000"/>
                        </a:lnSpc>
                        <a:spcBef>
                          <a:spcPts val="0"/>
                        </a:spcBef>
                        <a:spcAft>
                          <a:spcPts val="0"/>
                        </a:spcAft>
                        <a:buClr>
                          <a:srgbClr val="000000"/>
                        </a:buClr>
                        <a:buSzPts val="1100"/>
                        <a:buFont typeface="Arial"/>
                        <a:buNone/>
                      </a:pPr>
                      <a:r>
                        <a:rPr lang="en-US" sz="1100" u="none" strike="noStrike" cap="none" dirty="0"/>
                        <a:t>Usability catastrophe: imperative to fix this before product can be released</a:t>
                      </a:r>
                      <a:endParaRPr sz="1200" u="none" strike="noStrike" cap="none"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6"/>
                  </a:ext>
                </a:extLst>
              </a:tr>
            </a:tbl>
          </a:graphicData>
        </a:graphic>
      </p:graphicFrame>
      <p:sp>
        <p:nvSpPr>
          <p:cNvPr id="258" name="Google Shape;258;p13"/>
          <p:cNvSpPr txBox="1"/>
          <p:nvPr/>
        </p:nvSpPr>
        <p:spPr>
          <a:xfrm>
            <a:off x="1879476" y="1399136"/>
            <a:ext cx="6309181" cy="307736"/>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sz="1400" dirty="0">
                <a:solidFill>
                  <a:srgbClr val="000000"/>
                </a:solidFill>
                <a:ea typeface="Arial"/>
                <a:cs typeface="Arial"/>
                <a:sym typeface="Arial"/>
              </a:rPr>
              <a:t>1. Identify the severity of an issue based on its ranking</a:t>
            </a:r>
            <a:endParaRPr sz="1400" dirty="0">
              <a:solidFill>
                <a:srgbClr val="000000"/>
              </a:solidFill>
              <a:ea typeface="Arial"/>
              <a:cs typeface="Arial"/>
              <a:sym typeface="Arial"/>
            </a:endParaRPr>
          </a:p>
        </p:txBody>
      </p:sp>
      <p:graphicFrame>
        <p:nvGraphicFramePr>
          <p:cNvPr id="259" name="Google Shape;259;p13"/>
          <p:cNvGraphicFramePr/>
          <p:nvPr>
            <p:extLst>
              <p:ext uri="{D42A27DB-BD31-4B8C-83A1-F6EECF244321}">
                <p14:modId xmlns:p14="http://schemas.microsoft.com/office/powerpoint/2010/main" val="4285851265"/>
              </p:ext>
            </p:extLst>
          </p:nvPr>
        </p:nvGraphicFramePr>
        <p:xfrm>
          <a:off x="1981200" y="4277237"/>
          <a:ext cx="8229600" cy="2148840"/>
        </p:xfrm>
        <a:graphic>
          <a:graphicData uri="http://schemas.openxmlformats.org/drawingml/2006/table">
            <a:tbl>
              <a:tblPr firstRow="1" firstCol="1" bandRow="1">
                <a:noFill/>
              </a:tblPr>
              <a:tblGrid>
                <a:gridCol w="838200">
                  <a:extLst>
                    <a:ext uri="{9D8B030D-6E8A-4147-A177-3AD203B41FA5}">
                      <a16:colId xmlns:a16="http://schemas.microsoft.com/office/drawing/2014/main" val="20000"/>
                    </a:ext>
                  </a:extLst>
                </a:gridCol>
                <a:gridCol w="7391400">
                  <a:extLst>
                    <a:ext uri="{9D8B030D-6E8A-4147-A177-3AD203B41FA5}">
                      <a16:colId xmlns:a16="http://schemas.microsoft.com/office/drawing/2014/main" val="20001"/>
                    </a:ext>
                  </a:extLst>
                </a:gridCol>
              </a:tblGrid>
              <a:tr h="266700">
                <a:tc gridSpan="2">
                  <a:txBody>
                    <a:bodyPr/>
                    <a:lstStyle/>
                    <a:p>
                      <a:pPr marL="0" marR="0" lvl="0" indent="0" algn="ctr" rtl="0">
                        <a:lnSpc>
                          <a:spcPct val="100000"/>
                        </a:lnSpc>
                        <a:spcBef>
                          <a:spcPts val="0"/>
                        </a:spcBef>
                        <a:spcAft>
                          <a:spcPts val="0"/>
                        </a:spcAft>
                        <a:buClr>
                          <a:srgbClr val="000000"/>
                        </a:buClr>
                        <a:buSzPts val="1100"/>
                        <a:buFont typeface="Arial"/>
                        <a:buNone/>
                      </a:pPr>
                      <a:r>
                        <a:rPr lang="en-US" sz="1400" b="1" u="none" strike="noStrike" cap="none" dirty="0">
                          <a:latin typeface="+mn-lt"/>
                          <a:ea typeface="Times New Roman"/>
                          <a:cs typeface="Times New Roman"/>
                          <a:sym typeface="Times New Roman"/>
                        </a:rPr>
                        <a:t>Ease of Fixing Ranking</a:t>
                      </a:r>
                      <a:endParaRPr sz="1400" b="1" u="none" strike="noStrike" cap="none" dirty="0">
                        <a:latin typeface="+mn-lt"/>
                        <a:ea typeface="Times New Roman"/>
                        <a:cs typeface="Times New Roman"/>
                        <a:sym typeface="Times New Roman"/>
                      </a:endParaRPr>
                    </a:p>
                  </a:txBody>
                  <a:tcPr marL="63500" marR="63500" marT="63500" marB="63500"/>
                </a:tc>
                <a:tc hMerge="1">
                  <a:txBody>
                    <a:bodyPr/>
                    <a:lstStyle/>
                    <a:p>
                      <a:endParaRPr lang="en-US"/>
                    </a:p>
                  </a:txBody>
                  <a:tcPr/>
                </a:tc>
                <a:extLst>
                  <a:ext uri="{0D108BD9-81ED-4DB2-BD59-A6C34878D82A}">
                    <a16:rowId xmlns:a16="http://schemas.microsoft.com/office/drawing/2014/main" val="10000"/>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dirty="0"/>
                        <a:t>Rating</a:t>
                      </a:r>
                      <a:endParaRPr sz="1200" b="1"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US" sz="1100" b="1" u="none" strike="noStrike" cap="none"/>
                        <a:t>Definition</a:t>
                      </a:r>
                      <a:endParaRPr sz="1200" b="1"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1"/>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0</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Problem would be extremely easy to fix. </a:t>
                      </a:r>
                      <a:endParaRPr sz="12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1</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Problem would be easy to fix. Involves specific interface elements and solution is clear. </a:t>
                      </a:r>
                      <a:endParaRPr sz="12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3"/>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2</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a:t>Problem would require some effort to fix. Involves multiple aspects of the interface or would require team of developers to implement changes before next release or solution is not clear. </a:t>
                      </a:r>
                      <a:endParaRPr sz="1200" u="none" strike="noStrike" cap="none">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4"/>
                  </a:ext>
                </a:extLst>
              </a:tr>
              <a:tr h="0">
                <a:tc>
                  <a:txBody>
                    <a:bodyPr/>
                    <a:lstStyle/>
                    <a:p>
                      <a:pPr marL="0" marR="0" lvl="0" indent="0" algn="ctr" rtl="0">
                        <a:lnSpc>
                          <a:spcPct val="100000"/>
                        </a:lnSpc>
                        <a:spcBef>
                          <a:spcPts val="0"/>
                        </a:spcBef>
                        <a:spcAft>
                          <a:spcPts val="0"/>
                        </a:spcAft>
                        <a:buClr>
                          <a:srgbClr val="000000"/>
                        </a:buClr>
                        <a:buSzPts val="1100"/>
                        <a:buFont typeface="Arial"/>
                        <a:buNone/>
                      </a:pPr>
                      <a:r>
                        <a:rPr lang="en-US" sz="1100" u="none" strike="noStrike" cap="none" dirty="0"/>
                        <a:t>3</a:t>
                      </a:r>
                      <a:endParaRPr sz="1200" u="none" strike="noStrike" cap="none" dirty="0">
                        <a:latin typeface="Times New Roman"/>
                        <a:ea typeface="Times New Roman"/>
                        <a:cs typeface="Times New Roman"/>
                        <a:sym typeface="Times New Roman"/>
                      </a:endParaRPr>
                    </a:p>
                  </a:txBody>
                  <a:tcPr marL="63500" marR="63500" marT="63500" marB="63500"/>
                </a:tc>
                <a:tc>
                  <a:txBody>
                    <a:bodyPr/>
                    <a:lstStyle/>
                    <a:p>
                      <a:pPr marL="0" marR="0" lvl="0" indent="0" algn="l" rtl="0">
                        <a:lnSpc>
                          <a:spcPct val="100000"/>
                        </a:lnSpc>
                        <a:spcBef>
                          <a:spcPts val="0"/>
                        </a:spcBef>
                        <a:spcAft>
                          <a:spcPts val="0"/>
                        </a:spcAft>
                        <a:buClr>
                          <a:srgbClr val="000000"/>
                        </a:buClr>
                        <a:buSzPts val="1100"/>
                        <a:buFont typeface="Arial"/>
                        <a:buNone/>
                      </a:pPr>
                      <a:r>
                        <a:rPr lang="en-US" sz="1100" u="none" strike="noStrike" cap="none" dirty="0"/>
                        <a:t>Problem would be difficult to fix. Requires much development effort to finish before next release, involves multiple aspects of interface. Solution may not be immediately obvious or may be disputed. </a:t>
                      </a:r>
                      <a:endParaRPr sz="1200" u="none" strike="noStrike" cap="none" dirty="0">
                        <a:latin typeface="Times New Roman"/>
                        <a:ea typeface="Times New Roman"/>
                        <a:cs typeface="Times New Roman"/>
                        <a:sym typeface="Times New Roman"/>
                      </a:endParaRPr>
                    </a:p>
                  </a:txBody>
                  <a:tcPr marL="63500" marR="63500" marT="63500" marB="63500"/>
                </a:tc>
                <a:extLst>
                  <a:ext uri="{0D108BD9-81ED-4DB2-BD59-A6C34878D82A}">
                    <a16:rowId xmlns:a16="http://schemas.microsoft.com/office/drawing/2014/main" val="10005"/>
                  </a:ext>
                </a:extLst>
              </a:tr>
            </a:tbl>
          </a:graphicData>
        </a:graphic>
      </p:graphicFrame>
      <p:sp>
        <p:nvSpPr>
          <p:cNvPr id="260" name="Google Shape;260;p13"/>
          <p:cNvSpPr txBox="1"/>
          <p:nvPr/>
        </p:nvSpPr>
        <p:spPr>
          <a:xfrm>
            <a:off x="1879475" y="3936349"/>
            <a:ext cx="5582541" cy="307736"/>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sz="1400">
                <a:solidFill>
                  <a:srgbClr val="000000"/>
                </a:solidFill>
                <a:ea typeface="Arial"/>
                <a:cs typeface="Arial"/>
                <a:sym typeface="Arial"/>
              </a:rPr>
              <a:t>2. For each issue identified, rank its ease of fixing</a:t>
            </a:r>
            <a:endParaRPr sz="1400">
              <a:solidFill>
                <a:srgbClr val="000000"/>
              </a:solidFil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6" name="Google Shape;266;p52"/>
          <p:cNvSpPr txBox="1">
            <a:spLocks noGrp="1"/>
          </p:cNvSpPr>
          <p:nvPr>
            <p:ph type="sldNum" sz="quarter" idx="11"/>
          </p:nvPr>
        </p:nvSpPr>
        <p:spPr>
          <a:prstGeom prst="rect">
            <a:avLst/>
          </a:prstGeom>
          <a:noFill/>
          <a:ln>
            <a:noFill/>
          </a:ln>
        </p:spPr>
        <p:txBody>
          <a:bodyPr spcFirstLastPara="1" vert="horz" wrap="square" lIns="91425" tIns="45700" rIns="91425" bIns="45700" rtlCol="0" anchor="ctr" anchorCtr="0">
            <a:noAutofit/>
          </a:bodyPr>
          <a:lstStyle/>
          <a:p>
            <a:fld id="{00000000-1234-1234-1234-123412341234}" type="slidenum">
              <a:rPr lang="en-US"/>
              <a:pPr/>
              <a:t>20</a:t>
            </a:fld>
            <a:endParaRPr/>
          </a:p>
        </p:txBody>
      </p:sp>
      <p:sp>
        <p:nvSpPr>
          <p:cNvPr id="265" name="Google Shape;265;p52"/>
          <p:cNvSpPr txBox="1">
            <a:spLocks noGrp="1"/>
          </p:cNvSpPr>
          <p:nvPr>
            <p:ph type="title" idx="4294967295"/>
          </p:nvPr>
        </p:nvSpPr>
        <p:spPr>
          <a:xfrm>
            <a:off x="1975616" y="359235"/>
            <a:ext cx="8229600" cy="1143000"/>
          </a:xfrm>
          <a:prstGeom prst="rect">
            <a:avLst/>
          </a:prstGeom>
          <a:noFill/>
          <a:ln>
            <a:noFill/>
          </a:ln>
        </p:spPr>
        <p:txBody>
          <a:bodyPr spcFirstLastPara="1" vert="horz" wrap="square" lIns="91425" tIns="45700" rIns="91425" bIns="45700" rtlCol="0" anchor="ctr" anchorCtr="0">
            <a:normAutofit/>
          </a:bodyPr>
          <a:lstStyle/>
          <a:p>
            <a:pPr algn="ctr"/>
            <a:r>
              <a:rPr lang="en-US" sz="3960" b="0" dirty="0"/>
              <a:t>Understanding the Impact</a:t>
            </a:r>
            <a:endParaRPr sz="3960" b="0" dirty="0"/>
          </a:p>
        </p:txBody>
      </p:sp>
      <p:sp>
        <p:nvSpPr>
          <p:cNvPr id="267" name="Google Shape;267;p52"/>
          <p:cNvSpPr txBox="1"/>
          <p:nvPr/>
        </p:nvSpPr>
        <p:spPr>
          <a:xfrm>
            <a:off x="1879476" y="1412783"/>
            <a:ext cx="8657896" cy="738664"/>
          </a:xfrm>
          <a:prstGeom prst="rect">
            <a:avLst/>
          </a:prstGeom>
          <a:noFill/>
          <a:ln>
            <a:noFill/>
          </a:ln>
        </p:spPr>
        <p:txBody>
          <a:bodyPr spcFirstLastPara="1" wrap="square" lIns="91425" tIns="45700" rIns="91425" bIns="45700" anchor="t" anchorCtr="0">
            <a:spAutoFit/>
          </a:bodyPr>
          <a:lstStyle/>
          <a:p>
            <a:pPr>
              <a:buClr>
                <a:srgbClr val="000000"/>
              </a:buClr>
              <a:buSzPts val="1400"/>
            </a:pPr>
            <a:endParaRPr sz="1400" dirty="0">
              <a:solidFill>
                <a:srgbClr val="000000"/>
              </a:solidFill>
              <a:ea typeface="Arial"/>
              <a:cs typeface="Arial"/>
              <a:sym typeface="Arial"/>
            </a:endParaRPr>
          </a:p>
          <a:p>
            <a:pPr marL="342900" indent="-342900">
              <a:buClr>
                <a:srgbClr val="000000"/>
              </a:buClr>
              <a:buSzPts val="1400"/>
              <a:buFont typeface="Arial"/>
              <a:buAutoNum type="arabicParenBoth"/>
            </a:pPr>
            <a:r>
              <a:rPr lang="en-US" sz="1400" b="1" dirty="0">
                <a:solidFill>
                  <a:srgbClr val="000000"/>
                </a:solidFill>
                <a:ea typeface="Arial"/>
                <a:cs typeface="Arial"/>
                <a:sym typeface="Arial"/>
              </a:rPr>
              <a:t>Overview: </a:t>
            </a:r>
            <a:r>
              <a:rPr lang="en-US" sz="1400" dirty="0">
                <a:solidFill>
                  <a:srgbClr val="000000"/>
                </a:solidFill>
                <a:ea typeface="Arial"/>
                <a:cs typeface="Arial"/>
                <a:sym typeface="Arial"/>
              </a:rPr>
              <a:t>Tabulate the identified issue with how frequent the issue occurs, its severity ranking and its ease of fixing</a:t>
            </a:r>
            <a:endParaRPr sz="1400" dirty="0">
              <a:solidFill>
                <a:srgbClr val="000000"/>
              </a:solidFill>
              <a:ea typeface="Arial"/>
              <a:cs typeface="Arial"/>
              <a:sym typeface="Arial"/>
            </a:endParaRPr>
          </a:p>
        </p:txBody>
      </p:sp>
      <p:graphicFrame>
        <p:nvGraphicFramePr>
          <p:cNvPr id="268" name="Google Shape;268;p52"/>
          <p:cNvGraphicFramePr/>
          <p:nvPr>
            <p:extLst>
              <p:ext uri="{D42A27DB-BD31-4B8C-83A1-F6EECF244321}">
                <p14:modId xmlns:p14="http://schemas.microsoft.com/office/powerpoint/2010/main" val="730116441"/>
              </p:ext>
            </p:extLst>
          </p:nvPr>
        </p:nvGraphicFramePr>
        <p:xfrm>
          <a:off x="1966649" y="2366890"/>
          <a:ext cx="8229625" cy="1193820"/>
        </p:xfrm>
        <a:graphic>
          <a:graphicData uri="http://schemas.openxmlformats.org/drawingml/2006/table">
            <a:tbl>
              <a:tblPr firstRow="1" bandRow="1">
                <a:noFill/>
              </a:tblPr>
              <a:tblGrid>
                <a:gridCol w="3176675">
                  <a:extLst>
                    <a:ext uri="{9D8B030D-6E8A-4147-A177-3AD203B41FA5}">
                      <a16:colId xmlns:a16="http://schemas.microsoft.com/office/drawing/2014/main" val="20000"/>
                    </a:ext>
                  </a:extLst>
                </a:gridCol>
                <a:gridCol w="902525">
                  <a:extLst>
                    <a:ext uri="{9D8B030D-6E8A-4147-A177-3AD203B41FA5}">
                      <a16:colId xmlns:a16="http://schemas.microsoft.com/office/drawing/2014/main" val="20001"/>
                    </a:ext>
                  </a:extLst>
                </a:gridCol>
                <a:gridCol w="858575">
                  <a:extLst>
                    <a:ext uri="{9D8B030D-6E8A-4147-A177-3AD203B41FA5}">
                      <a16:colId xmlns:a16="http://schemas.microsoft.com/office/drawing/2014/main" val="20002"/>
                    </a:ext>
                  </a:extLst>
                </a:gridCol>
                <a:gridCol w="2145875">
                  <a:extLst>
                    <a:ext uri="{9D8B030D-6E8A-4147-A177-3AD203B41FA5}">
                      <a16:colId xmlns:a16="http://schemas.microsoft.com/office/drawing/2014/main" val="20003"/>
                    </a:ext>
                  </a:extLst>
                </a:gridCol>
                <a:gridCol w="1145975">
                  <a:extLst>
                    <a:ext uri="{9D8B030D-6E8A-4147-A177-3AD203B41FA5}">
                      <a16:colId xmlns:a16="http://schemas.microsoft.com/office/drawing/2014/main" val="20004"/>
                    </a:ext>
                  </a:extLst>
                </a:gridCol>
              </a:tblGrid>
              <a:tr h="3708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Usability / UI Issue</a:t>
                      </a:r>
                      <a:endParaRPr sz="1200" b="1" u="none" strike="noStrike" cap="none" dirty="0"/>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Heuristic #</a:t>
                      </a: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Frequency</a:t>
                      </a: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Severity ranking</a:t>
                      </a:r>
                      <a:endParaRPr sz="1200" b="1" u="none" strike="noStrike" cap="none"/>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t>(0 – 4)</a:t>
                      </a: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Ease of fixing ranking</a:t>
                      </a:r>
                      <a:endParaRPr sz="1200" b="1" u="none" strike="noStrike" cap="none"/>
                    </a:p>
                    <a:p>
                      <a:pPr marL="0" marR="0" lvl="0" indent="0" algn="l" rtl="0">
                        <a:lnSpc>
                          <a:spcPct val="100000"/>
                        </a:lnSpc>
                        <a:spcBef>
                          <a:spcPts val="0"/>
                        </a:spcBef>
                        <a:spcAft>
                          <a:spcPts val="0"/>
                        </a:spcAft>
                        <a:buClr>
                          <a:srgbClr val="000000"/>
                        </a:buClr>
                        <a:buSzPts val="1200"/>
                        <a:buFont typeface="Arial"/>
                        <a:buNone/>
                      </a:pPr>
                      <a:r>
                        <a:rPr lang="en-US" sz="1200" b="1" u="none" strike="noStrike" cap="none"/>
                        <a:t>(0 – 3)</a:t>
                      </a:r>
                      <a:endParaRPr sz="1200" b="1"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200"/>
                        <a:buFont typeface="Arial"/>
                        <a:buNone/>
                      </a:pP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b="1"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200"/>
                        <a:buFont typeface="Arial"/>
                        <a:buNone/>
                      </a:pPr>
                      <a:endParaRPr sz="1200" b="1" u="none" strike="noStrike" cap="none" dirty="0"/>
                    </a:p>
                  </a:txBody>
                  <a:tcPr marL="91450" marR="91450" marT="45725" marB="45725"/>
                </a:tc>
                <a:extLst>
                  <a:ext uri="{0D108BD9-81ED-4DB2-BD59-A6C34878D82A}">
                    <a16:rowId xmlns:a16="http://schemas.microsoft.com/office/drawing/2014/main" val="10001"/>
                  </a:ext>
                </a:extLst>
              </a:tr>
            </a:tbl>
          </a:graphicData>
        </a:graphic>
      </p:graphicFrame>
      <p:graphicFrame>
        <p:nvGraphicFramePr>
          <p:cNvPr id="269" name="Google Shape;269;p52"/>
          <p:cNvGraphicFramePr/>
          <p:nvPr>
            <p:extLst>
              <p:ext uri="{D42A27DB-BD31-4B8C-83A1-F6EECF244321}">
                <p14:modId xmlns:p14="http://schemas.microsoft.com/office/powerpoint/2010/main" val="4014573406"/>
              </p:ext>
            </p:extLst>
          </p:nvPr>
        </p:nvGraphicFramePr>
        <p:xfrm>
          <a:off x="3730825" y="3669506"/>
          <a:ext cx="2042178" cy="2438400"/>
        </p:xfrm>
        <a:graphic>
          <a:graphicData uri="http://schemas.openxmlformats.org/drawingml/2006/table">
            <a:tbl>
              <a:tblPr firstRow="1" firstCol="1" bandRow="1">
                <a:noFill/>
              </a:tblPr>
              <a:tblGrid>
                <a:gridCol w="950357">
                  <a:extLst>
                    <a:ext uri="{9D8B030D-6E8A-4147-A177-3AD203B41FA5}">
                      <a16:colId xmlns:a16="http://schemas.microsoft.com/office/drawing/2014/main" val="20000"/>
                    </a:ext>
                  </a:extLst>
                </a:gridCol>
                <a:gridCol w="1091821">
                  <a:extLst>
                    <a:ext uri="{9D8B030D-6E8A-4147-A177-3AD203B41FA5}">
                      <a16:colId xmlns:a16="http://schemas.microsoft.com/office/drawing/2014/main" val="20001"/>
                    </a:ext>
                  </a:extLst>
                </a:gridCol>
              </a:tblGrid>
              <a:tr h="2032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Heuristic</a:t>
                      </a:r>
                      <a:endParaRPr sz="1200" b="1"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t>Frequency</a:t>
                      </a:r>
                      <a:endParaRPr sz="1200" b="1" u="none" strike="noStrike" cap="none" dirty="0">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0"/>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h1</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1"/>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h2</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Calibri"/>
                        <a:ea typeface="Calibri"/>
                        <a:cs typeface="Calibri"/>
                        <a:sym typeface="Calibri"/>
                      </a:endParaRPr>
                    </a:p>
                  </a:txBody>
                  <a:tcPr marL="68575" marR="68575" marT="0" marB="0" anchor="b"/>
                </a:tc>
                <a:extLst>
                  <a:ext uri="{0D108BD9-81ED-4DB2-BD59-A6C34878D82A}">
                    <a16:rowId xmlns:a16="http://schemas.microsoft.com/office/drawing/2014/main" val="10002"/>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h3</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Calibri"/>
                        <a:ea typeface="Calibri"/>
                        <a:cs typeface="Calibri"/>
                        <a:sym typeface="Calibri"/>
                      </a:endParaRPr>
                    </a:p>
                  </a:txBody>
                  <a:tcPr marL="68575" marR="68575" marT="0" marB="0" anchor="b"/>
                </a:tc>
                <a:extLst>
                  <a:ext uri="{0D108BD9-81ED-4DB2-BD59-A6C34878D82A}">
                    <a16:rowId xmlns:a16="http://schemas.microsoft.com/office/drawing/2014/main" val="10003"/>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h4</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4"/>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h5</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5"/>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h6</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6"/>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h7</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7"/>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h8</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8"/>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h9</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09"/>
                  </a:ext>
                </a:extLst>
              </a:tr>
              <a:tr h="203200">
                <a:tc>
                  <a:txBody>
                    <a:bodyPr/>
                    <a:lstStyle/>
                    <a:p>
                      <a:pPr marL="0" marR="0" lvl="0" indent="0" algn="ctr" rtl="0">
                        <a:lnSpc>
                          <a:spcPct val="100000"/>
                        </a:lnSpc>
                        <a:spcBef>
                          <a:spcPts val="0"/>
                        </a:spcBef>
                        <a:spcAft>
                          <a:spcPts val="0"/>
                        </a:spcAft>
                        <a:buClr>
                          <a:srgbClr val="000000"/>
                        </a:buClr>
                        <a:buSzPts val="1200"/>
                        <a:buFont typeface="Arial"/>
                        <a:buNone/>
                      </a:pPr>
                      <a:r>
                        <a:rPr lang="en-US" sz="1200" u="none" strike="noStrike" cap="none" dirty="0"/>
                        <a:t>h10</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Calibri"/>
                        <a:ea typeface="Calibri"/>
                        <a:cs typeface="Calibri"/>
                        <a:sym typeface="Calibri"/>
                      </a:endParaRPr>
                    </a:p>
                  </a:txBody>
                  <a:tcPr marL="68575" marR="68575" marT="0" marB="0" anchor="b"/>
                </a:tc>
                <a:extLst>
                  <a:ext uri="{0D108BD9-81ED-4DB2-BD59-A6C34878D82A}">
                    <a16:rowId xmlns:a16="http://schemas.microsoft.com/office/drawing/2014/main" val="10010"/>
                  </a:ext>
                </a:extLst>
              </a:tr>
              <a:tr h="2032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 </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dirty="0"/>
                        <a:t>(total)</a:t>
                      </a:r>
                      <a:endParaRPr sz="1200" u="none" strike="noStrike" cap="none" dirty="0">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11"/>
                  </a:ext>
                </a:extLst>
              </a:tr>
            </a:tbl>
          </a:graphicData>
        </a:graphic>
      </p:graphicFrame>
      <p:sp>
        <p:nvSpPr>
          <p:cNvPr id="270" name="Google Shape;270;p52"/>
          <p:cNvSpPr txBox="1"/>
          <p:nvPr/>
        </p:nvSpPr>
        <p:spPr>
          <a:xfrm>
            <a:off x="1966649" y="3657600"/>
            <a:ext cx="1902728" cy="738664"/>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sz="1400" dirty="0">
                <a:solidFill>
                  <a:srgbClr val="000000"/>
                </a:solidFill>
                <a:latin typeface="Arial"/>
                <a:ea typeface="Arial"/>
                <a:cs typeface="Arial"/>
                <a:sym typeface="Arial"/>
              </a:rPr>
              <a:t>(2) Identify which heuristic is the most problematic</a:t>
            </a:r>
            <a:endParaRPr sz="1400" dirty="0">
              <a:solidFill>
                <a:srgbClr val="000000"/>
              </a:solidFill>
              <a:latin typeface="Arial"/>
              <a:ea typeface="Arial"/>
              <a:cs typeface="Arial"/>
              <a:sym typeface="Arial"/>
            </a:endParaRPr>
          </a:p>
        </p:txBody>
      </p:sp>
      <p:graphicFrame>
        <p:nvGraphicFramePr>
          <p:cNvPr id="271" name="Google Shape;271;p52"/>
          <p:cNvGraphicFramePr/>
          <p:nvPr>
            <p:extLst>
              <p:ext uri="{D42A27DB-BD31-4B8C-83A1-F6EECF244321}">
                <p14:modId xmlns:p14="http://schemas.microsoft.com/office/powerpoint/2010/main" val="3842566310"/>
              </p:ext>
            </p:extLst>
          </p:nvPr>
        </p:nvGraphicFramePr>
        <p:xfrm>
          <a:off x="6810175" y="4274773"/>
          <a:ext cx="3302000" cy="1584960"/>
        </p:xfrm>
        <a:graphic>
          <a:graphicData uri="http://schemas.openxmlformats.org/drawingml/2006/table">
            <a:tbl>
              <a:tblPr firstRow="1" firstCol="1" bandRow="1">
                <a:noFill/>
              </a:tblPr>
              <a:tblGrid>
                <a:gridCol w="825500">
                  <a:extLst>
                    <a:ext uri="{9D8B030D-6E8A-4147-A177-3AD203B41FA5}">
                      <a16:colId xmlns:a16="http://schemas.microsoft.com/office/drawing/2014/main" val="20000"/>
                    </a:ext>
                  </a:extLst>
                </a:gridCol>
                <a:gridCol w="825500">
                  <a:extLst>
                    <a:ext uri="{9D8B030D-6E8A-4147-A177-3AD203B41FA5}">
                      <a16:colId xmlns:a16="http://schemas.microsoft.com/office/drawing/2014/main" val="20001"/>
                    </a:ext>
                  </a:extLst>
                </a:gridCol>
                <a:gridCol w="825500">
                  <a:extLst>
                    <a:ext uri="{9D8B030D-6E8A-4147-A177-3AD203B41FA5}">
                      <a16:colId xmlns:a16="http://schemas.microsoft.com/office/drawing/2014/main" val="20002"/>
                    </a:ext>
                  </a:extLst>
                </a:gridCol>
                <a:gridCol w="825500">
                  <a:extLst>
                    <a:ext uri="{9D8B030D-6E8A-4147-A177-3AD203B41FA5}">
                      <a16:colId xmlns:a16="http://schemas.microsoft.com/office/drawing/2014/main" val="20003"/>
                    </a:ext>
                  </a:extLst>
                </a:gridCol>
              </a:tblGrid>
              <a:tr h="20320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a:t>Severity</a:t>
                      </a:r>
                      <a:endParaRPr sz="1200" b="1"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t> Freq</a:t>
                      </a:r>
                      <a:endParaRPr sz="1200" b="1"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t>Ease of Fixing</a:t>
                      </a:r>
                      <a:endParaRPr sz="1200" b="1"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b="1" u="none" strike="noStrike" cap="none" dirty="0"/>
                        <a:t>Freq </a:t>
                      </a:r>
                      <a:endParaRPr sz="1200" b="1" u="none" strike="noStrike" cap="none" dirty="0">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0"/>
                  </a:ext>
                </a:extLst>
              </a:tr>
              <a:tr h="203200">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dirty="0"/>
                        <a:t>0</a:t>
                      </a:r>
                      <a:endParaRPr sz="1200" u="none" strike="noStrike" cap="none" dirty="0">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2</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0</a:t>
                      </a:r>
                      <a:endParaRPr sz="1200" b="1" u="none" strike="noStrike" cap="none">
                        <a:solidFill>
                          <a:schemeClr val="lt1"/>
                        </a:solidFill>
                        <a:latin typeface="Times New Roman"/>
                        <a:ea typeface="Times New Roman"/>
                        <a:cs typeface="Times New Roman"/>
                        <a:sym typeface="Times New Roman"/>
                      </a:endParaRPr>
                    </a:p>
                  </a:txBody>
                  <a:tcPr marL="68575" marR="68575" marT="0" marB="0" anchor="b">
                    <a:solidFill>
                      <a:schemeClr val="accent1"/>
                    </a:solidFill>
                  </a:tcPr>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6</a:t>
                      </a:r>
                      <a:endParaRPr sz="1200" u="none" strike="noStrike" cap="none">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1"/>
                  </a:ext>
                </a:extLst>
              </a:tr>
              <a:tr h="203200">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1</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0</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1</a:t>
                      </a:r>
                      <a:endParaRPr sz="1200" b="1" u="none" strike="noStrike" cap="none">
                        <a:solidFill>
                          <a:schemeClr val="lt1"/>
                        </a:solidFill>
                        <a:latin typeface="Times New Roman"/>
                        <a:ea typeface="Times New Roman"/>
                        <a:cs typeface="Times New Roman"/>
                        <a:sym typeface="Times New Roman"/>
                      </a:endParaRPr>
                    </a:p>
                  </a:txBody>
                  <a:tcPr marL="68575" marR="68575" marT="0" marB="0" anchor="b">
                    <a:solidFill>
                      <a:schemeClr val="accent1"/>
                    </a:solidFill>
                  </a:tcPr>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9</a:t>
                      </a:r>
                      <a:endParaRPr sz="1200" u="none" strike="noStrike" cap="none">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2"/>
                  </a:ext>
                </a:extLst>
              </a:tr>
              <a:tr h="203200">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2</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5</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2</a:t>
                      </a:r>
                      <a:endParaRPr sz="1200" b="1" u="none" strike="noStrike" cap="none">
                        <a:solidFill>
                          <a:schemeClr val="lt1"/>
                        </a:solidFill>
                        <a:latin typeface="Times New Roman"/>
                        <a:ea typeface="Times New Roman"/>
                        <a:cs typeface="Times New Roman"/>
                        <a:sym typeface="Times New Roman"/>
                      </a:endParaRPr>
                    </a:p>
                  </a:txBody>
                  <a:tcPr marL="68575" marR="68575" marT="0" marB="0" anchor="b">
                    <a:solidFill>
                      <a:schemeClr val="accent1"/>
                    </a:solidFill>
                  </a:tcPr>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5</a:t>
                      </a:r>
                      <a:endParaRPr sz="1200" u="none" strike="noStrike" cap="none">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3"/>
                  </a:ext>
                </a:extLst>
              </a:tr>
              <a:tr h="203200">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3</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4</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b="1" u="none" strike="noStrike" cap="none">
                          <a:solidFill>
                            <a:schemeClr val="lt1"/>
                          </a:solidFill>
                        </a:rPr>
                        <a:t>3</a:t>
                      </a:r>
                      <a:endParaRPr sz="1200" b="1" u="none" strike="noStrike" cap="none">
                        <a:solidFill>
                          <a:schemeClr val="lt1"/>
                        </a:solidFill>
                        <a:latin typeface="Times New Roman"/>
                        <a:ea typeface="Times New Roman"/>
                        <a:cs typeface="Times New Roman"/>
                        <a:sym typeface="Times New Roman"/>
                      </a:endParaRPr>
                    </a:p>
                  </a:txBody>
                  <a:tcPr marL="68575" marR="68575" marT="0" marB="0" anchor="b">
                    <a:solidFill>
                      <a:schemeClr val="accent1"/>
                    </a:solidFill>
                  </a:tcPr>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1</a:t>
                      </a:r>
                      <a:endParaRPr sz="1200" u="none" strike="noStrike" cap="none">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4"/>
                  </a:ext>
                </a:extLst>
              </a:tr>
              <a:tr h="203200">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4</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10</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 </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endParaRPr sz="1200" u="none" strike="noStrike" cap="none">
                        <a:latin typeface="Times New Roman"/>
                        <a:ea typeface="Times New Roman"/>
                        <a:cs typeface="Times New Roman"/>
                        <a:sym typeface="Times New Roman"/>
                      </a:endParaRPr>
                    </a:p>
                  </a:txBody>
                  <a:tcPr marL="68575" marR="68575" marT="0" marB="0" anchor="b"/>
                </a:tc>
                <a:extLst>
                  <a:ext uri="{0D108BD9-81ED-4DB2-BD59-A6C34878D82A}">
                    <a16:rowId xmlns:a16="http://schemas.microsoft.com/office/drawing/2014/main" val="10005"/>
                  </a:ext>
                </a:extLst>
              </a:tr>
              <a:tr h="203200">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 </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a:t>total = 21</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l" rtl="0">
                        <a:lnSpc>
                          <a:spcPct val="100000"/>
                        </a:lnSpc>
                        <a:spcBef>
                          <a:spcPts val="0"/>
                        </a:spcBef>
                        <a:spcAft>
                          <a:spcPts val="0"/>
                        </a:spcAft>
                        <a:buClr>
                          <a:srgbClr val="000000"/>
                        </a:buClr>
                        <a:buSzPts val="1200"/>
                        <a:buFont typeface="Arial"/>
                        <a:buNone/>
                      </a:pPr>
                      <a:r>
                        <a:rPr lang="en-US" sz="1200" u="none" strike="noStrike" cap="none"/>
                        <a:t> </a:t>
                      </a:r>
                      <a:endParaRPr sz="1200" u="none" strike="noStrike" cap="none">
                        <a:latin typeface="Times New Roman"/>
                        <a:ea typeface="Times New Roman"/>
                        <a:cs typeface="Times New Roman"/>
                        <a:sym typeface="Times New Roman"/>
                      </a:endParaRPr>
                    </a:p>
                  </a:txBody>
                  <a:tcPr marL="68575" marR="68575" marT="0" marB="0" anchor="b"/>
                </a:tc>
                <a:tc>
                  <a:txBody>
                    <a:bodyPr/>
                    <a:lstStyle/>
                    <a:p>
                      <a:pPr marL="0" marR="0" lvl="0" indent="0" algn="r" rtl="0">
                        <a:lnSpc>
                          <a:spcPct val="100000"/>
                        </a:lnSpc>
                        <a:spcBef>
                          <a:spcPts val="0"/>
                        </a:spcBef>
                        <a:spcAft>
                          <a:spcPts val="0"/>
                        </a:spcAft>
                        <a:buClr>
                          <a:srgbClr val="000000"/>
                        </a:buClr>
                        <a:buSzPts val="1200"/>
                        <a:buFont typeface="Arial"/>
                        <a:buNone/>
                      </a:pPr>
                      <a:r>
                        <a:rPr lang="en-US" sz="1200" u="none" strike="noStrike" cap="none" dirty="0"/>
                        <a:t>total = 21</a:t>
                      </a:r>
                      <a:endParaRPr sz="1200" u="none" strike="noStrike" cap="none" dirty="0"/>
                    </a:p>
                  </a:txBody>
                  <a:tcPr marL="68575" marR="68575" marT="0" marB="0" anchor="b"/>
                </a:tc>
                <a:extLst>
                  <a:ext uri="{0D108BD9-81ED-4DB2-BD59-A6C34878D82A}">
                    <a16:rowId xmlns:a16="http://schemas.microsoft.com/office/drawing/2014/main" val="10006"/>
                  </a:ext>
                </a:extLst>
              </a:tr>
            </a:tbl>
          </a:graphicData>
        </a:graphic>
      </p:graphicFrame>
      <p:sp>
        <p:nvSpPr>
          <p:cNvPr id="272" name="Google Shape;272;p52"/>
          <p:cNvSpPr txBox="1"/>
          <p:nvPr/>
        </p:nvSpPr>
        <p:spPr>
          <a:xfrm>
            <a:off x="6726675" y="3593273"/>
            <a:ext cx="3469599" cy="523220"/>
          </a:xfrm>
          <a:prstGeom prst="rect">
            <a:avLst/>
          </a:prstGeom>
          <a:noFill/>
          <a:ln>
            <a:noFill/>
          </a:ln>
        </p:spPr>
        <p:txBody>
          <a:bodyPr spcFirstLastPara="1" wrap="square" lIns="91425" tIns="45700" rIns="91425" bIns="45700" anchor="t" anchorCtr="0">
            <a:spAutoFit/>
          </a:bodyPr>
          <a:lstStyle/>
          <a:p>
            <a:pPr>
              <a:buClr>
                <a:srgbClr val="000000"/>
              </a:buClr>
              <a:buSzPts val="1400"/>
            </a:pPr>
            <a:r>
              <a:rPr lang="en-US" sz="1400">
                <a:solidFill>
                  <a:srgbClr val="000000"/>
                </a:solidFill>
                <a:latin typeface="Arial"/>
                <a:ea typeface="Arial"/>
                <a:cs typeface="Arial"/>
                <a:sym typeface="Arial"/>
              </a:rPr>
              <a:t>(3) Identify issues by their severity  &amp; ease of fixing  </a:t>
            </a:r>
            <a:endParaRPr sz="1400">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E00F-8F78-7FB6-1A85-AC9DCBF024E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0FEE0AA-8AA8-70BD-ED21-3FCC2DA33D7B}"/>
              </a:ext>
            </a:extLst>
          </p:cNvPr>
          <p:cNvSpPr txBox="1"/>
          <p:nvPr/>
        </p:nvSpPr>
        <p:spPr>
          <a:xfrm>
            <a:off x="1674734" y="723116"/>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Advantages and Problems</a:t>
            </a:r>
          </a:p>
        </p:txBody>
      </p:sp>
      <p:sp>
        <p:nvSpPr>
          <p:cNvPr id="24" name="Rectangle 23">
            <a:extLst>
              <a:ext uri="{FF2B5EF4-FFF2-40B4-BE49-F238E27FC236}">
                <a16:creationId xmlns:a16="http://schemas.microsoft.com/office/drawing/2014/main" id="{8893811E-8734-267D-1C64-E99D77764919}"/>
              </a:ext>
            </a:extLst>
          </p:cNvPr>
          <p:cNvSpPr/>
          <p:nvPr/>
        </p:nvSpPr>
        <p:spPr>
          <a:xfrm>
            <a:off x="1035386" y="2002983"/>
            <a:ext cx="10110060" cy="374718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Few ethical and practical issues to consider because </a:t>
            </a:r>
            <a:r>
              <a:rPr lang="en-US" sz="2000" dirty="0">
                <a:solidFill>
                  <a:srgbClr val="C00000"/>
                </a:solidFill>
              </a:rPr>
              <a:t>users are not involved</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Can be </a:t>
            </a:r>
            <a:r>
              <a:rPr lang="en-US" sz="2000" dirty="0">
                <a:solidFill>
                  <a:srgbClr val="C00000"/>
                </a:solidFill>
              </a:rPr>
              <a:t>difficult and expensive to find expert evaluators </a:t>
            </a:r>
            <a:r>
              <a:rPr lang="en-US" sz="2000" dirty="0">
                <a:solidFill>
                  <a:schemeClr val="tx1">
                    <a:lumMod val="65000"/>
                    <a:lumOff val="35000"/>
                  </a:schemeClr>
                </a:solidFill>
              </a:rPr>
              <a:t>with knowledge of application domain and the people using it</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Biggest problems:</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Important problems may get missed</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Many trivial problems are often identified, such as false alarms</a:t>
            </a:r>
          </a:p>
          <a:p>
            <a:pPr marL="914400" lvl="1" indent="-457200" algn="just">
              <a:lnSpc>
                <a:spcPct val="150000"/>
              </a:lnSpc>
              <a:buFont typeface="Arial" panose="020B0604020202020204" pitchFamily="34" charset="0"/>
              <a:buChar char="•"/>
            </a:pPr>
            <a:r>
              <a:rPr lang="en-US" sz="2000" dirty="0">
                <a:solidFill>
                  <a:schemeClr val="tx1">
                    <a:lumMod val="65000"/>
                    <a:lumOff val="35000"/>
                  </a:schemeClr>
                </a:solidFill>
              </a:rPr>
              <a:t>Evaluators have biases</a:t>
            </a:r>
          </a:p>
        </p:txBody>
      </p:sp>
      <p:sp>
        <p:nvSpPr>
          <p:cNvPr id="4" name="Slide Number Placeholder 1">
            <a:extLst>
              <a:ext uri="{FF2B5EF4-FFF2-40B4-BE49-F238E27FC236}">
                <a16:creationId xmlns:a16="http://schemas.microsoft.com/office/drawing/2014/main" id="{9251E2B9-6490-FBCF-1A60-7A1A6C4F02E7}"/>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21</a:t>
            </a:fld>
            <a:endParaRPr lang="en-MY" dirty="0"/>
          </a:p>
        </p:txBody>
      </p:sp>
    </p:spTree>
    <p:extLst>
      <p:ext uri="{BB962C8B-B14F-4D97-AF65-F5344CB8AC3E}">
        <p14:creationId xmlns:p14="http://schemas.microsoft.com/office/powerpoint/2010/main" val="297951593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ADB2-F1C0-D4C1-D5A7-D48FA0FB599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F7CE268-2A3E-3B92-D09A-5054BA87A73D}"/>
              </a:ext>
            </a:extLst>
          </p:cNvPr>
          <p:cNvSpPr txBox="1"/>
          <p:nvPr/>
        </p:nvSpPr>
        <p:spPr>
          <a:xfrm>
            <a:off x="1674734" y="723116"/>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Turning Design Guidelines and Golden Rules into Heuristics </a:t>
            </a:r>
          </a:p>
        </p:txBody>
      </p:sp>
      <p:sp>
        <p:nvSpPr>
          <p:cNvPr id="24" name="Rectangle 23">
            <a:extLst>
              <a:ext uri="{FF2B5EF4-FFF2-40B4-BE49-F238E27FC236}">
                <a16:creationId xmlns:a16="http://schemas.microsoft.com/office/drawing/2014/main" id="{3D0AAD6E-2705-47A9-5A22-5F295D95C3F8}"/>
              </a:ext>
            </a:extLst>
          </p:cNvPr>
          <p:cNvSpPr/>
          <p:nvPr/>
        </p:nvSpPr>
        <p:spPr>
          <a:xfrm>
            <a:off x="1035386" y="2387704"/>
            <a:ext cx="10110060" cy="374718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Ask questions like the following:</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algn="just">
              <a:lnSpc>
                <a:spcPct val="150000"/>
              </a:lnSpc>
            </a:pPr>
            <a:r>
              <a:rPr lang="en-US" sz="2000" i="1" dirty="0">
                <a:solidFill>
                  <a:schemeClr val="tx1">
                    <a:lumMod val="65000"/>
                    <a:lumOff val="35000"/>
                  </a:schemeClr>
                </a:solidFill>
              </a:rPr>
              <a:t>“Does the application include a visible title page, section or site? Does the user always know where they are in the application? Does the user always know what the system or application is doing? Are the links clearly defined? Can all actions be visualized directly (i.e., no other actions are required)?”</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algn="just">
              <a:lnSpc>
                <a:spcPct val="150000"/>
              </a:lnSpc>
            </a:pPr>
            <a:r>
              <a:rPr lang="en-US" sz="2000" dirty="0">
                <a:solidFill>
                  <a:schemeClr val="tx1">
                    <a:lumMod val="65000"/>
                    <a:lumOff val="35000"/>
                  </a:schemeClr>
                </a:solidFill>
              </a:rPr>
              <a:t>							Granollers, 2018, p. 62</a:t>
            </a:r>
          </a:p>
        </p:txBody>
      </p:sp>
      <p:sp>
        <p:nvSpPr>
          <p:cNvPr id="4" name="Slide Number Placeholder 1">
            <a:extLst>
              <a:ext uri="{FF2B5EF4-FFF2-40B4-BE49-F238E27FC236}">
                <a16:creationId xmlns:a16="http://schemas.microsoft.com/office/drawing/2014/main" id="{6B9C76A7-6955-CB94-B0D5-29792A2D6F3C}"/>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22</a:t>
            </a:fld>
            <a:endParaRPr lang="en-MY" dirty="0"/>
          </a:p>
        </p:txBody>
      </p:sp>
    </p:spTree>
    <p:extLst>
      <p:ext uri="{BB962C8B-B14F-4D97-AF65-F5344CB8AC3E}">
        <p14:creationId xmlns:p14="http://schemas.microsoft.com/office/powerpoint/2010/main" val="350823209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2AB0B-5A34-14D7-2308-60505888368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E3AD67FA-5B4E-49A3-3914-C277C9DCB9F4}"/>
              </a:ext>
            </a:extLst>
          </p:cNvPr>
          <p:cNvSpPr txBox="1"/>
          <p:nvPr/>
        </p:nvSpPr>
        <p:spPr>
          <a:xfrm>
            <a:off x="1674734" y="426554"/>
            <a:ext cx="8831364" cy="1446550"/>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Evaluating Accessibility using WCAG Guidelines</a:t>
            </a:r>
          </a:p>
        </p:txBody>
      </p:sp>
      <p:sp>
        <p:nvSpPr>
          <p:cNvPr id="24" name="Rectangle 23">
            <a:extLst>
              <a:ext uri="{FF2B5EF4-FFF2-40B4-BE49-F238E27FC236}">
                <a16:creationId xmlns:a16="http://schemas.microsoft.com/office/drawing/2014/main" id="{6203C51C-C782-2A55-42A2-A983F572C330}"/>
              </a:ext>
            </a:extLst>
          </p:cNvPr>
          <p:cNvSpPr/>
          <p:nvPr/>
        </p:nvSpPr>
        <p:spPr>
          <a:xfrm>
            <a:off x="1035386" y="1873104"/>
            <a:ext cx="10110060" cy="4443524"/>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rgbClr val="C00000"/>
                </a:solidFill>
              </a:rPr>
              <a:t>Web Content Accessibility Guidelines </a:t>
            </a:r>
            <a:r>
              <a:rPr lang="en-US" sz="2000" dirty="0">
                <a:solidFill>
                  <a:schemeClr val="tx1">
                    <a:lumMod val="65000"/>
                    <a:lumOff val="35000"/>
                  </a:schemeClr>
                </a:solidFill>
              </a:rPr>
              <a:t>(WCAG)  (Lazar et al., 2015)</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Guidelines can be used as </a:t>
            </a:r>
            <a:r>
              <a:rPr lang="en-US" sz="2000" dirty="0">
                <a:solidFill>
                  <a:srgbClr val="C00000"/>
                </a:solidFill>
              </a:rPr>
              <a:t>heuristics for evaluating websites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Governments and large corporations have to make their websites accessible by law</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Four key concepts </a:t>
            </a:r>
            <a:r>
              <a:rPr lang="en-US" sz="2000" b="1" dirty="0">
                <a:solidFill>
                  <a:schemeClr val="tx1">
                    <a:lumMod val="65000"/>
                    <a:lumOff val="35000"/>
                  </a:schemeClr>
                </a:solidFill>
              </a:rPr>
              <a:t>(POUR):</a:t>
            </a:r>
          </a:p>
          <a:p>
            <a:pPr marL="914400" lvl="1" indent="-457200" algn="just">
              <a:lnSpc>
                <a:spcPct val="150000"/>
              </a:lnSpc>
              <a:buFont typeface="Arial" panose="020B0604020202020204" pitchFamily="34" charset="0"/>
              <a:buChar char="•"/>
            </a:pPr>
            <a:r>
              <a:rPr lang="en-US" b="1" dirty="0">
                <a:solidFill>
                  <a:schemeClr val="tx1">
                    <a:lumMod val="65000"/>
                    <a:lumOff val="35000"/>
                  </a:schemeClr>
                </a:solidFill>
              </a:rPr>
              <a:t>P</a:t>
            </a:r>
            <a:r>
              <a:rPr lang="en-US" dirty="0">
                <a:solidFill>
                  <a:schemeClr val="tx1">
                    <a:lumMod val="65000"/>
                    <a:lumOff val="35000"/>
                  </a:schemeClr>
                </a:solidFill>
              </a:rPr>
              <a:t>erceivable – </a:t>
            </a:r>
            <a:r>
              <a:rPr lang="en-US" dirty="0" err="1">
                <a:solidFill>
                  <a:schemeClr val="tx1">
                    <a:lumMod val="65000"/>
                    <a:lumOff val="35000"/>
                  </a:schemeClr>
                </a:solidFill>
              </a:rPr>
              <a:t>eg</a:t>
            </a:r>
            <a:r>
              <a:rPr lang="en-US" dirty="0">
                <a:solidFill>
                  <a:schemeClr val="tx1">
                    <a:lumMod val="65000"/>
                    <a:lumOff val="35000"/>
                  </a:schemeClr>
                </a:solidFill>
              </a:rPr>
              <a:t>, provide text alternatives for non-text content</a:t>
            </a:r>
          </a:p>
          <a:p>
            <a:pPr marL="914400" lvl="1" indent="-457200" algn="just">
              <a:lnSpc>
                <a:spcPct val="150000"/>
              </a:lnSpc>
              <a:buFont typeface="Arial" panose="020B0604020202020204" pitchFamily="34" charset="0"/>
              <a:buChar char="•"/>
            </a:pPr>
            <a:r>
              <a:rPr lang="en-US" b="1" dirty="0">
                <a:solidFill>
                  <a:schemeClr val="tx1">
                    <a:lumMod val="65000"/>
                    <a:lumOff val="35000"/>
                  </a:schemeClr>
                </a:solidFill>
              </a:rPr>
              <a:t>O</a:t>
            </a:r>
            <a:r>
              <a:rPr lang="en-US" dirty="0">
                <a:solidFill>
                  <a:schemeClr val="tx1">
                    <a:lumMod val="65000"/>
                    <a:lumOff val="35000"/>
                  </a:schemeClr>
                </a:solidFill>
              </a:rPr>
              <a:t>perable – </a:t>
            </a:r>
            <a:r>
              <a:rPr lang="en-US" dirty="0" err="1">
                <a:solidFill>
                  <a:schemeClr val="tx1">
                    <a:lumMod val="65000"/>
                    <a:lumOff val="35000"/>
                  </a:schemeClr>
                </a:solidFill>
              </a:rPr>
              <a:t>eg</a:t>
            </a:r>
            <a:r>
              <a:rPr lang="en-US" dirty="0">
                <a:solidFill>
                  <a:schemeClr val="tx1">
                    <a:lumMod val="65000"/>
                    <a:lumOff val="35000"/>
                  </a:schemeClr>
                </a:solidFill>
              </a:rPr>
              <a:t>, make functionality available via a keyboard</a:t>
            </a:r>
          </a:p>
          <a:p>
            <a:pPr marL="914400" lvl="1" indent="-457200" algn="just">
              <a:lnSpc>
                <a:spcPct val="150000"/>
              </a:lnSpc>
              <a:buFont typeface="Arial" panose="020B0604020202020204" pitchFamily="34" charset="0"/>
              <a:buChar char="•"/>
            </a:pPr>
            <a:r>
              <a:rPr lang="en-US" b="1" dirty="0">
                <a:solidFill>
                  <a:schemeClr val="tx1">
                    <a:lumMod val="65000"/>
                    <a:lumOff val="35000"/>
                  </a:schemeClr>
                </a:solidFill>
              </a:rPr>
              <a:t>U</a:t>
            </a:r>
            <a:r>
              <a:rPr lang="en-US" dirty="0">
                <a:solidFill>
                  <a:schemeClr val="tx1">
                    <a:lumMod val="65000"/>
                    <a:lumOff val="35000"/>
                  </a:schemeClr>
                </a:solidFill>
              </a:rPr>
              <a:t>nderstandable – </a:t>
            </a:r>
            <a:r>
              <a:rPr lang="en-US" dirty="0" err="1">
                <a:solidFill>
                  <a:schemeClr val="tx1">
                    <a:lumMod val="65000"/>
                    <a:lumOff val="35000"/>
                  </a:schemeClr>
                </a:solidFill>
              </a:rPr>
              <a:t>eg</a:t>
            </a:r>
            <a:r>
              <a:rPr lang="en-US" dirty="0">
                <a:solidFill>
                  <a:schemeClr val="tx1">
                    <a:lumMod val="65000"/>
                    <a:lumOff val="35000"/>
                  </a:schemeClr>
                </a:solidFill>
              </a:rPr>
              <a:t>, make content appear and be readable in predictable ways</a:t>
            </a:r>
          </a:p>
          <a:p>
            <a:pPr marL="914400" lvl="1" indent="-457200" algn="just">
              <a:lnSpc>
                <a:spcPct val="150000"/>
              </a:lnSpc>
              <a:buFont typeface="Arial" panose="020B0604020202020204" pitchFamily="34" charset="0"/>
              <a:buChar char="•"/>
            </a:pPr>
            <a:r>
              <a:rPr lang="en-US" b="1" dirty="0">
                <a:solidFill>
                  <a:schemeClr val="tx1">
                    <a:lumMod val="65000"/>
                    <a:lumOff val="35000"/>
                  </a:schemeClr>
                </a:solidFill>
              </a:rPr>
              <a:t>R</a:t>
            </a:r>
            <a:r>
              <a:rPr lang="en-US" dirty="0">
                <a:solidFill>
                  <a:schemeClr val="tx1">
                    <a:lumMod val="65000"/>
                    <a:lumOff val="35000"/>
                  </a:schemeClr>
                </a:solidFill>
              </a:rPr>
              <a:t>obust – </a:t>
            </a:r>
            <a:r>
              <a:rPr lang="en-US" dirty="0" err="1">
                <a:solidFill>
                  <a:schemeClr val="tx1">
                    <a:lumMod val="65000"/>
                    <a:lumOff val="35000"/>
                  </a:schemeClr>
                </a:solidFill>
              </a:rPr>
              <a:t>eg</a:t>
            </a:r>
            <a:r>
              <a:rPr lang="en-US" dirty="0">
                <a:solidFill>
                  <a:schemeClr val="tx1">
                    <a:lumMod val="65000"/>
                    <a:lumOff val="35000"/>
                  </a:schemeClr>
                </a:solidFill>
              </a:rPr>
              <a:t> ensure compatibility with other tools </a:t>
            </a:r>
          </a:p>
        </p:txBody>
      </p:sp>
      <p:sp>
        <p:nvSpPr>
          <p:cNvPr id="4" name="Slide Number Placeholder 1">
            <a:extLst>
              <a:ext uri="{FF2B5EF4-FFF2-40B4-BE49-F238E27FC236}">
                <a16:creationId xmlns:a16="http://schemas.microsoft.com/office/drawing/2014/main" id="{650EFE80-75CD-F37B-9085-1E7E3DEEDFE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23</a:t>
            </a:fld>
            <a:endParaRPr lang="en-MY" dirty="0"/>
          </a:p>
        </p:txBody>
      </p:sp>
      <p:sp>
        <p:nvSpPr>
          <p:cNvPr id="2" name="TextBox 1">
            <a:extLst>
              <a:ext uri="{FF2B5EF4-FFF2-40B4-BE49-F238E27FC236}">
                <a16:creationId xmlns:a16="http://schemas.microsoft.com/office/drawing/2014/main" id="{67160F27-77BC-5356-BC29-DCB199F5C59D}"/>
              </a:ext>
            </a:extLst>
          </p:cNvPr>
          <p:cNvSpPr txBox="1"/>
          <p:nvPr/>
        </p:nvSpPr>
        <p:spPr>
          <a:xfrm>
            <a:off x="7129500" y="6431446"/>
            <a:ext cx="4015946" cy="338554"/>
          </a:xfrm>
          <a:prstGeom prst="rect">
            <a:avLst/>
          </a:prstGeom>
          <a:noFill/>
        </p:spPr>
        <p:txBody>
          <a:bodyPr wrap="square" rtlCol="0">
            <a:spAutoFit/>
          </a:bodyPr>
          <a:lstStyle/>
          <a:p>
            <a:r>
              <a:rPr lang="en-US" sz="1600" dirty="0">
                <a:solidFill>
                  <a:schemeClr val="tx1">
                    <a:lumMod val="65000"/>
                    <a:lumOff val="35000"/>
                  </a:schemeClr>
                </a:solidFill>
              </a:rPr>
              <a:t>Source: </a:t>
            </a:r>
            <a:r>
              <a:rPr lang="en-US" sz="1600" dirty="0">
                <a:solidFill>
                  <a:schemeClr val="tx1">
                    <a:lumMod val="65000"/>
                    <a:lumOff val="35000"/>
                  </a:schemeClr>
                </a:solidFill>
                <a:hlinkClick r:id="rId2">
                  <a:extLst>
                    <a:ext uri="{A12FA001-AC4F-418D-AE19-62706E023703}">
                      <ahyp:hlinkClr xmlns:ahyp="http://schemas.microsoft.com/office/drawing/2018/hyperlinkcolor" val="tx"/>
                    </a:ext>
                  </a:extLst>
                </a:hlinkClick>
              </a:rPr>
              <a:t>WCAG 2.1 at a Glance</a:t>
            </a:r>
            <a:r>
              <a:rPr lang="en-US" sz="1600" dirty="0">
                <a:solidFill>
                  <a:schemeClr val="tx1">
                    <a:lumMod val="65000"/>
                    <a:lumOff val="35000"/>
                  </a:schemeClr>
                </a:solidFill>
              </a:rPr>
              <a:t>.</a:t>
            </a:r>
          </a:p>
        </p:txBody>
      </p:sp>
    </p:spTree>
    <p:extLst>
      <p:ext uri="{BB962C8B-B14F-4D97-AF65-F5344CB8AC3E}">
        <p14:creationId xmlns:p14="http://schemas.microsoft.com/office/powerpoint/2010/main" val="366072063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13C24-6C9C-7D57-CB96-54E5B5DD6DD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5FD58FD-7DBD-7CD2-4ADD-84ED0C7F29B2}"/>
              </a:ext>
            </a:extLst>
          </p:cNvPr>
          <p:cNvSpPr txBox="1"/>
          <p:nvPr/>
        </p:nvSpPr>
        <p:spPr>
          <a:xfrm>
            <a:off x="7258050" y="1782972"/>
            <a:ext cx="4402060" cy="2369880"/>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INSPECTION:</a:t>
            </a:r>
          </a:p>
          <a:p>
            <a:pPr algn="ctr"/>
            <a:r>
              <a:rPr lang="en-US" sz="5400" b="1" kern="0" dirty="0">
                <a:solidFill>
                  <a:srgbClr val="C04C4C"/>
                </a:solidFill>
                <a:latin typeface="+mj-lt"/>
              </a:rPr>
              <a:t>COGNITIVE </a:t>
            </a:r>
            <a:r>
              <a:rPr lang="en-US" sz="4000" b="1" kern="0" dirty="0">
                <a:solidFill>
                  <a:srgbClr val="C04C4C"/>
                </a:solidFill>
                <a:latin typeface="+mj-lt"/>
              </a:rPr>
              <a:t>WALKTHROUGH</a:t>
            </a:r>
            <a:endParaRPr lang="en-US" sz="5400" b="1" kern="0" dirty="0">
              <a:solidFill>
                <a:srgbClr val="C04C4C"/>
              </a:solidFill>
              <a:latin typeface="+mj-lt"/>
            </a:endParaRPr>
          </a:p>
        </p:txBody>
      </p:sp>
      <p:sp>
        <p:nvSpPr>
          <p:cNvPr id="2" name="Slide Number Placeholder 1">
            <a:extLst>
              <a:ext uri="{FF2B5EF4-FFF2-40B4-BE49-F238E27FC236}">
                <a16:creationId xmlns:a16="http://schemas.microsoft.com/office/drawing/2014/main" id="{E3C654E5-62DD-7DBD-36AD-15C8FB032724}"/>
              </a:ext>
            </a:extLst>
          </p:cNvPr>
          <p:cNvSpPr>
            <a:spLocks noGrp="1"/>
          </p:cNvSpPr>
          <p:nvPr>
            <p:ph type="sldNum" sz="quarter" idx="11"/>
          </p:nvPr>
        </p:nvSpPr>
        <p:spPr/>
        <p:txBody>
          <a:bodyPr/>
          <a:lstStyle/>
          <a:p>
            <a:fld id="{7737D3DD-0AB3-4F16-99FA-6262B2B4036D}" type="slidenum">
              <a:rPr lang="en-MY" smtClean="0"/>
              <a:t>24</a:t>
            </a:fld>
            <a:endParaRPr lang="en-MY"/>
          </a:p>
        </p:txBody>
      </p:sp>
    </p:spTree>
    <p:extLst>
      <p:ext uri="{BB962C8B-B14F-4D97-AF65-F5344CB8AC3E}">
        <p14:creationId xmlns:p14="http://schemas.microsoft.com/office/powerpoint/2010/main" val="718773818"/>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4FAEB-0E32-5075-1E5C-18C89F28144F}"/>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9505980-E2BB-FDC5-BA00-89A5567FC129}"/>
              </a:ext>
            </a:extLst>
          </p:cNvPr>
          <p:cNvSpPr txBox="1"/>
          <p:nvPr/>
        </p:nvSpPr>
        <p:spPr>
          <a:xfrm>
            <a:off x="1674734" y="723116"/>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Cognitive Walkthroughs</a:t>
            </a:r>
          </a:p>
        </p:txBody>
      </p:sp>
      <p:sp>
        <p:nvSpPr>
          <p:cNvPr id="24" name="Rectangle 23">
            <a:extLst>
              <a:ext uri="{FF2B5EF4-FFF2-40B4-BE49-F238E27FC236}">
                <a16:creationId xmlns:a16="http://schemas.microsoft.com/office/drawing/2014/main" id="{9B98ED8E-50B2-390A-D3CC-B0ACC5DF7B32}"/>
              </a:ext>
            </a:extLst>
          </p:cNvPr>
          <p:cNvSpPr/>
          <p:nvPr/>
        </p:nvSpPr>
        <p:spPr>
          <a:xfrm>
            <a:off x="1035386" y="2089199"/>
            <a:ext cx="10110060" cy="374718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Focus on </a:t>
            </a:r>
            <a:r>
              <a:rPr lang="en-US" sz="2000" dirty="0">
                <a:solidFill>
                  <a:srgbClr val="C00000"/>
                </a:solidFill>
              </a:rPr>
              <a:t>ease of learning</a:t>
            </a:r>
          </a:p>
          <a:p>
            <a:pPr marL="457200" indent="-457200" algn="just">
              <a:lnSpc>
                <a:spcPct val="150000"/>
              </a:lnSpc>
              <a:buFont typeface="Arial" panose="020B0604020202020204" pitchFamily="34" charset="0"/>
              <a:buChar char="•"/>
            </a:pPr>
            <a:r>
              <a:rPr lang="en-US" sz="2000" dirty="0">
                <a:solidFill>
                  <a:srgbClr val="C00000"/>
                </a:solidFill>
              </a:rPr>
              <a:t>Designer</a:t>
            </a:r>
            <a:r>
              <a:rPr lang="en-US" sz="2000" dirty="0">
                <a:solidFill>
                  <a:schemeClr val="tx1">
                    <a:lumMod val="65000"/>
                    <a:lumOff val="35000"/>
                  </a:schemeClr>
                </a:solidFill>
              </a:rPr>
              <a:t> presents an aspect of </a:t>
            </a:r>
            <a:r>
              <a:rPr lang="en-US" sz="2000" dirty="0">
                <a:solidFill>
                  <a:srgbClr val="C00000"/>
                </a:solidFill>
              </a:rPr>
              <a:t>the design and usage scenarios</a:t>
            </a:r>
          </a:p>
          <a:p>
            <a:pPr marL="457200" indent="-457200" algn="just">
              <a:lnSpc>
                <a:spcPct val="150000"/>
              </a:lnSpc>
              <a:buFont typeface="Arial" panose="020B0604020202020204" pitchFamily="34" charset="0"/>
              <a:buChar char="•"/>
            </a:pPr>
            <a:r>
              <a:rPr lang="en-US" sz="2000" dirty="0">
                <a:solidFill>
                  <a:srgbClr val="C00000"/>
                </a:solidFill>
              </a:rPr>
              <a:t>Evaluator</a:t>
            </a:r>
            <a:r>
              <a:rPr lang="en-US" sz="2000" dirty="0">
                <a:solidFill>
                  <a:schemeClr val="tx1">
                    <a:lumMod val="65000"/>
                    <a:lumOff val="35000"/>
                  </a:schemeClr>
                </a:solidFill>
              </a:rPr>
              <a:t> is told the </a:t>
            </a:r>
            <a:r>
              <a:rPr lang="en-US" sz="2000" dirty="0">
                <a:solidFill>
                  <a:srgbClr val="C00000"/>
                </a:solidFill>
              </a:rPr>
              <a:t>assumptions about people </a:t>
            </a:r>
            <a:r>
              <a:rPr lang="en-US" sz="2000" dirty="0">
                <a:solidFill>
                  <a:schemeClr val="tx1">
                    <a:lumMod val="65000"/>
                    <a:lumOff val="35000"/>
                  </a:schemeClr>
                </a:solidFill>
              </a:rPr>
              <a:t>using the system, </a:t>
            </a:r>
            <a:r>
              <a:rPr lang="en-US" sz="2000" dirty="0">
                <a:solidFill>
                  <a:srgbClr val="C00000"/>
                </a:solidFill>
              </a:rPr>
              <a:t>context of use, task details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One or more </a:t>
            </a:r>
            <a:r>
              <a:rPr lang="en-US" sz="2000" dirty="0">
                <a:solidFill>
                  <a:srgbClr val="C00000"/>
                </a:solidFill>
              </a:rPr>
              <a:t>evaluators</a:t>
            </a:r>
            <a:r>
              <a:rPr lang="en-US" sz="2000" dirty="0">
                <a:solidFill>
                  <a:schemeClr val="tx1">
                    <a:lumMod val="65000"/>
                    <a:lumOff val="35000"/>
                  </a:schemeClr>
                </a:solidFill>
              </a:rPr>
              <a:t> </a:t>
            </a:r>
            <a:r>
              <a:rPr lang="en-US" sz="2000" dirty="0">
                <a:solidFill>
                  <a:srgbClr val="C00000"/>
                </a:solidFill>
              </a:rPr>
              <a:t>walk through the  design prototype </a:t>
            </a:r>
            <a:r>
              <a:rPr lang="en-US" sz="2000" dirty="0">
                <a:solidFill>
                  <a:schemeClr val="tx1">
                    <a:lumMod val="65000"/>
                    <a:lumOff val="35000"/>
                  </a:schemeClr>
                </a:solidFill>
              </a:rPr>
              <a:t>with the scenario</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Evaluators are </a:t>
            </a:r>
            <a:r>
              <a:rPr lang="en-US" sz="2000" dirty="0">
                <a:solidFill>
                  <a:srgbClr val="C00000"/>
                </a:solidFill>
              </a:rPr>
              <a:t>guided by three questions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619747F0-4C6B-13DB-C1EE-1CC6EE449E1F}"/>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25</a:t>
            </a:fld>
            <a:endParaRPr lang="en-MY" dirty="0"/>
          </a:p>
        </p:txBody>
      </p:sp>
    </p:spTree>
    <p:extLst>
      <p:ext uri="{BB962C8B-B14F-4D97-AF65-F5344CB8AC3E}">
        <p14:creationId xmlns:p14="http://schemas.microsoft.com/office/powerpoint/2010/main" val="371330090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FC24E-93BD-D3DE-5948-4A6845D57104}"/>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46558BEC-86B0-FA3B-CD74-7DAD510389CF}"/>
              </a:ext>
            </a:extLst>
          </p:cNvPr>
          <p:cNvSpPr txBox="1"/>
          <p:nvPr/>
        </p:nvSpPr>
        <p:spPr>
          <a:xfrm>
            <a:off x="1674734" y="723116"/>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The </a:t>
            </a:r>
            <a:r>
              <a:rPr lang="en-US" sz="4400" b="1" dirty="0">
                <a:solidFill>
                  <a:schemeClr val="tx1">
                    <a:lumMod val="75000"/>
                    <a:lumOff val="25000"/>
                  </a:schemeClr>
                </a:solidFill>
                <a:latin typeface="+mj-lt"/>
              </a:rPr>
              <a:t>THREE (3)</a:t>
            </a:r>
            <a:r>
              <a:rPr lang="en-US" sz="4400" dirty="0">
                <a:solidFill>
                  <a:schemeClr val="tx1">
                    <a:lumMod val="75000"/>
                    <a:lumOff val="25000"/>
                  </a:schemeClr>
                </a:solidFill>
                <a:latin typeface="+mj-lt"/>
              </a:rPr>
              <a:t> Questions</a:t>
            </a:r>
          </a:p>
        </p:txBody>
      </p:sp>
      <p:sp>
        <p:nvSpPr>
          <p:cNvPr id="24" name="Rectangle 23">
            <a:extLst>
              <a:ext uri="{FF2B5EF4-FFF2-40B4-BE49-F238E27FC236}">
                <a16:creationId xmlns:a16="http://schemas.microsoft.com/office/drawing/2014/main" id="{6954CA55-D9BA-59E5-9E90-F4771CAE117B}"/>
              </a:ext>
            </a:extLst>
          </p:cNvPr>
          <p:cNvSpPr/>
          <p:nvPr/>
        </p:nvSpPr>
        <p:spPr>
          <a:xfrm>
            <a:off x="1035386" y="2089199"/>
            <a:ext cx="10110060" cy="3747180"/>
          </a:xfrm>
          <a:prstGeom prst="rect">
            <a:avLst/>
          </a:prstGeom>
        </p:spPr>
        <p:txBody>
          <a:bodyPr wrap="square">
            <a:spAutoFit/>
          </a:bodyPr>
          <a:lstStyle/>
          <a:p>
            <a:pPr marL="457200" indent="-457200" algn="just">
              <a:lnSpc>
                <a:spcPct val="150000"/>
              </a:lnSpc>
              <a:buFont typeface="+mj-lt"/>
              <a:buAutoNum type="arabicPeriod"/>
            </a:pPr>
            <a:r>
              <a:rPr lang="en-US" sz="2000" dirty="0">
                <a:solidFill>
                  <a:schemeClr val="tx1">
                    <a:lumMod val="65000"/>
                    <a:lumOff val="35000"/>
                  </a:schemeClr>
                </a:solidFill>
              </a:rPr>
              <a:t>Will the correct action be sufficiently evident to the people using the system?</a:t>
            </a:r>
          </a:p>
          <a:p>
            <a:pPr marL="457200" indent="-457200" algn="just">
              <a:lnSpc>
                <a:spcPct val="150000"/>
              </a:lnSpc>
              <a:buFont typeface="+mj-lt"/>
              <a:buAutoNum type="arabicPeriod"/>
            </a:pPr>
            <a:r>
              <a:rPr lang="en-US" sz="2000" dirty="0">
                <a:solidFill>
                  <a:schemeClr val="tx1">
                    <a:lumMod val="65000"/>
                    <a:lumOff val="35000"/>
                  </a:schemeClr>
                </a:solidFill>
              </a:rPr>
              <a:t>Will the they notice that the correct action is available? </a:t>
            </a:r>
          </a:p>
          <a:p>
            <a:pPr marL="457200" indent="-457200" algn="just">
              <a:lnSpc>
                <a:spcPct val="150000"/>
              </a:lnSpc>
              <a:buFont typeface="+mj-lt"/>
              <a:buAutoNum type="arabicPeriod"/>
            </a:pPr>
            <a:r>
              <a:rPr lang="en-US" sz="2000" dirty="0">
                <a:solidFill>
                  <a:schemeClr val="tx1">
                    <a:lumMod val="65000"/>
                    <a:lumOff val="35000"/>
                  </a:schemeClr>
                </a:solidFill>
              </a:rPr>
              <a:t>Will the they associate and interpret the response from the action correctly? </a:t>
            </a:r>
          </a:p>
          <a:p>
            <a:pPr algn="just">
              <a:lnSpc>
                <a:spcPct val="150000"/>
              </a:lnSpc>
            </a:pPr>
            <a:endParaRPr lang="en-US" sz="2000" dirty="0">
              <a:solidFill>
                <a:schemeClr val="tx1">
                  <a:lumMod val="65000"/>
                  <a:lumOff val="35000"/>
                </a:schemeClr>
              </a:solidFill>
            </a:endParaRPr>
          </a:p>
          <a:p>
            <a:pPr algn="just">
              <a:lnSpc>
                <a:spcPct val="150000"/>
              </a:lnSpc>
            </a:pPr>
            <a:r>
              <a:rPr lang="en-US" sz="2000" dirty="0">
                <a:solidFill>
                  <a:schemeClr val="tx1">
                    <a:lumMod val="65000"/>
                    <a:lumOff val="35000"/>
                  </a:schemeClr>
                </a:solidFill>
              </a:rPr>
              <a:t>As the evaluators work through the scenario, they </a:t>
            </a:r>
            <a:r>
              <a:rPr lang="en-US" sz="2000" dirty="0">
                <a:solidFill>
                  <a:srgbClr val="C00000"/>
                </a:solidFill>
              </a:rPr>
              <a:t>note problems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77554494-0D7C-D4EA-BAC7-BB869CBE999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26</a:t>
            </a:fld>
            <a:endParaRPr lang="en-MY" dirty="0"/>
          </a:p>
        </p:txBody>
      </p:sp>
    </p:spTree>
    <p:extLst>
      <p:ext uri="{BB962C8B-B14F-4D97-AF65-F5344CB8AC3E}">
        <p14:creationId xmlns:p14="http://schemas.microsoft.com/office/powerpoint/2010/main" val="3731114517"/>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5E015-16C1-351C-B4DD-AA4E4405C5C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2D2D840F-7D67-296E-656D-04A9D72DE35A}"/>
              </a:ext>
            </a:extLst>
          </p:cNvPr>
          <p:cNvSpPr txBox="1"/>
          <p:nvPr/>
        </p:nvSpPr>
        <p:spPr>
          <a:xfrm>
            <a:off x="1674734" y="723116"/>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Pluralistic Walkthroughs</a:t>
            </a:r>
          </a:p>
        </p:txBody>
      </p:sp>
      <p:sp>
        <p:nvSpPr>
          <p:cNvPr id="24" name="Rectangle 23">
            <a:extLst>
              <a:ext uri="{FF2B5EF4-FFF2-40B4-BE49-F238E27FC236}">
                <a16:creationId xmlns:a16="http://schemas.microsoft.com/office/drawing/2014/main" id="{F42E20DF-671C-32F0-B9AB-909CF7A23E98}"/>
              </a:ext>
            </a:extLst>
          </p:cNvPr>
          <p:cNvSpPr/>
          <p:nvPr/>
        </p:nvSpPr>
        <p:spPr>
          <a:xfrm>
            <a:off x="1035386" y="2320031"/>
            <a:ext cx="10110060" cy="3285515"/>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rgbClr val="C00000"/>
                </a:solidFill>
              </a:rPr>
              <a:t>Variation</a:t>
            </a:r>
            <a:r>
              <a:rPr lang="en-US" sz="2000" dirty="0">
                <a:solidFill>
                  <a:schemeClr val="tx1">
                    <a:lumMod val="65000"/>
                    <a:lumOff val="35000"/>
                  </a:schemeClr>
                </a:solidFill>
              </a:rPr>
              <a:t> on the cognitive walkthrough theme</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Performed by a carefully </a:t>
            </a:r>
            <a:r>
              <a:rPr lang="en-US" sz="2000" dirty="0">
                <a:solidFill>
                  <a:srgbClr val="C00000"/>
                </a:solidFill>
              </a:rPr>
              <a:t>managed team</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A panel of evaluators begins by </a:t>
            </a:r>
            <a:r>
              <a:rPr lang="en-US" sz="2000" dirty="0">
                <a:solidFill>
                  <a:srgbClr val="C00000"/>
                </a:solidFill>
              </a:rPr>
              <a:t>working separately</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This is followed by a managed discussion that </a:t>
            </a:r>
            <a:r>
              <a:rPr lang="en-US" sz="2000" dirty="0">
                <a:solidFill>
                  <a:srgbClr val="C00000"/>
                </a:solidFill>
              </a:rPr>
              <a:t>leads to agreed decisions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 approach lends itself well </a:t>
            </a:r>
            <a:r>
              <a:rPr lang="en-US" sz="2000" dirty="0">
                <a:solidFill>
                  <a:srgbClr val="C00000"/>
                </a:solidFill>
              </a:rPr>
              <a:t>to participatory design</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There are also other adaptations of </a:t>
            </a:r>
            <a:r>
              <a:rPr lang="en-US" sz="2000" dirty="0">
                <a:solidFill>
                  <a:srgbClr val="C00000"/>
                </a:solidFill>
              </a:rPr>
              <a:t>basic cognitive walkthroughs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BC057DEB-2BCB-7A14-7C37-990CBA0222F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27</a:t>
            </a:fld>
            <a:endParaRPr lang="en-MY" dirty="0"/>
          </a:p>
        </p:txBody>
      </p:sp>
    </p:spTree>
    <p:extLst>
      <p:ext uri="{BB962C8B-B14F-4D97-AF65-F5344CB8AC3E}">
        <p14:creationId xmlns:p14="http://schemas.microsoft.com/office/powerpoint/2010/main" val="371394414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8E325-2191-0253-CF1B-F4D006B896E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FF3AC5B-CE78-C392-91DA-CBD0027775A3}"/>
              </a:ext>
            </a:extLst>
          </p:cNvPr>
          <p:cNvSpPr txBox="1"/>
          <p:nvPr/>
        </p:nvSpPr>
        <p:spPr>
          <a:xfrm>
            <a:off x="7258050" y="1782972"/>
            <a:ext cx="4402060" cy="1600438"/>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ANALYTICS</a:t>
            </a:r>
          </a:p>
          <a:p>
            <a:pPr algn="ctr"/>
            <a:r>
              <a:rPr lang="en-US" sz="4400" b="1" kern="0" dirty="0">
                <a:solidFill>
                  <a:srgbClr val="C04C4C"/>
                </a:solidFill>
                <a:latin typeface="+mj-lt"/>
              </a:rPr>
              <a:t>&amp; A/B TESTING</a:t>
            </a:r>
          </a:p>
        </p:txBody>
      </p:sp>
      <p:sp>
        <p:nvSpPr>
          <p:cNvPr id="2" name="Slide Number Placeholder 1">
            <a:extLst>
              <a:ext uri="{FF2B5EF4-FFF2-40B4-BE49-F238E27FC236}">
                <a16:creationId xmlns:a16="http://schemas.microsoft.com/office/drawing/2014/main" id="{349AC9D9-6458-D70C-E7F0-42B13F705ECB}"/>
              </a:ext>
            </a:extLst>
          </p:cNvPr>
          <p:cNvSpPr>
            <a:spLocks noGrp="1"/>
          </p:cNvSpPr>
          <p:nvPr>
            <p:ph type="sldNum" sz="quarter" idx="11"/>
          </p:nvPr>
        </p:nvSpPr>
        <p:spPr/>
        <p:txBody>
          <a:bodyPr/>
          <a:lstStyle/>
          <a:p>
            <a:fld id="{7737D3DD-0AB3-4F16-99FA-6262B2B4036D}" type="slidenum">
              <a:rPr lang="en-MY" smtClean="0"/>
              <a:t>28</a:t>
            </a:fld>
            <a:endParaRPr lang="en-MY"/>
          </a:p>
        </p:txBody>
      </p:sp>
    </p:spTree>
    <p:extLst>
      <p:ext uri="{BB962C8B-B14F-4D97-AF65-F5344CB8AC3E}">
        <p14:creationId xmlns:p14="http://schemas.microsoft.com/office/powerpoint/2010/main" val="3198916562"/>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B5AE1-86AA-902B-5FBE-627CE9D76E35}"/>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D5C75E2-D847-2088-2897-DDA0EE8DEAB2}"/>
              </a:ext>
            </a:extLst>
          </p:cNvPr>
          <p:cNvSpPr txBox="1"/>
          <p:nvPr/>
        </p:nvSpPr>
        <p:spPr>
          <a:xfrm>
            <a:off x="1674734" y="627261"/>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Web Analytics</a:t>
            </a:r>
          </a:p>
        </p:txBody>
      </p:sp>
      <p:sp>
        <p:nvSpPr>
          <p:cNvPr id="24" name="Rectangle 23">
            <a:extLst>
              <a:ext uri="{FF2B5EF4-FFF2-40B4-BE49-F238E27FC236}">
                <a16:creationId xmlns:a16="http://schemas.microsoft.com/office/drawing/2014/main" id="{95D15A38-E7CB-350B-7DAB-C8199D1A868D}"/>
              </a:ext>
            </a:extLst>
          </p:cNvPr>
          <p:cNvSpPr/>
          <p:nvPr/>
        </p:nvSpPr>
        <p:spPr>
          <a:xfrm>
            <a:off x="1035386" y="1396702"/>
            <a:ext cx="10110060" cy="5132174"/>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A form of </a:t>
            </a:r>
            <a:r>
              <a:rPr lang="en-US" sz="2000" dirty="0">
                <a:solidFill>
                  <a:srgbClr val="C00000"/>
                </a:solidFill>
              </a:rPr>
              <a:t>interaction logging </a:t>
            </a:r>
            <a:r>
              <a:rPr lang="en-US" sz="2000" dirty="0">
                <a:solidFill>
                  <a:schemeClr val="tx1">
                    <a:lumMod val="65000"/>
                    <a:lumOff val="35000"/>
                  </a:schemeClr>
                </a:solidFill>
              </a:rPr>
              <a:t>that </a:t>
            </a:r>
            <a:r>
              <a:rPr lang="en-US" sz="2000" dirty="0">
                <a:solidFill>
                  <a:srgbClr val="C00000"/>
                </a:solidFill>
              </a:rPr>
              <a:t>analyses users’ activities on websites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Web designers use the analysis </a:t>
            </a:r>
            <a:r>
              <a:rPr lang="en-US" sz="2000" dirty="0">
                <a:solidFill>
                  <a:srgbClr val="C00000"/>
                </a:solidFill>
              </a:rPr>
              <a:t>to improve their designs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When designs don’t meet peoples’ needs, they will not return to the site</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They become one-time users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Web analytics </a:t>
            </a:r>
            <a:r>
              <a:rPr lang="en-US" sz="2000" dirty="0">
                <a:solidFill>
                  <a:srgbClr val="C00000"/>
                </a:solidFill>
              </a:rPr>
              <a:t>enable designers to track the activities of people </a:t>
            </a:r>
            <a:r>
              <a:rPr lang="en-US" sz="2000" dirty="0">
                <a:solidFill>
                  <a:schemeClr val="tx1">
                    <a:lumMod val="65000"/>
                    <a:lumOff val="35000"/>
                  </a:schemeClr>
                </a:solidFill>
              </a:rPr>
              <a:t>on their site</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They can see </a:t>
            </a:r>
            <a:r>
              <a:rPr lang="en-US" sz="2000" dirty="0">
                <a:solidFill>
                  <a:srgbClr val="C00000"/>
                </a:solidFill>
              </a:rPr>
              <a:t>how many </a:t>
            </a:r>
            <a:r>
              <a:rPr lang="en-US" sz="2000" dirty="0">
                <a:solidFill>
                  <a:schemeClr val="tx1">
                    <a:lumMod val="65000"/>
                    <a:lumOff val="35000"/>
                  </a:schemeClr>
                </a:solidFill>
              </a:rPr>
              <a:t>people come to the site, </a:t>
            </a:r>
            <a:r>
              <a:rPr lang="en-US" sz="2000" dirty="0">
                <a:solidFill>
                  <a:srgbClr val="C00000"/>
                </a:solidFill>
              </a:rPr>
              <a:t>how long </a:t>
            </a:r>
            <a:r>
              <a:rPr lang="en-US" sz="2000" dirty="0">
                <a:solidFill>
                  <a:schemeClr val="tx1">
                    <a:lumMod val="65000"/>
                    <a:lumOff val="35000"/>
                  </a:schemeClr>
                </a:solidFill>
              </a:rPr>
              <a:t>they stay, and </a:t>
            </a:r>
            <a:r>
              <a:rPr lang="en-US" sz="2000" dirty="0">
                <a:solidFill>
                  <a:srgbClr val="C00000"/>
                </a:solidFill>
              </a:rPr>
              <a:t>where they go </a:t>
            </a:r>
            <a:r>
              <a:rPr lang="en-US" sz="2000" dirty="0">
                <a:solidFill>
                  <a:schemeClr val="tx1">
                    <a:lumMod val="65000"/>
                    <a:lumOff val="35000"/>
                  </a:schemeClr>
                </a:solidFill>
              </a:rPr>
              <a:t>next</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Web analytics offer designers a “big picture” about how their site performs based on </a:t>
            </a:r>
            <a:r>
              <a:rPr lang="en-US" sz="2000" dirty="0">
                <a:solidFill>
                  <a:srgbClr val="C00000"/>
                </a:solidFill>
              </a:rPr>
              <a:t>users’ activity</a:t>
            </a:r>
          </a:p>
          <a:p>
            <a:pPr marL="457200" indent="-457200" algn="just">
              <a:lnSpc>
                <a:spcPct val="150000"/>
              </a:lnSpc>
              <a:buFont typeface="Arial" panose="020B0604020202020204" pitchFamily="34" charset="0"/>
              <a:buChar char="•"/>
            </a:pPr>
            <a:r>
              <a:rPr lang="en-US" sz="2000" dirty="0">
                <a:solidFill>
                  <a:srgbClr val="C00000"/>
                </a:solidFill>
              </a:rPr>
              <a:t>Google</a:t>
            </a:r>
            <a:r>
              <a:rPr lang="en-US" sz="2000" dirty="0">
                <a:solidFill>
                  <a:schemeClr val="tx1">
                    <a:lumMod val="65000"/>
                    <a:lumOff val="35000"/>
                  </a:schemeClr>
                </a:solidFill>
              </a:rPr>
              <a:t> provides is one of the </a:t>
            </a:r>
            <a:r>
              <a:rPr lang="en-US" sz="2000" dirty="0">
                <a:solidFill>
                  <a:srgbClr val="C00000"/>
                </a:solidFill>
              </a:rPr>
              <a:t>most well-known analytics</a:t>
            </a:r>
          </a:p>
        </p:txBody>
      </p:sp>
      <p:sp>
        <p:nvSpPr>
          <p:cNvPr id="4" name="Slide Number Placeholder 1">
            <a:extLst>
              <a:ext uri="{FF2B5EF4-FFF2-40B4-BE49-F238E27FC236}">
                <a16:creationId xmlns:a16="http://schemas.microsoft.com/office/drawing/2014/main" id="{D358670B-CFA5-7685-15E5-D536301A589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29</a:t>
            </a:fld>
            <a:endParaRPr lang="en-MY" dirty="0"/>
          </a:p>
        </p:txBody>
      </p:sp>
    </p:spTree>
    <p:extLst>
      <p:ext uri="{BB962C8B-B14F-4D97-AF65-F5344CB8AC3E}">
        <p14:creationId xmlns:p14="http://schemas.microsoft.com/office/powerpoint/2010/main" val="56845613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9AD9B-6517-9D24-EBAA-A5E4EEA0318C}"/>
            </a:ext>
          </a:extLst>
        </p:cNvPr>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B2BC3A30-BA16-DB3A-FF1B-0C502E3025E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30</a:t>
            </a:fld>
            <a:endParaRPr lang="en-MY" dirty="0"/>
          </a:p>
        </p:txBody>
      </p:sp>
      <p:pic>
        <p:nvPicPr>
          <p:cNvPr id="3" name="Picture 2" descr="An illustration of segments of the Google Analytics dashboard for id-book.com in xxxx 2022 until xxxx 2022: (a) audience overview, (b) the devices used to access the site, and (c) the languages of the users">
            <a:extLst>
              <a:ext uri="{FF2B5EF4-FFF2-40B4-BE49-F238E27FC236}">
                <a16:creationId xmlns:a16="http://schemas.microsoft.com/office/drawing/2014/main" id="{2FEC4197-A314-A830-73BC-28890AC84FFC}"/>
              </a:ext>
            </a:extLst>
          </p:cNvPr>
          <p:cNvPicPr>
            <a:picLocks noChangeAspect="1"/>
          </p:cNvPicPr>
          <p:nvPr/>
        </p:nvPicPr>
        <p:blipFill>
          <a:blip r:embed="rId2"/>
          <a:stretch>
            <a:fillRect/>
          </a:stretch>
        </p:blipFill>
        <p:spPr>
          <a:xfrm>
            <a:off x="241791" y="992550"/>
            <a:ext cx="5119166" cy="2682877"/>
          </a:xfrm>
          <a:prstGeom prst="rect">
            <a:avLst/>
          </a:prstGeom>
        </p:spPr>
      </p:pic>
      <p:pic>
        <p:nvPicPr>
          <p:cNvPr id="5" name="Picture 4">
            <a:extLst>
              <a:ext uri="{FF2B5EF4-FFF2-40B4-BE49-F238E27FC236}">
                <a16:creationId xmlns:a16="http://schemas.microsoft.com/office/drawing/2014/main" id="{39265D33-B683-59CA-A947-CE625EDDF48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610681" y="3549523"/>
            <a:ext cx="3657600" cy="2476500"/>
          </a:xfrm>
          <a:prstGeom prst="rect">
            <a:avLst/>
          </a:prstGeom>
        </p:spPr>
      </p:pic>
      <p:sp>
        <p:nvSpPr>
          <p:cNvPr id="7" name="TextBox 6">
            <a:extLst>
              <a:ext uri="{FF2B5EF4-FFF2-40B4-BE49-F238E27FC236}">
                <a16:creationId xmlns:a16="http://schemas.microsoft.com/office/drawing/2014/main" id="{8FB39805-506A-A82D-5D17-39AA93A4DD63}"/>
              </a:ext>
            </a:extLst>
          </p:cNvPr>
          <p:cNvSpPr txBox="1"/>
          <p:nvPr/>
        </p:nvSpPr>
        <p:spPr>
          <a:xfrm>
            <a:off x="1648161" y="369900"/>
            <a:ext cx="8884509" cy="707886"/>
          </a:xfrm>
          <a:prstGeom prst="rect">
            <a:avLst/>
          </a:prstGeom>
          <a:noFill/>
        </p:spPr>
        <p:txBody>
          <a:bodyPr wrap="square">
            <a:spAutoFit/>
          </a:bodyPr>
          <a:lstStyle/>
          <a:p>
            <a:r>
              <a:rPr lang="en-US" sz="2000" dirty="0">
                <a:solidFill>
                  <a:schemeClr val="tx1">
                    <a:lumMod val="65000"/>
                    <a:lumOff val="35000"/>
                  </a:schemeClr>
                </a:solidFill>
              </a:rPr>
              <a:t>Segment of Google Analytics for </a:t>
            </a:r>
            <a:r>
              <a:rPr lang="en-US" sz="2000" dirty="0">
                <a:solidFill>
                  <a:schemeClr val="tx1">
                    <a:lumMod val="65000"/>
                    <a:lumOff val="35000"/>
                  </a:schemeClr>
                </a:solidFill>
                <a:hlinkClick r:id="rId4">
                  <a:extLst>
                    <a:ext uri="{A12FA001-AC4F-418D-AE19-62706E023703}">
                      <ahyp:hlinkClr xmlns:ahyp="http://schemas.microsoft.com/office/drawing/2018/hyperlinkcolor" val="tx"/>
                    </a:ext>
                  </a:extLst>
                </a:hlinkClick>
              </a:rPr>
              <a:t>Interaction Design 5e</a:t>
            </a:r>
            <a:r>
              <a:rPr lang="en-US" sz="2000" dirty="0">
                <a:solidFill>
                  <a:schemeClr val="tx1">
                    <a:lumMod val="65000"/>
                    <a:lumOff val="35000"/>
                  </a:schemeClr>
                </a:solidFill>
              </a:rPr>
              <a:t> website, December 2022</a:t>
            </a:r>
          </a:p>
        </p:txBody>
      </p:sp>
      <p:pic>
        <p:nvPicPr>
          <p:cNvPr id="8" name="Picture 7" descr="Snapshot of segments of the Google Analytics dashboard for id-book.com in xxxx 2022 until xxxx 2022: (a) audience overview, (b) the devices used to access the site, and (c) the languages of the users">
            <a:extLst>
              <a:ext uri="{FF2B5EF4-FFF2-40B4-BE49-F238E27FC236}">
                <a16:creationId xmlns:a16="http://schemas.microsoft.com/office/drawing/2014/main" id="{DCD1841C-A016-2E4D-1E2D-864581554976}"/>
              </a:ext>
              <a:ext uri="{C183D7F6-B498-43B3-948B-1728B52AA6E4}">
                <adec:decorative xmlns:adec="http://schemas.microsoft.com/office/drawing/2017/decorative" val="0"/>
              </a:ext>
            </a:extLst>
          </p:cNvPr>
          <p:cNvPicPr>
            <a:picLocks noChangeAspect="1"/>
          </p:cNvPicPr>
          <p:nvPr/>
        </p:nvPicPr>
        <p:blipFill>
          <a:blip r:embed="rId5"/>
          <a:stretch>
            <a:fillRect/>
          </a:stretch>
        </p:blipFill>
        <p:spPr>
          <a:xfrm>
            <a:off x="5360957" y="1484784"/>
            <a:ext cx="6421805" cy="3888432"/>
          </a:xfrm>
          <a:prstGeom prst="rect">
            <a:avLst/>
          </a:prstGeom>
        </p:spPr>
      </p:pic>
    </p:spTree>
    <p:extLst>
      <p:ext uri="{BB962C8B-B14F-4D97-AF65-F5344CB8AC3E}">
        <p14:creationId xmlns:p14="http://schemas.microsoft.com/office/powerpoint/2010/main" val="417852255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FDCC-B385-EAE5-DC75-311243EA3B78}"/>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56ADC83-C6FF-D5D6-D29B-355E4457F637}"/>
              </a:ext>
            </a:extLst>
          </p:cNvPr>
          <p:cNvSpPr txBox="1"/>
          <p:nvPr/>
        </p:nvSpPr>
        <p:spPr>
          <a:xfrm>
            <a:off x="1674734" y="627261"/>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A/B Testing</a:t>
            </a:r>
          </a:p>
        </p:txBody>
      </p:sp>
      <p:sp>
        <p:nvSpPr>
          <p:cNvPr id="24" name="Rectangle 23">
            <a:extLst>
              <a:ext uri="{FF2B5EF4-FFF2-40B4-BE49-F238E27FC236}">
                <a16:creationId xmlns:a16="http://schemas.microsoft.com/office/drawing/2014/main" id="{68035A6E-EAF7-CAFB-612B-E99B5230DD28}"/>
              </a:ext>
            </a:extLst>
          </p:cNvPr>
          <p:cNvSpPr/>
          <p:nvPr/>
        </p:nvSpPr>
        <p:spPr>
          <a:xfrm>
            <a:off x="1035386" y="1762512"/>
            <a:ext cx="10110060" cy="467050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A type of </a:t>
            </a:r>
            <a:r>
              <a:rPr lang="en-US" sz="2000" dirty="0">
                <a:solidFill>
                  <a:srgbClr val="C00000"/>
                </a:solidFill>
              </a:rPr>
              <a:t>large-scale experiment</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Offers </a:t>
            </a:r>
            <a:r>
              <a:rPr lang="en-US" sz="2000" dirty="0">
                <a:solidFill>
                  <a:srgbClr val="C00000"/>
                </a:solidFill>
              </a:rPr>
              <a:t>another way to evaluate </a:t>
            </a:r>
            <a:r>
              <a:rPr lang="en-US" sz="2000" dirty="0">
                <a:solidFill>
                  <a:schemeClr val="tx1">
                    <a:lumMod val="65000"/>
                    <a:lumOff val="35000"/>
                  </a:schemeClr>
                </a:solidFill>
              </a:rPr>
              <a:t>a website, application or app running on a mobile device</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Often used for evaluating changes in design of </a:t>
            </a:r>
            <a:r>
              <a:rPr lang="en-US" sz="2000" dirty="0">
                <a:solidFill>
                  <a:srgbClr val="C00000"/>
                </a:solidFill>
              </a:rPr>
              <a:t>social media applications</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Compares how </a:t>
            </a:r>
            <a:r>
              <a:rPr lang="en-US" sz="2000" dirty="0">
                <a:solidFill>
                  <a:srgbClr val="C00000"/>
                </a:solidFill>
              </a:rPr>
              <a:t>two groups of users perform on two versions </a:t>
            </a:r>
            <a:r>
              <a:rPr lang="en-US" sz="2000" dirty="0">
                <a:solidFill>
                  <a:schemeClr val="tx1">
                    <a:lumMod val="65000"/>
                    <a:lumOff val="35000"/>
                  </a:schemeClr>
                </a:solidFill>
              </a:rPr>
              <a:t>of a design</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Can involve thousands of people</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May create </a:t>
            </a:r>
            <a:r>
              <a:rPr lang="en-US" sz="2000" dirty="0">
                <a:solidFill>
                  <a:srgbClr val="C00000"/>
                </a:solidFill>
              </a:rPr>
              <a:t>ethical dilemmas </a:t>
            </a:r>
            <a:r>
              <a:rPr lang="en-US" sz="2000" dirty="0">
                <a:solidFill>
                  <a:schemeClr val="tx1">
                    <a:lumMod val="65000"/>
                    <a:lumOff val="35000"/>
                  </a:schemeClr>
                </a:solidFill>
              </a:rPr>
              <a:t>if users don’t know they are part of the test</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Care is needed to ensure that </a:t>
            </a:r>
            <a:r>
              <a:rPr lang="en-US" sz="2000" dirty="0">
                <a:solidFill>
                  <a:srgbClr val="C00000"/>
                </a:solidFill>
              </a:rPr>
              <a:t>other issues are not affecting users’ behavior</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EA3CEBBF-7F94-5A2C-C0BC-7D1BBD326A3B}"/>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31</a:t>
            </a:fld>
            <a:endParaRPr lang="en-MY" dirty="0"/>
          </a:p>
        </p:txBody>
      </p:sp>
    </p:spTree>
    <p:extLst>
      <p:ext uri="{BB962C8B-B14F-4D97-AF65-F5344CB8AC3E}">
        <p14:creationId xmlns:p14="http://schemas.microsoft.com/office/powerpoint/2010/main" val="305432022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C9329-69D4-5FAD-7880-CD852A278E3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F782785-55C0-C6BC-78B7-34307B8DC8B8}"/>
              </a:ext>
            </a:extLst>
          </p:cNvPr>
          <p:cNvSpPr txBox="1"/>
          <p:nvPr/>
        </p:nvSpPr>
        <p:spPr>
          <a:xfrm>
            <a:off x="7258050" y="1782972"/>
            <a:ext cx="4402060" cy="1754326"/>
          </a:xfrm>
          <a:prstGeom prst="rect">
            <a:avLst/>
          </a:prstGeom>
          <a:noFill/>
        </p:spPr>
        <p:txBody>
          <a:bodyPr wrap="square" rtlCol="0">
            <a:spAutoFit/>
          </a:bodyPr>
          <a:lstStyle/>
          <a:p>
            <a:pPr algn="ctr"/>
            <a:r>
              <a:rPr lang="en-US" sz="5400" b="1" kern="0" dirty="0">
                <a:solidFill>
                  <a:schemeClr val="tx1">
                    <a:lumMod val="85000"/>
                    <a:lumOff val="15000"/>
                  </a:schemeClr>
                </a:solidFill>
                <a:latin typeface="+mj-lt"/>
              </a:rPr>
              <a:t>PREDICTIVE</a:t>
            </a:r>
          </a:p>
          <a:p>
            <a:pPr algn="ctr"/>
            <a:r>
              <a:rPr lang="en-US" sz="5400" b="1" kern="0" dirty="0">
                <a:solidFill>
                  <a:srgbClr val="C04C4C"/>
                </a:solidFill>
                <a:latin typeface="+mj-lt"/>
              </a:rPr>
              <a:t>MODELS</a:t>
            </a:r>
          </a:p>
        </p:txBody>
      </p:sp>
      <p:sp>
        <p:nvSpPr>
          <p:cNvPr id="2" name="Slide Number Placeholder 1">
            <a:extLst>
              <a:ext uri="{FF2B5EF4-FFF2-40B4-BE49-F238E27FC236}">
                <a16:creationId xmlns:a16="http://schemas.microsoft.com/office/drawing/2014/main" id="{26A1180C-0B3B-7E75-8087-12D49711D76D}"/>
              </a:ext>
            </a:extLst>
          </p:cNvPr>
          <p:cNvSpPr>
            <a:spLocks noGrp="1"/>
          </p:cNvSpPr>
          <p:nvPr>
            <p:ph type="sldNum" sz="quarter" idx="11"/>
          </p:nvPr>
        </p:nvSpPr>
        <p:spPr/>
        <p:txBody>
          <a:bodyPr/>
          <a:lstStyle/>
          <a:p>
            <a:fld id="{7737D3DD-0AB3-4F16-99FA-6262B2B4036D}" type="slidenum">
              <a:rPr lang="en-MY" smtClean="0"/>
              <a:t>32</a:t>
            </a:fld>
            <a:endParaRPr lang="en-MY"/>
          </a:p>
        </p:txBody>
      </p:sp>
    </p:spTree>
    <p:extLst>
      <p:ext uri="{BB962C8B-B14F-4D97-AF65-F5344CB8AC3E}">
        <p14:creationId xmlns:p14="http://schemas.microsoft.com/office/powerpoint/2010/main" val="15209669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EA33-CC50-10C2-DC77-51701B91ADC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F897098B-1A04-EDFE-7786-CABF58444509}"/>
              </a:ext>
            </a:extLst>
          </p:cNvPr>
          <p:cNvSpPr txBox="1"/>
          <p:nvPr/>
        </p:nvSpPr>
        <p:spPr>
          <a:xfrm>
            <a:off x="1674734" y="627261"/>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Predictive Models</a:t>
            </a:r>
          </a:p>
        </p:txBody>
      </p:sp>
      <p:sp>
        <p:nvSpPr>
          <p:cNvPr id="24" name="Rectangle 23">
            <a:extLst>
              <a:ext uri="{FF2B5EF4-FFF2-40B4-BE49-F238E27FC236}">
                <a16:creationId xmlns:a16="http://schemas.microsoft.com/office/drawing/2014/main" id="{8992BEB0-01B2-DFF9-7F7B-E65E61AD1B0C}"/>
              </a:ext>
            </a:extLst>
          </p:cNvPr>
          <p:cNvSpPr/>
          <p:nvPr/>
        </p:nvSpPr>
        <p:spPr>
          <a:xfrm>
            <a:off x="1035386" y="1587114"/>
            <a:ext cx="10110060" cy="467050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Provide a way of evaluating products or designs without directly involving users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Less expensive than testing with users and some kinds of inspections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Usefulness limited to systems with predictable tasks, for example, voicemail systems, smartphones, and dedicated mobile devices</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Based on knowledge of expert error-free behavior</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7608D092-1BB4-D0DD-A8A6-AA7E4245242C}"/>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33</a:t>
            </a:fld>
            <a:endParaRPr lang="en-MY" dirty="0"/>
          </a:p>
        </p:txBody>
      </p:sp>
    </p:spTree>
    <p:extLst>
      <p:ext uri="{BB962C8B-B14F-4D97-AF65-F5344CB8AC3E}">
        <p14:creationId xmlns:p14="http://schemas.microsoft.com/office/powerpoint/2010/main" val="391551370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940CB-C7B6-0F55-E6A5-AC4BECDE690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8619F2C-CDE2-B614-8BAE-E5C171929E39}"/>
              </a:ext>
            </a:extLst>
          </p:cNvPr>
          <p:cNvSpPr txBox="1"/>
          <p:nvPr/>
        </p:nvSpPr>
        <p:spPr>
          <a:xfrm>
            <a:off x="1674734" y="627261"/>
            <a:ext cx="8831364" cy="769441"/>
          </a:xfrm>
          <a:prstGeom prst="rect">
            <a:avLst/>
          </a:prstGeom>
          <a:noFill/>
        </p:spPr>
        <p:txBody>
          <a:bodyPr wrap="square" rtlCol="0">
            <a:spAutoFit/>
          </a:bodyPr>
          <a:lstStyle/>
          <a:p>
            <a:pPr algn="ctr"/>
            <a:r>
              <a:rPr lang="en-US" sz="4400" dirty="0" err="1">
                <a:solidFill>
                  <a:schemeClr val="tx1">
                    <a:lumMod val="75000"/>
                    <a:lumOff val="25000"/>
                  </a:schemeClr>
                </a:solidFill>
                <a:latin typeface="+mj-lt"/>
              </a:rPr>
              <a:t>Fitts’</a:t>
            </a:r>
            <a:r>
              <a:rPr lang="en-US" sz="4400" dirty="0">
                <a:solidFill>
                  <a:schemeClr val="tx1">
                    <a:lumMod val="75000"/>
                    <a:lumOff val="25000"/>
                  </a:schemeClr>
                </a:solidFill>
                <a:latin typeface="+mj-lt"/>
              </a:rPr>
              <a:t> Law (1954)</a:t>
            </a:r>
          </a:p>
        </p:txBody>
      </p:sp>
      <p:sp>
        <p:nvSpPr>
          <p:cNvPr id="24" name="Rectangle 23">
            <a:extLst>
              <a:ext uri="{FF2B5EF4-FFF2-40B4-BE49-F238E27FC236}">
                <a16:creationId xmlns:a16="http://schemas.microsoft.com/office/drawing/2014/main" id="{F0F35452-2B35-052E-3785-ED04624729CA}"/>
              </a:ext>
            </a:extLst>
          </p:cNvPr>
          <p:cNvSpPr/>
          <p:nvPr/>
        </p:nvSpPr>
        <p:spPr>
          <a:xfrm>
            <a:off x="1035386" y="1810439"/>
            <a:ext cx="10110060" cy="4208844"/>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err="1">
                <a:solidFill>
                  <a:schemeClr val="tx1">
                    <a:lumMod val="65000"/>
                    <a:lumOff val="35000"/>
                  </a:schemeClr>
                </a:solidFill>
              </a:rPr>
              <a:t>Fitts’</a:t>
            </a:r>
            <a:r>
              <a:rPr lang="en-US" sz="2000" dirty="0">
                <a:solidFill>
                  <a:schemeClr val="tx1">
                    <a:lumMod val="65000"/>
                    <a:lumOff val="35000"/>
                  </a:schemeClr>
                </a:solidFill>
              </a:rPr>
              <a:t> Law predicts that the time to point at an object using a device is a function of the distance from the target object and the object’s size </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 further away and the smaller the object, the longer the time to locate it and point to it</a:t>
            </a: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It is particularly useful for determining where on a screen to position an object</a:t>
            </a:r>
          </a:p>
          <a:p>
            <a:pPr marL="457200" indent="-457200" algn="just">
              <a:lnSpc>
                <a:spcPct val="150000"/>
              </a:lnSpc>
              <a:buFont typeface="Arial" panose="020B0604020202020204" pitchFamily="34" charset="0"/>
              <a:buChar char="•"/>
            </a:pPr>
            <a:r>
              <a:rPr lang="en-US" sz="2000" dirty="0" err="1">
                <a:solidFill>
                  <a:schemeClr val="tx1">
                    <a:lumMod val="65000"/>
                    <a:lumOff val="35000"/>
                  </a:schemeClr>
                </a:solidFill>
              </a:rPr>
              <a:t>Fitts’</a:t>
            </a:r>
            <a:r>
              <a:rPr lang="en-US" sz="2000" dirty="0">
                <a:solidFill>
                  <a:schemeClr val="tx1">
                    <a:lumMod val="65000"/>
                    <a:lumOff val="35000"/>
                  </a:schemeClr>
                </a:solidFill>
              </a:rPr>
              <a:t> Law is useful for evaluating systems for which the time to locate an object is important, for example, smartphones, handhelds, and mobile devices</a:t>
            </a:r>
          </a:p>
        </p:txBody>
      </p:sp>
      <p:sp>
        <p:nvSpPr>
          <p:cNvPr id="4" name="Slide Number Placeholder 1">
            <a:extLst>
              <a:ext uri="{FF2B5EF4-FFF2-40B4-BE49-F238E27FC236}">
                <a16:creationId xmlns:a16="http://schemas.microsoft.com/office/drawing/2014/main" id="{C39112ED-AA18-2D5F-68A6-939C16A49ED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34</a:t>
            </a:fld>
            <a:endParaRPr lang="en-MY" dirty="0"/>
          </a:p>
        </p:txBody>
      </p:sp>
    </p:spTree>
    <p:extLst>
      <p:ext uri="{BB962C8B-B14F-4D97-AF65-F5344CB8AC3E}">
        <p14:creationId xmlns:p14="http://schemas.microsoft.com/office/powerpoint/2010/main" val="2306659687"/>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4"/>
          <p:cNvSpPr txBox="1">
            <a:spLocks noGrp="1"/>
          </p:cNvSpPr>
          <p:nvPr>
            <p:ph type="title"/>
          </p:nvPr>
        </p:nvSpPr>
        <p:spPr>
          <a:xfrm>
            <a:off x="838200" y="1236202"/>
            <a:ext cx="10515600" cy="1325563"/>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dirty="0" err="1"/>
              <a:t>Fitts’</a:t>
            </a:r>
            <a:r>
              <a:rPr lang="en-US" sz="3960" dirty="0"/>
              <a:t> Law:</a:t>
            </a:r>
            <a:br>
              <a:rPr lang="en-US" sz="3960" dirty="0"/>
            </a:br>
            <a:r>
              <a:rPr lang="en-US" sz="3960" dirty="0"/>
              <a:t>A Model of Human Motor Performance</a:t>
            </a:r>
            <a:endParaRPr sz="3960" dirty="0"/>
          </a:p>
        </p:txBody>
      </p:sp>
      <p:sp>
        <p:nvSpPr>
          <p:cNvPr id="2" name="Slide Number Placeholder 1">
            <a:extLst>
              <a:ext uri="{FF2B5EF4-FFF2-40B4-BE49-F238E27FC236}">
                <a16:creationId xmlns:a16="http://schemas.microsoft.com/office/drawing/2014/main" id="{7115263B-0E52-E5C7-5995-D88B2B59C16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35</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25"/>
          <p:cNvSpPr txBox="1">
            <a:spLocks noGrp="1"/>
          </p:cNvSpPr>
          <p:nvPr>
            <p:ph type="title" idx="4294967295"/>
          </p:nvPr>
        </p:nvSpPr>
        <p:spPr>
          <a:xfrm>
            <a:off x="1858297" y="457200"/>
            <a:ext cx="8229600" cy="13716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Task-Related </a:t>
            </a:r>
            <a:r>
              <a:rPr lang="en-US" sz="3960" b="0" dirty="0" err="1"/>
              <a:t>Organisation</a:t>
            </a:r>
            <a:r>
              <a:rPr lang="en-US" sz="3960" b="0" dirty="0"/>
              <a:t> </a:t>
            </a:r>
            <a:endParaRPr sz="3960" b="0" dirty="0"/>
          </a:p>
        </p:txBody>
      </p:sp>
      <p:sp>
        <p:nvSpPr>
          <p:cNvPr id="393" name="Google Shape;393;p25"/>
          <p:cNvSpPr txBox="1">
            <a:spLocks noGrp="1"/>
          </p:cNvSpPr>
          <p:nvPr>
            <p:ph type="body" idx="4294967295"/>
          </p:nvPr>
        </p:nvSpPr>
        <p:spPr>
          <a:xfrm>
            <a:off x="737419" y="2156619"/>
            <a:ext cx="4999037" cy="3886200"/>
          </a:xfrm>
          <a:prstGeom prst="rect">
            <a:avLst/>
          </a:prstGeom>
          <a:noFill/>
          <a:ln>
            <a:noFill/>
          </a:ln>
        </p:spPr>
        <p:txBody>
          <a:bodyPr spcFirstLastPara="1" vert="horz" wrap="square" lIns="91425" tIns="45700" rIns="91425" bIns="45700" rtlCol="0" anchor="t" anchorCtr="0">
            <a:normAutofit/>
          </a:bodyPr>
          <a:lstStyle/>
          <a:p>
            <a:pPr marL="342900">
              <a:spcBef>
                <a:spcPts val="0"/>
              </a:spcBef>
              <a:buSzPts val="2800"/>
              <a:buNone/>
            </a:pPr>
            <a:r>
              <a:rPr lang="en-US" sz="2400" dirty="0"/>
              <a:t>  </a:t>
            </a:r>
            <a:endParaRPr sz="2400" dirty="0"/>
          </a:p>
          <a:p>
            <a:pPr marL="342900">
              <a:spcBef>
                <a:spcPts val="480"/>
              </a:spcBef>
              <a:buSzPts val="2400"/>
              <a:buNone/>
            </a:pPr>
            <a:r>
              <a:rPr lang="en-US" sz="2400" dirty="0"/>
              <a:t>	"The primary goal for menu, form-</a:t>
            </a:r>
            <a:r>
              <a:rPr lang="en-US" sz="2400" dirty="0" err="1"/>
              <a:t>fillin</a:t>
            </a:r>
            <a:r>
              <a:rPr lang="en-US" sz="2400" dirty="0"/>
              <a:t>, and dialog-box designers is to create a sensible, comprehensible, memorable, and convenient organization relevant to the user's task." </a:t>
            </a:r>
            <a:endParaRPr sz="2400" dirty="0"/>
          </a:p>
        </p:txBody>
      </p:sp>
      <p:pic>
        <p:nvPicPr>
          <p:cNvPr id="394" name="Google Shape;394;p25" descr="fig 7"/>
          <p:cNvPicPr preferRelativeResize="0">
            <a:picLocks noGrp="1"/>
          </p:cNvPicPr>
          <p:nvPr>
            <p:ph type="body" idx="4294967295"/>
          </p:nvPr>
        </p:nvPicPr>
        <p:blipFill rotWithShape="1">
          <a:blip r:embed="rId3">
            <a:alphaModFix/>
          </a:blip>
          <a:srcRect/>
          <a:stretch/>
        </p:blipFill>
        <p:spPr>
          <a:xfrm>
            <a:off x="6455544" y="2046288"/>
            <a:ext cx="4999037" cy="4106862"/>
          </a:xfrm>
          <a:prstGeom prst="rect">
            <a:avLst/>
          </a:prstGeom>
          <a:noFill/>
          <a:ln>
            <a:noFill/>
          </a:ln>
        </p:spPr>
      </p:pic>
      <p:sp>
        <p:nvSpPr>
          <p:cNvPr id="2" name="Slide Number Placeholder 1">
            <a:extLst>
              <a:ext uri="{FF2B5EF4-FFF2-40B4-BE49-F238E27FC236}">
                <a16:creationId xmlns:a16="http://schemas.microsoft.com/office/drawing/2014/main" id="{45F28912-479C-4E10-22DC-9EA54FDB636A}"/>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36</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26"/>
          <p:cNvSpPr txBox="1">
            <a:spLocks noGrp="1"/>
          </p:cNvSpPr>
          <p:nvPr>
            <p:ph type="title" idx="4294967295"/>
          </p:nvPr>
        </p:nvSpPr>
        <p:spPr>
          <a:xfrm>
            <a:off x="2109020" y="274638"/>
            <a:ext cx="82296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dirty="0" err="1"/>
              <a:t>Fitts'</a:t>
            </a:r>
            <a:r>
              <a:rPr lang="en-US" sz="3960" dirty="0"/>
              <a:t> Law</a:t>
            </a:r>
            <a:endParaRPr sz="3960" dirty="0"/>
          </a:p>
        </p:txBody>
      </p:sp>
      <p:sp>
        <p:nvSpPr>
          <p:cNvPr id="401" name="Google Shape;401;p26"/>
          <p:cNvSpPr txBox="1">
            <a:spLocks noGrp="1"/>
          </p:cNvSpPr>
          <p:nvPr>
            <p:ph type="body" idx="4294967295"/>
          </p:nvPr>
        </p:nvSpPr>
        <p:spPr>
          <a:xfrm>
            <a:off x="722671" y="1485900"/>
            <a:ext cx="6238563" cy="3886200"/>
          </a:xfrm>
          <a:prstGeom prst="rect">
            <a:avLst/>
          </a:prstGeom>
          <a:noFill/>
          <a:ln>
            <a:noFill/>
          </a:ln>
        </p:spPr>
        <p:txBody>
          <a:bodyPr spcFirstLastPara="1" vert="horz" wrap="square" lIns="91425" tIns="45700" rIns="91425" bIns="45700" rtlCol="0" anchor="t" anchorCtr="0">
            <a:normAutofit/>
          </a:bodyPr>
          <a:lstStyle/>
          <a:p>
            <a:pPr marL="342900">
              <a:spcBef>
                <a:spcPts val="0"/>
              </a:spcBef>
            </a:pPr>
            <a:r>
              <a:rPr lang="en-US" dirty="0"/>
              <a:t>Index of difficulty = log</a:t>
            </a:r>
            <a:r>
              <a:rPr lang="en-US" baseline="-25000" dirty="0"/>
              <a:t>2</a:t>
            </a:r>
            <a:r>
              <a:rPr lang="en-US" dirty="0"/>
              <a:t> (D / W+1) </a:t>
            </a:r>
            <a:endParaRPr dirty="0"/>
          </a:p>
          <a:p>
            <a:pPr marL="742950" lvl="1" indent="-285750">
              <a:spcBef>
                <a:spcPts val="320"/>
              </a:spcBef>
              <a:buSzPts val="1600"/>
            </a:pPr>
            <a:r>
              <a:rPr lang="en-US" sz="1800" dirty="0"/>
              <a:t>D = distance between buttons</a:t>
            </a:r>
            <a:endParaRPr sz="1800" dirty="0"/>
          </a:p>
          <a:p>
            <a:pPr marL="742950" lvl="1" indent="-285750">
              <a:spcBef>
                <a:spcPts val="320"/>
              </a:spcBef>
              <a:buSzPts val="1600"/>
            </a:pPr>
            <a:r>
              <a:rPr lang="en-US" sz="1800" dirty="0"/>
              <a:t>W = target size</a:t>
            </a:r>
            <a:endParaRPr sz="1800" dirty="0"/>
          </a:p>
          <a:p>
            <a:pPr marL="342900"/>
            <a:r>
              <a:rPr lang="en-US" dirty="0"/>
              <a:t>Time to point = C1 + C2 (index of difficulty) </a:t>
            </a:r>
            <a:endParaRPr dirty="0"/>
          </a:p>
          <a:p>
            <a:pPr marL="342900"/>
            <a:r>
              <a:rPr lang="en-US" dirty="0"/>
              <a:t>C1 and C2 and constants that depend on the device </a:t>
            </a:r>
            <a:endParaRPr dirty="0"/>
          </a:p>
          <a:p>
            <a:pPr marL="742950" lvl="1" indent="-285750">
              <a:spcBef>
                <a:spcPts val="320"/>
              </a:spcBef>
              <a:buSzPts val="1600"/>
            </a:pPr>
            <a:r>
              <a:rPr lang="en-US" sz="1800" dirty="0"/>
              <a:t>C1 = start/stop time in seconds</a:t>
            </a:r>
            <a:endParaRPr sz="1800" dirty="0"/>
          </a:p>
          <a:p>
            <a:pPr marL="742950" lvl="1" indent="-285750">
              <a:spcBef>
                <a:spcPts val="320"/>
              </a:spcBef>
              <a:buSzPts val="1600"/>
            </a:pPr>
            <a:r>
              <a:rPr lang="en-US" sz="1800" dirty="0"/>
              <a:t>C2 = speed of the device</a:t>
            </a:r>
            <a:endParaRPr sz="1800" dirty="0"/>
          </a:p>
          <a:p>
            <a:pPr marL="342900"/>
            <a:r>
              <a:rPr lang="en-US" dirty="0"/>
              <a:t>Index of difficulty is log</a:t>
            </a:r>
            <a:r>
              <a:rPr lang="en-US" baseline="-25000" dirty="0"/>
              <a:t>2</a:t>
            </a:r>
            <a:r>
              <a:rPr lang="en-US" dirty="0"/>
              <a:t> (2*8/1) = log</a:t>
            </a:r>
            <a:r>
              <a:rPr lang="en-US" baseline="-25000" dirty="0"/>
              <a:t>2</a:t>
            </a:r>
            <a:r>
              <a:rPr lang="en-US" dirty="0"/>
              <a:t> (16) = 4 bits </a:t>
            </a:r>
            <a:endParaRPr dirty="0"/>
          </a:p>
          <a:p>
            <a:pPr marL="342900" indent="-228600">
              <a:buNone/>
            </a:pPr>
            <a:endParaRPr dirty="0"/>
          </a:p>
        </p:txBody>
      </p:sp>
      <p:pic>
        <p:nvPicPr>
          <p:cNvPr id="402" name="Google Shape;402;p26" descr="Fig 9"/>
          <p:cNvPicPr preferRelativeResize="0"/>
          <p:nvPr/>
        </p:nvPicPr>
        <p:blipFill rotWithShape="1">
          <a:blip r:embed="rId3">
            <a:alphaModFix/>
          </a:blip>
          <a:srcRect/>
          <a:stretch/>
        </p:blipFill>
        <p:spPr>
          <a:xfrm>
            <a:off x="6961234" y="1417638"/>
            <a:ext cx="4645742" cy="5278130"/>
          </a:xfrm>
          <a:prstGeom prst="rect">
            <a:avLst/>
          </a:prstGeom>
          <a:noFill/>
          <a:ln>
            <a:noFill/>
          </a:ln>
        </p:spPr>
      </p:pic>
      <p:sp>
        <p:nvSpPr>
          <p:cNvPr id="2" name="Slide Number Placeholder 1">
            <a:extLst>
              <a:ext uri="{FF2B5EF4-FFF2-40B4-BE49-F238E27FC236}">
                <a16:creationId xmlns:a16="http://schemas.microsoft.com/office/drawing/2014/main" id="{6312591A-67CC-5006-7D9E-17CE73C8C15A}"/>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37</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pic>
        <p:nvPicPr>
          <p:cNvPr id="407" name="Google Shape;407;p27"/>
          <p:cNvPicPr preferRelativeResize="0"/>
          <p:nvPr/>
        </p:nvPicPr>
        <p:blipFill rotWithShape="1">
          <a:blip r:embed="rId3">
            <a:alphaModFix/>
          </a:blip>
          <a:srcRect/>
          <a:stretch/>
        </p:blipFill>
        <p:spPr>
          <a:xfrm>
            <a:off x="2757948" y="1000125"/>
            <a:ext cx="6725265" cy="5223694"/>
          </a:xfrm>
          <a:prstGeom prst="rect">
            <a:avLst/>
          </a:prstGeom>
          <a:noFill/>
          <a:ln>
            <a:noFill/>
          </a:ln>
        </p:spPr>
      </p:pic>
      <p:sp>
        <p:nvSpPr>
          <p:cNvPr id="2" name="Slide Number Placeholder 1">
            <a:extLst>
              <a:ext uri="{FF2B5EF4-FFF2-40B4-BE49-F238E27FC236}">
                <a16:creationId xmlns:a16="http://schemas.microsoft.com/office/drawing/2014/main" id="{2CF36FA5-EFBD-1D2C-9432-1545D9B3043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38</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Google Shape;412;p28"/>
          <p:cNvPicPr preferRelativeResize="0"/>
          <p:nvPr/>
        </p:nvPicPr>
        <p:blipFill rotWithShape="1">
          <a:blip r:embed="rId3">
            <a:alphaModFix/>
          </a:blip>
          <a:srcRect/>
          <a:stretch/>
        </p:blipFill>
        <p:spPr>
          <a:xfrm>
            <a:off x="3038169" y="884902"/>
            <a:ext cx="6533534" cy="5206181"/>
          </a:xfrm>
          <a:prstGeom prst="rect">
            <a:avLst/>
          </a:prstGeom>
          <a:noFill/>
          <a:ln>
            <a:noFill/>
          </a:ln>
        </p:spPr>
      </p:pic>
      <p:sp>
        <p:nvSpPr>
          <p:cNvPr id="2" name="Slide Number Placeholder 1">
            <a:extLst>
              <a:ext uri="{FF2B5EF4-FFF2-40B4-BE49-F238E27FC236}">
                <a16:creationId xmlns:a16="http://schemas.microsoft.com/office/drawing/2014/main" id="{6BB9F0BD-58CC-675E-4D4D-17186894B01F}"/>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39</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29"/>
          <p:cNvSpPr txBox="1">
            <a:spLocks noGrp="1"/>
          </p:cNvSpPr>
          <p:nvPr>
            <p:ph type="title" idx="4294967295"/>
          </p:nvPr>
        </p:nvSpPr>
        <p:spPr>
          <a:xfrm>
            <a:off x="2389239" y="381000"/>
            <a:ext cx="77724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Fitts in Practice</a:t>
            </a:r>
            <a:endParaRPr sz="3960" b="0" dirty="0"/>
          </a:p>
        </p:txBody>
      </p:sp>
      <p:sp>
        <p:nvSpPr>
          <p:cNvPr id="419" name="Google Shape;419;p29"/>
          <p:cNvSpPr txBox="1">
            <a:spLocks noGrp="1"/>
          </p:cNvSpPr>
          <p:nvPr>
            <p:ph type="body" idx="4294967295"/>
          </p:nvPr>
        </p:nvSpPr>
        <p:spPr>
          <a:xfrm>
            <a:off x="1268361" y="1777185"/>
            <a:ext cx="9276736" cy="5181600"/>
          </a:xfrm>
          <a:prstGeom prst="rect">
            <a:avLst/>
          </a:prstGeom>
          <a:noFill/>
          <a:ln>
            <a:noFill/>
          </a:ln>
        </p:spPr>
        <p:txBody>
          <a:bodyPr spcFirstLastPara="1" vert="horz" wrap="square" lIns="91425" tIns="45700" rIns="91425" bIns="45700" rtlCol="0" anchor="t" anchorCtr="0">
            <a:normAutofit/>
          </a:bodyPr>
          <a:lstStyle/>
          <a:p>
            <a:pPr marL="457200" indent="-342900">
              <a:spcBef>
                <a:spcPts val="0"/>
              </a:spcBef>
              <a:buSzPts val="3200"/>
            </a:pPr>
            <a:r>
              <a:rPr lang="en-US" sz="2400" dirty="0"/>
              <a:t>Microsoft Toolbars allow you to either keep or remove the labels under Toolbar buttons</a:t>
            </a:r>
          </a:p>
          <a:p>
            <a:pPr marL="114300" indent="0">
              <a:spcBef>
                <a:spcPts val="0"/>
              </a:spcBef>
              <a:buSzPts val="3200"/>
              <a:buNone/>
            </a:pPr>
            <a:endParaRPr lang="en-US" sz="2400" dirty="0"/>
          </a:p>
          <a:p>
            <a:pPr marL="457200" indent="-342900">
              <a:spcBef>
                <a:spcPts val="0"/>
              </a:spcBef>
              <a:buSzPts val="3200"/>
            </a:pPr>
            <a:r>
              <a:rPr lang="en-US" sz="2400" dirty="0"/>
              <a:t>According to </a:t>
            </a:r>
            <a:r>
              <a:rPr lang="en-US" sz="2400" dirty="0" err="1"/>
              <a:t>Fitts’</a:t>
            </a:r>
            <a:r>
              <a:rPr lang="en-US" sz="2400" dirty="0"/>
              <a:t> Law, which is more efficient?</a:t>
            </a:r>
            <a:endParaRPr sz="2400" dirty="0"/>
          </a:p>
        </p:txBody>
      </p:sp>
      <p:graphicFrame>
        <p:nvGraphicFramePr>
          <p:cNvPr id="420" name="Google Shape;420;p29"/>
          <p:cNvGraphicFramePr/>
          <p:nvPr>
            <p:extLst>
              <p:ext uri="{D42A27DB-BD31-4B8C-83A1-F6EECF244321}">
                <p14:modId xmlns:p14="http://schemas.microsoft.com/office/powerpoint/2010/main" val="1883688258"/>
              </p:ext>
            </p:extLst>
          </p:nvPr>
        </p:nvGraphicFramePr>
        <p:xfrm>
          <a:off x="2814638" y="3519793"/>
          <a:ext cx="2519363" cy="1528763"/>
        </p:xfrm>
        <a:graphic>
          <a:graphicData uri="http://schemas.openxmlformats.org/presentationml/2006/ole">
            <mc:AlternateContent xmlns:mc="http://schemas.openxmlformats.org/markup-compatibility/2006">
              <mc:Choice xmlns:v="urn:schemas-microsoft-com:vml" Requires="v">
                <p:oleObj r:id="rId3" imgW="2519363" imgH="1528763" progId="Paint.Picture">
                  <p:embed/>
                </p:oleObj>
              </mc:Choice>
              <mc:Fallback>
                <p:oleObj r:id="rId3" imgW="2519363" imgH="1528763" progId="Paint.Picture">
                  <p:embed/>
                  <p:pic>
                    <p:nvPicPr>
                      <p:cNvPr id="420" name="Google Shape;420;p29"/>
                      <p:cNvPicPr preferRelativeResize="0"/>
                      <p:nvPr/>
                    </p:nvPicPr>
                    <p:blipFill rotWithShape="1">
                      <a:blip r:embed="rId4">
                        <a:alphaModFix/>
                      </a:blip>
                      <a:srcRect/>
                      <a:stretch/>
                    </p:blipFill>
                    <p:spPr>
                      <a:xfrm>
                        <a:off x="2814638" y="3519793"/>
                        <a:ext cx="2519363" cy="1528763"/>
                      </a:xfrm>
                      <a:prstGeom prst="rect">
                        <a:avLst/>
                      </a:prstGeom>
                      <a:noFill/>
                      <a:ln>
                        <a:noFill/>
                      </a:ln>
                    </p:spPr>
                  </p:pic>
                </p:oleObj>
              </mc:Fallback>
            </mc:AlternateContent>
          </a:graphicData>
        </a:graphic>
      </p:graphicFrame>
      <p:graphicFrame>
        <p:nvGraphicFramePr>
          <p:cNvPr id="421" name="Google Shape;421;p29"/>
          <p:cNvGraphicFramePr/>
          <p:nvPr>
            <p:extLst>
              <p:ext uri="{D42A27DB-BD31-4B8C-83A1-F6EECF244321}">
                <p14:modId xmlns:p14="http://schemas.microsoft.com/office/powerpoint/2010/main" val="3959400497"/>
              </p:ext>
            </p:extLst>
          </p:nvPr>
        </p:nvGraphicFramePr>
        <p:xfrm>
          <a:off x="5967412" y="3566624"/>
          <a:ext cx="1766888" cy="1435100"/>
        </p:xfrm>
        <a:graphic>
          <a:graphicData uri="http://schemas.openxmlformats.org/presentationml/2006/ole">
            <mc:AlternateContent xmlns:mc="http://schemas.openxmlformats.org/markup-compatibility/2006">
              <mc:Choice xmlns:v="urn:schemas-microsoft-com:vml" Requires="v">
                <p:oleObj r:id="rId5" imgW="1766888" imgH="1435100" progId="Paint.Picture">
                  <p:embed/>
                </p:oleObj>
              </mc:Choice>
              <mc:Fallback>
                <p:oleObj r:id="rId5" imgW="1766888" imgH="1435100" progId="Paint.Picture">
                  <p:embed/>
                  <p:pic>
                    <p:nvPicPr>
                      <p:cNvPr id="421" name="Google Shape;421;p29"/>
                      <p:cNvPicPr preferRelativeResize="0"/>
                      <p:nvPr/>
                    </p:nvPicPr>
                    <p:blipFill rotWithShape="1">
                      <a:blip r:embed="rId6">
                        <a:alphaModFix/>
                      </a:blip>
                      <a:srcRect/>
                      <a:stretch/>
                    </p:blipFill>
                    <p:spPr>
                      <a:xfrm>
                        <a:off x="5967412" y="3566624"/>
                        <a:ext cx="1766888" cy="1435100"/>
                      </a:xfrm>
                      <a:prstGeom prst="rect">
                        <a:avLst/>
                      </a:prstGeom>
                      <a:noFill/>
                      <a:ln>
                        <a:noFill/>
                      </a:ln>
                    </p:spPr>
                  </p:pic>
                </p:oleObj>
              </mc:Fallback>
            </mc:AlternateContent>
          </a:graphicData>
        </a:graphic>
      </p:graphicFrame>
      <p:sp>
        <p:nvSpPr>
          <p:cNvPr id="422" name="Google Shape;422;p29"/>
          <p:cNvSpPr txBox="1"/>
          <p:nvPr/>
        </p:nvSpPr>
        <p:spPr>
          <a:xfrm>
            <a:off x="1889025" y="5687265"/>
            <a:ext cx="7772400" cy="307736"/>
          </a:xfrm>
          <a:prstGeom prst="rect">
            <a:avLst/>
          </a:prstGeom>
          <a:noFill/>
          <a:ln>
            <a:noFill/>
          </a:ln>
        </p:spPr>
        <p:txBody>
          <a:bodyPr spcFirstLastPara="1" wrap="square" lIns="91425" tIns="45700" rIns="91425" bIns="45700" anchor="t" anchorCtr="0">
            <a:spAutoFit/>
          </a:bodyPr>
          <a:lstStyle/>
          <a:p>
            <a:pPr>
              <a:buClr>
                <a:schemeClr val="dk1"/>
              </a:buClr>
              <a:buSzPts val="800"/>
            </a:pPr>
            <a:r>
              <a:rPr lang="en-US" sz="1400" dirty="0">
                <a:solidFill>
                  <a:schemeClr val="dk1"/>
                </a:solidFill>
                <a:latin typeface="Verdana"/>
                <a:ea typeface="Verdana"/>
                <a:cs typeface="Verdana"/>
                <a:sym typeface="Verdana"/>
              </a:rPr>
              <a:t>Source: </a:t>
            </a:r>
            <a:r>
              <a:rPr lang="en-US" sz="1400" dirty="0">
                <a:solidFill>
                  <a:schemeClr val="dk1"/>
                </a:solidFill>
                <a:latin typeface="Verdana"/>
                <a:ea typeface="Verdana"/>
                <a:cs typeface="Verdana"/>
                <a:sym typeface="Verdana"/>
                <a:hlinkClick r:id="rId7"/>
              </a:rPr>
              <a:t>http://www.asktog.com/columns/022DesignedToGiveFitts.html</a:t>
            </a:r>
            <a:endParaRPr sz="1400" dirty="0">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74B312E4-0E59-4939-053E-39D83419F1C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40</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0"/>
          <p:cNvSpPr txBox="1">
            <a:spLocks noGrp="1"/>
          </p:cNvSpPr>
          <p:nvPr>
            <p:ph type="title" idx="4294967295"/>
          </p:nvPr>
        </p:nvSpPr>
        <p:spPr>
          <a:xfrm>
            <a:off x="2403987" y="473546"/>
            <a:ext cx="77724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Fitts in Practice</a:t>
            </a:r>
            <a:endParaRPr sz="3960" b="0" dirty="0"/>
          </a:p>
        </p:txBody>
      </p:sp>
      <p:sp>
        <p:nvSpPr>
          <p:cNvPr id="429" name="Google Shape;429;p30"/>
          <p:cNvSpPr txBox="1">
            <a:spLocks noGrp="1"/>
          </p:cNvSpPr>
          <p:nvPr>
            <p:ph type="body" idx="4294967295"/>
          </p:nvPr>
        </p:nvSpPr>
        <p:spPr>
          <a:xfrm>
            <a:off x="4809533" y="1752601"/>
            <a:ext cx="6386512" cy="5181600"/>
          </a:xfrm>
          <a:prstGeom prst="rect">
            <a:avLst/>
          </a:prstGeom>
          <a:noFill/>
          <a:ln>
            <a:noFill/>
          </a:ln>
        </p:spPr>
        <p:txBody>
          <a:bodyPr spcFirstLastPara="1" vert="horz" wrap="square" lIns="91425" tIns="45700" rIns="91425" bIns="45700" rtlCol="0" anchor="t" anchorCtr="0">
            <a:normAutofit/>
          </a:bodyPr>
          <a:lstStyle/>
          <a:p>
            <a:pPr marL="342900">
              <a:lnSpc>
                <a:spcPct val="90000"/>
              </a:lnSpc>
              <a:spcBef>
                <a:spcPts val="0"/>
              </a:spcBef>
              <a:buSzPts val="3200"/>
            </a:pPr>
            <a:r>
              <a:rPr lang="en-US" sz="2400" dirty="0"/>
              <a:t>You have a toolbar with 16 icons, each with dimensions of 16x16</a:t>
            </a:r>
          </a:p>
          <a:p>
            <a:pPr marL="342900">
              <a:lnSpc>
                <a:spcPct val="90000"/>
              </a:lnSpc>
              <a:spcBef>
                <a:spcPts val="0"/>
              </a:spcBef>
              <a:buSzPts val="3200"/>
            </a:pPr>
            <a:endParaRPr lang="en-US" sz="2400" dirty="0"/>
          </a:p>
          <a:p>
            <a:pPr marL="342900">
              <a:lnSpc>
                <a:spcPct val="90000"/>
              </a:lnSpc>
              <a:spcBef>
                <a:spcPts val="0"/>
              </a:spcBef>
              <a:buSzPts val="3200"/>
            </a:pPr>
            <a:r>
              <a:rPr lang="en-US" sz="2400" dirty="0"/>
              <a:t>Without moving the array from the left edge of the screen, or changing the size of the icons, how can you make this more efficient? </a:t>
            </a:r>
            <a:endParaRPr sz="2400" dirty="0"/>
          </a:p>
        </p:txBody>
      </p:sp>
      <p:sp>
        <p:nvSpPr>
          <p:cNvPr id="430" name="Google Shape;430;p30"/>
          <p:cNvSpPr txBox="1"/>
          <p:nvPr/>
        </p:nvSpPr>
        <p:spPr>
          <a:xfrm>
            <a:off x="5176019" y="5089184"/>
            <a:ext cx="3824747" cy="307736"/>
          </a:xfrm>
          <a:prstGeom prst="rect">
            <a:avLst/>
          </a:prstGeom>
          <a:noFill/>
          <a:ln>
            <a:noFill/>
          </a:ln>
        </p:spPr>
        <p:txBody>
          <a:bodyPr spcFirstLastPara="1" wrap="square" lIns="91425" tIns="45700" rIns="91425" bIns="45700" anchor="t" anchorCtr="0">
            <a:spAutoFit/>
          </a:bodyPr>
          <a:lstStyle/>
          <a:p>
            <a:pPr>
              <a:buClr>
                <a:schemeClr val="dk1"/>
              </a:buClr>
              <a:buSzPts val="1200"/>
            </a:pPr>
            <a:r>
              <a:rPr lang="en-US" sz="1400" dirty="0">
                <a:solidFill>
                  <a:schemeClr val="dk1"/>
                </a:solidFill>
                <a:latin typeface="Verdana"/>
                <a:ea typeface="Verdana"/>
                <a:cs typeface="Verdana"/>
                <a:sym typeface="Verdana"/>
              </a:rPr>
              <a:t>Adapted from Hearst, Irani</a:t>
            </a:r>
            <a:endParaRPr sz="1400" dirty="0">
              <a:solidFill>
                <a:srgbClr val="000000"/>
              </a:solidFill>
              <a:latin typeface="Arial"/>
              <a:ea typeface="Arial"/>
              <a:cs typeface="Arial"/>
              <a:sym typeface="Arial"/>
            </a:endParaRPr>
          </a:p>
        </p:txBody>
      </p:sp>
      <p:graphicFrame>
        <p:nvGraphicFramePr>
          <p:cNvPr id="431" name="Google Shape;431;p30"/>
          <p:cNvGraphicFramePr/>
          <p:nvPr/>
        </p:nvGraphicFramePr>
        <p:xfrm>
          <a:off x="1981201" y="1752601"/>
          <a:ext cx="1431925" cy="4056063"/>
        </p:xfrm>
        <a:graphic>
          <a:graphicData uri="http://schemas.openxmlformats.org/presentationml/2006/ole">
            <mc:AlternateContent xmlns:mc="http://schemas.openxmlformats.org/markup-compatibility/2006">
              <mc:Choice xmlns:v="urn:schemas-microsoft-com:vml" Requires="v">
                <p:oleObj r:id="rId3" imgW="1431925" imgH="4056063" progId="Paint.Picture">
                  <p:embed/>
                </p:oleObj>
              </mc:Choice>
              <mc:Fallback>
                <p:oleObj r:id="rId3" imgW="1431925" imgH="4056063" progId="Paint.Picture">
                  <p:embed/>
                  <p:pic>
                    <p:nvPicPr>
                      <p:cNvPr id="431" name="Google Shape;431;p30"/>
                      <p:cNvPicPr preferRelativeResize="0"/>
                      <p:nvPr/>
                    </p:nvPicPr>
                    <p:blipFill rotWithShape="1">
                      <a:blip r:embed="rId4">
                        <a:alphaModFix/>
                      </a:blip>
                      <a:srcRect/>
                      <a:stretch/>
                    </p:blipFill>
                    <p:spPr>
                      <a:xfrm>
                        <a:off x="1981201" y="1752601"/>
                        <a:ext cx="1431925" cy="4056063"/>
                      </a:xfrm>
                      <a:prstGeom prst="rect">
                        <a:avLst/>
                      </a:prstGeom>
                      <a:noFill/>
                      <a:ln>
                        <a:noFill/>
                      </a:ln>
                    </p:spPr>
                  </p:pic>
                </p:oleObj>
              </mc:Fallback>
            </mc:AlternateContent>
          </a:graphicData>
        </a:graphic>
      </p:graphicFrame>
      <p:sp>
        <p:nvSpPr>
          <p:cNvPr id="4" name="Slide Number Placeholder 1">
            <a:extLst>
              <a:ext uri="{FF2B5EF4-FFF2-40B4-BE49-F238E27FC236}">
                <a16:creationId xmlns:a16="http://schemas.microsoft.com/office/drawing/2014/main" id="{90145545-687D-D73F-1F53-9B1CC171582D}"/>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41</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31"/>
          <p:cNvSpPr txBox="1">
            <a:spLocks noGrp="1"/>
          </p:cNvSpPr>
          <p:nvPr>
            <p:ph type="title" idx="4294967295"/>
          </p:nvPr>
        </p:nvSpPr>
        <p:spPr>
          <a:xfrm>
            <a:off x="2477729" y="340578"/>
            <a:ext cx="77724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Fitts in Practice</a:t>
            </a:r>
            <a:endParaRPr sz="3960" b="0" dirty="0"/>
          </a:p>
        </p:txBody>
      </p:sp>
      <p:sp>
        <p:nvSpPr>
          <p:cNvPr id="438" name="Google Shape;438;p31"/>
          <p:cNvSpPr txBox="1">
            <a:spLocks noGrp="1"/>
          </p:cNvSpPr>
          <p:nvPr>
            <p:ph type="body" idx="4294967295"/>
          </p:nvPr>
        </p:nvSpPr>
        <p:spPr>
          <a:xfrm>
            <a:off x="2905432" y="1483578"/>
            <a:ext cx="8077200" cy="5181600"/>
          </a:xfrm>
          <a:prstGeom prst="rect">
            <a:avLst/>
          </a:prstGeom>
          <a:noFill/>
          <a:ln>
            <a:noFill/>
          </a:ln>
        </p:spPr>
        <p:txBody>
          <a:bodyPr spcFirstLastPara="1" vert="horz" wrap="square" lIns="91425" tIns="45700" rIns="91425" bIns="45700" rtlCol="0" anchor="t" anchorCtr="0">
            <a:normAutofit/>
          </a:bodyPr>
          <a:lstStyle/>
          <a:p>
            <a:pPr marL="342900">
              <a:lnSpc>
                <a:spcPct val="90000"/>
              </a:lnSpc>
              <a:spcBef>
                <a:spcPts val="0"/>
              </a:spcBef>
              <a:buSzPts val="3200"/>
              <a:buNone/>
            </a:pPr>
            <a:r>
              <a:rPr lang="en-US" sz="2400" dirty="0"/>
              <a:t>Answer: </a:t>
            </a:r>
          </a:p>
          <a:p>
            <a:pPr marL="342900">
              <a:lnSpc>
                <a:spcPct val="90000"/>
              </a:lnSpc>
              <a:spcBef>
                <a:spcPts val="0"/>
              </a:spcBef>
              <a:buSzPts val="3200"/>
              <a:buNone/>
            </a:pPr>
            <a:endParaRPr lang="en-US" sz="2400" dirty="0"/>
          </a:p>
          <a:p>
            <a:pPr marL="342900">
              <a:lnSpc>
                <a:spcPct val="90000"/>
              </a:lnSpc>
              <a:spcBef>
                <a:spcPts val="0"/>
              </a:spcBef>
              <a:buSzPts val="3200"/>
            </a:pPr>
            <a:r>
              <a:rPr lang="en-US" sz="2400" dirty="0"/>
              <a:t>Line up all 16 icons on the  left hand edge of the screen</a:t>
            </a:r>
            <a:endParaRPr sz="2400" dirty="0"/>
          </a:p>
          <a:p>
            <a:pPr marL="342900">
              <a:lnSpc>
                <a:spcPct val="90000"/>
              </a:lnSpc>
              <a:spcBef>
                <a:spcPts val="640"/>
              </a:spcBef>
              <a:buSzPts val="3200"/>
            </a:pPr>
            <a:endParaRPr lang="en-US" sz="2400" dirty="0"/>
          </a:p>
          <a:p>
            <a:pPr marL="342900">
              <a:lnSpc>
                <a:spcPct val="90000"/>
              </a:lnSpc>
              <a:spcBef>
                <a:spcPts val="640"/>
              </a:spcBef>
              <a:buSzPts val="3200"/>
            </a:pPr>
            <a:r>
              <a:rPr lang="en-US" sz="2400" dirty="0"/>
              <a:t>Make sure that each button can be activated up the last pixel on the left hand edge</a:t>
            </a:r>
            <a:endParaRPr sz="2400" dirty="0"/>
          </a:p>
          <a:p>
            <a:pPr marL="342900">
              <a:lnSpc>
                <a:spcPct val="90000"/>
              </a:lnSpc>
              <a:spcBef>
                <a:spcPts val="640"/>
              </a:spcBef>
              <a:buSzPts val="3200"/>
            </a:pPr>
            <a:endParaRPr lang="en-US" sz="2400" dirty="0"/>
          </a:p>
          <a:p>
            <a:pPr marL="342900">
              <a:lnSpc>
                <a:spcPct val="90000"/>
              </a:lnSpc>
              <a:spcBef>
                <a:spcPts val="640"/>
              </a:spcBef>
              <a:buSzPts val="3200"/>
            </a:pPr>
            <a:r>
              <a:rPr lang="en-US" sz="2400" dirty="0"/>
              <a:t>Why? Because you cannot move your mouse off of the screen, the effective width s is infinite</a:t>
            </a:r>
            <a:endParaRPr sz="2400" dirty="0"/>
          </a:p>
        </p:txBody>
      </p:sp>
      <p:sp>
        <p:nvSpPr>
          <p:cNvPr id="439" name="Google Shape;439;p31"/>
          <p:cNvSpPr txBox="1"/>
          <p:nvPr/>
        </p:nvSpPr>
        <p:spPr>
          <a:xfrm>
            <a:off x="3226770" y="5553785"/>
            <a:ext cx="2984091" cy="307736"/>
          </a:xfrm>
          <a:prstGeom prst="rect">
            <a:avLst/>
          </a:prstGeom>
          <a:noFill/>
          <a:ln>
            <a:noFill/>
          </a:ln>
        </p:spPr>
        <p:txBody>
          <a:bodyPr spcFirstLastPara="1" wrap="square" lIns="91425" tIns="45700" rIns="91425" bIns="45700" anchor="t" anchorCtr="0">
            <a:spAutoFit/>
          </a:bodyPr>
          <a:lstStyle/>
          <a:p>
            <a:pPr>
              <a:buClr>
                <a:schemeClr val="dk1"/>
              </a:buClr>
              <a:buSzPts val="1200"/>
            </a:pPr>
            <a:r>
              <a:rPr lang="en-US" sz="1400" dirty="0">
                <a:solidFill>
                  <a:schemeClr val="dk1"/>
                </a:solidFill>
                <a:latin typeface="Verdana"/>
                <a:ea typeface="Verdana"/>
                <a:cs typeface="Verdana"/>
                <a:sym typeface="Verdana"/>
              </a:rPr>
              <a:t>Adapted from Hearst, Irani</a:t>
            </a:r>
            <a:endParaRPr sz="1400" dirty="0">
              <a:solidFill>
                <a:srgbClr val="000000"/>
              </a:solidFill>
              <a:latin typeface="Arial"/>
              <a:ea typeface="Arial"/>
              <a:cs typeface="Arial"/>
              <a:sym typeface="Arial"/>
            </a:endParaRPr>
          </a:p>
        </p:txBody>
      </p:sp>
      <p:graphicFrame>
        <p:nvGraphicFramePr>
          <p:cNvPr id="440" name="Google Shape;440;p31"/>
          <p:cNvGraphicFramePr/>
          <p:nvPr>
            <p:extLst>
              <p:ext uri="{D42A27DB-BD31-4B8C-83A1-F6EECF244321}">
                <p14:modId xmlns:p14="http://schemas.microsoft.com/office/powerpoint/2010/main" val="1068654058"/>
              </p:ext>
            </p:extLst>
          </p:nvPr>
        </p:nvGraphicFramePr>
        <p:xfrm>
          <a:off x="1523999" y="145087"/>
          <a:ext cx="404813" cy="6669088"/>
        </p:xfrm>
        <a:graphic>
          <a:graphicData uri="http://schemas.openxmlformats.org/presentationml/2006/ole">
            <mc:AlternateContent xmlns:mc="http://schemas.openxmlformats.org/markup-compatibility/2006">
              <mc:Choice xmlns:v="urn:schemas-microsoft-com:vml" Requires="v">
                <p:oleObj r:id="rId3" imgW="404813" imgH="6669088" progId="Paint.Picture">
                  <p:embed/>
                </p:oleObj>
              </mc:Choice>
              <mc:Fallback>
                <p:oleObj r:id="rId3" imgW="404813" imgH="6669088" progId="Paint.Picture">
                  <p:embed/>
                  <p:pic>
                    <p:nvPicPr>
                      <p:cNvPr id="440" name="Google Shape;440;p31"/>
                      <p:cNvPicPr preferRelativeResize="0"/>
                      <p:nvPr/>
                    </p:nvPicPr>
                    <p:blipFill rotWithShape="1">
                      <a:blip r:embed="rId4">
                        <a:alphaModFix/>
                      </a:blip>
                      <a:srcRect/>
                      <a:stretch/>
                    </p:blipFill>
                    <p:spPr>
                      <a:xfrm>
                        <a:off x="1523999" y="145087"/>
                        <a:ext cx="404813" cy="6669088"/>
                      </a:xfrm>
                      <a:prstGeom prst="rect">
                        <a:avLst/>
                      </a:prstGeom>
                      <a:noFill/>
                      <a:ln>
                        <a:noFill/>
                      </a:ln>
                    </p:spPr>
                  </p:pic>
                </p:oleObj>
              </mc:Fallback>
            </mc:AlternateContent>
          </a:graphicData>
        </a:graphic>
      </p:graphicFrame>
      <p:sp>
        <p:nvSpPr>
          <p:cNvPr id="2" name="Slide Number Placeholder 1">
            <a:extLst>
              <a:ext uri="{FF2B5EF4-FFF2-40B4-BE49-F238E27FC236}">
                <a16:creationId xmlns:a16="http://schemas.microsoft.com/office/drawing/2014/main" id="{5BE6B787-4BE2-C820-B907-162C67D7581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42</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2"/>
          <p:cNvSpPr txBox="1">
            <a:spLocks noGrp="1"/>
          </p:cNvSpPr>
          <p:nvPr>
            <p:ph type="title" idx="4294967295"/>
          </p:nvPr>
        </p:nvSpPr>
        <p:spPr>
          <a:xfrm>
            <a:off x="2138516" y="323893"/>
            <a:ext cx="82296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Pie Menus</a:t>
            </a:r>
            <a:endParaRPr sz="3960" b="0" dirty="0"/>
          </a:p>
        </p:txBody>
      </p:sp>
      <p:sp>
        <p:nvSpPr>
          <p:cNvPr id="446" name="Google Shape;446;p32"/>
          <p:cNvSpPr txBox="1">
            <a:spLocks noGrp="1"/>
          </p:cNvSpPr>
          <p:nvPr>
            <p:ph type="body" idx="4294967295"/>
          </p:nvPr>
        </p:nvSpPr>
        <p:spPr>
          <a:xfrm>
            <a:off x="1174953" y="1858374"/>
            <a:ext cx="5839271" cy="4525962"/>
          </a:xfrm>
          <a:prstGeom prst="rect">
            <a:avLst/>
          </a:prstGeom>
          <a:noFill/>
          <a:ln>
            <a:noFill/>
          </a:ln>
        </p:spPr>
        <p:txBody>
          <a:bodyPr spcFirstLastPara="1" vert="horz" wrap="square" lIns="91425" tIns="45700" rIns="91425" bIns="45700" rtlCol="0" anchor="t" anchorCtr="0">
            <a:normAutofit/>
          </a:bodyPr>
          <a:lstStyle/>
          <a:p>
            <a:pPr marL="342900">
              <a:spcBef>
                <a:spcPts val="0"/>
              </a:spcBef>
              <a:buSzPts val="3200"/>
            </a:pPr>
            <a:r>
              <a:rPr lang="en-US" sz="2400" dirty="0"/>
              <a:t>A circular pop-up menu</a:t>
            </a:r>
          </a:p>
          <a:p>
            <a:pPr marL="342900">
              <a:spcBef>
                <a:spcPts val="0"/>
              </a:spcBef>
              <a:buSzPts val="3200"/>
            </a:pPr>
            <a:endParaRPr sz="2400" dirty="0"/>
          </a:p>
          <a:p>
            <a:pPr marL="742950" lvl="1" indent="-285750">
              <a:spcBef>
                <a:spcPts val="560"/>
              </a:spcBef>
              <a:buSzPts val="2800"/>
            </a:pPr>
            <a:r>
              <a:rPr lang="en-US" sz="2400" dirty="0"/>
              <a:t>no bounds on selection area</a:t>
            </a:r>
            <a:endParaRPr sz="2400" dirty="0"/>
          </a:p>
          <a:p>
            <a:pPr marL="1143000" lvl="2" indent="-228600">
              <a:spcBef>
                <a:spcPts val="480"/>
              </a:spcBef>
              <a:buSzPts val="2400"/>
            </a:pPr>
            <a:r>
              <a:rPr lang="en-US" sz="2400" dirty="0"/>
              <a:t>basically only angle counts</a:t>
            </a:r>
            <a:endParaRPr sz="2400" dirty="0"/>
          </a:p>
          <a:p>
            <a:pPr marL="1143000" lvl="2" indent="-228600">
              <a:spcBef>
                <a:spcPts val="480"/>
              </a:spcBef>
              <a:buSzPts val="2400"/>
            </a:pPr>
            <a:r>
              <a:rPr lang="en-US" sz="2400" dirty="0"/>
              <a:t>do want a “dead area” at center</a:t>
            </a:r>
          </a:p>
          <a:p>
            <a:pPr marL="1143000" lvl="2" indent="-228600">
              <a:spcBef>
                <a:spcPts val="480"/>
              </a:spcBef>
              <a:buSzPts val="2400"/>
            </a:pPr>
            <a:endParaRPr sz="2400" dirty="0"/>
          </a:p>
          <a:p>
            <a:pPr marL="742950" lvl="1" indent="-285750">
              <a:spcBef>
                <a:spcPts val="560"/>
              </a:spcBef>
              <a:buSzPts val="2800"/>
            </a:pPr>
            <a:r>
              <a:rPr lang="en-US" sz="2400" dirty="0"/>
              <a:t>What are </a:t>
            </a:r>
            <a:r>
              <a:rPr lang="en-US" sz="2400" dirty="0" err="1"/>
              <a:t>Fitts’</a:t>
            </a:r>
            <a:r>
              <a:rPr lang="en-US" sz="2400" dirty="0"/>
              <a:t> law properties?</a:t>
            </a:r>
            <a:endParaRPr sz="2400" dirty="0"/>
          </a:p>
        </p:txBody>
      </p:sp>
      <p:grpSp>
        <p:nvGrpSpPr>
          <p:cNvPr id="447" name="Google Shape;447;p32"/>
          <p:cNvGrpSpPr/>
          <p:nvPr/>
        </p:nvGrpSpPr>
        <p:grpSpPr>
          <a:xfrm>
            <a:off x="7639666" y="1991032"/>
            <a:ext cx="3377380" cy="2875935"/>
            <a:chOff x="3264" y="1632"/>
            <a:chExt cx="1296" cy="1296"/>
          </a:xfrm>
        </p:grpSpPr>
        <p:sp>
          <p:nvSpPr>
            <p:cNvPr id="448" name="Google Shape;448;p32"/>
            <p:cNvSpPr/>
            <p:nvPr/>
          </p:nvSpPr>
          <p:spPr>
            <a:xfrm>
              <a:off x="3264" y="1632"/>
              <a:ext cx="1296" cy="1296"/>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cxnSp>
          <p:nvCxnSpPr>
            <p:cNvPr id="449" name="Google Shape;449;p32"/>
            <p:cNvCxnSpPr/>
            <p:nvPr/>
          </p:nvCxnSpPr>
          <p:spPr>
            <a:xfrm>
              <a:off x="3888" y="1632"/>
              <a:ext cx="0" cy="480"/>
            </a:xfrm>
            <a:prstGeom prst="straightConnector1">
              <a:avLst/>
            </a:prstGeom>
            <a:noFill/>
            <a:ln w="9525" cap="flat" cmpd="sng">
              <a:solidFill>
                <a:schemeClr val="dk1"/>
              </a:solidFill>
              <a:prstDash val="solid"/>
              <a:round/>
              <a:headEnd type="none" w="sm" len="sm"/>
              <a:tailEnd type="none" w="sm" len="sm"/>
            </a:ln>
          </p:spPr>
        </p:cxnSp>
        <p:cxnSp>
          <p:nvCxnSpPr>
            <p:cNvPr id="450" name="Google Shape;450;p32"/>
            <p:cNvCxnSpPr/>
            <p:nvPr/>
          </p:nvCxnSpPr>
          <p:spPr>
            <a:xfrm flipH="1">
              <a:off x="4032" y="1824"/>
              <a:ext cx="384" cy="384"/>
            </a:xfrm>
            <a:prstGeom prst="straightConnector1">
              <a:avLst/>
            </a:prstGeom>
            <a:noFill/>
            <a:ln w="9525" cap="flat" cmpd="sng">
              <a:solidFill>
                <a:schemeClr val="dk1"/>
              </a:solidFill>
              <a:prstDash val="solid"/>
              <a:round/>
              <a:headEnd type="none" w="sm" len="sm"/>
              <a:tailEnd type="none" w="sm" len="sm"/>
            </a:ln>
          </p:spPr>
        </p:cxnSp>
        <p:cxnSp>
          <p:nvCxnSpPr>
            <p:cNvPr id="451" name="Google Shape;451;p32"/>
            <p:cNvCxnSpPr/>
            <p:nvPr/>
          </p:nvCxnSpPr>
          <p:spPr>
            <a:xfrm>
              <a:off x="3888" y="2256"/>
              <a:ext cx="624" cy="288"/>
            </a:xfrm>
            <a:prstGeom prst="straightConnector1">
              <a:avLst/>
            </a:prstGeom>
            <a:noFill/>
            <a:ln w="9525" cap="flat" cmpd="sng">
              <a:solidFill>
                <a:schemeClr val="dk1"/>
              </a:solidFill>
              <a:prstDash val="solid"/>
              <a:round/>
              <a:headEnd type="none" w="sm" len="sm"/>
              <a:tailEnd type="none" w="sm" len="sm"/>
            </a:ln>
          </p:spPr>
        </p:cxnSp>
        <p:cxnSp>
          <p:nvCxnSpPr>
            <p:cNvPr id="452" name="Google Shape;452;p32"/>
            <p:cNvCxnSpPr/>
            <p:nvPr/>
          </p:nvCxnSpPr>
          <p:spPr>
            <a:xfrm>
              <a:off x="3888" y="2304"/>
              <a:ext cx="0" cy="624"/>
            </a:xfrm>
            <a:prstGeom prst="straightConnector1">
              <a:avLst/>
            </a:prstGeom>
            <a:noFill/>
            <a:ln w="9525" cap="flat" cmpd="sng">
              <a:solidFill>
                <a:schemeClr val="dk1"/>
              </a:solidFill>
              <a:prstDash val="solid"/>
              <a:round/>
              <a:headEnd type="none" w="sm" len="sm"/>
              <a:tailEnd type="none" w="sm" len="sm"/>
            </a:ln>
          </p:spPr>
        </p:cxnSp>
        <p:cxnSp>
          <p:nvCxnSpPr>
            <p:cNvPr id="453" name="Google Shape;453;p32"/>
            <p:cNvCxnSpPr/>
            <p:nvPr/>
          </p:nvCxnSpPr>
          <p:spPr>
            <a:xfrm flipH="1">
              <a:off x="3360" y="2304"/>
              <a:ext cx="528" cy="288"/>
            </a:xfrm>
            <a:prstGeom prst="straightConnector1">
              <a:avLst/>
            </a:prstGeom>
            <a:noFill/>
            <a:ln w="9525" cap="flat" cmpd="sng">
              <a:solidFill>
                <a:schemeClr val="dk1"/>
              </a:solidFill>
              <a:prstDash val="solid"/>
              <a:round/>
              <a:headEnd type="none" w="sm" len="sm"/>
              <a:tailEnd type="none" w="sm" len="sm"/>
            </a:ln>
          </p:spPr>
        </p:cxnSp>
        <p:cxnSp>
          <p:nvCxnSpPr>
            <p:cNvPr id="454" name="Google Shape;454;p32"/>
            <p:cNvCxnSpPr/>
            <p:nvPr/>
          </p:nvCxnSpPr>
          <p:spPr>
            <a:xfrm rot="10800000">
              <a:off x="3360" y="1968"/>
              <a:ext cx="480" cy="240"/>
            </a:xfrm>
            <a:prstGeom prst="straightConnector1">
              <a:avLst/>
            </a:prstGeom>
            <a:noFill/>
            <a:ln w="9525" cap="flat" cmpd="sng">
              <a:solidFill>
                <a:schemeClr val="dk1"/>
              </a:solidFill>
              <a:prstDash val="solid"/>
              <a:round/>
              <a:headEnd type="none" w="sm" len="sm"/>
              <a:tailEnd type="none" w="sm" len="sm"/>
            </a:ln>
          </p:spPr>
        </p:cxnSp>
        <p:grpSp>
          <p:nvGrpSpPr>
            <p:cNvPr id="455" name="Google Shape;455;p32"/>
            <p:cNvGrpSpPr/>
            <p:nvPr/>
          </p:nvGrpSpPr>
          <p:grpSpPr>
            <a:xfrm>
              <a:off x="3744" y="2112"/>
              <a:ext cx="336" cy="336"/>
              <a:chOff x="3744" y="2112"/>
              <a:chExt cx="336" cy="336"/>
            </a:xfrm>
          </p:grpSpPr>
          <p:sp>
            <p:nvSpPr>
              <p:cNvPr id="456" name="Google Shape;456;p32"/>
              <p:cNvSpPr/>
              <p:nvPr/>
            </p:nvSpPr>
            <p:spPr>
              <a:xfrm>
                <a:off x="3744" y="2112"/>
                <a:ext cx="336" cy="336"/>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sp>
            <p:nvSpPr>
              <p:cNvPr id="457" name="Google Shape;457;p32"/>
              <p:cNvSpPr/>
              <p:nvPr/>
            </p:nvSpPr>
            <p:spPr>
              <a:xfrm rot="3020137">
                <a:off x="3828" y="2136"/>
                <a:ext cx="168" cy="264"/>
              </a:xfrm>
              <a:prstGeom prst="upArrow">
                <a:avLst>
                  <a:gd name="adj1" fmla="val 50000"/>
                  <a:gd name="adj2" fmla="val 39286"/>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grpSp>
      </p:grpSp>
      <p:sp>
        <p:nvSpPr>
          <p:cNvPr id="2" name="Slide Number Placeholder 1">
            <a:extLst>
              <a:ext uri="{FF2B5EF4-FFF2-40B4-BE49-F238E27FC236}">
                <a16:creationId xmlns:a16="http://schemas.microsoft.com/office/drawing/2014/main" id="{88C30300-C762-FAA5-0839-C8AD1A284910}"/>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43</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3"/>
          <p:cNvSpPr txBox="1">
            <a:spLocks noGrp="1"/>
          </p:cNvSpPr>
          <p:nvPr>
            <p:ph type="title" idx="4294967295"/>
          </p:nvPr>
        </p:nvSpPr>
        <p:spPr>
          <a:xfrm>
            <a:off x="1981200" y="227372"/>
            <a:ext cx="8229600" cy="1143000"/>
          </a:xfrm>
          <a:prstGeom prst="rect">
            <a:avLst/>
          </a:prstGeom>
          <a:noFill/>
          <a:ln>
            <a:noFill/>
          </a:ln>
        </p:spPr>
        <p:txBody>
          <a:bodyPr spcFirstLastPara="1" vert="horz" wrap="square" lIns="91425" tIns="45700" rIns="91425" bIns="45700" rtlCol="0" anchor="ctr" anchorCtr="0">
            <a:normAutofit/>
          </a:bodyPr>
          <a:lstStyle/>
          <a:p>
            <a:pPr algn="ctr">
              <a:buSzPts val="4400"/>
            </a:pPr>
            <a:r>
              <a:rPr lang="en-US" sz="3960" b="0" dirty="0"/>
              <a:t>Pie Menus</a:t>
            </a:r>
            <a:endParaRPr sz="3960" b="0" dirty="0"/>
          </a:p>
        </p:txBody>
      </p:sp>
      <p:sp>
        <p:nvSpPr>
          <p:cNvPr id="463" name="Google Shape;463;p33"/>
          <p:cNvSpPr txBox="1">
            <a:spLocks noGrp="1"/>
          </p:cNvSpPr>
          <p:nvPr>
            <p:ph type="body" idx="4294967295"/>
          </p:nvPr>
        </p:nvSpPr>
        <p:spPr>
          <a:xfrm>
            <a:off x="615600" y="1159464"/>
            <a:ext cx="8585753" cy="4525963"/>
          </a:xfrm>
          <a:prstGeom prst="rect">
            <a:avLst/>
          </a:prstGeom>
          <a:noFill/>
          <a:ln>
            <a:noFill/>
          </a:ln>
        </p:spPr>
        <p:txBody>
          <a:bodyPr spcFirstLastPara="1" vert="horz" wrap="square" lIns="91425" tIns="45700" rIns="91425" bIns="45700" rtlCol="0" anchor="t" anchorCtr="0">
            <a:noAutofit/>
          </a:bodyPr>
          <a:lstStyle/>
          <a:p>
            <a:pPr marL="342900">
              <a:spcBef>
                <a:spcPts val="0"/>
              </a:spcBef>
              <a:buSzPts val="3200"/>
            </a:pPr>
            <a:r>
              <a:rPr lang="en-US" sz="2000" dirty="0"/>
              <a:t>A circular pop-up menu</a:t>
            </a:r>
            <a:endParaRPr sz="2000" dirty="0"/>
          </a:p>
          <a:p>
            <a:pPr marL="742950" lvl="1" indent="-285750">
              <a:spcBef>
                <a:spcPts val="560"/>
              </a:spcBef>
              <a:buSzPts val="2800"/>
            </a:pPr>
            <a:r>
              <a:rPr lang="en-US" sz="2000" dirty="0"/>
              <a:t>no bounds on selection area</a:t>
            </a:r>
            <a:endParaRPr sz="2000" dirty="0"/>
          </a:p>
          <a:p>
            <a:pPr marL="1143000" lvl="2" indent="-228600">
              <a:spcBef>
                <a:spcPts val="480"/>
              </a:spcBef>
              <a:buSzPts val="2400"/>
            </a:pPr>
            <a:r>
              <a:rPr lang="en-US" sz="2000" dirty="0"/>
              <a:t>basically only angle counts</a:t>
            </a:r>
            <a:endParaRPr sz="2000" dirty="0"/>
          </a:p>
          <a:p>
            <a:pPr marL="1143000" lvl="2" indent="-228600">
              <a:spcBef>
                <a:spcPts val="480"/>
              </a:spcBef>
              <a:buSzPts val="2400"/>
            </a:pPr>
            <a:r>
              <a:rPr lang="en-US" sz="2000" dirty="0"/>
              <a:t>do want a “dead area” at center</a:t>
            </a:r>
            <a:endParaRPr sz="2000" dirty="0"/>
          </a:p>
          <a:p>
            <a:pPr marL="742950" lvl="1" indent="-285750">
              <a:spcBef>
                <a:spcPts val="560"/>
              </a:spcBef>
              <a:buSzPts val="2800"/>
            </a:pPr>
            <a:r>
              <a:rPr lang="en-US" sz="2000" dirty="0" err="1"/>
              <a:t>Fitts’</a:t>
            </a:r>
            <a:r>
              <a:rPr lang="en-US" sz="2000" dirty="0"/>
              <a:t> law properties:</a:t>
            </a:r>
            <a:endParaRPr sz="2000" dirty="0"/>
          </a:p>
          <a:p>
            <a:pPr marL="1143000" lvl="2" indent="-228600">
              <a:spcBef>
                <a:spcPts val="480"/>
              </a:spcBef>
              <a:buSzPts val="2400"/>
            </a:pPr>
            <a:r>
              <a:rPr lang="en-US" sz="2000" dirty="0"/>
              <a:t>minimum distance to travel</a:t>
            </a:r>
            <a:endParaRPr sz="2000" dirty="0"/>
          </a:p>
          <a:p>
            <a:pPr marL="1143000" lvl="2" indent="-228600">
              <a:spcBef>
                <a:spcPts val="480"/>
              </a:spcBef>
              <a:buSzPts val="2400"/>
            </a:pPr>
            <a:r>
              <a:rPr lang="en-US" sz="2000" dirty="0"/>
              <a:t>minimum required accuracy</a:t>
            </a:r>
            <a:endParaRPr sz="2000" dirty="0"/>
          </a:p>
          <a:p>
            <a:pPr marL="1143000" lvl="2" indent="-228600">
              <a:spcBef>
                <a:spcPts val="480"/>
              </a:spcBef>
              <a:buSzPts val="2400"/>
            </a:pPr>
            <a:r>
              <a:rPr lang="en-US" sz="2000" dirty="0"/>
              <a:t>very fast</a:t>
            </a:r>
          </a:p>
          <a:p>
            <a:pPr marL="914400" lvl="2" indent="0">
              <a:spcBef>
                <a:spcPts val="480"/>
              </a:spcBef>
              <a:buSzPts val="2400"/>
              <a:buNone/>
            </a:pPr>
            <a:endParaRPr lang="en-US" sz="2000" dirty="0"/>
          </a:p>
          <a:p>
            <a:pPr marL="342900">
              <a:spcBef>
                <a:spcPts val="0"/>
              </a:spcBef>
              <a:buSzPts val="3200"/>
            </a:pPr>
            <a:r>
              <a:rPr lang="en-US" sz="2000" dirty="0"/>
              <a:t>Why don’t we see these much?</a:t>
            </a:r>
          </a:p>
          <a:p>
            <a:pPr marL="1143000" lvl="2" indent="-228600">
              <a:spcBef>
                <a:spcPts val="480"/>
              </a:spcBef>
              <a:buSzPts val="2400"/>
            </a:pPr>
            <a:r>
              <a:rPr lang="en-US" sz="2000" dirty="0"/>
              <a:t>Just not known</a:t>
            </a:r>
          </a:p>
          <a:p>
            <a:pPr marL="1143000" lvl="2" indent="-228600">
              <a:spcBef>
                <a:spcPts val="480"/>
              </a:spcBef>
              <a:buSzPts val="2400"/>
            </a:pPr>
            <a:r>
              <a:rPr lang="en-US" sz="2000" dirty="0"/>
              <a:t>Harder to implement</a:t>
            </a:r>
          </a:p>
          <a:p>
            <a:pPr marL="1600200" lvl="3" indent="-228600">
              <a:spcBef>
                <a:spcPts val="400"/>
              </a:spcBef>
              <a:buSzPts val="2000"/>
            </a:pPr>
            <a:r>
              <a:rPr lang="en-US" sz="2000" dirty="0"/>
              <a:t>particularly drawing labels</a:t>
            </a:r>
          </a:p>
          <a:p>
            <a:pPr marL="1600200" lvl="3" indent="-228600">
              <a:spcBef>
                <a:spcPts val="400"/>
              </a:spcBef>
              <a:buSzPts val="2000"/>
            </a:pPr>
            <a:r>
              <a:rPr lang="en-US" sz="2000" dirty="0"/>
              <a:t>but there are variations that are easier</a:t>
            </a:r>
          </a:p>
          <a:p>
            <a:pPr marL="1143000" lvl="2" indent="-228600">
              <a:spcBef>
                <a:spcPts val="480"/>
              </a:spcBef>
              <a:buSzPts val="2400"/>
            </a:pPr>
            <a:r>
              <a:rPr lang="en-US" sz="2000" dirty="0"/>
              <a:t>Don’t scale past a few items</a:t>
            </a:r>
          </a:p>
          <a:p>
            <a:pPr marL="1600200" lvl="3" indent="-228600">
              <a:spcBef>
                <a:spcPts val="400"/>
              </a:spcBef>
              <a:buSzPts val="2000"/>
            </a:pPr>
            <a:r>
              <a:rPr lang="en-US" sz="2000" dirty="0"/>
              <a:t>No hierarchy</a:t>
            </a:r>
          </a:p>
        </p:txBody>
      </p:sp>
      <p:grpSp>
        <p:nvGrpSpPr>
          <p:cNvPr id="464" name="Google Shape;464;p33"/>
          <p:cNvGrpSpPr/>
          <p:nvPr/>
        </p:nvGrpSpPr>
        <p:grpSpPr>
          <a:xfrm>
            <a:off x="7300451" y="1600201"/>
            <a:ext cx="3421625" cy="3075038"/>
            <a:chOff x="3264" y="1632"/>
            <a:chExt cx="1296" cy="1296"/>
          </a:xfrm>
        </p:grpSpPr>
        <p:sp>
          <p:nvSpPr>
            <p:cNvPr id="465" name="Google Shape;465;p33"/>
            <p:cNvSpPr/>
            <p:nvPr/>
          </p:nvSpPr>
          <p:spPr>
            <a:xfrm>
              <a:off x="3264" y="1632"/>
              <a:ext cx="1296" cy="1296"/>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cxnSp>
          <p:nvCxnSpPr>
            <p:cNvPr id="466" name="Google Shape;466;p33"/>
            <p:cNvCxnSpPr/>
            <p:nvPr/>
          </p:nvCxnSpPr>
          <p:spPr>
            <a:xfrm>
              <a:off x="3888" y="1632"/>
              <a:ext cx="0" cy="480"/>
            </a:xfrm>
            <a:prstGeom prst="straightConnector1">
              <a:avLst/>
            </a:prstGeom>
            <a:noFill/>
            <a:ln w="9525" cap="flat" cmpd="sng">
              <a:solidFill>
                <a:schemeClr val="dk1"/>
              </a:solidFill>
              <a:prstDash val="solid"/>
              <a:round/>
              <a:headEnd type="none" w="sm" len="sm"/>
              <a:tailEnd type="none" w="sm" len="sm"/>
            </a:ln>
          </p:spPr>
        </p:cxnSp>
        <p:cxnSp>
          <p:nvCxnSpPr>
            <p:cNvPr id="467" name="Google Shape;467;p33"/>
            <p:cNvCxnSpPr/>
            <p:nvPr/>
          </p:nvCxnSpPr>
          <p:spPr>
            <a:xfrm flipH="1">
              <a:off x="4032" y="1824"/>
              <a:ext cx="384" cy="384"/>
            </a:xfrm>
            <a:prstGeom prst="straightConnector1">
              <a:avLst/>
            </a:prstGeom>
            <a:noFill/>
            <a:ln w="9525" cap="flat" cmpd="sng">
              <a:solidFill>
                <a:schemeClr val="dk1"/>
              </a:solidFill>
              <a:prstDash val="solid"/>
              <a:round/>
              <a:headEnd type="none" w="sm" len="sm"/>
              <a:tailEnd type="none" w="sm" len="sm"/>
            </a:ln>
          </p:spPr>
        </p:cxnSp>
        <p:cxnSp>
          <p:nvCxnSpPr>
            <p:cNvPr id="468" name="Google Shape;468;p33"/>
            <p:cNvCxnSpPr/>
            <p:nvPr/>
          </p:nvCxnSpPr>
          <p:spPr>
            <a:xfrm>
              <a:off x="3888" y="2256"/>
              <a:ext cx="624" cy="288"/>
            </a:xfrm>
            <a:prstGeom prst="straightConnector1">
              <a:avLst/>
            </a:prstGeom>
            <a:noFill/>
            <a:ln w="9525" cap="flat" cmpd="sng">
              <a:solidFill>
                <a:schemeClr val="dk1"/>
              </a:solidFill>
              <a:prstDash val="solid"/>
              <a:round/>
              <a:headEnd type="none" w="sm" len="sm"/>
              <a:tailEnd type="none" w="sm" len="sm"/>
            </a:ln>
          </p:spPr>
        </p:cxnSp>
        <p:cxnSp>
          <p:nvCxnSpPr>
            <p:cNvPr id="469" name="Google Shape;469;p33"/>
            <p:cNvCxnSpPr/>
            <p:nvPr/>
          </p:nvCxnSpPr>
          <p:spPr>
            <a:xfrm>
              <a:off x="3888" y="2304"/>
              <a:ext cx="0" cy="624"/>
            </a:xfrm>
            <a:prstGeom prst="straightConnector1">
              <a:avLst/>
            </a:prstGeom>
            <a:noFill/>
            <a:ln w="9525" cap="flat" cmpd="sng">
              <a:solidFill>
                <a:schemeClr val="dk1"/>
              </a:solidFill>
              <a:prstDash val="solid"/>
              <a:round/>
              <a:headEnd type="none" w="sm" len="sm"/>
              <a:tailEnd type="none" w="sm" len="sm"/>
            </a:ln>
          </p:spPr>
        </p:cxnSp>
        <p:cxnSp>
          <p:nvCxnSpPr>
            <p:cNvPr id="470" name="Google Shape;470;p33"/>
            <p:cNvCxnSpPr/>
            <p:nvPr/>
          </p:nvCxnSpPr>
          <p:spPr>
            <a:xfrm flipH="1">
              <a:off x="3360" y="2304"/>
              <a:ext cx="528" cy="288"/>
            </a:xfrm>
            <a:prstGeom prst="straightConnector1">
              <a:avLst/>
            </a:prstGeom>
            <a:noFill/>
            <a:ln w="9525" cap="flat" cmpd="sng">
              <a:solidFill>
                <a:schemeClr val="dk1"/>
              </a:solidFill>
              <a:prstDash val="solid"/>
              <a:round/>
              <a:headEnd type="none" w="sm" len="sm"/>
              <a:tailEnd type="none" w="sm" len="sm"/>
            </a:ln>
          </p:spPr>
        </p:cxnSp>
        <p:cxnSp>
          <p:nvCxnSpPr>
            <p:cNvPr id="471" name="Google Shape;471;p33"/>
            <p:cNvCxnSpPr/>
            <p:nvPr/>
          </p:nvCxnSpPr>
          <p:spPr>
            <a:xfrm rot="10800000">
              <a:off x="3360" y="1968"/>
              <a:ext cx="480" cy="240"/>
            </a:xfrm>
            <a:prstGeom prst="straightConnector1">
              <a:avLst/>
            </a:prstGeom>
            <a:noFill/>
            <a:ln w="9525" cap="flat" cmpd="sng">
              <a:solidFill>
                <a:schemeClr val="dk1"/>
              </a:solidFill>
              <a:prstDash val="solid"/>
              <a:round/>
              <a:headEnd type="none" w="sm" len="sm"/>
              <a:tailEnd type="none" w="sm" len="sm"/>
            </a:ln>
          </p:spPr>
        </p:cxnSp>
        <p:grpSp>
          <p:nvGrpSpPr>
            <p:cNvPr id="472" name="Google Shape;472;p33"/>
            <p:cNvGrpSpPr/>
            <p:nvPr/>
          </p:nvGrpSpPr>
          <p:grpSpPr>
            <a:xfrm>
              <a:off x="3744" y="2112"/>
              <a:ext cx="336" cy="336"/>
              <a:chOff x="3744" y="2112"/>
              <a:chExt cx="336" cy="336"/>
            </a:xfrm>
          </p:grpSpPr>
          <p:sp>
            <p:nvSpPr>
              <p:cNvPr id="473" name="Google Shape;473;p33"/>
              <p:cNvSpPr/>
              <p:nvPr/>
            </p:nvSpPr>
            <p:spPr>
              <a:xfrm>
                <a:off x="3744" y="2112"/>
                <a:ext cx="336" cy="336"/>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sp>
            <p:nvSpPr>
              <p:cNvPr id="474" name="Google Shape;474;p33"/>
              <p:cNvSpPr/>
              <p:nvPr/>
            </p:nvSpPr>
            <p:spPr>
              <a:xfrm rot="3020137">
                <a:off x="3828" y="2136"/>
                <a:ext cx="168" cy="264"/>
              </a:xfrm>
              <a:prstGeom prst="upArrow">
                <a:avLst>
                  <a:gd name="adj1" fmla="val 50000"/>
                  <a:gd name="adj2" fmla="val 39286"/>
                </a:avLst>
              </a:prstGeom>
              <a:solidFill>
                <a:schemeClr val="l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a:buClr>
                    <a:schemeClr val="dk1"/>
                  </a:buClr>
                  <a:buSzPts val="2400"/>
                </a:pPr>
                <a:endParaRPr sz="2400">
                  <a:solidFill>
                    <a:schemeClr val="dk1"/>
                  </a:solidFill>
                  <a:latin typeface="Times"/>
                  <a:ea typeface="Times"/>
                  <a:cs typeface="Times"/>
                  <a:sym typeface="Times"/>
                </a:endParaRPr>
              </a:p>
            </p:txBody>
          </p:sp>
        </p:grpSp>
      </p:grpSp>
      <p:sp>
        <p:nvSpPr>
          <p:cNvPr id="2" name="Slide Number Placeholder 1">
            <a:extLst>
              <a:ext uri="{FF2B5EF4-FFF2-40B4-BE49-F238E27FC236}">
                <a16:creationId xmlns:a16="http://schemas.microsoft.com/office/drawing/2014/main" id="{39093510-1F82-A4BA-321D-FF09FD793248}"/>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44</a:t>
            </a:fld>
            <a:endParaRPr lang="en-MY" dirty="0"/>
          </a:p>
        </p:txBody>
      </p:sp>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4A1D1-ACAF-D896-7A35-270FE59F9FF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F967C98-A655-4C20-3600-BFED5B246AD5}"/>
              </a:ext>
            </a:extLst>
          </p:cNvPr>
          <p:cNvSpPr txBox="1"/>
          <p:nvPr/>
        </p:nvSpPr>
        <p:spPr>
          <a:xfrm>
            <a:off x="1674734" y="627261"/>
            <a:ext cx="8831364" cy="701731"/>
          </a:xfrm>
          <a:prstGeom prst="rect">
            <a:avLst/>
          </a:prstGeom>
          <a:noFill/>
        </p:spPr>
        <p:txBody>
          <a:bodyPr wrap="square" rtlCol="0">
            <a:spAutoFit/>
          </a:bodyPr>
          <a:lstStyle/>
          <a:p>
            <a:pPr algn="ctr"/>
            <a:r>
              <a:rPr lang="en-US" sz="3960" dirty="0">
                <a:solidFill>
                  <a:schemeClr val="tx1">
                    <a:lumMod val="75000"/>
                    <a:lumOff val="25000"/>
                  </a:schemeClr>
                </a:solidFill>
                <a:latin typeface="+mj-lt"/>
              </a:rPr>
              <a:t>GOMS</a:t>
            </a:r>
          </a:p>
        </p:txBody>
      </p:sp>
      <p:sp>
        <p:nvSpPr>
          <p:cNvPr id="24" name="Rectangle 23">
            <a:extLst>
              <a:ext uri="{FF2B5EF4-FFF2-40B4-BE49-F238E27FC236}">
                <a16:creationId xmlns:a16="http://schemas.microsoft.com/office/drawing/2014/main" id="{EB53131B-5201-4D9F-B625-98E522AABD3B}"/>
              </a:ext>
            </a:extLst>
          </p:cNvPr>
          <p:cNvSpPr/>
          <p:nvPr/>
        </p:nvSpPr>
        <p:spPr>
          <a:xfrm>
            <a:off x="1035386" y="1579607"/>
            <a:ext cx="10110060" cy="467050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b="1" dirty="0">
                <a:solidFill>
                  <a:schemeClr val="tx1">
                    <a:lumMod val="65000"/>
                    <a:lumOff val="35000"/>
                  </a:schemeClr>
                </a:solidFill>
              </a:rPr>
              <a:t>Goals</a:t>
            </a:r>
            <a:r>
              <a:rPr lang="en-US" sz="2000" dirty="0">
                <a:solidFill>
                  <a:schemeClr val="tx1">
                    <a:lumMod val="65000"/>
                    <a:lumOff val="35000"/>
                  </a:schemeClr>
                </a:solidFill>
              </a:rPr>
              <a:t> - the state the user wants to achieve e.g., find a website.</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b="1" dirty="0">
                <a:solidFill>
                  <a:schemeClr val="tx1">
                    <a:lumMod val="65000"/>
                    <a:lumOff val="35000"/>
                  </a:schemeClr>
                </a:solidFill>
              </a:rPr>
              <a:t>Operators</a:t>
            </a:r>
            <a:r>
              <a:rPr lang="en-US" sz="2000" dirty="0">
                <a:solidFill>
                  <a:schemeClr val="tx1">
                    <a:lumMod val="65000"/>
                    <a:lumOff val="35000"/>
                  </a:schemeClr>
                </a:solidFill>
              </a:rPr>
              <a:t> - the cognitive processes &amp; physical actions needed to attain the goals, e.g., decide which search engine to use.</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b="1" dirty="0">
                <a:solidFill>
                  <a:schemeClr val="tx1">
                    <a:lumMod val="65000"/>
                    <a:lumOff val="35000"/>
                  </a:schemeClr>
                </a:solidFill>
              </a:rPr>
              <a:t>Methods </a:t>
            </a:r>
            <a:r>
              <a:rPr lang="en-US" sz="2000" dirty="0">
                <a:solidFill>
                  <a:schemeClr val="tx1">
                    <a:lumMod val="65000"/>
                    <a:lumOff val="35000"/>
                  </a:schemeClr>
                </a:solidFill>
              </a:rPr>
              <a:t>- the procedures for accomplishing the goals, e.g., drag mouse over field, type in keywords, press the go button.</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b="1" dirty="0">
                <a:solidFill>
                  <a:schemeClr val="tx1">
                    <a:lumMod val="65000"/>
                    <a:lumOff val="35000"/>
                  </a:schemeClr>
                </a:solidFill>
              </a:rPr>
              <a:t>Selection rules </a:t>
            </a:r>
            <a:r>
              <a:rPr lang="en-US" sz="2000" dirty="0">
                <a:solidFill>
                  <a:schemeClr val="tx1">
                    <a:lumMod val="65000"/>
                    <a:lumOff val="35000"/>
                  </a:schemeClr>
                </a:solidFill>
              </a:rPr>
              <a:t>- decide which method to select when there is more than one. </a:t>
            </a:r>
          </a:p>
        </p:txBody>
      </p:sp>
      <p:sp>
        <p:nvSpPr>
          <p:cNvPr id="4" name="Slide Number Placeholder 1">
            <a:extLst>
              <a:ext uri="{FF2B5EF4-FFF2-40B4-BE49-F238E27FC236}">
                <a16:creationId xmlns:a16="http://schemas.microsoft.com/office/drawing/2014/main" id="{8ED821CC-D44C-B544-581C-6C0171F2F68A}"/>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45</a:t>
            </a:fld>
            <a:endParaRPr lang="en-MY" dirty="0"/>
          </a:p>
        </p:txBody>
      </p:sp>
    </p:spTree>
    <p:extLst>
      <p:ext uri="{BB962C8B-B14F-4D97-AF65-F5344CB8AC3E}">
        <p14:creationId xmlns:p14="http://schemas.microsoft.com/office/powerpoint/2010/main" val="3703656055"/>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AF329-1207-D3EE-5559-1316BBCF38BA}"/>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5F5FC94-763E-85E5-F5B0-C9B077E73F84}"/>
              </a:ext>
            </a:extLst>
          </p:cNvPr>
          <p:cNvSpPr txBox="1"/>
          <p:nvPr/>
        </p:nvSpPr>
        <p:spPr>
          <a:xfrm>
            <a:off x="1674734" y="627261"/>
            <a:ext cx="8831364" cy="701731"/>
          </a:xfrm>
          <a:prstGeom prst="rect">
            <a:avLst/>
          </a:prstGeom>
          <a:noFill/>
        </p:spPr>
        <p:txBody>
          <a:bodyPr wrap="square" rtlCol="0">
            <a:spAutoFit/>
          </a:bodyPr>
          <a:lstStyle/>
          <a:p>
            <a:pPr algn="ctr"/>
            <a:r>
              <a:rPr lang="en-US" sz="3960" dirty="0">
                <a:solidFill>
                  <a:schemeClr val="tx1">
                    <a:lumMod val="75000"/>
                    <a:lumOff val="25000"/>
                  </a:schemeClr>
                </a:solidFill>
                <a:latin typeface="+mj-lt"/>
              </a:rPr>
              <a:t>Keystroke Level Model (KLM)</a:t>
            </a:r>
          </a:p>
        </p:txBody>
      </p:sp>
      <p:sp>
        <p:nvSpPr>
          <p:cNvPr id="24" name="Rectangle 23">
            <a:extLst>
              <a:ext uri="{FF2B5EF4-FFF2-40B4-BE49-F238E27FC236}">
                <a16:creationId xmlns:a16="http://schemas.microsoft.com/office/drawing/2014/main" id="{1378D26F-6FA7-328E-2CC0-14C5CFD42FE2}"/>
              </a:ext>
            </a:extLst>
          </p:cNvPr>
          <p:cNvSpPr/>
          <p:nvPr/>
        </p:nvSpPr>
        <p:spPr>
          <a:xfrm>
            <a:off x="1035386" y="1579607"/>
            <a:ext cx="10110060" cy="2823850"/>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GOMS has also been developed </a:t>
            </a:r>
            <a:r>
              <a:rPr lang="en-US" sz="2000" dirty="0">
                <a:solidFill>
                  <a:srgbClr val="C00000"/>
                </a:solidFill>
              </a:rPr>
              <a:t>to provide a quantitative model - the keystroke level model.</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a:solidFill>
                  <a:schemeClr val="tx1">
                    <a:lumMod val="65000"/>
                    <a:lumOff val="35000"/>
                  </a:schemeClr>
                </a:solidFill>
              </a:rPr>
              <a:t>The keystroke model allows predictions to be made about </a:t>
            </a:r>
            <a:r>
              <a:rPr lang="en-US" sz="2000" dirty="0">
                <a:solidFill>
                  <a:srgbClr val="C00000"/>
                </a:solidFill>
              </a:rPr>
              <a:t>how long it takes an expert user to perform a task. </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71901F75-5FBA-4222-A9D5-0CE57A00873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46</a:t>
            </a:fld>
            <a:endParaRPr lang="en-MY" dirty="0"/>
          </a:p>
        </p:txBody>
      </p:sp>
    </p:spTree>
    <p:extLst>
      <p:ext uri="{BB962C8B-B14F-4D97-AF65-F5344CB8AC3E}">
        <p14:creationId xmlns:p14="http://schemas.microsoft.com/office/powerpoint/2010/main" val="398336390"/>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D59BA-9C8E-0003-616D-9A34F33AEEB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EC1A4D4-EFFD-D1EF-5F68-F929CD1075FD}"/>
              </a:ext>
            </a:extLst>
          </p:cNvPr>
          <p:cNvSpPr txBox="1"/>
          <p:nvPr/>
        </p:nvSpPr>
        <p:spPr>
          <a:xfrm>
            <a:off x="1319280" y="313686"/>
            <a:ext cx="9542271" cy="1311128"/>
          </a:xfrm>
          <a:prstGeom prst="rect">
            <a:avLst/>
          </a:prstGeom>
          <a:noFill/>
        </p:spPr>
        <p:txBody>
          <a:bodyPr wrap="square" rtlCol="0">
            <a:spAutoFit/>
          </a:bodyPr>
          <a:lstStyle/>
          <a:p>
            <a:pPr algn="ctr"/>
            <a:r>
              <a:rPr lang="en-US" sz="3960" dirty="0">
                <a:solidFill>
                  <a:schemeClr val="tx1">
                    <a:lumMod val="75000"/>
                    <a:lumOff val="25000"/>
                  </a:schemeClr>
                </a:solidFill>
                <a:latin typeface="+mj-lt"/>
              </a:rPr>
              <a:t>Response Times for Keystroke Level Operators (Card et al., 1983)</a:t>
            </a:r>
          </a:p>
        </p:txBody>
      </p:sp>
      <p:sp>
        <p:nvSpPr>
          <p:cNvPr id="4" name="Slide Number Placeholder 1">
            <a:extLst>
              <a:ext uri="{FF2B5EF4-FFF2-40B4-BE49-F238E27FC236}">
                <a16:creationId xmlns:a16="http://schemas.microsoft.com/office/drawing/2014/main" id="{E3075243-7317-4932-9045-A3FD24648069}"/>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47</a:t>
            </a:fld>
            <a:endParaRPr lang="en-MY" dirty="0"/>
          </a:p>
        </p:txBody>
      </p:sp>
      <p:graphicFrame>
        <p:nvGraphicFramePr>
          <p:cNvPr id="3" name="Google Shape;371;p22">
            <a:extLst>
              <a:ext uri="{FF2B5EF4-FFF2-40B4-BE49-F238E27FC236}">
                <a16:creationId xmlns:a16="http://schemas.microsoft.com/office/drawing/2014/main" id="{C0A453A5-8537-EECB-F5F3-CD0A0055DB2C}"/>
              </a:ext>
            </a:extLst>
          </p:cNvPr>
          <p:cNvGraphicFramePr/>
          <p:nvPr>
            <p:extLst>
              <p:ext uri="{D42A27DB-BD31-4B8C-83A1-F6EECF244321}">
                <p14:modId xmlns:p14="http://schemas.microsoft.com/office/powerpoint/2010/main" val="55903897"/>
              </p:ext>
            </p:extLst>
          </p:nvPr>
        </p:nvGraphicFramePr>
        <p:xfrm>
          <a:off x="1895097" y="1942799"/>
          <a:ext cx="8390635" cy="4307659"/>
        </p:xfrm>
        <a:graphic>
          <a:graphicData uri="http://schemas.openxmlformats.org/presentationml/2006/ole">
            <mc:AlternateContent xmlns:mc="http://schemas.openxmlformats.org/markup-compatibility/2006">
              <mc:Choice xmlns:v="urn:schemas-microsoft-com:vml" Requires="v">
                <p:oleObj name="Document" r:id="rId2" imgW="7239000" imgH="4495800" progId="Word.Document.8">
                  <p:embed/>
                </p:oleObj>
              </mc:Choice>
              <mc:Fallback>
                <p:oleObj name="Document" r:id="rId2" imgW="7239000" imgH="4495800" progId="Word.Document.8">
                  <p:embed/>
                  <p:pic>
                    <p:nvPicPr>
                      <p:cNvPr id="3" name="Google Shape;371;p22">
                        <a:extLst>
                          <a:ext uri="{FF2B5EF4-FFF2-40B4-BE49-F238E27FC236}">
                            <a16:creationId xmlns:a16="http://schemas.microsoft.com/office/drawing/2014/main" id="{C0A453A5-8537-EECB-F5F3-CD0A0055DB2C}"/>
                          </a:ext>
                        </a:extLst>
                      </p:cNvPr>
                      <p:cNvPicPr preferRelativeResize="0"/>
                      <p:nvPr/>
                    </p:nvPicPr>
                    <p:blipFill rotWithShape="1">
                      <a:blip r:embed="rId3">
                        <a:alphaModFix/>
                      </a:blip>
                      <a:srcRect/>
                      <a:stretch/>
                    </p:blipFill>
                    <p:spPr>
                      <a:xfrm>
                        <a:off x="1895097" y="1942799"/>
                        <a:ext cx="8390635" cy="4307659"/>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5200811"/>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EC734-9926-3396-DC88-ED18EF65E66E}"/>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5803C92-47EF-CDA0-BCDE-8ABB71ED7E31}"/>
              </a:ext>
            </a:extLst>
          </p:cNvPr>
          <p:cNvSpPr txBox="1"/>
          <p:nvPr/>
        </p:nvSpPr>
        <p:spPr>
          <a:xfrm>
            <a:off x="1674734" y="627261"/>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Summary</a:t>
            </a:r>
          </a:p>
        </p:txBody>
      </p:sp>
      <p:sp>
        <p:nvSpPr>
          <p:cNvPr id="24" name="Rectangle 23">
            <a:extLst>
              <a:ext uri="{FF2B5EF4-FFF2-40B4-BE49-F238E27FC236}">
                <a16:creationId xmlns:a16="http://schemas.microsoft.com/office/drawing/2014/main" id="{ED2C9E7E-1CC0-E260-1CC0-1DB0EE8173BB}"/>
              </a:ext>
            </a:extLst>
          </p:cNvPr>
          <p:cNvSpPr/>
          <p:nvPr/>
        </p:nvSpPr>
        <p:spPr>
          <a:xfrm>
            <a:off x="1035386" y="1579607"/>
            <a:ext cx="10110060" cy="467050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rgbClr val="C00000"/>
                </a:solidFill>
              </a:rPr>
              <a:t>Inspections</a:t>
            </a:r>
            <a:r>
              <a:rPr lang="en-US" sz="2000" dirty="0">
                <a:solidFill>
                  <a:schemeClr val="tx1">
                    <a:lumMod val="65000"/>
                    <a:lumOff val="35000"/>
                  </a:schemeClr>
                </a:solidFill>
              </a:rPr>
              <a:t> can be used to evaluate requirements, mockups, functional prototypes, or systems</a:t>
            </a:r>
          </a:p>
          <a:p>
            <a:pPr marL="457200" indent="-457200" algn="just">
              <a:lnSpc>
                <a:spcPct val="150000"/>
              </a:lnSpc>
              <a:buFont typeface="Arial" panose="020B0604020202020204" pitchFamily="34" charset="0"/>
              <a:buChar char="•"/>
            </a:pPr>
            <a:r>
              <a:rPr lang="en-US" sz="2000" dirty="0">
                <a:solidFill>
                  <a:srgbClr val="C00000"/>
                </a:solidFill>
              </a:rPr>
              <a:t>User testing and heuristic evaluation </a:t>
            </a:r>
            <a:r>
              <a:rPr lang="en-US" sz="2000" dirty="0">
                <a:solidFill>
                  <a:schemeClr val="tx1">
                    <a:lumMod val="65000"/>
                    <a:lumOff val="35000"/>
                  </a:schemeClr>
                </a:solidFill>
              </a:rPr>
              <a:t>may reveal different usability problems</a:t>
            </a:r>
          </a:p>
          <a:p>
            <a:pPr marL="457200" indent="-457200" algn="just">
              <a:lnSpc>
                <a:spcPct val="150000"/>
              </a:lnSpc>
              <a:buFont typeface="Arial" panose="020B0604020202020204" pitchFamily="34" charset="0"/>
              <a:buChar char="•"/>
            </a:pPr>
            <a:r>
              <a:rPr lang="en-US" sz="2000" dirty="0">
                <a:solidFill>
                  <a:srgbClr val="C00000"/>
                </a:solidFill>
              </a:rPr>
              <a:t>Design guidelines </a:t>
            </a:r>
            <a:r>
              <a:rPr lang="en-US" sz="2000" dirty="0">
                <a:solidFill>
                  <a:schemeClr val="tx1">
                    <a:lumMod val="65000"/>
                    <a:lumOff val="35000"/>
                  </a:schemeClr>
                </a:solidFill>
              </a:rPr>
              <a:t>can be used to develop heuristics</a:t>
            </a:r>
          </a:p>
          <a:p>
            <a:pPr marL="457200" indent="-457200" algn="just">
              <a:lnSpc>
                <a:spcPct val="150000"/>
              </a:lnSpc>
              <a:buFont typeface="Arial" panose="020B0604020202020204" pitchFamily="34" charset="0"/>
              <a:buChar char="•"/>
            </a:pPr>
            <a:r>
              <a:rPr lang="en-US" sz="2000" dirty="0">
                <a:solidFill>
                  <a:srgbClr val="C00000"/>
                </a:solidFill>
              </a:rPr>
              <a:t>Web Content Accessibly Guidelines (WCAG) </a:t>
            </a:r>
            <a:r>
              <a:rPr lang="en-US" sz="2000" dirty="0">
                <a:solidFill>
                  <a:schemeClr val="tx1">
                    <a:lumMod val="65000"/>
                    <a:lumOff val="35000"/>
                  </a:schemeClr>
                </a:solidFill>
              </a:rPr>
              <a:t>provide guidance for evaluating the accessibility of websites</a:t>
            </a:r>
          </a:p>
          <a:p>
            <a:pPr marL="457200" indent="-457200" algn="just">
              <a:lnSpc>
                <a:spcPct val="150000"/>
              </a:lnSpc>
              <a:buFont typeface="Arial" panose="020B0604020202020204" pitchFamily="34" charset="0"/>
              <a:buChar char="•"/>
            </a:pPr>
            <a:r>
              <a:rPr lang="en-US" sz="2000" dirty="0">
                <a:solidFill>
                  <a:srgbClr val="C00000"/>
                </a:solidFill>
              </a:rPr>
              <a:t>Walkthroughs</a:t>
            </a:r>
            <a:r>
              <a:rPr lang="en-US" sz="2000" dirty="0">
                <a:solidFill>
                  <a:schemeClr val="tx1">
                    <a:lumMod val="65000"/>
                    <a:lumOff val="35000"/>
                  </a:schemeClr>
                </a:solidFill>
              </a:rPr>
              <a:t> are a fine-grained focused method for evaluating small parts of a prototype or product</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CA1D59B8-24BC-6BEA-E326-E6AAABD88021}"/>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48</a:t>
            </a:fld>
            <a:endParaRPr lang="en-MY" dirty="0"/>
          </a:p>
        </p:txBody>
      </p:sp>
    </p:spTree>
    <p:extLst>
      <p:ext uri="{BB962C8B-B14F-4D97-AF65-F5344CB8AC3E}">
        <p14:creationId xmlns:p14="http://schemas.microsoft.com/office/powerpoint/2010/main" val="230020871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6CB8D-A91F-40E1-62E0-1E8D661461C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37C4FB6C-8EE9-C107-B987-D570F46379B4}"/>
              </a:ext>
            </a:extLst>
          </p:cNvPr>
          <p:cNvSpPr txBox="1"/>
          <p:nvPr/>
        </p:nvSpPr>
        <p:spPr>
          <a:xfrm>
            <a:off x="1674734" y="627261"/>
            <a:ext cx="8831364" cy="769441"/>
          </a:xfrm>
          <a:prstGeom prst="rect">
            <a:avLst/>
          </a:prstGeom>
          <a:noFill/>
        </p:spPr>
        <p:txBody>
          <a:bodyPr wrap="square" rtlCol="0">
            <a:spAutoFit/>
          </a:bodyPr>
          <a:lstStyle/>
          <a:p>
            <a:pPr algn="ctr"/>
            <a:r>
              <a:rPr lang="en-US" sz="4400" dirty="0">
                <a:solidFill>
                  <a:schemeClr val="tx1">
                    <a:lumMod val="75000"/>
                    <a:lumOff val="25000"/>
                  </a:schemeClr>
                </a:solidFill>
                <a:latin typeface="+mj-lt"/>
              </a:rPr>
              <a:t>Summary (Cont.)</a:t>
            </a:r>
          </a:p>
        </p:txBody>
      </p:sp>
      <p:sp>
        <p:nvSpPr>
          <p:cNvPr id="24" name="Rectangle 23">
            <a:extLst>
              <a:ext uri="{FF2B5EF4-FFF2-40B4-BE49-F238E27FC236}">
                <a16:creationId xmlns:a16="http://schemas.microsoft.com/office/drawing/2014/main" id="{D1FE970A-9B1E-5770-C45B-E05640AC9314}"/>
              </a:ext>
            </a:extLst>
          </p:cNvPr>
          <p:cNvSpPr/>
          <p:nvPr/>
        </p:nvSpPr>
        <p:spPr>
          <a:xfrm>
            <a:off x="1035386" y="1579607"/>
            <a:ext cx="10110060" cy="467050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2000" dirty="0">
                <a:solidFill>
                  <a:srgbClr val="C00000"/>
                </a:solidFill>
              </a:rPr>
              <a:t>Analytics</a:t>
            </a:r>
            <a:r>
              <a:rPr lang="en-US" sz="2000" dirty="0">
                <a:solidFill>
                  <a:schemeClr val="tx1">
                    <a:lumMod val="65000"/>
                    <a:lumOff val="35000"/>
                  </a:schemeClr>
                </a:solidFill>
              </a:rPr>
              <a:t> involves </a:t>
            </a:r>
            <a:r>
              <a:rPr lang="en-US" sz="2000" dirty="0">
                <a:solidFill>
                  <a:srgbClr val="C00000"/>
                </a:solidFill>
              </a:rPr>
              <a:t>collecting data about people’s activity </a:t>
            </a:r>
            <a:r>
              <a:rPr lang="en-US" sz="2000" dirty="0">
                <a:solidFill>
                  <a:schemeClr val="tx1">
                    <a:lumMod val="65000"/>
                    <a:lumOff val="35000"/>
                  </a:schemeClr>
                </a:solidFill>
              </a:rPr>
              <a:t>on a website or product to see which parts are used</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a:solidFill>
                  <a:srgbClr val="C00000"/>
                </a:solidFill>
              </a:rPr>
              <a:t>A/B testing </a:t>
            </a:r>
            <a:r>
              <a:rPr lang="en-US" sz="2000" dirty="0">
                <a:solidFill>
                  <a:schemeClr val="tx1">
                    <a:lumMod val="65000"/>
                    <a:lumOff val="35000"/>
                  </a:schemeClr>
                </a:solidFill>
              </a:rPr>
              <a:t>is a form of </a:t>
            </a:r>
            <a:r>
              <a:rPr lang="en-US" sz="2000" dirty="0">
                <a:solidFill>
                  <a:srgbClr val="C00000"/>
                </a:solidFill>
              </a:rPr>
              <a:t>large-scale experiment</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a:p>
            <a:pPr marL="457200" indent="-457200" algn="just">
              <a:lnSpc>
                <a:spcPct val="150000"/>
              </a:lnSpc>
              <a:buFont typeface="Arial" panose="020B0604020202020204" pitchFamily="34" charset="0"/>
              <a:buChar char="•"/>
            </a:pPr>
            <a:r>
              <a:rPr lang="en-US" sz="2000" dirty="0" err="1">
                <a:solidFill>
                  <a:srgbClr val="C00000"/>
                </a:solidFill>
              </a:rPr>
              <a:t>Fitts’</a:t>
            </a:r>
            <a:r>
              <a:rPr lang="en-US" sz="2000" dirty="0">
                <a:solidFill>
                  <a:srgbClr val="C00000"/>
                </a:solidFill>
              </a:rPr>
              <a:t> Law </a:t>
            </a:r>
            <a:r>
              <a:rPr lang="en-US" sz="2000" dirty="0">
                <a:solidFill>
                  <a:schemeClr val="tx1">
                    <a:lumMod val="65000"/>
                    <a:lumOff val="35000"/>
                  </a:schemeClr>
                </a:solidFill>
              </a:rPr>
              <a:t>can be used </a:t>
            </a:r>
            <a:r>
              <a:rPr lang="en-US" sz="2000" dirty="0">
                <a:solidFill>
                  <a:srgbClr val="C00000"/>
                </a:solidFill>
              </a:rPr>
              <a:t>to predict expert</a:t>
            </a:r>
            <a:r>
              <a:rPr lang="en-US" sz="2000" dirty="0">
                <a:solidFill>
                  <a:schemeClr val="tx1">
                    <a:lumMod val="65000"/>
                    <a:lumOff val="35000"/>
                  </a:schemeClr>
                </a:solidFill>
              </a:rPr>
              <a:t>, </a:t>
            </a:r>
            <a:r>
              <a:rPr lang="en-US" sz="2000" dirty="0">
                <a:solidFill>
                  <a:srgbClr val="C00000"/>
                </a:solidFill>
              </a:rPr>
              <a:t>error-free performance </a:t>
            </a:r>
            <a:r>
              <a:rPr lang="en-US" sz="2000" dirty="0">
                <a:solidFill>
                  <a:schemeClr val="tx1">
                    <a:lumMod val="65000"/>
                    <a:lumOff val="35000"/>
                  </a:schemeClr>
                </a:solidFill>
              </a:rPr>
              <a:t>for clearly defined tasks with limited key presses, for example, to evaluate keypress sequences for handheld devices and the position of objects on a small screen</a:t>
            </a:r>
          </a:p>
          <a:p>
            <a:pPr marL="457200" indent="-457200" algn="just">
              <a:lnSpc>
                <a:spcPct val="150000"/>
              </a:lnSpc>
              <a:buFont typeface="Arial" panose="020B0604020202020204" pitchFamily="34" charset="0"/>
              <a:buChar char="•"/>
            </a:pPr>
            <a:endParaRPr lang="en-US" sz="2000" dirty="0">
              <a:solidFill>
                <a:schemeClr val="tx1">
                  <a:lumMod val="65000"/>
                  <a:lumOff val="35000"/>
                </a:schemeClr>
              </a:solidFill>
            </a:endParaRPr>
          </a:p>
        </p:txBody>
      </p:sp>
      <p:sp>
        <p:nvSpPr>
          <p:cNvPr id="4" name="Slide Number Placeholder 1">
            <a:extLst>
              <a:ext uri="{FF2B5EF4-FFF2-40B4-BE49-F238E27FC236}">
                <a16:creationId xmlns:a16="http://schemas.microsoft.com/office/drawing/2014/main" id="{CD4B6D09-1FFC-CF06-FA25-BFD3705EEFEE}"/>
              </a:ext>
            </a:extLst>
          </p:cNvPr>
          <p:cNvSpPr>
            <a:spLocks noGrp="1"/>
          </p:cNvSpPr>
          <p:nvPr>
            <p:ph type="sldNum" sz="quarter" idx="11"/>
          </p:nvPr>
        </p:nvSpPr>
        <p:spPr>
          <a:xfrm>
            <a:off x="4718816" y="6433021"/>
            <a:ext cx="2743200" cy="365125"/>
          </a:xfrm>
        </p:spPr>
        <p:txBody>
          <a:bodyPr/>
          <a:lstStyle/>
          <a:p>
            <a:fld id="{7737D3DD-0AB3-4F16-99FA-6262B2B4036D}" type="slidenum">
              <a:rPr lang="en-MY" smtClean="0"/>
              <a:t>49</a:t>
            </a:fld>
            <a:endParaRPr lang="en-MY" dirty="0"/>
          </a:p>
        </p:txBody>
      </p:sp>
    </p:spTree>
    <p:extLst>
      <p:ext uri="{BB962C8B-B14F-4D97-AF65-F5344CB8AC3E}">
        <p14:creationId xmlns:p14="http://schemas.microsoft.com/office/powerpoint/2010/main" val="1248928306"/>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theme/theme1.xml><?xml version="1.0" encoding="utf-8"?>
<a:theme xmlns:a="http://schemas.openxmlformats.org/drawingml/2006/main" name="Office Theme">
  <a:themeElements>
    <a:clrScheme name="PPT custom">
      <a:dk1>
        <a:sysClr val="windowText" lastClr="000000"/>
      </a:dk1>
      <a:lt1>
        <a:sysClr val="window" lastClr="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Custom 2">
      <a:majorFont>
        <a:latin typeface="Poppins Medium"/>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w="71585" cap="flat">
          <a:noFill/>
          <a:prstDash val="solid"/>
          <a:miter/>
        </a:ln>
      </a:spPr>
      <a:bodyPr rtlCol="0" anchor="ctr"/>
      <a:lstStyle>
        <a:defPPr algn="l">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10699</TotalTime>
  <Words>2784</Words>
  <Application>Microsoft Office PowerPoint</Application>
  <PresentationFormat>Widescreen</PresentationFormat>
  <Paragraphs>418</Paragraphs>
  <Slides>49</Slides>
  <Notes>17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49</vt:i4>
      </vt:variant>
    </vt:vector>
  </HeadingPairs>
  <TitlesOfParts>
    <vt:vector size="59" baseType="lpstr">
      <vt:lpstr>Arial</vt:lpstr>
      <vt:lpstr>Calibri</vt:lpstr>
      <vt:lpstr>Poppins</vt:lpstr>
      <vt:lpstr>Poppins Medium</vt:lpstr>
      <vt:lpstr>Times</vt:lpstr>
      <vt:lpstr>Times New Roman</vt:lpstr>
      <vt:lpstr>Verdana</vt:lpstr>
      <vt:lpstr>Office Theme</vt:lpstr>
      <vt:lpstr>Paintbrush Picture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Severity Ratings in Heuristic Evaluation</vt:lpstr>
      <vt:lpstr>Contributing factors to a problem</vt:lpstr>
      <vt:lpstr>Severity Rating Scale</vt:lpstr>
      <vt:lpstr>Severity Rating Scale (cont.)</vt:lpstr>
      <vt:lpstr>Problem Prioritisation</vt:lpstr>
      <vt:lpstr>Prioritisation Steps(Dual rating example)  </vt:lpstr>
      <vt:lpstr>Understanding the Impact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Fitts’ Law: A Model of Human Motor Performance</vt:lpstr>
      <vt:lpstr>Task-Related Organisation </vt:lpstr>
      <vt:lpstr>Fitts' Law</vt:lpstr>
      <vt:lpstr>PowerPoint Presentation</vt:lpstr>
      <vt:lpstr>PowerPoint Presentation</vt:lpstr>
      <vt:lpstr>Fitts in Practice</vt:lpstr>
      <vt:lpstr>Fitts in Practice</vt:lpstr>
      <vt:lpstr>Fitts in Practice</vt:lpstr>
      <vt:lpstr>Pie Menus</vt:lpstr>
      <vt:lpstr>Pie Menus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 IDIANA BINTI HAMIDI</dc:creator>
  <cp:lastModifiedBy>SARINA BINTI SULAIMAN</cp:lastModifiedBy>
  <cp:revision>242</cp:revision>
  <cp:lastPrinted>2025-06-11T17:15:06Z</cp:lastPrinted>
  <dcterms:created xsi:type="dcterms:W3CDTF">2022-06-08T07:39:09Z</dcterms:created>
  <dcterms:modified xsi:type="dcterms:W3CDTF">2025-12-18T05:59:56Z</dcterms:modified>
</cp:coreProperties>
</file>