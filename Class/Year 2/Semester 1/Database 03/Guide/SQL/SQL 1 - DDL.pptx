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315" r:id="rId2"/>
    <p:sldId id="275" r:id="rId3"/>
    <p:sldId id="262" r:id="rId4"/>
    <p:sldId id="258" r:id="rId5"/>
    <p:sldId id="259" r:id="rId6"/>
    <p:sldId id="260" r:id="rId7"/>
    <p:sldId id="288" r:id="rId8"/>
    <p:sldId id="318" r:id="rId9"/>
    <p:sldId id="317" r:id="rId10"/>
    <p:sldId id="319" r:id="rId11"/>
    <p:sldId id="267" r:id="rId12"/>
    <p:sldId id="265" r:id="rId13"/>
    <p:sldId id="263" r:id="rId14"/>
    <p:sldId id="316" r:id="rId15"/>
    <p:sldId id="321" r:id="rId16"/>
    <p:sldId id="284" r:id="rId17"/>
    <p:sldId id="322" r:id="rId18"/>
    <p:sldId id="325" r:id="rId19"/>
    <p:sldId id="327" r:id="rId20"/>
    <p:sldId id="285" r:id="rId21"/>
    <p:sldId id="326" r:id="rId22"/>
    <p:sldId id="330" r:id="rId23"/>
    <p:sldId id="328" r:id="rId24"/>
    <p:sldId id="329" r:id="rId25"/>
    <p:sldId id="324" r:id="rId26"/>
    <p:sldId id="276" r:id="rId27"/>
    <p:sldId id="280" r:id="rId28"/>
    <p:sldId id="277" r:id="rId29"/>
    <p:sldId id="278" r:id="rId30"/>
    <p:sldId id="331" r:id="rId31"/>
    <p:sldId id="287" r:id="rId32"/>
    <p:sldId id="279" r:id="rId33"/>
    <p:sldId id="282" r:id="rId34"/>
    <p:sldId id="334" r:id="rId35"/>
    <p:sldId id="335" r:id="rId36"/>
    <p:sldId id="281" r:id="rId37"/>
    <p:sldId id="293" r:id="rId38"/>
    <p:sldId id="336" r:id="rId39"/>
    <p:sldId id="289" r:id="rId40"/>
    <p:sldId id="290" r:id="rId41"/>
    <p:sldId id="291" r:id="rId42"/>
    <p:sldId id="292" r:id="rId43"/>
    <p:sldId id="31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2281AB-3F48-DD4F-A500-D88A49F108CB}">
          <p14:sldIdLst>
            <p14:sldId id="315"/>
            <p14:sldId id="275"/>
            <p14:sldId id="262"/>
          </p14:sldIdLst>
        </p14:section>
        <p14:section name="Intro" id="{E2C71C30-F899-3645-AA00-8DEDA9F38C80}">
          <p14:sldIdLst>
            <p14:sldId id="258"/>
            <p14:sldId id="259"/>
            <p14:sldId id="260"/>
            <p14:sldId id="288"/>
          </p14:sldIdLst>
        </p14:section>
        <p14:section name="Data Integrity Constraints" id="{4AE9DCBB-A803-AD41-B49A-5A0FAA78DB10}">
          <p14:sldIdLst>
            <p14:sldId id="318"/>
            <p14:sldId id="317"/>
            <p14:sldId id="319"/>
          </p14:sldIdLst>
        </p14:section>
        <p14:section name="CREATE TABLE" id="{AAA796EA-7FA4-174C-AE5D-4C22C2479FE6}">
          <p14:sldIdLst>
            <p14:sldId id="267"/>
            <p14:sldId id="265"/>
            <p14:sldId id="263"/>
            <p14:sldId id="316"/>
            <p14:sldId id="321"/>
            <p14:sldId id="284"/>
            <p14:sldId id="322"/>
            <p14:sldId id="325"/>
            <p14:sldId id="327"/>
            <p14:sldId id="285"/>
            <p14:sldId id="326"/>
            <p14:sldId id="330"/>
            <p14:sldId id="328"/>
            <p14:sldId id="329"/>
            <p14:sldId id="324"/>
          </p14:sldIdLst>
        </p14:section>
        <p14:section name="ALTER TABLE" id="{BEBEBF16-149C-D344-A2F4-7A411ED8461E}">
          <p14:sldIdLst>
            <p14:sldId id="276"/>
            <p14:sldId id="280"/>
            <p14:sldId id="277"/>
            <p14:sldId id="278"/>
            <p14:sldId id="331"/>
            <p14:sldId id="287"/>
          </p14:sldIdLst>
        </p14:section>
        <p14:section name="DELETE TABLE" id="{962AE47E-2108-1044-BA6A-BFCC621BC132}">
          <p14:sldIdLst>
            <p14:sldId id="279"/>
          </p14:sldIdLst>
        </p14:section>
        <p14:section name="OTHER" id="{E83615A0-3B89-B347-B374-281FBA431C1B}">
          <p14:sldIdLst>
            <p14:sldId id="282"/>
            <p14:sldId id="334"/>
            <p14:sldId id="335"/>
            <p14:sldId id="281"/>
            <p14:sldId id="293"/>
            <p14:sldId id="336"/>
          </p14:sldIdLst>
        </p14:section>
        <p14:section name="EXERCISE" id="{3A563525-E2BA-9C43-AD4A-4914852A8054}">
          <p14:sldIdLst>
            <p14:sldId id="289"/>
            <p14:sldId id="290"/>
            <p14:sldId id="291"/>
            <p14:sldId id="292"/>
            <p14:sldId id="3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D35"/>
    <a:srgbClr val="956251"/>
    <a:srgbClr val="9B2D1F"/>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876" autoAdjust="0"/>
    <p:restoredTop sz="71798" autoAdjust="0"/>
  </p:normalViewPr>
  <p:slideViewPr>
    <p:cSldViewPr snapToGrid="0">
      <p:cViewPr varScale="1">
        <p:scale>
          <a:sx n="106" d="100"/>
          <a:sy n="106" d="100"/>
        </p:scale>
        <p:origin x="1016" y="17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BFA76F-C985-4AAB-93B6-714961617ADF}"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080CAD51-5973-4763-8013-F537BF79CF75}">
      <dgm:prSet/>
      <dgm:spPr/>
      <dgm:t>
        <a:bodyPr/>
        <a:lstStyle/>
        <a:p>
          <a:r>
            <a:rPr lang="en-MY"/>
            <a:t>A database language that allows users to:</a:t>
          </a:r>
          <a:endParaRPr lang="en-US"/>
        </a:p>
      </dgm:t>
    </dgm:pt>
    <dgm:pt modelId="{E115383E-8799-4490-B6CE-2F8FD7B2F336}" type="parTrans" cxnId="{B95E6397-F484-4FCD-AA49-8D2FCAF5F772}">
      <dgm:prSet/>
      <dgm:spPr/>
      <dgm:t>
        <a:bodyPr/>
        <a:lstStyle/>
        <a:p>
          <a:endParaRPr lang="en-US"/>
        </a:p>
      </dgm:t>
    </dgm:pt>
    <dgm:pt modelId="{BC758CD8-4179-4FA1-9868-8B22F385A1E2}" type="sibTrans" cxnId="{B95E6397-F484-4FCD-AA49-8D2FCAF5F772}">
      <dgm:prSet/>
      <dgm:spPr/>
      <dgm:t>
        <a:bodyPr/>
        <a:lstStyle/>
        <a:p>
          <a:endParaRPr lang="en-US"/>
        </a:p>
      </dgm:t>
    </dgm:pt>
    <dgm:pt modelId="{02E39D83-680B-45FC-B76C-8C9BA03354B7}">
      <dgm:prSet/>
      <dgm:spPr/>
      <dgm:t>
        <a:bodyPr/>
        <a:lstStyle/>
        <a:p>
          <a:r>
            <a:rPr lang="en-MY"/>
            <a:t>Create database and relation structures.</a:t>
          </a:r>
          <a:endParaRPr lang="en-US"/>
        </a:p>
      </dgm:t>
    </dgm:pt>
    <dgm:pt modelId="{F9436677-EF77-46CF-9D2A-3DC79209110A}" type="parTrans" cxnId="{FB52DFE1-834E-46BF-91BE-28B0803CA8E3}">
      <dgm:prSet/>
      <dgm:spPr/>
      <dgm:t>
        <a:bodyPr/>
        <a:lstStyle/>
        <a:p>
          <a:endParaRPr lang="en-US"/>
        </a:p>
      </dgm:t>
    </dgm:pt>
    <dgm:pt modelId="{D8FDDB2B-C245-4858-B547-36F37D3C3655}" type="sibTrans" cxnId="{FB52DFE1-834E-46BF-91BE-28B0803CA8E3}">
      <dgm:prSet/>
      <dgm:spPr/>
      <dgm:t>
        <a:bodyPr/>
        <a:lstStyle/>
        <a:p>
          <a:endParaRPr lang="en-US"/>
        </a:p>
      </dgm:t>
    </dgm:pt>
    <dgm:pt modelId="{03B6CF41-868A-4922-81F7-BA1F82736CB3}">
      <dgm:prSet/>
      <dgm:spPr/>
      <dgm:t>
        <a:bodyPr/>
        <a:lstStyle/>
        <a:p>
          <a:r>
            <a:rPr lang="en-MY"/>
            <a:t>Perform basic data management tasks (insertion, modification and deletion of data from relations)</a:t>
          </a:r>
          <a:endParaRPr lang="en-US"/>
        </a:p>
      </dgm:t>
    </dgm:pt>
    <dgm:pt modelId="{79AC2E88-4A08-48AF-8963-C8783CA9D38B}" type="parTrans" cxnId="{EB69FDB0-0FF9-48B1-BA3A-E18ADAB2B1A4}">
      <dgm:prSet/>
      <dgm:spPr/>
      <dgm:t>
        <a:bodyPr/>
        <a:lstStyle/>
        <a:p>
          <a:endParaRPr lang="en-US"/>
        </a:p>
      </dgm:t>
    </dgm:pt>
    <dgm:pt modelId="{E99CCA69-F44B-4180-90D2-C31AFFCCB71E}" type="sibTrans" cxnId="{EB69FDB0-0FF9-48B1-BA3A-E18ADAB2B1A4}">
      <dgm:prSet/>
      <dgm:spPr/>
      <dgm:t>
        <a:bodyPr/>
        <a:lstStyle/>
        <a:p>
          <a:endParaRPr lang="en-US"/>
        </a:p>
      </dgm:t>
    </dgm:pt>
    <dgm:pt modelId="{23213793-87D3-4165-95B4-4FB128B8F942}">
      <dgm:prSet/>
      <dgm:spPr/>
      <dgm:t>
        <a:bodyPr/>
        <a:lstStyle/>
        <a:p>
          <a:r>
            <a:rPr lang="en-MY"/>
            <a:t>Perform simple and complex queries.</a:t>
          </a:r>
          <a:endParaRPr lang="en-US"/>
        </a:p>
      </dgm:t>
    </dgm:pt>
    <dgm:pt modelId="{FCA50589-F19B-40AB-8A4B-A51EF5D24538}" type="parTrans" cxnId="{3D8AF797-DB1C-45C7-8E43-3CFF2336FEF7}">
      <dgm:prSet/>
      <dgm:spPr/>
      <dgm:t>
        <a:bodyPr/>
        <a:lstStyle/>
        <a:p>
          <a:endParaRPr lang="en-US"/>
        </a:p>
      </dgm:t>
    </dgm:pt>
    <dgm:pt modelId="{549AAB71-2BFA-47A8-89F9-157BFDD3BA22}" type="sibTrans" cxnId="{3D8AF797-DB1C-45C7-8E43-3CFF2336FEF7}">
      <dgm:prSet/>
      <dgm:spPr/>
      <dgm:t>
        <a:bodyPr/>
        <a:lstStyle/>
        <a:p>
          <a:endParaRPr lang="en-US"/>
        </a:p>
      </dgm:t>
    </dgm:pt>
    <dgm:pt modelId="{D73C83FB-B099-4DC6-A2ED-13BE1CC718F4}">
      <dgm:prSet/>
      <dgm:spPr/>
      <dgm:t>
        <a:bodyPr/>
        <a:lstStyle/>
        <a:p>
          <a:r>
            <a:rPr lang="en-US"/>
            <a:t>Two major components: </a:t>
          </a:r>
        </a:p>
      </dgm:t>
    </dgm:pt>
    <dgm:pt modelId="{8A0AF0AC-86FA-4F91-80B5-EED5E17DFEEF}" type="parTrans" cxnId="{C820605D-466E-40F0-9AB0-7A8C7A11D4F0}">
      <dgm:prSet/>
      <dgm:spPr/>
      <dgm:t>
        <a:bodyPr/>
        <a:lstStyle/>
        <a:p>
          <a:endParaRPr lang="en-US"/>
        </a:p>
      </dgm:t>
    </dgm:pt>
    <dgm:pt modelId="{EB73C345-22A5-4776-9997-70CC01F7167E}" type="sibTrans" cxnId="{C820605D-466E-40F0-9AB0-7A8C7A11D4F0}">
      <dgm:prSet/>
      <dgm:spPr/>
      <dgm:t>
        <a:bodyPr/>
        <a:lstStyle/>
        <a:p>
          <a:endParaRPr lang="en-US"/>
        </a:p>
      </dgm:t>
    </dgm:pt>
    <dgm:pt modelId="{02673C9C-E7CE-4FEB-8EF9-1BCDA72D3C3C}">
      <dgm:prSet/>
      <dgm:spPr/>
      <dgm:t>
        <a:bodyPr/>
        <a:lstStyle/>
        <a:p>
          <a:r>
            <a:rPr lang="en-US" b="1" dirty="0">
              <a:solidFill>
                <a:srgbClr val="0070C0"/>
              </a:solidFill>
            </a:rPr>
            <a:t>Data Definition Language (DDL)</a:t>
          </a:r>
          <a:endParaRPr lang="en-US" dirty="0">
            <a:solidFill>
              <a:srgbClr val="0070C0"/>
            </a:solidFill>
          </a:endParaRPr>
        </a:p>
      </dgm:t>
    </dgm:pt>
    <dgm:pt modelId="{4A60A605-29B9-4CB0-B47F-4147D6294D79}" type="parTrans" cxnId="{CFEE0AD1-9664-4E29-9EFA-354EDEA9DA89}">
      <dgm:prSet/>
      <dgm:spPr/>
      <dgm:t>
        <a:bodyPr/>
        <a:lstStyle/>
        <a:p>
          <a:endParaRPr lang="en-US"/>
        </a:p>
      </dgm:t>
    </dgm:pt>
    <dgm:pt modelId="{73749FA5-C73D-458D-A072-005C2C3020BD}" type="sibTrans" cxnId="{CFEE0AD1-9664-4E29-9EFA-354EDEA9DA89}">
      <dgm:prSet/>
      <dgm:spPr/>
      <dgm:t>
        <a:bodyPr/>
        <a:lstStyle/>
        <a:p>
          <a:endParaRPr lang="en-US"/>
        </a:p>
      </dgm:t>
    </dgm:pt>
    <dgm:pt modelId="{18632873-B067-4271-AC0B-7EFA582441B5}">
      <dgm:prSet/>
      <dgm:spPr/>
      <dgm:t>
        <a:bodyPr/>
        <a:lstStyle/>
        <a:p>
          <a:r>
            <a:rPr lang="en-US" b="1" dirty="0">
              <a:solidFill>
                <a:srgbClr val="0070C0"/>
              </a:solidFill>
            </a:rPr>
            <a:t>Data Manipulation Language (DML)</a:t>
          </a:r>
          <a:endParaRPr lang="en-US" dirty="0">
            <a:solidFill>
              <a:srgbClr val="0070C0"/>
            </a:solidFill>
          </a:endParaRPr>
        </a:p>
      </dgm:t>
    </dgm:pt>
    <dgm:pt modelId="{2E8DC271-B28C-485C-93FA-7ED5B71D36A9}" type="parTrans" cxnId="{918A50E6-9815-4890-A5CE-95954D6F0951}">
      <dgm:prSet/>
      <dgm:spPr/>
      <dgm:t>
        <a:bodyPr/>
        <a:lstStyle/>
        <a:p>
          <a:endParaRPr lang="en-US"/>
        </a:p>
      </dgm:t>
    </dgm:pt>
    <dgm:pt modelId="{A3D28247-EA83-40D4-A2A6-689DA45A267B}" type="sibTrans" cxnId="{918A50E6-9815-4890-A5CE-95954D6F0951}">
      <dgm:prSet/>
      <dgm:spPr/>
      <dgm:t>
        <a:bodyPr/>
        <a:lstStyle/>
        <a:p>
          <a:endParaRPr lang="en-US"/>
        </a:p>
      </dgm:t>
    </dgm:pt>
    <dgm:pt modelId="{E5BC76E5-F12B-7046-AA39-146B743069CF}" type="pres">
      <dgm:prSet presAssocID="{43BFA76F-C985-4AAB-93B6-714961617ADF}" presName="linear" presStyleCnt="0">
        <dgm:presLayoutVars>
          <dgm:animLvl val="lvl"/>
          <dgm:resizeHandles val="exact"/>
        </dgm:presLayoutVars>
      </dgm:prSet>
      <dgm:spPr/>
    </dgm:pt>
    <dgm:pt modelId="{0D5FFA2B-A4B3-4045-9298-2AB869F0A266}" type="pres">
      <dgm:prSet presAssocID="{080CAD51-5973-4763-8013-F537BF79CF75}" presName="parentText" presStyleLbl="node1" presStyleIdx="0" presStyleCnt="2">
        <dgm:presLayoutVars>
          <dgm:chMax val="0"/>
          <dgm:bulletEnabled val="1"/>
        </dgm:presLayoutVars>
      </dgm:prSet>
      <dgm:spPr/>
    </dgm:pt>
    <dgm:pt modelId="{1C7F3664-747D-FD44-8E4C-25D4CC66751C}" type="pres">
      <dgm:prSet presAssocID="{080CAD51-5973-4763-8013-F537BF79CF75}" presName="childText" presStyleLbl="revTx" presStyleIdx="0" presStyleCnt="2">
        <dgm:presLayoutVars>
          <dgm:bulletEnabled val="1"/>
        </dgm:presLayoutVars>
      </dgm:prSet>
      <dgm:spPr/>
    </dgm:pt>
    <dgm:pt modelId="{89594BA8-15D5-1247-89A2-13602F07235D}" type="pres">
      <dgm:prSet presAssocID="{D73C83FB-B099-4DC6-A2ED-13BE1CC718F4}" presName="parentText" presStyleLbl="node1" presStyleIdx="1" presStyleCnt="2">
        <dgm:presLayoutVars>
          <dgm:chMax val="0"/>
          <dgm:bulletEnabled val="1"/>
        </dgm:presLayoutVars>
      </dgm:prSet>
      <dgm:spPr/>
    </dgm:pt>
    <dgm:pt modelId="{45832D86-BBC3-514F-9506-1B4BC9E386E7}" type="pres">
      <dgm:prSet presAssocID="{D73C83FB-B099-4DC6-A2ED-13BE1CC718F4}" presName="childText" presStyleLbl="revTx" presStyleIdx="1" presStyleCnt="2">
        <dgm:presLayoutVars>
          <dgm:bulletEnabled val="1"/>
        </dgm:presLayoutVars>
      </dgm:prSet>
      <dgm:spPr/>
    </dgm:pt>
  </dgm:ptLst>
  <dgm:cxnLst>
    <dgm:cxn modelId="{4EF7370D-7E1F-5B43-B226-E48E50434F2C}" type="presOf" srcId="{03B6CF41-868A-4922-81F7-BA1F82736CB3}" destId="{1C7F3664-747D-FD44-8E4C-25D4CC66751C}" srcOrd="0" destOrd="1" presId="urn:microsoft.com/office/officeart/2005/8/layout/vList2"/>
    <dgm:cxn modelId="{11FAA64B-A634-504B-8D77-71D8748F34CB}" type="presOf" srcId="{23213793-87D3-4165-95B4-4FB128B8F942}" destId="{1C7F3664-747D-FD44-8E4C-25D4CC66751C}" srcOrd="0" destOrd="2" presId="urn:microsoft.com/office/officeart/2005/8/layout/vList2"/>
    <dgm:cxn modelId="{E70E8A57-2C33-9542-A3B4-A074E2086E12}" type="presOf" srcId="{080CAD51-5973-4763-8013-F537BF79CF75}" destId="{0D5FFA2B-A4B3-4045-9298-2AB869F0A266}" srcOrd="0" destOrd="0" presId="urn:microsoft.com/office/officeart/2005/8/layout/vList2"/>
    <dgm:cxn modelId="{59A0D05B-9C66-2641-AD06-3DF3B0F4DA99}" type="presOf" srcId="{02E39D83-680B-45FC-B76C-8C9BA03354B7}" destId="{1C7F3664-747D-FD44-8E4C-25D4CC66751C}" srcOrd="0" destOrd="0" presId="urn:microsoft.com/office/officeart/2005/8/layout/vList2"/>
    <dgm:cxn modelId="{C820605D-466E-40F0-9AB0-7A8C7A11D4F0}" srcId="{43BFA76F-C985-4AAB-93B6-714961617ADF}" destId="{D73C83FB-B099-4DC6-A2ED-13BE1CC718F4}" srcOrd="1" destOrd="0" parTransId="{8A0AF0AC-86FA-4F91-80B5-EED5E17DFEEF}" sibTransId="{EB73C345-22A5-4776-9997-70CC01F7167E}"/>
    <dgm:cxn modelId="{B95E6397-F484-4FCD-AA49-8D2FCAF5F772}" srcId="{43BFA76F-C985-4AAB-93B6-714961617ADF}" destId="{080CAD51-5973-4763-8013-F537BF79CF75}" srcOrd="0" destOrd="0" parTransId="{E115383E-8799-4490-B6CE-2F8FD7B2F336}" sibTransId="{BC758CD8-4179-4FA1-9868-8B22F385A1E2}"/>
    <dgm:cxn modelId="{3D8AF797-DB1C-45C7-8E43-3CFF2336FEF7}" srcId="{080CAD51-5973-4763-8013-F537BF79CF75}" destId="{23213793-87D3-4165-95B4-4FB128B8F942}" srcOrd="2" destOrd="0" parTransId="{FCA50589-F19B-40AB-8A4B-A51EF5D24538}" sibTransId="{549AAB71-2BFA-47A8-89F9-157BFDD3BA22}"/>
    <dgm:cxn modelId="{9B21E69B-D487-7F40-9F6D-94FEDF262AF2}" type="presOf" srcId="{02673C9C-E7CE-4FEB-8EF9-1BCDA72D3C3C}" destId="{45832D86-BBC3-514F-9506-1B4BC9E386E7}" srcOrd="0" destOrd="0" presId="urn:microsoft.com/office/officeart/2005/8/layout/vList2"/>
    <dgm:cxn modelId="{EB69FDB0-0FF9-48B1-BA3A-E18ADAB2B1A4}" srcId="{080CAD51-5973-4763-8013-F537BF79CF75}" destId="{03B6CF41-868A-4922-81F7-BA1F82736CB3}" srcOrd="1" destOrd="0" parTransId="{79AC2E88-4A08-48AF-8963-C8783CA9D38B}" sibTransId="{E99CCA69-F44B-4180-90D2-C31AFFCCB71E}"/>
    <dgm:cxn modelId="{64E0DBB2-6AA3-2C45-AE2D-5775644F4589}" type="presOf" srcId="{18632873-B067-4271-AC0B-7EFA582441B5}" destId="{45832D86-BBC3-514F-9506-1B4BC9E386E7}" srcOrd="0" destOrd="1" presId="urn:microsoft.com/office/officeart/2005/8/layout/vList2"/>
    <dgm:cxn modelId="{12517ABD-DB73-294C-9078-658F7BFD898F}" type="presOf" srcId="{43BFA76F-C985-4AAB-93B6-714961617ADF}" destId="{E5BC76E5-F12B-7046-AA39-146B743069CF}" srcOrd="0" destOrd="0" presId="urn:microsoft.com/office/officeart/2005/8/layout/vList2"/>
    <dgm:cxn modelId="{CFEE0AD1-9664-4E29-9EFA-354EDEA9DA89}" srcId="{D73C83FB-B099-4DC6-A2ED-13BE1CC718F4}" destId="{02673C9C-E7CE-4FEB-8EF9-1BCDA72D3C3C}" srcOrd="0" destOrd="0" parTransId="{4A60A605-29B9-4CB0-B47F-4147D6294D79}" sibTransId="{73749FA5-C73D-458D-A072-005C2C3020BD}"/>
    <dgm:cxn modelId="{FB52DFE1-834E-46BF-91BE-28B0803CA8E3}" srcId="{080CAD51-5973-4763-8013-F537BF79CF75}" destId="{02E39D83-680B-45FC-B76C-8C9BA03354B7}" srcOrd="0" destOrd="0" parTransId="{F9436677-EF77-46CF-9D2A-3DC79209110A}" sibTransId="{D8FDDB2B-C245-4858-B547-36F37D3C3655}"/>
    <dgm:cxn modelId="{918A50E6-9815-4890-A5CE-95954D6F0951}" srcId="{D73C83FB-B099-4DC6-A2ED-13BE1CC718F4}" destId="{18632873-B067-4271-AC0B-7EFA582441B5}" srcOrd="1" destOrd="0" parTransId="{2E8DC271-B28C-485C-93FA-7ED5B71D36A9}" sibTransId="{A3D28247-EA83-40D4-A2A6-689DA45A267B}"/>
    <dgm:cxn modelId="{F46E2EF5-110C-AE4E-A06A-92F95FE17A9A}" type="presOf" srcId="{D73C83FB-B099-4DC6-A2ED-13BE1CC718F4}" destId="{89594BA8-15D5-1247-89A2-13602F07235D}" srcOrd="0" destOrd="0" presId="urn:microsoft.com/office/officeart/2005/8/layout/vList2"/>
    <dgm:cxn modelId="{D0E7723A-488B-9B44-8D38-4D971833691C}" type="presParOf" srcId="{E5BC76E5-F12B-7046-AA39-146B743069CF}" destId="{0D5FFA2B-A4B3-4045-9298-2AB869F0A266}" srcOrd="0" destOrd="0" presId="urn:microsoft.com/office/officeart/2005/8/layout/vList2"/>
    <dgm:cxn modelId="{35E56ED5-8293-9F40-89D8-6813D3965A49}" type="presParOf" srcId="{E5BC76E5-F12B-7046-AA39-146B743069CF}" destId="{1C7F3664-747D-FD44-8E4C-25D4CC66751C}" srcOrd="1" destOrd="0" presId="urn:microsoft.com/office/officeart/2005/8/layout/vList2"/>
    <dgm:cxn modelId="{C9FE86E2-00A1-164C-A938-422766BBCB67}" type="presParOf" srcId="{E5BC76E5-F12B-7046-AA39-146B743069CF}" destId="{89594BA8-15D5-1247-89A2-13602F07235D}" srcOrd="2" destOrd="0" presId="urn:microsoft.com/office/officeart/2005/8/layout/vList2"/>
    <dgm:cxn modelId="{D2652CA2-B68B-054B-9846-6F325BACFF04}" type="presParOf" srcId="{E5BC76E5-F12B-7046-AA39-146B743069CF}" destId="{45832D86-BBC3-514F-9506-1B4BC9E386E7}"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5FFA2B-A4B3-4045-9298-2AB869F0A266}">
      <dsp:nvSpPr>
        <dsp:cNvPr id="0" name=""/>
        <dsp:cNvSpPr/>
      </dsp:nvSpPr>
      <dsp:spPr>
        <a:xfrm>
          <a:off x="0" y="77735"/>
          <a:ext cx="10515600"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MY" sz="3300" kern="1200"/>
            <a:t>A database language that allows users to:</a:t>
          </a:r>
          <a:endParaRPr lang="en-US" sz="3300" kern="1200"/>
        </a:p>
      </dsp:txBody>
      <dsp:txXfrm>
        <a:off x="38638" y="116373"/>
        <a:ext cx="10438324" cy="714229"/>
      </dsp:txXfrm>
    </dsp:sp>
    <dsp:sp modelId="{1C7F3664-747D-FD44-8E4C-25D4CC66751C}">
      <dsp:nvSpPr>
        <dsp:cNvPr id="0" name=""/>
        <dsp:cNvSpPr/>
      </dsp:nvSpPr>
      <dsp:spPr>
        <a:xfrm>
          <a:off x="0" y="869240"/>
          <a:ext cx="10515600" cy="170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MY" sz="2600" kern="1200"/>
            <a:t>Create database and relation structures.</a:t>
          </a:r>
          <a:endParaRPr lang="en-US" sz="2600" kern="1200"/>
        </a:p>
        <a:p>
          <a:pPr marL="228600" lvl="1" indent="-228600" algn="l" defTabSz="1155700">
            <a:lnSpc>
              <a:spcPct val="90000"/>
            </a:lnSpc>
            <a:spcBef>
              <a:spcPct val="0"/>
            </a:spcBef>
            <a:spcAft>
              <a:spcPct val="20000"/>
            </a:spcAft>
            <a:buChar char="•"/>
          </a:pPr>
          <a:r>
            <a:rPr lang="en-MY" sz="2600" kern="1200"/>
            <a:t>Perform basic data management tasks (insertion, modification and deletion of data from relations)</a:t>
          </a:r>
          <a:endParaRPr lang="en-US" sz="2600" kern="1200"/>
        </a:p>
        <a:p>
          <a:pPr marL="228600" lvl="1" indent="-228600" algn="l" defTabSz="1155700">
            <a:lnSpc>
              <a:spcPct val="90000"/>
            </a:lnSpc>
            <a:spcBef>
              <a:spcPct val="0"/>
            </a:spcBef>
            <a:spcAft>
              <a:spcPct val="20000"/>
            </a:spcAft>
            <a:buChar char="•"/>
          </a:pPr>
          <a:r>
            <a:rPr lang="en-MY" sz="2600" kern="1200"/>
            <a:t>Perform simple and complex queries.</a:t>
          </a:r>
          <a:endParaRPr lang="en-US" sz="2600" kern="1200"/>
        </a:p>
      </dsp:txBody>
      <dsp:txXfrm>
        <a:off x="0" y="869240"/>
        <a:ext cx="10515600" cy="1707750"/>
      </dsp:txXfrm>
    </dsp:sp>
    <dsp:sp modelId="{89594BA8-15D5-1247-89A2-13602F07235D}">
      <dsp:nvSpPr>
        <dsp:cNvPr id="0" name=""/>
        <dsp:cNvSpPr/>
      </dsp:nvSpPr>
      <dsp:spPr>
        <a:xfrm>
          <a:off x="0" y="2576990"/>
          <a:ext cx="10515600" cy="791505"/>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kern="1200"/>
            <a:t>Two major components: </a:t>
          </a:r>
        </a:p>
      </dsp:txBody>
      <dsp:txXfrm>
        <a:off x="38638" y="2615628"/>
        <a:ext cx="10438324" cy="714229"/>
      </dsp:txXfrm>
    </dsp:sp>
    <dsp:sp modelId="{45832D86-BBC3-514F-9506-1B4BC9E386E7}">
      <dsp:nvSpPr>
        <dsp:cNvPr id="0" name=""/>
        <dsp:cNvSpPr/>
      </dsp:nvSpPr>
      <dsp:spPr>
        <a:xfrm>
          <a:off x="0" y="3368495"/>
          <a:ext cx="10515600" cy="9051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US" sz="2600" b="1" kern="1200" dirty="0">
              <a:solidFill>
                <a:srgbClr val="0070C0"/>
              </a:solidFill>
            </a:rPr>
            <a:t>Data Definition Language (DDL)</a:t>
          </a:r>
          <a:endParaRPr lang="en-US" sz="2600" kern="1200" dirty="0">
            <a:solidFill>
              <a:srgbClr val="0070C0"/>
            </a:solidFill>
          </a:endParaRPr>
        </a:p>
        <a:p>
          <a:pPr marL="228600" lvl="1" indent="-228600" algn="l" defTabSz="1155700">
            <a:lnSpc>
              <a:spcPct val="90000"/>
            </a:lnSpc>
            <a:spcBef>
              <a:spcPct val="0"/>
            </a:spcBef>
            <a:spcAft>
              <a:spcPct val="20000"/>
            </a:spcAft>
            <a:buChar char="•"/>
          </a:pPr>
          <a:r>
            <a:rPr lang="en-US" sz="2600" b="1" kern="1200" dirty="0">
              <a:solidFill>
                <a:srgbClr val="0070C0"/>
              </a:solidFill>
            </a:rPr>
            <a:t>Data Manipulation Language (DML)</a:t>
          </a:r>
          <a:endParaRPr lang="en-US" sz="2600" kern="1200" dirty="0">
            <a:solidFill>
              <a:srgbClr val="0070C0"/>
            </a:solidFill>
          </a:endParaRPr>
        </a:p>
      </dsp:txBody>
      <dsp:txXfrm>
        <a:off x="0" y="3368495"/>
        <a:ext cx="10515600" cy="90510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11/2/24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MY" dirty="0">
                <a:solidFill>
                  <a:srgbClr val="000000"/>
                </a:solidFill>
                <a:effectLst/>
                <a:latin typeface="Helvetica" pitchFamily="2" charset="0"/>
              </a:rPr>
              <a:t>Without the ON DELETE CASCADE or the ON DELETE SET NULL options, the row in the parent table cannot be deleted if it is referenced in the child table. And these keyword cannot be used in column-level syntax.</a:t>
            </a:r>
          </a:p>
          <a:p>
            <a:endParaRPr lang="en-GB" dirty="0"/>
          </a:p>
        </p:txBody>
      </p:sp>
      <p:sp>
        <p:nvSpPr>
          <p:cNvPr id="4" name="Slide Number Placeholder 3"/>
          <p:cNvSpPr>
            <a:spLocks noGrp="1"/>
          </p:cNvSpPr>
          <p:nvPr>
            <p:ph type="sldNum" sz="quarter" idx="5"/>
          </p:nvPr>
        </p:nvSpPr>
        <p:spPr/>
        <p:txBody>
          <a:bodyPr/>
          <a:lstStyle/>
          <a:p>
            <a:fld id="{092B6879-5321-45FF-A6AE-E6B1BB62CBAD}" type="slidenum">
              <a:rPr lang="en-US" smtClean="0"/>
              <a:t>24</a:t>
            </a:fld>
            <a:endParaRPr lang="en-US"/>
          </a:p>
        </p:txBody>
      </p:sp>
    </p:spTree>
    <p:extLst>
      <p:ext uri="{BB962C8B-B14F-4D97-AF65-F5344CB8AC3E}">
        <p14:creationId xmlns:p14="http://schemas.microsoft.com/office/powerpoint/2010/main" val="546213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92B6879-5321-45FF-A6AE-E6B1BB62CBAD}" type="slidenum">
              <a:rPr lang="en-US" smtClean="0"/>
              <a:t>38</a:t>
            </a:fld>
            <a:endParaRPr lang="en-US"/>
          </a:p>
        </p:txBody>
      </p:sp>
    </p:spTree>
    <p:extLst>
      <p:ext uri="{BB962C8B-B14F-4D97-AF65-F5344CB8AC3E}">
        <p14:creationId xmlns:p14="http://schemas.microsoft.com/office/powerpoint/2010/main" val="24150150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tiff"/><Relationship Id="rId5" Type="http://schemas.openxmlformats.org/officeDocument/2006/relationships/image" Target="../media/image6.svg"/><Relationship Id="rId10" Type="http://schemas.openxmlformats.org/officeDocument/2006/relationships/image" Target="../media/image10.svg"/><Relationship Id="rId4" Type="http://schemas.openxmlformats.org/officeDocument/2006/relationships/image" Target="../media/image5.png"/><Relationship Id="rId9"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1428041" y="-1428041"/>
            <a:ext cx="6880030" cy="9736110"/>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59093" y="0"/>
            <a:ext cx="12073813"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5953544" y="641578"/>
            <a:ext cx="28490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5479363" y="6595121"/>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2959644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5512C713-2193-AA48-B7FF-0FE459B517E4}" type="datetime1">
              <a:rPr lang="en-MY" smtClean="0"/>
              <a:t>02/11/2024</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4323456"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2126331" y="-1062392"/>
            <a:ext cx="240508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602281" y="2616106"/>
            <a:ext cx="7046892" cy="181468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83211" y="3743462"/>
            <a:ext cx="2080701"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830037" y="6046777"/>
            <a:ext cx="419100" cy="790575"/>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12192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12192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5442A8DA-39C7-0149-B74F-0189EE04FB7C}" type="datetime1">
              <a:rPr lang="en-MY" smtClean="0"/>
              <a:t>02/11/2024</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7112000" y="-35081"/>
            <a:ext cx="491744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11268262" y="349094"/>
            <a:ext cx="2010036"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12230100"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2686050" y="-2686050"/>
            <a:ext cx="6858000" cy="12230100"/>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1B650CAF-38DC-EF4C-95E3-620291B12A45}" type="datetime1">
              <a:rPr lang="en-MY" smtClean="0"/>
              <a:t>02/11/2024</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CAB3E7-A192-D902-B47D-B2CC33AF3A1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29" name="Group 28">
            <a:extLst>
              <a:ext uri="{FF2B5EF4-FFF2-40B4-BE49-F238E27FC236}">
                <a16:creationId xmlns:a16="http://schemas.microsoft.com/office/drawing/2014/main" id="{9956ED8E-CF4D-D756-5FA9-5F3263853A9C}"/>
              </a:ext>
            </a:extLst>
          </p:cNvPr>
          <p:cNvGrpSpPr/>
          <p:nvPr userDrawn="1"/>
        </p:nvGrpSpPr>
        <p:grpSpPr>
          <a:xfrm>
            <a:off x="0" y="6438899"/>
            <a:ext cx="4425450" cy="419100"/>
            <a:chOff x="0" y="6438899"/>
            <a:chExt cx="4425450" cy="419100"/>
          </a:xfrm>
        </p:grpSpPr>
        <p:sp>
          <p:nvSpPr>
            <p:cNvPr id="27" name="Rectangle 26">
              <a:extLst>
                <a:ext uri="{FF2B5EF4-FFF2-40B4-BE49-F238E27FC236}">
                  <a16:creationId xmlns:a16="http://schemas.microsoft.com/office/drawing/2014/main" id="{4185CCF7-2507-F40E-2E71-04B5C07C7F09}"/>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Triangle 27">
              <a:extLst>
                <a:ext uri="{FF2B5EF4-FFF2-40B4-BE49-F238E27FC236}">
                  <a16:creationId xmlns:a16="http://schemas.microsoft.com/office/drawing/2014/main" id="{891B4BFE-7090-CB15-ACE2-E76D3D5E6402}"/>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1796ACF-1284-B0D3-20AC-1A411B0BC639}"/>
              </a:ext>
            </a:extLst>
          </p:cNvPr>
          <p:cNvSpPr>
            <a:spLocks noGrp="1"/>
          </p:cNvSpPr>
          <p:nvPr>
            <p:ph type="title"/>
          </p:nvPr>
        </p:nvSpPr>
        <p:spPr>
          <a:xfrm>
            <a:off x="831850" y="1047751"/>
            <a:ext cx="10515600" cy="1500187"/>
          </a:xfrm>
        </p:spPr>
        <p:txBody>
          <a:bodyPr anchor="t">
            <a:normAutofit/>
          </a:bodyPr>
          <a:lstStyle>
            <a:lvl1pPr>
              <a:defRPr sz="4000">
                <a:latin typeface="+mn-lt"/>
              </a:defRPr>
            </a:lvl1pPr>
          </a:lstStyle>
          <a:p>
            <a:r>
              <a:rPr lang="en-US" dirty="0"/>
              <a:t>Click to edit Master title style</a:t>
            </a:r>
          </a:p>
        </p:txBody>
      </p:sp>
      <p:sp>
        <p:nvSpPr>
          <p:cNvPr id="3" name="Text Placeholder 2">
            <a:extLst>
              <a:ext uri="{FF2B5EF4-FFF2-40B4-BE49-F238E27FC236}">
                <a16:creationId xmlns:a16="http://schemas.microsoft.com/office/drawing/2014/main" id="{CAE66E6B-CFF2-F241-A3D1-4FD4DAC4FAC5}"/>
              </a:ext>
            </a:extLst>
          </p:cNvPr>
          <p:cNvSpPr>
            <a:spLocks noGrp="1"/>
          </p:cNvSpPr>
          <p:nvPr>
            <p:ph type="body" idx="1"/>
          </p:nvPr>
        </p:nvSpPr>
        <p:spPr>
          <a:xfrm>
            <a:off x="831850" y="2814638"/>
            <a:ext cx="10515600" cy="335756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916DBAF-8EC8-76B5-BD68-4EE498D12AED}"/>
              </a:ext>
            </a:extLst>
          </p:cNvPr>
          <p:cNvSpPr>
            <a:spLocks noGrp="1"/>
          </p:cNvSpPr>
          <p:nvPr>
            <p:ph type="dt" sz="half" idx="10"/>
          </p:nvPr>
        </p:nvSpPr>
        <p:spPr/>
        <p:txBody>
          <a:bodyPr/>
          <a:lstStyle/>
          <a:p>
            <a:fld id="{A20B8B7C-EFD1-AC47-824C-1B0D2FEA8BB8}" type="datetime1">
              <a:rPr lang="en-MY" smtClean="0"/>
              <a:t>02/11/2024</a:t>
            </a:fld>
            <a:endParaRPr lang="en-US"/>
          </a:p>
        </p:txBody>
      </p:sp>
      <p:sp>
        <p:nvSpPr>
          <p:cNvPr id="5" name="Footer Placeholder 4">
            <a:extLst>
              <a:ext uri="{FF2B5EF4-FFF2-40B4-BE49-F238E27FC236}">
                <a16:creationId xmlns:a16="http://schemas.microsoft.com/office/drawing/2014/main" id="{14FC1A71-0977-DB43-6672-9DD2B43F03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1AA75-9A52-677C-BAAB-361020BE450C}"/>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1" name="Picture 10">
            <a:extLst>
              <a:ext uri="{FF2B5EF4-FFF2-40B4-BE49-F238E27FC236}">
                <a16:creationId xmlns:a16="http://schemas.microsoft.com/office/drawing/2014/main" id="{14CA6469-707B-4B2D-CE38-C2E80563F89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DB94ABDC-D409-D0CF-BFD9-E874B46B7EEF}"/>
              </a:ext>
            </a:extLst>
          </p:cNvPr>
          <p:cNvGrpSpPr/>
          <p:nvPr userDrawn="1"/>
        </p:nvGrpSpPr>
        <p:grpSpPr>
          <a:xfrm>
            <a:off x="0" y="0"/>
            <a:ext cx="2135014" cy="390908"/>
            <a:chOff x="0" y="0"/>
            <a:chExt cx="2135014" cy="390908"/>
          </a:xfrm>
        </p:grpSpPr>
        <p:sp>
          <p:nvSpPr>
            <p:cNvPr id="21" name="Rectangle 20">
              <a:extLst>
                <a:ext uri="{FF2B5EF4-FFF2-40B4-BE49-F238E27FC236}">
                  <a16:creationId xmlns:a16="http://schemas.microsoft.com/office/drawing/2014/main" id="{15CC8F0A-14AF-F65B-6D14-A51CBEFF1729}"/>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7D170A48-ED14-4722-ED48-412F8B7C44AA}"/>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A4B6D801-7EDC-E981-F405-040472A43AB5}"/>
              </a:ext>
            </a:extLst>
          </p:cNvPr>
          <p:cNvGrpSpPr/>
          <p:nvPr userDrawn="1"/>
        </p:nvGrpSpPr>
        <p:grpSpPr>
          <a:xfrm>
            <a:off x="11930388" y="4900065"/>
            <a:ext cx="261612" cy="1456285"/>
            <a:chOff x="-7479" y="4982614"/>
            <a:chExt cx="261612" cy="1456285"/>
          </a:xfrm>
        </p:grpSpPr>
        <p:sp>
          <p:nvSpPr>
            <p:cNvPr id="32" name="Rectangle 31">
              <a:extLst>
                <a:ext uri="{FF2B5EF4-FFF2-40B4-BE49-F238E27FC236}">
                  <a16:creationId xmlns:a16="http://schemas.microsoft.com/office/drawing/2014/main" id="{790F7BDA-9A67-4500-FC96-D0DCA5669FC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E6D3808A-7510-8E14-D035-56A7CA6C58A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84226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45FB79D-2789-2E82-ACD5-FA141CFFB85B}"/>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306C3F4-36B0-1561-8EFF-3B31A7774228}"/>
              </a:ext>
            </a:extLst>
          </p:cNvPr>
          <p:cNvSpPr>
            <a:spLocks noGrp="1"/>
          </p:cNvSpPr>
          <p:nvPr>
            <p:ph type="ctrTitle"/>
          </p:nvPr>
        </p:nvSpPr>
        <p:spPr>
          <a:xfrm>
            <a:off x="1524000" y="1122363"/>
            <a:ext cx="9144000" cy="1381125"/>
          </a:xfrm>
        </p:spPr>
        <p:txBody>
          <a:bodyPr anchor="t">
            <a:normAutofit/>
          </a:bodyPr>
          <a:lstStyle>
            <a:lvl1pPr algn="l">
              <a:defRPr sz="4000">
                <a:latin typeface="+mn-lt"/>
              </a:defRPr>
            </a:lvl1pPr>
          </a:lstStyle>
          <a:p>
            <a:r>
              <a:rPr lang="en-US" dirty="0"/>
              <a:t>Click to edit Master title style</a:t>
            </a:r>
          </a:p>
        </p:txBody>
      </p:sp>
      <p:sp>
        <p:nvSpPr>
          <p:cNvPr id="3" name="Subtitle 2">
            <a:extLst>
              <a:ext uri="{FF2B5EF4-FFF2-40B4-BE49-F238E27FC236}">
                <a16:creationId xmlns:a16="http://schemas.microsoft.com/office/drawing/2014/main" id="{FDC4E23C-BC64-3E31-C7C9-1CCB71C593F3}"/>
              </a:ext>
            </a:extLst>
          </p:cNvPr>
          <p:cNvSpPr>
            <a:spLocks noGrp="1"/>
          </p:cNvSpPr>
          <p:nvPr>
            <p:ph type="subTitle" idx="1"/>
          </p:nvPr>
        </p:nvSpPr>
        <p:spPr>
          <a:xfrm>
            <a:off x="1524000" y="2601118"/>
            <a:ext cx="9144000" cy="3461751"/>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8BAAB4A-F681-D1CE-536F-A8600B878509}"/>
              </a:ext>
            </a:extLst>
          </p:cNvPr>
          <p:cNvSpPr>
            <a:spLocks noGrp="1"/>
          </p:cNvSpPr>
          <p:nvPr>
            <p:ph type="dt" sz="half" idx="10"/>
          </p:nvPr>
        </p:nvSpPr>
        <p:spPr/>
        <p:txBody>
          <a:bodyPr/>
          <a:lstStyle/>
          <a:p>
            <a:fld id="{959C6436-D0A9-9640-8504-808D75559AFF}" type="datetime1">
              <a:rPr lang="en-MY" smtClean="0"/>
              <a:t>02/11/2024</a:t>
            </a:fld>
            <a:endParaRPr lang="en-US"/>
          </a:p>
        </p:txBody>
      </p:sp>
      <p:sp>
        <p:nvSpPr>
          <p:cNvPr id="5" name="Footer Placeholder 4">
            <a:extLst>
              <a:ext uri="{FF2B5EF4-FFF2-40B4-BE49-F238E27FC236}">
                <a16:creationId xmlns:a16="http://schemas.microsoft.com/office/drawing/2014/main" id="{5872C815-2D69-C272-C63C-A195EBFE39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7A072-5E8E-BDBB-35CA-3A355E5D5FFB}"/>
              </a:ext>
            </a:extLst>
          </p:cNvPr>
          <p:cNvSpPr>
            <a:spLocks noGrp="1"/>
          </p:cNvSpPr>
          <p:nvPr>
            <p:ph type="sldNum" sz="quarter" idx="12"/>
          </p:nvPr>
        </p:nvSpPr>
        <p:spPr/>
        <p:txBody>
          <a:bodyPr/>
          <a:lstStyle>
            <a:lvl1pPr>
              <a:defRPr>
                <a:solidFill>
                  <a:srgbClr val="6C1D35"/>
                </a:solidFill>
              </a:defRPr>
            </a:lvl1p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1AFB2FEB-1CDE-753F-3231-2131ED23FF1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24" name="Group 23">
            <a:extLst>
              <a:ext uri="{FF2B5EF4-FFF2-40B4-BE49-F238E27FC236}">
                <a16:creationId xmlns:a16="http://schemas.microsoft.com/office/drawing/2014/main" id="{60EA2A08-0768-E840-71C5-CB5BA198C844}"/>
              </a:ext>
            </a:extLst>
          </p:cNvPr>
          <p:cNvGrpSpPr/>
          <p:nvPr userDrawn="1"/>
        </p:nvGrpSpPr>
        <p:grpSpPr>
          <a:xfrm>
            <a:off x="0" y="336866"/>
            <a:ext cx="838200" cy="390908"/>
            <a:chOff x="0" y="585597"/>
            <a:chExt cx="838200" cy="390908"/>
          </a:xfrm>
        </p:grpSpPr>
        <p:sp>
          <p:nvSpPr>
            <p:cNvPr id="22" name="Rectangle 21">
              <a:extLst>
                <a:ext uri="{FF2B5EF4-FFF2-40B4-BE49-F238E27FC236}">
                  <a16:creationId xmlns:a16="http://schemas.microsoft.com/office/drawing/2014/main" id="{87FE56D3-CDFF-99C8-081E-21872711345C}"/>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ight Triangle 22">
              <a:extLst>
                <a:ext uri="{FF2B5EF4-FFF2-40B4-BE49-F238E27FC236}">
                  <a16:creationId xmlns:a16="http://schemas.microsoft.com/office/drawing/2014/main" id="{55D81439-E4CF-3498-4773-82E6A34DB949}"/>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F56CB3B-27D6-0844-017F-CFA08F52311B}"/>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845E31CA-977D-9659-5E4D-1E4EC75ABA7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B4385F2-2245-0F8C-C446-564E2DE5084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065987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5386308-8E2B-C701-D9C5-CFF5B6D9F8D4}"/>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Title 1">
            <a:extLst>
              <a:ext uri="{FF2B5EF4-FFF2-40B4-BE49-F238E27FC236}">
                <a16:creationId xmlns:a16="http://schemas.microsoft.com/office/drawing/2014/main" id="{048221F6-B30E-6574-4F98-77B2C4903734}"/>
              </a:ext>
            </a:extLst>
          </p:cNvPr>
          <p:cNvSpPr>
            <a:spLocks noGrp="1"/>
          </p:cNvSpPr>
          <p:nvPr>
            <p:ph type="title"/>
          </p:nvPr>
        </p:nvSpPr>
        <p:spPr/>
        <p:txBody>
          <a:bodyPr>
            <a:normAutofit/>
          </a:bodyPr>
          <a:lstStyle>
            <a:lvl1pPr algn="ct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ADB6BEFF-E786-80CC-C462-EC9F1C9C357F}"/>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7B6CF37-673E-EFC4-46AD-C8B8CC64E1D0}"/>
              </a:ext>
            </a:extLst>
          </p:cNvPr>
          <p:cNvSpPr>
            <a:spLocks noGrp="1"/>
          </p:cNvSpPr>
          <p:nvPr>
            <p:ph type="dt" sz="half" idx="10"/>
          </p:nvPr>
        </p:nvSpPr>
        <p:spPr/>
        <p:txBody>
          <a:bodyPr/>
          <a:lstStyle/>
          <a:p>
            <a:fld id="{C9590C45-2254-F24F-B2AC-1C45A3C34D18}" type="datetime1">
              <a:rPr lang="en-MY" smtClean="0"/>
              <a:t>02/11/2024</a:t>
            </a:fld>
            <a:endParaRPr lang="en-US"/>
          </a:p>
        </p:txBody>
      </p:sp>
      <p:sp>
        <p:nvSpPr>
          <p:cNvPr id="5" name="Footer Placeholder 4">
            <a:extLst>
              <a:ext uri="{FF2B5EF4-FFF2-40B4-BE49-F238E27FC236}">
                <a16:creationId xmlns:a16="http://schemas.microsoft.com/office/drawing/2014/main" id="{9C3B8A85-2B88-6B89-6CF8-4D396AB7B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84774E-879A-AA6A-5AEF-0FD775B9793F}"/>
              </a:ext>
            </a:extLst>
          </p:cNvPr>
          <p:cNvSpPr>
            <a:spLocks noGrp="1"/>
          </p:cNvSpPr>
          <p:nvPr>
            <p:ph type="sldNum" sz="quarter" idx="12"/>
          </p:nvPr>
        </p:nvSpPr>
        <p:spPr/>
        <p:txBody>
          <a:bodyPr/>
          <a:lstStyle/>
          <a:p>
            <a:fld id="{B5912E74-8957-4046-8937-1199D0665174}" type="slidenum">
              <a:rPr lang="en-US" smtClean="0"/>
              <a:t>‹#›</a:t>
            </a:fld>
            <a:endParaRPr lang="en-US"/>
          </a:p>
        </p:txBody>
      </p:sp>
      <p:sp>
        <p:nvSpPr>
          <p:cNvPr id="8" name="Rectangle 7">
            <a:extLst>
              <a:ext uri="{FF2B5EF4-FFF2-40B4-BE49-F238E27FC236}">
                <a16:creationId xmlns:a16="http://schemas.microsoft.com/office/drawing/2014/main" id="{68F9B18A-4C13-213C-5ECD-7D00902A82F8}"/>
              </a:ext>
            </a:extLst>
          </p:cNvPr>
          <p:cNvSpPr/>
          <p:nvPr userDrawn="1"/>
        </p:nvSpPr>
        <p:spPr>
          <a:xfrm>
            <a:off x="3894421" y="21431"/>
            <a:ext cx="4460168"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B8A0DAC0-1D7C-425C-A3EA-189775AB007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3A6FB34-FC21-998E-F2ED-B41CC15A4311}"/>
              </a:ext>
            </a:extLst>
          </p:cNvPr>
          <p:cNvSpPr/>
          <p:nvPr userDrawn="1"/>
        </p:nvSpPr>
        <p:spPr>
          <a:xfrm>
            <a:off x="-1" y="6808662"/>
            <a:ext cx="12249013"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191E5DFC-83E6-86F2-21A3-C9353A831D94}"/>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00E6CDA0-D409-8B80-7C3D-EE78328F12C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1DCC3F2-36B2-C662-DECB-01503AFCAA9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066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660D2230-4C54-C188-62C4-95CC76262BA7}"/>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11" name="Rectangle 10">
            <a:extLst>
              <a:ext uri="{FF2B5EF4-FFF2-40B4-BE49-F238E27FC236}">
                <a16:creationId xmlns:a16="http://schemas.microsoft.com/office/drawing/2014/main" id="{1466CAA0-852B-2260-4E79-4DCDC5D3C474}"/>
              </a:ext>
            </a:extLst>
          </p:cNvPr>
          <p:cNvSpPr/>
          <p:nvPr userDrawn="1"/>
        </p:nvSpPr>
        <p:spPr>
          <a:xfrm>
            <a:off x="-38100" y="1690688"/>
            <a:ext cx="12230100"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D09984-B07C-717A-A1FC-A0212B127BE0}"/>
              </a:ext>
            </a:extLst>
          </p:cNvPr>
          <p:cNvSpPr>
            <a:spLocks noGrp="1"/>
          </p:cNvSpPr>
          <p:nvPr>
            <p:ph type="title"/>
          </p:nvPr>
        </p:nvSpPr>
        <p:spPr/>
        <p:txBody>
          <a:bodyPr>
            <a:normAutofit/>
          </a:bodyPr>
          <a:lstStyle>
            <a:lvl1pPr>
              <a:defRPr sz="40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D7D56CC2-F4AE-C871-25CA-0693B8E51D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04C4D5-028B-CF4F-DB83-2E7DAE1451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84ECB3-6230-1C4A-4271-8B1B329A9B88}"/>
              </a:ext>
            </a:extLst>
          </p:cNvPr>
          <p:cNvSpPr>
            <a:spLocks noGrp="1"/>
          </p:cNvSpPr>
          <p:nvPr>
            <p:ph type="dt" sz="half" idx="10"/>
          </p:nvPr>
        </p:nvSpPr>
        <p:spPr/>
        <p:txBody>
          <a:bodyPr/>
          <a:lstStyle/>
          <a:p>
            <a:fld id="{F80D683D-7CDC-814F-A26A-49E204272DF8}" type="datetime1">
              <a:rPr lang="en-MY" smtClean="0"/>
              <a:t>02/11/2024</a:t>
            </a:fld>
            <a:endParaRPr lang="en-US"/>
          </a:p>
        </p:txBody>
      </p:sp>
      <p:sp>
        <p:nvSpPr>
          <p:cNvPr id="6" name="Footer Placeholder 5">
            <a:extLst>
              <a:ext uri="{FF2B5EF4-FFF2-40B4-BE49-F238E27FC236}">
                <a16:creationId xmlns:a16="http://schemas.microsoft.com/office/drawing/2014/main" id="{A9D0EBE9-6EE3-30E5-37E9-966CEBBA44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D42C9F-71DE-08A3-B2D8-60F040A88956}"/>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431BACEB-C3CA-5C73-C1CD-7E28828923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8" name="Group 7">
            <a:extLst>
              <a:ext uri="{FF2B5EF4-FFF2-40B4-BE49-F238E27FC236}">
                <a16:creationId xmlns:a16="http://schemas.microsoft.com/office/drawing/2014/main" id="{F32450C2-7E85-EAB2-8C8F-8B13B9657507}"/>
              </a:ext>
            </a:extLst>
          </p:cNvPr>
          <p:cNvGrpSpPr/>
          <p:nvPr userDrawn="1"/>
        </p:nvGrpSpPr>
        <p:grpSpPr>
          <a:xfrm>
            <a:off x="11930388" y="4900065"/>
            <a:ext cx="261612" cy="1456285"/>
            <a:chOff x="-7479" y="4982614"/>
            <a:chExt cx="261612" cy="1456285"/>
          </a:xfrm>
        </p:grpSpPr>
        <p:sp>
          <p:nvSpPr>
            <p:cNvPr id="9" name="Rectangle 8">
              <a:extLst>
                <a:ext uri="{FF2B5EF4-FFF2-40B4-BE49-F238E27FC236}">
                  <a16:creationId xmlns:a16="http://schemas.microsoft.com/office/drawing/2014/main" id="{E593644A-0A35-6B8C-F216-AC1945DFC79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A806244-EF9A-642C-8573-A2BFA17DB33E}"/>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6536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F169F28-4F60-04EA-2355-80F723258DB7}"/>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sp>
        <p:nvSpPr>
          <p:cNvPr id="2" name="Title 1">
            <a:extLst>
              <a:ext uri="{FF2B5EF4-FFF2-40B4-BE49-F238E27FC236}">
                <a16:creationId xmlns:a16="http://schemas.microsoft.com/office/drawing/2014/main" id="{D7D3BD4A-F379-8CFF-EBD6-707DD0E70908}"/>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FD159623-7488-E134-22F1-5329048ED4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99D7D39-C4CD-9439-3408-FF0BFA1B1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3750B8F-83C3-D985-5919-F1A3FDF4D0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CCF953-DD56-9B85-AB4B-B9C9F0FF06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BD25C81-2863-04F8-8182-D218BA273C24}"/>
              </a:ext>
            </a:extLst>
          </p:cNvPr>
          <p:cNvSpPr>
            <a:spLocks noGrp="1"/>
          </p:cNvSpPr>
          <p:nvPr>
            <p:ph type="dt" sz="half" idx="10"/>
          </p:nvPr>
        </p:nvSpPr>
        <p:spPr/>
        <p:txBody>
          <a:bodyPr/>
          <a:lstStyle/>
          <a:p>
            <a:fld id="{135C34FA-0E7B-B443-8D3D-5D152743EC5B}" type="datetime1">
              <a:rPr lang="en-MY" smtClean="0"/>
              <a:t>02/11/2024</a:t>
            </a:fld>
            <a:endParaRPr lang="en-US"/>
          </a:p>
        </p:txBody>
      </p:sp>
      <p:sp>
        <p:nvSpPr>
          <p:cNvPr id="8" name="Footer Placeholder 7">
            <a:extLst>
              <a:ext uri="{FF2B5EF4-FFF2-40B4-BE49-F238E27FC236}">
                <a16:creationId xmlns:a16="http://schemas.microsoft.com/office/drawing/2014/main" id="{A3A521E1-8180-A360-8696-A84620A87D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3D6C59-8054-7190-9FD8-FAA596348D42}"/>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2" name="Picture 11">
            <a:extLst>
              <a:ext uri="{FF2B5EF4-FFF2-40B4-BE49-F238E27FC236}">
                <a16:creationId xmlns:a16="http://schemas.microsoft.com/office/drawing/2014/main" id="{C023B567-24C2-C088-6F75-913992BE2D8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5" name="Rectangle 14">
            <a:extLst>
              <a:ext uri="{FF2B5EF4-FFF2-40B4-BE49-F238E27FC236}">
                <a16:creationId xmlns:a16="http://schemas.microsoft.com/office/drawing/2014/main" id="{A32B20C0-22D4-422D-2940-7F540F191BF7}"/>
              </a:ext>
            </a:extLst>
          </p:cNvPr>
          <p:cNvSpPr/>
          <p:nvPr userDrawn="1"/>
        </p:nvSpPr>
        <p:spPr>
          <a:xfrm>
            <a:off x="6764" y="342265"/>
            <a:ext cx="1026963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870257A-EF80-EF1A-EE95-68EB9FBC2F71}"/>
              </a:ext>
            </a:extLst>
          </p:cNvPr>
          <p:cNvGrpSpPr/>
          <p:nvPr userDrawn="1"/>
        </p:nvGrpSpPr>
        <p:grpSpPr>
          <a:xfrm>
            <a:off x="11930388" y="4900065"/>
            <a:ext cx="261612" cy="1456285"/>
            <a:chOff x="-7479" y="4982614"/>
            <a:chExt cx="261612" cy="1456285"/>
          </a:xfrm>
        </p:grpSpPr>
        <p:sp>
          <p:nvSpPr>
            <p:cNvPr id="13" name="Rectangle 12">
              <a:extLst>
                <a:ext uri="{FF2B5EF4-FFF2-40B4-BE49-F238E27FC236}">
                  <a16:creationId xmlns:a16="http://schemas.microsoft.com/office/drawing/2014/main" id="{BAEA7E83-8757-44B8-B8ED-EFD855548FA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603E4A3-2F29-E99E-59AA-19FD2D71718A}"/>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140199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C5A05E41-FECA-555C-4DA5-FBDABE88EAD3}"/>
              </a:ext>
            </a:extLst>
          </p:cNvPr>
          <p:cNvPicPr>
            <a:picLocks noChangeAspect="1"/>
          </p:cNvPicPr>
          <p:nvPr userDrawn="1"/>
        </p:nvPicPr>
        <p:blipFill>
          <a:blip r:embed="rId2">
            <a:alphaModFix amt="99000"/>
          </a:blip>
          <a:stretch>
            <a:fillRect/>
          </a:stretch>
        </p:blipFill>
        <p:spPr>
          <a:xfrm rot="10800000" flipV="1">
            <a:off x="6764" y="1270"/>
            <a:ext cx="12073813" cy="3109189"/>
          </a:xfrm>
          <a:prstGeom prst="rect">
            <a:avLst/>
          </a:prstGeom>
        </p:spPr>
      </p:pic>
      <p:grpSp>
        <p:nvGrpSpPr>
          <p:cNvPr id="13" name="Group 12">
            <a:extLst>
              <a:ext uri="{FF2B5EF4-FFF2-40B4-BE49-F238E27FC236}">
                <a16:creationId xmlns:a16="http://schemas.microsoft.com/office/drawing/2014/main" id="{6EFDB3D2-BABB-4614-ACBD-74206D54EFA7}"/>
              </a:ext>
            </a:extLst>
          </p:cNvPr>
          <p:cNvGrpSpPr/>
          <p:nvPr userDrawn="1"/>
        </p:nvGrpSpPr>
        <p:grpSpPr>
          <a:xfrm flipH="1">
            <a:off x="8896479" y="6438899"/>
            <a:ext cx="3295521" cy="419101"/>
            <a:chOff x="0" y="6438899"/>
            <a:chExt cx="4425450" cy="419100"/>
          </a:xfrm>
        </p:grpSpPr>
        <p:sp>
          <p:nvSpPr>
            <p:cNvPr id="14" name="Rectangle 13">
              <a:extLst>
                <a:ext uri="{FF2B5EF4-FFF2-40B4-BE49-F238E27FC236}">
                  <a16:creationId xmlns:a16="http://schemas.microsoft.com/office/drawing/2014/main" id="{B3C9DBE5-42FF-593C-82CE-C4B2774E3AD0}"/>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ight Triangle 14">
              <a:extLst>
                <a:ext uri="{FF2B5EF4-FFF2-40B4-BE49-F238E27FC236}">
                  <a16:creationId xmlns:a16="http://schemas.microsoft.com/office/drawing/2014/main" id="{D8516993-C2D5-28D4-6E6E-D3A5B19FD20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6EB218D0-0E4A-6601-1430-D75D1D89819B}"/>
              </a:ext>
            </a:extLst>
          </p:cNvPr>
          <p:cNvSpPr>
            <a:spLocks noGrp="1"/>
          </p:cNvSpPr>
          <p:nvPr>
            <p:ph type="title"/>
          </p:nvPr>
        </p:nvSpPr>
        <p:spPr>
          <a:xfrm>
            <a:off x="1364974" y="2766218"/>
            <a:ext cx="10515600" cy="1325563"/>
          </a:xfrm>
        </p:spPr>
        <p:txBody>
          <a:bodyPr/>
          <a:lstStyle>
            <a:lvl1pPr>
              <a:defRPr>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65407DD1-72E8-53B4-A8B5-16105BC66947}"/>
              </a:ext>
            </a:extLst>
          </p:cNvPr>
          <p:cNvSpPr>
            <a:spLocks noGrp="1"/>
          </p:cNvSpPr>
          <p:nvPr>
            <p:ph type="dt" sz="half" idx="10"/>
          </p:nvPr>
        </p:nvSpPr>
        <p:spPr/>
        <p:txBody>
          <a:bodyPr/>
          <a:lstStyle/>
          <a:p>
            <a:fld id="{501C67A2-6C87-E646-83DB-9DCC703F97CD}" type="datetime1">
              <a:rPr lang="en-MY" smtClean="0"/>
              <a:t>02/11/2024</a:t>
            </a:fld>
            <a:endParaRPr lang="en-US"/>
          </a:p>
        </p:txBody>
      </p:sp>
      <p:sp>
        <p:nvSpPr>
          <p:cNvPr id="4" name="Footer Placeholder 3">
            <a:extLst>
              <a:ext uri="{FF2B5EF4-FFF2-40B4-BE49-F238E27FC236}">
                <a16:creationId xmlns:a16="http://schemas.microsoft.com/office/drawing/2014/main" id="{F3621DE3-618B-CDA6-C30A-1DB7F4E9C6D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568125-E5E8-EEE2-D064-3848DBBA63B9}"/>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19F13517-FB38-BE9B-5A77-235BBF8CE80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6" name="Group 5">
            <a:extLst>
              <a:ext uri="{FF2B5EF4-FFF2-40B4-BE49-F238E27FC236}">
                <a16:creationId xmlns:a16="http://schemas.microsoft.com/office/drawing/2014/main" id="{715FA5D2-1257-770C-1E2F-2CCA5238FD2A}"/>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F29FA834-B150-3245-D347-588904243A5E}"/>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8EF11FA-4280-83FF-5E5F-70581310F2C4}"/>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611669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80EC996-29B5-35CD-CAA8-09FAAB535A3F}"/>
              </a:ext>
            </a:extLst>
          </p:cNvPr>
          <p:cNvPicPr>
            <a:picLocks noChangeAspect="1"/>
          </p:cNvPicPr>
          <p:nvPr userDrawn="1"/>
        </p:nvPicPr>
        <p:blipFill>
          <a:blip r:embed="rId2"/>
          <a:stretch>
            <a:fillRect/>
          </a:stretch>
        </p:blipFill>
        <p:spPr>
          <a:xfrm rot="10800000" flipV="1">
            <a:off x="4713261" y="1270"/>
            <a:ext cx="7112053" cy="1831461"/>
          </a:xfrm>
          <a:prstGeom prst="rect">
            <a:avLst/>
          </a:prstGeom>
        </p:spPr>
      </p:pic>
      <p:sp>
        <p:nvSpPr>
          <p:cNvPr id="10" name="Rectangle 9">
            <a:extLst>
              <a:ext uri="{FF2B5EF4-FFF2-40B4-BE49-F238E27FC236}">
                <a16:creationId xmlns:a16="http://schemas.microsoft.com/office/drawing/2014/main" id="{C4E085B5-6456-E991-6904-BB25D1005185}"/>
              </a:ext>
            </a:extLst>
          </p:cNvPr>
          <p:cNvSpPr/>
          <p:nvPr userDrawn="1"/>
        </p:nvSpPr>
        <p:spPr>
          <a:xfrm>
            <a:off x="-38099" y="0"/>
            <a:ext cx="4764088"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B5AF6C-3A58-DD89-B778-7C9B4E4937D6}"/>
              </a:ext>
            </a:extLst>
          </p:cNvPr>
          <p:cNvSpPr>
            <a:spLocks noGrp="1"/>
          </p:cNvSpPr>
          <p:nvPr>
            <p:ph type="title"/>
          </p:nvPr>
        </p:nvSpPr>
        <p:spPr>
          <a:xfrm>
            <a:off x="839788" y="457200"/>
            <a:ext cx="3771969" cy="1600200"/>
          </a:xfrm>
        </p:spPr>
        <p:txBody>
          <a:bodyPr anchor="b">
            <a:normAutofit/>
          </a:bodyPr>
          <a:lstStyle>
            <a:lvl1pPr>
              <a:defRPr sz="28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4C730643-5DEF-0301-05FB-43BFE78104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CC84E7D-D23B-8AA6-561F-6482F0A1224C}"/>
              </a:ext>
            </a:extLst>
          </p:cNvPr>
          <p:cNvSpPr>
            <a:spLocks noGrp="1"/>
          </p:cNvSpPr>
          <p:nvPr>
            <p:ph type="body" sz="half" idx="2"/>
          </p:nvPr>
        </p:nvSpPr>
        <p:spPr>
          <a:xfrm>
            <a:off x="839788" y="2057400"/>
            <a:ext cx="37719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9060D1C3-135E-09A0-2E54-EFBC9A5D9940}"/>
              </a:ext>
            </a:extLst>
          </p:cNvPr>
          <p:cNvSpPr>
            <a:spLocks noGrp="1"/>
          </p:cNvSpPr>
          <p:nvPr>
            <p:ph type="dt" sz="half" idx="10"/>
          </p:nvPr>
        </p:nvSpPr>
        <p:spPr/>
        <p:txBody>
          <a:bodyPr/>
          <a:lstStyle/>
          <a:p>
            <a:fld id="{25B7FC87-4F97-3748-BDF1-1DD242F7892E}" type="datetime1">
              <a:rPr lang="en-MY" smtClean="0"/>
              <a:t>02/11/2024</a:t>
            </a:fld>
            <a:endParaRPr lang="en-US"/>
          </a:p>
        </p:txBody>
      </p:sp>
      <p:sp>
        <p:nvSpPr>
          <p:cNvPr id="6" name="Footer Placeholder 5">
            <a:extLst>
              <a:ext uri="{FF2B5EF4-FFF2-40B4-BE49-F238E27FC236}">
                <a16:creationId xmlns:a16="http://schemas.microsoft.com/office/drawing/2014/main" id="{B1E11F67-329D-954C-CD5C-1AA093EC26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5EB87E-06D7-61E3-D9E0-49BF14B3E008}"/>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9" name="Picture 8">
            <a:extLst>
              <a:ext uri="{FF2B5EF4-FFF2-40B4-BE49-F238E27FC236}">
                <a16:creationId xmlns:a16="http://schemas.microsoft.com/office/drawing/2014/main" id="{0C8EA7C3-CAA4-9F46-F633-CAA69D61B61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sp>
        <p:nvSpPr>
          <p:cNvPr id="11" name="Rectangle 10">
            <a:extLst>
              <a:ext uri="{FF2B5EF4-FFF2-40B4-BE49-F238E27FC236}">
                <a16:creationId xmlns:a16="http://schemas.microsoft.com/office/drawing/2014/main" id="{7DD1F696-3383-CCD0-5F6F-4B9E89375262}"/>
              </a:ext>
            </a:extLst>
          </p:cNvPr>
          <p:cNvSpPr/>
          <p:nvPr userDrawn="1"/>
        </p:nvSpPr>
        <p:spPr>
          <a:xfrm rot="5400000">
            <a:off x="1324286" y="3399184"/>
            <a:ext cx="6858000" cy="5963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7DF8517-697A-D659-D645-CCC025297F18}"/>
              </a:ext>
            </a:extLst>
          </p:cNvPr>
          <p:cNvGrpSpPr/>
          <p:nvPr userDrawn="1"/>
        </p:nvGrpSpPr>
        <p:grpSpPr>
          <a:xfrm>
            <a:off x="11930388" y="4900065"/>
            <a:ext cx="261612" cy="1456285"/>
            <a:chOff x="-7479" y="4982614"/>
            <a:chExt cx="261612" cy="1456285"/>
          </a:xfrm>
        </p:grpSpPr>
        <p:sp>
          <p:nvSpPr>
            <p:cNvPr id="12" name="Rectangle 11">
              <a:extLst>
                <a:ext uri="{FF2B5EF4-FFF2-40B4-BE49-F238E27FC236}">
                  <a16:creationId xmlns:a16="http://schemas.microsoft.com/office/drawing/2014/main" id="{028F6DD2-968A-9801-9B22-22DBD1C894E0}"/>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F835E16-0810-A050-7387-E04FC0CFD8C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1201097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BDE0F43-CB86-1C9B-53B1-54930B9BBDB8}"/>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D4D683B8-65F3-1642-B38E-B3C40EDCDCF1}" type="datetime1">
              <a:rPr lang="en-MY" smtClean="0"/>
              <a:t>02/11/2024</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ABA7D5CF-8052-62A2-8652-9E5660A058F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5" name="Group 4">
            <a:extLst>
              <a:ext uri="{FF2B5EF4-FFF2-40B4-BE49-F238E27FC236}">
                <a16:creationId xmlns:a16="http://schemas.microsoft.com/office/drawing/2014/main" id="{7CEA865B-9359-931D-9136-36413785F784}"/>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990C6828-16EB-91B9-7078-52ADFDC0F2F1}"/>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BEA9D62-1A2E-5482-2A68-9FCEFEB913F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9613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colo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86208AF-0FB5-0709-9E4A-86BB9C81B267}"/>
              </a:ext>
            </a:extLst>
          </p:cNvPr>
          <p:cNvSpPr/>
          <p:nvPr userDrawn="1"/>
        </p:nvSpPr>
        <p:spPr>
          <a:xfrm>
            <a:off x="-38100" y="0"/>
            <a:ext cx="12230100"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57D46B25-0C92-A630-DD9E-0DC228627926}"/>
              </a:ext>
            </a:extLst>
          </p:cNvPr>
          <p:cNvGrpSpPr/>
          <p:nvPr userDrawn="1"/>
        </p:nvGrpSpPr>
        <p:grpSpPr>
          <a:xfrm>
            <a:off x="7180119" y="6473574"/>
            <a:ext cx="5011881" cy="390911"/>
            <a:chOff x="7180118" y="6489891"/>
            <a:chExt cx="5011881" cy="390911"/>
          </a:xfrm>
        </p:grpSpPr>
        <p:sp>
          <p:nvSpPr>
            <p:cNvPr id="16" name="Rectangle 15">
              <a:extLst>
                <a:ext uri="{FF2B5EF4-FFF2-40B4-BE49-F238E27FC236}">
                  <a16:creationId xmlns:a16="http://schemas.microsoft.com/office/drawing/2014/main" id="{BA51D9DD-D54B-BD6E-1FC0-1E96064A7DD4}"/>
                </a:ext>
              </a:extLst>
            </p:cNvPr>
            <p:cNvSpPr/>
            <p:nvPr userDrawn="1"/>
          </p:nvSpPr>
          <p:spPr>
            <a:xfrm rot="10800000">
              <a:off x="7393415" y="6489891"/>
              <a:ext cx="4798584"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ight Triangle 16">
              <a:extLst>
                <a:ext uri="{FF2B5EF4-FFF2-40B4-BE49-F238E27FC236}">
                  <a16:creationId xmlns:a16="http://schemas.microsoft.com/office/drawing/2014/main" id="{B12D63A4-B45F-D7EE-07AE-ED4F2AA9FBF6}"/>
                </a:ext>
              </a:extLst>
            </p:cNvPr>
            <p:cNvSpPr/>
            <p:nvPr userDrawn="1"/>
          </p:nvSpPr>
          <p:spPr>
            <a:xfrm rot="10800000" flipV="1">
              <a:off x="7180118" y="6489895"/>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Picture 7">
            <a:extLst>
              <a:ext uri="{FF2B5EF4-FFF2-40B4-BE49-F238E27FC236}">
                <a16:creationId xmlns:a16="http://schemas.microsoft.com/office/drawing/2014/main" id="{CE4DBBFF-D866-CE38-8CC8-48E42BA7EFB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76220" y="283589"/>
            <a:ext cx="1470825" cy="497461"/>
          </a:xfrm>
          <a:prstGeom prst="rect">
            <a:avLst/>
          </a:prstGeom>
        </p:spPr>
      </p:pic>
      <p:sp>
        <p:nvSpPr>
          <p:cNvPr id="2" name="Date Placeholder 1">
            <a:extLst>
              <a:ext uri="{FF2B5EF4-FFF2-40B4-BE49-F238E27FC236}">
                <a16:creationId xmlns:a16="http://schemas.microsoft.com/office/drawing/2014/main" id="{C938C0B1-8B0B-33DB-42B1-6BBD5950DE08}"/>
              </a:ext>
            </a:extLst>
          </p:cNvPr>
          <p:cNvSpPr>
            <a:spLocks noGrp="1"/>
          </p:cNvSpPr>
          <p:nvPr>
            <p:ph type="dt" sz="half" idx="10"/>
          </p:nvPr>
        </p:nvSpPr>
        <p:spPr/>
        <p:txBody>
          <a:bodyPr/>
          <a:lstStyle/>
          <a:p>
            <a:fld id="{8A9EA44E-2DED-C64C-82EB-EC981FAFBB57}" type="datetime1">
              <a:rPr lang="en-MY" smtClean="0"/>
              <a:t>02/11/2024</a:t>
            </a:fld>
            <a:endParaRPr lang="en-US"/>
          </a:p>
        </p:txBody>
      </p:sp>
      <p:sp>
        <p:nvSpPr>
          <p:cNvPr id="3" name="Footer Placeholder 2">
            <a:extLst>
              <a:ext uri="{FF2B5EF4-FFF2-40B4-BE49-F238E27FC236}">
                <a16:creationId xmlns:a16="http://schemas.microsoft.com/office/drawing/2014/main" id="{E07F86FD-0946-30C8-BC74-577779A4D6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2CEAC2-352E-92E4-C579-C2A59B6940E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DEECA337-96B6-AF15-88CE-5A1B9B8EBDB6}"/>
              </a:ext>
            </a:extLst>
          </p:cNvPr>
          <p:cNvGrpSpPr/>
          <p:nvPr userDrawn="1"/>
        </p:nvGrpSpPr>
        <p:grpSpPr>
          <a:xfrm>
            <a:off x="-58882" y="0"/>
            <a:ext cx="2130820" cy="390908"/>
            <a:chOff x="-58882" y="0"/>
            <a:chExt cx="2130820" cy="390908"/>
          </a:xfrm>
        </p:grpSpPr>
        <p:sp>
          <p:nvSpPr>
            <p:cNvPr id="13" name="Rectangle 12">
              <a:extLst>
                <a:ext uri="{FF2B5EF4-FFF2-40B4-BE49-F238E27FC236}">
                  <a16:creationId xmlns:a16="http://schemas.microsoft.com/office/drawing/2014/main" id="{755327DB-3941-6535-2638-26DDF5148B23}"/>
                </a:ext>
              </a:extLst>
            </p:cNvPr>
            <p:cNvSpPr/>
            <p:nvPr userDrawn="1"/>
          </p:nvSpPr>
          <p:spPr>
            <a:xfrm>
              <a:off x="-58882" y="1"/>
              <a:ext cx="1921715" cy="3909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ight Triangle 13">
              <a:extLst>
                <a:ext uri="{FF2B5EF4-FFF2-40B4-BE49-F238E27FC236}">
                  <a16:creationId xmlns:a16="http://schemas.microsoft.com/office/drawing/2014/main" id="{751988F2-DBDB-53FA-2E8B-DE674D6D2B6A}"/>
                </a:ext>
              </a:extLst>
            </p:cNvPr>
            <p:cNvSpPr/>
            <p:nvPr userDrawn="1"/>
          </p:nvSpPr>
          <p:spPr>
            <a:xfrm flipV="1">
              <a:off x="1858639" y="0"/>
              <a:ext cx="213299" cy="390907"/>
            </a:xfrm>
            <a:prstGeom prst="r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6" name="Group 5">
            <a:extLst>
              <a:ext uri="{FF2B5EF4-FFF2-40B4-BE49-F238E27FC236}">
                <a16:creationId xmlns:a16="http://schemas.microsoft.com/office/drawing/2014/main" id="{A5B451E3-7C30-F7E8-27F1-20A1711850CE}"/>
              </a:ext>
            </a:extLst>
          </p:cNvPr>
          <p:cNvGrpSpPr/>
          <p:nvPr userDrawn="1"/>
        </p:nvGrpSpPr>
        <p:grpSpPr>
          <a:xfrm>
            <a:off x="11930388" y="4900065"/>
            <a:ext cx="261612" cy="1456285"/>
            <a:chOff x="-7479" y="4982614"/>
            <a:chExt cx="261612" cy="1456285"/>
          </a:xfrm>
        </p:grpSpPr>
        <p:sp>
          <p:nvSpPr>
            <p:cNvPr id="7" name="Rectangle 6">
              <a:extLst>
                <a:ext uri="{FF2B5EF4-FFF2-40B4-BE49-F238E27FC236}">
                  <a16:creationId xmlns:a16="http://schemas.microsoft.com/office/drawing/2014/main" id="{2AF9E3A6-8792-EBEF-E21F-6506CA347F72}"/>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2D7814D-56F3-7C85-157F-E73DAB5F0429}"/>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3928284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5891203F-5C42-C84F-A57C-6AFDEED1986F}" type="datetime1">
              <a:rPr lang="en-MY" smtClean="0"/>
              <a:t>02/11/2024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6073139" y="761174"/>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6765" y="1270"/>
            <a:ext cx="7112053"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00E52F85-5AE0-A645-8089-1367CDDB80FB}" type="datetime1">
              <a:rPr lang="en-MY" smtClean="0"/>
              <a:t>02/11/2024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8878" y="283590"/>
            <a:ext cx="1468167"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11930388" y="4900065"/>
            <a:ext cx="261612" cy="1456285"/>
            <a:chOff x="-7479" y="4982614"/>
            <a:chExt cx="261612"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3" y="5578170"/>
              <a:ext cx="1377301" cy="261610"/>
            </a:xfrm>
            <a:prstGeom prst="rect">
              <a:avLst/>
            </a:prstGeom>
            <a:noFill/>
          </p:spPr>
          <p:txBody>
            <a:bodyPr wrap="square" rtlCol="0">
              <a:spAutoFit/>
            </a:bodyPr>
            <a:lstStyle/>
            <a:p>
              <a:pPr algn="ctr"/>
              <a:r>
                <a:rPr lang="en-US" sz="1100" b="1" i="0" dirty="0">
                  <a:solidFill>
                    <a:schemeClr val="bg1">
                      <a:lumMod val="95000"/>
                    </a:schemeClr>
                  </a:solidFill>
                  <a:ea typeface="Montserrat Semi" charset="0"/>
                  <a:cs typeface="Montserrat Semi" charset="0"/>
                </a:rPr>
                <a:t>www.utm.my</a:t>
              </a:r>
              <a:endParaRPr lang="en-US" sz="1100"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6079906" y="-6086095"/>
            <a:ext cx="45719" cy="12192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838198" y="781051"/>
            <a:ext cx="105156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ayout20">
    <p:bg>
      <p:bgPr>
        <a:solidFill>
          <a:srgbClr val="4B47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A9A-AEC4-6046-A3F2-5369021A386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EC475A35-BAA4-3243-952D-99C48B8346A8}"/>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cxnSp>
        <p:nvCxnSpPr>
          <p:cNvPr id="8" name="Straight Connector 7">
            <a:extLst>
              <a:ext uri="{FF2B5EF4-FFF2-40B4-BE49-F238E27FC236}">
                <a16:creationId xmlns:a16="http://schemas.microsoft.com/office/drawing/2014/main" id="{74C836B4-5E2D-D94D-B92C-56626921C682}"/>
              </a:ext>
            </a:extLst>
          </p:cNvPr>
          <p:cNvCxnSpPr/>
          <p:nvPr userDrawn="1"/>
        </p:nvCxnSpPr>
        <p:spPr>
          <a:xfrm>
            <a:off x="-12700" y="101600"/>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0462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19975F-708A-F234-4722-AEB2343426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B87F26E-314A-B65E-03F9-0EADD49DAA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FC2CC6-2915-3AF9-A194-7961055772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CA5C56-6E8F-7748-88A9-8D6E9966700D}" type="datetime1">
              <a:rPr lang="en-MY" smtClean="0"/>
              <a:t>02/11/2024</a:t>
            </a:fld>
            <a:endParaRPr lang="en-US"/>
          </a:p>
        </p:txBody>
      </p:sp>
      <p:sp>
        <p:nvSpPr>
          <p:cNvPr id="5" name="Footer Placeholder 4">
            <a:extLst>
              <a:ext uri="{FF2B5EF4-FFF2-40B4-BE49-F238E27FC236}">
                <a16:creationId xmlns:a16="http://schemas.microsoft.com/office/drawing/2014/main" id="{4994C745-1356-0A9F-002D-66D467AF4D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DC9A2B0-BC9C-678A-D6F9-6A0D62CAA9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1015553595"/>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6" r:id="rId3"/>
    <p:sldLayoutId id="2147483662" r:id="rId4"/>
    <p:sldLayoutId id="2147483651" r:id="rId5"/>
    <p:sldLayoutId id="2147483649" r:id="rId6"/>
    <p:sldLayoutId id="2147483650" r:id="rId7"/>
    <p:sldLayoutId id="2147483652" r:id="rId8"/>
    <p:sldLayoutId id="2147483653" r:id="rId9"/>
    <p:sldLayoutId id="2147483654" r:id="rId10"/>
    <p:sldLayoutId id="2147483656" r:id="rId11"/>
    <p:sldLayoutId id="2147483655" r:id="rId12"/>
    <p:sldLayoutId id="2147483660" r:id="rId13"/>
    <p:sldLayoutId id="2147483657" r:id="rId14"/>
    <p:sldLayoutId id="2147483663" r:id="rId15"/>
    <p:sldLayoutId id="2147483668" r:id="rId16"/>
  </p:sldLayoutIdLst>
  <p:hf hdr="0" ftr="0" dt="0"/>
  <p:txStyles>
    <p:titleStyle>
      <a:lvl1pPr algn="l" defTabSz="914400" rtl="0" eaLnBrk="1" latinLnBrk="0" hangingPunct="1">
        <a:lnSpc>
          <a:spcPct val="90000"/>
        </a:lnSpc>
        <a:spcBef>
          <a:spcPct val="0"/>
        </a:spcBef>
        <a:buNone/>
        <a:defRPr sz="4000"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6.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1727700" y="3145893"/>
            <a:ext cx="9179786" cy="1077218"/>
          </a:xfrm>
          <a:prstGeom prst="rect">
            <a:avLst/>
          </a:prstGeom>
          <a:noFill/>
        </p:spPr>
        <p:txBody>
          <a:bodyPr wrap="square" rtlCol="0">
            <a:spAutoFit/>
          </a:bodyPr>
          <a:lstStyle/>
          <a:p>
            <a:r>
              <a:rPr lang="en-MY" sz="3200" spc="300" dirty="0">
                <a:solidFill>
                  <a:schemeClr val="tx1">
                    <a:lumMod val="75000"/>
                    <a:lumOff val="25000"/>
                  </a:schemeClr>
                </a:solidFill>
              </a:rPr>
              <a:t>Structured Query Language (SQL) 1| </a:t>
            </a:r>
          </a:p>
          <a:p>
            <a:r>
              <a:rPr lang="en-MY" sz="3200" spc="300" dirty="0">
                <a:solidFill>
                  <a:schemeClr val="tx1">
                    <a:lumMod val="75000"/>
                    <a:lumOff val="25000"/>
                  </a:schemeClr>
                </a:solidFill>
              </a:rPr>
              <a:t>Data Definition Language (DDL)</a:t>
            </a:r>
          </a:p>
        </p:txBody>
      </p:sp>
      <p:sp>
        <p:nvSpPr>
          <p:cNvPr id="6" name="TextBox 5">
            <a:extLst>
              <a:ext uri="{FF2B5EF4-FFF2-40B4-BE49-F238E27FC236}">
                <a16:creationId xmlns:a16="http://schemas.microsoft.com/office/drawing/2014/main" id="{8E102EFA-FD94-7D1F-B76C-45B63CEC7823}"/>
              </a:ext>
            </a:extLst>
          </p:cNvPr>
          <p:cNvSpPr txBox="1"/>
          <p:nvPr/>
        </p:nvSpPr>
        <p:spPr>
          <a:xfrm>
            <a:off x="1664969" y="2222563"/>
            <a:ext cx="10963635" cy="923330"/>
          </a:xfrm>
          <a:prstGeom prst="rect">
            <a:avLst/>
          </a:prstGeom>
          <a:noFill/>
        </p:spPr>
        <p:txBody>
          <a:bodyPr wrap="square" rtlCol="0">
            <a:spAutoFit/>
          </a:bodyPr>
          <a:lstStyle/>
          <a:p>
            <a:r>
              <a:rPr lang="en-US" sz="5400" b="1" kern="0" dirty="0">
                <a:solidFill>
                  <a:srgbClr val="6C1D35"/>
                </a:solidFill>
              </a:rPr>
              <a:t>SECD2523 DATABASE </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27149" y="599516"/>
            <a:ext cx="2249407" cy="751894"/>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429" y="6352942"/>
            <a:ext cx="2136771" cy="160806"/>
          </a:xfrm>
          <a:prstGeom prst="rect">
            <a:avLst/>
          </a:prstGeom>
        </p:spPr>
      </p:pic>
      <p:sp>
        <p:nvSpPr>
          <p:cNvPr id="3" name="TextBox 2">
            <a:extLst>
              <a:ext uri="{FF2B5EF4-FFF2-40B4-BE49-F238E27FC236}">
                <a16:creationId xmlns:a16="http://schemas.microsoft.com/office/drawing/2014/main" id="{FC72DD83-1D7D-D9BF-F0F3-053EE3201597}"/>
              </a:ext>
            </a:extLst>
          </p:cNvPr>
          <p:cNvSpPr txBox="1"/>
          <p:nvPr/>
        </p:nvSpPr>
        <p:spPr>
          <a:xfrm>
            <a:off x="805543" y="5858374"/>
            <a:ext cx="10678886" cy="800219"/>
          </a:xfrm>
          <a:prstGeom prst="rect">
            <a:avLst/>
          </a:prstGeom>
          <a:noFill/>
        </p:spPr>
        <p:txBody>
          <a:bodyPr wrap="square" rtlCol="0">
            <a:spAutoFit/>
          </a:bodyPr>
          <a:lstStyle/>
          <a:p>
            <a:r>
              <a:rPr lang="en-GB" altLang="en-US" sz="1400" dirty="0">
                <a:solidFill>
                  <a:schemeClr val="tx1"/>
                </a:solidFill>
                <a:latin typeface="Verdana"/>
                <a:ea typeface="Verdana" panose="020B0604030504040204" pitchFamily="34" charset="0"/>
                <a:cs typeface="Verdana" panose="020B0604030504040204" pitchFamily="34" charset="0"/>
              </a:rPr>
              <a:t>Content adapted from </a:t>
            </a:r>
            <a:r>
              <a:rPr lang="en-MY" sz="1400" dirty="0">
                <a:effectLst/>
                <a:latin typeface="Helvetica" pitchFamily="2" charset="0"/>
              </a:rPr>
              <a:t>Connolly, T., </a:t>
            </a:r>
            <a:r>
              <a:rPr lang="en-MY" sz="1400" dirty="0" err="1">
                <a:effectLst/>
                <a:latin typeface="Helvetica" pitchFamily="2" charset="0"/>
              </a:rPr>
              <a:t>Begg</a:t>
            </a:r>
            <a:r>
              <a:rPr lang="en-MY" sz="1400" dirty="0">
                <a:effectLst/>
                <a:latin typeface="Helvetica" pitchFamily="2" charset="0"/>
              </a:rPr>
              <a:t>, C., 2015. Database Systems: A Practical Approach to Design, Implementation, and Management, Global Edition. Pearson Education.</a:t>
            </a:r>
          </a:p>
          <a:p>
            <a:endParaRPr lang="en-GB" dirty="0"/>
          </a:p>
        </p:txBody>
      </p:sp>
    </p:spTree>
    <p:extLst>
      <p:ext uri="{BB962C8B-B14F-4D97-AF65-F5344CB8AC3E}">
        <p14:creationId xmlns:p14="http://schemas.microsoft.com/office/powerpoint/2010/main" val="17937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6133-417D-9582-AD5C-C9B40323D15B}"/>
              </a:ext>
            </a:extLst>
          </p:cNvPr>
          <p:cNvSpPr>
            <a:spLocks noGrp="1"/>
          </p:cNvSpPr>
          <p:nvPr>
            <p:ph type="title"/>
          </p:nvPr>
        </p:nvSpPr>
        <p:spPr/>
        <p:txBody>
          <a:bodyPr/>
          <a:lstStyle/>
          <a:p>
            <a:r>
              <a:rPr lang="en-US" dirty="0"/>
              <a:t>LECTURE LEARNING OUTCOME</a:t>
            </a:r>
          </a:p>
        </p:txBody>
      </p:sp>
      <p:grpSp>
        <p:nvGrpSpPr>
          <p:cNvPr id="7" name="Group 6">
            <a:extLst>
              <a:ext uri="{FF2B5EF4-FFF2-40B4-BE49-F238E27FC236}">
                <a16:creationId xmlns:a16="http://schemas.microsoft.com/office/drawing/2014/main" id="{32E07F62-62EA-F0CE-56B7-24048F3E2214}"/>
              </a:ext>
            </a:extLst>
          </p:cNvPr>
          <p:cNvGrpSpPr/>
          <p:nvPr/>
        </p:nvGrpSpPr>
        <p:grpSpPr>
          <a:xfrm>
            <a:off x="756164" y="1989249"/>
            <a:ext cx="10823730" cy="831763"/>
            <a:chOff x="531658" y="2405747"/>
            <a:chExt cx="10823730" cy="831763"/>
          </a:xfrm>
        </p:grpSpPr>
        <p:sp>
          <p:nvSpPr>
            <p:cNvPr id="9" name="Rectangle: Rounded Corners 8">
              <a:extLst>
                <a:ext uri="{FF2B5EF4-FFF2-40B4-BE49-F238E27FC236}">
                  <a16:creationId xmlns:a16="http://schemas.microsoft.com/office/drawing/2014/main" id="{C1F245CD-7264-D27E-FACB-A8B4DD06F1D6}"/>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2">
              <a:extLst>
                <a:ext uri="{FF2B5EF4-FFF2-40B4-BE49-F238E27FC236}">
                  <a16:creationId xmlns:a16="http://schemas.microsoft.com/office/drawing/2014/main" id="{2F0FB714-3007-23C8-9764-E8C7159E2C4E}"/>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01</a:t>
              </a:r>
            </a:p>
          </p:txBody>
        </p:sp>
        <p:sp>
          <p:nvSpPr>
            <p:cNvPr id="16" name="TextBox 15">
              <a:extLst>
                <a:ext uri="{FF2B5EF4-FFF2-40B4-BE49-F238E27FC236}">
                  <a16:creationId xmlns:a16="http://schemas.microsoft.com/office/drawing/2014/main" id="{929E73F1-1DD6-8DC9-0B8E-AD1B04B34741}"/>
                </a:ext>
              </a:extLst>
            </p:cNvPr>
            <p:cNvSpPr txBox="1"/>
            <p:nvPr/>
          </p:nvSpPr>
          <p:spPr>
            <a:xfrm>
              <a:off x="1517892" y="2622536"/>
              <a:ext cx="9469053" cy="400110"/>
            </a:xfrm>
            <a:prstGeom prst="rect">
              <a:avLst/>
            </a:prstGeom>
            <a:noFill/>
          </p:spPr>
          <p:txBody>
            <a:bodyPr wrap="square" rtlCol="0">
              <a:spAutoFit/>
            </a:bodyPr>
            <a:lstStyle/>
            <a:p>
              <a:pPr algn="just"/>
              <a:r>
                <a:rPr lang="en-US" altLang="ko-KR" sz="2000" b="1" dirty="0">
                  <a:solidFill>
                    <a:schemeClr val="bg1"/>
                  </a:solidFill>
                  <a:cs typeface="Arial" pitchFamily="34" charset="0"/>
                </a:rPr>
                <a:t>Perform basic operations in a DBMS software</a:t>
              </a:r>
            </a:p>
          </p:txBody>
        </p:sp>
      </p:grpSp>
      <p:pic>
        <p:nvPicPr>
          <p:cNvPr id="3" name="Picture 2">
            <a:extLst>
              <a:ext uri="{FF2B5EF4-FFF2-40B4-BE49-F238E27FC236}">
                <a16:creationId xmlns:a16="http://schemas.microsoft.com/office/drawing/2014/main" id="{4458F1EA-447C-486C-DE06-EF8199F7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sp>
        <p:nvSpPr>
          <p:cNvPr id="6" name="TextBox 5">
            <a:extLst>
              <a:ext uri="{FF2B5EF4-FFF2-40B4-BE49-F238E27FC236}">
                <a16:creationId xmlns:a16="http://schemas.microsoft.com/office/drawing/2014/main" id="{F7CF5489-1A93-67FA-16A5-04A76546BEFF}"/>
              </a:ext>
            </a:extLst>
          </p:cNvPr>
          <p:cNvSpPr txBox="1"/>
          <p:nvPr/>
        </p:nvSpPr>
        <p:spPr>
          <a:xfrm>
            <a:off x="735527" y="1538145"/>
            <a:ext cx="6117020" cy="369332"/>
          </a:xfrm>
          <a:prstGeom prst="rect">
            <a:avLst/>
          </a:prstGeom>
          <a:noFill/>
        </p:spPr>
        <p:txBody>
          <a:bodyPr wrap="square">
            <a:spAutoFit/>
          </a:bodyPr>
          <a:lstStyle/>
          <a:p>
            <a:pPr marL="0" indent="0">
              <a:buNone/>
            </a:pPr>
            <a:r>
              <a:rPr lang="en-MY" b="1" dirty="0"/>
              <a:t>By the end of this lecture, students should be able to:</a:t>
            </a:r>
            <a:endParaRPr lang="en-MY" dirty="0"/>
          </a:p>
        </p:txBody>
      </p:sp>
      <p:sp>
        <p:nvSpPr>
          <p:cNvPr id="12" name="Rectangle: Rounded Corners 11">
            <a:extLst>
              <a:ext uri="{FF2B5EF4-FFF2-40B4-BE49-F238E27FC236}">
                <a16:creationId xmlns:a16="http://schemas.microsoft.com/office/drawing/2014/main" id="{344AC4C7-0CB4-FF63-FCB9-63FEE6F22477}"/>
              </a:ext>
            </a:extLst>
          </p:cNvPr>
          <p:cNvSpPr/>
          <p:nvPr/>
        </p:nvSpPr>
        <p:spPr>
          <a:xfrm>
            <a:off x="756164" y="2867095"/>
            <a:ext cx="10823730" cy="1574276"/>
          </a:xfrm>
          <a:prstGeom prst="round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22">
            <a:extLst>
              <a:ext uri="{FF2B5EF4-FFF2-40B4-BE49-F238E27FC236}">
                <a16:creationId xmlns:a16="http://schemas.microsoft.com/office/drawing/2014/main" id="{1C8EDED6-5A04-187B-A687-9F2524E0180E}"/>
              </a:ext>
            </a:extLst>
          </p:cNvPr>
          <p:cNvSpPr txBox="1">
            <a:spLocks/>
          </p:cNvSpPr>
          <p:nvPr/>
        </p:nvSpPr>
        <p:spPr>
          <a:xfrm>
            <a:off x="836612" y="3030640"/>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cs typeface="Arial" pitchFamily="34" charset="0"/>
              </a:rPr>
              <a:t>02</a:t>
            </a:r>
          </a:p>
        </p:txBody>
      </p:sp>
      <p:sp>
        <p:nvSpPr>
          <p:cNvPr id="15" name="TextBox 14">
            <a:extLst>
              <a:ext uri="{FF2B5EF4-FFF2-40B4-BE49-F238E27FC236}">
                <a16:creationId xmlns:a16="http://schemas.microsoft.com/office/drawing/2014/main" id="{06D76F8F-9451-9946-9AC6-6A4DC9337D85}"/>
              </a:ext>
            </a:extLst>
          </p:cNvPr>
          <p:cNvSpPr txBox="1"/>
          <p:nvPr/>
        </p:nvSpPr>
        <p:spPr>
          <a:xfrm>
            <a:off x="1822846" y="2992513"/>
            <a:ext cx="9469053" cy="1323439"/>
          </a:xfrm>
          <a:prstGeom prst="rect">
            <a:avLst/>
          </a:prstGeom>
          <a:noFill/>
        </p:spPr>
        <p:txBody>
          <a:bodyPr wrap="square" rtlCol="0">
            <a:spAutoFit/>
          </a:bodyPr>
          <a:lstStyle/>
          <a:p>
            <a:pPr algn="just"/>
            <a:r>
              <a:rPr lang="en-US" altLang="ko-KR" sz="2000" b="1" dirty="0">
                <a:solidFill>
                  <a:schemeClr val="bg1"/>
                </a:solidFill>
                <a:cs typeface="Arial" pitchFamily="34" charset="0"/>
              </a:rPr>
              <a:t>Construct SQL statements to:</a:t>
            </a:r>
          </a:p>
          <a:p>
            <a:pPr marL="342900" indent="-342900" algn="just">
              <a:buFont typeface="Arial" panose="020B0604020202020204" pitchFamily="34" charset="0"/>
              <a:buChar char="•"/>
            </a:pPr>
            <a:r>
              <a:rPr lang="en-US" altLang="ko-KR" sz="2000" b="1" dirty="0">
                <a:solidFill>
                  <a:schemeClr val="bg1"/>
                </a:solidFill>
                <a:cs typeface="Arial" pitchFamily="34" charset="0"/>
              </a:rPr>
              <a:t>Create and delete tables</a:t>
            </a:r>
          </a:p>
          <a:p>
            <a:pPr marL="342900" lvl="1" indent="-342900" algn="just">
              <a:buFont typeface="Arial" panose="020B0604020202020204" pitchFamily="34" charset="0"/>
              <a:buChar char="•"/>
              <a:defRPr/>
            </a:pPr>
            <a:r>
              <a:rPr lang="en-MY" sz="2000" b="1" dirty="0">
                <a:solidFill>
                  <a:schemeClr val="bg1"/>
                </a:solidFill>
                <a:cs typeface="Arial" pitchFamily="34" charset="0"/>
              </a:rPr>
              <a:t>Perform changes to table structure</a:t>
            </a:r>
          </a:p>
          <a:p>
            <a:pPr marL="342900" lvl="1" indent="-342900" algn="just">
              <a:buFont typeface="Arial" panose="020B0604020202020204" pitchFamily="34" charset="0"/>
              <a:buChar char="•"/>
              <a:defRPr/>
            </a:pPr>
            <a:r>
              <a:rPr lang="en-MY" sz="2000" b="1" dirty="0">
                <a:solidFill>
                  <a:schemeClr val="bg1"/>
                </a:solidFill>
                <a:cs typeface="Arial" pitchFamily="34" charset="0"/>
              </a:rPr>
              <a:t>Include integrity constraints to tables</a:t>
            </a:r>
          </a:p>
        </p:txBody>
      </p:sp>
      <p:sp>
        <p:nvSpPr>
          <p:cNvPr id="4" name="Slide Number Placeholder 3">
            <a:extLst>
              <a:ext uri="{FF2B5EF4-FFF2-40B4-BE49-F238E27FC236}">
                <a16:creationId xmlns:a16="http://schemas.microsoft.com/office/drawing/2014/main" id="{53FE7F93-0F26-D283-0440-62C2B156A7F2}"/>
              </a:ext>
            </a:extLst>
          </p:cNvPr>
          <p:cNvSpPr>
            <a:spLocks noGrp="1"/>
          </p:cNvSpPr>
          <p:nvPr>
            <p:ph type="sldNum" sz="quarter" idx="12"/>
          </p:nvPr>
        </p:nvSpPr>
        <p:spPr/>
        <p:txBody>
          <a:bodyPr/>
          <a:lstStyle/>
          <a:p>
            <a:fld id="{B5912E74-8957-4046-8937-1199D0665174}" type="slidenum">
              <a:rPr lang="en-US" smtClean="0"/>
              <a:t>2</a:t>
            </a:fld>
            <a:endParaRPr lang="en-US"/>
          </a:p>
        </p:txBody>
      </p:sp>
    </p:spTree>
    <p:extLst>
      <p:ext uri="{BB962C8B-B14F-4D97-AF65-F5344CB8AC3E}">
        <p14:creationId xmlns:p14="http://schemas.microsoft.com/office/powerpoint/2010/main" val="793206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03A9152-69B0-736A-2CFE-04A297940E6A}"/>
              </a:ext>
            </a:extLst>
          </p:cNvPr>
          <p:cNvSpPr txBox="1"/>
          <p:nvPr/>
        </p:nvSpPr>
        <p:spPr>
          <a:xfrm>
            <a:off x="6052352" y="1334348"/>
            <a:ext cx="4507692" cy="400110"/>
          </a:xfrm>
          <a:prstGeom prst="rect">
            <a:avLst/>
          </a:prstGeom>
          <a:noFill/>
        </p:spPr>
        <p:txBody>
          <a:bodyPr wrap="square" lIns="108000" rIns="108000" rtlCol="0">
            <a:spAutoFit/>
          </a:bodyPr>
          <a:lstStyle/>
          <a:p>
            <a:r>
              <a:rPr lang="en-US" altLang="ko-KR" sz="2000" b="1" dirty="0">
                <a:cs typeface="Arial" pitchFamily="34" charset="0"/>
              </a:rPr>
              <a:t>Introduction to DBMS &amp; DDL </a:t>
            </a:r>
            <a:endParaRPr lang="ko-KR" altLang="en-US" sz="2000" b="1" dirty="0">
              <a:cs typeface="Arial" pitchFamily="34" charset="0"/>
            </a:endParaRPr>
          </a:p>
        </p:txBody>
      </p:sp>
      <p:sp>
        <p:nvSpPr>
          <p:cNvPr id="8" name="TextBox 7">
            <a:extLst>
              <a:ext uri="{FF2B5EF4-FFF2-40B4-BE49-F238E27FC236}">
                <a16:creationId xmlns:a16="http://schemas.microsoft.com/office/drawing/2014/main" id="{C25BDAC7-AF3F-67DF-4F18-78B7C660723C}"/>
              </a:ext>
            </a:extLst>
          </p:cNvPr>
          <p:cNvSpPr txBox="1"/>
          <p:nvPr/>
        </p:nvSpPr>
        <p:spPr>
          <a:xfrm>
            <a:off x="5114018" y="1211238"/>
            <a:ext cx="958096" cy="646331"/>
          </a:xfrm>
          <a:prstGeom prst="rect">
            <a:avLst/>
          </a:prstGeom>
          <a:noFill/>
        </p:spPr>
        <p:txBody>
          <a:bodyPr wrap="square" lIns="108000" rIns="108000" rtlCol="0">
            <a:spAutoFit/>
          </a:bodyPr>
          <a:lstStyle/>
          <a:p>
            <a:pPr algn="ctr"/>
            <a:r>
              <a:rPr lang="en-US" altLang="ko-KR" sz="3600" b="1" dirty="0">
                <a:cs typeface="Arial" pitchFamily="34" charset="0"/>
              </a:rPr>
              <a:t>01</a:t>
            </a:r>
            <a:endParaRPr lang="ko-KR" altLang="en-US" sz="3600" b="1" dirty="0">
              <a:cs typeface="Arial" pitchFamily="34" charset="0"/>
            </a:endParaRPr>
          </a:p>
        </p:txBody>
      </p:sp>
      <p:grpSp>
        <p:nvGrpSpPr>
          <p:cNvPr id="11" name="Group 10">
            <a:extLst>
              <a:ext uri="{FF2B5EF4-FFF2-40B4-BE49-F238E27FC236}">
                <a16:creationId xmlns:a16="http://schemas.microsoft.com/office/drawing/2014/main" id="{630E09E0-332F-3E06-48B0-67500B459963}"/>
              </a:ext>
            </a:extLst>
          </p:cNvPr>
          <p:cNvGrpSpPr/>
          <p:nvPr/>
        </p:nvGrpSpPr>
        <p:grpSpPr>
          <a:xfrm>
            <a:off x="5114018" y="1929326"/>
            <a:ext cx="6505167" cy="646331"/>
            <a:chOff x="5114018" y="1929326"/>
            <a:chExt cx="6505167" cy="646331"/>
          </a:xfrm>
        </p:grpSpPr>
        <p:sp>
          <p:nvSpPr>
            <p:cNvPr id="29" name="TextBox 28">
              <a:extLst>
                <a:ext uri="{FF2B5EF4-FFF2-40B4-BE49-F238E27FC236}">
                  <a16:creationId xmlns:a16="http://schemas.microsoft.com/office/drawing/2014/main" id="{B6E4D0E0-0363-7D00-9476-926580CC8B81}"/>
                </a:ext>
              </a:extLst>
            </p:cNvPr>
            <p:cNvSpPr txBox="1"/>
            <p:nvPr/>
          </p:nvSpPr>
          <p:spPr>
            <a:xfrm>
              <a:off x="6052352" y="2054221"/>
              <a:ext cx="5566833" cy="400110"/>
            </a:xfrm>
            <a:prstGeom prst="rect">
              <a:avLst/>
            </a:prstGeom>
            <a:noFill/>
          </p:spPr>
          <p:txBody>
            <a:bodyPr wrap="square" lIns="108000" rIns="108000" rtlCol="0">
              <a:spAutoFit/>
            </a:bodyPr>
            <a:lstStyle/>
            <a:p>
              <a:r>
                <a:rPr lang="en-US" altLang="ko-KR" sz="2000" b="1" dirty="0">
                  <a:cs typeface="Arial" pitchFamily="34" charset="0"/>
                </a:rPr>
                <a:t>Data Integrity Constraints</a:t>
              </a:r>
              <a:endParaRPr lang="ko-KR" altLang="en-US" sz="2000" b="1" dirty="0">
                <a:cs typeface="Arial" pitchFamily="34" charset="0"/>
              </a:endParaRPr>
            </a:p>
          </p:txBody>
        </p:sp>
        <p:sp>
          <p:nvSpPr>
            <p:cNvPr id="30" name="TextBox 29">
              <a:extLst>
                <a:ext uri="{FF2B5EF4-FFF2-40B4-BE49-F238E27FC236}">
                  <a16:creationId xmlns:a16="http://schemas.microsoft.com/office/drawing/2014/main" id="{1533923C-0FE2-D0D7-D3D2-546A2398E56F}"/>
                </a:ext>
              </a:extLst>
            </p:cNvPr>
            <p:cNvSpPr txBox="1"/>
            <p:nvPr/>
          </p:nvSpPr>
          <p:spPr>
            <a:xfrm>
              <a:off x="5114018" y="1929326"/>
              <a:ext cx="958096" cy="646331"/>
            </a:xfrm>
            <a:prstGeom prst="rect">
              <a:avLst/>
            </a:prstGeom>
            <a:noFill/>
          </p:spPr>
          <p:txBody>
            <a:bodyPr wrap="square" lIns="108000" rIns="108000" rtlCol="0">
              <a:spAutoFit/>
            </a:bodyPr>
            <a:lstStyle/>
            <a:p>
              <a:pPr algn="ctr"/>
              <a:r>
                <a:rPr lang="en-US" altLang="ko-KR" sz="3600" b="1" dirty="0">
                  <a:cs typeface="Arial" pitchFamily="34" charset="0"/>
                </a:rPr>
                <a:t>02</a:t>
              </a:r>
              <a:endParaRPr lang="ko-KR" altLang="en-US" sz="3600" b="1" dirty="0">
                <a:cs typeface="Arial" pitchFamily="34" charset="0"/>
              </a:endParaRPr>
            </a:p>
          </p:txBody>
        </p:sp>
      </p:grpSp>
      <p:sp>
        <p:nvSpPr>
          <p:cNvPr id="33" name="TextBox 32">
            <a:extLst>
              <a:ext uri="{FF2B5EF4-FFF2-40B4-BE49-F238E27FC236}">
                <a16:creationId xmlns:a16="http://schemas.microsoft.com/office/drawing/2014/main" id="{9E4484E9-F589-F0D0-E711-BD1AD2477BB3}"/>
              </a:ext>
            </a:extLst>
          </p:cNvPr>
          <p:cNvSpPr txBox="1"/>
          <p:nvPr/>
        </p:nvSpPr>
        <p:spPr>
          <a:xfrm>
            <a:off x="6052352" y="2776580"/>
            <a:ext cx="5062337" cy="400110"/>
          </a:xfrm>
          <a:prstGeom prst="rect">
            <a:avLst/>
          </a:prstGeom>
          <a:noFill/>
        </p:spPr>
        <p:txBody>
          <a:bodyPr wrap="square" lIns="108000" rIns="108000" rtlCol="0">
            <a:spAutoFit/>
          </a:bodyPr>
          <a:lstStyle/>
          <a:p>
            <a:r>
              <a:rPr lang="en-US" altLang="ko-KR" sz="2000" b="1" dirty="0">
                <a:cs typeface="Arial" pitchFamily="34" charset="0"/>
              </a:rPr>
              <a:t>CREATE TABLE</a:t>
            </a:r>
            <a:endParaRPr lang="ko-KR" altLang="en-US" sz="2000" b="1" dirty="0">
              <a:cs typeface="Arial" pitchFamily="34" charset="0"/>
            </a:endParaRPr>
          </a:p>
        </p:txBody>
      </p:sp>
      <p:sp>
        <p:nvSpPr>
          <p:cNvPr id="34" name="TextBox 33">
            <a:extLst>
              <a:ext uri="{FF2B5EF4-FFF2-40B4-BE49-F238E27FC236}">
                <a16:creationId xmlns:a16="http://schemas.microsoft.com/office/drawing/2014/main" id="{F08DE2FE-EE81-76C5-D3F5-E4AFA05286F0}"/>
              </a:ext>
            </a:extLst>
          </p:cNvPr>
          <p:cNvSpPr txBox="1"/>
          <p:nvPr/>
        </p:nvSpPr>
        <p:spPr>
          <a:xfrm>
            <a:off x="5114018" y="2650449"/>
            <a:ext cx="958096" cy="646331"/>
          </a:xfrm>
          <a:prstGeom prst="rect">
            <a:avLst/>
          </a:prstGeom>
          <a:noFill/>
        </p:spPr>
        <p:txBody>
          <a:bodyPr wrap="square" lIns="108000" rIns="108000" rtlCol="0">
            <a:spAutoFit/>
          </a:bodyPr>
          <a:lstStyle/>
          <a:p>
            <a:pPr algn="ctr"/>
            <a:r>
              <a:rPr lang="en-US" altLang="ko-KR" sz="3600" b="1" dirty="0">
                <a:cs typeface="Arial" pitchFamily="34" charset="0"/>
              </a:rPr>
              <a:t>03</a:t>
            </a:r>
            <a:endParaRPr lang="ko-KR" altLang="en-US" sz="3600" b="1" dirty="0">
              <a:cs typeface="Arial" pitchFamily="34" charset="0"/>
            </a:endParaRPr>
          </a:p>
        </p:txBody>
      </p:sp>
      <p:grpSp>
        <p:nvGrpSpPr>
          <p:cNvPr id="36" name="Group 35">
            <a:extLst>
              <a:ext uri="{FF2B5EF4-FFF2-40B4-BE49-F238E27FC236}">
                <a16:creationId xmlns:a16="http://schemas.microsoft.com/office/drawing/2014/main" id="{E9613243-C4DA-5CC5-7318-211CCB5D3BA1}"/>
              </a:ext>
            </a:extLst>
          </p:cNvPr>
          <p:cNvGrpSpPr/>
          <p:nvPr/>
        </p:nvGrpSpPr>
        <p:grpSpPr>
          <a:xfrm>
            <a:off x="5114018" y="3404050"/>
            <a:ext cx="5446026" cy="646331"/>
            <a:chOff x="5292036" y="974450"/>
            <a:chExt cx="5446026" cy="646331"/>
          </a:xfrm>
        </p:grpSpPr>
        <p:sp>
          <p:nvSpPr>
            <p:cNvPr id="37" name="TextBox 36">
              <a:extLst>
                <a:ext uri="{FF2B5EF4-FFF2-40B4-BE49-F238E27FC236}">
                  <a16:creationId xmlns:a16="http://schemas.microsoft.com/office/drawing/2014/main" id="{A6B8D799-B9DD-C367-C39E-7D4C8AA8760C}"/>
                </a:ext>
              </a:extLst>
            </p:cNvPr>
            <p:cNvSpPr txBox="1"/>
            <p:nvPr/>
          </p:nvSpPr>
          <p:spPr>
            <a:xfrm>
              <a:off x="6230370" y="1100844"/>
              <a:ext cx="4507692" cy="400110"/>
            </a:xfrm>
            <a:prstGeom prst="rect">
              <a:avLst/>
            </a:prstGeom>
            <a:noFill/>
          </p:spPr>
          <p:txBody>
            <a:bodyPr wrap="square" lIns="108000" rIns="108000" rtlCol="0">
              <a:spAutoFit/>
            </a:bodyPr>
            <a:lstStyle/>
            <a:p>
              <a:r>
                <a:rPr lang="en-US" altLang="ko-KR" sz="2000" b="1" dirty="0">
                  <a:cs typeface="Arial" pitchFamily="34" charset="0"/>
                </a:rPr>
                <a:t>ALTER TABLE</a:t>
              </a:r>
              <a:endParaRPr lang="ko-KR" altLang="en-US" sz="2000" b="1" dirty="0">
                <a:cs typeface="Arial" pitchFamily="34" charset="0"/>
              </a:endParaRPr>
            </a:p>
          </p:txBody>
        </p:sp>
        <p:sp>
          <p:nvSpPr>
            <p:cNvPr id="38" name="TextBox 37">
              <a:extLst>
                <a:ext uri="{FF2B5EF4-FFF2-40B4-BE49-F238E27FC236}">
                  <a16:creationId xmlns:a16="http://schemas.microsoft.com/office/drawing/2014/main" id="{0B653FF4-B6FB-AB93-3922-3E2C06C965CE}"/>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04</a:t>
              </a:r>
              <a:endParaRPr lang="ko-KR" altLang="en-US" sz="3600" b="1" dirty="0">
                <a:cs typeface="Arial" pitchFamily="34" charset="0"/>
              </a:endParaRPr>
            </a:p>
          </p:txBody>
        </p:sp>
      </p:grpSp>
      <p:pic>
        <p:nvPicPr>
          <p:cNvPr id="4" name="Picture 3">
            <a:extLst>
              <a:ext uri="{FF2B5EF4-FFF2-40B4-BE49-F238E27FC236}">
                <a16:creationId xmlns:a16="http://schemas.microsoft.com/office/drawing/2014/main" id="{1A63027A-A8CD-9E48-8312-06F52A14B3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4018" y="6594272"/>
            <a:ext cx="1951264" cy="146845"/>
          </a:xfrm>
          <a:prstGeom prst="rect">
            <a:avLst/>
          </a:prstGeom>
        </p:spPr>
      </p:pic>
      <p:grpSp>
        <p:nvGrpSpPr>
          <p:cNvPr id="2" name="Group 1">
            <a:extLst>
              <a:ext uri="{FF2B5EF4-FFF2-40B4-BE49-F238E27FC236}">
                <a16:creationId xmlns:a16="http://schemas.microsoft.com/office/drawing/2014/main" id="{E31933D3-F573-B1DE-109A-841063E04740}"/>
              </a:ext>
            </a:extLst>
          </p:cNvPr>
          <p:cNvGrpSpPr/>
          <p:nvPr/>
        </p:nvGrpSpPr>
        <p:grpSpPr>
          <a:xfrm>
            <a:off x="5114018" y="4156177"/>
            <a:ext cx="5446026" cy="646331"/>
            <a:chOff x="5292036" y="974450"/>
            <a:chExt cx="5446026" cy="646331"/>
          </a:xfrm>
        </p:grpSpPr>
        <p:sp>
          <p:nvSpPr>
            <p:cNvPr id="3" name="TextBox 2">
              <a:extLst>
                <a:ext uri="{FF2B5EF4-FFF2-40B4-BE49-F238E27FC236}">
                  <a16:creationId xmlns:a16="http://schemas.microsoft.com/office/drawing/2014/main" id="{FCA24613-6786-F397-A6D4-BC823DA25298}"/>
                </a:ext>
              </a:extLst>
            </p:cNvPr>
            <p:cNvSpPr txBox="1"/>
            <p:nvPr/>
          </p:nvSpPr>
          <p:spPr>
            <a:xfrm>
              <a:off x="6230370" y="1097560"/>
              <a:ext cx="4507692" cy="400110"/>
            </a:xfrm>
            <a:prstGeom prst="rect">
              <a:avLst/>
            </a:prstGeom>
            <a:noFill/>
          </p:spPr>
          <p:txBody>
            <a:bodyPr wrap="square" lIns="108000" rIns="108000" rtlCol="0">
              <a:spAutoFit/>
            </a:bodyPr>
            <a:lstStyle/>
            <a:p>
              <a:r>
                <a:rPr lang="en-US" altLang="ko-KR" sz="2000" b="1" dirty="0">
                  <a:cs typeface="Arial" pitchFamily="34" charset="0"/>
                </a:rPr>
                <a:t>DROP TABLE</a:t>
              </a:r>
              <a:endParaRPr lang="ko-KR" altLang="en-US" sz="2000" b="1" dirty="0">
                <a:cs typeface="Arial" pitchFamily="34" charset="0"/>
              </a:endParaRPr>
            </a:p>
          </p:txBody>
        </p:sp>
        <p:sp>
          <p:nvSpPr>
            <p:cNvPr id="5" name="TextBox 4">
              <a:extLst>
                <a:ext uri="{FF2B5EF4-FFF2-40B4-BE49-F238E27FC236}">
                  <a16:creationId xmlns:a16="http://schemas.microsoft.com/office/drawing/2014/main" id="{2BEF3A2A-94C1-9044-E916-211EB45749FB}"/>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05</a:t>
              </a:r>
              <a:endParaRPr lang="ko-KR" altLang="en-US" sz="3600" b="1" dirty="0">
                <a:cs typeface="Arial" pitchFamily="34" charset="0"/>
              </a:endParaRPr>
            </a:p>
          </p:txBody>
        </p:sp>
      </p:grpSp>
      <p:grpSp>
        <p:nvGrpSpPr>
          <p:cNvPr id="6" name="Group 5">
            <a:extLst>
              <a:ext uri="{FF2B5EF4-FFF2-40B4-BE49-F238E27FC236}">
                <a16:creationId xmlns:a16="http://schemas.microsoft.com/office/drawing/2014/main" id="{7DA178B5-9907-BB89-7B61-67BB8D645FB2}"/>
              </a:ext>
            </a:extLst>
          </p:cNvPr>
          <p:cNvGrpSpPr/>
          <p:nvPr/>
        </p:nvGrpSpPr>
        <p:grpSpPr>
          <a:xfrm>
            <a:off x="5114018" y="4908304"/>
            <a:ext cx="5446026" cy="646331"/>
            <a:chOff x="5292036" y="974450"/>
            <a:chExt cx="5446026" cy="646331"/>
          </a:xfrm>
        </p:grpSpPr>
        <p:sp>
          <p:nvSpPr>
            <p:cNvPr id="7" name="TextBox 6">
              <a:extLst>
                <a:ext uri="{FF2B5EF4-FFF2-40B4-BE49-F238E27FC236}">
                  <a16:creationId xmlns:a16="http://schemas.microsoft.com/office/drawing/2014/main" id="{080CF681-95FD-20D2-B99C-5C876EC4B422}"/>
                </a:ext>
              </a:extLst>
            </p:cNvPr>
            <p:cNvSpPr txBox="1"/>
            <p:nvPr/>
          </p:nvSpPr>
          <p:spPr>
            <a:xfrm>
              <a:off x="6230370" y="1097560"/>
              <a:ext cx="4507692" cy="400110"/>
            </a:xfrm>
            <a:prstGeom prst="rect">
              <a:avLst/>
            </a:prstGeom>
            <a:noFill/>
          </p:spPr>
          <p:txBody>
            <a:bodyPr wrap="square" lIns="108000" rIns="108000" rtlCol="0">
              <a:spAutoFit/>
            </a:bodyPr>
            <a:lstStyle/>
            <a:p>
              <a:r>
                <a:rPr lang="en-US" altLang="ko-KR" sz="2000" b="1" dirty="0">
                  <a:cs typeface="Arial" pitchFamily="34" charset="0"/>
                </a:rPr>
                <a:t>Other Useful Statements</a:t>
              </a:r>
            </a:p>
          </p:txBody>
        </p:sp>
        <p:sp>
          <p:nvSpPr>
            <p:cNvPr id="9" name="TextBox 8">
              <a:extLst>
                <a:ext uri="{FF2B5EF4-FFF2-40B4-BE49-F238E27FC236}">
                  <a16:creationId xmlns:a16="http://schemas.microsoft.com/office/drawing/2014/main" id="{FA60AAD9-7F57-D3DC-B4F1-11E7C53691D0}"/>
                </a:ext>
              </a:extLst>
            </p:cNvPr>
            <p:cNvSpPr txBox="1"/>
            <p:nvPr/>
          </p:nvSpPr>
          <p:spPr>
            <a:xfrm>
              <a:off x="5292036" y="974450"/>
              <a:ext cx="958096" cy="646331"/>
            </a:xfrm>
            <a:prstGeom prst="rect">
              <a:avLst/>
            </a:prstGeom>
            <a:noFill/>
          </p:spPr>
          <p:txBody>
            <a:bodyPr wrap="square" lIns="108000" rIns="108000" rtlCol="0">
              <a:spAutoFit/>
            </a:bodyPr>
            <a:lstStyle/>
            <a:p>
              <a:pPr algn="ctr"/>
              <a:r>
                <a:rPr lang="en-US" altLang="ko-KR" sz="3600" b="1" dirty="0">
                  <a:cs typeface="Arial" pitchFamily="34" charset="0"/>
                </a:rPr>
                <a:t>06</a:t>
              </a:r>
              <a:endParaRPr lang="ko-KR" altLang="en-US" sz="3600" b="1" dirty="0">
                <a:cs typeface="Arial" pitchFamily="34" charset="0"/>
              </a:endParaRPr>
            </a:p>
          </p:txBody>
        </p:sp>
      </p:grpSp>
      <p:sp>
        <p:nvSpPr>
          <p:cNvPr id="12" name="Slide Number Placeholder 11">
            <a:extLst>
              <a:ext uri="{FF2B5EF4-FFF2-40B4-BE49-F238E27FC236}">
                <a16:creationId xmlns:a16="http://schemas.microsoft.com/office/drawing/2014/main" id="{FB4D6EE0-673B-ABA4-588A-B423D04EED00}"/>
              </a:ext>
            </a:extLst>
          </p:cNvPr>
          <p:cNvSpPr>
            <a:spLocks noGrp="1"/>
          </p:cNvSpPr>
          <p:nvPr>
            <p:ph type="sldNum" sz="quarter" idx="12"/>
          </p:nvPr>
        </p:nvSpPr>
        <p:spPr/>
        <p:txBody>
          <a:bodyPr/>
          <a:lstStyle/>
          <a:p>
            <a:fld id="{B5912E74-8957-4046-8937-1199D0665174}" type="slidenum">
              <a:rPr lang="en-US" smtClean="0"/>
              <a:t>3</a:t>
            </a:fld>
            <a:endParaRPr lang="en-US"/>
          </a:p>
        </p:txBody>
      </p:sp>
    </p:spTree>
    <p:extLst>
      <p:ext uri="{BB962C8B-B14F-4D97-AF65-F5344CB8AC3E}">
        <p14:creationId xmlns:p14="http://schemas.microsoft.com/office/powerpoint/2010/main" val="2699332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2E381-5C0A-4F32-8F3D-D25AD2EB9D9A}"/>
              </a:ext>
            </a:extLst>
          </p:cNvPr>
          <p:cNvSpPr>
            <a:spLocks noGrp="1"/>
          </p:cNvSpPr>
          <p:nvPr>
            <p:ph type="title"/>
          </p:nvPr>
        </p:nvSpPr>
        <p:spPr>
          <a:xfrm>
            <a:off x="831850" y="783982"/>
            <a:ext cx="10515600" cy="817125"/>
          </a:xfrm>
        </p:spPr>
        <p:txBody>
          <a:bodyPr/>
          <a:lstStyle/>
          <a:p>
            <a:pPr algn="ctr"/>
            <a:r>
              <a:rPr lang="en-MY" b="1" dirty="0">
                <a:solidFill>
                  <a:schemeClr val="accent2"/>
                </a:solidFill>
              </a:rPr>
              <a:t>Introduction to DBMS</a:t>
            </a:r>
            <a:endParaRPr lang="en-US" b="1" dirty="0">
              <a:solidFill>
                <a:schemeClr val="accent2"/>
              </a:solidFill>
            </a:endParaRPr>
          </a:p>
        </p:txBody>
      </p:sp>
      <p:sp>
        <p:nvSpPr>
          <p:cNvPr id="3" name="Content Placeholder 2">
            <a:extLst>
              <a:ext uri="{FF2B5EF4-FFF2-40B4-BE49-F238E27FC236}">
                <a16:creationId xmlns:a16="http://schemas.microsoft.com/office/drawing/2014/main" id="{FA8A8262-FBB0-4E64-94B5-92DEE882EDC8}"/>
              </a:ext>
            </a:extLst>
          </p:cNvPr>
          <p:cNvSpPr>
            <a:spLocks noGrp="1"/>
          </p:cNvSpPr>
          <p:nvPr>
            <p:ph type="body" idx="1"/>
          </p:nvPr>
        </p:nvSpPr>
        <p:spPr>
          <a:xfrm>
            <a:off x="831850" y="1785257"/>
            <a:ext cx="10515600" cy="4386943"/>
          </a:xfrm>
        </p:spPr>
        <p:txBody>
          <a:bodyPr/>
          <a:lstStyle/>
          <a:p>
            <a:pPr marL="342900" indent="-342900">
              <a:buFont typeface="Arial" panose="020B0604020202020204" pitchFamily="34" charset="0"/>
              <a:buChar char="•"/>
            </a:pPr>
            <a:r>
              <a:rPr lang="en-MY" sz="3600" dirty="0">
                <a:solidFill>
                  <a:schemeClr val="tx1"/>
                </a:solidFill>
              </a:rPr>
              <a:t>DBMS:</a:t>
            </a:r>
          </a:p>
          <a:p>
            <a:pPr marL="800100" lvl="1" indent="-342900">
              <a:buFont typeface="Arial" panose="020B0604020202020204" pitchFamily="34" charset="0"/>
              <a:buChar char="•"/>
            </a:pPr>
            <a:r>
              <a:rPr lang="en-US" sz="3200" dirty="0">
                <a:solidFill>
                  <a:schemeClr val="tx1"/>
                </a:solidFill>
              </a:rPr>
              <a:t>A software system that enables users to </a:t>
            </a:r>
            <a:r>
              <a:rPr lang="en-US" sz="3200" b="1" u="sng" dirty="0">
                <a:solidFill>
                  <a:schemeClr val="accent2"/>
                </a:solidFill>
              </a:rPr>
              <a:t>define</a:t>
            </a:r>
            <a:r>
              <a:rPr lang="en-US" sz="3200" dirty="0">
                <a:solidFill>
                  <a:schemeClr val="tx1"/>
                </a:solidFill>
              </a:rPr>
              <a:t>, </a:t>
            </a:r>
            <a:r>
              <a:rPr lang="en-US" sz="3200" b="1" u="sng" dirty="0">
                <a:solidFill>
                  <a:schemeClr val="accent2"/>
                </a:solidFill>
              </a:rPr>
              <a:t>create</a:t>
            </a:r>
            <a:r>
              <a:rPr lang="en-US" sz="3200" dirty="0">
                <a:solidFill>
                  <a:schemeClr val="tx1"/>
                </a:solidFill>
              </a:rPr>
              <a:t>, and maintain the database and that provides controlled access to this database.</a:t>
            </a:r>
          </a:p>
          <a:p>
            <a:pPr marL="800100" lvl="1" indent="-342900">
              <a:buFont typeface="Arial" panose="020B0604020202020204" pitchFamily="34" charset="0"/>
              <a:buChar char="•"/>
            </a:pPr>
            <a:r>
              <a:rPr lang="en-MY" sz="3200" dirty="0">
                <a:solidFill>
                  <a:schemeClr val="tx1"/>
                </a:solidFill>
              </a:rPr>
              <a:t>DBMS perform the tasks through commands (aka queries) written in Structured Query Language (SQL)</a:t>
            </a:r>
          </a:p>
          <a:p>
            <a:pPr marL="800100" lvl="1" indent="-342900">
              <a:buFont typeface="Arial" panose="020B0604020202020204" pitchFamily="34" charset="0"/>
              <a:buChar char="•"/>
            </a:pPr>
            <a:r>
              <a:rPr lang="en-MY" sz="3200" dirty="0">
                <a:solidFill>
                  <a:schemeClr val="tx1"/>
                </a:solidFill>
              </a:rPr>
              <a:t>Example of DBMS</a:t>
            </a:r>
          </a:p>
          <a:p>
            <a:pPr marL="1257300" lvl="2" indent="-342900">
              <a:buFont typeface="Arial" panose="020B0604020202020204" pitchFamily="34" charset="0"/>
              <a:buChar char="•"/>
            </a:pPr>
            <a:r>
              <a:rPr lang="en-MY" sz="3000" dirty="0">
                <a:solidFill>
                  <a:schemeClr val="tx1"/>
                </a:solidFill>
              </a:rPr>
              <a:t>mySQL (what we will be using for this course)</a:t>
            </a:r>
          </a:p>
          <a:p>
            <a:pPr marL="1257300" lvl="2" indent="-342900">
              <a:buFont typeface="Arial" panose="020B0604020202020204" pitchFamily="34" charset="0"/>
              <a:buChar char="•"/>
            </a:pPr>
            <a:r>
              <a:rPr lang="en-MY" sz="3000" dirty="0">
                <a:solidFill>
                  <a:schemeClr val="tx1"/>
                </a:solidFill>
              </a:rPr>
              <a:t>Oracle</a:t>
            </a:r>
          </a:p>
          <a:p>
            <a:endParaRPr lang="en-US" dirty="0"/>
          </a:p>
        </p:txBody>
      </p:sp>
      <p:sp>
        <p:nvSpPr>
          <p:cNvPr id="6" name="Slide Number Placeholder 5">
            <a:extLst>
              <a:ext uri="{FF2B5EF4-FFF2-40B4-BE49-F238E27FC236}">
                <a16:creationId xmlns:a16="http://schemas.microsoft.com/office/drawing/2014/main" id="{96E7D8EC-F7B5-44B7-8674-F1AB584ACA2D}"/>
              </a:ext>
            </a:extLst>
          </p:cNvPr>
          <p:cNvSpPr>
            <a:spLocks noGrp="1"/>
          </p:cNvSpPr>
          <p:nvPr>
            <p:ph type="sldNum" sz="quarter" idx="12"/>
          </p:nvPr>
        </p:nvSpPr>
        <p:spPr/>
        <p:txBody>
          <a:bodyPr/>
          <a:lstStyle/>
          <a:p>
            <a:pPr>
              <a:defRPr/>
            </a:pPr>
            <a:fld id="{4AEEF2DB-3D68-4EFF-B92B-90C34555BE45}" type="slidenum">
              <a:rPr lang="en-US" smtClean="0"/>
              <a:pPr>
                <a:defRPr/>
              </a:pPr>
              <a:t>4</a:t>
            </a:fld>
            <a:endParaRPr lang="en-US" dirty="0"/>
          </a:p>
        </p:txBody>
      </p:sp>
    </p:spTree>
    <p:extLst>
      <p:ext uri="{BB962C8B-B14F-4D97-AF65-F5344CB8AC3E}">
        <p14:creationId xmlns:p14="http://schemas.microsoft.com/office/powerpoint/2010/main" val="283626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2609C-15D2-4B14-8A00-97B33610AA3E}"/>
              </a:ext>
            </a:extLst>
          </p:cNvPr>
          <p:cNvSpPr>
            <a:spLocks noGrp="1"/>
          </p:cNvSpPr>
          <p:nvPr>
            <p:ph type="title"/>
          </p:nvPr>
        </p:nvSpPr>
        <p:spPr>
          <a:xfrm>
            <a:off x="838200" y="365125"/>
            <a:ext cx="10515600" cy="1325563"/>
          </a:xfrm>
        </p:spPr>
        <p:txBody>
          <a:bodyPr anchor="ctr">
            <a:normAutofit/>
          </a:bodyPr>
          <a:lstStyle/>
          <a:p>
            <a:r>
              <a:rPr lang="en-MY" b="1" dirty="0">
                <a:solidFill>
                  <a:schemeClr val="accent2"/>
                </a:solidFill>
              </a:rPr>
              <a:t>Structured Query Language</a:t>
            </a:r>
            <a:endParaRPr lang="en-US" b="1" dirty="0">
              <a:solidFill>
                <a:schemeClr val="accent2"/>
              </a:solidFill>
            </a:endParaRPr>
          </a:p>
        </p:txBody>
      </p:sp>
      <p:graphicFrame>
        <p:nvGraphicFramePr>
          <p:cNvPr id="8" name="Content Placeholder 2">
            <a:extLst>
              <a:ext uri="{FF2B5EF4-FFF2-40B4-BE49-F238E27FC236}">
                <a16:creationId xmlns:a16="http://schemas.microsoft.com/office/drawing/2014/main" id="{13BED2FD-C5C0-A485-57C1-072E49208F66}"/>
              </a:ext>
            </a:extLst>
          </p:cNvPr>
          <p:cNvGraphicFramePr>
            <a:graphicFrameLocks noGrp="1"/>
          </p:cNvGraphicFramePr>
          <p:nvPr>
            <p:ph idx="1"/>
            <p:extLst>
              <p:ext uri="{D42A27DB-BD31-4B8C-83A1-F6EECF244321}">
                <p14:modId xmlns:p14="http://schemas.microsoft.com/office/powerpoint/2010/main" val="105982442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lide Number Placeholder 5" hidden="1">
            <a:extLst>
              <a:ext uri="{FF2B5EF4-FFF2-40B4-BE49-F238E27FC236}">
                <a16:creationId xmlns:a16="http://schemas.microsoft.com/office/drawing/2014/main" id="{3DA1397E-388C-445D-A8E0-8AC10F80877A}"/>
              </a:ext>
            </a:extLst>
          </p:cNvPr>
          <p:cNvSpPr>
            <a:spLocks noGrp="1"/>
          </p:cNvSpPr>
          <p:nvPr>
            <p:ph type="sldNum" sz="quarter" idx="12"/>
          </p:nvPr>
        </p:nvSpPr>
        <p:spPr/>
        <p:txBody>
          <a:bodyPr/>
          <a:lstStyle/>
          <a:p>
            <a:pPr>
              <a:spcAft>
                <a:spcPts val="600"/>
              </a:spcAft>
              <a:defRPr/>
            </a:pPr>
            <a:fld id="{4AEEF2DB-3D68-4EFF-B92B-90C34555BE45}" type="slidenum">
              <a:rPr lang="en-US" smtClean="0"/>
              <a:pPr>
                <a:spcAft>
                  <a:spcPts val="600"/>
                </a:spcAft>
                <a:defRPr/>
              </a:pPr>
              <a:t>5</a:t>
            </a:fld>
            <a:endParaRPr lang="en-US"/>
          </a:p>
        </p:txBody>
      </p:sp>
      <p:sp>
        <p:nvSpPr>
          <p:cNvPr id="9" name="Slide Number Placeholder 5">
            <a:extLst>
              <a:ext uri="{FF2B5EF4-FFF2-40B4-BE49-F238E27FC236}">
                <a16:creationId xmlns:a16="http://schemas.microsoft.com/office/drawing/2014/main" id="{AEB7042B-B5E4-F250-0462-ECADF678D70B}"/>
              </a:ext>
            </a:extLst>
          </p:cNvPr>
          <p:cNvSpPr txBox="1">
            <a:spLocks/>
          </p:cNvSpPr>
          <p:nvPr/>
        </p:nvSpPr>
        <p:spPr>
          <a:xfrm>
            <a:off x="8745416" y="631190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AEEF2DB-3D68-4EFF-B92B-90C34555BE45}" type="slidenum">
              <a:rPr lang="en-US" smtClean="0"/>
              <a:pPr>
                <a:defRPr/>
              </a:pPr>
              <a:t>5</a:t>
            </a:fld>
            <a:endParaRPr lang="en-US" dirty="0"/>
          </a:p>
        </p:txBody>
      </p:sp>
    </p:spTree>
    <p:extLst>
      <p:ext uri="{BB962C8B-B14F-4D97-AF65-F5344CB8AC3E}">
        <p14:creationId xmlns:p14="http://schemas.microsoft.com/office/powerpoint/2010/main" val="1252852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94A5A-7CBB-476F-8D36-A3A6034B89CF}"/>
              </a:ext>
            </a:extLst>
          </p:cNvPr>
          <p:cNvSpPr>
            <a:spLocks noGrp="1"/>
          </p:cNvSpPr>
          <p:nvPr>
            <p:ph type="title"/>
          </p:nvPr>
        </p:nvSpPr>
        <p:spPr/>
        <p:txBody>
          <a:bodyPr/>
          <a:lstStyle/>
          <a:p>
            <a:r>
              <a:rPr lang="en-MY" b="1" dirty="0">
                <a:solidFill>
                  <a:schemeClr val="accent2"/>
                </a:solidFill>
              </a:rPr>
              <a:t>Data Definition Language (DDL)</a:t>
            </a:r>
            <a:endParaRPr lang="en-US" b="1" dirty="0">
              <a:solidFill>
                <a:schemeClr val="accent2"/>
              </a:solidFill>
            </a:endParaRPr>
          </a:p>
        </p:txBody>
      </p:sp>
      <p:sp>
        <p:nvSpPr>
          <p:cNvPr id="3" name="Content Placeholder 2">
            <a:extLst>
              <a:ext uri="{FF2B5EF4-FFF2-40B4-BE49-F238E27FC236}">
                <a16:creationId xmlns:a16="http://schemas.microsoft.com/office/drawing/2014/main" id="{DFE7D706-05BD-4F0C-A89F-96C56900D52E}"/>
              </a:ext>
            </a:extLst>
          </p:cNvPr>
          <p:cNvSpPr>
            <a:spLocks noGrp="1"/>
          </p:cNvSpPr>
          <p:nvPr>
            <p:ph idx="1"/>
          </p:nvPr>
        </p:nvSpPr>
        <p:spPr/>
        <p:txBody>
          <a:bodyPr/>
          <a:lstStyle/>
          <a:p>
            <a:r>
              <a:rPr lang="en-MY" dirty="0"/>
              <a:t>Definition:</a:t>
            </a:r>
          </a:p>
          <a:p>
            <a:pPr lvl="1"/>
            <a:r>
              <a:rPr lang="en-MY" dirty="0"/>
              <a:t>A language that allows DBA or user to </a:t>
            </a:r>
            <a:r>
              <a:rPr lang="en-MY" b="1" dirty="0">
                <a:solidFill>
                  <a:srgbClr val="0070C0"/>
                </a:solidFill>
              </a:rPr>
              <a:t>describe</a:t>
            </a:r>
            <a:r>
              <a:rPr lang="en-MY" dirty="0"/>
              <a:t> and </a:t>
            </a:r>
            <a:r>
              <a:rPr lang="en-MY" b="1" dirty="0">
                <a:solidFill>
                  <a:srgbClr val="0070C0"/>
                </a:solidFill>
              </a:rPr>
              <a:t>name</a:t>
            </a:r>
            <a:r>
              <a:rPr lang="en-MY" dirty="0"/>
              <a:t> the entities, attributes, and relationships required for the application, together with any associated </a:t>
            </a:r>
            <a:r>
              <a:rPr lang="en-MY" b="1" dirty="0">
                <a:solidFill>
                  <a:srgbClr val="0070C0"/>
                </a:solidFill>
              </a:rPr>
              <a:t>integrity</a:t>
            </a:r>
            <a:r>
              <a:rPr lang="en-MY" dirty="0"/>
              <a:t> and </a:t>
            </a:r>
            <a:r>
              <a:rPr lang="en-MY" b="1" dirty="0">
                <a:solidFill>
                  <a:srgbClr val="0070C0"/>
                </a:solidFill>
              </a:rPr>
              <a:t>security</a:t>
            </a:r>
            <a:r>
              <a:rPr lang="en-MY" dirty="0"/>
              <a:t> constraints.</a:t>
            </a:r>
          </a:p>
          <a:p>
            <a:r>
              <a:rPr lang="en-US" dirty="0"/>
              <a:t>DDL allows database objects (schemas, domains, tables, views, etc) to be </a:t>
            </a:r>
            <a:r>
              <a:rPr lang="en-US" b="1" dirty="0">
                <a:solidFill>
                  <a:srgbClr val="C00000"/>
                </a:solidFill>
              </a:rPr>
              <a:t>created</a:t>
            </a:r>
            <a:r>
              <a:rPr lang="en-US" dirty="0"/>
              <a:t>, </a:t>
            </a:r>
            <a:r>
              <a:rPr lang="en-US" b="1" dirty="0">
                <a:solidFill>
                  <a:srgbClr val="C00000"/>
                </a:solidFill>
              </a:rPr>
              <a:t>modified</a:t>
            </a:r>
            <a:r>
              <a:rPr lang="en-US" dirty="0"/>
              <a:t> or </a:t>
            </a:r>
            <a:r>
              <a:rPr lang="en-US" b="1" dirty="0">
                <a:solidFill>
                  <a:srgbClr val="C00000"/>
                </a:solidFill>
              </a:rPr>
              <a:t>deleted</a:t>
            </a:r>
            <a:r>
              <a:rPr lang="en-US" dirty="0"/>
              <a:t>. Examples of DDL statements:</a:t>
            </a:r>
          </a:p>
          <a:p>
            <a:pPr lvl="1"/>
            <a:r>
              <a:rPr lang="en-US" dirty="0"/>
              <a:t>CREATE SCHEMA …	DROP SCHEMA …</a:t>
            </a:r>
          </a:p>
          <a:p>
            <a:pPr lvl="1"/>
            <a:r>
              <a:rPr lang="en-US" dirty="0"/>
              <a:t>CREATE TABLE …		DROP TABLE …</a:t>
            </a:r>
          </a:p>
          <a:p>
            <a:pPr lvl="1"/>
            <a:r>
              <a:rPr lang="en-US" dirty="0"/>
              <a:t>ALTER TABLE …</a:t>
            </a:r>
          </a:p>
        </p:txBody>
      </p:sp>
      <p:sp>
        <p:nvSpPr>
          <p:cNvPr id="6" name="Slide Number Placeholder 5">
            <a:extLst>
              <a:ext uri="{FF2B5EF4-FFF2-40B4-BE49-F238E27FC236}">
                <a16:creationId xmlns:a16="http://schemas.microsoft.com/office/drawing/2014/main" id="{FD2A6FDF-877B-4619-99F2-D72116DFA720}"/>
              </a:ext>
            </a:extLst>
          </p:cNvPr>
          <p:cNvSpPr>
            <a:spLocks noGrp="1"/>
          </p:cNvSpPr>
          <p:nvPr>
            <p:ph type="sldNum" sz="quarter" idx="12"/>
          </p:nvPr>
        </p:nvSpPr>
        <p:spPr/>
        <p:txBody>
          <a:bodyPr/>
          <a:lstStyle/>
          <a:p>
            <a:pPr>
              <a:defRPr/>
            </a:pPr>
            <a:fld id="{4AEEF2DB-3D68-4EFF-B92B-90C34555BE45}" type="slidenum">
              <a:rPr lang="en-US" smtClean="0"/>
              <a:pPr>
                <a:defRPr/>
              </a:pPr>
              <a:t>6</a:t>
            </a:fld>
            <a:endParaRPr lang="en-US" dirty="0"/>
          </a:p>
        </p:txBody>
      </p:sp>
    </p:spTree>
    <p:extLst>
      <p:ext uri="{BB962C8B-B14F-4D97-AF65-F5344CB8AC3E}">
        <p14:creationId xmlns:p14="http://schemas.microsoft.com/office/powerpoint/2010/main" val="3166266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F8637-9E10-40AB-B05F-0C4A4B452D64}"/>
              </a:ext>
            </a:extLst>
          </p:cNvPr>
          <p:cNvSpPr>
            <a:spLocks noGrp="1"/>
          </p:cNvSpPr>
          <p:nvPr>
            <p:ph type="title"/>
          </p:nvPr>
        </p:nvSpPr>
        <p:spPr/>
        <p:txBody>
          <a:bodyPr/>
          <a:lstStyle/>
          <a:p>
            <a:r>
              <a:rPr lang="en-MY" b="1" dirty="0">
                <a:solidFill>
                  <a:schemeClr val="accent2"/>
                </a:solidFill>
              </a:rPr>
              <a:t>Integrity Enhancement Feature</a:t>
            </a:r>
          </a:p>
        </p:txBody>
      </p:sp>
      <p:sp>
        <p:nvSpPr>
          <p:cNvPr id="3" name="Content Placeholder 2">
            <a:extLst>
              <a:ext uri="{FF2B5EF4-FFF2-40B4-BE49-F238E27FC236}">
                <a16:creationId xmlns:a16="http://schemas.microsoft.com/office/drawing/2014/main" id="{88BAC970-096B-448D-9A00-D3A4B987C165}"/>
              </a:ext>
            </a:extLst>
          </p:cNvPr>
          <p:cNvSpPr>
            <a:spLocks noGrp="1"/>
          </p:cNvSpPr>
          <p:nvPr>
            <p:ph idx="1"/>
          </p:nvPr>
        </p:nvSpPr>
        <p:spPr/>
        <p:txBody>
          <a:bodyPr>
            <a:normAutofit lnSpcReduction="10000"/>
          </a:bodyPr>
          <a:lstStyle/>
          <a:p>
            <a:r>
              <a:rPr lang="en-MY" dirty="0"/>
              <a:t>SQL provides some facilities for integrity control to protect the database from becoming inconsistent.</a:t>
            </a:r>
          </a:p>
          <a:p>
            <a:pPr lvl="1"/>
            <a:r>
              <a:rPr lang="en-MY" dirty="0"/>
              <a:t>Required Data</a:t>
            </a:r>
          </a:p>
          <a:p>
            <a:pPr lvl="2"/>
            <a:r>
              <a:rPr lang="en-MY" dirty="0"/>
              <a:t>Using the </a:t>
            </a:r>
            <a:r>
              <a:rPr lang="en-MY" b="1" dirty="0">
                <a:solidFill>
                  <a:schemeClr val="accent2"/>
                </a:solidFill>
              </a:rPr>
              <a:t>NOT NULL </a:t>
            </a:r>
            <a:r>
              <a:rPr lang="en-MY" dirty="0">
                <a:solidFill>
                  <a:schemeClr val="accent2"/>
                </a:solidFill>
              </a:rPr>
              <a:t> </a:t>
            </a:r>
            <a:r>
              <a:rPr lang="en-MY" dirty="0"/>
              <a:t>constraint for column to ensure the column must contain a valid value.</a:t>
            </a:r>
          </a:p>
          <a:p>
            <a:pPr lvl="1"/>
            <a:r>
              <a:rPr lang="en-MY" dirty="0"/>
              <a:t>Entity Integrity</a:t>
            </a:r>
          </a:p>
          <a:p>
            <a:pPr lvl="2"/>
            <a:r>
              <a:rPr lang="en-MY" dirty="0"/>
              <a:t>Using </a:t>
            </a:r>
            <a:r>
              <a:rPr lang="en-MY" b="1" dirty="0">
                <a:solidFill>
                  <a:schemeClr val="accent2"/>
                </a:solidFill>
              </a:rPr>
              <a:t>PRIMARY KEY </a:t>
            </a:r>
            <a:r>
              <a:rPr lang="en-MY" dirty="0"/>
              <a:t>constraint for a column with unique, non-null value. Only ONE primary key per table.</a:t>
            </a:r>
          </a:p>
          <a:p>
            <a:pPr lvl="2"/>
            <a:r>
              <a:rPr lang="en-MY" dirty="0"/>
              <a:t>Use </a:t>
            </a:r>
            <a:r>
              <a:rPr lang="en-MY" b="1" dirty="0">
                <a:solidFill>
                  <a:schemeClr val="accent2"/>
                </a:solidFill>
              </a:rPr>
              <a:t>UNIQUE</a:t>
            </a:r>
            <a:r>
              <a:rPr lang="en-MY" dirty="0"/>
              <a:t> constraint for column with unique values. Allow to be NULL but can assign to multiple columns.</a:t>
            </a:r>
          </a:p>
          <a:p>
            <a:pPr lvl="1"/>
            <a:r>
              <a:rPr lang="en-MY" dirty="0"/>
              <a:t>Referential Integrity</a:t>
            </a:r>
          </a:p>
          <a:p>
            <a:pPr lvl="2"/>
            <a:r>
              <a:rPr lang="en-MY" dirty="0"/>
              <a:t>Using </a:t>
            </a:r>
            <a:r>
              <a:rPr lang="en-MY" b="1" dirty="0">
                <a:solidFill>
                  <a:schemeClr val="accent2"/>
                </a:solidFill>
              </a:rPr>
              <a:t>FOREIGN KEY </a:t>
            </a:r>
            <a:r>
              <a:rPr lang="en-MY" dirty="0"/>
              <a:t>constraint to link to parent table that containing the matching attribute. A table can have multiple foreign keys.</a:t>
            </a:r>
          </a:p>
          <a:p>
            <a:endParaRPr lang="en-MY" dirty="0"/>
          </a:p>
        </p:txBody>
      </p:sp>
      <p:sp>
        <p:nvSpPr>
          <p:cNvPr id="5" name="Slide Number Placeholder 4">
            <a:extLst>
              <a:ext uri="{FF2B5EF4-FFF2-40B4-BE49-F238E27FC236}">
                <a16:creationId xmlns:a16="http://schemas.microsoft.com/office/drawing/2014/main" id="{0F33EAF1-21D7-4C9B-B27E-F533F9D6A93F}"/>
              </a:ext>
            </a:extLst>
          </p:cNvPr>
          <p:cNvSpPr>
            <a:spLocks noGrp="1"/>
          </p:cNvSpPr>
          <p:nvPr>
            <p:ph type="sldNum" sz="quarter" idx="12"/>
          </p:nvPr>
        </p:nvSpPr>
        <p:spPr/>
        <p:txBody>
          <a:bodyPr/>
          <a:lstStyle/>
          <a:p>
            <a:pPr>
              <a:defRPr/>
            </a:pPr>
            <a:fld id="{4AEEF2DB-3D68-4EFF-B92B-90C34555BE45}" type="slidenum">
              <a:rPr lang="en-US" smtClean="0"/>
              <a:pPr>
                <a:defRPr/>
              </a:pPr>
              <a:t>7</a:t>
            </a:fld>
            <a:endParaRPr lang="en-US" dirty="0"/>
          </a:p>
        </p:txBody>
      </p:sp>
    </p:spTree>
    <p:extLst>
      <p:ext uri="{BB962C8B-B14F-4D97-AF65-F5344CB8AC3E}">
        <p14:creationId xmlns:p14="http://schemas.microsoft.com/office/powerpoint/2010/main" val="3175661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9C998-50CD-865E-8A05-E27073AC85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A4582-9B2E-7A9B-4002-952C4AF5C491}"/>
              </a:ext>
            </a:extLst>
          </p:cNvPr>
          <p:cNvSpPr>
            <a:spLocks noGrp="1"/>
          </p:cNvSpPr>
          <p:nvPr>
            <p:ph type="title"/>
          </p:nvPr>
        </p:nvSpPr>
        <p:spPr/>
        <p:txBody>
          <a:bodyPr/>
          <a:lstStyle/>
          <a:p>
            <a:r>
              <a:rPr lang="en-MY" b="1" dirty="0">
                <a:solidFill>
                  <a:schemeClr val="accent2"/>
                </a:solidFill>
              </a:rPr>
              <a:t>Data Integrity Constraints</a:t>
            </a:r>
          </a:p>
        </p:txBody>
      </p:sp>
      <p:sp>
        <p:nvSpPr>
          <p:cNvPr id="6" name="Slide Number Placeholder 5">
            <a:extLst>
              <a:ext uri="{FF2B5EF4-FFF2-40B4-BE49-F238E27FC236}">
                <a16:creationId xmlns:a16="http://schemas.microsoft.com/office/drawing/2014/main" id="{7AD13B63-64A6-1FF5-2CAB-D8AC0BBE6FAD}"/>
              </a:ext>
            </a:extLst>
          </p:cNvPr>
          <p:cNvSpPr>
            <a:spLocks noGrp="1"/>
          </p:cNvSpPr>
          <p:nvPr>
            <p:ph type="sldNum" sz="quarter" idx="12"/>
          </p:nvPr>
        </p:nvSpPr>
        <p:spPr/>
        <p:txBody>
          <a:bodyPr/>
          <a:lstStyle/>
          <a:p>
            <a:pPr>
              <a:defRPr/>
            </a:pPr>
            <a:fld id="{4AEEF2DB-3D68-4EFF-B92B-90C34555BE45}" type="slidenum">
              <a:rPr lang="en-US" smtClean="0"/>
              <a:pPr>
                <a:defRPr/>
              </a:pPr>
              <a:t>8</a:t>
            </a:fld>
            <a:endParaRPr lang="en-US" dirty="0"/>
          </a:p>
        </p:txBody>
      </p:sp>
      <p:graphicFrame>
        <p:nvGraphicFramePr>
          <p:cNvPr id="4" name="Table 3">
            <a:extLst>
              <a:ext uri="{FF2B5EF4-FFF2-40B4-BE49-F238E27FC236}">
                <a16:creationId xmlns:a16="http://schemas.microsoft.com/office/drawing/2014/main" id="{3F9E96B5-9D62-6F79-9A2E-FBA95A2DE245}"/>
              </a:ext>
            </a:extLst>
          </p:cNvPr>
          <p:cNvGraphicFramePr>
            <a:graphicFrameLocks noGrp="1"/>
          </p:cNvGraphicFramePr>
          <p:nvPr>
            <p:extLst>
              <p:ext uri="{D42A27DB-BD31-4B8C-83A1-F6EECF244321}">
                <p14:modId xmlns:p14="http://schemas.microsoft.com/office/powerpoint/2010/main" val="2292115303"/>
              </p:ext>
            </p:extLst>
          </p:nvPr>
        </p:nvGraphicFramePr>
        <p:xfrm>
          <a:off x="1524488" y="1444503"/>
          <a:ext cx="9143024" cy="4817024"/>
        </p:xfrm>
        <a:graphic>
          <a:graphicData uri="http://schemas.openxmlformats.org/drawingml/2006/table">
            <a:tbl>
              <a:tblPr firstRow="1" bandRow="1">
                <a:tableStyleId>{5C22544A-7EE6-4342-B048-85BDC9FD1C3A}</a:tableStyleId>
              </a:tblPr>
              <a:tblGrid>
                <a:gridCol w="1759373">
                  <a:extLst>
                    <a:ext uri="{9D8B030D-6E8A-4147-A177-3AD203B41FA5}">
                      <a16:colId xmlns:a16="http://schemas.microsoft.com/office/drawing/2014/main" val="3899788219"/>
                    </a:ext>
                  </a:extLst>
                </a:gridCol>
                <a:gridCol w="7383651">
                  <a:extLst>
                    <a:ext uri="{9D8B030D-6E8A-4147-A177-3AD203B41FA5}">
                      <a16:colId xmlns:a16="http://schemas.microsoft.com/office/drawing/2014/main" val="3436774759"/>
                    </a:ext>
                  </a:extLst>
                </a:gridCol>
              </a:tblGrid>
              <a:tr h="504507">
                <a:tc>
                  <a:txBody>
                    <a:bodyPr/>
                    <a:lstStyle/>
                    <a:p>
                      <a:pPr algn="ctr"/>
                      <a:r>
                        <a:rPr lang="en-GB" sz="2400" dirty="0"/>
                        <a:t>Constraints</a:t>
                      </a:r>
                    </a:p>
                  </a:txBody>
                  <a:tcPr/>
                </a:tc>
                <a:tc>
                  <a:txBody>
                    <a:bodyPr/>
                    <a:lstStyle/>
                    <a:p>
                      <a:pPr algn="ctr"/>
                      <a:r>
                        <a:rPr lang="en-GB" sz="2400" dirty="0"/>
                        <a:t>Description</a:t>
                      </a:r>
                    </a:p>
                  </a:txBody>
                  <a:tcPr/>
                </a:tc>
                <a:extLst>
                  <a:ext uri="{0D108BD9-81ED-4DB2-BD59-A6C34878D82A}">
                    <a16:rowId xmlns:a16="http://schemas.microsoft.com/office/drawing/2014/main" val="1902594256"/>
                  </a:ext>
                </a:extLst>
              </a:tr>
              <a:tr h="504507">
                <a:tc>
                  <a:txBody>
                    <a:bodyPr/>
                    <a:lstStyle/>
                    <a:p>
                      <a:r>
                        <a:rPr lang="en-GB" sz="2400" b="1" dirty="0">
                          <a:solidFill>
                            <a:schemeClr val="accent1"/>
                          </a:solidFill>
                        </a:rPr>
                        <a:t>NOT NULL</a:t>
                      </a:r>
                    </a:p>
                  </a:txBody>
                  <a:tcPr/>
                </a:tc>
                <a:tc>
                  <a:txBody>
                    <a:bodyPr/>
                    <a:lstStyle/>
                    <a:p>
                      <a:r>
                        <a:rPr lang="en-GB" sz="2400" dirty="0"/>
                        <a:t>The column cannot contain a null value</a:t>
                      </a:r>
                    </a:p>
                  </a:txBody>
                  <a:tcPr/>
                </a:tc>
                <a:extLst>
                  <a:ext uri="{0D108BD9-81ED-4DB2-BD59-A6C34878D82A}">
                    <a16:rowId xmlns:a16="http://schemas.microsoft.com/office/drawing/2014/main" val="1583129690"/>
                  </a:ext>
                </a:extLst>
              </a:tr>
              <a:tr h="870793">
                <a:tc>
                  <a:txBody>
                    <a:bodyPr/>
                    <a:lstStyle/>
                    <a:p>
                      <a:r>
                        <a:rPr lang="en-GB" sz="2400" b="1" dirty="0">
                          <a:solidFill>
                            <a:schemeClr val="accent1"/>
                          </a:solidFill>
                        </a:rPr>
                        <a:t>UNIQUE</a:t>
                      </a:r>
                    </a:p>
                  </a:txBody>
                  <a:tcPr/>
                </a:tc>
                <a:tc>
                  <a:txBody>
                    <a:bodyPr/>
                    <a:lstStyle/>
                    <a:p>
                      <a:r>
                        <a:rPr lang="en-GB" sz="2400" dirty="0"/>
                        <a:t>The values for a column or a combination of columns must be unique for all rows in the table, allows NULL value</a:t>
                      </a:r>
                    </a:p>
                  </a:txBody>
                  <a:tcPr/>
                </a:tc>
                <a:extLst>
                  <a:ext uri="{0D108BD9-81ED-4DB2-BD59-A6C34878D82A}">
                    <a16:rowId xmlns:a16="http://schemas.microsoft.com/office/drawing/2014/main" val="3291305568"/>
                  </a:ext>
                </a:extLst>
              </a:tr>
              <a:tr h="870793">
                <a:tc>
                  <a:txBody>
                    <a:bodyPr/>
                    <a:lstStyle/>
                    <a:p>
                      <a:r>
                        <a:rPr lang="en-GB" sz="2400" b="1" dirty="0">
                          <a:solidFill>
                            <a:schemeClr val="accent1"/>
                          </a:solidFill>
                        </a:rPr>
                        <a:t>PRIMARY KEY</a:t>
                      </a:r>
                    </a:p>
                  </a:txBody>
                  <a:tcPr/>
                </a:tc>
                <a:tc>
                  <a:txBody>
                    <a:bodyPr/>
                    <a:lstStyle/>
                    <a:p>
                      <a:r>
                        <a:rPr lang="en-GB" sz="2400" dirty="0"/>
                        <a:t>The column (or a combination of columns) must contain the unique </a:t>
                      </a:r>
                      <a:r>
                        <a:rPr lang="en-GB" sz="2400" b="1" dirty="0">
                          <a:solidFill>
                            <a:schemeClr val="accent1"/>
                          </a:solidFill>
                        </a:rPr>
                        <a:t>AND IS NOT NULL </a:t>
                      </a:r>
                      <a:r>
                        <a:rPr lang="en-GB" sz="2400" dirty="0"/>
                        <a:t>value for all rows</a:t>
                      </a:r>
                    </a:p>
                  </a:txBody>
                  <a:tcPr/>
                </a:tc>
                <a:extLst>
                  <a:ext uri="{0D108BD9-81ED-4DB2-BD59-A6C34878D82A}">
                    <a16:rowId xmlns:a16="http://schemas.microsoft.com/office/drawing/2014/main" val="2128008547"/>
                  </a:ext>
                </a:extLst>
              </a:tr>
              <a:tr h="1243990">
                <a:tc>
                  <a:txBody>
                    <a:bodyPr/>
                    <a:lstStyle/>
                    <a:p>
                      <a:r>
                        <a:rPr lang="en-GB" sz="2400" b="1" dirty="0">
                          <a:solidFill>
                            <a:schemeClr val="accent1"/>
                          </a:solidFill>
                        </a:rPr>
                        <a:t>FOREIGN KEY</a:t>
                      </a:r>
                    </a:p>
                  </a:txBody>
                  <a:tcPr/>
                </a:tc>
                <a:tc>
                  <a:txBody>
                    <a:bodyPr/>
                    <a:lstStyle/>
                    <a:p>
                      <a:r>
                        <a:rPr lang="en-GB" sz="2400" dirty="0"/>
                        <a:t>The column (or a combination of columns) must establish and enforce a reference to a column or a combination of columns in another (or the same) table</a:t>
                      </a:r>
                    </a:p>
                  </a:txBody>
                  <a:tcPr/>
                </a:tc>
                <a:extLst>
                  <a:ext uri="{0D108BD9-81ED-4DB2-BD59-A6C34878D82A}">
                    <a16:rowId xmlns:a16="http://schemas.microsoft.com/office/drawing/2014/main" val="79127649"/>
                  </a:ext>
                </a:extLst>
              </a:tr>
              <a:tr h="504507">
                <a:tc>
                  <a:txBody>
                    <a:bodyPr/>
                    <a:lstStyle/>
                    <a:p>
                      <a:r>
                        <a:rPr lang="en-GB" sz="2400" b="1" dirty="0">
                          <a:solidFill>
                            <a:schemeClr val="accent1"/>
                          </a:solidFill>
                        </a:rPr>
                        <a:t>CHECK</a:t>
                      </a:r>
                    </a:p>
                  </a:txBody>
                  <a:tcPr/>
                </a:tc>
                <a:tc>
                  <a:txBody>
                    <a:bodyPr/>
                    <a:lstStyle/>
                    <a:p>
                      <a:r>
                        <a:rPr lang="en-GB" sz="2400" dirty="0"/>
                        <a:t>A condition must be true when the query is executed</a:t>
                      </a:r>
                    </a:p>
                  </a:txBody>
                  <a:tcPr/>
                </a:tc>
                <a:extLst>
                  <a:ext uri="{0D108BD9-81ED-4DB2-BD59-A6C34878D82A}">
                    <a16:rowId xmlns:a16="http://schemas.microsoft.com/office/drawing/2014/main" val="4084881230"/>
                  </a:ext>
                </a:extLst>
              </a:tr>
            </a:tbl>
          </a:graphicData>
        </a:graphic>
      </p:graphicFrame>
    </p:spTree>
    <p:extLst>
      <p:ext uri="{BB962C8B-B14F-4D97-AF65-F5344CB8AC3E}">
        <p14:creationId xmlns:p14="http://schemas.microsoft.com/office/powerpoint/2010/main" val="1625654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CC318-3382-9BE7-EF2C-24DBD67403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343B70-75D9-85FC-B654-B70699DC3135}"/>
              </a:ext>
            </a:extLst>
          </p:cNvPr>
          <p:cNvSpPr>
            <a:spLocks noGrp="1"/>
          </p:cNvSpPr>
          <p:nvPr>
            <p:ph type="title"/>
          </p:nvPr>
        </p:nvSpPr>
        <p:spPr/>
        <p:txBody>
          <a:bodyPr/>
          <a:lstStyle/>
          <a:p>
            <a:r>
              <a:rPr lang="en-MY" b="1" dirty="0">
                <a:solidFill>
                  <a:schemeClr val="accent2"/>
                </a:solidFill>
              </a:rPr>
              <a:t>Constraint Guidelines (1)</a:t>
            </a:r>
          </a:p>
        </p:txBody>
      </p:sp>
      <p:sp>
        <p:nvSpPr>
          <p:cNvPr id="3" name="Content Placeholder 2">
            <a:extLst>
              <a:ext uri="{FF2B5EF4-FFF2-40B4-BE49-F238E27FC236}">
                <a16:creationId xmlns:a16="http://schemas.microsoft.com/office/drawing/2014/main" id="{E9EA5AC0-B86A-79FC-D0C8-B360DB13AEC3}"/>
              </a:ext>
            </a:extLst>
          </p:cNvPr>
          <p:cNvSpPr>
            <a:spLocks noGrp="1"/>
          </p:cNvSpPr>
          <p:nvPr>
            <p:ph idx="1"/>
          </p:nvPr>
        </p:nvSpPr>
        <p:spPr/>
        <p:txBody>
          <a:bodyPr/>
          <a:lstStyle/>
          <a:p>
            <a:r>
              <a:rPr lang="en-MY" dirty="0"/>
              <a:t>Name a constraint (otherwise the mySQL server generates one)</a:t>
            </a:r>
          </a:p>
          <a:p>
            <a:r>
              <a:rPr lang="en-MY" dirty="0"/>
              <a:t>Constraints are easier to reference if given a meaningful name (e.g.: </a:t>
            </a:r>
            <a:r>
              <a:rPr lang="en-MY" i="1" dirty="0" err="1">
                <a:solidFill>
                  <a:schemeClr val="accent2"/>
                </a:solidFill>
              </a:rPr>
              <a:t>emp_deptNo</a:t>
            </a:r>
            <a:r>
              <a:rPr lang="en-MY" i="1" dirty="0">
                <a:solidFill>
                  <a:schemeClr val="accent2"/>
                </a:solidFill>
              </a:rPr>
              <a:t> </a:t>
            </a:r>
            <a:r>
              <a:rPr lang="en-MY" i="1" dirty="0" err="1">
                <a:solidFill>
                  <a:schemeClr val="accent2"/>
                </a:solidFill>
              </a:rPr>
              <a:t>fk</a:t>
            </a:r>
            <a:r>
              <a:rPr lang="en-MY" i="1" dirty="0">
                <a:solidFill>
                  <a:schemeClr val="accent2"/>
                </a:solidFill>
              </a:rPr>
              <a:t> </a:t>
            </a:r>
            <a:r>
              <a:rPr lang="en-MY" dirty="0"/>
              <a:t>or </a:t>
            </a:r>
            <a:r>
              <a:rPr lang="en-MY" i="1" dirty="0" err="1">
                <a:solidFill>
                  <a:schemeClr val="accent2"/>
                </a:solidFill>
              </a:rPr>
              <a:t>dept_deptNo</a:t>
            </a:r>
            <a:r>
              <a:rPr lang="en-MY" i="1" dirty="0">
                <a:solidFill>
                  <a:schemeClr val="accent2"/>
                </a:solidFill>
              </a:rPr>
              <a:t> pk</a:t>
            </a:r>
            <a:r>
              <a:rPr lang="en-MY" dirty="0"/>
              <a:t>)</a:t>
            </a:r>
          </a:p>
          <a:p>
            <a:r>
              <a:rPr lang="en-MY" dirty="0"/>
              <a:t>Create a constraint at either of the following times:</a:t>
            </a:r>
          </a:p>
          <a:p>
            <a:pPr lvl="1"/>
            <a:r>
              <a:rPr lang="en-MY" dirty="0"/>
              <a:t>At the same time as the creation of the table</a:t>
            </a:r>
          </a:p>
          <a:p>
            <a:pPr lvl="1"/>
            <a:r>
              <a:rPr lang="en-MY" dirty="0"/>
              <a:t>After the creation of the table</a:t>
            </a:r>
          </a:p>
          <a:p>
            <a:r>
              <a:rPr lang="en-MY" dirty="0"/>
              <a:t>Define a constraint at the column or table level</a:t>
            </a:r>
          </a:p>
          <a:p>
            <a:r>
              <a:rPr lang="en-MY" dirty="0"/>
              <a:t>View a constraint in the data dictionary</a:t>
            </a:r>
          </a:p>
        </p:txBody>
      </p:sp>
      <p:sp>
        <p:nvSpPr>
          <p:cNvPr id="6" name="Slide Number Placeholder 5">
            <a:extLst>
              <a:ext uri="{FF2B5EF4-FFF2-40B4-BE49-F238E27FC236}">
                <a16:creationId xmlns:a16="http://schemas.microsoft.com/office/drawing/2014/main" id="{E6B328C3-FC6C-5C4F-C085-E32FC4AE9ED7}"/>
              </a:ext>
            </a:extLst>
          </p:cNvPr>
          <p:cNvSpPr>
            <a:spLocks noGrp="1"/>
          </p:cNvSpPr>
          <p:nvPr>
            <p:ph type="sldNum" sz="quarter" idx="12"/>
          </p:nvPr>
        </p:nvSpPr>
        <p:spPr/>
        <p:txBody>
          <a:bodyPr/>
          <a:lstStyle/>
          <a:p>
            <a:pPr>
              <a:defRPr/>
            </a:pPr>
            <a:fld id="{4AEEF2DB-3D68-4EFF-B92B-90C34555BE45}" type="slidenum">
              <a:rPr lang="en-US" smtClean="0"/>
              <a:pPr>
                <a:defRPr/>
              </a:pPr>
              <a:t>9</a:t>
            </a:fld>
            <a:endParaRPr lang="en-US" dirty="0"/>
          </a:p>
        </p:txBody>
      </p:sp>
    </p:spTree>
    <p:extLst>
      <p:ext uri="{BB962C8B-B14F-4D97-AF65-F5344CB8AC3E}">
        <p14:creationId xmlns:p14="http://schemas.microsoft.com/office/powerpoint/2010/main" val="555406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EBAF-BC78-51F8-DD6D-939F138F5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6A12D-B720-B92F-0AEF-F79338145E4D}"/>
              </a:ext>
            </a:extLst>
          </p:cNvPr>
          <p:cNvSpPr>
            <a:spLocks noGrp="1"/>
          </p:cNvSpPr>
          <p:nvPr>
            <p:ph type="title"/>
          </p:nvPr>
        </p:nvSpPr>
        <p:spPr/>
        <p:txBody>
          <a:bodyPr/>
          <a:lstStyle/>
          <a:p>
            <a:r>
              <a:rPr lang="en-MY" b="1" dirty="0">
                <a:solidFill>
                  <a:schemeClr val="accent2"/>
                </a:solidFill>
              </a:rPr>
              <a:t>Constraint Guidelines (2)</a:t>
            </a:r>
          </a:p>
        </p:txBody>
      </p:sp>
      <p:sp>
        <p:nvSpPr>
          <p:cNvPr id="3" name="Content Placeholder 2">
            <a:extLst>
              <a:ext uri="{FF2B5EF4-FFF2-40B4-BE49-F238E27FC236}">
                <a16:creationId xmlns:a16="http://schemas.microsoft.com/office/drawing/2014/main" id="{71B463E0-04AD-2A0F-84A9-36EF90885B10}"/>
              </a:ext>
            </a:extLst>
          </p:cNvPr>
          <p:cNvSpPr>
            <a:spLocks noGrp="1"/>
          </p:cNvSpPr>
          <p:nvPr>
            <p:ph idx="1"/>
          </p:nvPr>
        </p:nvSpPr>
        <p:spPr>
          <a:xfrm>
            <a:off x="838200" y="1456348"/>
            <a:ext cx="10515600" cy="4777398"/>
          </a:xfrm>
        </p:spPr>
        <p:txBody>
          <a:bodyPr>
            <a:normAutofit/>
          </a:bodyPr>
          <a:lstStyle/>
          <a:p>
            <a:r>
              <a:rPr lang="en-MY" dirty="0"/>
              <a:t>Column-level constraints are included when the column is defined</a:t>
            </a:r>
          </a:p>
          <a:p>
            <a:r>
              <a:rPr lang="en-MY" dirty="0"/>
              <a:t>Table-level constraints are defined at the end of the table definition, and must refer to the column or columns on which the constraints pertains</a:t>
            </a:r>
          </a:p>
          <a:p>
            <a:r>
              <a:rPr lang="en-MY" dirty="0"/>
              <a:t>Functionally, a column-level constraint is the same as a table-level constraint</a:t>
            </a:r>
          </a:p>
          <a:p>
            <a:r>
              <a:rPr lang="en-MY" b="1" dirty="0">
                <a:solidFill>
                  <a:schemeClr val="accent2"/>
                </a:solidFill>
              </a:rPr>
              <a:t>NOT NULL </a:t>
            </a:r>
            <a:r>
              <a:rPr lang="en-MY" dirty="0"/>
              <a:t>constraints can be defined only at the column level</a:t>
            </a:r>
          </a:p>
          <a:p>
            <a:r>
              <a:rPr lang="en-MY" dirty="0"/>
              <a:t>Constraints that apply to more than one column must be defined at the table level</a:t>
            </a:r>
          </a:p>
        </p:txBody>
      </p:sp>
      <p:sp>
        <p:nvSpPr>
          <p:cNvPr id="6" name="Slide Number Placeholder 5">
            <a:extLst>
              <a:ext uri="{FF2B5EF4-FFF2-40B4-BE49-F238E27FC236}">
                <a16:creationId xmlns:a16="http://schemas.microsoft.com/office/drawing/2014/main" id="{4A2B38BD-2711-BFC3-E55A-6D311B39FBCE}"/>
              </a:ext>
            </a:extLst>
          </p:cNvPr>
          <p:cNvSpPr>
            <a:spLocks noGrp="1"/>
          </p:cNvSpPr>
          <p:nvPr>
            <p:ph type="sldNum" sz="quarter" idx="12"/>
          </p:nvPr>
        </p:nvSpPr>
        <p:spPr/>
        <p:txBody>
          <a:bodyPr/>
          <a:lstStyle/>
          <a:p>
            <a:pPr>
              <a:defRPr/>
            </a:pPr>
            <a:fld id="{4AEEF2DB-3D68-4EFF-B92B-90C34555BE45}" type="slidenum">
              <a:rPr lang="en-US" smtClean="0"/>
              <a:pPr>
                <a:defRPr/>
              </a:pPr>
              <a:t>10</a:t>
            </a:fld>
            <a:endParaRPr lang="en-US" dirty="0"/>
          </a:p>
        </p:txBody>
      </p:sp>
    </p:spTree>
    <p:extLst>
      <p:ext uri="{BB962C8B-B14F-4D97-AF65-F5344CB8AC3E}">
        <p14:creationId xmlns:p14="http://schemas.microsoft.com/office/powerpoint/2010/main" val="2368318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01564-B5A5-4BF0-923B-142DDE1764A7}"/>
              </a:ext>
            </a:extLst>
          </p:cNvPr>
          <p:cNvSpPr>
            <a:spLocks noGrp="1"/>
          </p:cNvSpPr>
          <p:nvPr>
            <p:ph type="title"/>
          </p:nvPr>
        </p:nvSpPr>
        <p:spPr/>
        <p:txBody>
          <a:bodyPr/>
          <a:lstStyle/>
          <a:p>
            <a:r>
              <a:rPr lang="en-MY" b="1" dirty="0">
                <a:solidFill>
                  <a:schemeClr val="accent2"/>
                </a:solidFill>
              </a:rPr>
              <a:t>Dealing with Tables</a:t>
            </a:r>
          </a:p>
        </p:txBody>
      </p:sp>
      <p:sp>
        <p:nvSpPr>
          <p:cNvPr id="3" name="Content Placeholder 2">
            <a:extLst>
              <a:ext uri="{FF2B5EF4-FFF2-40B4-BE49-F238E27FC236}">
                <a16:creationId xmlns:a16="http://schemas.microsoft.com/office/drawing/2014/main" id="{631EB835-E2CA-4B97-BDC5-C20F9C5C56FB}"/>
              </a:ext>
            </a:extLst>
          </p:cNvPr>
          <p:cNvSpPr>
            <a:spLocks noGrp="1"/>
          </p:cNvSpPr>
          <p:nvPr>
            <p:ph idx="1"/>
          </p:nvPr>
        </p:nvSpPr>
        <p:spPr/>
        <p:txBody>
          <a:bodyPr/>
          <a:lstStyle/>
          <a:p>
            <a:r>
              <a:rPr lang="en-MY" dirty="0"/>
              <a:t>Define database structure and control access to data</a:t>
            </a:r>
          </a:p>
          <a:p>
            <a:pPr marL="514350" indent="-514350">
              <a:buFont typeface="+mj-lt"/>
              <a:buAutoNum type="arabicPeriod"/>
            </a:pPr>
            <a:r>
              <a:rPr lang="en-MY" b="1" dirty="0">
                <a:solidFill>
                  <a:srgbClr val="0070C0"/>
                </a:solidFill>
              </a:rPr>
              <a:t>CREATE TABLE</a:t>
            </a:r>
            <a:r>
              <a:rPr lang="en-MY" dirty="0"/>
              <a:t>: </a:t>
            </a:r>
          </a:p>
          <a:p>
            <a:pPr lvl="1"/>
            <a:r>
              <a:rPr lang="en-MY" dirty="0"/>
              <a:t>to create table.</a:t>
            </a:r>
          </a:p>
          <a:p>
            <a:pPr marL="514350" indent="-514350">
              <a:buFont typeface="+mj-lt"/>
              <a:buAutoNum type="arabicPeriod"/>
            </a:pPr>
            <a:r>
              <a:rPr lang="en-MY" b="1" dirty="0">
                <a:solidFill>
                  <a:srgbClr val="0070C0"/>
                </a:solidFill>
              </a:rPr>
              <a:t>ALTER TABLE</a:t>
            </a:r>
            <a:r>
              <a:rPr lang="en-MY" dirty="0"/>
              <a:t>: </a:t>
            </a:r>
          </a:p>
          <a:p>
            <a:pPr lvl="1"/>
            <a:r>
              <a:rPr lang="en-MY" dirty="0"/>
              <a:t>to modify the structure of the existing tables.</a:t>
            </a:r>
          </a:p>
          <a:p>
            <a:pPr marL="514350" indent="-514350">
              <a:buFont typeface="+mj-lt"/>
              <a:buAutoNum type="arabicPeriod"/>
            </a:pPr>
            <a:r>
              <a:rPr lang="en-MY" b="1" dirty="0">
                <a:solidFill>
                  <a:srgbClr val="0070C0"/>
                </a:solidFill>
              </a:rPr>
              <a:t>DROP TABLE</a:t>
            </a:r>
            <a:r>
              <a:rPr lang="en-MY" dirty="0"/>
              <a:t>: </a:t>
            </a:r>
          </a:p>
          <a:p>
            <a:pPr lvl="1"/>
            <a:r>
              <a:rPr lang="en-MY" dirty="0"/>
              <a:t>to delete the existing tables.</a:t>
            </a:r>
          </a:p>
          <a:p>
            <a:endParaRPr lang="en-MY" dirty="0"/>
          </a:p>
        </p:txBody>
      </p:sp>
      <p:sp>
        <p:nvSpPr>
          <p:cNvPr id="6" name="Slide Number Placeholder 5">
            <a:extLst>
              <a:ext uri="{FF2B5EF4-FFF2-40B4-BE49-F238E27FC236}">
                <a16:creationId xmlns:a16="http://schemas.microsoft.com/office/drawing/2014/main" id="{F3D332F8-2FAB-4EA9-B0B5-1C6AD1A9E2F7}"/>
              </a:ext>
            </a:extLst>
          </p:cNvPr>
          <p:cNvSpPr>
            <a:spLocks noGrp="1"/>
          </p:cNvSpPr>
          <p:nvPr>
            <p:ph type="sldNum" sz="quarter" idx="12"/>
          </p:nvPr>
        </p:nvSpPr>
        <p:spPr/>
        <p:txBody>
          <a:bodyPr/>
          <a:lstStyle/>
          <a:p>
            <a:pPr>
              <a:defRPr/>
            </a:pPr>
            <a:fld id="{4AEEF2DB-3D68-4EFF-B92B-90C34555BE45}" type="slidenum">
              <a:rPr lang="en-US" smtClean="0"/>
              <a:pPr>
                <a:defRPr/>
              </a:pPr>
              <a:t>11</a:t>
            </a:fld>
            <a:endParaRPr lang="en-US" dirty="0"/>
          </a:p>
        </p:txBody>
      </p:sp>
    </p:spTree>
    <p:extLst>
      <p:ext uri="{BB962C8B-B14F-4D97-AF65-F5344CB8AC3E}">
        <p14:creationId xmlns:p14="http://schemas.microsoft.com/office/powerpoint/2010/main" val="3439298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80E3A-9EBE-4246-A585-6B07BC6C0838}"/>
              </a:ext>
            </a:extLst>
          </p:cNvPr>
          <p:cNvSpPr>
            <a:spLocks noGrp="1"/>
          </p:cNvSpPr>
          <p:nvPr>
            <p:ph type="title"/>
          </p:nvPr>
        </p:nvSpPr>
        <p:spPr/>
        <p:txBody>
          <a:bodyPr/>
          <a:lstStyle/>
          <a:p>
            <a:r>
              <a:rPr lang="en-MY" b="1" dirty="0">
                <a:solidFill>
                  <a:schemeClr val="accent2"/>
                </a:solidFill>
              </a:rPr>
              <a:t>Creating Tables</a:t>
            </a:r>
          </a:p>
        </p:txBody>
      </p:sp>
      <p:sp>
        <p:nvSpPr>
          <p:cNvPr id="3" name="Content Placeholder 2">
            <a:extLst>
              <a:ext uri="{FF2B5EF4-FFF2-40B4-BE49-F238E27FC236}">
                <a16:creationId xmlns:a16="http://schemas.microsoft.com/office/drawing/2014/main" id="{7802EAB0-A82B-4D88-A583-2F9A7731EED7}"/>
              </a:ext>
            </a:extLst>
          </p:cNvPr>
          <p:cNvSpPr>
            <a:spLocks noGrp="1"/>
          </p:cNvSpPr>
          <p:nvPr>
            <p:ph idx="1"/>
          </p:nvPr>
        </p:nvSpPr>
        <p:spPr>
          <a:xfrm>
            <a:off x="838200" y="1450731"/>
            <a:ext cx="10591800" cy="4726232"/>
          </a:xfrm>
        </p:spPr>
        <p:txBody>
          <a:bodyPr/>
          <a:lstStyle/>
          <a:p>
            <a:r>
              <a:rPr lang="en-MY" dirty="0"/>
              <a:t>General SQL syntax for creating a table:</a:t>
            </a:r>
          </a:p>
          <a:p>
            <a:endParaRPr lang="en-MY" dirty="0"/>
          </a:p>
          <a:p>
            <a:endParaRPr lang="en-MY" dirty="0"/>
          </a:p>
        </p:txBody>
      </p:sp>
      <p:sp>
        <p:nvSpPr>
          <p:cNvPr id="6" name="Slide Number Placeholder 5">
            <a:extLst>
              <a:ext uri="{FF2B5EF4-FFF2-40B4-BE49-F238E27FC236}">
                <a16:creationId xmlns:a16="http://schemas.microsoft.com/office/drawing/2014/main" id="{3788D78F-B497-4CAE-BA52-02CCE57C5743}"/>
              </a:ext>
            </a:extLst>
          </p:cNvPr>
          <p:cNvSpPr>
            <a:spLocks noGrp="1"/>
          </p:cNvSpPr>
          <p:nvPr>
            <p:ph type="sldNum" sz="quarter" idx="12"/>
          </p:nvPr>
        </p:nvSpPr>
        <p:spPr/>
        <p:txBody>
          <a:bodyPr/>
          <a:lstStyle/>
          <a:p>
            <a:pPr>
              <a:defRPr/>
            </a:pPr>
            <a:fld id="{4AEEF2DB-3D68-4EFF-B92B-90C34555BE45}" type="slidenum">
              <a:rPr lang="en-US" smtClean="0"/>
              <a:pPr>
                <a:defRPr/>
              </a:pPr>
              <a:t>12</a:t>
            </a:fld>
            <a:endParaRPr lang="en-US" dirty="0"/>
          </a:p>
        </p:txBody>
      </p:sp>
      <p:pic>
        <p:nvPicPr>
          <p:cNvPr id="8" name="Picture 7">
            <a:extLst>
              <a:ext uri="{FF2B5EF4-FFF2-40B4-BE49-F238E27FC236}">
                <a16:creationId xmlns:a16="http://schemas.microsoft.com/office/drawing/2014/main" id="{9CF8D43C-EF4A-40B2-8FC5-C545B51821D1}"/>
              </a:ext>
            </a:extLst>
          </p:cNvPr>
          <p:cNvPicPr>
            <a:picLocks noChangeAspect="1"/>
          </p:cNvPicPr>
          <p:nvPr/>
        </p:nvPicPr>
        <p:blipFill>
          <a:blip r:embed="rId2"/>
          <a:stretch>
            <a:fillRect/>
          </a:stretch>
        </p:blipFill>
        <p:spPr>
          <a:xfrm>
            <a:off x="2131137" y="2062022"/>
            <a:ext cx="8005926" cy="3503650"/>
          </a:xfrm>
          <a:prstGeom prst="rect">
            <a:avLst/>
          </a:prstGeom>
          <a:ln>
            <a:solidFill>
              <a:schemeClr val="bg1">
                <a:lumMod val="85000"/>
              </a:schemeClr>
            </a:solidFill>
          </a:ln>
          <a:effectLst>
            <a:outerShdw blurRad="50800" dist="38100" dir="5400000" algn="t" rotWithShape="0">
              <a:prstClr val="black">
                <a:alpha val="40000"/>
              </a:prstClr>
            </a:outerShdw>
          </a:effectLst>
        </p:spPr>
      </p:pic>
      <p:sp>
        <p:nvSpPr>
          <p:cNvPr id="9" name="Rectangle 8">
            <a:extLst>
              <a:ext uri="{FF2B5EF4-FFF2-40B4-BE49-F238E27FC236}">
                <a16:creationId xmlns:a16="http://schemas.microsoft.com/office/drawing/2014/main" id="{4246BF65-171F-4D06-A453-CC8AF6611BB7}"/>
              </a:ext>
            </a:extLst>
          </p:cNvPr>
          <p:cNvSpPr/>
          <p:nvPr/>
        </p:nvSpPr>
        <p:spPr>
          <a:xfrm>
            <a:off x="7622584" y="5662405"/>
            <a:ext cx="2162086" cy="26161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chemeClr val="bg1"/>
                </a:solidFill>
                <a:effectLst>
                  <a:outerShdw blurRad="38100" dist="38100" dir="2700000" algn="tl">
                    <a:srgbClr val="000000">
                      <a:alpha val="43137"/>
                    </a:srgbClr>
                  </a:outerShdw>
                </a:effectLst>
              </a:rPr>
              <a:t>[ ] : optional</a:t>
            </a:r>
          </a:p>
        </p:txBody>
      </p:sp>
      <p:sp>
        <p:nvSpPr>
          <p:cNvPr id="12" name="TextBox 11">
            <a:extLst>
              <a:ext uri="{FF2B5EF4-FFF2-40B4-BE49-F238E27FC236}">
                <a16:creationId xmlns:a16="http://schemas.microsoft.com/office/drawing/2014/main" id="{9EFC5B32-A997-4C72-8D37-9AF2E885C458}"/>
              </a:ext>
            </a:extLst>
          </p:cNvPr>
          <p:cNvSpPr txBox="1"/>
          <p:nvPr/>
        </p:nvSpPr>
        <p:spPr>
          <a:xfrm>
            <a:off x="2382352" y="5584173"/>
            <a:ext cx="1845955" cy="307777"/>
          </a:xfrm>
          <a:prstGeom prst="rect">
            <a:avLst/>
          </a:prstGeom>
          <a:noFill/>
        </p:spPr>
        <p:txBody>
          <a:bodyPr wrap="none" rtlCol="0">
            <a:spAutoFit/>
          </a:bodyPr>
          <a:lstStyle/>
          <a:p>
            <a:r>
              <a:rPr lang="en-MY" sz="1400" dirty="0"/>
              <a:t>Source: Connolly, 2015</a:t>
            </a:r>
          </a:p>
        </p:txBody>
      </p:sp>
    </p:spTree>
    <p:extLst>
      <p:ext uri="{BB962C8B-B14F-4D97-AF65-F5344CB8AC3E}">
        <p14:creationId xmlns:p14="http://schemas.microsoft.com/office/powerpoint/2010/main" val="4167856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CB6C-A7E7-450A-B9EE-BA15C385F5BF}"/>
              </a:ext>
            </a:extLst>
          </p:cNvPr>
          <p:cNvSpPr>
            <a:spLocks noGrp="1"/>
          </p:cNvSpPr>
          <p:nvPr>
            <p:ph type="title"/>
          </p:nvPr>
        </p:nvSpPr>
        <p:spPr/>
        <p:txBody>
          <a:bodyPr/>
          <a:lstStyle/>
          <a:p>
            <a:r>
              <a:rPr lang="en-MY" b="1" dirty="0">
                <a:solidFill>
                  <a:schemeClr val="accent2"/>
                </a:solidFill>
              </a:rPr>
              <a:t>Common SQL Data Type</a:t>
            </a:r>
            <a:endParaRPr lang="en-US" b="1" dirty="0">
              <a:solidFill>
                <a:schemeClr val="accent2"/>
              </a:solidFill>
            </a:endParaRPr>
          </a:p>
        </p:txBody>
      </p:sp>
      <p:sp>
        <p:nvSpPr>
          <p:cNvPr id="6" name="Slide Number Placeholder 5">
            <a:extLst>
              <a:ext uri="{FF2B5EF4-FFF2-40B4-BE49-F238E27FC236}">
                <a16:creationId xmlns:a16="http://schemas.microsoft.com/office/drawing/2014/main" id="{CE49CE65-FFC9-4224-89CE-581C9B672519}"/>
              </a:ext>
            </a:extLst>
          </p:cNvPr>
          <p:cNvSpPr>
            <a:spLocks noGrp="1"/>
          </p:cNvSpPr>
          <p:nvPr>
            <p:ph type="sldNum" sz="quarter" idx="12"/>
          </p:nvPr>
        </p:nvSpPr>
        <p:spPr/>
        <p:txBody>
          <a:bodyPr/>
          <a:lstStyle/>
          <a:p>
            <a:pPr>
              <a:defRPr/>
            </a:pPr>
            <a:fld id="{4AEEF2DB-3D68-4EFF-B92B-90C34555BE45}" type="slidenum">
              <a:rPr lang="en-US" smtClean="0"/>
              <a:pPr>
                <a:defRPr/>
              </a:pPr>
              <a:t>13</a:t>
            </a:fld>
            <a:endParaRPr lang="en-US" dirty="0"/>
          </a:p>
        </p:txBody>
      </p:sp>
      <p:sp>
        <p:nvSpPr>
          <p:cNvPr id="10" name="Content Placeholder 9">
            <a:extLst>
              <a:ext uri="{FF2B5EF4-FFF2-40B4-BE49-F238E27FC236}">
                <a16:creationId xmlns:a16="http://schemas.microsoft.com/office/drawing/2014/main" id="{DA409D26-0BC3-472C-A26A-224430D2054E}"/>
              </a:ext>
            </a:extLst>
          </p:cNvPr>
          <p:cNvSpPr>
            <a:spLocks noGrp="1"/>
          </p:cNvSpPr>
          <p:nvPr>
            <p:ph idx="1"/>
          </p:nvPr>
        </p:nvSpPr>
        <p:spPr>
          <a:xfrm>
            <a:off x="838200" y="1397977"/>
            <a:ext cx="10515600" cy="4778986"/>
          </a:xfrm>
        </p:spPr>
        <p:txBody>
          <a:bodyPr/>
          <a:lstStyle/>
          <a:p>
            <a:r>
              <a:rPr lang="en-MY" dirty="0"/>
              <a:t>Overview</a:t>
            </a:r>
          </a:p>
          <a:p>
            <a:endParaRPr lang="en-US" dirty="0"/>
          </a:p>
        </p:txBody>
      </p:sp>
      <p:pic>
        <p:nvPicPr>
          <p:cNvPr id="11" name="Content Placeholder 8">
            <a:extLst>
              <a:ext uri="{FF2B5EF4-FFF2-40B4-BE49-F238E27FC236}">
                <a16:creationId xmlns:a16="http://schemas.microsoft.com/office/drawing/2014/main" id="{2E39550E-FEAC-4CBE-AEE9-8DC6E5CFAE5E}"/>
              </a:ext>
            </a:extLst>
          </p:cNvPr>
          <p:cNvPicPr>
            <a:picLocks noChangeAspect="1"/>
          </p:cNvPicPr>
          <p:nvPr/>
        </p:nvPicPr>
        <p:blipFill>
          <a:blip r:embed="rId2"/>
          <a:stretch>
            <a:fillRect/>
          </a:stretch>
        </p:blipFill>
        <p:spPr bwMode="auto">
          <a:xfrm>
            <a:off x="1287268" y="1870074"/>
            <a:ext cx="9430555" cy="407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F95685D4-9317-4974-8FD2-58721AEAAD97}"/>
              </a:ext>
            </a:extLst>
          </p:cNvPr>
          <p:cNvSpPr txBox="1"/>
          <p:nvPr/>
        </p:nvSpPr>
        <p:spPr>
          <a:xfrm>
            <a:off x="8437052" y="6112768"/>
            <a:ext cx="1845955" cy="307777"/>
          </a:xfrm>
          <a:prstGeom prst="rect">
            <a:avLst/>
          </a:prstGeom>
          <a:noFill/>
        </p:spPr>
        <p:txBody>
          <a:bodyPr wrap="none" rtlCol="0">
            <a:spAutoFit/>
          </a:bodyPr>
          <a:lstStyle/>
          <a:p>
            <a:r>
              <a:rPr lang="en-MY" sz="1400" dirty="0"/>
              <a:t>Source: Connolly, 2015</a:t>
            </a:r>
          </a:p>
        </p:txBody>
      </p:sp>
    </p:spTree>
    <p:extLst>
      <p:ext uri="{BB962C8B-B14F-4D97-AF65-F5344CB8AC3E}">
        <p14:creationId xmlns:p14="http://schemas.microsoft.com/office/powerpoint/2010/main" val="4205857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9BA2D-42EE-4C70-BAEA-7B5F939F1B0C}"/>
              </a:ext>
            </a:extLst>
          </p:cNvPr>
          <p:cNvSpPr>
            <a:spLocks noGrp="1"/>
          </p:cNvSpPr>
          <p:nvPr>
            <p:ph type="title"/>
          </p:nvPr>
        </p:nvSpPr>
        <p:spPr/>
        <p:txBody>
          <a:bodyPr/>
          <a:lstStyle/>
          <a:p>
            <a:r>
              <a:rPr lang="en-MY" b="1" dirty="0">
                <a:solidFill>
                  <a:schemeClr val="accent2"/>
                </a:solidFill>
              </a:rPr>
              <a:t>Example (CREATE TABLE)</a:t>
            </a:r>
          </a:p>
        </p:txBody>
      </p:sp>
      <p:sp>
        <p:nvSpPr>
          <p:cNvPr id="3" name="Content Placeholder 2">
            <a:extLst>
              <a:ext uri="{FF2B5EF4-FFF2-40B4-BE49-F238E27FC236}">
                <a16:creationId xmlns:a16="http://schemas.microsoft.com/office/drawing/2014/main" id="{1AFC6107-EBE0-483F-AB67-968500B1A41A}"/>
              </a:ext>
            </a:extLst>
          </p:cNvPr>
          <p:cNvSpPr>
            <a:spLocks noGrp="1"/>
          </p:cNvSpPr>
          <p:nvPr>
            <p:ph idx="1"/>
          </p:nvPr>
        </p:nvSpPr>
        <p:spPr/>
        <p:txBody>
          <a:bodyPr/>
          <a:lstStyle/>
          <a:p>
            <a:r>
              <a:rPr lang="en-MY" dirty="0"/>
              <a:t>Given the structure of the Department table as follows: </a:t>
            </a:r>
          </a:p>
          <a:p>
            <a:endParaRPr lang="en-MY" dirty="0"/>
          </a:p>
          <a:p>
            <a:endParaRPr lang="en-MY" dirty="0"/>
          </a:p>
          <a:p>
            <a:endParaRPr lang="en-MY" dirty="0"/>
          </a:p>
          <a:p>
            <a:endParaRPr lang="en-MY" dirty="0"/>
          </a:p>
          <a:p>
            <a:pPr marL="0" indent="0">
              <a:buNone/>
            </a:pPr>
            <a:endParaRPr lang="en-MY" dirty="0"/>
          </a:p>
        </p:txBody>
      </p:sp>
      <p:sp>
        <p:nvSpPr>
          <p:cNvPr id="6" name="Slide Number Placeholder 5">
            <a:extLst>
              <a:ext uri="{FF2B5EF4-FFF2-40B4-BE49-F238E27FC236}">
                <a16:creationId xmlns:a16="http://schemas.microsoft.com/office/drawing/2014/main" id="{1314D414-72CB-49B6-ACCB-4793CF77A634}"/>
              </a:ext>
            </a:extLst>
          </p:cNvPr>
          <p:cNvSpPr>
            <a:spLocks noGrp="1"/>
          </p:cNvSpPr>
          <p:nvPr>
            <p:ph type="sldNum" sz="quarter" idx="12"/>
          </p:nvPr>
        </p:nvSpPr>
        <p:spPr/>
        <p:txBody>
          <a:bodyPr/>
          <a:lstStyle/>
          <a:p>
            <a:pPr>
              <a:defRPr/>
            </a:pPr>
            <a:fld id="{4AEEF2DB-3D68-4EFF-B92B-90C34555BE45}" type="slidenum">
              <a:rPr lang="en-US" smtClean="0"/>
              <a:pPr>
                <a:defRPr/>
              </a:pPr>
              <a:t>14</a:t>
            </a:fld>
            <a:endParaRPr lang="en-US" dirty="0"/>
          </a:p>
        </p:txBody>
      </p:sp>
      <p:graphicFrame>
        <p:nvGraphicFramePr>
          <p:cNvPr id="7" name="Table 7">
            <a:extLst>
              <a:ext uri="{FF2B5EF4-FFF2-40B4-BE49-F238E27FC236}">
                <a16:creationId xmlns:a16="http://schemas.microsoft.com/office/drawing/2014/main" id="{EC27B810-D7E9-4121-8A98-2C554E799A05}"/>
              </a:ext>
            </a:extLst>
          </p:cNvPr>
          <p:cNvGraphicFramePr>
            <a:graphicFrameLocks noGrp="1"/>
          </p:cNvGraphicFramePr>
          <p:nvPr>
            <p:extLst>
              <p:ext uri="{D42A27DB-BD31-4B8C-83A1-F6EECF244321}">
                <p14:modId xmlns:p14="http://schemas.microsoft.com/office/powerpoint/2010/main" val="2545866266"/>
              </p:ext>
            </p:extLst>
          </p:nvPr>
        </p:nvGraphicFramePr>
        <p:xfrm>
          <a:off x="1085222" y="2855835"/>
          <a:ext cx="4385582" cy="2123440"/>
        </p:xfrm>
        <a:graphic>
          <a:graphicData uri="http://schemas.openxmlformats.org/drawingml/2006/table">
            <a:tbl>
              <a:tblPr firstRow="1" bandRow="1">
                <a:tableStyleId>{5C22544A-7EE6-4342-B048-85BDC9FD1C3A}</a:tableStyleId>
              </a:tblPr>
              <a:tblGrid>
                <a:gridCol w="2192791">
                  <a:extLst>
                    <a:ext uri="{9D8B030D-6E8A-4147-A177-3AD203B41FA5}">
                      <a16:colId xmlns:a16="http://schemas.microsoft.com/office/drawing/2014/main" val="2631299043"/>
                    </a:ext>
                  </a:extLst>
                </a:gridCol>
                <a:gridCol w="2192791">
                  <a:extLst>
                    <a:ext uri="{9D8B030D-6E8A-4147-A177-3AD203B41FA5}">
                      <a16:colId xmlns:a16="http://schemas.microsoft.com/office/drawing/2014/main" val="4467829"/>
                    </a:ext>
                  </a:extLst>
                </a:gridCol>
              </a:tblGrid>
              <a:tr h="370840">
                <a:tc>
                  <a:txBody>
                    <a:bodyPr/>
                    <a:lstStyle/>
                    <a:p>
                      <a:pPr algn="ctr"/>
                      <a:r>
                        <a:rPr lang="en-MY" sz="1800" dirty="0"/>
                        <a:t>Attribute</a:t>
                      </a:r>
                    </a:p>
                  </a:txBody>
                  <a:tcPr/>
                </a:tc>
                <a:tc>
                  <a:txBody>
                    <a:bodyPr/>
                    <a:lstStyle/>
                    <a:p>
                      <a:pPr algn="ctr"/>
                      <a:r>
                        <a:rPr lang="en-MY" sz="1800" dirty="0"/>
                        <a:t>Datatype</a:t>
                      </a:r>
                    </a:p>
                  </a:txBody>
                  <a:tcPr/>
                </a:tc>
                <a:extLst>
                  <a:ext uri="{0D108BD9-81ED-4DB2-BD59-A6C34878D82A}">
                    <a16:rowId xmlns:a16="http://schemas.microsoft.com/office/drawing/2014/main" val="1873257483"/>
                  </a:ext>
                </a:extLst>
              </a:tr>
              <a:tr h="370840">
                <a:tc>
                  <a:txBody>
                    <a:bodyPr/>
                    <a:lstStyle/>
                    <a:p>
                      <a:r>
                        <a:rPr lang="en-MY" sz="1800" dirty="0"/>
                        <a:t>deptNo (Primary Key)</a:t>
                      </a:r>
                    </a:p>
                  </a:txBody>
                  <a:tcPr/>
                </a:tc>
                <a:tc>
                  <a:txBody>
                    <a:bodyPr/>
                    <a:lstStyle/>
                    <a:p>
                      <a:r>
                        <a:rPr lang="en-MY" sz="1800" dirty="0"/>
                        <a:t>Integer (5)</a:t>
                      </a:r>
                    </a:p>
                  </a:txBody>
                  <a:tcPr/>
                </a:tc>
                <a:extLst>
                  <a:ext uri="{0D108BD9-81ED-4DB2-BD59-A6C34878D82A}">
                    <a16:rowId xmlns:a16="http://schemas.microsoft.com/office/drawing/2014/main" val="3843317266"/>
                  </a:ext>
                </a:extLst>
              </a:tr>
              <a:tr h="370840">
                <a:tc>
                  <a:txBody>
                    <a:bodyPr/>
                    <a:lstStyle/>
                    <a:p>
                      <a:r>
                        <a:rPr lang="en-MY" sz="1800" dirty="0"/>
                        <a:t>deptName </a:t>
                      </a:r>
                      <a:br>
                        <a:rPr lang="en-MY" sz="1800" dirty="0"/>
                      </a:br>
                      <a:r>
                        <a:rPr lang="en-MY" sz="1800" dirty="0"/>
                        <a:t>– requires values</a:t>
                      </a:r>
                    </a:p>
                  </a:txBody>
                  <a:tcPr/>
                </a:tc>
                <a:tc>
                  <a:txBody>
                    <a:bodyPr/>
                    <a:lstStyle/>
                    <a:p>
                      <a:r>
                        <a:rPr lang="en-MY" sz="1800" dirty="0"/>
                        <a:t>Varchar(20)</a:t>
                      </a:r>
                    </a:p>
                  </a:txBody>
                  <a:tcPr/>
                </a:tc>
                <a:extLst>
                  <a:ext uri="{0D108BD9-81ED-4DB2-BD59-A6C34878D82A}">
                    <a16:rowId xmlns:a16="http://schemas.microsoft.com/office/drawing/2014/main" val="1901654671"/>
                  </a:ext>
                </a:extLst>
              </a:tr>
              <a:tr h="370840">
                <a:tc>
                  <a:txBody>
                    <a:bodyPr/>
                    <a:lstStyle/>
                    <a:p>
                      <a:r>
                        <a:rPr lang="en-MY" sz="1800" dirty="0"/>
                        <a:t>address </a:t>
                      </a:r>
                    </a:p>
                  </a:txBody>
                  <a:tcPr/>
                </a:tc>
                <a:tc>
                  <a:txBody>
                    <a:bodyPr/>
                    <a:lstStyle/>
                    <a:p>
                      <a:r>
                        <a:rPr lang="en-MY" sz="1800" dirty="0"/>
                        <a:t>Varchar(30)</a:t>
                      </a:r>
                    </a:p>
                  </a:txBody>
                  <a:tcPr/>
                </a:tc>
                <a:extLst>
                  <a:ext uri="{0D108BD9-81ED-4DB2-BD59-A6C34878D82A}">
                    <a16:rowId xmlns:a16="http://schemas.microsoft.com/office/drawing/2014/main" val="2089757628"/>
                  </a:ext>
                </a:extLst>
              </a:tr>
              <a:tr h="370840">
                <a:tc>
                  <a:txBody>
                    <a:bodyPr/>
                    <a:lstStyle/>
                    <a:p>
                      <a:r>
                        <a:rPr lang="en-MY" sz="1800" dirty="0"/>
                        <a:t>city</a:t>
                      </a:r>
                    </a:p>
                  </a:txBody>
                  <a:tcPr/>
                </a:tc>
                <a:tc>
                  <a:txBody>
                    <a:bodyPr/>
                    <a:lstStyle/>
                    <a:p>
                      <a:r>
                        <a:rPr lang="en-MY" sz="1800" dirty="0"/>
                        <a:t>Varchar(15)</a:t>
                      </a:r>
                    </a:p>
                  </a:txBody>
                  <a:tcPr/>
                </a:tc>
                <a:extLst>
                  <a:ext uri="{0D108BD9-81ED-4DB2-BD59-A6C34878D82A}">
                    <a16:rowId xmlns:a16="http://schemas.microsoft.com/office/drawing/2014/main" val="433874951"/>
                  </a:ext>
                </a:extLst>
              </a:tr>
            </a:tbl>
          </a:graphicData>
        </a:graphic>
      </p:graphicFrame>
      <p:sp>
        <p:nvSpPr>
          <p:cNvPr id="9" name="TextBox 8">
            <a:extLst>
              <a:ext uri="{FF2B5EF4-FFF2-40B4-BE49-F238E27FC236}">
                <a16:creationId xmlns:a16="http://schemas.microsoft.com/office/drawing/2014/main" id="{C1631B44-9E03-46C2-8E9C-21654E8965D5}"/>
              </a:ext>
            </a:extLst>
          </p:cNvPr>
          <p:cNvSpPr txBox="1"/>
          <p:nvPr/>
        </p:nvSpPr>
        <p:spPr>
          <a:xfrm>
            <a:off x="2745977" y="2476393"/>
            <a:ext cx="1482329" cy="400110"/>
          </a:xfrm>
          <a:prstGeom prst="rect">
            <a:avLst/>
          </a:prstGeom>
          <a:noFill/>
        </p:spPr>
        <p:txBody>
          <a:bodyPr wrap="none" rtlCol="0">
            <a:spAutoFit/>
          </a:bodyPr>
          <a:lstStyle/>
          <a:p>
            <a:r>
              <a:rPr lang="en-MY" sz="2000" b="1" dirty="0">
                <a:solidFill>
                  <a:schemeClr val="accent2"/>
                </a:solidFill>
              </a:rPr>
              <a:t>Department</a:t>
            </a:r>
          </a:p>
        </p:txBody>
      </p:sp>
      <p:graphicFrame>
        <p:nvGraphicFramePr>
          <p:cNvPr id="10" name="Table 7">
            <a:extLst>
              <a:ext uri="{FF2B5EF4-FFF2-40B4-BE49-F238E27FC236}">
                <a16:creationId xmlns:a16="http://schemas.microsoft.com/office/drawing/2014/main" id="{353DF64E-DD24-450E-865F-D78BE632ADC4}"/>
              </a:ext>
            </a:extLst>
          </p:cNvPr>
          <p:cNvGraphicFramePr>
            <a:graphicFrameLocks noGrp="1"/>
          </p:cNvGraphicFramePr>
          <p:nvPr>
            <p:extLst>
              <p:ext uri="{D42A27DB-BD31-4B8C-83A1-F6EECF244321}">
                <p14:modId xmlns:p14="http://schemas.microsoft.com/office/powerpoint/2010/main" val="3070055775"/>
              </p:ext>
            </p:extLst>
          </p:nvPr>
        </p:nvGraphicFramePr>
        <p:xfrm>
          <a:off x="6136082" y="2876503"/>
          <a:ext cx="5067829" cy="3408680"/>
        </p:xfrm>
        <a:graphic>
          <a:graphicData uri="http://schemas.openxmlformats.org/drawingml/2006/table">
            <a:tbl>
              <a:tblPr firstRow="1" bandRow="1">
                <a:tableStyleId>{5C22544A-7EE6-4342-B048-85BDC9FD1C3A}</a:tableStyleId>
              </a:tblPr>
              <a:tblGrid>
                <a:gridCol w="2921047">
                  <a:extLst>
                    <a:ext uri="{9D8B030D-6E8A-4147-A177-3AD203B41FA5}">
                      <a16:colId xmlns:a16="http://schemas.microsoft.com/office/drawing/2014/main" val="2631299043"/>
                    </a:ext>
                  </a:extLst>
                </a:gridCol>
                <a:gridCol w="2146782">
                  <a:extLst>
                    <a:ext uri="{9D8B030D-6E8A-4147-A177-3AD203B41FA5}">
                      <a16:colId xmlns:a16="http://schemas.microsoft.com/office/drawing/2014/main" val="4467829"/>
                    </a:ext>
                  </a:extLst>
                </a:gridCol>
              </a:tblGrid>
              <a:tr h="370840">
                <a:tc>
                  <a:txBody>
                    <a:bodyPr/>
                    <a:lstStyle/>
                    <a:p>
                      <a:pPr algn="ctr"/>
                      <a:r>
                        <a:rPr lang="en-MY" sz="1800" dirty="0"/>
                        <a:t>Attribute</a:t>
                      </a:r>
                    </a:p>
                  </a:txBody>
                  <a:tcPr/>
                </a:tc>
                <a:tc>
                  <a:txBody>
                    <a:bodyPr/>
                    <a:lstStyle/>
                    <a:p>
                      <a:pPr algn="ctr"/>
                      <a:r>
                        <a:rPr lang="en-MY" sz="1800" dirty="0"/>
                        <a:t>Datatype</a:t>
                      </a:r>
                    </a:p>
                  </a:txBody>
                  <a:tcPr/>
                </a:tc>
                <a:extLst>
                  <a:ext uri="{0D108BD9-81ED-4DB2-BD59-A6C34878D82A}">
                    <a16:rowId xmlns:a16="http://schemas.microsoft.com/office/drawing/2014/main" val="1873257483"/>
                  </a:ext>
                </a:extLst>
              </a:tr>
              <a:tr h="370840">
                <a:tc>
                  <a:txBody>
                    <a:bodyPr/>
                    <a:lstStyle/>
                    <a:p>
                      <a:r>
                        <a:rPr lang="en-MY" sz="1800" dirty="0"/>
                        <a:t>empID (Primary Key)</a:t>
                      </a:r>
                    </a:p>
                  </a:txBody>
                  <a:tcPr/>
                </a:tc>
                <a:tc>
                  <a:txBody>
                    <a:bodyPr/>
                    <a:lstStyle/>
                    <a:p>
                      <a:r>
                        <a:rPr lang="en-MY" sz="1800" dirty="0"/>
                        <a:t>Integer</a:t>
                      </a:r>
                    </a:p>
                  </a:txBody>
                  <a:tcPr/>
                </a:tc>
                <a:extLst>
                  <a:ext uri="{0D108BD9-81ED-4DB2-BD59-A6C34878D82A}">
                    <a16:rowId xmlns:a16="http://schemas.microsoft.com/office/drawing/2014/main" val="3843317266"/>
                  </a:ext>
                </a:extLst>
              </a:tr>
              <a:tr h="370840">
                <a:tc>
                  <a:txBody>
                    <a:bodyPr/>
                    <a:lstStyle/>
                    <a:p>
                      <a:r>
                        <a:rPr lang="en-MY" sz="1800" dirty="0"/>
                        <a:t>fName – requires values</a:t>
                      </a:r>
                    </a:p>
                  </a:txBody>
                  <a:tcPr/>
                </a:tc>
                <a:tc>
                  <a:txBody>
                    <a:bodyPr/>
                    <a:lstStyle/>
                    <a:p>
                      <a:r>
                        <a:rPr lang="en-MY" sz="1800" dirty="0"/>
                        <a:t>Varchar(20)</a:t>
                      </a:r>
                    </a:p>
                  </a:txBody>
                  <a:tcPr/>
                </a:tc>
                <a:extLst>
                  <a:ext uri="{0D108BD9-81ED-4DB2-BD59-A6C34878D82A}">
                    <a16:rowId xmlns:a16="http://schemas.microsoft.com/office/drawing/2014/main" val="1901654671"/>
                  </a:ext>
                </a:extLst>
              </a:tr>
              <a:tr h="370840">
                <a:tc>
                  <a:txBody>
                    <a:bodyPr/>
                    <a:lstStyle/>
                    <a:p>
                      <a:r>
                        <a:rPr lang="en-MY" sz="1800" dirty="0"/>
                        <a:t>lName – requires values</a:t>
                      </a:r>
                    </a:p>
                  </a:txBody>
                  <a:tcPr/>
                </a:tc>
                <a:tc>
                  <a:txBody>
                    <a:bodyPr/>
                    <a:lstStyle/>
                    <a:p>
                      <a:r>
                        <a:rPr lang="en-MY" sz="1800" dirty="0"/>
                        <a:t>Varchar(30)</a:t>
                      </a:r>
                    </a:p>
                  </a:txBody>
                  <a:tcPr/>
                </a:tc>
                <a:extLst>
                  <a:ext uri="{0D108BD9-81ED-4DB2-BD59-A6C34878D82A}">
                    <a16:rowId xmlns:a16="http://schemas.microsoft.com/office/drawing/2014/main" val="2089757628"/>
                  </a:ext>
                </a:extLst>
              </a:tr>
              <a:tr h="370840">
                <a:tc>
                  <a:txBody>
                    <a:bodyPr/>
                    <a:lstStyle/>
                    <a:p>
                      <a:r>
                        <a:rPr lang="en-MY" sz="1800" dirty="0"/>
                        <a:t>email – unique</a:t>
                      </a:r>
                    </a:p>
                  </a:txBody>
                  <a:tcPr/>
                </a:tc>
                <a:tc>
                  <a:txBody>
                    <a:bodyPr/>
                    <a:lstStyle/>
                    <a:p>
                      <a:r>
                        <a:rPr lang="en-MY" sz="1800" dirty="0"/>
                        <a:t>Varchar(30)</a:t>
                      </a:r>
                    </a:p>
                  </a:txBody>
                  <a:tcPr/>
                </a:tc>
                <a:extLst>
                  <a:ext uri="{0D108BD9-81ED-4DB2-BD59-A6C34878D82A}">
                    <a16:rowId xmlns:a16="http://schemas.microsoft.com/office/drawing/2014/main" val="3303699681"/>
                  </a:ext>
                </a:extLst>
              </a:tr>
              <a:tr h="370840">
                <a:tc>
                  <a:txBody>
                    <a:bodyPr/>
                    <a:lstStyle/>
                    <a:p>
                      <a:r>
                        <a:rPr lang="en-MY" sz="1800" dirty="0"/>
                        <a:t>salary – must be more than 1,700</a:t>
                      </a:r>
                    </a:p>
                  </a:txBody>
                  <a:tcPr/>
                </a:tc>
                <a:tc>
                  <a:txBody>
                    <a:bodyPr/>
                    <a:lstStyle/>
                    <a:p>
                      <a:r>
                        <a:rPr lang="en-MY" sz="1800" dirty="0"/>
                        <a:t>Decimal (10,2)</a:t>
                      </a:r>
                    </a:p>
                  </a:txBody>
                  <a:tcPr/>
                </a:tc>
                <a:extLst>
                  <a:ext uri="{0D108BD9-81ED-4DB2-BD59-A6C34878D82A}">
                    <a16:rowId xmlns:a16="http://schemas.microsoft.com/office/drawing/2014/main" val="3394725929"/>
                  </a:ext>
                </a:extLst>
              </a:tr>
              <a:tr h="370840">
                <a:tc>
                  <a:txBody>
                    <a:bodyPr/>
                    <a:lstStyle/>
                    <a:p>
                      <a:r>
                        <a:rPr lang="en-MY" sz="1800" dirty="0"/>
                        <a:t>deptNo (Foreign key) – deptNo is an attribute in Department relation</a:t>
                      </a:r>
                    </a:p>
                  </a:txBody>
                  <a:tcPr/>
                </a:tc>
                <a:tc>
                  <a:txBody>
                    <a:bodyPr/>
                    <a:lstStyle/>
                    <a:p>
                      <a:r>
                        <a:rPr lang="en-MY" sz="1800" dirty="0"/>
                        <a:t>Integer(5)</a:t>
                      </a:r>
                    </a:p>
                  </a:txBody>
                  <a:tcPr/>
                </a:tc>
                <a:extLst>
                  <a:ext uri="{0D108BD9-81ED-4DB2-BD59-A6C34878D82A}">
                    <a16:rowId xmlns:a16="http://schemas.microsoft.com/office/drawing/2014/main" val="433874951"/>
                  </a:ext>
                </a:extLst>
              </a:tr>
            </a:tbl>
          </a:graphicData>
        </a:graphic>
      </p:graphicFrame>
      <p:sp>
        <p:nvSpPr>
          <p:cNvPr id="11" name="TextBox 10">
            <a:extLst>
              <a:ext uri="{FF2B5EF4-FFF2-40B4-BE49-F238E27FC236}">
                <a16:creationId xmlns:a16="http://schemas.microsoft.com/office/drawing/2014/main" id="{C1F3AE8D-E7FE-4F90-B363-D4EC23170CF3}"/>
              </a:ext>
            </a:extLst>
          </p:cNvPr>
          <p:cNvSpPr txBox="1"/>
          <p:nvPr/>
        </p:nvSpPr>
        <p:spPr>
          <a:xfrm>
            <a:off x="8365515" y="2476393"/>
            <a:ext cx="1336071" cy="400110"/>
          </a:xfrm>
          <a:prstGeom prst="rect">
            <a:avLst/>
          </a:prstGeom>
          <a:noFill/>
        </p:spPr>
        <p:txBody>
          <a:bodyPr wrap="none" rtlCol="0">
            <a:spAutoFit/>
          </a:bodyPr>
          <a:lstStyle/>
          <a:p>
            <a:r>
              <a:rPr lang="en-MY" sz="2000" b="1" dirty="0">
                <a:solidFill>
                  <a:schemeClr val="accent2"/>
                </a:solidFill>
              </a:rPr>
              <a:t>Employees</a:t>
            </a:r>
          </a:p>
        </p:txBody>
      </p:sp>
    </p:spTree>
    <p:extLst>
      <p:ext uri="{BB962C8B-B14F-4D97-AF65-F5344CB8AC3E}">
        <p14:creationId xmlns:p14="http://schemas.microsoft.com/office/powerpoint/2010/main" val="9242512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D056-CA09-BF00-0A12-1FF961C891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9C1A3-2C07-8560-399D-3A435D39C4DD}"/>
              </a:ext>
            </a:extLst>
          </p:cNvPr>
          <p:cNvSpPr>
            <a:spLocks noGrp="1"/>
          </p:cNvSpPr>
          <p:nvPr>
            <p:ph type="title"/>
          </p:nvPr>
        </p:nvSpPr>
        <p:spPr/>
        <p:txBody>
          <a:bodyPr/>
          <a:lstStyle/>
          <a:p>
            <a:r>
              <a:rPr lang="en-MY" b="1" dirty="0">
                <a:solidFill>
                  <a:schemeClr val="accent2"/>
                </a:solidFill>
              </a:rPr>
              <a:t>CREATE TABLE</a:t>
            </a:r>
            <a:br>
              <a:rPr lang="en-MY" b="1" dirty="0">
                <a:solidFill>
                  <a:schemeClr val="accent2"/>
                </a:solidFill>
              </a:rPr>
            </a:br>
            <a:r>
              <a:rPr lang="en-MY" b="1" dirty="0">
                <a:solidFill>
                  <a:schemeClr val="accent2"/>
                </a:solidFill>
              </a:rPr>
              <a:t>without constraint</a:t>
            </a:r>
          </a:p>
        </p:txBody>
      </p:sp>
      <p:sp>
        <p:nvSpPr>
          <p:cNvPr id="3" name="Content Placeholder 2">
            <a:extLst>
              <a:ext uri="{FF2B5EF4-FFF2-40B4-BE49-F238E27FC236}">
                <a16:creationId xmlns:a16="http://schemas.microsoft.com/office/drawing/2014/main" id="{A667B961-C375-4B76-1F6B-EA1A09B7BD84}"/>
              </a:ext>
            </a:extLst>
          </p:cNvPr>
          <p:cNvSpPr>
            <a:spLocks noGrp="1"/>
          </p:cNvSpPr>
          <p:nvPr>
            <p:ph idx="1"/>
          </p:nvPr>
        </p:nvSpPr>
        <p:spPr/>
        <p:txBody>
          <a:bodyPr/>
          <a:lstStyle/>
          <a:p>
            <a:r>
              <a:rPr lang="en-MY" dirty="0"/>
              <a:t>Creating a table </a:t>
            </a:r>
            <a:r>
              <a:rPr lang="en-MY" b="1" dirty="0">
                <a:solidFill>
                  <a:srgbClr val="0070C0"/>
                </a:solidFill>
              </a:rPr>
              <a:t>without constraint</a:t>
            </a:r>
            <a:r>
              <a:rPr lang="en-MY" dirty="0"/>
              <a:t>.</a:t>
            </a:r>
          </a:p>
        </p:txBody>
      </p:sp>
      <p:sp>
        <p:nvSpPr>
          <p:cNvPr id="6" name="Slide Number Placeholder 5">
            <a:extLst>
              <a:ext uri="{FF2B5EF4-FFF2-40B4-BE49-F238E27FC236}">
                <a16:creationId xmlns:a16="http://schemas.microsoft.com/office/drawing/2014/main" id="{7496B6B3-6F39-DEBE-E06A-5892B177F6D1}"/>
              </a:ext>
            </a:extLst>
          </p:cNvPr>
          <p:cNvSpPr>
            <a:spLocks noGrp="1"/>
          </p:cNvSpPr>
          <p:nvPr>
            <p:ph type="sldNum" sz="quarter" idx="12"/>
          </p:nvPr>
        </p:nvSpPr>
        <p:spPr/>
        <p:txBody>
          <a:bodyPr/>
          <a:lstStyle/>
          <a:p>
            <a:pPr>
              <a:defRPr/>
            </a:pPr>
            <a:fld id="{4AEEF2DB-3D68-4EFF-B92B-90C34555BE45}" type="slidenum">
              <a:rPr lang="en-US" smtClean="0"/>
              <a:pPr>
                <a:defRPr/>
              </a:pPr>
              <a:t>15</a:t>
            </a:fld>
            <a:endParaRPr lang="en-US" dirty="0"/>
          </a:p>
        </p:txBody>
      </p:sp>
      <p:sp>
        <p:nvSpPr>
          <p:cNvPr id="7" name="Rectangle 6">
            <a:extLst>
              <a:ext uri="{FF2B5EF4-FFF2-40B4-BE49-F238E27FC236}">
                <a16:creationId xmlns:a16="http://schemas.microsoft.com/office/drawing/2014/main" id="{9D870F0C-2070-04A9-1DF8-A195B96BEF88}"/>
              </a:ext>
            </a:extLst>
          </p:cNvPr>
          <p:cNvSpPr/>
          <p:nvPr/>
        </p:nvSpPr>
        <p:spPr>
          <a:xfrm>
            <a:off x="1865668" y="2714267"/>
            <a:ext cx="7443387" cy="126864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CREATE TABLE </a:t>
            </a:r>
            <a:r>
              <a:rPr lang="en-MY" sz="2000" dirty="0">
                <a:latin typeface="Courier New" panose="02070309020205020404" pitchFamily="49" charset="0"/>
                <a:cs typeface="Courier New" panose="02070309020205020404" pitchFamily="49" charset="0"/>
              </a:rPr>
              <a:t>tableName </a:t>
            </a:r>
            <a:r>
              <a:rPr lang="en-MY" sz="2000" b="1" dirty="0">
                <a:solidFill>
                  <a:srgbClr val="FFC000"/>
                </a:solidFill>
                <a:latin typeface="Courier New" panose="02070309020205020404" pitchFamily="49" charset="0"/>
                <a:cs typeface="Courier New" panose="02070309020205020404" pitchFamily="49" charset="0"/>
              </a:rPr>
              <a:t>(</a:t>
            </a:r>
          </a:p>
          <a:p>
            <a:r>
              <a:rPr lang="en-MY" sz="2000" dirty="0">
                <a:latin typeface="Courier New" panose="02070309020205020404" pitchFamily="49" charset="0"/>
                <a:cs typeface="Courier New" panose="02070309020205020404" pitchFamily="49" charset="0"/>
              </a:rPr>
              <a:t>columnName </a:t>
            </a:r>
            <a:r>
              <a:rPr lang="en-MY" sz="2000" b="1" dirty="0">
                <a:solidFill>
                  <a:srgbClr val="00B050"/>
                </a:solidFill>
                <a:latin typeface="Courier New" panose="02070309020205020404" pitchFamily="49" charset="0"/>
                <a:cs typeface="Courier New" panose="02070309020205020404" pitchFamily="49" charset="0"/>
              </a:rPr>
              <a:t>dataType</a:t>
            </a:r>
            <a:r>
              <a:rPr lang="en-MY" sz="2000" b="1" dirty="0">
                <a:solidFill>
                  <a:schemeClr val="accent4"/>
                </a:solidFill>
                <a:latin typeface="Courier New" panose="02070309020205020404" pitchFamily="49" charset="0"/>
                <a:cs typeface="Courier New" panose="02070309020205020404" pitchFamily="49" charset="0"/>
              </a:rPr>
              <a:t> </a:t>
            </a:r>
            <a:r>
              <a:rPr lang="en-MY" sz="2000" b="1" dirty="0">
                <a:solidFill>
                  <a:srgbClr val="00B0F0"/>
                </a:solidFill>
                <a:latin typeface="Courier New" panose="02070309020205020404" pitchFamily="49" charset="0"/>
                <a:cs typeface="Courier New" panose="02070309020205020404" pitchFamily="49" charset="0"/>
              </a:rPr>
              <a:t>[</a:t>
            </a:r>
            <a:r>
              <a:rPr lang="en-MY" sz="2000" b="1" dirty="0">
                <a:solidFill>
                  <a:schemeClr val="accent5">
                    <a:lumMod val="75000"/>
                  </a:schemeClr>
                </a:solidFill>
                <a:latin typeface="Courier New" panose="02070309020205020404" pitchFamily="49" charset="0"/>
                <a:cs typeface="Courier New" panose="02070309020205020404" pitchFamily="49" charset="0"/>
              </a:rPr>
              <a:t> </a:t>
            </a:r>
            <a:r>
              <a:rPr lang="en-MY" sz="2000" b="1" dirty="0">
                <a:solidFill>
                  <a:srgbClr val="FFC000"/>
                </a:solidFill>
                <a:latin typeface="Courier New" panose="02070309020205020404" pitchFamily="49" charset="0"/>
                <a:cs typeface="Courier New" panose="02070309020205020404" pitchFamily="49" charset="0"/>
              </a:rPr>
              <a:t>DEFAULT</a:t>
            </a:r>
            <a:r>
              <a:rPr lang="en-MY" sz="2000" b="1" dirty="0">
                <a:solidFill>
                  <a:schemeClr val="accent4"/>
                </a:solidFill>
                <a:latin typeface="Courier New" panose="02070309020205020404" pitchFamily="49" charset="0"/>
                <a:cs typeface="Courier New" panose="02070309020205020404" pitchFamily="49" charset="0"/>
              </a:rPr>
              <a:t> </a:t>
            </a:r>
            <a:r>
              <a:rPr lang="en-MY" sz="2000" dirty="0">
                <a:solidFill>
                  <a:schemeClr val="bg1"/>
                </a:solidFill>
                <a:latin typeface="Courier New" panose="02070309020205020404" pitchFamily="49" charset="0"/>
                <a:cs typeface="Courier New" panose="02070309020205020404" pitchFamily="49" charset="0"/>
              </a:rPr>
              <a:t>value </a:t>
            </a:r>
            <a:r>
              <a:rPr lang="en-MY" sz="2000" b="1" dirty="0">
                <a:solidFill>
                  <a:srgbClr val="00B0F0"/>
                </a:solidFill>
                <a:latin typeface="Courier New" panose="02070309020205020404" pitchFamily="49" charset="0"/>
                <a:cs typeface="Courier New" panose="02070309020205020404" pitchFamily="49" charset="0"/>
              </a:rPr>
              <a:t>]</a:t>
            </a:r>
          </a:p>
          <a:p>
            <a:r>
              <a:rPr lang="en-MY" sz="2000" b="1" dirty="0">
                <a:solidFill>
                  <a:srgbClr val="00B0F0"/>
                </a:solidFill>
                <a:latin typeface="Courier New" panose="02070309020205020404" pitchFamily="49" charset="0"/>
                <a:cs typeface="Courier New" panose="02070309020205020404" pitchFamily="49" charset="0"/>
              </a:rPr>
              <a:t>[</a:t>
            </a:r>
            <a:r>
              <a:rPr lang="en-MY" sz="2000" b="1" dirty="0">
                <a:solidFill>
                  <a:srgbClr val="FFC000"/>
                </a:solidFill>
                <a:latin typeface="Courier New" panose="02070309020205020404" pitchFamily="49" charset="0"/>
                <a:cs typeface="Courier New" panose="02070309020205020404" pitchFamily="49" charset="0"/>
              </a:rPr>
              <a:t>, column2Name </a:t>
            </a:r>
            <a:r>
              <a:rPr lang="en-MY" sz="2000" b="1" dirty="0">
                <a:solidFill>
                  <a:srgbClr val="00B050"/>
                </a:solidFill>
                <a:latin typeface="Courier New" panose="02070309020205020404" pitchFamily="49" charset="0"/>
                <a:cs typeface="Courier New" panose="02070309020205020404" pitchFamily="49" charset="0"/>
              </a:rPr>
              <a:t>datatype</a:t>
            </a:r>
            <a:r>
              <a:rPr lang="en-MY" sz="2000" b="1" dirty="0">
                <a:solidFill>
                  <a:schemeClr val="accent4"/>
                </a:solidFill>
                <a:latin typeface="Courier New" panose="02070309020205020404" pitchFamily="49" charset="0"/>
                <a:cs typeface="Courier New" panose="02070309020205020404" pitchFamily="49" charset="0"/>
              </a:rPr>
              <a:t> </a:t>
            </a:r>
            <a:r>
              <a:rPr lang="en-MY" sz="2000" b="1" dirty="0">
                <a:solidFill>
                  <a:srgbClr val="00B0F0"/>
                </a:solidFill>
                <a:latin typeface="Courier New" panose="02070309020205020404" pitchFamily="49" charset="0"/>
                <a:cs typeface="Courier New" panose="02070309020205020404" pitchFamily="49" charset="0"/>
              </a:rPr>
              <a:t>[</a:t>
            </a:r>
            <a:r>
              <a:rPr lang="en-MY" sz="2000" b="1" dirty="0">
                <a:solidFill>
                  <a:srgbClr val="0070C0"/>
                </a:solidFill>
                <a:latin typeface="Courier New" panose="02070309020205020404" pitchFamily="49" charset="0"/>
                <a:cs typeface="Courier New" panose="02070309020205020404" pitchFamily="49" charset="0"/>
              </a:rPr>
              <a:t> </a:t>
            </a:r>
            <a:r>
              <a:rPr lang="en-MY" sz="2000" b="1" dirty="0">
                <a:solidFill>
                  <a:srgbClr val="FFC000"/>
                </a:solidFill>
                <a:latin typeface="Courier New" panose="02070309020205020404" pitchFamily="49" charset="0"/>
                <a:cs typeface="Courier New" panose="02070309020205020404" pitchFamily="49" charset="0"/>
              </a:rPr>
              <a:t>DEFAULT</a:t>
            </a:r>
            <a:r>
              <a:rPr lang="en-MY" sz="2000" b="1" dirty="0">
                <a:solidFill>
                  <a:schemeClr val="accent4"/>
                </a:solidFill>
                <a:latin typeface="Courier New" panose="02070309020205020404" pitchFamily="49" charset="0"/>
                <a:cs typeface="Courier New" panose="02070309020205020404" pitchFamily="49" charset="0"/>
              </a:rPr>
              <a:t> </a:t>
            </a:r>
            <a:r>
              <a:rPr lang="en-MY" sz="2000" dirty="0">
                <a:solidFill>
                  <a:schemeClr val="bg1"/>
                </a:solidFill>
                <a:latin typeface="Courier New" panose="02070309020205020404" pitchFamily="49" charset="0"/>
                <a:cs typeface="Courier New" panose="02070309020205020404" pitchFamily="49" charset="0"/>
              </a:rPr>
              <a:t>value</a:t>
            </a:r>
            <a:r>
              <a:rPr lang="en-MY" sz="2000" b="1" dirty="0">
                <a:solidFill>
                  <a:srgbClr val="00B0F0"/>
                </a:solidFill>
                <a:latin typeface="Courier New" panose="02070309020205020404" pitchFamily="49" charset="0"/>
                <a:cs typeface="Courier New" panose="02070309020205020404" pitchFamily="49" charset="0"/>
              </a:rPr>
              <a:t>]]</a:t>
            </a:r>
            <a:r>
              <a:rPr lang="en-MY" sz="2000" b="1" dirty="0">
                <a:solidFill>
                  <a:srgbClr val="FFFF00"/>
                </a:solidFill>
                <a:latin typeface="Courier New" panose="02070309020205020404" pitchFamily="49" charset="0"/>
                <a:cs typeface="Courier New" panose="02070309020205020404" pitchFamily="49" charset="0"/>
              </a:rPr>
              <a:t>);</a:t>
            </a:r>
            <a:r>
              <a:rPr lang="en-MY" sz="2000" dirty="0">
                <a:latin typeface="Courier New" panose="02070309020205020404" pitchFamily="49" charset="0"/>
                <a:cs typeface="Courier New" panose="02070309020205020404" pitchFamily="49" charset="0"/>
              </a:rPr>
              <a:t> </a:t>
            </a:r>
          </a:p>
        </p:txBody>
      </p:sp>
      <p:sp>
        <p:nvSpPr>
          <p:cNvPr id="8" name="Rectangle 7">
            <a:extLst>
              <a:ext uri="{FF2B5EF4-FFF2-40B4-BE49-F238E27FC236}">
                <a16:creationId xmlns:a16="http://schemas.microsoft.com/office/drawing/2014/main" id="{DA790758-C860-1833-C893-1E4DF7833727}"/>
              </a:ext>
            </a:extLst>
          </p:cNvPr>
          <p:cNvSpPr/>
          <p:nvPr/>
        </p:nvSpPr>
        <p:spPr>
          <a:xfrm>
            <a:off x="7146968" y="3990512"/>
            <a:ext cx="2162086" cy="26161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rgbClr val="0070C0"/>
                </a:solidFill>
                <a:effectLst>
                  <a:outerShdw blurRad="38100" dist="38100" dir="2700000" algn="tl">
                    <a:srgbClr val="000000">
                      <a:alpha val="43137"/>
                    </a:srgbClr>
                  </a:outerShdw>
                </a:effectLst>
              </a:rPr>
              <a:t>[ ]</a:t>
            </a:r>
            <a:r>
              <a:rPr lang="en-MY" sz="1400" b="1" dirty="0">
                <a:solidFill>
                  <a:schemeClr val="bg1"/>
                </a:solidFill>
                <a:effectLst>
                  <a:outerShdw blurRad="38100" dist="38100" dir="2700000" algn="tl">
                    <a:srgbClr val="000000">
                      <a:alpha val="43137"/>
                    </a:srgbClr>
                  </a:outerShdw>
                </a:effectLst>
              </a:rPr>
              <a:t> : optional</a:t>
            </a:r>
          </a:p>
        </p:txBody>
      </p:sp>
    </p:spTree>
    <p:extLst>
      <p:ext uri="{BB962C8B-B14F-4D97-AF65-F5344CB8AC3E}">
        <p14:creationId xmlns:p14="http://schemas.microsoft.com/office/powerpoint/2010/main" val="888563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CAF0E-E921-4CA4-8338-96B14EFB6380}"/>
              </a:ext>
            </a:extLst>
          </p:cNvPr>
          <p:cNvSpPr>
            <a:spLocks noGrp="1"/>
          </p:cNvSpPr>
          <p:nvPr>
            <p:ph type="title"/>
          </p:nvPr>
        </p:nvSpPr>
        <p:spPr>
          <a:xfrm>
            <a:off x="838200" y="267100"/>
            <a:ext cx="10515600" cy="1325563"/>
          </a:xfrm>
        </p:spPr>
        <p:txBody>
          <a:bodyPr/>
          <a:lstStyle/>
          <a:p>
            <a:r>
              <a:rPr lang="en-MY" b="1" dirty="0">
                <a:solidFill>
                  <a:schemeClr val="accent2"/>
                </a:solidFill>
              </a:rPr>
              <a:t>Example (CREATE TABLE) </a:t>
            </a:r>
            <a:br>
              <a:rPr lang="en-MY" b="1" dirty="0">
                <a:solidFill>
                  <a:schemeClr val="accent2"/>
                </a:solidFill>
              </a:rPr>
            </a:br>
            <a:r>
              <a:rPr lang="en-MY" b="1" dirty="0">
                <a:solidFill>
                  <a:schemeClr val="accent2"/>
                </a:solidFill>
              </a:rPr>
              <a:t>without constraint</a:t>
            </a:r>
          </a:p>
        </p:txBody>
      </p:sp>
      <p:sp>
        <p:nvSpPr>
          <p:cNvPr id="3" name="Content Placeholder 2">
            <a:extLst>
              <a:ext uri="{FF2B5EF4-FFF2-40B4-BE49-F238E27FC236}">
                <a16:creationId xmlns:a16="http://schemas.microsoft.com/office/drawing/2014/main" id="{82FC1372-FE27-4700-8303-4B7C54F9E41D}"/>
              </a:ext>
            </a:extLst>
          </p:cNvPr>
          <p:cNvSpPr>
            <a:spLocks noGrp="1"/>
          </p:cNvSpPr>
          <p:nvPr>
            <p:ph idx="1"/>
          </p:nvPr>
        </p:nvSpPr>
        <p:spPr>
          <a:xfrm>
            <a:off x="838200" y="1406768"/>
            <a:ext cx="10515600" cy="4949581"/>
          </a:xfrm>
        </p:spPr>
        <p:txBody>
          <a:bodyPr>
            <a:normAutofit/>
          </a:bodyPr>
          <a:lstStyle/>
          <a:p>
            <a:r>
              <a:rPr lang="en-MY" dirty="0"/>
              <a:t>Create table without constraint:</a:t>
            </a:r>
          </a:p>
          <a:p>
            <a:endParaRPr lang="en-MY" dirty="0"/>
          </a:p>
          <a:p>
            <a:endParaRPr lang="en-MY" dirty="0"/>
          </a:p>
          <a:p>
            <a:endParaRPr lang="en-MY" dirty="0"/>
          </a:p>
          <a:p>
            <a:endParaRPr lang="en-MY" dirty="0"/>
          </a:p>
          <a:p>
            <a:endParaRPr lang="en-MY" dirty="0"/>
          </a:p>
          <a:p>
            <a:endParaRPr lang="en-MY" dirty="0"/>
          </a:p>
          <a:p>
            <a:endParaRPr lang="en-MY" dirty="0"/>
          </a:p>
          <a:p>
            <a:r>
              <a:rPr lang="en-MY" dirty="0"/>
              <a:t>In this case, constraints (e.g.: Primary Key) can be added using </a:t>
            </a:r>
            <a:r>
              <a:rPr lang="en-MY" b="1" dirty="0">
                <a:solidFill>
                  <a:srgbClr val="0070C0"/>
                </a:solidFill>
              </a:rPr>
              <a:t>ALTER TABLE </a:t>
            </a:r>
            <a:r>
              <a:rPr lang="en-MY" dirty="0"/>
              <a:t>command.</a:t>
            </a:r>
          </a:p>
          <a:p>
            <a:endParaRPr lang="en-MY" dirty="0"/>
          </a:p>
        </p:txBody>
      </p:sp>
      <p:sp>
        <p:nvSpPr>
          <p:cNvPr id="5" name="Slide Number Placeholder 4">
            <a:extLst>
              <a:ext uri="{FF2B5EF4-FFF2-40B4-BE49-F238E27FC236}">
                <a16:creationId xmlns:a16="http://schemas.microsoft.com/office/drawing/2014/main" id="{424086DC-2D60-4D02-8FD7-D5B9E95EBF41}"/>
              </a:ext>
            </a:extLst>
          </p:cNvPr>
          <p:cNvSpPr>
            <a:spLocks noGrp="1"/>
          </p:cNvSpPr>
          <p:nvPr>
            <p:ph type="sldNum" sz="quarter" idx="12"/>
          </p:nvPr>
        </p:nvSpPr>
        <p:spPr/>
        <p:txBody>
          <a:bodyPr/>
          <a:lstStyle/>
          <a:p>
            <a:pPr>
              <a:defRPr/>
            </a:pPr>
            <a:fld id="{4AEEF2DB-3D68-4EFF-B92B-90C34555BE45}" type="slidenum">
              <a:rPr lang="en-US" smtClean="0"/>
              <a:pPr>
                <a:defRPr/>
              </a:pPr>
              <a:t>16</a:t>
            </a:fld>
            <a:endParaRPr lang="en-US" dirty="0"/>
          </a:p>
        </p:txBody>
      </p:sp>
      <p:sp>
        <p:nvSpPr>
          <p:cNvPr id="7" name="Rectangle 6">
            <a:extLst>
              <a:ext uri="{FF2B5EF4-FFF2-40B4-BE49-F238E27FC236}">
                <a16:creationId xmlns:a16="http://schemas.microsoft.com/office/drawing/2014/main" id="{ABF46F60-39FB-4D8F-9865-2BE177152DC6}"/>
              </a:ext>
            </a:extLst>
          </p:cNvPr>
          <p:cNvSpPr/>
          <p:nvPr/>
        </p:nvSpPr>
        <p:spPr>
          <a:xfrm>
            <a:off x="2481129" y="2098360"/>
            <a:ext cx="7125238" cy="1528246"/>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Department</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deptNo</a:t>
            </a:r>
            <a:r>
              <a:rPr lang="en-MY" sz="1600" b="1" dirty="0">
                <a:solidFill>
                  <a:srgbClr val="FFC000"/>
                </a:solidFill>
                <a:latin typeface="Courier New" panose="02070309020205020404" pitchFamily="49" charset="0"/>
                <a:cs typeface="Courier New" panose="02070309020205020404" pitchFamily="49" charset="0"/>
              </a:rPr>
              <a:t> INT(5),</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deptName</a:t>
            </a:r>
            <a:r>
              <a:rPr lang="en-MY" sz="1600" b="1" dirty="0">
                <a:solidFill>
                  <a:srgbClr val="FFC000"/>
                </a:solidFill>
                <a:latin typeface="Courier New" panose="02070309020205020404" pitchFamily="49" charset="0"/>
                <a:cs typeface="Courier New" panose="02070309020205020404" pitchFamily="49" charset="0"/>
              </a:rPr>
              <a:t> VARCHAR(20),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address</a:t>
            </a:r>
            <a:r>
              <a:rPr lang="en-MY" sz="1600" b="1" dirty="0">
                <a:solidFill>
                  <a:srgbClr val="FFC000"/>
                </a:solidFill>
                <a:latin typeface="Courier New" panose="02070309020205020404" pitchFamily="49" charset="0"/>
                <a:cs typeface="Courier New" panose="02070309020205020404" pitchFamily="49" charset="0"/>
              </a:rPr>
              <a:t> VARCHAR(30),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city</a:t>
            </a:r>
            <a:r>
              <a:rPr lang="en-MY" sz="1600" b="1" dirty="0">
                <a:solidFill>
                  <a:srgbClr val="FFC000"/>
                </a:solidFill>
                <a:latin typeface="Courier New" panose="02070309020205020404" pitchFamily="49" charset="0"/>
                <a:cs typeface="Courier New" panose="02070309020205020404" pitchFamily="49" charset="0"/>
              </a:rPr>
              <a:t> VARCHAR(15)</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latin typeface="Courier New" panose="02070309020205020404" pitchFamily="49" charset="0"/>
                <a:cs typeface="Courier New" panose="02070309020205020404" pitchFamily="49" charset="0"/>
              </a:rPr>
              <a:t> </a:t>
            </a:r>
          </a:p>
        </p:txBody>
      </p:sp>
      <p:sp>
        <p:nvSpPr>
          <p:cNvPr id="8" name="Rectangle 7">
            <a:extLst>
              <a:ext uri="{FF2B5EF4-FFF2-40B4-BE49-F238E27FC236}">
                <a16:creationId xmlns:a16="http://schemas.microsoft.com/office/drawing/2014/main" id="{CEB10E06-846A-4E7D-97AC-0EC9EA29A5A3}"/>
              </a:ext>
            </a:extLst>
          </p:cNvPr>
          <p:cNvSpPr/>
          <p:nvPr/>
        </p:nvSpPr>
        <p:spPr>
          <a:xfrm>
            <a:off x="2481129" y="3659625"/>
            <a:ext cx="7125238" cy="1528246"/>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Employees</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empID</a:t>
            </a:r>
            <a:r>
              <a:rPr lang="en-MY" sz="1600" b="1" dirty="0">
                <a:solidFill>
                  <a:srgbClr val="FFC000"/>
                </a:solidFill>
                <a:latin typeface="Courier New" panose="02070309020205020404" pitchFamily="49" charset="0"/>
                <a:cs typeface="Courier New" panose="02070309020205020404" pitchFamily="49" charset="0"/>
              </a:rPr>
              <a:t> INT,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fName</a:t>
            </a:r>
            <a:r>
              <a:rPr lang="en-MY" sz="1600" b="1" dirty="0">
                <a:solidFill>
                  <a:srgbClr val="FFC000"/>
                </a:solidFill>
                <a:latin typeface="Courier New" panose="02070309020205020404" pitchFamily="49" charset="0"/>
                <a:cs typeface="Courier New" panose="02070309020205020404" pitchFamily="49" charset="0"/>
              </a:rPr>
              <a:t> VARCHAR(10),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lName</a:t>
            </a:r>
            <a:r>
              <a:rPr lang="en-MY" sz="1600" b="1" dirty="0">
                <a:solidFill>
                  <a:srgbClr val="FFC000"/>
                </a:solidFill>
                <a:latin typeface="Courier New" panose="02070309020205020404" pitchFamily="49" charset="0"/>
                <a:cs typeface="Courier New" panose="02070309020205020404" pitchFamily="49" charset="0"/>
              </a:rPr>
              <a:t> VARCHAR(20),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deptNo</a:t>
            </a:r>
            <a:r>
              <a:rPr lang="en-MY" sz="1600" b="1" dirty="0">
                <a:solidFill>
                  <a:srgbClr val="FFC000"/>
                </a:solidFill>
                <a:latin typeface="Courier New" panose="02070309020205020404" pitchFamily="49" charset="0"/>
                <a:cs typeface="Courier New" panose="02070309020205020404" pitchFamily="49" charset="0"/>
              </a:rPr>
              <a:t> INT(5)</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292683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B7828-6D27-269B-A852-23971270D8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417A2-6040-08C6-1CAA-5B84D0FF5377}"/>
              </a:ext>
            </a:extLst>
          </p:cNvPr>
          <p:cNvSpPr>
            <a:spLocks noGrp="1"/>
          </p:cNvSpPr>
          <p:nvPr>
            <p:ph type="title"/>
          </p:nvPr>
        </p:nvSpPr>
        <p:spPr/>
        <p:txBody>
          <a:bodyPr/>
          <a:lstStyle/>
          <a:p>
            <a:r>
              <a:rPr lang="en-MY" b="1" dirty="0">
                <a:solidFill>
                  <a:schemeClr val="accent2"/>
                </a:solidFill>
              </a:rPr>
              <a:t>CREATE TABLE </a:t>
            </a:r>
            <a:br>
              <a:rPr lang="en-MY" b="1" dirty="0">
                <a:solidFill>
                  <a:schemeClr val="accent2"/>
                </a:solidFill>
              </a:rPr>
            </a:br>
            <a:r>
              <a:rPr lang="en-MY" b="1" dirty="0">
                <a:solidFill>
                  <a:schemeClr val="accent2"/>
                </a:solidFill>
              </a:rPr>
              <a:t>(WITH CONSTRAINTS AT COLUMN LEVEL)</a:t>
            </a:r>
          </a:p>
        </p:txBody>
      </p:sp>
      <p:sp>
        <p:nvSpPr>
          <p:cNvPr id="3" name="Content Placeholder 2">
            <a:extLst>
              <a:ext uri="{FF2B5EF4-FFF2-40B4-BE49-F238E27FC236}">
                <a16:creationId xmlns:a16="http://schemas.microsoft.com/office/drawing/2014/main" id="{B82C5F99-473F-D44C-3B33-512985BA3963}"/>
              </a:ext>
            </a:extLst>
          </p:cNvPr>
          <p:cNvSpPr>
            <a:spLocks noGrp="1"/>
          </p:cNvSpPr>
          <p:nvPr>
            <p:ph idx="1"/>
          </p:nvPr>
        </p:nvSpPr>
        <p:spPr/>
        <p:txBody>
          <a:bodyPr/>
          <a:lstStyle/>
          <a:p>
            <a:r>
              <a:rPr lang="en-MY" dirty="0"/>
              <a:t>Creating a table </a:t>
            </a:r>
            <a:r>
              <a:rPr lang="en-MY" b="1" dirty="0">
                <a:solidFill>
                  <a:srgbClr val="0070C0"/>
                </a:solidFill>
              </a:rPr>
              <a:t>with constraints</a:t>
            </a:r>
            <a:r>
              <a:rPr lang="en-MY" dirty="0"/>
              <a:t>.</a:t>
            </a:r>
          </a:p>
          <a:p>
            <a:r>
              <a:rPr lang="en-MY" dirty="0"/>
              <a:t>Constraints at </a:t>
            </a:r>
            <a:r>
              <a:rPr lang="en-MY" b="1" dirty="0">
                <a:solidFill>
                  <a:srgbClr val="C00000"/>
                </a:solidFill>
              </a:rPr>
              <a:t>column level</a:t>
            </a:r>
            <a:r>
              <a:rPr lang="en-MY" dirty="0"/>
              <a:t>.</a:t>
            </a:r>
          </a:p>
        </p:txBody>
      </p:sp>
      <p:sp>
        <p:nvSpPr>
          <p:cNvPr id="6" name="Slide Number Placeholder 5">
            <a:extLst>
              <a:ext uri="{FF2B5EF4-FFF2-40B4-BE49-F238E27FC236}">
                <a16:creationId xmlns:a16="http://schemas.microsoft.com/office/drawing/2014/main" id="{7F3C7629-480B-5F0C-E998-3AD85DB833B8}"/>
              </a:ext>
            </a:extLst>
          </p:cNvPr>
          <p:cNvSpPr>
            <a:spLocks noGrp="1"/>
          </p:cNvSpPr>
          <p:nvPr>
            <p:ph type="sldNum" sz="quarter" idx="12"/>
          </p:nvPr>
        </p:nvSpPr>
        <p:spPr/>
        <p:txBody>
          <a:bodyPr/>
          <a:lstStyle/>
          <a:p>
            <a:pPr>
              <a:defRPr/>
            </a:pPr>
            <a:fld id="{4AEEF2DB-3D68-4EFF-B92B-90C34555BE45}" type="slidenum">
              <a:rPr lang="en-US" smtClean="0"/>
              <a:pPr>
                <a:defRPr/>
              </a:pPr>
              <a:t>17</a:t>
            </a:fld>
            <a:endParaRPr lang="en-US" dirty="0"/>
          </a:p>
        </p:txBody>
      </p:sp>
      <p:sp>
        <p:nvSpPr>
          <p:cNvPr id="7" name="Rectangle 6">
            <a:extLst>
              <a:ext uri="{FF2B5EF4-FFF2-40B4-BE49-F238E27FC236}">
                <a16:creationId xmlns:a16="http://schemas.microsoft.com/office/drawing/2014/main" id="{7A32C7D2-2333-0BF1-E83A-FCA47DC3E522}"/>
              </a:ext>
            </a:extLst>
          </p:cNvPr>
          <p:cNvSpPr/>
          <p:nvPr/>
        </p:nvSpPr>
        <p:spPr>
          <a:xfrm>
            <a:off x="2481129" y="2785192"/>
            <a:ext cx="7443387" cy="159630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rgbClr val="FFC000"/>
                </a:solidFill>
                <a:latin typeface="Courier New" panose="02070309020205020404" pitchFamily="49" charset="0"/>
                <a:cs typeface="Courier New" panose="02070309020205020404" pitchFamily="49" charset="0"/>
              </a:rPr>
              <a:t>CREATE TABLE </a:t>
            </a:r>
            <a:r>
              <a:rPr lang="en-MY" dirty="0">
                <a:latin typeface="Courier New" panose="02070309020205020404" pitchFamily="49" charset="0"/>
                <a:cs typeface="Courier New" panose="02070309020205020404" pitchFamily="49" charset="0"/>
              </a:rPr>
              <a:t>tableName </a:t>
            </a:r>
          </a:p>
          <a:p>
            <a:r>
              <a:rPr lang="en-MY" b="1" dirty="0">
                <a:solidFill>
                  <a:srgbClr val="FFC000"/>
                </a:solidFill>
                <a:latin typeface="Courier New" panose="02070309020205020404" pitchFamily="49" charset="0"/>
                <a:cs typeface="Courier New" panose="02070309020205020404" pitchFamily="49" charset="0"/>
              </a:rPr>
              <a:t>(</a:t>
            </a:r>
            <a:r>
              <a:rPr lang="en-MY" dirty="0">
                <a:latin typeface="Courier New" panose="02070309020205020404" pitchFamily="49" charset="0"/>
                <a:cs typeface="Courier New" panose="02070309020205020404" pitchFamily="49" charset="0"/>
              </a:rPr>
              <a:t>columnName </a:t>
            </a:r>
            <a:r>
              <a:rPr lang="en-MY" b="1" dirty="0">
                <a:solidFill>
                  <a:srgbClr val="00B050"/>
                </a:solidFill>
                <a:latin typeface="Courier New" panose="02070309020205020404" pitchFamily="49" charset="0"/>
                <a:cs typeface="Courier New" panose="02070309020205020404" pitchFamily="49" charset="0"/>
              </a:rPr>
              <a:t>dataType</a:t>
            </a:r>
            <a:r>
              <a:rPr lang="en-MY" b="1" dirty="0">
                <a:solidFill>
                  <a:schemeClr val="accent4"/>
                </a:solidFill>
                <a:latin typeface="Courier New" panose="02070309020205020404" pitchFamily="49" charset="0"/>
                <a:cs typeface="Courier New" panose="02070309020205020404" pitchFamily="49" charset="0"/>
              </a:rPr>
              <a:t> </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CONSTRAINT</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constraintName</a:t>
            </a:r>
            <a:r>
              <a:rPr lang="en-MY" b="1" dirty="0">
                <a:solidFill>
                  <a:srgbClr val="00B0F0"/>
                </a:solidFill>
                <a:latin typeface="Courier New" panose="02070309020205020404" pitchFamily="49" charset="0"/>
                <a:cs typeface="Courier New" panose="02070309020205020404" pitchFamily="49" charset="0"/>
              </a:rPr>
              <a:t>]</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b="1" dirty="0">
                <a:solidFill>
                  <a:srgbClr val="00B050"/>
                </a:solidFill>
                <a:latin typeface="Courier New" panose="02070309020205020404" pitchFamily="49" charset="0"/>
                <a:cs typeface="Courier New" panose="02070309020205020404" pitchFamily="49" charset="0"/>
              </a:rPr>
              <a:t>constraintType</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DEFAULT</a:t>
            </a:r>
            <a:r>
              <a:rPr lang="en-MY" b="1" dirty="0">
                <a:solidFill>
                  <a:schemeClr val="accent4"/>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value</a:t>
            </a:r>
            <a:r>
              <a:rPr lang="en-MY" b="1" dirty="0">
                <a:solidFill>
                  <a:srgbClr val="00B0F0"/>
                </a:solidFill>
                <a:latin typeface="Courier New" panose="02070309020205020404" pitchFamily="49" charset="0"/>
                <a:cs typeface="Courier New" panose="02070309020205020404" pitchFamily="49" charset="0"/>
              </a:rPr>
              <a:t>]</a:t>
            </a:r>
          </a:p>
          <a:p>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a:t>
            </a:r>
            <a:r>
              <a:rPr lang="en-MY" b="1" dirty="0">
                <a:solidFill>
                  <a:schemeClr val="accent4"/>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column2Name</a:t>
            </a:r>
            <a:r>
              <a:rPr lang="en-MY" b="1" dirty="0">
                <a:solidFill>
                  <a:schemeClr val="accent4"/>
                </a:solidFill>
                <a:latin typeface="Courier New" panose="02070309020205020404" pitchFamily="49" charset="0"/>
                <a:cs typeface="Courier New" panose="02070309020205020404" pitchFamily="49" charset="0"/>
              </a:rPr>
              <a:t> </a:t>
            </a:r>
            <a:r>
              <a:rPr lang="en-MY" b="1" dirty="0">
                <a:solidFill>
                  <a:srgbClr val="00B050"/>
                </a:solidFill>
                <a:latin typeface="Courier New" panose="02070309020205020404" pitchFamily="49" charset="0"/>
                <a:cs typeface="Courier New" panose="02070309020205020404" pitchFamily="49" charset="0"/>
              </a:rPr>
              <a:t>datatype </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CONSTRAINT</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constraintName</a:t>
            </a:r>
            <a:r>
              <a:rPr lang="en-MY" b="1" dirty="0">
                <a:solidFill>
                  <a:srgbClr val="00B0F0"/>
                </a:solidFill>
                <a:latin typeface="Courier New" panose="02070309020205020404" pitchFamily="49" charset="0"/>
                <a:cs typeface="Courier New" panose="02070309020205020404" pitchFamily="49" charset="0"/>
              </a:rPr>
              <a:t>]</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b="1" dirty="0">
                <a:solidFill>
                  <a:srgbClr val="00B050"/>
                </a:solidFill>
                <a:latin typeface="Courier New" panose="02070309020205020404" pitchFamily="49" charset="0"/>
                <a:cs typeface="Courier New" panose="02070309020205020404" pitchFamily="49" charset="0"/>
              </a:rPr>
              <a:t>constraintType</a:t>
            </a:r>
            <a:r>
              <a:rPr lang="en-MY" b="1" dirty="0">
                <a:solidFill>
                  <a:schemeClr val="accent4"/>
                </a:solidFill>
                <a:latin typeface="Courier New" panose="02070309020205020404" pitchFamily="49" charset="0"/>
                <a:cs typeface="Courier New" panose="02070309020205020404" pitchFamily="49" charset="0"/>
              </a:rPr>
              <a:t> </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0070C0"/>
                </a:solidFill>
                <a:latin typeface="Courier New" panose="02070309020205020404" pitchFamily="49" charset="0"/>
                <a:cs typeface="Courier New" panose="02070309020205020404" pitchFamily="49" charset="0"/>
              </a:rPr>
              <a:t> </a:t>
            </a:r>
            <a:r>
              <a:rPr lang="en-MY" b="1" dirty="0">
                <a:solidFill>
                  <a:srgbClr val="FFC000"/>
                </a:solidFill>
                <a:latin typeface="Courier New" panose="02070309020205020404" pitchFamily="49" charset="0"/>
                <a:cs typeface="Courier New" panose="02070309020205020404" pitchFamily="49" charset="0"/>
              </a:rPr>
              <a:t>DEFAULT</a:t>
            </a:r>
            <a:r>
              <a:rPr lang="en-MY" b="1" dirty="0">
                <a:solidFill>
                  <a:schemeClr val="accent4"/>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value</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a:t>
            </a:r>
            <a:r>
              <a:rPr lang="en-MY" dirty="0">
                <a:latin typeface="Courier New" panose="02070309020205020404" pitchFamily="49" charset="0"/>
                <a:cs typeface="Courier New" panose="02070309020205020404" pitchFamily="49" charset="0"/>
              </a:rPr>
              <a:t> </a:t>
            </a:r>
          </a:p>
        </p:txBody>
      </p:sp>
      <p:sp>
        <p:nvSpPr>
          <p:cNvPr id="8" name="Rectangle 7">
            <a:extLst>
              <a:ext uri="{FF2B5EF4-FFF2-40B4-BE49-F238E27FC236}">
                <a16:creationId xmlns:a16="http://schemas.microsoft.com/office/drawing/2014/main" id="{9F3DA2AF-C377-EA97-2E30-67D07FF5B767}"/>
              </a:ext>
            </a:extLst>
          </p:cNvPr>
          <p:cNvSpPr/>
          <p:nvPr/>
        </p:nvSpPr>
        <p:spPr>
          <a:xfrm>
            <a:off x="7762429" y="4387220"/>
            <a:ext cx="2162086" cy="26161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rgbClr val="0070C0"/>
                </a:solidFill>
                <a:effectLst>
                  <a:outerShdw blurRad="38100" dist="38100" dir="2700000" algn="tl">
                    <a:srgbClr val="000000">
                      <a:alpha val="43137"/>
                    </a:srgbClr>
                  </a:outerShdw>
                </a:effectLst>
              </a:rPr>
              <a:t>[ ]</a:t>
            </a:r>
            <a:r>
              <a:rPr lang="en-MY" sz="1400" b="1" dirty="0">
                <a:solidFill>
                  <a:schemeClr val="bg1"/>
                </a:solidFill>
                <a:effectLst>
                  <a:outerShdw blurRad="38100" dist="38100" dir="2700000" algn="tl">
                    <a:srgbClr val="000000">
                      <a:alpha val="43137"/>
                    </a:srgbClr>
                  </a:outerShdw>
                </a:effectLst>
              </a:rPr>
              <a:t> : optional</a:t>
            </a:r>
          </a:p>
        </p:txBody>
      </p:sp>
    </p:spTree>
    <p:extLst>
      <p:ext uri="{BB962C8B-B14F-4D97-AF65-F5344CB8AC3E}">
        <p14:creationId xmlns:p14="http://schemas.microsoft.com/office/powerpoint/2010/main" val="36056418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75465-AFCC-11A5-0CA3-E8A2DF816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4FBB8-FF8B-019C-46AE-97793ABF1D3F}"/>
              </a:ext>
            </a:extLst>
          </p:cNvPr>
          <p:cNvSpPr>
            <a:spLocks noGrp="1"/>
          </p:cNvSpPr>
          <p:nvPr>
            <p:ph type="title"/>
          </p:nvPr>
        </p:nvSpPr>
        <p:spPr/>
        <p:txBody>
          <a:bodyPr/>
          <a:lstStyle/>
          <a:p>
            <a:r>
              <a:rPr lang="en-MY" b="1" dirty="0">
                <a:solidFill>
                  <a:schemeClr val="accent2"/>
                </a:solidFill>
              </a:rPr>
              <a:t>CREATE TABLE </a:t>
            </a:r>
            <a:br>
              <a:rPr lang="en-MY" b="1" dirty="0">
                <a:solidFill>
                  <a:schemeClr val="accent2"/>
                </a:solidFill>
              </a:rPr>
            </a:br>
            <a:r>
              <a:rPr lang="en-MY" b="1" dirty="0">
                <a:solidFill>
                  <a:schemeClr val="accent2"/>
                </a:solidFill>
              </a:rPr>
              <a:t>(WITH CONSTRAINTS AT TABLE LEVEL)</a:t>
            </a:r>
          </a:p>
        </p:txBody>
      </p:sp>
      <p:sp>
        <p:nvSpPr>
          <p:cNvPr id="3" name="Content Placeholder 2">
            <a:extLst>
              <a:ext uri="{FF2B5EF4-FFF2-40B4-BE49-F238E27FC236}">
                <a16:creationId xmlns:a16="http://schemas.microsoft.com/office/drawing/2014/main" id="{8B71A3EC-D617-6543-961D-F208F8559501}"/>
              </a:ext>
            </a:extLst>
          </p:cNvPr>
          <p:cNvSpPr>
            <a:spLocks noGrp="1"/>
          </p:cNvSpPr>
          <p:nvPr>
            <p:ph idx="1"/>
          </p:nvPr>
        </p:nvSpPr>
        <p:spPr/>
        <p:txBody>
          <a:bodyPr/>
          <a:lstStyle/>
          <a:p>
            <a:r>
              <a:rPr lang="en-MY" dirty="0"/>
              <a:t>Creating a table </a:t>
            </a:r>
            <a:r>
              <a:rPr lang="en-MY" b="1" dirty="0">
                <a:solidFill>
                  <a:srgbClr val="0070C0"/>
                </a:solidFill>
              </a:rPr>
              <a:t>with constraints</a:t>
            </a:r>
            <a:r>
              <a:rPr lang="en-MY" dirty="0"/>
              <a:t>.</a:t>
            </a:r>
          </a:p>
          <a:p>
            <a:r>
              <a:rPr lang="en-MY" dirty="0"/>
              <a:t>Constraints at </a:t>
            </a:r>
            <a:r>
              <a:rPr lang="en-MY" b="1" dirty="0">
                <a:solidFill>
                  <a:srgbClr val="C00000"/>
                </a:solidFill>
              </a:rPr>
              <a:t>table level</a:t>
            </a:r>
            <a:r>
              <a:rPr lang="en-MY" dirty="0"/>
              <a:t>.</a:t>
            </a:r>
          </a:p>
        </p:txBody>
      </p:sp>
      <p:sp>
        <p:nvSpPr>
          <p:cNvPr id="6" name="Slide Number Placeholder 5">
            <a:extLst>
              <a:ext uri="{FF2B5EF4-FFF2-40B4-BE49-F238E27FC236}">
                <a16:creationId xmlns:a16="http://schemas.microsoft.com/office/drawing/2014/main" id="{8D830FA3-9EA6-1CFA-D88F-E033BF30DB45}"/>
              </a:ext>
            </a:extLst>
          </p:cNvPr>
          <p:cNvSpPr>
            <a:spLocks noGrp="1"/>
          </p:cNvSpPr>
          <p:nvPr>
            <p:ph type="sldNum" sz="quarter" idx="12"/>
          </p:nvPr>
        </p:nvSpPr>
        <p:spPr/>
        <p:txBody>
          <a:bodyPr/>
          <a:lstStyle/>
          <a:p>
            <a:pPr>
              <a:defRPr/>
            </a:pPr>
            <a:fld id="{4AEEF2DB-3D68-4EFF-B92B-90C34555BE45}" type="slidenum">
              <a:rPr lang="en-US" smtClean="0"/>
              <a:pPr>
                <a:defRPr/>
              </a:pPr>
              <a:t>18</a:t>
            </a:fld>
            <a:endParaRPr lang="en-US" dirty="0"/>
          </a:p>
        </p:txBody>
      </p:sp>
      <p:sp>
        <p:nvSpPr>
          <p:cNvPr id="7" name="Rectangle 6">
            <a:extLst>
              <a:ext uri="{FF2B5EF4-FFF2-40B4-BE49-F238E27FC236}">
                <a16:creationId xmlns:a16="http://schemas.microsoft.com/office/drawing/2014/main" id="{8EC072C1-2F49-9EB1-EE15-37B1BCA46F9A}"/>
              </a:ext>
            </a:extLst>
          </p:cNvPr>
          <p:cNvSpPr/>
          <p:nvPr/>
        </p:nvSpPr>
        <p:spPr>
          <a:xfrm>
            <a:off x="2481129" y="2785192"/>
            <a:ext cx="7443387" cy="159630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rgbClr val="FFC000"/>
                </a:solidFill>
                <a:latin typeface="Courier New" panose="02070309020205020404" pitchFamily="49" charset="0"/>
                <a:cs typeface="Courier New" panose="02070309020205020404" pitchFamily="49" charset="0"/>
              </a:rPr>
              <a:t>CREATE TABLE </a:t>
            </a:r>
            <a:r>
              <a:rPr lang="en-MY" dirty="0">
                <a:latin typeface="Courier New" panose="02070309020205020404" pitchFamily="49" charset="0"/>
                <a:cs typeface="Courier New" panose="02070309020205020404" pitchFamily="49" charset="0"/>
              </a:rPr>
              <a:t>tableName </a:t>
            </a:r>
          </a:p>
          <a:p>
            <a:r>
              <a:rPr lang="en-MY" b="1" dirty="0">
                <a:solidFill>
                  <a:srgbClr val="FFC000"/>
                </a:solidFill>
                <a:latin typeface="Courier New" panose="02070309020205020404" pitchFamily="49" charset="0"/>
                <a:cs typeface="Courier New" panose="02070309020205020404" pitchFamily="49" charset="0"/>
              </a:rPr>
              <a:t>(</a:t>
            </a:r>
            <a:r>
              <a:rPr lang="en-MY" dirty="0">
                <a:latin typeface="Courier New" panose="02070309020205020404" pitchFamily="49" charset="0"/>
                <a:cs typeface="Courier New" panose="02070309020205020404" pitchFamily="49" charset="0"/>
              </a:rPr>
              <a:t>columnName </a:t>
            </a:r>
            <a:r>
              <a:rPr lang="en-MY" b="1" dirty="0">
                <a:solidFill>
                  <a:srgbClr val="00B050"/>
                </a:solidFill>
                <a:latin typeface="Courier New" panose="02070309020205020404" pitchFamily="49" charset="0"/>
                <a:cs typeface="Courier New" panose="02070309020205020404" pitchFamily="49" charset="0"/>
              </a:rPr>
              <a:t>dataType</a:t>
            </a:r>
            <a:r>
              <a:rPr lang="en-MY" b="1" dirty="0">
                <a:solidFill>
                  <a:schemeClr val="accent4"/>
                </a:solidFill>
                <a:latin typeface="Courier New" panose="02070309020205020404" pitchFamily="49" charset="0"/>
                <a:cs typeface="Courier New" panose="02070309020205020404" pitchFamily="49" charset="0"/>
              </a:rPr>
              <a:t> </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DEFAULT</a:t>
            </a:r>
            <a:r>
              <a:rPr lang="en-MY" b="1" dirty="0">
                <a:solidFill>
                  <a:schemeClr val="accent4"/>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value</a:t>
            </a:r>
            <a:r>
              <a:rPr lang="en-MY" b="1" dirty="0">
                <a:solidFill>
                  <a:srgbClr val="00B0F0"/>
                </a:solidFill>
                <a:latin typeface="Courier New" panose="02070309020205020404" pitchFamily="49" charset="0"/>
                <a:cs typeface="Courier New" panose="02070309020205020404" pitchFamily="49" charset="0"/>
              </a:rPr>
              <a:t>]</a:t>
            </a:r>
          </a:p>
          <a:p>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a:t>
            </a:r>
            <a:r>
              <a:rPr lang="en-MY" b="1" dirty="0">
                <a:solidFill>
                  <a:schemeClr val="accent4"/>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column2Name</a:t>
            </a:r>
            <a:r>
              <a:rPr lang="en-MY" b="1" dirty="0">
                <a:solidFill>
                  <a:schemeClr val="accent4"/>
                </a:solidFill>
                <a:latin typeface="Courier New" panose="02070309020205020404" pitchFamily="49" charset="0"/>
                <a:cs typeface="Courier New" panose="02070309020205020404" pitchFamily="49" charset="0"/>
              </a:rPr>
              <a:t> </a:t>
            </a:r>
            <a:r>
              <a:rPr lang="en-MY" b="1" dirty="0">
                <a:solidFill>
                  <a:srgbClr val="00B050"/>
                </a:solidFill>
                <a:latin typeface="Courier New" panose="02070309020205020404" pitchFamily="49" charset="0"/>
                <a:cs typeface="Courier New" panose="02070309020205020404" pitchFamily="49" charset="0"/>
              </a:rPr>
              <a:t>datatype</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0070C0"/>
                </a:solidFill>
                <a:latin typeface="Courier New" panose="02070309020205020404" pitchFamily="49" charset="0"/>
                <a:cs typeface="Courier New" panose="02070309020205020404" pitchFamily="49" charset="0"/>
              </a:rPr>
              <a:t> </a:t>
            </a:r>
            <a:r>
              <a:rPr lang="en-MY" b="1" dirty="0">
                <a:solidFill>
                  <a:srgbClr val="FFC000"/>
                </a:solidFill>
                <a:latin typeface="Courier New" panose="02070309020205020404" pitchFamily="49" charset="0"/>
                <a:cs typeface="Courier New" panose="02070309020205020404" pitchFamily="49" charset="0"/>
              </a:rPr>
              <a:t>DEFAULT</a:t>
            </a:r>
            <a:r>
              <a:rPr lang="en-MY" b="1" dirty="0">
                <a:solidFill>
                  <a:schemeClr val="accent4"/>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value</a:t>
            </a:r>
            <a:r>
              <a:rPr lang="en-MY" b="1" dirty="0">
                <a:solidFill>
                  <a:srgbClr val="00B0F0"/>
                </a:solidFill>
                <a:latin typeface="Courier New" panose="02070309020205020404" pitchFamily="49" charset="0"/>
                <a:cs typeface="Courier New" panose="02070309020205020404" pitchFamily="49" charset="0"/>
              </a:rPr>
              <a:t>]]</a:t>
            </a:r>
          </a:p>
          <a:p>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a:t>
            </a:r>
            <a:r>
              <a:rPr lang="en-MY" b="1" dirty="0">
                <a:solidFill>
                  <a:srgbClr val="0070C0"/>
                </a:solidFill>
                <a:latin typeface="Courier New" panose="02070309020205020404" pitchFamily="49" charset="0"/>
                <a:cs typeface="Courier New" panose="02070309020205020404" pitchFamily="49" charset="0"/>
              </a:rPr>
              <a:t> </a:t>
            </a:r>
            <a:r>
              <a:rPr lang="en-MY" b="1" dirty="0">
                <a:solidFill>
                  <a:srgbClr val="FFC000"/>
                </a:solidFill>
                <a:latin typeface="Courier New" panose="02070309020205020404" pitchFamily="49" charset="0"/>
                <a:cs typeface="Courier New" panose="02070309020205020404" pitchFamily="49" charset="0"/>
              </a:rPr>
              <a:t>CONSTRAINT</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constraintName</a:t>
            </a:r>
            <a:r>
              <a:rPr lang="en-MY" b="1" dirty="0">
                <a:solidFill>
                  <a:schemeClr val="accent5">
                    <a:lumMod val="75000"/>
                  </a:schemeClr>
                </a:solidFill>
                <a:latin typeface="Courier New" panose="02070309020205020404" pitchFamily="49" charset="0"/>
                <a:cs typeface="Courier New" panose="02070309020205020404" pitchFamily="49" charset="0"/>
              </a:rPr>
              <a:t> </a:t>
            </a:r>
            <a:r>
              <a:rPr lang="en-MY" b="1" dirty="0">
                <a:solidFill>
                  <a:srgbClr val="00B050"/>
                </a:solidFill>
                <a:latin typeface="Courier New" panose="02070309020205020404" pitchFamily="49" charset="0"/>
                <a:cs typeface="Courier New" panose="02070309020205020404" pitchFamily="49" charset="0"/>
              </a:rPr>
              <a:t>constraintType</a:t>
            </a:r>
            <a:r>
              <a:rPr lang="en-MY" b="1" dirty="0">
                <a:solidFill>
                  <a:srgbClr val="FFC000"/>
                </a:solidFill>
                <a:latin typeface="Courier New" panose="02070309020205020404" pitchFamily="49" charset="0"/>
                <a:cs typeface="Courier New" panose="02070309020205020404" pitchFamily="49" charset="0"/>
              </a:rPr>
              <a:t> (</a:t>
            </a:r>
            <a:r>
              <a:rPr lang="en-MY" dirty="0">
                <a:solidFill>
                  <a:schemeClr val="bg1"/>
                </a:solidFill>
                <a:latin typeface="Courier New" panose="02070309020205020404" pitchFamily="49" charset="0"/>
                <a:cs typeface="Courier New" panose="02070309020205020404" pitchFamily="49" charset="0"/>
              </a:rPr>
              <a:t>columnName,…</a:t>
            </a:r>
            <a:r>
              <a:rPr lang="en-MY" b="1" dirty="0">
                <a:solidFill>
                  <a:srgbClr val="FFC000"/>
                </a:solidFill>
                <a:latin typeface="Courier New" panose="02070309020205020404" pitchFamily="49" charset="0"/>
                <a:cs typeface="Courier New" panose="02070309020205020404" pitchFamily="49" charset="0"/>
              </a:rPr>
              <a:t>)</a:t>
            </a:r>
            <a:r>
              <a:rPr lang="en-MY" b="1" dirty="0">
                <a:solidFill>
                  <a:srgbClr val="00B0F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a:t>
            </a:r>
            <a:r>
              <a:rPr lang="en-MY" dirty="0">
                <a:latin typeface="Courier New" panose="02070309020205020404" pitchFamily="49" charset="0"/>
                <a:cs typeface="Courier New" panose="02070309020205020404" pitchFamily="49" charset="0"/>
              </a:rPr>
              <a:t> </a:t>
            </a:r>
          </a:p>
        </p:txBody>
      </p:sp>
      <p:sp>
        <p:nvSpPr>
          <p:cNvPr id="8" name="Rectangle 7">
            <a:extLst>
              <a:ext uri="{FF2B5EF4-FFF2-40B4-BE49-F238E27FC236}">
                <a16:creationId xmlns:a16="http://schemas.microsoft.com/office/drawing/2014/main" id="{88E99DC9-D723-12B4-982E-CCD2AC6A8DC3}"/>
              </a:ext>
            </a:extLst>
          </p:cNvPr>
          <p:cNvSpPr/>
          <p:nvPr/>
        </p:nvSpPr>
        <p:spPr>
          <a:xfrm>
            <a:off x="7762429" y="4387220"/>
            <a:ext cx="2162086" cy="26161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rgbClr val="0070C0"/>
                </a:solidFill>
                <a:effectLst>
                  <a:outerShdw blurRad="38100" dist="38100" dir="2700000" algn="tl">
                    <a:srgbClr val="000000">
                      <a:alpha val="43137"/>
                    </a:srgbClr>
                  </a:outerShdw>
                </a:effectLst>
              </a:rPr>
              <a:t>[ ]</a:t>
            </a:r>
            <a:r>
              <a:rPr lang="en-MY" sz="1400" b="1" dirty="0">
                <a:solidFill>
                  <a:schemeClr val="bg1"/>
                </a:solidFill>
                <a:effectLst>
                  <a:outerShdw blurRad="38100" dist="38100" dir="2700000" algn="tl">
                    <a:srgbClr val="000000">
                      <a:alpha val="43137"/>
                    </a:srgbClr>
                  </a:outerShdw>
                </a:effectLst>
              </a:rPr>
              <a:t> : optional</a:t>
            </a:r>
          </a:p>
        </p:txBody>
      </p:sp>
    </p:spTree>
    <p:extLst>
      <p:ext uri="{BB962C8B-B14F-4D97-AF65-F5344CB8AC3E}">
        <p14:creationId xmlns:p14="http://schemas.microsoft.com/office/powerpoint/2010/main" val="29627175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EC8C7-30CA-2A7F-EA7D-620F60F4D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03D188-ABED-B313-01E7-B22B64A5EE3E}"/>
              </a:ext>
            </a:extLst>
          </p:cNvPr>
          <p:cNvSpPr>
            <a:spLocks noGrp="1"/>
          </p:cNvSpPr>
          <p:nvPr>
            <p:ph type="title"/>
          </p:nvPr>
        </p:nvSpPr>
        <p:spPr/>
        <p:txBody>
          <a:bodyPr/>
          <a:lstStyle/>
          <a:p>
            <a:r>
              <a:rPr lang="en-MY" b="1" dirty="0">
                <a:solidFill>
                  <a:schemeClr val="accent2"/>
                </a:solidFill>
              </a:rPr>
              <a:t>PRIMARY KEY Constraint</a:t>
            </a:r>
          </a:p>
        </p:txBody>
      </p:sp>
      <p:sp>
        <p:nvSpPr>
          <p:cNvPr id="3" name="Content Placeholder 2">
            <a:extLst>
              <a:ext uri="{FF2B5EF4-FFF2-40B4-BE49-F238E27FC236}">
                <a16:creationId xmlns:a16="http://schemas.microsoft.com/office/drawing/2014/main" id="{188E31BE-9B09-E258-C749-7D5B34DA5D6F}"/>
              </a:ext>
            </a:extLst>
          </p:cNvPr>
          <p:cNvSpPr>
            <a:spLocks noGrp="1"/>
          </p:cNvSpPr>
          <p:nvPr>
            <p:ph idx="1"/>
          </p:nvPr>
        </p:nvSpPr>
        <p:spPr/>
        <p:txBody>
          <a:bodyPr>
            <a:normAutofit/>
          </a:bodyPr>
          <a:lstStyle/>
          <a:p>
            <a:r>
              <a:rPr lang="en-MY" sz="3200" dirty="0"/>
              <a:t>A </a:t>
            </a:r>
            <a:r>
              <a:rPr lang="en-MY" sz="3200" b="1" dirty="0">
                <a:solidFill>
                  <a:schemeClr val="accent2"/>
                </a:solidFill>
              </a:rPr>
              <a:t>PRIMARY KEY </a:t>
            </a:r>
            <a:r>
              <a:rPr lang="en-MY" sz="3200" dirty="0"/>
              <a:t>constraint  creates a primary key for the table</a:t>
            </a:r>
          </a:p>
          <a:p>
            <a:r>
              <a:rPr lang="en-MY" sz="3200" dirty="0"/>
              <a:t>Only </a:t>
            </a:r>
            <a:r>
              <a:rPr lang="en-MY" sz="3200" b="1" dirty="0">
                <a:solidFill>
                  <a:schemeClr val="accent2"/>
                </a:solidFill>
              </a:rPr>
              <a:t>one</a:t>
            </a:r>
            <a:r>
              <a:rPr lang="en-MY" sz="3200" dirty="0"/>
              <a:t> Primary Key can be created for each table</a:t>
            </a:r>
          </a:p>
          <a:p>
            <a:r>
              <a:rPr lang="en-MY" sz="3200" dirty="0"/>
              <a:t>The PRIMARY KEY constraint is </a:t>
            </a:r>
            <a:r>
              <a:rPr lang="en-MY" sz="3200" b="1" u="sng" dirty="0">
                <a:solidFill>
                  <a:schemeClr val="accent2"/>
                </a:solidFill>
              </a:rPr>
              <a:t>a column </a:t>
            </a:r>
            <a:r>
              <a:rPr lang="en-MY" sz="3200" dirty="0"/>
              <a:t>or </a:t>
            </a:r>
            <a:r>
              <a:rPr lang="en-MY" sz="3200" b="1" u="sng" dirty="0">
                <a:solidFill>
                  <a:schemeClr val="accent2"/>
                </a:solidFill>
              </a:rPr>
              <a:t>a set of columns </a:t>
            </a:r>
            <a:r>
              <a:rPr lang="en-MY" sz="3200" dirty="0"/>
              <a:t>that uniquely identifies each row in a table</a:t>
            </a:r>
          </a:p>
          <a:p>
            <a:r>
              <a:rPr lang="en-MY" sz="3200" b="1" dirty="0">
                <a:solidFill>
                  <a:schemeClr val="accent2"/>
                </a:solidFill>
              </a:rPr>
              <a:t>No column </a:t>
            </a:r>
            <a:r>
              <a:rPr lang="en-MY" sz="3200" dirty="0"/>
              <a:t>that is part of the primary key can contain a </a:t>
            </a:r>
            <a:r>
              <a:rPr lang="en-MY" sz="3200" b="1" dirty="0">
                <a:solidFill>
                  <a:schemeClr val="accent2"/>
                </a:solidFill>
              </a:rPr>
              <a:t>NULL value</a:t>
            </a:r>
          </a:p>
          <a:p>
            <a:r>
              <a:rPr lang="en-MY" sz="3200" dirty="0"/>
              <a:t>A </a:t>
            </a:r>
            <a:r>
              <a:rPr lang="en-MY" sz="3200" b="1" u="sng" dirty="0">
                <a:solidFill>
                  <a:schemeClr val="accent2"/>
                </a:solidFill>
              </a:rPr>
              <a:t>composite primary key </a:t>
            </a:r>
            <a:r>
              <a:rPr lang="en-MY" sz="3200" dirty="0"/>
              <a:t>must be created at the </a:t>
            </a:r>
            <a:r>
              <a:rPr lang="en-MY" sz="3200" b="1" u="sng" dirty="0">
                <a:solidFill>
                  <a:schemeClr val="accent2"/>
                </a:solidFill>
              </a:rPr>
              <a:t>table level</a:t>
            </a:r>
          </a:p>
        </p:txBody>
      </p:sp>
      <p:sp>
        <p:nvSpPr>
          <p:cNvPr id="6" name="Slide Number Placeholder 5">
            <a:extLst>
              <a:ext uri="{FF2B5EF4-FFF2-40B4-BE49-F238E27FC236}">
                <a16:creationId xmlns:a16="http://schemas.microsoft.com/office/drawing/2014/main" id="{DF77215C-8563-78F5-B4E8-B6634D9BBC97}"/>
              </a:ext>
            </a:extLst>
          </p:cNvPr>
          <p:cNvSpPr>
            <a:spLocks noGrp="1"/>
          </p:cNvSpPr>
          <p:nvPr>
            <p:ph type="sldNum" sz="quarter" idx="12"/>
          </p:nvPr>
        </p:nvSpPr>
        <p:spPr/>
        <p:txBody>
          <a:bodyPr/>
          <a:lstStyle/>
          <a:p>
            <a:pPr>
              <a:defRPr/>
            </a:pPr>
            <a:fld id="{4AEEF2DB-3D68-4EFF-B92B-90C34555BE45}" type="slidenum">
              <a:rPr lang="en-US" smtClean="0"/>
              <a:pPr>
                <a:defRPr/>
              </a:pPr>
              <a:t>19</a:t>
            </a:fld>
            <a:endParaRPr lang="en-US" dirty="0"/>
          </a:p>
        </p:txBody>
      </p:sp>
    </p:spTree>
    <p:extLst>
      <p:ext uri="{BB962C8B-B14F-4D97-AF65-F5344CB8AC3E}">
        <p14:creationId xmlns:p14="http://schemas.microsoft.com/office/powerpoint/2010/main" val="26341396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51206-9D22-4804-A274-1621A0149438}"/>
              </a:ext>
            </a:extLst>
          </p:cNvPr>
          <p:cNvSpPr>
            <a:spLocks noGrp="1"/>
          </p:cNvSpPr>
          <p:nvPr>
            <p:ph type="title"/>
          </p:nvPr>
        </p:nvSpPr>
        <p:spPr/>
        <p:txBody>
          <a:bodyPr/>
          <a:lstStyle/>
          <a:p>
            <a:r>
              <a:rPr lang="en-MY" b="1" dirty="0">
                <a:solidFill>
                  <a:schemeClr val="accent2"/>
                </a:solidFill>
              </a:rPr>
              <a:t>Example (CREATE TABLE) with constraints</a:t>
            </a:r>
          </a:p>
        </p:txBody>
      </p:sp>
      <p:sp>
        <p:nvSpPr>
          <p:cNvPr id="5" name="Slide Number Placeholder 4">
            <a:extLst>
              <a:ext uri="{FF2B5EF4-FFF2-40B4-BE49-F238E27FC236}">
                <a16:creationId xmlns:a16="http://schemas.microsoft.com/office/drawing/2014/main" id="{9BF6CA8C-CD63-4ECF-91D3-D5E859DE16BF}"/>
              </a:ext>
            </a:extLst>
          </p:cNvPr>
          <p:cNvSpPr>
            <a:spLocks noGrp="1"/>
          </p:cNvSpPr>
          <p:nvPr>
            <p:ph type="sldNum" sz="quarter" idx="12"/>
          </p:nvPr>
        </p:nvSpPr>
        <p:spPr/>
        <p:txBody>
          <a:bodyPr/>
          <a:lstStyle/>
          <a:p>
            <a:pPr>
              <a:defRPr/>
            </a:pPr>
            <a:fld id="{4AEEF2DB-3D68-4EFF-B92B-90C34555BE45}" type="slidenum">
              <a:rPr lang="en-US" smtClean="0"/>
              <a:pPr>
                <a:defRPr/>
              </a:pPr>
              <a:t>20</a:t>
            </a:fld>
            <a:endParaRPr lang="en-US" dirty="0"/>
          </a:p>
        </p:txBody>
      </p:sp>
      <p:sp>
        <p:nvSpPr>
          <p:cNvPr id="7" name="Rectangle 6">
            <a:extLst>
              <a:ext uri="{FF2B5EF4-FFF2-40B4-BE49-F238E27FC236}">
                <a16:creationId xmlns:a16="http://schemas.microsoft.com/office/drawing/2014/main" id="{851E774A-7ACE-4CB1-A449-18E014711F0B}"/>
              </a:ext>
            </a:extLst>
          </p:cNvPr>
          <p:cNvSpPr/>
          <p:nvPr/>
        </p:nvSpPr>
        <p:spPr>
          <a:xfrm>
            <a:off x="193430" y="1876181"/>
            <a:ext cx="10427677" cy="155281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Department</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deptNo</a:t>
            </a:r>
            <a:r>
              <a:rPr lang="en-MY" sz="1600" b="1" dirty="0">
                <a:solidFill>
                  <a:srgbClr val="FFC000"/>
                </a:solidFill>
                <a:latin typeface="Courier New" panose="02070309020205020404" pitchFamily="49" charset="0"/>
                <a:cs typeface="Courier New" panose="02070309020205020404" pitchFamily="49" charset="0"/>
              </a:rPr>
              <a:t> INT(5) CONSTRAINT </a:t>
            </a:r>
            <a:r>
              <a:rPr lang="en-MY" sz="1600" dirty="0" err="1">
                <a:solidFill>
                  <a:schemeClr val="bg1"/>
                </a:solidFill>
                <a:latin typeface="Courier New" panose="02070309020205020404" pitchFamily="49" charset="0"/>
                <a:cs typeface="Courier New" panose="02070309020205020404" pitchFamily="49" charset="0"/>
              </a:rPr>
              <a:t>dept_deptNo_pk</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PRIMARY KEY</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deptName</a:t>
            </a:r>
            <a:r>
              <a:rPr lang="en-MY" sz="1600" b="1" dirty="0">
                <a:solidFill>
                  <a:srgbClr val="FFC000"/>
                </a:solidFill>
                <a:latin typeface="Courier New" panose="02070309020205020404" pitchFamily="49" charset="0"/>
                <a:cs typeface="Courier New" panose="02070309020205020404" pitchFamily="49" charset="0"/>
              </a:rPr>
              <a:t> VARCHAR(20)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address</a:t>
            </a:r>
            <a:r>
              <a:rPr lang="en-MY" sz="1600" b="1" dirty="0">
                <a:solidFill>
                  <a:srgbClr val="FFC000"/>
                </a:solidFill>
                <a:latin typeface="Courier New" panose="02070309020205020404" pitchFamily="49" charset="0"/>
                <a:cs typeface="Courier New" panose="02070309020205020404" pitchFamily="49" charset="0"/>
              </a:rPr>
              <a:t> VARCHAR(30),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city</a:t>
            </a:r>
            <a:r>
              <a:rPr lang="en-MY" sz="1600" b="1" dirty="0">
                <a:solidFill>
                  <a:srgbClr val="FFC000"/>
                </a:solidFill>
                <a:latin typeface="Courier New" panose="02070309020205020404" pitchFamily="49" charset="0"/>
                <a:cs typeface="Courier New" panose="02070309020205020404" pitchFamily="49" charset="0"/>
              </a:rPr>
              <a:t> INT(15)</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p:txBody>
      </p:sp>
      <p:sp>
        <p:nvSpPr>
          <p:cNvPr id="8" name="Rectangle 7">
            <a:extLst>
              <a:ext uri="{FF2B5EF4-FFF2-40B4-BE49-F238E27FC236}">
                <a16:creationId xmlns:a16="http://schemas.microsoft.com/office/drawing/2014/main" id="{2073B3E1-A203-4668-8410-E26927E3A4B4}"/>
              </a:ext>
            </a:extLst>
          </p:cNvPr>
          <p:cNvSpPr/>
          <p:nvPr/>
        </p:nvSpPr>
        <p:spPr>
          <a:xfrm>
            <a:off x="193431" y="4221804"/>
            <a:ext cx="10427677" cy="2271071"/>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Department</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deptNo</a:t>
            </a:r>
            <a:r>
              <a:rPr lang="en-MY" sz="1600" b="1" dirty="0">
                <a:solidFill>
                  <a:srgbClr val="FFC000"/>
                </a:solidFill>
                <a:latin typeface="Courier New" panose="02070309020205020404" pitchFamily="49" charset="0"/>
                <a:cs typeface="Courier New" panose="02070309020205020404" pitchFamily="49" charset="0"/>
              </a:rPr>
              <a:t> INT(5),</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deptName</a:t>
            </a:r>
            <a:r>
              <a:rPr lang="en-MY" sz="1600" b="1" dirty="0">
                <a:solidFill>
                  <a:srgbClr val="FFC000"/>
                </a:solidFill>
                <a:latin typeface="Courier New" panose="02070309020205020404" pitchFamily="49" charset="0"/>
                <a:cs typeface="Courier New" panose="02070309020205020404" pitchFamily="49" charset="0"/>
              </a:rPr>
              <a:t> VARCHAR(20)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address</a:t>
            </a:r>
            <a:r>
              <a:rPr lang="en-MY" sz="1600" b="1" dirty="0">
                <a:solidFill>
                  <a:srgbClr val="FFC000"/>
                </a:solidFill>
                <a:latin typeface="Courier New" panose="02070309020205020404" pitchFamily="49" charset="0"/>
                <a:cs typeface="Courier New" panose="02070309020205020404" pitchFamily="49" charset="0"/>
              </a:rPr>
              <a:t> VARCHAR(30),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city</a:t>
            </a:r>
            <a:r>
              <a:rPr lang="en-MY" sz="1600" b="1" dirty="0">
                <a:solidFill>
                  <a:srgbClr val="FFC000"/>
                </a:solidFill>
                <a:latin typeface="Courier New" panose="02070309020205020404" pitchFamily="49" charset="0"/>
                <a:cs typeface="Courier New" panose="02070309020205020404" pitchFamily="49" charset="0"/>
              </a:rPr>
              <a:t> INT(15),</a:t>
            </a:r>
          </a:p>
          <a:p>
            <a:r>
              <a:rPr lang="en-MY" sz="1600" b="1" dirty="0">
                <a:solidFill>
                  <a:srgbClr val="FFC000"/>
                </a:solidFill>
                <a:latin typeface="Courier New" panose="02070309020205020404" pitchFamily="49" charset="0"/>
                <a:cs typeface="Courier New" panose="02070309020205020404" pitchFamily="49" charset="0"/>
              </a:rPr>
              <a:t>	CONSTRAINT </a:t>
            </a:r>
            <a:r>
              <a:rPr lang="en-MY" sz="1600" dirty="0" err="1">
                <a:solidFill>
                  <a:schemeClr val="bg1"/>
                </a:solidFill>
                <a:latin typeface="Courier New" panose="02070309020205020404" pitchFamily="49" charset="0"/>
                <a:cs typeface="Courier New" panose="02070309020205020404" pitchFamily="49" charset="0"/>
              </a:rPr>
              <a:t>dept_deptNo_pk</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PRIMARY KEY </a:t>
            </a:r>
            <a:r>
              <a:rPr lang="en-MY" sz="1600" b="1" dirty="0">
                <a:solidFill>
                  <a:schemeClr val="bg1"/>
                </a:solidFill>
                <a:latin typeface="Courier New" panose="02070309020205020404" pitchFamily="49" charset="0"/>
                <a:cs typeface="Courier New" panose="02070309020205020404" pitchFamily="49" charset="0"/>
              </a:rPr>
              <a:t>(</a:t>
            </a:r>
            <a:r>
              <a:rPr lang="en-MY" sz="1600" b="1" dirty="0" err="1">
                <a:solidFill>
                  <a:schemeClr val="bg1"/>
                </a:solidFill>
                <a:latin typeface="Courier New" panose="02070309020205020404" pitchFamily="49" charset="0"/>
                <a:cs typeface="Courier New" panose="02070309020205020404" pitchFamily="49" charset="0"/>
              </a:rPr>
              <a:t>dept_No</a:t>
            </a:r>
            <a:r>
              <a:rPr lang="en-MY" sz="1600" b="1" dirty="0">
                <a:solidFill>
                  <a:schemeClr val="bg1"/>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p:txBody>
      </p:sp>
      <p:sp>
        <p:nvSpPr>
          <p:cNvPr id="22" name="TextBox 21">
            <a:extLst>
              <a:ext uri="{FF2B5EF4-FFF2-40B4-BE49-F238E27FC236}">
                <a16:creationId xmlns:a16="http://schemas.microsoft.com/office/drawing/2014/main" id="{B42D8E22-6E9B-F48D-1615-696FDC4AB7E1}"/>
              </a:ext>
            </a:extLst>
          </p:cNvPr>
          <p:cNvSpPr txBox="1"/>
          <p:nvPr/>
        </p:nvSpPr>
        <p:spPr>
          <a:xfrm>
            <a:off x="193430" y="1462915"/>
            <a:ext cx="2740109" cy="369332"/>
          </a:xfrm>
          <a:prstGeom prst="rect">
            <a:avLst/>
          </a:prstGeom>
          <a:noFill/>
        </p:spPr>
        <p:txBody>
          <a:bodyPr wrap="none" rtlCol="0">
            <a:spAutoFit/>
          </a:bodyPr>
          <a:lstStyle/>
          <a:p>
            <a:pPr marL="285750" indent="-285750">
              <a:buFont typeface="Arial" panose="020B0604020202020204" pitchFamily="34" charset="0"/>
              <a:buChar char="•"/>
            </a:pPr>
            <a:r>
              <a:rPr lang="en-GB" b="1" dirty="0">
                <a:solidFill>
                  <a:srgbClr val="00B0F0"/>
                </a:solidFill>
              </a:rPr>
              <a:t>Column-level constraint</a:t>
            </a:r>
          </a:p>
        </p:txBody>
      </p:sp>
      <p:sp>
        <p:nvSpPr>
          <p:cNvPr id="23" name="TextBox 22">
            <a:extLst>
              <a:ext uri="{FF2B5EF4-FFF2-40B4-BE49-F238E27FC236}">
                <a16:creationId xmlns:a16="http://schemas.microsoft.com/office/drawing/2014/main" id="{FEAF38B2-03D4-14B2-C52D-E1C60D38F657}"/>
              </a:ext>
            </a:extLst>
          </p:cNvPr>
          <p:cNvSpPr txBox="1"/>
          <p:nvPr/>
        </p:nvSpPr>
        <p:spPr>
          <a:xfrm>
            <a:off x="193429" y="3842959"/>
            <a:ext cx="2509470" cy="369332"/>
          </a:xfrm>
          <a:prstGeom prst="rect">
            <a:avLst/>
          </a:prstGeom>
          <a:noFill/>
        </p:spPr>
        <p:txBody>
          <a:bodyPr wrap="none" rtlCol="0">
            <a:spAutoFit/>
          </a:bodyPr>
          <a:lstStyle/>
          <a:p>
            <a:pPr marL="285750" indent="-285750">
              <a:buFont typeface="Arial" panose="020B0604020202020204" pitchFamily="34" charset="0"/>
              <a:buChar char="•"/>
            </a:pPr>
            <a:r>
              <a:rPr lang="en-GB" b="1" dirty="0">
                <a:solidFill>
                  <a:schemeClr val="accent2"/>
                </a:solidFill>
              </a:rPr>
              <a:t>Table-level constraint</a:t>
            </a:r>
          </a:p>
        </p:txBody>
      </p:sp>
      <p:sp>
        <p:nvSpPr>
          <p:cNvPr id="24" name="Rectangle 23">
            <a:extLst>
              <a:ext uri="{FF2B5EF4-FFF2-40B4-BE49-F238E27FC236}">
                <a16:creationId xmlns:a16="http://schemas.microsoft.com/office/drawing/2014/main" id="{E705ED38-4DFD-B893-9C00-19455E440AB7}"/>
              </a:ext>
            </a:extLst>
          </p:cNvPr>
          <p:cNvSpPr/>
          <p:nvPr/>
        </p:nvSpPr>
        <p:spPr>
          <a:xfrm>
            <a:off x="1125415" y="2144839"/>
            <a:ext cx="6481187" cy="276813"/>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5" name="Rectangle 24">
            <a:extLst>
              <a:ext uri="{FF2B5EF4-FFF2-40B4-BE49-F238E27FC236}">
                <a16:creationId xmlns:a16="http://schemas.microsoft.com/office/drawing/2014/main" id="{8DE2E900-4438-8FA8-93F1-18898127FF10}"/>
              </a:ext>
            </a:extLst>
          </p:cNvPr>
          <p:cNvSpPr/>
          <p:nvPr/>
        </p:nvSpPr>
        <p:spPr>
          <a:xfrm>
            <a:off x="1125415" y="5684977"/>
            <a:ext cx="5858190" cy="337102"/>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4024935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516D7-110C-F9FF-63D3-E0B6DB20E2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83A37-A050-6083-63EC-93010316BB4A}"/>
              </a:ext>
            </a:extLst>
          </p:cNvPr>
          <p:cNvSpPr>
            <a:spLocks noGrp="1"/>
          </p:cNvSpPr>
          <p:nvPr>
            <p:ph type="title"/>
          </p:nvPr>
        </p:nvSpPr>
        <p:spPr/>
        <p:txBody>
          <a:bodyPr/>
          <a:lstStyle/>
          <a:p>
            <a:r>
              <a:rPr lang="en-MY" b="1" dirty="0">
                <a:solidFill>
                  <a:schemeClr val="accent2"/>
                </a:solidFill>
              </a:rPr>
              <a:t>UNIQUE Constraint</a:t>
            </a:r>
          </a:p>
        </p:txBody>
      </p:sp>
      <p:sp>
        <p:nvSpPr>
          <p:cNvPr id="3" name="Content Placeholder 2">
            <a:extLst>
              <a:ext uri="{FF2B5EF4-FFF2-40B4-BE49-F238E27FC236}">
                <a16:creationId xmlns:a16="http://schemas.microsoft.com/office/drawing/2014/main" id="{02CC9681-ACFF-C8DA-DB29-780BEC6F0141}"/>
              </a:ext>
            </a:extLst>
          </p:cNvPr>
          <p:cNvSpPr>
            <a:spLocks noGrp="1"/>
          </p:cNvSpPr>
          <p:nvPr>
            <p:ph idx="1"/>
          </p:nvPr>
        </p:nvSpPr>
        <p:spPr/>
        <p:txBody>
          <a:bodyPr>
            <a:normAutofit/>
          </a:bodyPr>
          <a:lstStyle/>
          <a:p>
            <a:r>
              <a:rPr lang="en-MY" sz="3200" dirty="0"/>
              <a:t>A </a:t>
            </a:r>
            <a:r>
              <a:rPr lang="en-MY" sz="3200" b="1" dirty="0">
                <a:solidFill>
                  <a:schemeClr val="accent2"/>
                </a:solidFill>
              </a:rPr>
              <a:t>UNIQUE</a:t>
            </a:r>
            <a:r>
              <a:rPr lang="en-MY" sz="3200" dirty="0"/>
              <a:t> key integrity constraint requires that every value in a column or a set of columns be unique</a:t>
            </a:r>
          </a:p>
          <a:p>
            <a:r>
              <a:rPr lang="en-MY" sz="3200" dirty="0"/>
              <a:t>If the </a:t>
            </a:r>
            <a:r>
              <a:rPr lang="en-MY" sz="3200" b="1" dirty="0">
                <a:solidFill>
                  <a:schemeClr val="accent2"/>
                </a:solidFill>
              </a:rPr>
              <a:t>UNIQUE</a:t>
            </a:r>
            <a:r>
              <a:rPr lang="en-MY" sz="3200" dirty="0"/>
              <a:t> constraint has more than one column, that group of columns is called a </a:t>
            </a:r>
            <a:r>
              <a:rPr lang="en-MY" sz="3200" b="1" dirty="0">
                <a:solidFill>
                  <a:schemeClr val="accent2"/>
                </a:solidFill>
              </a:rPr>
              <a:t>composite unique key</a:t>
            </a:r>
          </a:p>
          <a:p>
            <a:r>
              <a:rPr lang="en-MY" sz="3200" dirty="0"/>
              <a:t>UNIQUE constraints </a:t>
            </a:r>
            <a:r>
              <a:rPr lang="en-MY" sz="3200" b="1" dirty="0">
                <a:solidFill>
                  <a:schemeClr val="accent2"/>
                </a:solidFill>
              </a:rPr>
              <a:t>enable</a:t>
            </a:r>
            <a:r>
              <a:rPr lang="en-MY" sz="3200" dirty="0"/>
              <a:t> the input of NULLs</a:t>
            </a:r>
          </a:p>
          <a:p>
            <a:r>
              <a:rPr lang="en-MY" sz="3200" dirty="0"/>
              <a:t>A </a:t>
            </a:r>
            <a:r>
              <a:rPr lang="en-MY" sz="3200" b="1" dirty="0">
                <a:solidFill>
                  <a:schemeClr val="accent2"/>
                </a:solidFill>
              </a:rPr>
              <a:t>NULL</a:t>
            </a:r>
            <a:r>
              <a:rPr lang="en-MY" sz="3200" dirty="0"/>
              <a:t> in a column (or in all columns of a composite UNIQUE key) always satisfies a UNIQUE constraint</a:t>
            </a:r>
          </a:p>
        </p:txBody>
      </p:sp>
      <p:sp>
        <p:nvSpPr>
          <p:cNvPr id="6" name="Slide Number Placeholder 5">
            <a:extLst>
              <a:ext uri="{FF2B5EF4-FFF2-40B4-BE49-F238E27FC236}">
                <a16:creationId xmlns:a16="http://schemas.microsoft.com/office/drawing/2014/main" id="{71DE9AF1-052F-FB3B-5DB8-2F02F555DE50}"/>
              </a:ext>
            </a:extLst>
          </p:cNvPr>
          <p:cNvSpPr>
            <a:spLocks noGrp="1"/>
          </p:cNvSpPr>
          <p:nvPr>
            <p:ph type="sldNum" sz="quarter" idx="12"/>
          </p:nvPr>
        </p:nvSpPr>
        <p:spPr/>
        <p:txBody>
          <a:bodyPr/>
          <a:lstStyle/>
          <a:p>
            <a:pPr>
              <a:defRPr/>
            </a:pPr>
            <a:fld id="{4AEEF2DB-3D68-4EFF-B92B-90C34555BE45}" type="slidenum">
              <a:rPr lang="en-US" smtClean="0"/>
              <a:pPr>
                <a:defRPr/>
              </a:pPr>
              <a:t>21</a:t>
            </a:fld>
            <a:endParaRPr lang="en-US" dirty="0"/>
          </a:p>
        </p:txBody>
      </p:sp>
    </p:spTree>
    <p:extLst>
      <p:ext uri="{BB962C8B-B14F-4D97-AF65-F5344CB8AC3E}">
        <p14:creationId xmlns:p14="http://schemas.microsoft.com/office/powerpoint/2010/main" val="31359214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1A2B-258E-E00C-633D-3F6D04EE5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56908D-2969-86F3-56E7-FDF4F7DFB987}"/>
              </a:ext>
            </a:extLst>
          </p:cNvPr>
          <p:cNvSpPr>
            <a:spLocks noGrp="1"/>
          </p:cNvSpPr>
          <p:nvPr>
            <p:ph type="title"/>
          </p:nvPr>
        </p:nvSpPr>
        <p:spPr/>
        <p:txBody>
          <a:bodyPr/>
          <a:lstStyle/>
          <a:p>
            <a:r>
              <a:rPr lang="en-MY" b="1" dirty="0">
                <a:solidFill>
                  <a:schemeClr val="accent2"/>
                </a:solidFill>
              </a:rPr>
              <a:t>CHECK Constraint</a:t>
            </a:r>
          </a:p>
        </p:txBody>
      </p:sp>
      <p:sp>
        <p:nvSpPr>
          <p:cNvPr id="3" name="Content Placeholder 2">
            <a:extLst>
              <a:ext uri="{FF2B5EF4-FFF2-40B4-BE49-F238E27FC236}">
                <a16:creationId xmlns:a16="http://schemas.microsoft.com/office/drawing/2014/main" id="{A99A94FF-5FF2-A322-B0B0-C99EF12DB753}"/>
              </a:ext>
            </a:extLst>
          </p:cNvPr>
          <p:cNvSpPr>
            <a:spLocks noGrp="1"/>
          </p:cNvSpPr>
          <p:nvPr>
            <p:ph idx="1"/>
          </p:nvPr>
        </p:nvSpPr>
        <p:spPr/>
        <p:txBody>
          <a:bodyPr>
            <a:normAutofit/>
          </a:bodyPr>
          <a:lstStyle/>
          <a:p>
            <a:r>
              <a:rPr lang="en-MY" sz="3200" dirty="0"/>
              <a:t>It defines a condition that each row must satisfy</a:t>
            </a:r>
          </a:p>
          <a:p>
            <a:r>
              <a:rPr lang="en-MY" sz="3200" dirty="0"/>
              <a:t>It cannot reference columns from other tables</a:t>
            </a:r>
          </a:p>
        </p:txBody>
      </p:sp>
      <p:sp>
        <p:nvSpPr>
          <p:cNvPr id="6" name="Slide Number Placeholder 5">
            <a:extLst>
              <a:ext uri="{FF2B5EF4-FFF2-40B4-BE49-F238E27FC236}">
                <a16:creationId xmlns:a16="http://schemas.microsoft.com/office/drawing/2014/main" id="{B1E300EF-95E1-7D98-07A1-3560BC85937C}"/>
              </a:ext>
            </a:extLst>
          </p:cNvPr>
          <p:cNvSpPr>
            <a:spLocks noGrp="1"/>
          </p:cNvSpPr>
          <p:nvPr>
            <p:ph type="sldNum" sz="quarter" idx="12"/>
          </p:nvPr>
        </p:nvSpPr>
        <p:spPr/>
        <p:txBody>
          <a:bodyPr/>
          <a:lstStyle/>
          <a:p>
            <a:pPr>
              <a:defRPr/>
            </a:pPr>
            <a:fld id="{4AEEF2DB-3D68-4EFF-B92B-90C34555BE45}" type="slidenum">
              <a:rPr lang="en-US" smtClean="0"/>
              <a:pPr>
                <a:defRPr/>
              </a:pPr>
              <a:t>22</a:t>
            </a:fld>
            <a:endParaRPr lang="en-US" dirty="0"/>
          </a:p>
        </p:txBody>
      </p:sp>
    </p:spTree>
    <p:extLst>
      <p:ext uri="{BB962C8B-B14F-4D97-AF65-F5344CB8AC3E}">
        <p14:creationId xmlns:p14="http://schemas.microsoft.com/office/powerpoint/2010/main" val="3519049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EDFDC-6439-50E2-EEC6-6AC8DBC8A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EEB97-8AA6-16F3-6963-743013F52D3B}"/>
              </a:ext>
            </a:extLst>
          </p:cNvPr>
          <p:cNvSpPr>
            <a:spLocks noGrp="1"/>
          </p:cNvSpPr>
          <p:nvPr>
            <p:ph type="title"/>
          </p:nvPr>
        </p:nvSpPr>
        <p:spPr/>
        <p:txBody>
          <a:bodyPr/>
          <a:lstStyle/>
          <a:p>
            <a:r>
              <a:rPr lang="en-MY" b="1" dirty="0">
                <a:solidFill>
                  <a:schemeClr val="accent2"/>
                </a:solidFill>
              </a:rPr>
              <a:t>FOREIGN KEY Constraint</a:t>
            </a:r>
          </a:p>
        </p:txBody>
      </p:sp>
      <p:sp>
        <p:nvSpPr>
          <p:cNvPr id="3" name="Content Placeholder 2">
            <a:extLst>
              <a:ext uri="{FF2B5EF4-FFF2-40B4-BE49-F238E27FC236}">
                <a16:creationId xmlns:a16="http://schemas.microsoft.com/office/drawing/2014/main" id="{C72548A5-7DC2-FAE9-25B3-C1CAF98BF11E}"/>
              </a:ext>
            </a:extLst>
          </p:cNvPr>
          <p:cNvSpPr>
            <a:spLocks noGrp="1"/>
          </p:cNvSpPr>
          <p:nvPr>
            <p:ph idx="1"/>
          </p:nvPr>
        </p:nvSpPr>
        <p:spPr/>
        <p:txBody>
          <a:bodyPr>
            <a:normAutofit lnSpcReduction="10000"/>
          </a:bodyPr>
          <a:lstStyle/>
          <a:p>
            <a:r>
              <a:rPr lang="en-MY" sz="3200" dirty="0"/>
              <a:t>The </a:t>
            </a:r>
            <a:r>
              <a:rPr lang="en-MY" sz="3200" b="1" dirty="0">
                <a:solidFill>
                  <a:schemeClr val="accent2"/>
                </a:solidFill>
              </a:rPr>
              <a:t>FOREIGN KEY</a:t>
            </a:r>
            <a:r>
              <a:rPr lang="en-MY" sz="3200" dirty="0"/>
              <a:t> (or referential integrity) constraint designates </a:t>
            </a:r>
            <a:r>
              <a:rPr lang="en-MY" sz="3200" b="1" dirty="0">
                <a:solidFill>
                  <a:schemeClr val="accent2"/>
                </a:solidFill>
              </a:rPr>
              <a:t>a column </a:t>
            </a:r>
            <a:r>
              <a:rPr lang="en-MY" sz="3200" dirty="0"/>
              <a:t>or </a:t>
            </a:r>
            <a:r>
              <a:rPr lang="en-MY" sz="3200" b="1" dirty="0">
                <a:solidFill>
                  <a:schemeClr val="accent2"/>
                </a:solidFill>
              </a:rPr>
              <a:t>a combination of columns </a:t>
            </a:r>
            <a:r>
              <a:rPr lang="en-MY" sz="3200" dirty="0"/>
              <a:t>as a foreign key</a:t>
            </a:r>
          </a:p>
          <a:p>
            <a:r>
              <a:rPr lang="en-MY" sz="3200" dirty="0"/>
              <a:t>Establishes a relationship with a primary key in the same table or a different table</a:t>
            </a:r>
            <a:endParaRPr lang="en-MY" sz="3200" b="1" dirty="0">
              <a:solidFill>
                <a:schemeClr val="accent2"/>
              </a:solidFill>
            </a:endParaRPr>
          </a:p>
          <a:p>
            <a:r>
              <a:rPr lang="en-MY" sz="3200" dirty="0"/>
              <a:t>Here are the guidelines for foreign key constraints:</a:t>
            </a:r>
          </a:p>
          <a:p>
            <a:pPr lvl="1"/>
            <a:r>
              <a:rPr lang="en-MY" sz="2800" dirty="0"/>
              <a:t>A foreign key value must match an existing value in the parent/base table or be </a:t>
            </a:r>
            <a:r>
              <a:rPr lang="en-MY" sz="2800" b="1" dirty="0">
                <a:solidFill>
                  <a:schemeClr val="accent2"/>
                </a:solidFill>
              </a:rPr>
              <a:t>NULL</a:t>
            </a:r>
          </a:p>
          <a:p>
            <a:pPr lvl="1"/>
            <a:r>
              <a:rPr lang="en-MY" sz="2800" dirty="0"/>
              <a:t>Foreign keys are based on data values and are purely logical, rather than physical, pointers</a:t>
            </a:r>
          </a:p>
        </p:txBody>
      </p:sp>
      <p:sp>
        <p:nvSpPr>
          <p:cNvPr id="6" name="Slide Number Placeholder 5">
            <a:extLst>
              <a:ext uri="{FF2B5EF4-FFF2-40B4-BE49-F238E27FC236}">
                <a16:creationId xmlns:a16="http://schemas.microsoft.com/office/drawing/2014/main" id="{1F9CC8BD-1F87-6E27-846F-1E02A209860D}"/>
              </a:ext>
            </a:extLst>
          </p:cNvPr>
          <p:cNvSpPr>
            <a:spLocks noGrp="1"/>
          </p:cNvSpPr>
          <p:nvPr>
            <p:ph type="sldNum" sz="quarter" idx="12"/>
          </p:nvPr>
        </p:nvSpPr>
        <p:spPr/>
        <p:txBody>
          <a:bodyPr/>
          <a:lstStyle/>
          <a:p>
            <a:pPr>
              <a:defRPr/>
            </a:pPr>
            <a:fld id="{4AEEF2DB-3D68-4EFF-B92B-90C34555BE45}" type="slidenum">
              <a:rPr lang="en-US" smtClean="0"/>
              <a:pPr>
                <a:defRPr/>
              </a:pPr>
              <a:t>23</a:t>
            </a:fld>
            <a:endParaRPr lang="en-US" dirty="0"/>
          </a:p>
        </p:txBody>
      </p:sp>
    </p:spTree>
    <p:extLst>
      <p:ext uri="{BB962C8B-B14F-4D97-AF65-F5344CB8AC3E}">
        <p14:creationId xmlns:p14="http://schemas.microsoft.com/office/powerpoint/2010/main" val="1119231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2991D-BE1B-877E-9D6A-4862DF106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3A51B-2A01-26D2-956E-62F1FE6AC0E7}"/>
              </a:ext>
            </a:extLst>
          </p:cNvPr>
          <p:cNvSpPr>
            <a:spLocks noGrp="1"/>
          </p:cNvSpPr>
          <p:nvPr>
            <p:ph type="title"/>
          </p:nvPr>
        </p:nvSpPr>
        <p:spPr/>
        <p:txBody>
          <a:bodyPr/>
          <a:lstStyle/>
          <a:p>
            <a:r>
              <a:rPr lang="en-MY" b="1" dirty="0">
                <a:solidFill>
                  <a:schemeClr val="accent2"/>
                </a:solidFill>
              </a:rPr>
              <a:t>FOREIGN KEY Constraint: Keywords</a:t>
            </a:r>
          </a:p>
        </p:txBody>
      </p:sp>
      <p:graphicFrame>
        <p:nvGraphicFramePr>
          <p:cNvPr id="4" name="Content Placeholder 3">
            <a:extLst>
              <a:ext uri="{FF2B5EF4-FFF2-40B4-BE49-F238E27FC236}">
                <a16:creationId xmlns:a16="http://schemas.microsoft.com/office/drawing/2014/main" id="{D236E009-B1F5-0DB5-FDF2-EA6025623B18}"/>
              </a:ext>
            </a:extLst>
          </p:cNvPr>
          <p:cNvGraphicFramePr>
            <a:graphicFrameLocks noGrp="1"/>
          </p:cNvGraphicFramePr>
          <p:nvPr>
            <p:ph idx="1"/>
            <p:extLst>
              <p:ext uri="{D42A27DB-BD31-4B8C-83A1-F6EECF244321}">
                <p14:modId xmlns:p14="http://schemas.microsoft.com/office/powerpoint/2010/main" val="3133687216"/>
              </p:ext>
            </p:extLst>
          </p:nvPr>
        </p:nvGraphicFramePr>
        <p:xfrm>
          <a:off x="838200" y="1825624"/>
          <a:ext cx="10717404" cy="4122999"/>
        </p:xfrm>
        <a:graphic>
          <a:graphicData uri="http://schemas.openxmlformats.org/drawingml/2006/table">
            <a:tbl>
              <a:tblPr firstRow="1" bandRow="1">
                <a:tableStyleId>{5C22544A-7EE6-4342-B048-85BDC9FD1C3A}</a:tableStyleId>
              </a:tblPr>
              <a:tblGrid>
                <a:gridCol w="3040694">
                  <a:extLst>
                    <a:ext uri="{9D8B030D-6E8A-4147-A177-3AD203B41FA5}">
                      <a16:colId xmlns:a16="http://schemas.microsoft.com/office/drawing/2014/main" val="1673129748"/>
                    </a:ext>
                  </a:extLst>
                </a:gridCol>
                <a:gridCol w="7676710">
                  <a:extLst>
                    <a:ext uri="{9D8B030D-6E8A-4147-A177-3AD203B41FA5}">
                      <a16:colId xmlns:a16="http://schemas.microsoft.com/office/drawing/2014/main" val="2260088024"/>
                    </a:ext>
                  </a:extLst>
                </a:gridCol>
              </a:tblGrid>
              <a:tr h="639021">
                <a:tc>
                  <a:txBody>
                    <a:bodyPr/>
                    <a:lstStyle/>
                    <a:p>
                      <a:r>
                        <a:rPr lang="en-GB" sz="2400" dirty="0"/>
                        <a:t>Keyword</a:t>
                      </a:r>
                    </a:p>
                  </a:txBody>
                  <a:tcPr/>
                </a:tc>
                <a:tc>
                  <a:txBody>
                    <a:bodyPr/>
                    <a:lstStyle/>
                    <a:p>
                      <a:r>
                        <a:rPr lang="en-GB" sz="2400" dirty="0"/>
                        <a:t>Description</a:t>
                      </a:r>
                    </a:p>
                  </a:txBody>
                  <a:tcPr/>
                </a:tc>
                <a:extLst>
                  <a:ext uri="{0D108BD9-81ED-4DB2-BD59-A6C34878D82A}">
                    <a16:rowId xmlns:a16="http://schemas.microsoft.com/office/drawing/2014/main" val="3214085152"/>
                  </a:ext>
                </a:extLst>
              </a:tr>
              <a:tr h="1102968">
                <a:tc>
                  <a:txBody>
                    <a:bodyPr/>
                    <a:lstStyle/>
                    <a:p>
                      <a:r>
                        <a:rPr lang="en-GB" sz="2400" b="1" dirty="0">
                          <a:solidFill>
                            <a:schemeClr val="accent2"/>
                          </a:solidFill>
                        </a:rPr>
                        <a:t>FOREIGN KEY</a:t>
                      </a:r>
                    </a:p>
                  </a:txBody>
                  <a:tcPr/>
                </a:tc>
                <a:tc>
                  <a:txBody>
                    <a:bodyPr/>
                    <a:lstStyle/>
                    <a:p>
                      <a:r>
                        <a:rPr lang="en-GB" sz="2400" dirty="0"/>
                        <a:t>Defines the column in the child table at the table-constraint level</a:t>
                      </a:r>
                    </a:p>
                  </a:txBody>
                  <a:tcPr/>
                </a:tc>
                <a:extLst>
                  <a:ext uri="{0D108BD9-81ED-4DB2-BD59-A6C34878D82A}">
                    <a16:rowId xmlns:a16="http://schemas.microsoft.com/office/drawing/2014/main" val="3795649173"/>
                  </a:ext>
                </a:extLst>
              </a:tr>
              <a:tr h="639021">
                <a:tc>
                  <a:txBody>
                    <a:bodyPr/>
                    <a:lstStyle/>
                    <a:p>
                      <a:r>
                        <a:rPr lang="en-GB" sz="2400" b="1" dirty="0">
                          <a:solidFill>
                            <a:schemeClr val="accent2"/>
                          </a:solidFill>
                        </a:rPr>
                        <a:t>REFERENCES</a:t>
                      </a:r>
                    </a:p>
                  </a:txBody>
                  <a:tcPr/>
                </a:tc>
                <a:tc>
                  <a:txBody>
                    <a:bodyPr/>
                    <a:lstStyle/>
                    <a:p>
                      <a:r>
                        <a:rPr lang="en-GB" sz="2400" dirty="0"/>
                        <a:t>Identifies the table and column in the parent table</a:t>
                      </a:r>
                    </a:p>
                  </a:txBody>
                  <a:tcPr/>
                </a:tc>
                <a:extLst>
                  <a:ext uri="{0D108BD9-81ED-4DB2-BD59-A6C34878D82A}">
                    <a16:rowId xmlns:a16="http://schemas.microsoft.com/office/drawing/2014/main" val="3832105451"/>
                  </a:ext>
                </a:extLst>
              </a:tr>
              <a:tr h="1102968">
                <a:tc>
                  <a:txBody>
                    <a:bodyPr/>
                    <a:lstStyle/>
                    <a:p>
                      <a:r>
                        <a:rPr lang="en-GB" sz="2400" b="1" dirty="0">
                          <a:solidFill>
                            <a:schemeClr val="accent2"/>
                          </a:solidFill>
                        </a:rPr>
                        <a:t>ON DELETE CASCASDE</a:t>
                      </a:r>
                    </a:p>
                  </a:txBody>
                  <a:tcPr/>
                </a:tc>
                <a:tc>
                  <a:txBody>
                    <a:bodyPr/>
                    <a:lstStyle/>
                    <a:p>
                      <a:r>
                        <a:rPr lang="en-GB" sz="2400" dirty="0"/>
                        <a:t>Deletes the dependent rows in the child table when a row in the parent/base table is deleted</a:t>
                      </a:r>
                    </a:p>
                  </a:txBody>
                  <a:tcPr/>
                </a:tc>
                <a:extLst>
                  <a:ext uri="{0D108BD9-81ED-4DB2-BD59-A6C34878D82A}">
                    <a16:rowId xmlns:a16="http://schemas.microsoft.com/office/drawing/2014/main" val="3917160213"/>
                  </a:ext>
                </a:extLst>
              </a:tr>
              <a:tr h="639021">
                <a:tc>
                  <a:txBody>
                    <a:bodyPr/>
                    <a:lstStyle/>
                    <a:p>
                      <a:r>
                        <a:rPr lang="en-GB" sz="2400" b="1" dirty="0">
                          <a:solidFill>
                            <a:schemeClr val="accent2"/>
                          </a:solidFill>
                        </a:rPr>
                        <a:t>ON DELETE SET NULL</a:t>
                      </a:r>
                    </a:p>
                  </a:txBody>
                  <a:tcPr/>
                </a:tc>
                <a:tc>
                  <a:txBody>
                    <a:bodyPr/>
                    <a:lstStyle/>
                    <a:p>
                      <a:r>
                        <a:rPr lang="en-GB" sz="2400" dirty="0"/>
                        <a:t>Converts dependent foreign key values to null</a:t>
                      </a:r>
                    </a:p>
                  </a:txBody>
                  <a:tcPr/>
                </a:tc>
                <a:extLst>
                  <a:ext uri="{0D108BD9-81ED-4DB2-BD59-A6C34878D82A}">
                    <a16:rowId xmlns:a16="http://schemas.microsoft.com/office/drawing/2014/main" val="2889970770"/>
                  </a:ext>
                </a:extLst>
              </a:tr>
            </a:tbl>
          </a:graphicData>
        </a:graphic>
      </p:graphicFrame>
      <p:sp>
        <p:nvSpPr>
          <p:cNvPr id="6" name="Slide Number Placeholder 5">
            <a:extLst>
              <a:ext uri="{FF2B5EF4-FFF2-40B4-BE49-F238E27FC236}">
                <a16:creationId xmlns:a16="http://schemas.microsoft.com/office/drawing/2014/main" id="{41455FCD-A741-276E-3B5C-FAED388D0A44}"/>
              </a:ext>
            </a:extLst>
          </p:cNvPr>
          <p:cNvSpPr>
            <a:spLocks noGrp="1"/>
          </p:cNvSpPr>
          <p:nvPr>
            <p:ph type="sldNum" sz="quarter" idx="12"/>
          </p:nvPr>
        </p:nvSpPr>
        <p:spPr/>
        <p:txBody>
          <a:bodyPr/>
          <a:lstStyle/>
          <a:p>
            <a:pPr>
              <a:defRPr/>
            </a:pPr>
            <a:fld id="{4AEEF2DB-3D68-4EFF-B92B-90C34555BE45}" type="slidenum">
              <a:rPr lang="en-US" smtClean="0"/>
              <a:pPr>
                <a:defRPr/>
              </a:pPr>
              <a:t>24</a:t>
            </a:fld>
            <a:endParaRPr lang="en-US" dirty="0"/>
          </a:p>
        </p:txBody>
      </p:sp>
    </p:spTree>
    <p:extLst>
      <p:ext uri="{BB962C8B-B14F-4D97-AF65-F5344CB8AC3E}">
        <p14:creationId xmlns:p14="http://schemas.microsoft.com/office/powerpoint/2010/main" val="3020816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A92F5-3C26-A35F-A39B-509B9B25CA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FDCAB-050A-927E-8F41-3AD25695FD84}"/>
              </a:ext>
            </a:extLst>
          </p:cNvPr>
          <p:cNvSpPr>
            <a:spLocks noGrp="1"/>
          </p:cNvSpPr>
          <p:nvPr>
            <p:ph type="title"/>
          </p:nvPr>
        </p:nvSpPr>
        <p:spPr>
          <a:xfrm>
            <a:off x="838200" y="105101"/>
            <a:ext cx="10515600" cy="1325563"/>
          </a:xfrm>
        </p:spPr>
        <p:txBody>
          <a:bodyPr/>
          <a:lstStyle/>
          <a:p>
            <a:r>
              <a:rPr lang="en-MY" b="1" dirty="0">
                <a:solidFill>
                  <a:schemeClr val="accent2"/>
                </a:solidFill>
              </a:rPr>
              <a:t>Example (CREATE TABLE) with constraints</a:t>
            </a:r>
            <a:br>
              <a:rPr lang="en-MY" b="1" dirty="0">
                <a:solidFill>
                  <a:schemeClr val="accent2"/>
                </a:solidFill>
              </a:rPr>
            </a:br>
            <a:r>
              <a:rPr lang="en-MY" b="1" dirty="0">
                <a:solidFill>
                  <a:schemeClr val="accent2"/>
                </a:solidFill>
              </a:rPr>
              <a:t>NOT NULL Constraints</a:t>
            </a:r>
          </a:p>
        </p:txBody>
      </p:sp>
      <p:sp>
        <p:nvSpPr>
          <p:cNvPr id="5" name="Slide Number Placeholder 4">
            <a:extLst>
              <a:ext uri="{FF2B5EF4-FFF2-40B4-BE49-F238E27FC236}">
                <a16:creationId xmlns:a16="http://schemas.microsoft.com/office/drawing/2014/main" id="{09A5CDC7-83FC-0DB9-5948-C815743A5F5C}"/>
              </a:ext>
            </a:extLst>
          </p:cNvPr>
          <p:cNvSpPr>
            <a:spLocks noGrp="1"/>
          </p:cNvSpPr>
          <p:nvPr>
            <p:ph type="sldNum" sz="quarter" idx="12"/>
          </p:nvPr>
        </p:nvSpPr>
        <p:spPr/>
        <p:txBody>
          <a:bodyPr/>
          <a:lstStyle/>
          <a:p>
            <a:pPr>
              <a:defRPr/>
            </a:pPr>
            <a:fld id="{4AEEF2DB-3D68-4EFF-B92B-90C34555BE45}" type="slidenum">
              <a:rPr lang="en-US" smtClean="0"/>
              <a:pPr>
                <a:defRPr/>
              </a:pPr>
              <a:t>25</a:t>
            </a:fld>
            <a:endParaRPr lang="en-US" dirty="0"/>
          </a:p>
        </p:txBody>
      </p:sp>
      <p:sp>
        <p:nvSpPr>
          <p:cNvPr id="7" name="Rectangle 6">
            <a:extLst>
              <a:ext uri="{FF2B5EF4-FFF2-40B4-BE49-F238E27FC236}">
                <a16:creationId xmlns:a16="http://schemas.microsoft.com/office/drawing/2014/main" id="{75F0D7C0-FFD6-5384-0180-31FFE02224A8}"/>
              </a:ext>
            </a:extLst>
          </p:cNvPr>
          <p:cNvSpPr/>
          <p:nvPr/>
        </p:nvSpPr>
        <p:spPr>
          <a:xfrm>
            <a:off x="236394" y="1277963"/>
            <a:ext cx="10515600" cy="2269115"/>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Employees</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empID</a:t>
            </a:r>
            <a:r>
              <a:rPr lang="en-MY" sz="1600" b="1" dirty="0">
                <a:solidFill>
                  <a:srgbClr val="FFC000"/>
                </a:solidFill>
                <a:latin typeface="Courier New" panose="02070309020205020404" pitchFamily="49" charset="0"/>
                <a:cs typeface="Courier New" panose="02070309020205020404" pitchFamily="49" charset="0"/>
              </a:rPr>
              <a:t> INT </a:t>
            </a:r>
            <a:r>
              <a:rPr lang="en-MY" sz="1600" b="1" dirty="0">
                <a:solidFill>
                  <a:srgbClr val="00B050"/>
                </a:solidFill>
                <a:latin typeface="Courier New" panose="02070309020205020404" pitchFamily="49" charset="0"/>
                <a:cs typeface="Courier New" panose="02070309020205020404" pitchFamily="49" charset="0"/>
              </a:rPr>
              <a:t>PRIMARY KEY</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fName</a:t>
            </a:r>
            <a:r>
              <a:rPr lang="en-MY" sz="1600" b="1" dirty="0">
                <a:solidFill>
                  <a:srgbClr val="FFC000"/>
                </a:solidFill>
                <a:latin typeface="Courier New" panose="02070309020205020404" pitchFamily="49" charset="0"/>
                <a:cs typeface="Courier New" panose="02070309020205020404" pitchFamily="49" charset="0"/>
              </a:rPr>
              <a:t> VARCHAR(10)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lName</a:t>
            </a:r>
            <a:r>
              <a:rPr lang="en-MY" sz="1600" b="1" dirty="0">
                <a:solidFill>
                  <a:srgbClr val="FFC000"/>
                </a:solidFill>
                <a:latin typeface="Courier New" panose="02070309020205020404" pitchFamily="49" charset="0"/>
                <a:cs typeface="Courier New" panose="02070309020205020404" pitchFamily="49" charset="0"/>
              </a:rPr>
              <a:t> VARCHAR(20)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email</a:t>
            </a:r>
            <a:r>
              <a:rPr lang="en-MY" sz="1600" b="1" dirty="0">
                <a:solidFill>
                  <a:srgbClr val="FFC000"/>
                </a:solidFill>
                <a:latin typeface="Courier New" panose="02070309020205020404" pitchFamily="49" charset="0"/>
                <a:cs typeface="Courier New" panose="02070309020205020404" pitchFamily="49" charset="0"/>
              </a:rPr>
              <a:t> VARCHAR(30) CONSTRAINT </a:t>
            </a:r>
            <a:r>
              <a:rPr lang="en-MY" sz="1600" dirty="0" err="1">
                <a:solidFill>
                  <a:schemeClr val="bg1"/>
                </a:solidFill>
                <a:latin typeface="Courier New" panose="02070309020205020404" pitchFamily="49" charset="0"/>
                <a:cs typeface="Courier New" panose="02070309020205020404" pitchFamily="49" charset="0"/>
              </a:rPr>
              <a:t>emp_email_uk</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UNIQUE</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salary</a:t>
            </a:r>
            <a:r>
              <a:rPr lang="en-MY" sz="1600" b="1" dirty="0">
                <a:solidFill>
                  <a:srgbClr val="FFC000"/>
                </a:solidFill>
                <a:latin typeface="Courier New" panose="02070309020205020404" pitchFamily="49" charset="0"/>
                <a:cs typeface="Courier New" panose="02070309020205020404" pitchFamily="49" charset="0"/>
              </a:rPr>
              <a:t> DECIMAL(10,2) </a:t>
            </a:r>
            <a:r>
              <a:rPr lang="en-MY" sz="1600" b="1" dirty="0">
                <a:solidFill>
                  <a:srgbClr val="00B050"/>
                </a:solidFill>
                <a:latin typeface="Courier New" panose="02070309020205020404" pitchFamily="49" charset="0"/>
                <a:cs typeface="Courier New" panose="02070309020205020404" pitchFamily="49" charset="0"/>
              </a:rPr>
              <a:t>CHECK </a:t>
            </a:r>
            <a:r>
              <a:rPr lang="en-MY" sz="1600" dirty="0">
                <a:solidFill>
                  <a:schemeClr val="bg1"/>
                </a:solidFill>
                <a:latin typeface="Courier New" panose="02070309020205020404" pitchFamily="49" charset="0"/>
                <a:cs typeface="Courier New" panose="02070309020205020404" pitchFamily="49" charset="0"/>
              </a:rPr>
              <a:t>(salary &gt;= 1700),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deptNo</a:t>
            </a:r>
            <a:r>
              <a:rPr lang="en-MY" sz="1600" b="1" dirty="0">
                <a:solidFill>
                  <a:srgbClr val="FFC000"/>
                </a:solidFill>
                <a:latin typeface="Courier New" panose="02070309020205020404" pitchFamily="49" charset="0"/>
                <a:cs typeface="Courier New" panose="02070309020205020404" pitchFamily="49" charset="0"/>
              </a:rPr>
              <a:t> INT(5) CONSTRAINT </a:t>
            </a:r>
            <a:r>
              <a:rPr lang="en-MY" sz="1600" dirty="0" err="1">
                <a:solidFill>
                  <a:schemeClr val="bg1"/>
                </a:solidFill>
                <a:latin typeface="Courier New" panose="02070309020205020404" pitchFamily="49" charset="0"/>
                <a:cs typeface="Courier New" panose="02070309020205020404" pitchFamily="49" charset="0"/>
              </a:rPr>
              <a:t>emp_fk_deptNo</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FOREIGN KEY </a:t>
            </a:r>
            <a:r>
              <a:rPr lang="en-MY" sz="1600" dirty="0">
                <a:solidFill>
                  <a:schemeClr val="bg1"/>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deptNo</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REFERENCES</a:t>
            </a:r>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rgbClr val="00B0F0"/>
                </a:solidFill>
                <a:latin typeface="Courier New" panose="02070309020205020404" pitchFamily="49" charset="0"/>
                <a:cs typeface="Courier New" panose="02070309020205020404" pitchFamily="49" charset="0"/>
              </a:rPr>
              <a:t>Department</a:t>
            </a:r>
            <a:r>
              <a:rPr lang="en-MY" sz="1600" dirty="0">
                <a:solidFill>
                  <a:srgbClr val="FFC000"/>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deptNo</a:t>
            </a:r>
            <a:r>
              <a:rPr lang="en-MY" sz="1600"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p:txBody>
      </p:sp>
      <p:sp>
        <p:nvSpPr>
          <p:cNvPr id="8" name="Rectangle 7">
            <a:extLst>
              <a:ext uri="{FF2B5EF4-FFF2-40B4-BE49-F238E27FC236}">
                <a16:creationId xmlns:a16="http://schemas.microsoft.com/office/drawing/2014/main" id="{FC5DFECB-99A6-C477-CD82-90B93549CA88}"/>
              </a:ext>
            </a:extLst>
          </p:cNvPr>
          <p:cNvSpPr/>
          <p:nvPr/>
        </p:nvSpPr>
        <p:spPr>
          <a:xfrm>
            <a:off x="193431" y="3836998"/>
            <a:ext cx="10558563" cy="2915901"/>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Employees</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empID</a:t>
            </a:r>
            <a:r>
              <a:rPr lang="en-MY" sz="1600" b="1" dirty="0">
                <a:solidFill>
                  <a:srgbClr val="FFC000"/>
                </a:solidFill>
                <a:latin typeface="Courier New" panose="02070309020205020404" pitchFamily="49" charset="0"/>
                <a:cs typeface="Courier New" panose="02070309020205020404" pitchFamily="49" charset="0"/>
              </a:rPr>
              <a:t> INT,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fName</a:t>
            </a:r>
            <a:r>
              <a:rPr lang="en-MY" sz="1600" b="1" dirty="0">
                <a:solidFill>
                  <a:srgbClr val="FFC000"/>
                </a:solidFill>
                <a:latin typeface="Courier New" panose="02070309020205020404" pitchFamily="49" charset="0"/>
                <a:cs typeface="Courier New" panose="02070309020205020404" pitchFamily="49" charset="0"/>
              </a:rPr>
              <a:t> VARCHAR(10)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lName</a:t>
            </a:r>
            <a:r>
              <a:rPr lang="en-MY" sz="1600" b="1" dirty="0">
                <a:solidFill>
                  <a:srgbClr val="FFC000"/>
                </a:solidFill>
                <a:latin typeface="Courier New" panose="02070309020205020404" pitchFamily="49" charset="0"/>
                <a:cs typeface="Courier New" panose="02070309020205020404" pitchFamily="49" charset="0"/>
              </a:rPr>
              <a:t> VARCHAR(20)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email</a:t>
            </a:r>
            <a:r>
              <a:rPr lang="en-MY" sz="1600" b="1" dirty="0">
                <a:solidFill>
                  <a:srgbClr val="FFC000"/>
                </a:solidFill>
                <a:latin typeface="Courier New" panose="02070309020205020404" pitchFamily="49" charset="0"/>
                <a:cs typeface="Courier New" panose="02070309020205020404" pitchFamily="49" charset="0"/>
              </a:rPr>
              <a:t> VARCHAR(30), </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deptNo</a:t>
            </a:r>
            <a:r>
              <a:rPr lang="en-MY" sz="1600" b="1" dirty="0">
                <a:solidFill>
                  <a:srgbClr val="FFC000"/>
                </a:solidFill>
                <a:latin typeface="Courier New" panose="02070309020205020404" pitchFamily="49" charset="0"/>
                <a:cs typeface="Courier New" panose="02070309020205020404" pitchFamily="49" charset="0"/>
              </a:rPr>
              <a:t> INT(5), </a:t>
            </a:r>
          </a:p>
          <a:p>
            <a:r>
              <a:rPr lang="en-MY" sz="1600" dirty="0">
                <a:solidFill>
                  <a:schemeClr val="bg1"/>
                </a:solidFill>
                <a:latin typeface="Courier New" panose="02070309020205020404" pitchFamily="49" charset="0"/>
                <a:cs typeface="Courier New" panose="02070309020205020404" pitchFamily="49" charset="0"/>
              </a:rPr>
              <a:t>	salary</a:t>
            </a:r>
            <a:r>
              <a:rPr lang="en-MY" sz="1600" b="1" dirty="0">
                <a:solidFill>
                  <a:srgbClr val="FFC000"/>
                </a:solidFill>
                <a:latin typeface="Courier New" panose="02070309020205020404" pitchFamily="49" charset="0"/>
                <a:cs typeface="Courier New" panose="02070309020205020404" pitchFamily="49" charset="0"/>
              </a:rPr>
              <a:t> DECIMAL(10,2),</a:t>
            </a:r>
          </a:p>
          <a:p>
            <a:r>
              <a:rPr lang="en-MY" sz="1600" b="1" dirty="0">
                <a:solidFill>
                  <a:srgbClr val="FFC000"/>
                </a:solidFill>
                <a:latin typeface="Courier New" panose="02070309020205020404" pitchFamily="49" charset="0"/>
                <a:cs typeface="Courier New" panose="02070309020205020404" pitchFamily="49" charset="0"/>
              </a:rPr>
              <a:t>	CONSTRAINT </a:t>
            </a:r>
            <a:r>
              <a:rPr lang="en-MY" sz="1600" dirty="0" err="1">
                <a:solidFill>
                  <a:schemeClr val="bg1"/>
                </a:solidFill>
                <a:latin typeface="Courier New" panose="02070309020205020404" pitchFamily="49" charset="0"/>
                <a:cs typeface="Courier New" panose="02070309020205020404" pitchFamily="49" charset="0"/>
              </a:rPr>
              <a:t>emp_pk_empID</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PRIMARY KEY </a:t>
            </a:r>
            <a:r>
              <a:rPr lang="en-MY" sz="1600" dirty="0">
                <a:solidFill>
                  <a:schemeClr val="bg1"/>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empID</a:t>
            </a:r>
            <a:r>
              <a:rPr lang="en-MY" sz="1600" dirty="0">
                <a:solidFill>
                  <a:schemeClr val="bg1"/>
                </a:solidFill>
                <a:latin typeface="Courier New" panose="02070309020205020404" pitchFamily="49" charset="0"/>
                <a:cs typeface="Courier New" panose="02070309020205020404" pitchFamily="49" charset="0"/>
              </a:rPr>
              <a:t>),</a:t>
            </a:r>
          </a:p>
          <a:p>
            <a:r>
              <a:rPr lang="en-MY" sz="1600" dirty="0">
                <a:solidFill>
                  <a:srgbClr val="FFC000"/>
                </a:solidFill>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CONSTRAINT </a:t>
            </a:r>
            <a:r>
              <a:rPr lang="en-MY" sz="1600" dirty="0" err="1">
                <a:solidFill>
                  <a:schemeClr val="bg1"/>
                </a:solidFill>
                <a:latin typeface="Courier New" panose="02070309020205020404" pitchFamily="49" charset="0"/>
                <a:cs typeface="Courier New" panose="02070309020205020404" pitchFamily="49" charset="0"/>
              </a:rPr>
              <a:t>emp_email_uk</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UNIQUE </a:t>
            </a:r>
            <a:r>
              <a:rPr lang="en-MY" sz="1600" dirty="0">
                <a:solidFill>
                  <a:schemeClr val="bg1"/>
                </a:solidFill>
                <a:latin typeface="Courier New" panose="02070309020205020404" pitchFamily="49" charset="0"/>
                <a:cs typeface="Courier New" panose="02070309020205020404" pitchFamily="49" charset="0"/>
              </a:rPr>
              <a:t>(email),</a:t>
            </a:r>
          </a:p>
          <a:p>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CONSTRAINT </a:t>
            </a:r>
            <a:r>
              <a:rPr lang="en-MY" sz="1600" dirty="0" err="1">
                <a:solidFill>
                  <a:schemeClr val="bg1"/>
                </a:solidFill>
                <a:latin typeface="Courier New" panose="02070309020205020404" pitchFamily="49" charset="0"/>
                <a:cs typeface="Courier New" panose="02070309020205020404" pitchFamily="49" charset="0"/>
              </a:rPr>
              <a:t>emp_chk_salary_min</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CHECK </a:t>
            </a:r>
            <a:r>
              <a:rPr lang="en-MY" sz="1600" dirty="0">
                <a:solidFill>
                  <a:schemeClr val="bg1"/>
                </a:solidFill>
                <a:latin typeface="Courier New" panose="02070309020205020404" pitchFamily="49" charset="0"/>
                <a:cs typeface="Courier New" panose="02070309020205020404" pitchFamily="49" charset="0"/>
              </a:rPr>
              <a:t>(salary &gt;= 1700),</a:t>
            </a:r>
          </a:p>
          <a:p>
            <a:r>
              <a:rPr lang="en-MY" sz="1600" b="1" dirty="0">
                <a:solidFill>
                  <a:srgbClr val="FFC000"/>
                </a:solidFill>
                <a:latin typeface="Courier New" panose="02070309020205020404" pitchFamily="49" charset="0"/>
                <a:cs typeface="Courier New" panose="02070309020205020404" pitchFamily="49" charset="0"/>
              </a:rPr>
              <a:t>	CONSTRAINT </a:t>
            </a:r>
            <a:r>
              <a:rPr lang="en-MY" sz="1600" dirty="0" err="1">
                <a:solidFill>
                  <a:schemeClr val="bg1"/>
                </a:solidFill>
                <a:latin typeface="Courier New" panose="02070309020205020404" pitchFamily="49" charset="0"/>
                <a:cs typeface="Courier New" panose="02070309020205020404" pitchFamily="49" charset="0"/>
              </a:rPr>
              <a:t>emp_fk_deptNo</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FOREIGN KEY </a:t>
            </a:r>
            <a:r>
              <a:rPr lang="en-MY" sz="1600" dirty="0">
                <a:solidFill>
                  <a:schemeClr val="bg1"/>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deptNo</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REFERENCES</a:t>
            </a:r>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rgbClr val="00B0F0"/>
                </a:solidFill>
                <a:latin typeface="Courier New" panose="02070309020205020404" pitchFamily="49" charset="0"/>
                <a:cs typeface="Courier New" panose="02070309020205020404" pitchFamily="49" charset="0"/>
              </a:rPr>
              <a:t>Department</a:t>
            </a:r>
            <a:r>
              <a:rPr lang="en-MY" sz="1600" dirty="0">
                <a:solidFill>
                  <a:srgbClr val="FFC000"/>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deptNo</a:t>
            </a:r>
            <a:r>
              <a:rPr lang="en-MY" sz="1600"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p:txBody>
      </p:sp>
      <p:sp>
        <p:nvSpPr>
          <p:cNvPr id="22" name="TextBox 21">
            <a:extLst>
              <a:ext uri="{FF2B5EF4-FFF2-40B4-BE49-F238E27FC236}">
                <a16:creationId xmlns:a16="http://schemas.microsoft.com/office/drawing/2014/main" id="{46F4E764-7336-22E1-33E8-A5775C36030C}"/>
              </a:ext>
            </a:extLst>
          </p:cNvPr>
          <p:cNvSpPr txBox="1"/>
          <p:nvPr/>
        </p:nvSpPr>
        <p:spPr>
          <a:xfrm>
            <a:off x="193429" y="968791"/>
            <a:ext cx="2740109" cy="369332"/>
          </a:xfrm>
          <a:prstGeom prst="rect">
            <a:avLst/>
          </a:prstGeom>
          <a:noFill/>
        </p:spPr>
        <p:txBody>
          <a:bodyPr wrap="none" rtlCol="0">
            <a:spAutoFit/>
          </a:bodyPr>
          <a:lstStyle/>
          <a:p>
            <a:pPr marL="285750" indent="-285750">
              <a:buFont typeface="Arial" panose="020B0604020202020204" pitchFamily="34" charset="0"/>
              <a:buChar char="•"/>
            </a:pPr>
            <a:r>
              <a:rPr lang="en-GB" b="1" dirty="0">
                <a:solidFill>
                  <a:srgbClr val="00B0F0"/>
                </a:solidFill>
              </a:rPr>
              <a:t>Column-level constraint</a:t>
            </a:r>
          </a:p>
        </p:txBody>
      </p:sp>
      <p:sp>
        <p:nvSpPr>
          <p:cNvPr id="23" name="TextBox 22">
            <a:extLst>
              <a:ext uri="{FF2B5EF4-FFF2-40B4-BE49-F238E27FC236}">
                <a16:creationId xmlns:a16="http://schemas.microsoft.com/office/drawing/2014/main" id="{236B7DC1-6BF4-8D20-4860-3D7C68300F0E}"/>
              </a:ext>
            </a:extLst>
          </p:cNvPr>
          <p:cNvSpPr txBox="1"/>
          <p:nvPr/>
        </p:nvSpPr>
        <p:spPr>
          <a:xfrm>
            <a:off x="193429" y="3515794"/>
            <a:ext cx="2509470" cy="369332"/>
          </a:xfrm>
          <a:prstGeom prst="rect">
            <a:avLst/>
          </a:prstGeom>
          <a:noFill/>
        </p:spPr>
        <p:txBody>
          <a:bodyPr wrap="none" rtlCol="0">
            <a:spAutoFit/>
          </a:bodyPr>
          <a:lstStyle/>
          <a:p>
            <a:pPr marL="285750" indent="-285750">
              <a:buFont typeface="Arial" panose="020B0604020202020204" pitchFamily="34" charset="0"/>
              <a:buChar char="•"/>
            </a:pPr>
            <a:r>
              <a:rPr lang="en-GB" b="1" dirty="0">
                <a:solidFill>
                  <a:schemeClr val="accent2"/>
                </a:solidFill>
              </a:rPr>
              <a:t>Table-level constraint</a:t>
            </a:r>
          </a:p>
        </p:txBody>
      </p:sp>
      <p:sp>
        <p:nvSpPr>
          <p:cNvPr id="24" name="Rectangle 23">
            <a:extLst>
              <a:ext uri="{FF2B5EF4-FFF2-40B4-BE49-F238E27FC236}">
                <a16:creationId xmlns:a16="http://schemas.microsoft.com/office/drawing/2014/main" id="{BEA08AFB-6CE2-3ED2-0CD9-46395381836C}"/>
              </a:ext>
            </a:extLst>
          </p:cNvPr>
          <p:cNvSpPr/>
          <p:nvPr/>
        </p:nvSpPr>
        <p:spPr>
          <a:xfrm>
            <a:off x="236394" y="1573280"/>
            <a:ext cx="9901463" cy="1681221"/>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5" name="Rectangle 24">
            <a:extLst>
              <a:ext uri="{FF2B5EF4-FFF2-40B4-BE49-F238E27FC236}">
                <a16:creationId xmlns:a16="http://schemas.microsoft.com/office/drawing/2014/main" id="{8D8ECB33-1A5B-8C5F-3C3B-C19F7BCBFF31}"/>
              </a:ext>
            </a:extLst>
          </p:cNvPr>
          <p:cNvSpPr/>
          <p:nvPr/>
        </p:nvSpPr>
        <p:spPr>
          <a:xfrm>
            <a:off x="1135463" y="5515977"/>
            <a:ext cx="9254532" cy="1012994"/>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 name="Rectangle 2">
            <a:extLst>
              <a:ext uri="{FF2B5EF4-FFF2-40B4-BE49-F238E27FC236}">
                <a16:creationId xmlns:a16="http://schemas.microsoft.com/office/drawing/2014/main" id="{B122CEAC-EEBB-5B57-C0D7-0E8ADD5A7649}"/>
              </a:ext>
            </a:extLst>
          </p:cNvPr>
          <p:cNvSpPr/>
          <p:nvPr/>
        </p:nvSpPr>
        <p:spPr>
          <a:xfrm>
            <a:off x="3337646" y="4314837"/>
            <a:ext cx="1198260" cy="564205"/>
          </a:xfrm>
          <a:prstGeom prst="rect">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4" name="Oval Callout 3">
            <a:extLst>
              <a:ext uri="{FF2B5EF4-FFF2-40B4-BE49-F238E27FC236}">
                <a16:creationId xmlns:a16="http://schemas.microsoft.com/office/drawing/2014/main" id="{83C1C6E0-0570-6D22-CCAB-5DE7D908CB8C}"/>
              </a:ext>
            </a:extLst>
          </p:cNvPr>
          <p:cNvSpPr/>
          <p:nvPr/>
        </p:nvSpPr>
        <p:spPr>
          <a:xfrm>
            <a:off x="4989932" y="3950016"/>
            <a:ext cx="4109775" cy="929026"/>
          </a:xfrm>
          <a:prstGeom prst="wedgeEllipseCallout">
            <a:avLst>
              <a:gd name="adj1" fmla="val -60694"/>
              <a:gd name="adj2" fmla="val 21504"/>
            </a:avLst>
          </a:prstGeom>
          <a:gradFill flip="none" rotWithShape="1">
            <a:gsLst>
              <a:gs pos="0">
                <a:srgbClr val="00B0F0"/>
              </a:gs>
              <a:gs pos="48000">
                <a:srgbClr val="00B0F0"/>
              </a:gs>
              <a:gs pos="100000">
                <a:srgbClr val="00B0F0"/>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GB" b="1" dirty="0"/>
              <a:t>NOT NULL Constraint </a:t>
            </a:r>
            <a:r>
              <a:rPr lang="en-GB" dirty="0"/>
              <a:t>can </a:t>
            </a:r>
            <a:r>
              <a:rPr lang="en-GB" b="1" dirty="0"/>
              <a:t>ONLY</a:t>
            </a:r>
            <a:r>
              <a:rPr lang="en-GB" dirty="0"/>
              <a:t> be defined at the column level</a:t>
            </a:r>
          </a:p>
        </p:txBody>
      </p:sp>
    </p:spTree>
    <p:extLst>
      <p:ext uri="{BB962C8B-B14F-4D97-AF65-F5344CB8AC3E}">
        <p14:creationId xmlns:p14="http://schemas.microsoft.com/office/powerpoint/2010/main" val="36989116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90F18-B44E-48B8-A940-F531ADFC3398}"/>
              </a:ext>
            </a:extLst>
          </p:cNvPr>
          <p:cNvSpPr>
            <a:spLocks noGrp="1"/>
          </p:cNvSpPr>
          <p:nvPr>
            <p:ph type="title"/>
          </p:nvPr>
        </p:nvSpPr>
        <p:spPr/>
        <p:txBody>
          <a:bodyPr/>
          <a:lstStyle/>
          <a:p>
            <a:r>
              <a:rPr lang="en-MY" b="1" dirty="0">
                <a:solidFill>
                  <a:schemeClr val="accent2"/>
                </a:solidFill>
              </a:rPr>
              <a:t>Altering Tables</a:t>
            </a:r>
          </a:p>
        </p:txBody>
      </p:sp>
      <p:sp>
        <p:nvSpPr>
          <p:cNvPr id="3" name="Content Placeholder 2">
            <a:extLst>
              <a:ext uri="{FF2B5EF4-FFF2-40B4-BE49-F238E27FC236}">
                <a16:creationId xmlns:a16="http://schemas.microsoft.com/office/drawing/2014/main" id="{BCC63011-B3CC-4E9F-A701-CA68A310DA39}"/>
              </a:ext>
            </a:extLst>
          </p:cNvPr>
          <p:cNvSpPr>
            <a:spLocks noGrp="1"/>
          </p:cNvSpPr>
          <p:nvPr>
            <p:ph idx="1"/>
          </p:nvPr>
        </p:nvSpPr>
        <p:spPr/>
        <p:txBody>
          <a:bodyPr/>
          <a:lstStyle/>
          <a:p>
            <a:r>
              <a:rPr lang="en-MY" dirty="0"/>
              <a:t>To change the structure of a table once it has been created.</a:t>
            </a:r>
          </a:p>
          <a:p>
            <a:r>
              <a:rPr lang="en-MY" dirty="0"/>
              <a:t>General Syntax:</a:t>
            </a:r>
          </a:p>
        </p:txBody>
      </p:sp>
      <p:sp>
        <p:nvSpPr>
          <p:cNvPr id="5" name="Slide Number Placeholder 4">
            <a:extLst>
              <a:ext uri="{FF2B5EF4-FFF2-40B4-BE49-F238E27FC236}">
                <a16:creationId xmlns:a16="http://schemas.microsoft.com/office/drawing/2014/main" id="{B8E06E43-62B7-4E89-AF6F-C14DE99B8FFE}"/>
              </a:ext>
            </a:extLst>
          </p:cNvPr>
          <p:cNvSpPr>
            <a:spLocks noGrp="1"/>
          </p:cNvSpPr>
          <p:nvPr>
            <p:ph type="sldNum" sz="quarter" idx="12"/>
          </p:nvPr>
        </p:nvSpPr>
        <p:spPr/>
        <p:txBody>
          <a:bodyPr/>
          <a:lstStyle/>
          <a:p>
            <a:pPr>
              <a:defRPr/>
            </a:pPr>
            <a:fld id="{4AEEF2DB-3D68-4EFF-B92B-90C34555BE45}" type="slidenum">
              <a:rPr lang="en-US" smtClean="0"/>
              <a:pPr>
                <a:defRPr/>
              </a:pPr>
              <a:t>26</a:t>
            </a:fld>
            <a:endParaRPr lang="en-US" dirty="0"/>
          </a:p>
        </p:txBody>
      </p:sp>
      <p:sp>
        <p:nvSpPr>
          <p:cNvPr id="7" name="Rectangle 6">
            <a:extLst>
              <a:ext uri="{FF2B5EF4-FFF2-40B4-BE49-F238E27FC236}">
                <a16:creationId xmlns:a16="http://schemas.microsoft.com/office/drawing/2014/main" id="{067A2DDC-E775-4F11-934A-5F1D9EB30F92}"/>
              </a:ext>
            </a:extLst>
          </p:cNvPr>
          <p:cNvSpPr/>
          <p:nvPr/>
        </p:nvSpPr>
        <p:spPr>
          <a:xfrm>
            <a:off x="2207734" y="3041565"/>
            <a:ext cx="6486689" cy="629952"/>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latin typeface="Courier New" panose="02070309020205020404" pitchFamily="49" charset="0"/>
                <a:cs typeface="Courier New" panose="02070309020205020404" pitchFamily="49" charset="0"/>
              </a:rPr>
              <a:t>tableName </a:t>
            </a:r>
          </a:p>
          <a:p>
            <a:r>
              <a:rPr lang="en-MY" sz="1600" b="1" dirty="0">
                <a:solidFill>
                  <a:srgbClr val="FFC000"/>
                </a:solidFill>
                <a:latin typeface="Courier New" panose="02070309020205020404" pitchFamily="49" charset="0"/>
                <a:cs typeface="Courier New" panose="02070309020205020404" pitchFamily="49" charset="0"/>
              </a:rPr>
              <a:t>ADD </a:t>
            </a:r>
            <a:r>
              <a:rPr lang="en-MY" sz="1600" dirty="0">
                <a:solidFill>
                  <a:schemeClr val="bg1"/>
                </a:solidFill>
                <a:latin typeface="Courier New" panose="02070309020205020404" pitchFamily="49" charset="0"/>
                <a:cs typeface="Courier New" panose="02070309020205020404" pitchFamily="49" charset="0"/>
              </a:rPr>
              <a:t>columnName</a:t>
            </a:r>
            <a:r>
              <a:rPr lang="en-MY" sz="1600" dirty="0">
                <a:solidFill>
                  <a:srgbClr val="FFC000"/>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dataType</a:t>
            </a:r>
            <a:r>
              <a:rPr lang="en-MY" sz="1600" b="1" dirty="0">
                <a:solidFill>
                  <a:srgbClr val="FFC000"/>
                </a:solidFill>
                <a:latin typeface="Courier New" panose="02070309020205020404" pitchFamily="49" charset="0"/>
                <a:cs typeface="Courier New" panose="02070309020205020404" pitchFamily="49" charset="0"/>
              </a:rPr>
              <a:t> ); </a:t>
            </a:r>
            <a:endParaRPr lang="en-MY" sz="1600" dirty="0">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1326FC28-D988-4C19-8B48-C48AF525CEF0}"/>
              </a:ext>
            </a:extLst>
          </p:cNvPr>
          <p:cNvSpPr/>
          <p:nvPr/>
        </p:nvSpPr>
        <p:spPr>
          <a:xfrm>
            <a:off x="2207733" y="3719593"/>
            <a:ext cx="6486689" cy="801793"/>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latin typeface="Courier New" panose="02070309020205020404" pitchFamily="49" charset="0"/>
                <a:cs typeface="Courier New" panose="02070309020205020404" pitchFamily="49" charset="0"/>
              </a:rPr>
              <a:t>tableName </a:t>
            </a:r>
          </a:p>
          <a:p>
            <a:r>
              <a:rPr lang="en-MY" sz="1600" b="1" dirty="0">
                <a:solidFill>
                  <a:srgbClr val="FFC000"/>
                </a:solidFill>
                <a:latin typeface="Courier New" panose="02070309020205020404" pitchFamily="49" charset="0"/>
                <a:cs typeface="Courier New" panose="02070309020205020404" pitchFamily="49" charset="0"/>
              </a:rPr>
              <a:t>ADD CONSTRAINT </a:t>
            </a:r>
            <a:r>
              <a:rPr lang="en-MY" sz="1600" dirty="0">
                <a:solidFill>
                  <a:schemeClr val="bg1"/>
                </a:solidFill>
                <a:latin typeface="Courier New" panose="02070309020205020404" pitchFamily="49" charset="0"/>
                <a:cs typeface="Courier New" panose="02070309020205020404" pitchFamily="49" charset="0"/>
              </a:rPr>
              <a:t>constraintName</a:t>
            </a:r>
            <a:r>
              <a:rPr lang="en-MY" sz="1600" dirty="0">
                <a:solidFill>
                  <a:srgbClr val="FFC000"/>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constraintType</a:t>
            </a:r>
            <a:r>
              <a:rPr lang="en-MY" sz="1600" dirty="0">
                <a:solidFill>
                  <a:srgbClr val="FFC000"/>
                </a:solidFill>
                <a:latin typeface="Courier New" panose="02070309020205020404" pitchFamily="49" charset="0"/>
                <a:cs typeface="Courier New" panose="02070309020205020404" pitchFamily="49" charset="0"/>
              </a:rPr>
              <a:t>(</a:t>
            </a:r>
            <a:r>
              <a:rPr lang="en-MY" sz="1600" dirty="0">
                <a:solidFill>
                  <a:schemeClr val="bg1"/>
                </a:solidFill>
                <a:latin typeface="Courier New" panose="02070309020205020404" pitchFamily="49" charset="0"/>
                <a:cs typeface="Courier New" panose="02070309020205020404" pitchFamily="49" charset="0"/>
              </a:rPr>
              <a:t>columnName</a:t>
            </a:r>
            <a:r>
              <a:rPr lang="en-MY" sz="1600" dirty="0">
                <a:solidFill>
                  <a:srgbClr val="FFC000"/>
                </a:solidFill>
                <a:latin typeface="Courier New" panose="02070309020205020404" pitchFamily="49" charset="0"/>
                <a:cs typeface="Courier New" panose="02070309020205020404" pitchFamily="49" charset="0"/>
              </a:rPr>
              <a:t>)</a:t>
            </a:r>
            <a:r>
              <a:rPr lang="en-MY" sz="1600" b="1" dirty="0">
                <a:solidFill>
                  <a:srgbClr val="FFC000"/>
                </a:solidFill>
                <a:latin typeface="Courier New" panose="02070309020205020404" pitchFamily="49" charset="0"/>
                <a:cs typeface="Courier New" panose="02070309020205020404" pitchFamily="49" charset="0"/>
              </a:rPr>
              <a:t>; </a:t>
            </a:r>
            <a:endParaRPr lang="en-MY" sz="1600" dirty="0">
              <a:latin typeface="Courier New" panose="02070309020205020404" pitchFamily="49" charset="0"/>
              <a:cs typeface="Courier New" panose="02070309020205020404" pitchFamily="49" charset="0"/>
            </a:endParaRPr>
          </a:p>
        </p:txBody>
      </p:sp>
      <p:sp>
        <p:nvSpPr>
          <p:cNvPr id="9" name="Rectangle 8">
            <a:extLst>
              <a:ext uri="{FF2B5EF4-FFF2-40B4-BE49-F238E27FC236}">
                <a16:creationId xmlns:a16="http://schemas.microsoft.com/office/drawing/2014/main" id="{479AD66F-7DCC-46D3-B37D-50E4F34EF088}"/>
              </a:ext>
            </a:extLst>
          </p:cNvPr>
          <p:cNvSpPr/>
          <p:nvPr/>
        </p:nvSpPr>
        <p:spPr>
          <a:xfrm>
            <a:off x="2207732" y="4573379"/>
            <a:ext cx="6486688" cy="676484"/>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latin typeface="Courier New" panose="02070309020205020404" pitchFamily="49" charset="0"/>
                <a:cs typeface="Courier New" panose="02070309020205020404" pitchFamily="49" charset="0"/>
              </a:rPr>
              <a:t>tableName </a:t>
            </a:r>
          </a:p>
          <a:p>
            <a:r>
              <a:rPr lang="en-MY" sz="1600" b="1" dirty="0">
                <a:solidFill>
                  <a:srgbClr val="FFC000"/>
                </a:solidFill>
                <a:latin typeface="Courier New" panose="02070309020205020404" pitchFamily="49" charset="0"/>
                <a:cs typeface="Courier New" panose="02070309020205020404" pitchFamily="49" charset="0"/>
              </a:rPr>
              <a:t>MODIFY </a:t>
            </a:r>
            <a:r>
              <a:rPr lang="en-MY" sz="1600" dirty="0">
                <a:solidFill>
                  <a:schemeClr val="bg1"/>
                </a:solidFill>
                <a:latin typeface="Courier New" panose="02070309020205020404" pitchFamily="49" charset="0"/>
                <a:cs typeface="Courier New" panose="02070309020205020404" pitchFamily="49" charset="0"/>
              </a:rPr>
              <a:t>columnName</a:t>
            </a:r>
            <a:r>
              <a:rPr lang="en-MY" sz="1600" dirty="0">
                <a:solidFill>
                  <a:srgbClr val="FFC000"/>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newdataType</a:t>
            </a:r>
            <a:r>
              <a:rPr lang="en-MY" sz="1600" b="1" dirty="0">
                <a:solidFill>
                  <a:srgbClr val="FFC000"/>
                </a:solidFill>
                <a:latin typeface="Courier New" panose="02070309020205020404" pitchFamily="49" charset="0"/>
                <a:cs typeface="Courier New" panose="02070309020205020404" pitchFamily="49" charset="0"/>
              </a:rPr>
              <a:t>/</a:t>
            </a:r>
            <a:r>
              <a:rPr lang="en-MY" sz="1600" b="1" dirty="0">
                <a:solidFill>
                  <a:srgbClr val="00B050"/>
                </a:solidFill>
                <a:latin typeface="Courier New" panose="02070309020205020404" pitchFamily="49" charset="0"/>
                <a:cs typeface="Courier New" panose="02070309020205020404" pitchFamily="49" charset="0"/>
              </a:rPr>
              <a:t>size</a:t>
            </a:r>
            <a:r>
              <a:rPr lang="en-MY" sz="1600" b="1" dirty="0">
                <a:solidFill>
                  <a:srgbClr val="FFC000"/>
                </a:solidFill>
                <a:latin typeface="Courier New" panose="02070309020205020404" pitchFamily="49" charset="0"/>
                <a:cs typeface="Courier New" panose="02070309020205020404" pitchFamily="49" charset="0"/>
              </a:rPr>
              <a:t>/</a:t>
            </a:r>
            <a:r>
              <a:rPr lang="en-MY" sz="1600" b="1" dirty="0">
                <a:solidFill>
                  <a:srgbClr val="00B050"/>
                </a:solidFill>
                <a:latin typeface="Courier New" panose="02070309020205020404" pitchFamily="49" charset="0"/>
                <a:cs typeface="Courier New" panose="02070309020205020404" pitchFamily="49" charset="0"/>
              </a:rPr>
              <a:t>defaultvalue</a:t>
            </a:r>
            <a:r>
              <a:rPr lang="en-MY" sz="1600" b="1" dirty="0">
                <a:solidFill>
                  <a:srgbClr val="FFC000"/>
                </a:solidFill>
                <a:latin typeface="Courier New" panose="02070309020205020404" pitchFamily="49" charset="0"/>
                <a:cs typeface="Courier New" panose="02070309020205020404" pitchFamily="49" charset="0"/>
              </a:rPr>
              <a:t>; </a:t>
            </a:r>
            <a:endParaRPr lang="en-MY" sz="1600" dirty="0">
              <a:latin typeface="Courier New" panose="02070309020205020404" pitchFamily="49" charset="0"/>
              <a:cs typeface="Courier New" panose="02070309020205020404" pitchFamily="49" charset="0"/>
            </a:endParaRPr>
          </a:p>
        </p:txBody>
      </p:sp>
      <p:sp>
        <p:nvSpPr>
          <p:cNvPr id="11" name="Rectangle 10">
            <a:extLst>
              <a:ext uri="{FF2B5EF4-FFF2-40B4-BE49-F238E27FC236}">
                <a16:creationId xmlns:a16="http://schemas.microsoft.com/office/drawing/2014/main" id="{986D7A2D-9E2B-4B3B-ACCE-1CD11F2743B7}"/>
              </a:ext>
            </a:extLst>
          </p:cNvPr>
          <p:cNvSpPr/>
          <p:nvPr/>
        </p:nvSpPr>
        <p:spPr>
          <a:xfrm>
            <a:off x="2207732" y="5279391"/>
            <a:ext cx="6486688" cy="676484"/>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latin typeface="Courier New" panose="02070309020205020404" pitchFamily="49" charset="0"/>
                <a:cs typeface="Courier New" panose="02070309020205020404" pitchFamily="49" charset="0"/>
              </a:rPr>
              <a:t>tableName </a:t>
            </a:r>
          </a:p>
          <a:p>
            <a:r>
              <a:rPr lang="en-MY" sz="1600" b="1" dirty="0">
                <a:solidFill>
                  <a:srgbClr val="FFC000"/>
                </a:solidFill>
                <a:latin typeface="Courier New" panose="02070309020205020404" pitchFamily="49" charset="0"/>
                <a:cs typeface="Courier New" panose="02070309020205020404" pitchFamily="49" charset="0"/>
              </a:rPr>
              <a:t>DROP COLUMN </a:t>
            </a:r>
            <a:r>
              <a:rPr lang="en-MY" sz="1600" dirty="0">
                <a:solidFill>
                  <a:schemeClr val="bg1"/>
                </a:solidFill>
                <a:latin typeface="Courier New" panose="02070309020205020404" pitchFamily="49" charset="0"/>
                <a:cs typeface="Courier New" panose="02070309020205020404" pitchFamily="49" charset="0"/>
              </a:rPr>
              <a:t>columnName</a:t>
            </a:r>
            <a:r>
              <a:rPr lang="en-MY" sz="1600" b="1" dirty="0">
                <a:solidFill>
                  <a:srgbClr val="FFC000"/>
                </a:solidFill>
                <a:latin typeface="Courier New" panose="02070309020205020404" pitchFamily="49" charset="0"/>
                <a:cs typeface="Courier New" panose="02070309020205020404" pitchFamily="49" charset="0"/>
              </a:rPr>
              <a:t>; </a:t>
            </a:r>
            <a:endParaRPr lang="en-MY" sz="1600" dirty="0">
              <a:latin typeface="Courier New" panose="02070309020205020404" pitchFamily="49" charset="0"/>
              <a:cs typeface="Courier New" panose="02070309020205020404" pitchFamily="49" charset="0"/>
            </a:endParaRPr>
          </a:p>
        </p:txBody>
      </p:sp>
      <p:sp>
        <p:nvSpPr>
          <p:cNvPr id="13" name="TextBox 12">
            <a:extLst>
              <a:ext uri="{FF2B5EF4-FFF2-40B4-BE49-F238E27FC236}">
                <a16:creationId xmlns:a16="http://schemas.microsoft.com/office/drawing/2014/main" id="{E101482C-717A-45C9-824E-B4DFFA26CC2F}"/>
              </a:ext>
            </a:extLst>
          </p:cNvPr>
          <p:cNvSpPr txBox="1"/>
          <p:nvPr/>
        </p:nvSpPr>
        <p:spPr>
          <a:xfrm>
            <a:off x="8749506" y="3041566"/>
            <a:ext cx="1411797" cy="307777"/>
          </a:xfrm>
          <a:prstGeom prst="rect">
            <a:avLst/>
          </a:prstGeom>
          <a:noFill/>
        </p:spPr>
        <p:txBody>
          <a:bodyPr wrap="none" rtlCol="0">
            <a:spAutoFit/>
          </a:bodyPr>
          <a:lstStyle/>
          <a:p>
            <a:r>
              <a:rPr lang="en-MY" sz="1400" dirty="0"/>
              <a:t>Add new column</a:t>
            </a:r>
          </a:p>
        </p:txBody>
      </p:sp>
      <p:sp>
        <p:nvSpPr>
          <p:cNvPr id="14" name="TextBox 13">
            <a:extLst>
              <a:ext uri="{FF2B5EF4-FFF2-40B4-BE49-F238E27FC236}">
                <a16:creationId xmlns:a16="http://schemas.microsoft.com/office/drawing/2014/main" id="{F3190799-88E4-4296-ADC9-5A927E2F1825}"/>
              </a:ext>
            </a:extLst>
          </p:cNvPr>
          <p:cNvSpPr txBox="1"/>
          <p:nvPr/>
        </p:nvSpPr>
        <p:spPr>
          <a:xfrm>
            <a:off x="8749506" y="3719593"/>
            <a:ext cx="1603259" cy="307777"/>
          </a:xfrm>
          <a:prstGeom prst="rect">
            <a:avLst/>
          </a:prstGeom>
          <a:noFill/>
        </p:spPr>
        <p:txBody>
          <a:bodyPr wrap="none" rtlCol="0">
            <a:spAutoFit/>
          </a:bodyPr>
          <a:lstStyle/>
          <a:p>
            <a:r>
              <a:rPr lang="en-MY" sz="1400" dirty="0"/>
              <a:t>Add new constraint</a:t>
            </a:r>
          </a:p>
        </p:txBody>
      </p:sp>
      <p:sp>
        <p:nvSpPr>
          <p:cNvPr id="15" name="TextBox 14">
            <a:extLst>
              <a:ext uri="{FF2B5EF4-FFF2-40B4-BE49-F238E27FC236}">
                <a16:creationId xmlns:a16="http://schemas.microsoft.com/office/drawing/2014/main" id="{02461CBF-50CF-4AB9-8919-04B40B425D10}"/>
              </a:ext>
            </a:extLst>
          </p:cNvPr>
          <p:cNvSpPr txBox="1"/>
          <p:nvPr/>
        </p:nvSpPr>
        <p:spPr>
          <a:xfrm>
            <a:off x="8694421" y="4521385"/>
            <a:ext cx="1918495" cy="738664"/>
          </a:xfrm>
          <a:prstGeom prst="rect">
            <a:avLst/>
          </a:prstGeom>
          <a:noFill/>
        </p:spPr>
        <p:txBody>
          <a:bodyPr wrap="square" rtlCol="0">
            <a:spAutoFit/>
          </a:bodyPr>
          <a:lstStyle/>
          <a:p>
            <a:r>
              <a:rPr lang="en-MY" sz="1400" dirty="0"/>
              <a:t>Change data type, data size, default values, constraints</a:t>
            </a:r>
          </a:p>
        </p:txBody>
      </p:sp>
      <p:sp>
        <p:nvSpPr>
          <p:cNvPr id="16" name="TextBox 15">
            <a:extLst>
              <a:ext uri="{FF2B5EF4-FFF2-40B4-BE49-F238E27FC236}">
                <a16:creationId xmlns:a16="http://schemas.microsoft.com/office/drawing/2014/main" id="{429DB36C-59CE-41E5-850F-37B9722B2FF7}"/>
              </a:ext>
            </a:extLst>
          </p:cNvPr>
          <p:cNvSpPr txBox="1"/>
          <p:nvPr/>
        </p:nvSpPr>
        <p:spPr>
          <a:xfrm>
            <a:off x="8705414" y="5256841"/>
            <a:ext cx="1918495" cy="307777"/>
          </a:xfrm>
          <a:prstGeom prst="rect">
            <a:avLst/>
          </a:prstGeom>
          <a:noFill/>
        </p:spPr>
        <p:txBody>
          <a:bodyPr wrap="square" rtlCol="0">
            <a:spAutoFit/>
          </a:bodyPr>
          <a:lstStyle/>
          <a:p>
            <a:r>
              <a:rPr lang="en-MY" sz="1400" dirty="0"/>
              <a:t>Delete column</a:t>
            </a:r>
          </a:p>
        </p:txBody>
      </p:sp>
    </p:spTree>
    <p:extLst>
      <p:ext uri="{BB962C8B-B14F-4D97-AF65-F5344CB8AC3E}">
        <p14:creationId xmlns:p14="http://schemas.microsoft.com/office/powerpoint/2010/main" val="37712259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90F18-B44E-48B8-A940-F531ADFC3398}"/>
              </a:ext>
            </a:extLst>
          </p:cNvPr>
          <p:cNvSpPr>
            <a:spLocks noGrp="1"/>
          </p:cNvSpPr>
          <p:nvPr>
            <p:ph type="title"/>
          </p:nvPr>
        </p:nvSpPr>
        <p:spPr/>
        <p:txBody>
          <a:bodyPr/>
          <a:lstStyle/>
          <a:p>
            <a:r>
              <a:rPr lang="en-MY" b="1" dirty="0">
                <a:solidFill>
                  <a:schemeClr val="accent2"/>
                </a:solidFill>
              </a:rPr>
              <a:t>Altering Tables</a:t>
            </a:r>
          </a:p>
        </p:txBody>
      </p:sp>
      <p:sp>
        <p:nvSpPr>
          <p:cNvPr id="5" name="Slide Number Placeholder 4">
            <a:extLst>
              <a:ext uri="{FF2B5EF4-FFF2-40B4-BE49-F238E27FC236}">
                <a16:creationId xmlns:a16="http://schemas.microsoft.com/office/drawing/2014/main" id="{B8E06E43-62B7-4E89-AF6F-C14DE99B8FFE}"/>
              </a:ext>
            </a:extLst>
          </p:cNvPr>
          <p:cNvSpPr>
            <a:spLocks noGrp="1"/>
          </p:cNvSpPr>
          <p:nvPr>
            <p:ph type="sldNum" sz="quarter" idx="12"/>
          </p:nvPr>
        </p:nvSpPr>
        <p:spPr/>
        <p:txBody>
          <a:bodyPr/>
          <a:lstStyle/>
          <a:p>
            <a:pPr>
              <a:defRPr/>
            </a:pPr>
            <a:fld id="{4AEEF2DB-3D68-4EFF-B92B-90C34555BE45}" type="slidenum">
              <a:rPr lang="en-US" smtClean="0"/>
              <a:pPr>
                <a:defRPr/>
              </a:pPr>
              <a:t>27</a:t>
            </a:fld>
            <a:endParaRPr lang="en-US" dirty="0"/>
          </a:p>
        </p:txBody>
      </p:sp>
      <p:sp>
        <p:nvSpPr>
          <p:cNvPr id="10" name="Content Placeholder 9">
            <a:extLst>
              <a:ext uri="{FF2B5EF4-FFF2-40B4-BE49-F238E27FC236}">
                <a16:creationId xmlns:a16="http://schemas.microsoft.com/office/drawing/2014/main" id="{2E2E6BDF-7434-41A3-92E5-EE63D6743290}"/>
              </a:ext>
            </a:extLst>
          </p:cNvPr>
          <p:cNvSpPr>
            <a:spLocks noGrp="1"/>
          </p:cNvSpPr>
          <p:nvPr>
            <p:ph idx="1"/>
          </p:nvPr>
        </p:nvSpPr>
        <p:spPr/>
        <p:txBody>
          <a:bodyPr/>
          <a:lstStyle/>
          <a:p>
            <a:r>
              <a:rPr lang="en-MY" dirty="0"/>
              <a:t>General syntax for altering tables</a:t>
            </a:r>
          </a:p>
        </p:txBody>
      </p:sp>
      <p:pic>
        <p:nvPicPr>
          <p:cNvPr id="17" name="Picture 16">
            <a:extLst>
              <a:ext uri="{FF2B5EF4-FFF2-40B4-BE49-F238E27FC236}">
                <a16:creationId xmlns:a16="http://schemas.microsoft.com/office/drawing/2014/main" id="{7F5D437B-4A55-4768-8D2B-5520F8F083DA}"/>
              </a:ext>
            </a:extLst>
          </p:cNvPr>
          <p:cNvPicPr>
            <a:picLocks noChangeAspect="1"/>
          </p:cNvPicPr>
          <p:nvPr/>
        </p:nvPicPr>
        <p:blipFill>
          <a:blip r:embed="rId2"/>
          <a:stretch>
            <a:fillRect/>
          </a:stretch>
        </p:blipFill>
        <p:spPr>
          <a:xfrm>
            <a:off x="2192821" y="2427566"/>
            <a:ext cx="7806359" cy="2604903"/>
          </a:xfrm>
          <a:prstGeom prst="rect">
            <a:avLst/>
          </a:prstGeom>
          <a:ln>
            <a:solidFill>
              <a:schemeClr val="bg1">
                <a:lumMod val="85000"/>
              </a:schemeClr>
            </a:solidFill>
          </a:ln>
          <a:effectLst>
            <a:outerShdw blurRad="50800" dist="38100" dir="5400000" algn="t" rotWithShape="0">
              <a:prstClr val="black">
                <a:alpha val="40000"/>
              </a:prstClr>
            </a:outerShdw>
          </a:effectLst>
        </p:spPr>
      </p:pic>
      <p:sp>
        <p:nvSpPr>
          <p:cNvPr id="18" name="Rectangle 17">
            <a:extLst>
              <a:ext uri="{FF2B5EF4-FFF2-40B4-BE49-F238E27FC236}">
                <a16:creationId xmlns:a16="http://schemas.microsoft.com/office/drawing/2014/main" id="{4D674676-C809-4D09-8A94-811174CCF7D3}"/>
              </a:ext>
            </a:extLst>
          </p:cNvPr>
          <p:cNvSpPr/>
          <p:nvPr/>
        </p:nvSpPr>
        <p:spPr>
          <a:xfrm>
            <a:off x="7837093" y="5080957"/>
            <a:ext cx="2162086" cy="26161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chemeClr val="bg1"/>
                </a:solidFill>
                <a:effectLst>
                  <a:outerShdw blurRad="38100" dist="38100" dir="2700000" algn="tl">
                    <a:srgbClr val="000000">
                      <a:alpha val="43137"/>
                    </a:srgbClr>
                  </a:outerShdw>
                </a:effectLst>
              </a:rPr>
              <a:t>[ ] : optional</a:t>
            </a:r>
          </a:p>
        </p:txBody>
      </p:sp>
      <p:sp>
        <p:nvSpPr>
          <p:cNvPr id="9" name="TextBox 8">
            <a:extLst>
              <a:ext uri="{FF2B5EF4-FFF2-40B4-BE49-F238E27FC236}">
                <a16:creationId xmlns:a16="http://schemas.microsoft.com/office/drawing/2014/main" id="{E6B2CB3D-8872-427B-BC00-62E2818048D3}"/>
              </a:ext>
            </a:extLst>
          </p:cNvPr>
          <p:cNvSpPr txBox="1"/>
          <p:nvPr/>
        </p:nvSpPr>
        <p:spPr>
          <a:xfrm>
            <a:off x="2152651" y="5095975"/>
            <a:ext cx="1845955" cy="307777"/>
          </a:xfrm>
          <a:prstGeom prst="rect">
            <a:avLst/>
          </a:prstGeom>
          <a:noFill/>
        </p:spPr>
        <p:txBody>
          <a:bodyPr wrap="none" rtlCol="0">
            <a:spAutoFit/>
          </a:bodyPr>
          <a:lstStyle/>
          <a:p>
            <a:r>
              <a:rPr lang="en-MY" sz="1400" dirty="0"/>
              <a:t>Source: Connolly, 2015</a:t>
            </a:r>
          </a:p>
        </p:txBody>
      </p:sp>
    </p:spTree>
    <p:extLst>
      <p:ext uri="{BB962C8B-B14F-4D97-AF65-F5344CB8AC3E}">
        <p14:creationId xmlns:p14="http://schemas.microsoft.com/office/powerpoint/2010/main" val="241555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5EE172-BC24-4398-8993-624B15C192A2}"/>
              </a:ext>
            </a:extLst>
          </p:cNvPr>
          <p:cNvSpPr>
            <a:spLocks noGrp="1"/>
          </p:cNvSpPr>
          <p:nvPr>
            <p:ph type="title"/>
          </p:nvPr>
        </p:nvSpPr>
        <p:spPr/>
        <p:txBody>
          <a:bodyPr/>
          <a:lstStyle/>
          <a:p>
            <a:r>
              <a:rPr lang="en-MY" dirty="0"/>
              <a:t>ALTER TABLE - Examples</a:t>
            </a:r>
          </a:p>
        </p:txBody>
      </p:sp>
      <p:sp>
        <p:nvSpPr>
          <p:cNvPr id="3" name="Content Placeholder 2">
            <a:extLst>
              <a:ext uri="{FF2B5EF4-FFF2-40B4-BE49-F238E27FC236}">
                <a16:creationId xmlns:a16="http://schemas.microsoft.com/office/drawing/2014/main" id="{5A12B758-8FDA-4529-AB67-5F06EB79BA0B}"/>
              </a:ext>
            </a:extLst>
          </p:cNvPr>
          <p:cNvSpPr>
            <a:spLocks noGrp="1"/>
          </p:cNvSpPr>
          <p:nvPr>
            <p:ph idx="1"/>
          </p:nvPr>
        </p:nvSpPr>
        <p:spPr>
          <a:xfrm>
            <a:off x="838200" y="1441938"/>
            <a:ext cx="10515600" cy="4735025"/>
          </a:xfrm>
        </p:spPr>
        <p:txBody>
          <a:bodyPr/>
          <a:lstStyle/>
          <a:p>
            <a:r>
              <a:rPr lang="en-MY" b="1" dirty="0">
                <a:solidFill>
                  <a:srgbClr val="C00000"/>
                </a:solidFill>
              </a:rPr>
              <a:t>Add</a:t>
            </a:r>
            <a:r>
              <a:rPr lang="en-MY" dirty="0"/>
              <a:t> new column “Address” into Employee table.</a:t>
            </a:r>
          </a:p>
          <a:p>
            <a:endParaRPr lang="en-MY" dirty="0"/>
          </a:p>
          <a:p>
            <a:endParaRPr lang="en-MY" dirty="0"/>
          </a:p>
          <a:p>
            <a:r>
              <a:rPr lang="en-MY" b="1" dirty="0">
                <a:solidFill>
                  <a:srgbClr val="C00000"/>
                </a:solidFill>
              </a:rPr>
              <a:t>Change</a:t>
            </a:r>
            <a:r>
              <a:rPr lang="en-MY" dirty="0"/>
              <a:t> datatype of “Address” to VARCHAR(20) and set the column as NOT NULL</a:t>
            </a:r>
          </a:p>
          <a:p>
            <a:endParaRPr lang="en-MY" dirty="0"/>
          </a:p>
          <a:p>
            <a:endParaRPr lang="en-MY" dirty="0"/>
          </a:p>
          <a:p>
            <a:r>
              <a:rPr lang="en-MY" b="1" dirty="0">
                <a:solidFill>
                  <a:srgbClr val="C00000"/>
                </a:solidFill>
              </a:rPr>
              <a:t>Delete</a:t>
            </a:r>
            <a:r>
              <a:rPr lang="en-MY" dirty="0"/>
              <a:t> the column “Address”</a:t>
            </a:r>
          </a:p>
        </p:txBody>
      </p:sp>
      <p:sp>
        <p:nvSpPr>
          <p:cNvPr id="5" name="Slide Number Placeholder 4">
            <a:extLst>
              <a:ext uri="{FF2B5EF4-FFF2-40B4-BE49-F238E27FC236}">
                <a16:creationId xmlns:a16="http://schemas.microsoft.com/office/drawing/2014/main" id="{0BB83928-2030-4582-B6B4-F12519D24DC9}"/>
              </a:ext>
            </a:extLst>
          </p:cNvPr>
          <p:cNvSpPr>
            <a:spLocks noGrp="1"/>
          </p:cNvSpPr>
          <p:nvPr>
            <p:ph type="sldNum" sz="quarter" idx="12"/>
          </p:nvPr>
        </p:nvSpPr>
        <p:spPr/>
        <p:txBody>
          <a:bodyPr/>
          <a:lstStyle/>
          <a:p>
            <a:pPr>
              <a:defRPr/>
            </a:pPr>
            <a:fld id="{4AEEF2DB-3D68-4EFF-B92B-90C34555BE45}" type="slidenum">
              <a:rPr lang="en-US" smtClean="0"/>
              <a:pPr>
                <a:defRPr/>
              </a:pPr>
              <a:t>28</a:t>
            </a:fld>
            <a:endParaRPr lang="en-US" dirty="0"/>
          </a:p>
        </p:txBody>
      </p:sp>
      <p:sp>
        <p:nvSpPr>
          <p:cNvPr id="7" name="Rectangle 6">
            <a:extLst>
              <a:ext uri="{FF2B5EF4-FFF2-40B4-BE49-F238E27FC236}">
                <a16:creationId xmlns:a16="http://schemas.microsoft.com/office/drawing/2014/main" id="{70309960-471F-4E83-B72E-24A7F5AB0695}"/>
              </a:ext>
            </a:extLst>
          </p:cNvPr>
          <p:cNvSpPr/>
          <p:nvPr/>
        </p:nvSpPr>
        <p:spPr>
          <a:xfrm>
            <a:off x="2852654" y="2067377"/>
            <a:ext cx="6486689" cy="722715"/>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rgbClr val="FFC000"/>
                </a:solidFill>
                <a:latin typeface="Courier New" panose="02070309020205020404" pitchFamily="49" charset="0"/>
                <a:cs typeface="Courier New" panose="02070309020205020404" pitchFamily="49" charset="0"/>
              </a:rPr>
              <a:t>ALTER TABLE </a:t>
            </a:r>
            <a:r>
              <a:rPr lang="en-MY" dirty="0">
                <a:latin typeface="Courier New" panose="02070309020205020404" pitchFamily="49" charset="0"/>
                <a:cs typeface="Courier New" panose="02070309020205020404" pitchFamily="49" charset="0"/>
              </a:rPr>
              <a:t>Employee </a:t>
            </a:r>
          </a:p>
          <a:p>
            <a:r>
              <a:rPr lang="en-MY" b="1" dirty="0">
                <a:solidFill>
                  <a:srgbClr val="FFC000"/>
                </a:solidFill>
                <a:latin typeface="Courier New" panose="02070309020205020404" pitchFamily="49" charset="0"/>
                <a:cs typeface="Courier New" panose="02070309020205020404" pitchFamily="49" charset="0"/>
              </a:rPr>
              <a:t>ADD </a:t>
            </a:r>
            <a:r>
              <a:rPr lang="en-MY" dirty="0">
                <a:solidFill>
                  <a:schemeClr val="bg1"/>
                </a:solidFill>
                <a:latin typeface="Courier New" panose="02070309020205020404" pitchFamily="49" charset="0"/>
                <a:cs typeface="Courier New" panose="02070309020205020404" pitchFamily="49" charset="0"/>
              </a:rPr>
              <a:t>Address</a:t>
            </a:r>
            <a:r>
              <a:rPr lang="en-MY" dirty="0">
                <a:solidFill>
                  <a:srgbClr val="FFC000"/>
                </a:solidFill>
                <a:latin typeface="Courier New" panose="02070309020205020404" pitchFamily="49" charset="0"/>
                <a:cs typeface="Courier New" panose="02070309020205020404" pitchFamily="49" charset="0"/>
              </a:rPr>
              <a:t> </a:t>
            </a:r>
            <a:r>
              <a:rPr lang="en-MY" b="1" dirty="0">
                <a:solidFill>
                  <a:srgbClr val="00B050"/>
                </a:solidFill>
                <a:latin typeface="Courier New" panose="02070309020205020404" pitchFamily="49" charset="0"/>
                <a:cs typeface="Courier New" panose="02070309020205020404" pitchFamily="49" charset="0"/>
              </a:rPr>
              <a:t>VARCHAR(40)</a:t>
            </a:r>
            <a:r>
              <a:rPr lang="en-MY" b="1" dirty="0">
                <a:solidFill>
                  <a:srgbClr val="FFC000"/>
                </a:solidFill>
                <a:latin typeface="Courier New" panose="02070309020205020404" pitchFamily="49" charset="0"/>
                <a:cs typeface="Courier New" panose="02070309020205020404" pitchFamily="49" charset="0"/>
              </a:rPr>
              <a:t>; </a:t>
            </a:r>
            <a:endParaRPr lang="en-MY" dirty="0">
              <a:latin typeface="Courier New" panose="02070309020205020404" pitchFamily="49" charset="0"/>
              <a:cs typeface="Courier New" panose="02070309020205020404" pitchFamily="49" charset="0"/>
            </a:endParaRPr>
          </a:p>
        </p:txBody>
      </p:sp>
      <p:sp>
        <p:nvSpPr>
          <p:cNvPr id="9" name="Rectangle 8">
            <a:extLst>
              <a:ext uri="{FF2B5EF4-FFF2-40B4-BE49-F238E27FC236}">
                <a16:creationId xmlns:a16="http://schemas.microsoft.com/office/drawing/2014/main" id="{0B4FF6FB-9CAE-4AF5-B77E-3B4F067E9619}"/>
              </a:ext>
            </a:extLst>
          </p:cNvPr>
          <p:cNvSpPr/>
          <p:nvPr/>
        </p:nvSpPr>
        <p:spPr>
          <a:xfrm>
            <a:off x="2852654" y="5454249"/>
            <a:ext cx="6486688" cy="722714"/>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rgbClr val="FFC000"/>
                </a:solidFill>
                <a:latin typeface="Courier New" panose="02070309020205020404" pitchFamily="49" charset="0"/>
                <a:cs typeface="Courier New" panose="02070309020205020404" pitchFamily="49" charset="0"/>
              </a:rPr>
              <a:t>ALTER TABLE </a:t>
            </a:r>
            <a:r>
              <a:rPr lang="en-MY" dirty="0">
                <a:latin typeface="Courier New" panose="02070309020205020404" pitchFamily="49" charset="0"/>
                <a:cs typeface="Courier New" panose="02070309020205020404" pitchFamily="49" charset="0"/>
              </a:rPr>
              <a:t>Employee </a:t>
            </a:r>
          </a:p>
          <a:p>
            <a:r>
              <a:rPr lang="en-MY" b="1" dirty="0">
                <a:solidFill>
                  <a:srgbClr val="FFC000"/>
                </a:solidFill>
                <a:latin typeface="Courier New" panose="02070309020205020404" pitchFamily="49" charset="0"/>
                <a:cs typeface="Courier New" panose="02070309020205020404" pitchFamily="49" charset="0"/>
              </a:rPr>
              <a:t>DROP COLUMN </a:t>
            </a:r>
            <a:r>
              <a:rPr lang="en-MY" dirty="0">
                <a:solidFill>
                  <a:schemeClr val="bg1"/>
                </a:solidFill>
                <a:latin typeface="Courier New" panose="02070309020205020404" pitchFamily="49" charset="0"/>
                <a:cs typeface="Courier New" panose="02070309020205020404" pitchFamily="49" charset="0"/>
              </a:rPr>
              <a:t>Address</a:t>
            </a:r>
            <a:r>
              <a:rPr lang="en-MY" b="1" dirty="0">
                <a:solidFill>
                  <a:srgbClr val="FFC000"/>
                </a:solidFill>
                <a:latin typeface="Courier New" panose="02070309020205020404" pitchFamily="49" charset="0"/>
                <a:cs typeface="Courier New" panose="02070309020205020404" pitchFamily="49" charset="0"/>
              </a:rPr>
              <a:t>; </a:t>
            </a:r>
            <a:endParaRPr lang="en-MY" dirty="0">
              <a:latin typeface="Courier New" panose="02070309020205020404" pitchFamily="49" charset="0"/>
              <a:cs typeface="Courier New" panose="02070309020205020404" pitchFamily="49" charset="0"/>
            </a:endParaRPr>
          </a:p>
        </p:txBody>
      </p:sp>
      <p:sp>
        <p:nvSpPr>
          <p:cNvPr id="10" name="Rectangle 9">
            <a:extLst>
              <a:ext uri="{FF2B5EF4-FFF2-40B4-BE49-F238E27FC236}">
                <a16:creationId xmlns:a16="http://schemas.microsoft.com/office/drawing/2014/main" id="{DA7C3A5D-F370-4180-B440-5AF2ACBABC06}"/>
              </a:ext>
            </a:extLst>
          </p:cNvPr>
          <p:cNvSpPr/>
          <p:nvPr/>
        </p:nvSpPr>
        <p:spPr>
          <a:xfrm>
            <a:off x="2852654" y="3871013"/>
            <a:ext cx="6486688" cy="676484"/>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latin typeface="Courier New" panose="02070309020205020404" pitchFamily="49" charset="0"/>
                <a:cs typeface="Courier New" panose="02070309020205020404" pitchFamily="49" charset="0"/>
              </a:rPr>
              <a:t>Employee </a:t>
            </a:r>
          </a:p>
          <a:p>
            <a:r>
              <a:rPr lang="en-MY" sz="1600" b="1" dirty="0">
                <a:solidFill>
                  <a:srgbClr val="FFC000"/>
                </a:solidFill>
                <a:latin typeface="Courier New" panose="02070309020205020404" pitchFamily="49" charset="0"/>
                <a:cs typeface="Courier New" panose="02070309020205020404" pitchFamily="49" charset="0"/>
              </a:rPr>
              <a:t>MODIFY </a:t>
            </a:r>
            <a:r>
              <a:rPr lang="en-MY" sz="1600" dirty="0">
                <a:solidFill>
                  <a:schemeClr val="bg1"/>
                </a:solidFill>
                <a:latin typeface="Courier New" panose="02070309020205020404" pitchFamily="49" charset="0"/>
                <a:cs typeface="Courier New" panose="02070309020205020404" pitchFamily="49" charset="0"/>
              </a:rPr>
              <a:t>Address</a:t>
            </a:r>
            <a:r>
              <a:rPr lang="en-MY" sz="1600" dirty="0">
                <a:solidFill>
                  <a:srgbClr val="FFC000"/>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VARCHAR(20) NOT NULL</a:t>
            </a:r>
            <a:r>
              <a:rPr lang="en-MY" sz="1600" b="1" dirty="0">
                <a:solidFill>
                  <a:srgbClr val="FFC000"/>
                </a:solidFill>
                <a:latin typeface="Courier New" panose="02070309020205020404" pitchFamily="49" charset="0"/>
                <a:cs typeface="Courier New" panose="02070309020205020404" pitchFamily="49" charset="0"/>
              </a:rPr>
              <a:t>; </a:t>
            </a:r>
            <a:endParaRPr lang="en-MY"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070903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9D39A-B59F-4FA1-9CB2-77EC570AAABD}"/>
              </a:ext>
            </a:extLst>
          </p:cNvPr>
          <p:cNvSpPr>
            <a:spLocks noGrp="1"/>
          </p:cNvSpPr>
          <p:nvPr>
            <p:ph type="title"/>
          </p:nvPr>
        </p:nvSpPr>
        <p:spPr/>
        <p:txBody>
          <a:bodyPr/>
          <a:lstStyle/>
          <a:p>
            <a:r>
              <a:rPr lang="en-MY" dirty="0"/>
              <a:t>ALTER TABLE - Examples</a:t>
            </a:r>
          </a:p>
        </p:txBody>
      </p:sp>
      <p:sp>
        <p:nvSpPr>
          <p:cNvPr id="3" name="Content Placeholder 2">
            <a:extLst>
              <a:ext uri="{FF2B5EF4-FFF2-40B4-BE49-F238E27FC236}">
                <a16:creationId xmlns:a16="http://schemas.microsoft.com/office/drawing/2014/main" id="{33BFC223-E7A5-439E-8C02-D55F937FB54F}"/>
              </a:ext>
            </a:extLst>
          </p:cNvPr>
          <p:cNvSpPr>
            <a:spLocks noGrp="1"/>
          </p:cNvSpPr>
          <p:nvPr>
            <p:ph idx="1"/>
          </p:nvPr>
        </p:nvSpPr>
        <p:spPr/>
        <p:txBody>
          <a:bodyPr/>
          <a:lstStyle/>
          <a:p>
            <a:r>
              <a:rPr lang="en-MY" dirty="0"/>
              <a:t>Adding constraint after a table has been created.</a:t>
            </a:r>
          </a:p>
          <a:p>
            <a:r>
              <a:rPr lang="en-MY" dirty="0"/>
              <a:t>Set the attribute of “EmployeeID” as the PRIMARY KEY for the Employee table.</a:t>
            </a:r>
          </a:p>
        </p:txBody>
      </p:sp>
      <p:sp>
        <p:nvSpPr>
          <p:cNvPr id="5" name="Slide Number Placeholder 4">
            <a:extLst>
              <a:ext uri="{FF2B5EF4-FFF2-40B4-BE49-F238E27FC236}">
                <a16:creationId xmlns:a16="http://schemas.microsoft.com/office/drawing/2014/main" id="{89F0D8AE-EAA9-4E40-97A2-63D264FD70E2}"/>
              </a:ext>
            </a:extLst>
          </p:cNvPr>
          <p:cNvSpPr>
            <a:spLocks noGrp="1"/>
          </p:cNvSpPr>
          <p:nvPr>
            <p:ph type="sldNum" sz="quarter" idx="12"/>
          </p:nvPr>
        </p:nvSpPr>
        <p:spPr/>
        <p:txBody>
          <a:bodyPr/>
          <a:lstStyle/>
          <a:p>
            <a:pPr>
              <a:defRPr/>
            </a:pPr>
            <a:fld id="{4AEEF2DB-3D68-4EFF-B92B-90C34555BE45}" type="slidenum">
              <a:rPr lang="en-US" smtClean="0"/>
              <a:pPr>
                <a:defRPr/>
              </a:pPr>
              <a:t>29</a:t>
            </a:fld>
            <a:endParaRPr lang="en-US" dirty="0"/>
          </a:p>
        </p:txBody>
      </p:sp>
      <p:sp>
        <p:nvSpPr>
          <p:cNvPr id="7" name="Rectangle 6">
            <a:extLst>
              <a:ext uri="{FF2B5EF4-FFF2-40B4-BE49-F238E27FC236}">
                <a16:creationId xmlns:a16="http://schemas.microsoft.com/office/drawing/2014/main" id="{E5901BD2-0B21-48D6-97BE-6A4F883B699C}"/>
              </a:ext>
            </a:extLst>
          </p:cNvPr>
          <p:cNvSpPr/>
          <p:nvPr/>
        </p:nvSpPr>
        <p:spPr>
          <a:xfrm>
            <a:off x="3182312" y="3207122"/>
            <a:ext cx="4985548" cy="102197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rgbClr val="FFC000"/>
                </a:solidFill>
                <a:latin typeface="Courier New" panose="02070309020205020404" pitchFamily="49" charset="0"/>
                <a:cs typeface="Courier New" panose="02070309020205020404" pitchFamily="49" charset="0"/>
              </a:rPr>
              <a:t>ALTER TABLE </a:t>
            </a:r>
            <a:r>
              <a:rPr lang="en-MY" dirty="0">
                <a:latin typeface="Courier New" panose="02070309020205020404" pitchFamily="49" charset="0"/>
                <a:cs typeface="Courier New" panose="02070309020205020404" pitchFamily="49" charset="0"/>
              </a:rPr>
              <a:t>Employee </a:t>
            </a:r>
          </a:p>
          <a:p>
            <a:r>
              <a:rPr lang="en-MY" b="1" dirty="0">
                <a:solidFill>
                  <a:srgbClr val="FFC000"/>
                </a:solidFill>
                <a:latin typeface="Courier New" panose="02070309020205020404" pitchFamily="49" charset="0"/>
                <a:cs typeface="Courier New" panose="02070309020205020404" pitchFamily="49" charset="0"/>
              </a:rPr>
              <a:t>ADD CONSTRAINT </a:t>
            </a:r>
            <a:r>
              <a:rPr lang="en-MY" dirty="0" err="1">
                <a:solidFill>
                  <a:schemeClr val="bg1"/>
                </a:solidFill>
                <a:latin typeface="Courier New" panose="02070309020205020404" pitchFamily="49" charset="0"/>
                <a:cs typeface="Courier New" panose="02070309020205020404" pitchFamily="49" charset="0"/>
              </a:rPr>
              <a:t>emp_pk_EmployeeID</a:t>
            </a:r>
            <a:br>
              <a:rPr lang="en-MY" dirty="0">
                <a:solidFill>
                  <a:schemeClr val="bg1"/>
                </a:solidFill>
                <a:latin typeface="Courier New" panose="02070309020205020404" pitchFamily="49" charset="0"/>
                <a:cs typeface="Courier New" panose="02070309020205020404" pitchFamily="49" charset="0"/>
              </a:rPr>
            </a:br>
            <a:r>
              <a:rPr lang="en-MY" b="1" dirty="0">
                <a:solidFill>
                  <a:srgbClr val="00B050"/>
                </a:solidFill>
                <a:latin typeface="Courier New" panose="02070309020205020404" pitchFamily="49" charset="0"/>
                <a:cs typeface="Courier New" panose="02070309020205020404" pitchFamily="49" charset="0"/>
              </a:rPr>
              <a:t>PRIMARY KEY</a:t>
            </a:r>
            <a:r>
              <a:rPr lang="en-MY" dirty="0">
                <a:solidFill>
                  <a:srgbClr val="FFC000"/>
                </a:solidFill>
                <a:latin typeface="Courier New" panose="02070309020205020404" pitchFamily="49" charset="0"/>
                <a:cs typeface="Courier New" panose="02070309020205020404" pitchFamily="49" charset="0"/>
              </a:rPr>
              <a:t>(</a:t>
            </a:r>
            <a:r>
              <a:rPr lang="en-MY" dirty="0">
                <a:solidFill>
                  <a:schemeClr val="bg1"/>
                </a:solidFill>
                <a:latin typeface="Courier New" panose="02070309020205020404" pitchFamily="49" charset="0"/>
                <a:cs typeface="Courier New" panose="02070309020205020404" pitchFamily="49" charset="0"/>
              </a:rPr>
              <a:t>EmployeeID</a:t>
            </a:r>
            <a:r>
              <a:rPr lang="en-MY" dirty="0">
                <a:solidFill>
                  <a:srgbClr val="FFC00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 </a:t>
            </a:r>
            <a:endParaRPr lang="en-MY" dirty="0">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A859F116-29BA-4D17-91A9-ED60BC71B017}"/>
              </a:ext>
            </a:extLst>
          </p:cNvPr>
          <p:cNvSpPr/>
          <p:nvPr/>
        </p:nvSpPr>
        <p:spPr>
          <a:xfrm>
            <a:off x="8396138" y="3563241"/>
            <a:ext cx="1226341" cy="26161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chemeClr val="bg1"/>
                </a:solidFill>
                <a:effectLst>
                  <a:outerShdw blurRad="38100" dist="38100" dir="2700000" algn="tl">
                    <a:srgbClr val="000000">
                      <a:alpha val="43137"/>
                    </a:srgbClr>
                  </a:outerShdw>
                </a:effectLst>
              </a:rPr>
              <a:t>Optional</a:t>
            </a:r>
          </a:p>
        </p:txBody>
      </p:sp>
      <p:cxnSp>
        <p:nvCxnSpPr>
          <p:cNvPr id="10" name="Straight Arrow Connector 9">
            <a:extLst>
              <a:ext uri="{FF2B5EF4-FFF2-40B4-BE49-F238E27FC236}">
                <a16:creationId xmlns:a16="http://schemas.microsoft.com/office/drawing/2014/main" id="{83812B04-8489-45C0-A42D-FAE35841DEBB}"/>
              </a:ext>
            </a:extLst>
          </p:cNvPr>
          <p:cNvCxnSpPr>
            <a:cxnSpLocks/>
            <a:stCxn id="8" idx="1"/>
          </p:cNvCxnSpPr>
          <p:nvPr/>
        </p:nvCxnSpPr>
        <p:spPr>
          <a:xfrm flipH="1">
            <a:off x="7736305" y="3694046"/>
            <a:ext cx="659833" cy="0"/>
          </a:xfrm>
          <a:prstGeom prst="straightConnector1">
            <a:avLst/>
          </a:prstGeom>
          <a:ln w="444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93381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347E4-3413-E3D2-F8C8-1A14F95FF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38206-E559-F251-0B26-3C2D6E0088FD}"/>
              </a:ext>
            </a:extLst>
          </p:cNvPr>
          <p:cNvSpPr>
            <a:spLocks noGrp="1"/>
          </p:cNvSpPr>
          <p:nvPr>
            <p:ph type="title"/>
          </p:nvPr>
        </p:nvSpPr>
        <p:spPr/>
        <p:txBody>
          <a:bodyPr/>
          <a:lstStyle/>
          <a:p>
            <a:r>
              <a:rPr lang="en-MY" b="1" dirty="0">
                <a:solidFill>
                  <a:schemeClr val="accent2"/>
                </a:solidFill>
              </a:rPr>
              <a:t>Example (ALTER TABLE)</a:t>
            </a:r>
          </a:p>
        </p:txBody>
      </p:sp>
      <p:sp>
        <p:nvSpPr>
          <p:cNvPr id="3" name="Content Placeholder 2">
            <a:extLst>
              <a:ext uri="{FF2B5EF4-FFF2-40B4-BE49-F238E27FC236}">
                <a16:creationId xmlns:a16="http://schemas.microsoft.com/office/drawing/2014/main" id="{331931E8-ADD5-9533-43DB-2629D16FBBAC}"/>
              </a:ext>
            </a:extLst>
          </p:cNvPr>
          <p:cNvSpPr>
            <a:spLocks noGrp="1"/>
          </p:cNvSpPr>
          <p:nvPr>
            <p:ph idx="1"/>
          </p:nvPr>
        </p:nvSpPr>
        <p:spPr>
          <a:xfrm>
            <a:off x="838200" y="1491916"/>
            <a:ext cx="10515600" cy="5000959"/>
          </a:xfrm>
        </p:spPr>
        <p:txBody>
          <a:bodyPr/>
          <a:lstStyle/>
          <a:p>
            <a:r>
              <a:rPr lang="en-MY" dirty="0"/>
              <a:t>If both tables are created without constraint.</a:t>
            </a:r>
          </a:p>
          <a:p>
            <a:r>
              <a:rPr lang="en-MY" dirty="0"/>
              <a:t>Constraints must be added using </a:t>
            </a:r>
            <a:r>
              <a:rPr lang="en-MY" b="1" dirty="0">
                <a:solidFill>
                  <a:srgbClr val="0070C0"/>
                </a:solidFill>
              </a:rPr>
              <a:t>ALTER TABLE</a:t>
            </a:r>
            <a:r>
              <a:rPr lang="en-MY" dirty="0">
                <a:solidFill>
                  <a:srgbClr val="0070C0"/>
                </a:solidFill>
              </a:rPr>
              <a:t> </a:t>
            </a:r>
          </a:p>
          <a:p>
            <a:endParaRPr lang="en-MY" dirty="0"/>
          </a:p>
          <a:p>
            <a:endParaRPr lang="en-MY" dirty="0"/>
          </a:p>
          <a:p>
            <a:endParaRPr lang="en-MY" dirty="0"/>
          </a:p>
          <a:p>
            <a:endParaRPr lang="en-MY" dirty="0"/>
          </a:p>
          <a:p>
            <a:pPr marL="0" indent="0">
              <a:buNone/>
            </a:pPr>
            <a:endParaRPr lang="en-MY" dirty="0"/>
          </a:p>
        </p:txBody>
      </p:sp>
      <p:sp>
        <p:nvSpPr>
          <p:cNvPr id="6" name="Slide Number Placeholder 5">
            <a:extLst>
              <a:ext uri="{FF2B5EF4-FFF2-40B4-BE49-F238E27FC236}">
                <a16:creationId xmlns:a16="http://schemas.microsoft.com/office/drawing/2014/main" id="{7AE3D857-0EF0-E0E5-AA54-E7567E3D41BF}"/>
              </a:ext>
            </a:extLst>
          </p:cNvPr>
          <p:cNvSpPr>
            <a:spLocks noGrp="1"/>
          </p:cNvSpPr>
          <p:nvPr>
            <p:ph type="sldNum" sz="quarter" idx="12"/>
          </p:nvPr>
        </p:nvSpPr>
        <p:spPr/>
        <p:txBody>
          <a:bodyPr/>
          <a:lstStyle/>
          <a:p>
            <a:pPr>
              <a:defRPr/>
            </a:pPr>
            <a:fld id="{4AEEF2DB-3D68-4EFF-B92B-90C34555BE45}" type="slidenum">
              <a:rPr lang="en-US" smtClean="0"/>
              <a:pPr>
                <a:defRPr/>
              </a:pPr>
              <a:t>30</a:t>
            </a:fld>
            <a:endParaRPr lang="en-US" dirty="0"/>
          </a:p>
        </p:txBody>
      </p:sp>
      <p:graphicFrame>
        <p:nvGraphicFramePr>
          <p:cNvPr id="7" name="Table 7">
            <a:extLst>
              <a:ext uri="{FF2B5EF4-FFF2-40B4-BE49-F238E27FC236}">
                <a16:creationId xmlns:a16="http://schemas.microsoft.com/office/drawing/2014/main" id="{0052FF7E-8C5C-8C86-897E-9B34D724EBA0}"/>
              </a:ext>
            </a:extLst>
          </p:cNvPr>
          <p:cNvGraphicFramePr>
            <a:graphicFrameLocks noGrp="1"/>
          </p:cNvGraphicFramePr>
          <p:nvPr/>
        </p:nvGraphicFramePr>
        <p:xfrm>
          <a:off x="1085222" y="2855835"/>
          <a:ext cx="4385582" cy="2123440"/>
        </p:xfrm>
        <a:graphic>
          <a:graphicData uri="http://schemas.openxmlformats.org/drawingml/2006/table">
            <a:tbl>
              <a:tblPr firstRow="1" bandRow="1">
                <a:tableStyleId>{5C22544A-7EE6-4342-B048-85BDC9FD1C3A}</a:tableStyleId>
              </a:tblPr>
              <a:tblGrid>
                <a:gridCol w="2192791">
                  <a:extLst>
                    <a:ext uri="{9D8B030D-6E8A-4147-A177-3AD203B41FA5}">
                      <a16:colId xmlns:a16="http://schemas.microsoft.com/office/drawing/2014/main" val="2631299043"/>
                    </a:ext>
                  </a:extLst>
                </a:gridCol>
                <a:gridCol w="2192791">
                  <a:extLst>
                    <a:ext uri="{9D8B030D-6E8A-4147-A177-3AD203B41FA5}">
                      <a16:colId xmlns:a16="http://schemas.microsoft.com/office/drawing/2014/main" val="4467829"/>
                    </a:ext>
                  </a:extLst>
                </a:gridCol>
              </a:tblGrid>
              <a:tr h="370840">
                <a:tc>
                  <a:txBody>
                    <a:bodyPr/>
                    <a:lstStyle/>
                    <a:p>
                      <a:pPr algn="ctr"/>
                      <a:r>
                        <a:rPr lang="en-MY" sz="1800" dirty="0"/>
                        <a:t>Attribute</a:t>
                      </a:r>
                    </a:p>
                  </a:txBody>
                  <a:tcPr/>
                </a:tc>
                <a:tc>
                  <a:txBody>
                    <a:bodyPr/>
                    <a:lstStyle/>
                    <a:p>
                      <a:pPr algn="ctr"/>
                      <a:r>
                        <a:rPr lang="en-MY" sz="1800" dirty="0"/>
                        <a:t>Datatype</a:t>
                      </a:r>
                    </a:p>
                  </a:txBody>
                  <a:tcPr/>
                </a:tc>
                <a:extLst>
                  <a:ext uri="{0D108BD9-81ED-4DB2-BD59-A6C34878D82A}">
                    <a16:rowId xmlns:a16="http://schemas.microsoft.com/office/drawing/2014/main" val="1873257483"/>
                  </a:ext>
                </a:extLst>
              </a:tr>
              <a:tr h="370840">
                <a:tc>
                  <a:txBody>
                    <a:bodyPr/>
                    <a:lstStyle/>
                    <a:p>
                      <a:r>
                        <a:rPr lang="en-MY" sz="1800" dirty="0"/>
                        <a:t>deptNo (Primary Key)</a:t>
                      </a:r>
                    </a:p>
                  </a:txBody>
                  <a:tcPr/>
                </a:tc>
                <a:tc>
                  <a:txBody>
                    <a:bodyPr/>
                    <a:lstStyle/>
                    <a:p>
                      <a:r>
                        <a:rPr lang="en-MY" sz="1800" dirty="0"/>
                        <a:t>Integer (5)</a:t>
                      </a:r>
                    </a:p>
                  </a:txBody>
                  <a:tcPr/>
                </a:tc>
                <a:extLst>
                  <a:ext uri="{0D108BD9-81ED-4DB2-BD59-A6C34878D82A}">
                    <a16:rowId xmlns:a16="http://schemas.microsoft.com/office/drawing/2014/main" val="3843317266"/>
                  </a:ext>
                </a:extLst>
              </a:tr>
              <a:tr h="370840">
                <a:tc>
                  <a:txBody>
                    <a:bodyPr/>
                    <a:lstStyle/>
                    <a:p>
                      <a:r>
                        <a:rPr lang="en-MY" sz="1800" dirty="0"/>
                        <a:t>deptName </a:t>
                      </a:r>
                      <a:br>
                        <a:rPr lang="en-MY" sz="1800" dirty="0"/>
                      </a:br>
                      <a:r>
                        <a:rPr lang="en-MY" sz="1800" dirty="0"/>
                        <a:t>– requires values</a:t>
                      </a:r>
                    </a:p>
                  </a:txBody>
                  <a:tcPr/>
                </a:tc>
                <a:tc>
                  <a:txBody>
                    <a:bodyPr/>
                    <a:lstStyle/>
                    <a:p>
                      <a:r>
                        <a:rPr lang="en-MY" sz="1800" dirty="0"/>
                        <a:t>Varchar(20)</a:t>
                      </a:r>
                    </a:p>
                  </a:txBody>
                  <a:tcPr/>
                </a:tc>
                <a:extLst>
                  <a:ext uri="{0D108BD9-81ED-4DB2-BD59-A6C34878D82A}">
                    <a16:rowId xmlns:a16="http://schemas.microsoft.com/office/drawing/2014/main" val="1901654671"/>
                  </a:ext>
                </a:extLst>
              </a:tr>
              <a:tr h="370840">
                <a:tc>
                  <a:txBody>
                    <a:bodyPr/>
                    <a:lstStyle/>
                    <a:p>
                      <a:r>
                        <a:rPr lang="en-MY" sz="1800" dirty="0"/>
                        <a:t>address </a:t>
                      </a:r>
                    </a:p>
                  </a:txBody>
                  <a:tcPr/>
                </a:tc>
                <a:tc>
                  <a:txBody>
                    <a:bodyPr/>
                    <a:lstStyle/>
                    <a:p>
                      <a:r>
                        <a:rPr lang="en-MY" sz="1800" dirty="0"/>
                        <a:t>Varchar(30)</a:t>
                      </a:r>
                    </a:p>
                  </a:txBody>
                  <a:tcPr/>
                </a:tc>
                <a:extLst>
                  <a:ext uri="{0D108BD9-81ED-4DB2-BD59-A6C34878D82A}">
                    <a16:rowId xmlns:a16="http://schemas.microsoft.com/office/drawing/2014/main" val="2089757628"/>
                  </a:ext>
                </a:extLst>
              </a:tr>
              <a:tr h="370840">
                <a:tc>
                  <a:txBody>
                    <a:bodyPr/>
                    <a:lstStyle/>
                    <a:p>
                      <a:r>
                        <a:rPr lang="en-MY" sz="1800" dirty="0"/>
                        <a:t>city</a:t>
                      </a:r>
                    </a:p>
                  </a:txBody>
                  <a:tcPr/>
                </a:tc>
                <a:tc>
                  <a:txBody>
                    <a:bodyPr/>
                    <a:lstStyle/>
                    <a:p>
                      <a:r>
                        <a:rPr lang="en-MY" sz="1800" dirty="0"/>
                        <a:t>Varchar(15)</a:t>
                      </a:r>
                    </a:p>
                  </a:txBody>
                  <a:tcPr/>
                </a:tc>
                <a:extLst>
                  <a:ext uri="{0D108BD9-81ED-4DB2-BD59-A6C34878D82A}">
                    <a16:rowId xmlns:a16="http://schemas.microsoft.com/office/drawing/2014/main" val="433874951"/>
                  </a:ext>
                </a:extLst>
              </a:tr>
            </a:tbl>
          </a:graphicData>
        </a:graphic>
      </p:graphicFrame>
      <p:sp>
        <p:nvSpPr>
          <p:cNvPr id="9" name="TextBox 8">
            <a:extLst>
              <a:ext uri="{FF2B5EF4-FFF2-40B4-BE49-F238E27FC236}">
                <a16:creationId xmlns:a16="http://schemas.microsoft.com/office/drawing/2014/main" id="{BE885E25-0199-A8A0-1D30-D7ACBFCEE717}"/>
              </a:ext>
            </a:extLst>
          </p:cNvPr>
          <p:cNvSpPr txBox="1"/>
          <p:nvPr/>
        </p:nvSpPr>
        <p:spPr>
          <a:xfrm>
            <a:off x="2745977" y="2476393"/>
            <a:ext cx="1482329" cy="400110"/>
          </a:xfrm>
          <a:prstGeom prst="rect">
            <a:avLst/>
          </a:prstGeom>
          <a:noFill/>
        </p:spPr>
        <p:txBody>
          <a:bodyPr wrap="none" rtlCol="0">
            <a:spAutoFit/>
          </a:bodyPr>
          <a:lstStyle/>
          <a:p>
            <a:r>
              <a:rPr lang="en-MY" sz="2000" b="1" dirty="0">
                <a:solidFill>
                  <a:schemeClr val="accent2"/>
                </a:solidFill>
              </a:rPr>
              <a:t>Department</a:t>
            </a:r>
          </a:p>
        </p:txBody>
      </p:sp>
      <p:graphicFrame>
        <p:nvGraphicFramePr>
          <p:cNvPr id="10" name="Table 7">
            <a:extLst>
              <a:ext uri="{FF2B5EF4-FFF2-40B4-BE49-F238E27FC236}">
                <a16:creationId xmlns:a16="http://schemas.microsoft.com/office/drawing/2014/main" id="{A195BE9E-BF4B-7DA9-E1E0-D7044B988DAA}"/>
              </a:ext>
            </a:extLst>
          </p:cNvPr>
          <p:cNvGraphicFramePr>
            <a:graphicFrameLocks noGrp="1"/>
          </p:cNvGraphicFramePr>
          <p:nvPr/>
        </p:nvGraphicFramePr>
        <p:xfrm>
          <a:off x="6136082" y="2876503"/>
          <a:ext cx="5067829" cy="3408680"/>
        </p:xfrm>
        <a:graphic>
          <a:graphicData uri="http://schemas.openxmlformats.org/drawingml/2006/table">
            <a:tbl>
              <a:tblPr firstRow="1" bandRow="1">
                <a:tableStyleId>{5C22544A-7EE6-4342-B048-85BDC9FD1C3A}</a:tableStyleId>
              </a:tblPr>
              <a:tblGrid>
                <a:gridCol w="2921047">
                  <a:extLst>
                    <a:ext uri="{9D8B030D-6E8A-4147-A177-3AD203B41FA5}">
                      <a16:colId xmlns:a16="http://schemas.microsoft.com/office/drawing/2014/main" val="2631299043"/>
                    </a:ext>
                  </a:extLst>
                </a:gridCol>
                <a:gridCol w="2146782">
                  <a:extLst>
                    <a:ext uri="{9D8B030D-6E8A-4147-A177-3AD203B41FA5}">
                      <a16:colId xmlns:a16="http://schemas.microsoft.com/office/drawing/2014/main" val="4467829"/>
                    </a:ext>
                  </a:extLst>
                </a:gridCol>
              </a:tblGrid>
              <a:tr h="370840">
                <a:tc>
                  <a:txBody>
                    <a:bodyPr/>
                    <a:lstStyle/>
                    <a:p>
                      <a:pPr algn="ctr"/>
                      <a:r>
                        <a:rPr lang="en-MY" sz="1800" dirty="0"/>
                        <a:t>Attribute</a:t>
                      </a:r>
                    </a:p>
                  </a:txBody>
                  <a:tcPr/>
                </a:tc>
                <a:tc>
                  <a:txBody>
                    <a:bodyPr/>
                    <a:lstStyle/>
                    <a:p>
                      <a:pPr algn="ctr"/>
                      <a:r>
                        <a:rPr lang="en-MY" sz="1800" dirty="0"/>
                        <a:t>Datatype</a:t>
                      </a:r>
                    </a:p>
                  </a:txBody>
                  <a:tcPr/>
                </a:tc>
                <a:extLst>
                  <a:ext uri="{0D108BD9-81ED-4DB2-BD59-A6C34878D82A}">
                    <a16:rowId xmlns:a16="http://schemas.microsoft.com/office/drawing/2014/main" val="1873257483"/>
                  </a:ext>
                </a:extLst>
              </a:tr>
              <a:tr h="370840">
                <a:tc>
                  <a:txBody>
                    <a:bodyPr/>
                    <a:lstStyle/>
                    <a:p>
                      <a:r>
                        <a:rPr lang="en-MY" sz="1800" dirty="0"/>
                        <a:t>empID (Primary Key)</a:t>
                      </a:r>
                    </a:p>
                  </a:txBody>
                  <a:tcPr/>
                </a:tc>
                <a:tc>
                  <a:txBody>
                    <a:bodyPr/>
                    <a:lstStyle/>
                    <a:p>
                      <a:r>
                        <a:rPr lang="en-MY" sz="1800" dirty="0"/>
                        <a:t>Integer</a:t>
                      </a:r>
                    </a:p>
                  </a:txBody>
                  <a:tcPr/>
                </a:tc>
                <a:extLst>
                  <a:ext uri="{0D108BD9-81ED-4DB2-BD59-A6C34878D82A}">
                    <a16:rowId xmlns:a16="http://schemas.microsoft.com/office/drawing/2014/main" val="3843317266"/>
                  </a:ext>
                </a:extLst>
              </a:tr>
              <a:tr h="370840">
                <a:tc>
                  <a:txBody>
                    <a:bodyPr/>
                    <a:lstStyle/>
                    <a:p>
                      <a:r>
                        <a:rPr lang="en-MY" sz="1800" dirty="0"/>
                        <a:t>fName – requires values</a:t>
                      </a:r>
                    </a:p>
                  </a:txBody>
                  <a:tcPr/>
                </a:tc>
                <a:tc>
                  <a:txBody>
                    <a:bodyPr/>
                    <a:lstStyle/>
                    <a:p>
                      <a:r>
                        <a:rPr lang="en-MY" sz="1800" dirty="0"/>
                        <a:t>Varchar(20)</a:t>
                      </a:r>
                    </a:p>
                  </a:txBody>
                  <a:tcPr/>
                </a:tc>
                <a:extLst>
                  <a:ext uri="{0D108BD9-81ED-4DB2-BD59-A6C34878D82A}">
                    <a16:rowId xmlns:a16="http://schemas.microsoft.com/office/drawing/2014/main" val="1901654671"/>
                  </a:ext>
                </a:extLst>
              </a:tr>
              <a:tr h="370840">
                <a:tc>
                  <a:txBody>
                    <a:bodyPr/>
                    <a:lstStyle/>
                    <a:p>
                      <a:r>
                        <a:rPr lang="en-MY" sz="1800" dirty="0"/>
                        <a:t>lName – requires values</a:t>
                      </a:r>
                    </a:p>
                  </a:txBody>
                  <a:tcPr/>
                </a:tc>
                <a:tc>
                  <a:txBody>
                    <a:bodyPr/>
                    <a:lstStyle/>
                    <a:p>
                      <a:r>
                        <a:rPr lang="en-MY" sz="1800" dirty="0"/>
                        <a:t>Varchar(30)</a:t>
                      </a:r>
                    </a:p>
                  </a:txBody>
                  <a:tcPr/>
                </a:tc>
                <a:extLst>
                  <a:ext uri="{0D108BD9-81ED-4DB2-BD59-A6C34878D82A}">
                    <a16:rowId xmlns:a16="http://schemas.microsoft.com/office/drawing/2014/main" val="2089757628"/>
                  </a:ext>
                </a:extLst>
              </a:tr>
              <a:tr h="370840">
                <a:tc>
                  <a:txBody>
                    <a:bodyPr/>
                    <a:lstStyle/>
                    <a:p>
                      <a:r>
                        <a:rPr lang="en-MY" sz="1800" dirty="0"/>
                        <a:t>email – unique</a:t>
                      </a:r>
                    </a:p>
                  </a:txBody>
                  <a:tcPr/>
                </a:tc>
                <a:tc>
                  <a:txBody>
                    <a:bodyPr/>
                    <a:lstStyle/>
                    <a:p>
                      <a:r>
                        <a:rPr lang="en-MY" sz="1800" dirty="0"/>
                        <a:t>Varchar(30)</a:t>
                      </a:r>
                    </a:p>
                  </a:txBody>
                  <a:tcPr/>
                </a:tc>
                <a:extLst>
                  <a:ext uri="{0D108BD9-81ED-4DB2-BD59-A6C34878D82A}">
                    <a16:rowId xmlns:a16="http://schemas.microsoft.com/office/drawing/2014/main" val="3303699681"/>
                  </a:ext>
                </a:extLst>
              </a:tr>
              <a:tr h="370840">
                <a:tc>
                  <a:txBody>
                    <a:bodyPr/>
                    <a:lstStyle/>
                    <a:p>
                      <a:r>
                        <a:rPr lang="en-MY" sz="1800" dirty="0"/>
                        <a:t>salary – must be more than 1,700</a:t>
                      </a:r>
                    </a:p>
                  </a:txBody>
                  <a:tcPr/>
                </a:tc>
                <a:tc>
                  <a:txBody>
                    <a:bodyPr/>
                    <a:lstStyle/>
                    <a:p>
                      <a:r>
                        <a:rPr lang="en-MY" sz="1800" dirty="0"/>
                        <a:t>Decimal (10,2)</a:t>
                      </a:r>
                    </a:p>
                  </a:txBody>
                  <a:tcPr/>
                </a:tc>
                <a:extLst>
                  <a:ext uri="{0D108BD9-81ED-4DB2-BD59-A6C34878D82A}">
                    <a16:rowId xmlns:a16="http://schemas.microsoft.com/office/drawing/2014/main" val="3394725929"/>
                  </a:ext>
                </a:extLst>
              </a:tr>
              <a:tr h="370840">
                <a:tc>
                  <a:txBody>
                    <a:bodyPr/>
                    <a:lstStyle/>
                    <a:p>
                      <a:r>
                        <a:rPr lang="en-MY" sz="1800" dirty="0"/>
                        <a:t>deptNo (Foreign key) – deptNo is an attribute in Department relation</a:t>
                      </a:r>
                    </a:p>
                  </a:txBody>
                  <a:tcPr/>
                </a:tc>
                <a:tc>
                  <a:txBody>
                    <a:bodyPr/>
                    <a:lstStyle/>
                    <a:p>
                      <a:r>
                        <a:rPr lang="en-MY" sz="1800" dirty="0"/>
                        <a:t>Integer(5)</a:t>
                      </a:r>
                    </a:p>
                  </a:txBody>
                  <a:tcPr/>
                </a:tc>
                <a:extLst>
                  <a:ext uri="{0D108BD9-81ED-4DB2-BD59-A6C34878D82A}">
                    <a16:rowId xmlns:a16="http://schemas.microsoft.com/office/drawing/2014/main" val="433874951"/>
                  </a:ext>
                </a:extLst>
              </a:tr>
            </a:tbl>
          </a:graphicData>
        </a:graphic>
      </p:graphicFrame>
      <p:sp>
        <p:nvSpPr>
          <p:cNvPr id="11" name="TextBox 10">
            <a:extLst>
              <a:ext uri="{FF2B5EF4-FFF2-40B4-BE49-F238E27FC236}">
                <a16:creationId xmlns:a16="http://schemas.microsoft.com/office/drawing/2014/main" id="{6149CAED-9435-991E-CA1C-DDFB6E9E6D35}"/>
              </a:ext>
            </a:extLst>
          </p:cNvPr>
          <p:cNvSpPr txBox="1"/>
          <p:nvPr/>
        </p:nvSpPr>
        <p:spPr>
          <a:xfrm>
            <a:off x="8365515" y="2476393"/>
            <a:ext cx="1336071" cy="400110"/>
          </a:xfrm>
          <a:prstGeom prst="rect">
            <a:avLst/>
          </a:prstGeom>
          <a:noFill/>
        </p:spPr>
        <p:txBody>
          <a:bodyPr wrap="none" rtlCol="0">
            <a:spAutoFit/>
          </a:bodyPr>
          <a:lstStyle/>
          <a:p>
            <a:r>
              <a:rPr lang="en-MY" sz="2000" b="1" dirty="0">
                <a:solidFill>
                  <a:schemeClr val="accent2"/>
                </a:solidFill>
              </a:rPr>
              <a:t>Employees</a:t>
            </a:r>
          </a:p>
        </p:txBody>
      </p:sp>
    </p:spTree>
    <p:extLst>
      <p:ext uri="{BB962C8B-B14F-4D97-AF65-F5344CB8AC3E}">
        <p14:creationId xmlns:p14="http://schemas.microsoft.com/office/powerpoint/2010/main" val="14724388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0F924-1C16-45BE-A0C6-59350635944D}"/>
              </a:ext>
            </a:extLst>
          </p:cNvPr>
          <p:cNvSpPr>
            <a:spLocks noGrp="1"/>
          </p:cNvSpPr>
          <p:nvPr>
            <p:ph type="title"/>
          </p:nvPr>
        </p:nvSpPr>
        <p:spPr/>
        <p:txBody>
          <a:bodyPr/>
          <a:lstStyle/>
          <a:p>
            <a:r>
              <a:rPr lang="en-MY" b="1" dirty="0">
                <a:solidFill>
                  <a:schemeClr val="accent2"/>
                </a:solidFill>
              </a:rPr>
              <a:t>Examples (ALTER TABLE)</a:t>
            </a:r>
          </a:p>
        </p:txBody>
      </p:sp>
      <p:sp>
        <p:nvSpPr>
          <p:cNvPr id="5" name="Slide Number Placeholder 4">
            <a:extLst>
              <a:ext uri="{FF2B5EF4-FFF2-40B4-BE49-F238E27FC236}">
                <a16:creationId xmlns:a16="http://schemas.microsoft.com/office/drawing/2014/main" id="{3C945B79-24C2-44B2-A435-30D6C9AAAA7F}"/>
              </a:ext>
            </a:extLst>
          </p:cNvPr>
          <p:cNvSpPr>
            <a:spLocks noGrp="1"/>
          </p:cNvSpPr>
          <p:nvPr>
            <p:ph type="sldNum" sz="quarter" idx="12"/>
          </p:nvPr>
        </p:nvSpPr>
        <p:spPr/>
        <p:txBody>
          <a:bodyPr/>
          <a:lstStyle/>
          <a:p>
            <a:pPr>
              <a:defRPr/>
            </a:pPr>
            <a:fld id="{4AEEF2DB-3D68-4EFF-B92B-90C34555BE45}" type="slidenum">
              <a:rPr lang="en-US" smtClean="0"/>
              <a:pPr>
                <a:defRPr/>
              </a:pPr>
              <a:t>31</a:t>
            </a:fld>
            <a:endParaRPr lang="en-US" dirty="0"/>
          </a:p>
        </p:txBody>
      </p:sp>
      <p:sp>
        <p:nvSpPr>
          <p:cNvPr id="7" name="Rectangle 6">
            <a:extLst>
              <a:ext uri="{FF2B5EF4-FFF2-40B4-BE49-F238E27FC236}">
                <a16:creationId xmlns:a16="http://schemas.microsoft.com/office/drawing/2014/main" id="{139561C4-9715-473A-B6A0-FF8A04D7E365}"/>
              </a:ext>
            </a:extLst>
          </p:cNvPr>
          <p:cNvSpPr/>
          <p:nvPr/>
        </p:nvSpPr>
        <p:spPr>
          <a:xfrm>
            <a:off x="2353156" y="2501948"/>
            <a:ext cx="7485689" cy="102197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chemeClr val="accent4"/>
                </a:solidFill>
                <a:latin typeface="Courier New" panose="02070309020205020404" pitchFamily="49" charset="0"/>
                <a:cs typeface="Courier New" panose="02070309020205020404" pitchFamily="49" charset="0"/>
              </a:rPr>
              <a:t>ALTER TABLE </a:t>
            </a:r>
            <a:r>
              <a:rPr lang="en-MY" dirty="0">
                <a:solidFill>
                  <a:srgbClr val="00B0F0"/>
                </a:solidFill>
                <a:latin typeface="Courier New" panose="02070309020205020404" pitchFamily="49" charset="0"/>
                <a:cs typeface="Courier New" panose="02070309020205020404" pitchFamily="49" charset="0"/>
              </a:rPr>
              <a:t>Department</a:t>
            </a:r>
            <a:r>
              <a:rPr lang="en-MY" dirty="0">
                <a:latin typeface="Courier New" panose="02070309020205020404" pitchFamily="49" charset="0"/>
                <a:cs typeface="Courier New" panose="02070309020205020404" pitchFamily="49" charset="0"/>
              </a:rPr>
              <a:t> </a:t>
            </a:r>
          </a:p>
          <a:p>
            <a:r>
              <a:rPr lang="en-MY" b="1" dirty="0">
                <a:solidFill>
                  <a:srgbClr val="FFC000"/>
                </a:solidFill>
                <a:latin typeface="Courier New" panose="02070309020205020404" pitchFamily="49" charset="0"/>
                <a:cs typeface="Courier New" panose="02070309020205020404" pitchFamily="49" charset="0"/>
              </a:rPr>
              <a:t>ADD CONSTRAINT </a:t>
            </a:r>
            <a:r>
              <a:rPr lang="en-MY" dirty="0">
                <a:solidFill>
                  <a:schemeClr val="bg1"/>
                </a:solidFill>
                <a:latin typeface="Courier New" panose="02070309020205020404" pitchFamily="49" charset="0"/>
                <a:cs typeface="Courier New" panose="02070309020205020404" pitchFamily="49" charset="0"/>
              </a:rPr>
              <a:t>pk_Department </a:t>
            </a:r>
            <a:r>
              <a:rPr lang="en-MY" b="1" dirty="0">
                <a:solidFill>
                  <a:srgbClr val="00B050"/>
                </a:solidFill>
                <a:latin typeface="Courier New" panose="02070309020205020404" pitchFamily="49" charset="0"/>
                <a:cs typeface="Courier New" panose="02070309020205020404" pitchFamily="49" charset="0"/>
              </a:rPr>
              <a:t>PRIMARY KEY</a:t>
            </a:r>
            <a:r>
              <a:rPr lang="en-MY" dirty="0">
                <a:solidFill>
                  <a:srgbClr val="FFC000"/>
                </a:solidFill>
                <a:latin typeface="Courier New" panose="02070309020205020404" pitchFamily="49" charset="0"/>
                <a:cs typeface="Courier New" panose="02070309020205020404" pitchFamily="49" charset="0"/>
              </a:rPr>
              <a:t>(</a:t>
            </a:r>
            <a:r>
              <a:rPr lang="en-MY" dirty="0">
                <a:solidFill>
                  <a:schemeClr val="bg1"/>
                </a:solidFill>
                <a:latin typeface="Courier New" panose="02070309020205020404" pitchFamily="49" charset="0"/>
                <a:cs typeface="Courier New" panose="02070309020205020404" pitchFamily="49" charset="0"/>
              </a:rPr>
              <a:t>deptNo</a:t>
            </a:r>
            <a:r>
              <a:rPr lang="en-MY" dirty="0">
                <a:solidFill>
                  <a:srgbClr val="FFC000"/>
                </a:solidFill>
                <a:latin typeface="Courier New" panose="02070309020205020404" pitchFamily="49" charset="0"/>
                <a:cs typeface="Courier New" panose="02070309020205020404" pitchFamily="49" charset="0"/>
              </a:rPr>
              <a:t>)</a:t>
            </a:r>
          </a:p>
          <a:p>
            <a:r>
              <a:rPr lang="en-MY" b="1" dirty="0">
                <a:solidFill>
                  <a:srgbClr val="FFC000"/>
                </a:solidFill>
                <a:latin typeface="Courier New" panose="02070309020205020404" pitchFamily="49" charset="0"/>
                <a:cs typeface="Courier New" panose="02070309020205020404" pitchFamily="49" charset="0"/>
              </a:rPr>
              <a:t>MODIFY </a:t>
            </a:r>
            <a:r>
              <a:rPr lang="en-MY" dirty="0">
                <a:solidFill>
                  <a:schemeClr val="bg1"/>
                </a:solidFill>
                <a:latin typeface="Courier New" panose="02070309020205020404" pitchFamily="49" charset="0"/>
                <a:cs typeface="Courier New" panose="02070309020205020404" pitchFamily="49" charset="0"/>
              </a:rPr>
              <a:t>deptName </a:t>
            </a:r>
            <a:r>
              <a:rPr lang="en-MY" b="1" dirty="0">
                <a:solidFill>
                  <a:srgbClr val="FFC000"/>
                </a:solidFill>
                <a:latin typeface="Courier New" panose="02070309020205020404" pitchFamily="49" charset="0"/>
                <a:cs typeface="Courier New" panose="02070309020205020404" pitchFamily="49" charset="0"/>
              </a:rPr>
              <a:t>VARCHAR(20) </a:t>
            </a:r>
            <a:r>
              <a:rPr lang="en-MY" b="1" dirty="0">
                <a:solidFill>
                  <a:srgbClr val="00B050"/>
                </a:solidFill>
                <a:latin typeface="Courier New" panose="02070309020205020404" pitchFamily="49" charset="0"/>
                <a:cs typeface="Courier New" panose="02070309020205020404" pitchFamily="49" charset="0"/>
              </a:rPr>
              <a:t>NOT NULL</a:t>
            </a:r>
            <a:r>
              <a:rPr lang="en-MY" b="1" dirty="0">
                <a:solidFill>
                  <a:srgbClr val="FFC000"/>
                </a:solidFill>
                <a:latin typeface="Courier New" panose="02070309020205020404" pitchFamily="49" charset="0"/>
                <a:cs typeface="Courier New" panose="02070309020205020404" pitchFamily="49" charset="0"/>
              </a:rPr>
              <a:t>;</a:t>
            </a:r>
            <a:endParaRPr lang="en-MY" dirty="0">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8BAAD3B3-A32C-4DBE-9CA8-EB9588281436}"/>
              </a:ext>
            </a:extLst>
          </p:cNvPr>
          <p:cNvSpPr/>
          <p:nvPr/>
        </p:nvSpPr>
        <p:spPr>
          <a:xfrm>
            <a:off x="2353156" y="4436652"/>
            <a:ext cx="7485689" cy="1838735"/>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b="1" dirty="0">
                <a:solidFill>
                  <a:schemeClr val="accent4"/>
                </a:solidFill>
                <a:latin typeface="Courier New" panose="02070309020205020404" pitchFamily="49" charset="0"/>
                <a:cs typeface="Courier New" panose="02070309020205020404" pitchFamily="49" charset="0"/>
              </a:rPr>
              <a:t>ALTER TABLE </a:t>
            </a:r>
            <a:r>
              <a:rPr lang="en-MY" dirty="0">
                <a:solidFill>
                  <a:srgbClr val="00B0F0"/>
                </a:solidFill>
                <a:latin typeface="Courier New" panose="02070309020205020404" pitchFamily="49" charset="0"/>
                <a:cs typeface="Courier New" panose="02070309020205020404" pitchFamily="49" charset="0"/>
              </a:rPr>
              <a:t>Employees</a:t>
            </a:r>
            <a:r>
              <a:rPr lang="en-MY" dirty="0">
                <a:latin typeface="Courier New" panose="02070309020205020404" pitchFamily="49" charset="0"/>
                <a:cs typeface="Courier New" panose="02070309020205020404" pitchFamily="49" charset="0"/>
              </a:rPr>
              <a:t> </a:t>
            </a:r>
          </a:p>
          <a:p>
            <a:r>
              <a:rPr lang="en-MY" b="1" dirty="0">
                <a:solidFill>
                  <a:srgbClr val="FFC000"/>
                </a:solidFill>
                <a:latin typeface="Courier New" panose="02070309020205020404" pitchFamily="49" charset="0"/>
                <a:cs typeface="Courier New" panose="02070309020205020404" pitchFamily="49" charset="0"/>
              </a:rPr>
              <a:t>MODIFY </a:t>
            </a:r>
            <a:r>
              <a:rPr lang="en-MY" dirty="0">
                <a:solidFill>
                  <a:schemeClr val="bg1"/>
                </a:solidFill>
                <a:latin typeface="Courier New" panose="02070309020205020404" pitchFamily="49" charset="0"/>
                <a:cs typeface="Courier New" panose="02070309020205020404" pitchFamily="49" charset="0"/>
              </a:rPr>
              <a:t>fName </a:t>
            </a:r>
            <a:r>
              <a:rPr lang="en-MY" b="1" dirty="0">
                <a:solidFill>
                  <a:srgbClr val="FFC000"/>
                </a:solidFill>
                <a:latin typeface="Courier New" panose="02070309020205020404" pitchFamily="49" charset="0"/>
                <a:cs typeface="Courier New" panose="02070309020205020404" pitchFamily="49" charset="0"/>
              </a:rPr>
              <a:t>VARCHAR(20) </a:t>
            </a:r>
            <a:r>
              <a:rPr lang="en-MY" b="1" dirty="0">
                <a:solidFill>
                  <a:srgbClr val="00B050"/>
                </a:solidFill>
                <a:latin typeface="Courier New" panose="02070309020205020404" pitchFamily="49" charset="0"/>
                <a:cs typeface="Courier New" panose="02070309020205020404" pitchFamily="49" charset="0"/>
              </a:rPr>
              <a:t>NOT NULL</a:t>
            </a:r>
            <a:endParaRPr lang="en-MY" b="1" dirty="0">
              <a:solidFill>
                <a:srgbClr val="FFC000"/>
              </a:solidFill>
              <a:latin typeface="Courier New" panose="02070309020205020404" pitchFamily="49" charset="0"/>
              <a:cs typeface="Courier New" panose="02070309020205020404" pitchFamily="49" charset="0"/>
            </a:endParaRPr>
          </a:p>
          <a:p>
            <a:r>
              <a:rPr lang="en-MY" b="1" dirty="0">
                <a:solidFill>
                  <a:srgbClr val="FFC000"/>
                </a:solidFill>
                <a:latin typeface="Courier New" panose="02070309020205020404" pitchFamily="49" charset="0"/>
                <a:cs typeface="Courier New" panose="02070309020205020404" pitchFamily="49" charset="0"/>
              </a:rPr>
              <a:t>MODIFY </a:t>
            </a:r>
            <a:r>
              <a:rPr lang="en-MY" dirty="0">
                <a:solidFill>
                  <a:schemeClr val="bg1"/>
                </a:solidFill>
                <a:latin typeface="Courier New" panose="02070309020205020404" pitchFamily="49" charset="0"/>
                <a:cs typeface="Courier New" panose="02070309020205020404" pitchFamily="49" charset="0"/>
              </a:rPr>
              <a:t>lName</a:t>
            </a:r>
            <a:r>
              <a:rPr lang="en-MY" b="1" dirty="0">
                <a:solidFill>
                  <a:srgbClr val="FFC000"/>
                </a:solidFill>
                <a:latin typeface="Courier New" panose="02070309020205020404" pitchFamily="49" charset="0"/>
                <a:cs typeface="Courier New" panose="02070309020205020404" pitchFamily="49" charset="0"/>
              </a:rPr>
              <a:t> VARCHAR(30) </a:t>
            </a:r>
            <a:r>
              <a:rPr lang="en-MY" b="1" dirty="0">
                <a:solidFill>
                  <a:srgbClr val="00B050"/>
                </a:solidFill>
                <a:latin typeface="Courier New" panose="02070309020205020404" pitchFamily="49" charset="0"/>
                <a:cs typeface="Courier New" panose="02070309020205020404" pitchFamily="49" charset="0"/>
              </a:rPr>
              <a:t>NOT NULL</a:t>
            </a:r>
            <a:endParaRPr lang="en-MY" b="1" dirty="0">
              <a:solidFill>
                <a:srgbClr val="FFC000"/>
              </a:solidFill>
              <a:latin typeface="Courier New" panose="02070309020205020404" pitchFamily="49" charset="0"/>
              <a:cs typeface="Courier New" panose="02070309020205020404" pitchFamily="49" charset="0"/>
            </a:endParaRPr>
          </a:p>
          <a:p>
            <a:r>
              <a:rPr lang="en-MY" b="1" dirty="0">
                <a:solidFill>
                  <a:srgbClr val="FFC000"/>
                </a:solidFill>
                <a:latin typeface="Courier New" panose="02070309020205020404" pitchFamily="49" charset="0"/>
                <a:cs typeface="Courier New" panose="02070309020205020404" pitchFamily="49" charset="0"/>
              </a:rPr>
              <a:t>ADD CONSTRAINT </a:t>
            </a:r>
            <a:r>
              <a:rPr lang="en-MY" dirty="0">
                <a:solidFill>
                  <a:schemeClr val="bg1"/>
                </a:solidFill>
                <a:latin typeface="Courier New" panose="02070309020205020404" pitchFamily="49" charset="0"/>
                <a:cs typeface="Courier New" panose="02070309020205020404" pitchFamily="49" charset="0"/>
              </a:rPr>
              <a:t>pk_Employees </a:t>
            </a:r>
            <a:r>
              <a:rPr lang="en-MY" b="1" dirty="0">
                <a:solidFill>
                  <a:srgbClr val="00B050"/>
                </a:solidFill>
                <a:latin typeface="Courier New" panose="02070309020205020404" pitchFamily="49" charset="0"/>
                <a:cs typeface="Courier New" panose="02070309020205020404" pitchFamily="49" charset="0"/>
              </a:rPr>
              <a:t>PRIMARY KEY</a:t>
            </a:r>
            <a:r>
              <a:rPr lang="en-MY" dirty="0">
                <a:solidFill>
                  <a:srgbClr val="FFC000"/>
                </a:solidFill>
                <a:latin typeface="Courier New" panose="02070309020205020404" pitchFamily="49" charset="0"/>
                <a:cs typeface="Courier New" panose="02070309020205020404" pitchFamily="49" charset="0"/>
              </a:rPr>
              <a:t>(</a:t>
            </a:r>
            <a:r>
              <a:rPr lang="en-MY" dirty="0">
                <a:solidFill>
                  <a:schemeClr val="bg1"/>
                </a:solidFill>
                <a:latin typeface="Courier New" panose="02070309020205020404" pitchFamily="49" charset="0"/>
                <a:cs typeface="Courier New" panose="02070309020205020404" pitchFamily="49" charset="0"/>
              </a:rPr>
              <a:t>empID</a:t>
            </a:r>
            <a:r>
              <a:rPr lang="en-MY" dirty="0">
                <a:solidFill>
                  <a:srgbClr val="FFC000"/>
                </a:solidFill>
                <a:latin typeface="Courier New" panose="02070309020205020404" pitchFamily="49" charset="0"/>
                <a:cs typeface="Courier New" panose="02070309020205020404" pitchFamily="49" charset="0"/>
              </a:rPr>
              <a:t>)</a:t>
            </a:r>
          </a:p>
          <a:p>
            <a:r>
              <a:rPr lang="en-MY" b="1" dirty="0">
                <a:solidFill>
                  <a:srgbClr val="FFC000"/>
                </a:solidFill>
                <a:latin typeface="Courier New" panose="02070309020205020404" pitchFamily="49" charset="0"/>
                <a:cs typeface="Courier New" panose="02070309020205020404" pitchFamily="49" charset="0"/>
              </a:rPr>
              <a:t>ADD CONSTRAINT </a:t>
            </a:r>
            <a:r>
              <a:rPr lang="en-MY" dirty="0">
                <a:solidFill>
                  <a:schemeClr val="bg1"/>
                </a:solidFill>
                <a:latin typeface="Courier New" panose="02070309020205020404" pitchFamily="49" charset="0"/>
                <a:cs typeface="Courier New" panose="02070309020205020404" pitchFamily="49" charset="0"/>
              </a:rPr>
              <a:t>fk_EmpDept </a:t>
            </a:r>
            <a:r>
              <a:rPr lang="en-MY" b="1" dirty="0">
                <a:solidFill>
                  <a:srgbClr val="00B050"/>
                </a:solidFill>
                <a:latin typeface="Courier New" panose="02070309020205020404" pitchFamily="49" charset="0"/>
                <a:cs typeface="Courier New" panose="02070309020205020404" pitchFamily="49" charset="0"/>
              </a:rPr>
              <a:t>FOREIGN KEY </a:t>
            </a:r>
            <a:r>
              <a:rPr lang="en-MY" dirty="0">
                <a:solidFill>
                  <a:srgbClr val="FFC000"/>
                </a:solidFill>
                <a:latin typeface="Courier New" panose="02070309020205020404" pitchFamily="49" charset="0"/>
                <a:cs typeface="Courier New" panose="02070309020205020404" pitchFamily="49" charset="0"/>
              </a:rPr>
              <a:t>(</a:t>
            </a:r>
            <a:r>
              <a:rPr lang="en-MY" dirty="0">
                <a:solidFill>
                  <a:schemeClr val="bg1"/>
                </a:solidFill>
                <a:latin typeface="Courier New" panose="02070309020205020404" pitchFamily="49" charset="0"/>
                <a:cs typeface="Courier New" panose="02070309020205020404" pitchFamily="49" charset="0"/>
              </a:rPr>
              <a:t>deptNo</a:t>
            </a:r>
            <a:r>
              <a:rPr lang="en-MY" dirty="0">
                <a:solidFill>
                  <a:srgbClr val="FFC000"/>
                </a:solidFill>
                <a:latin typeface="Courier New" panose="02070309020205020404" pitchFamily="49" charset="0"/>
                <a:cs typeface="Courier New" panose="02070309020205020404" pitchFamily="49" charset="0"/>
              </a:rPr>
              <a:t>) </a:t>
            </a:r>
            <a:r>
              <a:rPr lang="en-MY" b="1" dirty="0">
                <a:solidFill>
                  <a:srgbClr val="FFC000"/>
                </a:solidFill>
                <a:latin typeface="Courier New" panose="02070309020205020404" pitchFamily="49" charset="0"/>
                <a:cs typeface="Courier New" panose="02070309020205020404" pitchFamily="49" charset="0"/>
              </a:rPr>
              <a:t>REFERENCES </a:t>
            </a:r>
            <a:r>
              <a:rPr lang="en-MY" dirty="0">
                <a:solidFill>
                  <a:srgbClr val="00B0F0"/>
                </a:solidFill>
                <a:latin typeface="Courier New" panose="02070309020205020404" pitchFamily="49" charset="0"/>
                <a:cs typeface="Courier New" panose="02070309020205020404" pitchFamily="49" charset="0"/>
              </a:rPr>
              <a:t>Department</a:t>
            </a:r>
            <a:r>
              <a:rPr lang="en-MY" dirty="0">
                <a:solidFill>
                  <a:srgbClr val="FFC000"/>
                </a:solidFill>
                <a:latin typeface="Courier New" panose="02070309020205020404" pitchFamily="49" charset="0"/>
                <a:cs typeface="Courier New" panose="02070309020205020404" pitchFamily="49" charset="0"/>
              </a:rPr>
              <a:t>(</a:t>
            </a:r>
            <a:r>
              <a:rPr lang="en-MY" dirty="0">
                <a:solidFill>
                  <a:schemeClr val="bg1"/>
                </a:solidFill>
                <a:latin typeface="Courier New" panose="02070309020205020404" pitchFamily="49" charset="0"/>
                <a:cs typeface="Courier New" panose="02070309020205020404" pitchFamily="49" charset="0"/>
              </a:rPr>
              <a:t>deptNo</a:t>
            </a:r>
            <a:r>
              <a:rPr lang="en-MY" dirty="0">
                <a:solidFill>
                  <a:srgbClr val="FFC000"/>
                </a:solidFill>
                <a:latin typeface="Courier New" panose="02070309020205020404" pitchFamily="49" charset="0"/>
                <a:cs typeface="Courier New" panose="02070309020205020404" pitchFamily="49" charset="0"/>
              </a:rPr>
              <a:t>)</a:t>
            </a:r>
            <a:r>
              <a:rPr lang="en-MY" b="1" dirty="0">
                <a:solidFill>
                  <a:srgbClr val="FFC000"/>
                </a:solidFill>
                <a:latin typeface="Courier New" panose="02070309020205020404" pitchFamily="49" charset="0"/>
                <a:cs typeface="Courier New" panose="02070309020205020404" pitchFamily="49" charset="0"/>
              </a:rPr>
              <a:t>;</a:t>
            </a:r>
          </a:p>
        </p:txBody>
      </p:sp>
      <p:sp>
        <p:nvSpPr>
          <p:cNvPr id="9" name="TextBox 8">
            <a:extLst>
              <a:ext uri="{FF2B5EF4-FFF2-40B4-BE49-F238E27FC236}">
                <a16:creationId xmlns:a16="http://schemas.microsoft.com/office/drawing/2014/main" id="{2A20EE73-15E4-9065-76E9-073D88B5A99F}"/>
              </a:ext>
            </a:extLst>
          </p:cNvPr>
          <p:cNvSpPr txBox="1"/>
          <p:nvPr/>
        </p:nvSpPr>
        <p:spPr>
          <a:xfrm>
            <a:off x="465219" y="1804687"/>
            <a:ext cx="11036969" cy="1107996"/>
          </a:xfrm>
          <a:prstGeom prst="rect">
            <a:avLst/>
          </a:prstGeom>
          <a:noFill/>
        </p:spPr>
        <p:txBody>
          <a:bodyPr wrap="square" rtlCol="0">
            <a:spAutoFit/>
          </a:bodyPr>
          <a:lstStyle/>
          <a:p>
            <a:pPr marL="457200" indent="-457200">
              <a:buFont typeface="Arial" panose="020B0604020202020204" pitchFamily="34" charset="0"/>
              <a:buChar char="•"/>
            </a:pPr>
            <a:r>
              <a:rPr lang="en-MY" sz="2400" dirty="0"/>
              <a:t>For Department table, </a:t>
            </a:r>
            <a:r>
              <a:rPr lang="en-MY" sz="2400" u="sng" dirty="0"/>
              <a:t>primary key</a:t>
            </a:r>
            <a:r>
              <a:rPr lang="en-MY" sz="2400" dirty="0"/>
              <a:t> and the </a:t>
            </a:r>
            <a:r>
              <a:rPr lang="en-MY" sz="2400" u="sng" dirty="0"/>
              <a:t>NOT NULL constraint</a:t>
            </a:r>
            <a:r>
              <a:rPr lang="en-MY" sz="2400" dirty="0"/>
              <a:t> for </a:t>
            </a:r>
            <a:r>
              <a:rPr lang="en-MY" sz="2400" dirty="0" err="1"/>
              <a:t>deptName</a:t>
            </a:r>
            <a:r>
              <a:rPr lang="en-MY" sz="2400" dirty="0"/>
              <a:t> attribute</a:t>
            </a:r>
          </a:p>
          <a:p>
            <a:endParaRPr lang="en-GB" dirty="0"/>
          </a:p>
        </p:txBody>
      </p:sp>
      <p:sp>
        <p:nvSpPr>
          <p:cNvPr id="10" name="TextBox 9">
            <a:extLst>
              <a:ext uri="{FF2B5EF4-FFF2-40B4-BE49-F238E27FC236}">
                <a16:creationId xmlns:a16="http://schemas.microsoft.com/office/drawing/2014/main" id="{D617BD6F-4042-3F12-E2B6-C2BEA9F259BD}"/>
              </a:ext>
            </a:extLst>
          </p:cNvPr>
          <p:cNvSpPr txBox="1"/>
          <p:nvPr/>
        </p:nvSpPr>
        <p:spPr>
          <a:xfrm>
            <a:off x="306804" y="3945317"/>
            <a:ext cx="11353800" cy="738664"/>
          </a:xfrm>
          <a:prstGeom prst="rect">
            <a:avLst/>
          </a:prstGeom>
          <a:noFill/>
        </p:spPr>
        <p:txBody>
          <a:bodyPr wrap="square" rtlCol="0">
            <a:spAutoFit/>
          </a:bodyPr>
          <a:lstStyle/>
          <a:p>
            <a:pPr marL="457200" indent="-457200">
              <a:buFont typeface="Arial" panose="020B0604020202020204" pitchFamily="34" charset="0"/>
              <a:buChar char="•"/>
            </a:pPr>
            <a:r>
              <a:rPr lang="en-MY" sz="2400" dirty="0"/>
              <a:t>For Employees table, </a:t>
            </a:r>
            <a:r>
              <a:rPr lang="en-MY" sz="2400" u="sng" dirty="0"/>
              <a:t>primary key</a:t>
            </a:r>
            <a:r>
              <a:rPr lang="en-MY" sz="2400" dirty="0"/>
              <a:t>, </a:t>
            </a:r>
            <a:r>
              <a:rPr lang="en-MY" sz="2400" u="sng" dirty="0"/>
              <a:t>NOT NULL constraints</a:t>
            </a:r>
            <a:r>
              <a:rPr lang="en-MY" sz="2400" dirty="0"/>
              <a:t> and </a:t>
            </a:r>
            <a:r>
              <a:rPr lang="en-MY" sz="2400" u="sng" dirty="0"/>
              <a:t>foreign key</a:t>
            </a:r>
            <a:r>
              <a:rPr lang="en-MY" sz="2400" dirty="0"/>
              <a:t> to be added.</a:t>
            </a:r>
          </a:p>
          <a:p>
            <a:endParaRPr lang="en-GB" dirty="0"/>
          </a:p>
        </p:txBody>
      </p:sp>
    </p:spTree>
    <p:extLst>
      <p:ext uri="{BB962C8B-B14F-4D97-AF65-F5344CB8AC3E}">
        <p14:creationId xmlns:p14="http://schemas.microsoft.com/office/powerpoint/2010/main" val="3632727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91FE8-8579-434D-A343-B915A33A2E78}"/>
              </a:ext>
            </a:extLst>
          </p:cNvPr>
          <p:cNvSpPr>
            <a:spLocks noGrp="1"/>
          </p:cNvSpPr>
          <p:nvPr>
            <p:ph type="title"/>
          </p:nvPr>
        </p:nvSpPr>
        <p:spPr/>
        <p:txBody>
          <a:bodyPr/>
          <a:lstStyle/>
          <a:p>
            <a:r>
              <a:rPr lang="en-MY" dirty="0"/>
              <a:t>Deleting Table</a:t>
            </a:r>
          </a:p>
        </p:txBody>
      </p:sp>
      <p:sp>
        <p:nvSpPr>
          <p:cNvPr id="3" name="Content Placeholder 2">
            <a:extLst>
              <a:ext uri="{FF2B5EF4-FFF2-40B4-BE49-F238E27FC236}">
                <a16:creationId xmlns:a16="http://schemas.microsoft.com/office/drawing/2014/main" id="{438EFE6B-77DB-4A6B-B3E3-B7F4F43BB653}"/>
              </a:ext>
            </a:extLst>
          </p:cNvPr>
          <p:cNvSpPr>
            <a:spLocks noGrp="1"/>
          </p:cNvSpPr>
          <p:nvPr>
            <p:ph idx="1"/>
          </p:nvPr>
        </p:nvSpPr>
        <p:spPr/>
        <p:txBody>
          <a:bodyPr/>
          <a:lstStyle/>
          <a:p>
            <a:r>
              <a:rPr lang="en-MY" dirty="0"/>
              <a:t>General Syntax:</a:t>
            </a:r>
          </a:p>
          <a:p>
            <a:endParaRPr lang="en-MY" dirty="0"/>
          </a:p>
          <a:p>
            <a:endParaRPr lang="en-MY" dirty="0"/>
          </a:p>
          <a:p>
            <a:endParaRPr lang="en-MY" dirty="0"/>
          </a:p>
          <a:p>
            <a:r>
              <a:rPr lang="en-MY" dirty="0"/>
              <a:t>Example: delete the table named “Employee”</a:t>
            </a:r>
          </a:p>
        </p:txBody>
      </p:sp>
      <p:sp>
        <p:nvSpPr>
          <p:cNvPr id="5" name="Slide Number Placeholder 4">
            <a:extLst>
              <a:ext uri="{FF2B5EF4-FFF2-40B4-BE49-F238E27FC236}">
                <a16:creationId xmlns:a16="http://schemas.microsoft.com/office/drawing/2014/main" id="{13B0F18C-8B54-4DFA-B29F-A8DD49AAC31A}"/>
              </a:ext>
            </a:extLst>
          </p:cNvPr>
          <p:cNvSpPr>
            <a:spLocks noGrp="1"/>
          </p:cNvSpPr>
          <p:nvPr>
            <p:ph type="sldNum" sz="quarter" idx="12"/>
          </p:nvPr>
        </p:nvSpPr>
        <p:spPr/>
        <p:txBody>
          <a:bodyPr/>
          <a:lstStyle/>
          <a:p>
            <a:pPr>
              <a:defRPr/>
            </a:pPr>
            <a:fld id="{4AEEF2DB-3D68-4EFF-B92B-90C34555BE45}" type="slidenum">
              <a:rPr lang="en-US" smtClean="0"/>
              <a:pPr>
                <a:defRPr/>
              </a:pPr>
              <a:t>32</a:t>
            </a:fld>
            <a:endParaRPr lang="en-US" dirty="0"/>
          </a:p>
        </p:txBody>
      </p:sp>
      <p:sp>
        <p:nvSpPr>
          <p:cNvPr id="7" name="Rectangle 6">
            <a:extLst>
              <a:ext uri="{FF2B5EF4-FFF2-40B4-BE49-F238E27FC236}">
                <a16:creationId xmlns:a16="http://schemas.microsoft.com/office/drawing/2014/main" id="{8ACFC046-B5F7-47C4-A474-E526804AE5F2}"/>
              </a:ext>
            </a:extLst>
          </p:cNvPr>
          <p:cNvSpPr/>
          <p:nvPr/>
        </p:nvSpPr>
        <p:spPr>
          <a:xfrm>
            <a:off x="3365192" y="2292722"/>
            <a:ext cx="4985548" cy="102197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DROP TABLE </a:t>
            </a:r>
            <a:r>
              <a:rPr lang="en-MY" sz="2400" dirty="0">
                <a:latin typeface="Courier New" panose="02070309020205020404" pitchFamily="49" charset="0"/>
                <a:cs typeface="Courier New" panose="02070309020205020404" pitchFamily="49" charset="0"/>
              </a:rPr>
              <a:t>tableName;</a:t>
            </a:r>
          </a:p>
        </p:txBody>
      </p:sp>
      <p:sp>
        <p:nvSpPr>
          <p:cNvPr id="8" name="Rectangle 7">
            <a:extLst>
              <a:ext uri="{FF2B5EF4-FFF2-40B4-BE49-F238E27FC236}">
                <a16:creationId xmlns:a16="http://schemas.microsoft.com/office/drawing/2014/main" id="{AF552135-1A06-4CDF-9DF0-1C8EF6E71174}"/>
              </a:ext>
            </a:extLst>
          </p:cNvPr>
          <p:cNvSpPr/>
          <p:nvPr/>
        </p:nvSpPr>
        <p:spPr>
          <a:xfrm>
            <a:off x="3365192" y="4426322"/>
            <a:ext cx="4985548" cy="102197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DROP TABLE </a:t>
            </a:r>
            <a:r>
              <a:rPr lang="en-MY" sz="2400" dirty="0">
                <a:latin typeface="Courier New" panose="02070309020205020404" pitchFamily="49" charset="0"/>
                <a:cs typeface="Courier New" panose="02070309020205020404" pitchFamily="49" charset="0"/>
              </a:rPr>
              <a:t>Employee;</a:t>
            </a:r>
          </a:p>
        </p:txBody>
      </p:sp>
    </p:spTree>
    <p:extLst>
      <p:ext uri="{BB962C8B-B14F-4D97-AF65-F5344CB8AC3E}">
        <p14:creationId xmlns:p14="http://schemas.microsoft.com/office/powerpoint/2010/main" val="331887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08704-FB30-486F-A55D-66267B220BA2}"/>
              </a:ext>
            </a:extLst>
          </p:cNvPr>
          <p:cNvSpPr>
            <a:spLocks noGrp="1"/>
          </p:cNvSpPr>
          <p:nvPr>
            <p:ph type="title"/>
          </p:nvPr>
        </p:nvSpPr>
        <p:spPr/>
        <p:txBody>
          <a:bodyPr/>
          <a:lstStyle/>
          <a:p>
            <a:r>
              <a:rPr lang="en-MY" b="1" dirty="0">
                <a:solidFill>
                  <a:schemeClr val="accent2"/>
                </a:solidFill>
              </a:rPr>
              <a:t>To CREATE a Database</a:t>
            </a:r>
          </a:p>
        </p:txBody>
      </p:sp>
      <p:sp>
        <p:nvSpPr>
          <p:cNvPr id="3" name="Content Placeholder 2">
            <a:extLst>
              <a:ext uri="{FF2B5EF4-FFF2-40B4-BE49-F238E27FC236}">
                <a16:creationId xmlns:a16="http://schemas.microsoft.com/office/drawing/2014/main" id="{BC7F5E06-68C8-42EE-B145-C18BE1A5A88B}"/>
              </a:ext>
            </a:extLst>
          </p:cNvPr>
          <p:cNvSpPr>
            <a:spLocks noGrp="1"/>
          </p:cNvSpPr>
          <p:nvPr>
            <p:ph idx="1"/>
          </p:nvPr>
        </p:nvSpPr>
        <p:spPr/>
        <p:txBody>
          <a:bodyPr/>
          <a:lstStyle/>
          <a:p>
            <a:r>
              <a:rPr lang="en-MY" dirty="0"/>
              <a:t>To create a database, use the </a:t>
            </a:r>
            <a:r>
              <a:rPr lang="en-MY" b="1" dirty="0">
                <a:solidFill>
                  <a:schemeClr val="accent2"/>
                </a:solidFill>
              </a:rPr>
              <a:t>CREATE DATABASE</a:t>
            </a:r>
          </a:p>
          <a:p>
            <a:endParaRPr lang="en-MY" b="1" dirty="0">
              <a:solidFill>
                <a:schemeClr val="accent2"/>
              </a:solidFill>
            </a:endParaRPr>
          </a:p>
          <a:p>
            <a:endParaRPr lang="en-MY" b="1" dirty="0">
              <a:solidFill>
                <a:schemeClr val="accent2"/>
              </a:solidFill>
            </a:endParaRPr>
          </a:p>
          <a:p>
            <a:r>
              <a:rPr lang="en-MY" dirty="0"/>
              <a:t>To avoid errors if the database already exists, you can use the </a:t>
            </a:r>
            <a:r>
              <a:rPr lang="en-MY" b="1" dirty="0">
                <a:solidFill>
                  <a:schemeClr val="accent2"/>
                </a:solidFill>
              </a:rPr>
              <a:t>IF NOT EXISTS</a:t>
            </a:r>
            <a:r>
              <a:rPr lang="en-MY" dirty="0"/>
              <a:t> clause </a:t>
            </a:r>
          </a:p>
        </p:txBody>
      </p:sp>
      <p:sp>
        <p:nvSpPr>
          <p:cNvPr id="5" name="Slide Number Placeholder 4">
            <a:extLst>
              <a:ext uri="{FF2B5EF4-FFF2-40B4-BE49-F238E27FC236}">
                <a16:creationId xmlns:a16="http://schemas.microsoft.com/office/drawing/2014/main" id="{17E9DFBA-3D50-4A73-B376-1A0819D629A4}"/>
              </a:ext>
            </a:extLst>
          </p:cNvPr>
          <p:cNvSpPr>
            <a:spLocks noGrp="1"/>
          </p:cNvSpPr>
          <p:nvPr>
            <p:ph type="sldNum" sz="quarter" idx="12"/>
          </p:nvPr>
        </p:nvSpPr>
        <p:spPr/>
        <p:txBody>
          <a:bodyPr/>
          <a:lstStyle/>
          <a:p>
            <a:pPr>
              <a:defRPr/>
            </a:pPr>
            <a:fld id="{4AEEF2DB-3D68-4EFF-B92B-90C34555BE45}" type="slidenum">
              <a:rPr lang="en-US" smtClean="0"/>
              <a:pPr>
                <a:defRPr/>
              </a:pPr>
              <a:t>33</a:t>
            </a:fld>
            <a:endParaRPr lang="en-US" dirty="0"/>
          </a:p>
        </p:txBody>
      </p:sp>
      <p:sp>
        <p:nvSpPr>
          <p:cNvPr id="7" name="Rectangle 6">
            <a:extLst>
              <a:ext uri="{FF2B5EF4-FFF2-40B4-BE49-F238E27FC236}">
                <a16:creationId xmlns:a16="http://schemas.microsoft.com/office/drawing/2014/main" id="{2B2B987E-A8C0-470D-8C83-7BF594EDE192}"/>
              </a:ext>
            </a:extLst>
          </p:cNvPr>
          <p:cNvSpPr/>
          <p:nvPr/>
        </p:nvSpPr>
        <p:spPr>
          <a:xfrm>
            <a:off x="1712632" y="2357080"/>
            <a:ext cx="6897968" cy="66814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CREATE DATABASE </a:t>
            </a:r>
            <a:r>
              <a:rPr lang="en-MY" sz="2400" dirty="0" err="1">
                <a:solidFill>
                  <a:srgbClr val="00B050"/>
                </a:solidFill>
                <a:latin typeface="Courier New" panose="02070309020205020404" pitchFamily="49" charset="0"/>
                <a:cs typeface="Courier New" panose="02070309020205020404" pitchFamily="49" charset="0"/>
              </a:rPr>
              <a:t>database_name</a:t>
            </a:r>
            <a:r>
              <a:rPr lang="en-MY" sz="2400" b="1" dirty="0">
                <a:solidFill>
                  <a:srgbClr val="FFC000"/>
                </a:solidFill>
                <a:latin typeface="Courier New" panose="02070309020205020404" pitchFamily="49" charset="0"/>
                <a:cs typeface="Courier New" panose="02070309020205020404" pitchFamily="49" charset="0"/>
              </a:rPr>
              <a:t>;</a:t>
            </a:r>
            <a:endParaRPr lang="en-MY" sz="2400" dirty="0">
              <a:solidFill>
                <a:srgbClr val="FFC000"/>
              </a:solidFill>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233DDC6B-A7C8-A460-5C94-B85B310A7840}"/>
              </a:ext>
            </a:extLst>
          </p:cNvPr>
          <p:cNvSpPr/>
          <p:nvPr/>
        </p:nvSpPr>
        <p:spPr>
          <a:xfrm>
            <a:off x="1712632" y="4249869"/>
            <a:ext cx="8694684" cy="66814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CREATE DATABASE IF NOT EXISTS </a:t>
            </a:r>
            <a:r>
              <a:rPr lang="en-MY" sz="2400" dirty="0" err="1">
                <a:solidFill>
                  <a:srgbClr val="00B050"/>
                </a:solidFill>
                <a:latin typeface="Courier New" panose="02070309020205020404" pitchFamily="49" charset="0"/>
                <a:cs typeface="Courier New" panose="02070309020205020404" pitchFamily="49" charset="0"/>
              </a:rPr>
              <a:t>database_name</a:t>
            </a:r>
            <a:r>
              <a:rPr lang="en-MY" sz="2400" b="1" dirty="0">
                <a:solidFill>
                  <a:srgbClr val="FFC000"/>
                </a:solidFill>
                <a:latin typeface="Courier New" panose="02070309020205020404" pitchFamily="49" charset="0"/>
                <a:cs typeface="Courier New" panose="02070309020205020404" pitchFamily="49" charset="0"/>
              </a:rPr>
              <a:t>;</a:t>
            </a:r>
            <a:endParaRPr lang="en-MY" sz="2400"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3528574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B1EDB-1417-A533-D459-1CE73B3EF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A9C23-F4F1-4415-49D4-B5B8230B37DE}"/>
              </a:ext>
            </a:extLst>
          </p:cNvPr>
          <p:cNvSpPr>
            <a:spLocks noGrp="1"/>
          </p:cNvSpPr>
          <p:nvPr>
            <p:ph type="title"/>
          </p:nvPr>
        </p:nvSpPr>
        <p:spPr/>
        <p:txBody>
          <a:bodyPr/>
          <a:lstStyle/>
          <a:p>
            <a:r>
              <a:rPr lang="en-MY" b="1" dirty="0">
                <a:solidFill>
                  <a:schemeClr val="accent2"/>
                </a:solidFill>
              </a:rPr>
              <a:t>To Use a specific Database</a:t>
            </a:r>
          </a:p>
        </p:txBody>
      </p:sp>
      <p:sp>
        <p:nvSpPr>
          <p:cNvPr id="3" name="Content Placeholder 2">
            <a:extLst>
              <a:ext uri="{FF2B5EF4-FFF2-40B4-BE49-F238E27FC236}">
                <a16:creationId xmlns:a16="http://schemas.microsoft.com/office/drawing/2014/main" id="{6830A888-E38A-595B-AD7E-51DFBBFE1239}"/>
              </a:ext>
            </a:extLst>
          </p:cNvPr>
          <p:cNvSpPr>
            <a:spLocks noGrp="1"/>
          </p:cNvSpPr>
          <p:nvPr>
            <p:ph idx="1"/>
          </p:nvPr>
        </p:nvSpPr>
        <p:spPr/>
        <p:txBody>
          <a:bodyPr/>
          <a:lstStyle/>
          <a:p>
            <a:r>
              <a:rPr lang="en-MY" dirty="0"/>
              <a:t>To use a specific database, use the </a:t>
            </a:r>
            <a:r>
              <a:rPr lang="en-MY" b="1" dirty="0">
                <a:solidFill>
                  <a:schemeClr val="accent2"/>
                </a:solidFill>
              </a:rPr>
              <a:t>USE </a:t>
            </a:r>
            <a:r>
              <a:rPr lang="en-MY" dirty="0" err="1"/>
              <a:t>database_name</a:t>
            </a:r>
            <a:endParaRPr lang="en-MY" dirty="0"/>
          </a:p>
          <a:p>
            <a:endParaRPr lang="en-MY" b="1" dirty="0">
              <a:solidFill>
                <a:schemeClr val="accent2"/>
              </a:solidFill>
            </a:endParaRPr>
          </a:p>
          <a:p>
            <a:pPr marL="0" indent="0">
              <a:buNone/>
            </a:pPr>
            <a:endParaRPr lang="en-MY" b="1" dirty="0">
              <a:solidFill>
                <a:schemeClr val="accent2"/>
              </a:solidFill>
            </a:endParaRPr>
          </a:p>
        </p:txBody>
      </p:sp>
      <p:sp>
        <p:nvSpPr>
          <p:cNvPr id="5" name="Slide Number Placeholder 4">
            <a:extLst>
              <a:ext uri="{FF2B5EF4-FFF2-40B4-BE49-F238E27FC236}">
                <a16:creationId xmlns:a16="http://schemas.microsoft.com/office/drawing/2014/main" id="{A5ACEB1C-2223-906A-5034-8442E82C4CF6}"/>
              </a:ext>
            </a:extLst>
          </p:cNvPr>
          <p:cNvSpPr>
            <a:spLocks noGrp="1"/>
          </p:cNvSpPr>
          <p:nvPr>
            <p:ph type="sldNum" sz="quarter" idx="12"/>
          </p:nvPr>
        </p:nvSpPr>
        <p:spPr/>
        <p:txBody>
          <a:bodyPr/>
          <a:lstStyle/>
          <a:p>
            <a:pPr>
              <a:defRPr/>
            </a:pPr>
            <a:fld id="{4AEEF2DB-3D68-4EFF-B92B-90C34555BE45}" type="slidenum">
              <a:rPr lang="en-US" smtClean="0"/>
              <a:pPr>
                <a:defRPr/>
              </a:pPr>
              <a:t>34</a:t>
            </a:fld>
            <a:endParaRPr lang="en-US" dirty="0"/>
          </a:p>
        </p:txBody>
      </p:sp>
      <p:sp>
        <p:nvSpPr>
          <p:cNvPr id="7" name="Rectangle 6">
            <a:extLst>
              <a:ext uri="{FF2B5EF4-FFF2-40B4-BE49-F238E27FC236}">
                <a16:creationId xmlns:a16="http://schemas.microsoft.com/office/drawing/2014/main" id="{E1B20974-6FB9-C97F-7962-B8C59B99ACB1}"/>
              </a:ext>
            </a:extLst>
          </p:cNvPr>
          <p:cNvSpPr/>
          <p:nvPr/>
        </p:nvSpPr>
        <p:spPr>
          <a:xfrm>
            <a:off x="3986532" y="2633807"/>
            <a:ext cx="4218936" cy="66814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USE </a:t>
            </a:r>
            <a:r>
              <a:rPr lang="en-MY" sz="2400" dirty="0" err="1">
                <a:solidFill>
                  <a:srgbClr val="00B050"/>
                </a:solidFill>
                <a:latin typeface="Courier New" panose="02070309020205020404" pitchFamily="49" charset="0"/>
                <a:cs typeface="Courier New" panose="02070309020205020404" pitchFamily="49" charset="0"/>
              </a:rPr>
              <a:t>database_name</a:t>
            </a:r>
            <a:r>
              <a:rPr lang="en-MY" sz="2400" b="1" dirty="0">
                <a:solidFill>
                  <a:srgbClr val="FFC000"/>
                </a:solidFill>
                <a:latin typeface="Courier New" panose="02070309020205020404" pitchFamily="49" charset="0"/>
                <a:cs typeface="Courier New" panose="02070309020205020404" pitchFamily="49" charset="0"/>
              </a:rPr>
              <a:t>;</a:t>
            </a:r>
            <a:endParaRPr lang="en-MY" sz="2400"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1611945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4A9AF-D97E-BC18-F63E-0B752060C7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BDF08-5B03-D3C2-6B36-6C250CC04258}"/>
              </a:ext>
            </a:extLst>
          </p:cNvPr>
          <p:cNvSpPr>
            <a:spLocks noGrp="1"/>
          </p:cNvSpPr>
          <p:nvPr>
            <p:ph type="title"/>
          </p:nvPr>
        </p:nvSpPr>
        <p:spPr/>
        <p:txBody>
          <a:bodyPr/>
          <a:lstStyle/>
          <a:p>
            <a:r>
              <a:rPr lang="en-MY" b="1" dirty="0">
                <a:solidFill>
                  <a:schemeClr val="accent2"/>
                </a:solidFill>
              </a:rPr>
              <a:t>To DELETE a Database</a:t>
            </a:r>
          </a:p>
        </p:txBody>
      </p:sp>
      <p:sp>
        <p:nvSpPr>
          <p:cNvPr id="3" name="Content Placeholder 2">
            <a:extLst>
              <a:ext uri="{FF2B5EF4-FFF2-40B4-BE49-F238E27FC236}">
                <a16:creationId xmlns:a16="http://schemas.microsoft.com/office/drawing/2014/main" id="{BAF99F95-517F-4D3A-2706-BF2F41DC3842}"/>
              </a:ext>
            </a:extLst>
          </p:cNvPr>
          <p:cNvSpPr>
            <a:spLocks noGrp="1"/>
          </p:cNvSpPr>
          <p:nvPr>
            <p:ph idx="1"/>
          </p:nvPr>
        </p:nvSpPr>
        <p:spPr>
          <a:xfrm>
            <a:off x="838200" y="1825625"/>
            <a:ext cx="10515600" cy="4667250"/>
          </a:xfrm>
        </p:spPr>
        <p:txBody>
          <a:bodyPr>
            <a:normAutofit fontScale="92500" lnSpcReduction="10000"/>
          </a:bodyPr>
          <a:lstStyle/>
          <a:p>
            <a:r>
              <a:rPr lang="en-MY" dirty="0"/>
              <a:t>To </a:t>
            </a:r>
            <a:r>
              <a:rPr lang="en-MY" b="1" dirty="0">
                <a:solidFill>
                  <a:schemeClr val="accent2"/>
                </a:solidFill>
              </a:rPr>
              <a:t>DELETE</a:t>
            </a:r>
            <a:r>
              <a:rPr lang="en-MY" dirty="0"/>
              <a:t> a database, use the </a:t>
            </a:r>
            <a:r>
              <a:rPr lang="en-MY" b="1" dirty="0">
                <a:solidFill>
                  <a:schemeClr val="accent2"/>
                </a:solidFill>
              </a:rPr>
              <a:t>DROP DATABASE </a:t>
            </a:r>
            <a:r>
              <a:rPr lang="en-MY" dirty="0" err="1"/>
              <a:t>database_name</a:t>
            </a:r>
            <a:endParaRPr lang="en-MY" dirty="0"/>
          </a:p>
          <a:p>
            <a:endParaRPr lang="en-MY" b="1" dirty="0">
              <a:solidFill>
                <a:schemeClr val="accent2"/>
              </a:solidFill>
            </a:endParaRPr>
          </a:p>
          <a:p>
            <a:endParaRPr lang="en-MY" b="1" dirty="0">
              <a:solidFill>
                <a:schemeClr val="accent2"/>
              </a:solidFill>
            </a:endParaRPr>
          </a:p>
          <a:p>
            <a:r>
              <a:rPr lang="en-MY" dirty="0"/>
              <a:t>To avoid errors if the database does not exists, you can use the </a:t>
            </a:r>
            <a:r>
              <a:rPr lang="en-MY" b="1" dirty="0">
                <a:solidFill>
                  <a:schemeClr val="accent2"/>
                </a:solidFill>
              </a:rPr>
              <a:t>IF EXISTS</a:t>
            </a:r>
            <a:r>
              <a:rPr lang="en-MY" dirty="0"/>
              <a:t> clause </a:t>
            </a:r>
          </a:p>
          <a:p>
            <a:endParaRPr lang="en-MY" dirty="0"/>
          </a:p>
          <a:p>
            <a:endParaRPr lang="en-MY" dirty="0"/>
          </a:p>
          <a:p>
            <a:r>
              <a:rPr lang="en-MY" dirty="0"/>
              <a:t>Important Notes:</a:t>
            </a:r>
          </a:p>
          <a:p>
            <a:pPr lvl="1"/>
            <a:r>
              <a:rPr lang="en-MY" b="1" dirty="0">
                <a:solidFill>
                  <a:schemeClr val="accent2"/>
                </a:solidFill>
              </a:rPr>
              <a:t>Permanent Deletion</a:t>
            </a:r>
            <a:r>
              <a:rPr lang="en-MY" dirty="0"/>
              <a:t>: DROP DATABASE is </a:t>
            </a:r>
            <a:r>
              <a:rPr lang="en-MY" b="1" dirty="0">
                <a:solidFill>
                  <a:schemeClr val="accent2"/>
                </a:solidFill>
              </a:rPr>
              <a:t>permanent</a:t>
            </a:r>
            <a:r>
              <a:rPr lang="en-MY" dirty="0"/>
              <a:t> and </a:t>
            </a:r>
            <a:r>
              <a:rPr lang="en-MY" b="1" dirty="0">
                <a:solidFill>
                  <a:schemeClr val="accent2"/>
                </a:solidFill>
              </a:rPr>
              <a:t>cannot be undone</a:t>
            </a:r>
            <a:r>
              <a:rPr lang="en-MY" dirty="0"/>
              <a:t>. Make sure you have backed up any necessary data before running this command</a:t>
            </a:r>
          </a:p>
          <a:p>
            <a:pPr lvl="1"/>
            <a:r>
              <a:rPr lang="en-MY" b="1" dirty="0">
                <a:solidFill>
                  <a:schemeClr val="accent2"/>
                </a:solidFill>
              </a:rPr>
              <a:t>Use with caution</a:t>
            </a:r>
            <a:r>
              <a:rPr lang="en-MY" dirty="0"/>
              <a:t>: In a production environment, be especially careful when using a DROP DATABASE to avoid accidental loss</a:t>
            </a:r>
          </a:p>
        </p:txBody>
      </p:sp>
      <p:sp>
        <p:nvSpPr>
          <p:cNvPr id="5" name="Slide Number Placeholder 4">
            <a:extLst>
              <a:ext uri="{FF2B5EF4-FFF2-40B4-BE49-F238E27FC236}">
                <a16:creationId xmlns:a16="http://schemas.microsoft.com/office/drawing/2014/main" id="{013B91A5-6AB9-DC98-9762-41EF95BBD353}"/>
              </a:ext>
            </a:extLst>
          </p:cNvPr>
          <p:cNvSpPr>
            <a:spLocks noGrp="1"/>
          </p:cNvSpPr>
          <p:nvPr>
            <p:ph type="sldNum" sz="quarter" idx="12"/>
          </p:nvPr>
        </p:nvSpPr>
        <p:spPr/>
        <p:txBody>
          <a:bodyPr/>
          <a:lstStyle/>
          <a:p>
            <a:pPr>
              <a:defRPr/>
            </a:pPr>
            <a:fld id="{4AEEF2DB-3D68-4EFF-B92B-90C34555BE45}" type="slidenum">
              <a:rPr lang="en-US" smtClean="0"/>
              <a:pPr>
                <a:defRPr/>
              </a:pPr>
              <a:t>35</a:t>
            </a:fld>
            <a:endParaRPr lang="en-US" dirty="0"/>
          </a:p>
        </p:txBody>
      </p:sp>
      <p:sp>
        <p:nvSpPr>
          <p:cNvPr id="7" name="Rectangle 6">
            <a:extLst>
              <a:ext uri="{FF2B5EF4-FFF2-40B4-BE49-F238E27FC236}">
                <a16:creationId xmlns:a16="http://schemas.microsoft.com/office/drawing/2014/main" id="{DB75AE90-27CF-FB8B-7F51-61A9964A9FC8}"/>
              </a:ext>
            </a:extLst>
          </p:cNvPr>
          <p:cNvSpPr/>
          <p:nvPr/>
        </p:nvSpPr>
        <p:spPr>
          <a:xfrm>
            <a:off x="1712632" y="2357080"/>
            <a:ext cx="6897968" cy="66814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DROP DATABASE </a:t>
            </a:r>
            <a:r>
              <a:rPr lang="en-MY" sz="2400" dirty="0" err="1">
                <a:solidFill>
                  <a:srgbClr val="00B050"/>
                </a:solidFill>
                <a:latin typeface="Courier New" panose="02070309020205020404" pitchFamily="49" charset="0"/>
                <a:cs typeface="Courier New" panose="02070309020205020404" pitchFamily="49" charset="0"/>
              </a:rPr>
              <a:t>database_name</a:t>
            </a:r>
            <a:r>
              <a:rPr lang="en-MY" sz="2400" b="1" dirty="0">
                <a:solidFill>
                  <a:srgbClr val="FFC000"/>
                </a:solidFill>
                <a:latin typeface="Courier New" panose="02070309020205020404" pitchFamily="49" charset="0"/>
                <a:cs typeface="Courier New" panose="02070309020205020404" pitchFamily="49" charset="0"/>
              </a:rPr>
              <a:t>;</a:t>
            </a:r>
            <a:endParaRPr lang="en-MY" sz="2400" dirty="0">
              <a:solidFill>
                <a:srgbClr val="FFC000"/>
              </a:solidFill>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9208D2B2-89B6-C425-943E-72CA74168EED}"/>
              </a:ext>
            </a:extLst>
          </p:cNvPr>
          <p:cNvSpPr/>
          <p:nvPr/>
        </p:nvSpPr>
        <p:spPr>
          <a:xfrm>
            <a:off x="1712632" y="3832772"/>
            <a:ext cx="8694684" cy="668149"/>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400" b="1" dirty="0">
                <a:solidFill>
                  <a:srgbClr val="FFC000"/>
                </a:solidFill>
                <a:latin typeface="Courier New" panose="02070309020205020404" pitchFamily="49" charset="0"/>
                <a:cs typeface="Courier New" panose="02070309020205020404" pitchFamily="49" charset="0"/>
              </a:rPr>
              <a:t>DROP DATABASE IF EXISTS </a:t>
            </a:r>
            <a:r>
              <a:rPr lang="en-MY" sz="2400" dirty="0" err="1">
                <a:solidFill>
                  <a:srgbClr val="00B050"/>
                </a:solidFill>
                <a:latin typeface="Courier New" panose="02070309020205020404" pitchFamily="49" charset="0"/>
                <a:cs typeface="Courier New" panose="02070309020205020404" pitchFamily="49" charset="0"/>
              </a:rPr>
              <a:t>database_name</a:t>
            </a:r>
            <a:r>
              <a:rPr lang="en-MY" sz="2400" b="1" dirty="0">
                <a:solidFill>
                  <a:srgbClr val="FFC000"/>
                </a:solidFill>
                <a:latin typeface="Courier New" panose="02070309020205020404" pitchFamily="49" charset="0"/>
                <a:cs typeface="Courier New" panose="02070309020205020404" pitchFamily="49" charset="0"/>
              </a:rPr>
              <a:t>;</a:t>
            </a:r>
            <a:endParaRPr lang="en-MY" sz="2400" dirty="0">
              <a:solidFill>
                <a:srgbClr val="FFC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286363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F55D0-7ABD-4AE4-8DA7-CBC0C1B659B8}"/>
              </a:ext>
            </a:extLst>
          </p:cNvPr>
          <p:cNvSpPr>
            <a:spLocks noGrp="1"/>
          </p:cNvSpPr>
          <p:nvPr>
            <p:ph type="title"/>
          </p:nvPr>
        </p:nvSpPr>
        <p:spPr/>
        <p:txBody>
          <a:bodyPr/>
          <a:lstStyle/>
          <a:p>
            <a:r>
              <a:rPr lang="en-MY" b="1" dirty="0">
                <a:solidFill>
                  <a:schemeClr val="accent2"/>
                </a:solidFill>
              </a:rPr>
              <a:t>VIEW TABLE STRUCTURE</a:t>
            </a:r>
            <a:br>
              <a:rPr lang="en-MY" b="1" dirty="0">
                <a:solidFill>
                  <a:schemeClr val="accent2"/>
                </a:solidFill>
              </a:rPr>
            </a:br>
            <a:r>
              <a:rPr lang="en-MY" b="1" dirty="0">
                <a:solidFill>
                  <a:schemeClr val="accent2"/>
                </a:solidFill>
              </a:rPr>
              <a:t>DESCRIBE</a:t>
            </a:r>
          </a:p>
        </p:txBody>
      </p:sp>
      <p:sp>
        <p:nvSpPr>
          <p:cNvPr id="3" name="Content Placeholder 2">
            <a:extLst>
              <a:ext uri="{FF2B5EF4-FFF2-40B4-BE49-F238E27FC236}">
                <a16:creationId xmlns:a16="http://schemas.microsoft.com/office/drawing/2014/main" id="{6FD665F0-9539-40B3-9829-A0298063EB41}"/>
              </a:ext>
            </a:extLst>
          </p:cNvPr>
          <p:cNvSpPr>
            <a:spLocks noGrp="1"/>
          </p:cNvSpPr>
          <p:nvPr>
            <p:ph idx="1"/>
          </p:nvPr>
        </p:nvSpPr>
        <p:spPr/>
        <p:txBody>
          <a:bodyPr/>
          <a:lstStyle/>
          <a:p>
            <a:r>
              <a:rPr lang="en-MY" dirty="0"/>
              <a:t>Viewing table structures using </a:t>
            </a:r>
            <a:r>
              <a:rPr lang="en-MY" b="1" dirty="0">
                <a:solidFill>
                  <a:schemeClr val="accent2"/>
                </a:solidFill>
              </a:rPr>
              <a:t>DESC</a:t>
            </a:r>
            <a:r>
              <a:rPr lang="en-MY" b="1" dirty="0"/>
              <a:t> </a:t>
            </a:r>
            <a:r>
              <a:rPr lang="en-MY" dirty="0"/>
              <a:t>or </a:t>
            </a:r>
            <a:r>
              <a:rPr lang="en-MY" b="1" dirty="0">
                <a:solidFill>
                  <a:schemeClr val="accent2"/>
                </a:solidFill>
              </a:rPr>
              <a:t>DESCRIBE</a:t>
            </a:r>
            <a:r>
              <a:rPr lang="en-MY" b="1" dirty="0"/>
              <a:t>.</a:t>
            </a:r>
          </a:p>
          <a:p>
            <a:pPr lvl="1"/>
            <a:r>
              <a:rPr lang="en-MY" dirty="0"/>
              <a:t>Syntax: </a:t>
            </a:r>
          </a:p>
          <a:p>
            <a:pPr lvl="1"/>
            <a:r>
              <a:rPr lang="en-MY" dirty="0"/>
              <a:t>Example: View the table structure of Employee table.</a:t>
            </a:r>
          </a:p>
          <a:p>
            <a:pPr lvl="1"/>
            <a:endParaRPr lang="en-MY" dirty="0"/>
          </a:p>
          <a:p>
            <a:pPr lvl="1"/>
            <a:endParaRPr lang="en-MY" dirty="0"/>
          </a:p>
          <a:p>
            <a:r>
              <a:rPr lang="en-MY" dirty="0"/>
              <a:t>Rename a table using </a:t>
            </a:r>
            <a:r>
              <a:rPr lang="en-MY" b="1" dirty="0">
                <a:solidFill>
                  <a:schemeClr val="accent2"/>
                </a:solidFill>
              </a:rPr>
              <a:t>RENAME</a:t>
            </a:r>
          </a:p>
          <a:p>
            <a:pPr lvl="1"/>
            <a:r>
              <a:rPr lang="en-MY" dirty="0"/>
              <a:t>Syntax: </a:t>
            </a:r>
          </a:p>
          <a:p>
            <a:pPr lvl="1"/>
            <a:r>
              <a:rPr lang="en-MY" dirty="0"/>
              <a:t>Example: Rename the Employee table to “Workers”</a:t>
            </a:r>
          </a:p>
        </p:txBody>
      </p:sp>
      <p:sp>
        <p:nvSpPr>
          <p:cNvPr id="5" name="Slide Number Placeholder 4">
            <a:extLst>
              <a:ext uri="{FF2B5EF4-FFF2-40B4-BE49-F238E27FC236}">
                <a16:creationId xmlns:a16="http://schemas.microsoft.com/office/drawing/2014/main" id="{90CC0E35-A9DE-4E72-8B10-D2739DE3A4F7}"/>
              </a:ext>
            </a:extLst>
          </p:cNvPr>
          <p:cNvSpPr>
            <a:spLocks noGrp="1"/>
          </p:cNvSpPr>
          <p:nvPr>
            <p:ph type="sldNum" sz="quarter" idx="12"/>
          </p:nvPr>
        </p:nvSpPr>
        <p:spPr/>
        <p:txBody>
          <a:bodyPr/>
          <a:lstStyle/>
          <a:p>
            <a:pPr>
              <a:defRPr/>
            </a:pPr>
            <a:fld id="{4AEEF2DB-3D68-4EFF-B92B-90C34555BE45}" type="slidenum">
              <a:rPr lang="en-US" smtClean="0"/>
              <a:pPr>
                <a:defRPr/>
              </a:pPr>
              <a:t>36</a:t>
            </a:fld>
            <a:endParaRPr lang="en-US" dirty="0"/>
          </a:p>
        </p:txBody>
      </p:sp>
      <p:sp>
        <p:nvSpPr>
          <p:cNvPr id="7" name="Rectangle 6">
            <a:extLst>
              <a:ext uri="{FF2B5EF4-FFF2-40B4-BE49-F238E27FC236}">
                <a16:creationId xmlns:a16="http://schemas.microsoft.com/office/drawing/2014/main" id="{64636CDD-4375-4713-9990-8AD070BC29E9}"/>
              </a:ext>
            </a:extLst>
          </p:cNvPr>
          <p:cNvSpPr/>
          <p:nvPr/>
        </p:nvSpPr>
        <p:spPr>
          <a:xfrm>
            <a:off x="2787065" y="2332374"/>
            <a:ext cx="4985548" cy="333213"/>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DESCRIBE</a:t>
            </a:r>
            <a:r>
              <a:rPr lang="en-MY" sz="2000" b="1" dirty="0">
                <a:solidFill>
                  <a:schemeClr val="accent4"/>
                </a:solidFill>
                <a:latin typeface="Courier New" panose="02070309020205020404" pitchFamily="49" charset="0"/>
                <a:cs typeface="Courier New" panose="02070309020205020404" pitchFamily="49" charset="0"/>
              </a:rPr>
              <a:t> </a:t>
            </a:r>
            <a:r>
              <a:rPr lang="en-MY" sz="2000" dirty="0">
                <a:latin typeface="Courier New" panose="02070309020205020404" pitchFamily="49" charset="0"/>
                <a:cs typeface="Courier New" panose="02070309020205020404" pitchFamily="49" charset="0"/>
              </a:rPr>
              <a:t>tableName;</a:t>
            </a:r>
          </a:p>
        </p:txBody>
      </p:sp>
      <p:sp>
        <p:nvSpPr>
          <p:cNvPr id="8" name="Rectangle 7">
            <a:extLst>
              <a:ext uri="{FF2B5EF4-FFF2-40B4-BE49-F238E27FC236}">
                <a16:creationId xmlns:a16="http://schemas.microsoft.com/office/drawing/2014/main" id="{27022FA2-B988-4E9C-951E-8B6DCF3DC461}"/>
              </a:ext>
            </a:extLst>
          </p:cNvPr>
          <p:cNvSpPr/>
          <p:nvPr/>
        </p:nvSpPr>
        <p:spPr>
          <a:xfrm>
            <a:off x="2892828" y="3095787"/>
            <a:ext cx="4985548" cy="333213"/>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DESCRIBE</a:t>
            </a:r>
            <a:r>
              <a:rPr lang="en-MY" sz="2000" b="1" dirty="0">
                <a:solidFill>
                  <a:schemeClr val="accent4"/>
                </a:solidFill>
                <a:latin typeface="Courier New" panose="02070309020205020404" pitchFamily="49" charset="0"/>
                <a:cs typeface="Courier New" panose="02070309020205020404" pitchFamily="49" charset="0"/>
              </a:rPr>
              <a:t> </a:t>
            </a:r>
            <a:r>
              <a:rPr lang="en-MY" sz="2000" dirty="0">
                <a:latin typeface="Courier New" panose="02070309020205020404" pitchFamily="49" charset="0"/>
                <a:cs typeface="Courier New" panose="02070309020205020404" pitchFamily="49" charset="0"/>
              </a:rPr>
              <a:t>Employee;</a:t>
            </a:r>
          </a:p>
        </p:txBody>
      </p:sp>
      <p:sp>
        <p:nvSpPr>
          <p:cNvPr id="9" name="Rectangle 8">
            <a:extLst>
              <a:ext uri="{FF2B5EF4-FFF2-40B4-BE49-F238E27FC236}">
                <a16:creationId xmlns:a16="http://schemas.microsoft.com/office/drawing/2014/main" id="{DEE1C2EB-82D2-4FE4-851E-48A2BF4AD759}"/>
              </a:ext>
            </a:extLst>
          </p:cNvPr>
          <p:cNvSpPr/>
          <p:nvPr/>
        </p:nvSpPr>
        <p:spPr>
          <a:xfrm>
            <a:off x="2702844" y="4378432"/>
            <a:ext cx="5365519" cy="333213"/>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RENAME</a:t>
            </a:r>
            <a:r>
              <a:rPr lang="en-MY" sz="2000" b="1" dirty="0">
                <a:solidFill>
                  <a:schemeClr val="accent4"/>
                </a:solidFill>
                <a:latin typeface="Courier New" panose="02070309020205020404" pitchFamily="49" charset="0"/>
                <a:cs typeface="Courier New" panose="02070309020205020404" pitchFamily="49" charset="0"/>
              </a:rPr>
              <a:t> </a:t>
            </a:r>
            <a:r>
              <a:rPr lang="en-MY" sz="2000" dirty="0">
                <a:latin typeface="Courier New" panose="02070309020205020404" pitchFamily="49" charset="0"/>
                <a:cs typeface="Courier New" panose="02070309020205020404" pitchFamily="49" charset="0"/>
              </a:rPr>
              <a:t>tableName </a:t>
            </a:r>
            <a:r>
              <a:rPr lang="en-MY" sz="2000" b="1" dirty="0">
                <a:solidFill>
                  <a:srgbClr val="FFC000"/>
                </a:solidFill>
                <a:latin typeface="Courier New" panose="02070309020205020404" pitchFamily="49" charset="0"/>
                <a:cs typeface="Courier New" panose="02070309020205020404" pitchFamily="49" charset="0"/>
              </a:rPr>
              <a:t>TO</a:t>
            </a:r>
            <a:r>
              <a:rPr lang="en-MY" sz="2000" dirty="0">
                <a:latin typeface="Courier New" panose="02070309020205020404" pitchFamily="49" charset="0"/>
                <a:cs typeface="Courier New" panose="02070309020205020404" pitchFamily="49" charset="0"/>
              </a:rPr>
              <a:t> newtableName;</a:t>
            </a:r>
          </a:p>
        </p:txBody>
      </p:sp>
      <p:sp>
        <p:nvSpPr>
          <p:cNvPr id="10" name="Rectangle 9">
            <a:extLst>
              <a:ext uri="{FF2B5EF4-FFF2-40B4-BE49-F238E27FC236}">
                <a16:creationId xmlns:a16="http://schemas.microsoft.com/office/drawing/2014/main" id="{999327F6-F2BE-4851-B256-888FFC948A13}"/>
              </a:ext>
            </a:extLst>
          </p:cNvPr>
          <p:cNvSpPr/>
          <p:nvPr/>
        </p:nvSpPr>
        <p:spPr>
          <a:xfrm>
            <a:off x="2702843" y="5111090"/>
            <a:ext cx="5365519" cy="333213"/>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RENAME</a:t>
            </a:r>
            <a:r>
              <a:rPr lang="en-MY" sz="2000" b="1" dirty="0">
                <a:solidFill>
                  <a:schemeClr val="accent4"/>
                </a:solidFill>
                <a:latin typeface="Courier New" panose="02070309020205020404" pitchFamily="49" charset="0"/>
                <a:cs typeface="Courier New" panose="02070309020205020404" pitchFamily="49" charset="0"/>
              </a:rPr>
              <a:t> </a:t>
            </a:r>
            <a:r>
              <a:rPr lang="en-MY" sz="2000" dirty="0">
                <a:latin typeface="Courier New" panose="02070309020205020404" pitchFamily="49" charset="0"/>
                <a:cs typeface="Courier New" panose="02070309020205020404" pitchFamily="49" charset="0"/>
              </a:rPr>
              <a:t>Employee </a:t>
            </a:r>
            <a:r>
              <a:rPr lang="en-MY" sz="2000" b="1" dirty="0">
                <a:solidFill>
                  <a:srgbClr val="FFC000"/>
                </a:solidFill>
                <a:latin typeface="Courier New" panose="02070309020205020404" pitchFamily="49" charset="0"/>
                <a:cs typeface="Courier New" panose="02070309020205020404" pitchFamily="49" charset="0"/>
              </a:rPr>
              <a:t>TO</a:t>
            </a:r>
            <a:r>
              <a:rPr lang="en-MY" sz="2000" dirty="0">
                <a:latin typeface="Courier New" panose="02070309020205020404" pitchFamily="49" charset="0"/>
                <a:cs typeface="Courier New" panose="02070309020205020404" pitchFamily="49" charset="0"/>
              </a:rPr>
              <a:t> Workers;</a:t>
            </a:r>
          </a:p>
        </p:txBody>
      </p:sp>
    </p:spTree>
    <p:extLst>
      <p:ext uri="{BB962C8B-B14F-4D97-AF65-F5344CB8AC3E}">
        <p14:creationId xmlns:p14="http://schemas.microsoft.com/office/powerpoint/2010/main" val="22122983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C0A48-3113-4413-AF92-3F55374A8900}"/>
              </a:ext>
            </a:extLst>
          </p:cNvPr>
          <p:cNvSpPr>
            <a:spLocks noGrp="1"/>
          </p:cNvSpPr>
          <p:nvPr>
            <p:ph type="title"/>
          </p:nvPr>
        </p:nvSpPr>
        <p:spPr/>
        <p:txBody>
          <a:bodyPr/>
          <a:lstStyle/>
          <a:p>
            <a:r>
              <a:rPr lang="en-MY" b="1" dirty="0">
                <a:solidFill>
                  <a:schemeClr val="accent2"/>
                </a:solidFill>
              </a:rPr>
              <a:t>CREATE TABLE FROM EXISTING TABLES </a:t>
            </a:r>
            <a:br>
              <a:rPr lang="en-MY" b="1" dirty="0">
                <a:solidFill>
                  <a:schemeClr val="accent2"/>
                </a:solidFill>
              </a:rPr>
            </a:br>
            <a:r>
              <a:rPr lang="en-MY" b="1" dirty="0">
                <a:solidFill>
                  <a:schemeClr val="accent2"/>
                </a:solidFill>
              </a:rPr>
              <a:t>(using AS – does not copy constraints)</a:t>
            </a:r>
          </a:p>
        </p:txBody>
      </p:sp>
      <p:sp>
        <p:nvSpPr>
          <p:cNvPr id="3" name="Content Placeholder 2">
            <a:extLst>
              <a:ext uri="{FF2B5EF4-FFF2-40B4-BE49-F238E27FC236}">
                <a16:creationId xmlns:a16="http://schemas.microsoft.com/office/drawing/2014/main" id="{4DE0C77E-5AB8-4714-AF00-F2D8421E2604}"/>
              </a:ext>
            </a:extLst>
          </p:cNvPr>
          <p:cNvSpPr>
            <a:spLocks noGrp="1"/>
          </p:cNvSpPr>
          <p:nvPr>
            <p:ph idx="1"/>
          </p:nvPr>
        </p:nvSpPr>
        <p:spPr/>
        <p:txBody>
          <a:bodyPr/>
          <a:lstStyle/>
          <a:p>
            <a:r>
              <a:rPr lang="en-MY" dirty="0"/>
              <a:t>Create table from existing database tables, using the </a:t>
            </a:r>
            <a:r>
              <a:rPr lang="en-MY" b="1" dirty="0">
                <a:solidFill>
                  <a:schemeClr val="accent2"/>
                </a:solidFill>
              </a:rPr>
              <a:t>AS</a:t>
            </a:r>
            <a:r>
              <a:rPr lang="en-MY" dirty="0"/>
              <a:t> clause and subqueries</a:t>
            </a:r>
          </a:p>
          <a:p>
            <a:r>
              <a:rPr lang="en-MY" dirty="0"/>
              <a:t>Syntax:</a:t>
            </a:r>
          </a:p>
          <a:p>
            <a:endParaRPr lang="en-MY" dirty="0"/>
          </a:p>
          <a:p>
            <a:endParaRPr lang="en-MY" dirty="0"/>
          </a:p>
          <a:p>
            <a:r>
              <a:rPr lang="en-MY" dirty="0"/>
              <a:t>Example: create a new table based on the HR Employee table.</a:t>
            </a:r>
          </a:p>
          <a:p>
            <a:endParaRPr lang="en-MY" dirty="0"/>
          </a:p>
        </p:txBody>
      </p:sp>
      <p:sp>
        <p:nvSpPr>
          <p:cNvPr id="5" name="Slide Number Placeholder 4">
            <a:extLst>
              <a:ext uri="{FF2B5EF4-FFF2-40B4-BE49-F238E27FC236}">
                <a16:creationId xmlns:a16="http://schemas.microsoft.com/office/drawing/2014/main" id="{BD3E9D08-3E57-4119-9A06-E0A5818CF0E9}"/>
              </a:ext>
            </a:extLst>
          </p:cNvPr>
          <p:cNvSpPr>
            <a:spLocks noGrp="1"/>
          </p:cNvSpPr>
          <p:nvPr>
            <p:ph type="sldNum" sz="quarter" idx="12"/>
          </p:nvPr>
        </p:nvSpPr>
        <p:spPr/>
        <p:txBody>
          <a:bodyPr/>
          <a:lstStyle/>
          <a:p>
            <a:pPr>
              <a:defRPr/>
            </a:pPr>
            <a:fld id="{4AEEF2DB-3D68-4EFF-B92B-90C34555BE45}" type="slidenum">
              <a:rPr lang="en-US" smtClean="0"/>
              <a:pPr>
                <a:defRPr/>
              </a:pPr>
              <a:t>37</a:t>
            </a:fld>
            <a:endParaRPr lang="en-US" dirty="0"/>
          </a:p>
        </p:txBody>
      </p:sp>
      <p:sp>
        <p:nvSpPr>
          <p:cNvPr id="8" name="Rectangle 7">
            <a:extLst>
              <a:ext uri="{FF2B5EF4-FFF2-40B4-BE49-F238E27FC236}">
                <a16:creationId xmlns:a16="http://schemas.microsoft.com/office/drawing/2014/main" id="{50D110F0-C41E-477A-8820-0B4842150290}"/>
              </a:ext>
            </a:extLst>
          </p:cNvPr>
          <p:cNvSpPr/>
          <p:nvPr/>
        </p:nvSpPr>
        <p:spPr>
          <a:xfrm>
            <a:off x="2465631" y="3036006"/>
            <a:ext cx="7443387" cy="1040050"/>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CREATE TABLE </a:t>
            </a:r>
            <a:r>
              <a:rPr lang="en-MY" sz="2000" dirty="0">
                <a:latin typeface="Courier New" panose="02070309020205020404" pitchFamily="49" charset="0"/>
                <a:cs typeface="Courier New" panose="02070309020205020404" pitchFamily="49" charset="0"/>
              </a:rPr>
              <a:t>tableName </a:t>
            </a:r>
            <a:r>
              <a:rPr lang="en-MY" sz="2000" b="1" dirty="0">
                <a:solidFill>
                  <a:srgbClr val="0070C0"/>
                </a:solidFill>
                <a:latin typeface="Courier New" panose="02070309020205020404" pitchFamily="49" charset="0"/>
                <a:cs typeface="Courier New" panose="02070309020205020404" pitchFamily="49" charset="0"/>
              </a:rPr>
              <a:t>[</a:t>
            </a:r>
            <a:r>
              <a:rPr lang="en-MY" sz="2000" dirty="0">
                <a:latin typeface="Courier New" panose="02070309020205020404" pitchFamily="49" charset="0"/>
                <a:cs typeface="Courier New" panose="02070309020205020404" pitchFamily="49" charset="0"/>
              </a:rPr>
              <a:t>(columnName,…)</a:t>
            </a:r>
            <a:r>
              <a:rPr lang="en-MY" sz="2000" b="1" dirty="0">
                <a:solidFill>
                  <a:srgbClr val="0070C0"/>
                </a:solidFill>
                <a:latin typeface="Courier New" panose="02070309020205020404" pitchFamily="49" charset="0"/>
                <a:cs typeface="Courier New" panose="02070309020205020404" pitchFamily="49" charset="0"/>
              </a:rPr>
              <a:t>]</a:t>
            </a:r>
          </a:p>
          <a:p>
            <a:r>
              <a:rPr lang="en-MY" sz="2000" b="1" dirty="0">
                <a:solidFill>
                  <a:srgbClr val="FFC000"/>
                </a:solidFill>
                <a:latin typeface="Courier New" panose="02070309020205020404" pitchFamily="49" charset="0"/>
                <a:cs typeface="Courier New" panose="02070309020205020404" pitchFamily="49" charset="0"/>
              </a:rPr>
              <a:t>AS</a:t>
            </a:r>
            <a:r>
              <a:rPr lang="en-MY" sz="2000" b="1" dirty="0">
                <a:latin typeface="Courier New" panose="02070309020205020404" pitchFamily="49" charset="0"/>
                <a:cs typeface="Courier New" panose="02070309020205020404" pitchFamily="49" charset="0"/>
              </a:rPr>
              <a:t> </a:t>
            </a:r>
            <a:r>
              <a:rPr lang="en-MY" sz="2000" dirty="0">
                <a:latin typeface="Courier New" panose="02070309020205020404" pitchFamily="49" charset="0"/>
                <a:cs typeface="Courier New" panose="02070309020205020404" pitchFamily="49" charset="0"/>
              </a:rPr>
              <a:t>(…subquery…)</a:t>
            </a:r>
            <a:r>
              <a:rPr lang="en-MY" sz="2000" dirty="0">
                <a:solidFill>
                  <a:srgbClr val="FFC000"/>
                </a:solidFill>
                <a:latin typeface="Courier New" panose="02070309020205020404" pitchFamily="49" charset="0"/>
                <a:cs typeface="Courier New" panose="02070309020205020404" pitchFamily="49" charset="0"/>
              </a:rPr>
              <a:t>;</a:t>
            </a:r>
            <a:endParaRPr lang="en-MY" sz="2000" b="1" dirty="0">
              <a:solidFill>
                <a:srgbClr val="FFC000"/>
              </a:solidFill>
              <a:latin typeface="Courier New" panose="02070309020205020404" pitchFamily="49" charset="0"/>
              <a:cs typeface="Courier New" panose="02070309020205020404" pitchFamily="49" charset="0"/>
            </a:endParaRPr>
          </a:p>
        </p:txBody>
      </p:sp>
      <p:sp>
        <p:nvSpPr>
          <p:cNvPr id="9" name="Rectangle 8">
            <a:extLst>
              <a:ext uri="{FF2B5EF4-FFF2-40B4-BE49-F238E27FC236}">
                <a16:creationId xmlns:a16="http://schemas.microsoft.com/office/drawing/2014/main" id="{4D4A443D-53E5-4F64-9D9A-F82292ED514A}"/>
              </a:ext>
            </a:extLst>
          </p:cNvPr>
          <p:cNvSpPr/>
          <p:nvPr/>
        </p:nvSpPr>
        <p:spPr>
          <a:xfrm>
            <a:off x="2465631" y="4945799"/>
            <a:ext cx="7443387" cy="1040050"/>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CREATE TABLE </a:t>
            </a:r>
            <a:r>
              <a:rPr lang="en-MY" sz="2000" dirty="0">
                <a:solidFill>
                  <a:srgbClr val="00B0F0"/>
                </a:solidFill>
                <a:latin typeface="Courier New" panose="02070309020205020404" pitchFamily="49" charset="0"/>
                <a:cs typeface="Courier New" panose="02070309020205020404" pitchFamily="49" charset="0"/>
              </a:rPr>
              <a:t>NewEmployee</a:t>
            </a:r>
          </a:p>
          <a:p>
            <a:r>
              <a:rPr lang="en-MY" sz="2000" b="1" dirty="0">
                <a:solidFill>
                  <a:srgbClr val="FFC000"/>
                </a:solidFill>
                <a:latin typeface="Courier New" panose="02070309020205020404" pitchFamily="49" charset="0"/>
                <a:cs typeface="Courier New" panose="02070309020205020404" pitchFamily="49" charset="0"/>
              </a:rPr>
              <a:t>AS (SELECT * FROM </a:t>
            </a:r>
            <a:r>
              <a:rPr lang="en-MY" sz="2000" dirty="0">
                <a:solidFill>
                  <a:srgbClr val="00B0F0"/>
                </a:solidFill>
                <a:latin typeface="Courier New" panose="02070309020205020404" pitchFamily="49" charset="0"/>
                <a:cs typeface="Courier New" panose="02070309020205020404" pitchFamily="49" charset="0"/>
              </a:rPr>
              <a:t>hr.Employees</a:t>
            </a:r>
            <a:r>
              <a:rPr lang="en-MY" sz="2000" b="1" dirty="0">
                <a:solidFill>
                  <a:srgbClr val="FFC000"/>
                </a:solidFill>
                <a:latin typeface="Courier New" panose="02070309020205020404" pitchFamily="49" charset="0"/>
                <a:cs typeface="Courier New" panose="02070309020205020404" pitchFamily="49" charset="0"/>
              </a:rPr>
              <a:t>);</a:t>
            </a:r>
          </a:p>
        </p:txBody>
      </p:sp>
      <p:sp>
        <p:nvSpPr>
          <p:cNvPr id="10" name="Rectangle 9">
            <a:extLst>
              <a:ext uri="{FF2B5EF4-FFF2-40B4-BE49-F238E27FC236}">
                <a16:creationId xmlns:a16="http://schemas.microsoft.com/office/drawing/2014/main" id="{3DC7DE5F-92F4-4BBF-9EBF-719BF6A2D473}"/>
              </a:ext>
            </a:extLst>
          </p:cNvPr>
          <p:cNvSpPr/>
          <p:nvPr/>
        </p:nvSpPr>
        <p:spPr>
          <a:xfrm>
            <a:off x="4448746" y="5882195"/>
            <a:ext cx="1226341" cy="261610"/>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400" b="1" dirty="0">
                <a:solidFill>
                  <a:schemeClr val="bg1"/>
                </a:solidFill>
                <a:effectLst>
                  <a:outerShdw blurRad="38100" dist="38100" dir="2700000" algn="tl">
                    <a:srgbClr val="000000">
                      <a:alpha val="43137"/>
                    </a:srgbClr>
                  </a:outerShdw>
                </a:effectLst>
              </a:rPr>
              <a:t>Subquery</a:t>
            </a:r>
          </a:p>
        </p:txBody>
      </p:sp>
      <p:cxnSp>
        <p:nvCxnSpPr>
          <p:cNvPr id="12" name="Straight Connector 11">
            <a:extLst>
              <a:ext uri="{FF2B5EF4-FFF2-40B4-BE49-F238E27FC236}">
                <a16:creationId xmlns:a16="http://schemas.microsoft.com/office/drawing/2014/main" id="{7AC9E668-36A2-4C89-B08F-8A817442F33D}"/>
              </a:ext>
            </a:extLst>
          </p:cNvPr>
          <p:cNvCxnSpPr/>
          <p:nvPr/>
        </p:nvCxnSpPr>
        <p:spPr>
          <a:xfrm>
            <a:off x="3244312" y="5773119"/>
            <a:ext cx="383583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0049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0ACD5-FF2E-A14E-73C1-79CF636E6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D3752D-4C12-C19C-BEFE-341A803A2063}"/>
              </a:ext>
            </a:extLst>
          </p:cNvPr>
          <p:cNvSpPr>
            <a:spLocks noGrp="1"/>
          </p:cNvSpPr>
          <p:nvPr>
            <p:ph type="title"/>
          </p:nvPr>
        </p:nvSpPr>
        <p:spPr/>
        <p:txBody>
          <a:bodyPr/>
          <a:lstStyle/>
          <a:p>
            <a:r>
              <a:rPr lang="en-MY" b="1" dirty="0">
                <a:solidFill>
                  <a:schemeClr val="accent2"/>
                </a:solidFill>
              </a:rPr>
              <a:t>CREATE TABLE FROM EXISTING TABLES </a:t>
            </a:r>
            <a:br>
              <a:rPr lang="en-MY" b="1" dirty="0">
                <a:solidFill>
                  <a:schemeClr val="accent2"/>
                </a:solidFill>
              </a:rPr>
            </a:br>
            <a:r>
              <a:rPr lang="en-MY" b="1" dirty="0">
                <a:solidFill>
                  <a:schemeClr val="accent2"/>
                </a:solidFill>
              </a:rPr>
              <a:t>(using LIKE – copy with constraints)</a:t>
            </a:r>
          </a:p>
        </p:txBody>
      </p:sp>
      <p:sp>
        <p:nvSpPr>
          <p:cNvPr id="3" name="Content Placeholder 2">
            <a:extLst>
              <a:ext uri="{FF2B5EF4-FFF2-40B4-BE49-F238E27FC236}">
                <a16:creationId xmlns:a16="http://schemas.microsoft.com/office/drawing/2014/main" id="{52287913-423D-164C-46A6-46D343759C6A}"/>
              </a:ext>
            </a:extLst>
          </p:cNvPr>
          <p:cNvSpPr>
            <a:spLocks noGrp="1"/>
          </p:cNvSpPr>
          <p:nvPr>
            <p:ph idx="1"/>
          </p:nvPr>
        </p:nvSpPr>
        <p:spPr>
          <a:xfrm>
            <a:off x="838200" y="1564105"/>
            <a:ext cx="10515600" cy="4612858"/>
          </a:xfrm>
        </p:spPr>
        <p:txBody>
          <a:bodyPr/>
          <a:lstStyle/>
          <a:p>
            <a:r>
              <a:rPr lang="en-MY" dirty="0"/>
              <a:t>Create table an empty table based on the definition of an existing table. </a:t>
            </a:r>
          </a:p>
          <a:p>
            <a:r>
              <a:rPr lang="en-MY" dirty="0"/>
              <a:t>Includes any column attributes and indexes defined in the original table. Use the </a:t>
            </a:r>
            <a:r>
              <a:rPr lang="en-MY" b="1" dirty="0">
                <a:solidFill>
                  <a:schemeClr val="accent2"/>
                </a:solidFill>
              </a:rPr>
              <a:t>LIKE</a:t>
            </a:r>
            <a:r>
              <a:rPr lang="en-MY" dirty="0"/>
              <a:t> clause Syntax:</a:t>
            </a:r>
          </a:p>
          <a:p>
            <a:endParaRPr lang="en-MY" dirty="0"/>
          </a:p>
          <a:p>
            <a:endParaRPr lang="en-MY" dirty="0"/>
          </a:p>
          <a:p>
            <a:r>
              <a:rPr lang="en-MY" dirty="0"/>
              <a:t>Example: create a new table based on the HR Employee table.</a:t>
            </a:r>
          </a:p>
          <a:p>
            <a:endParaRPr lang="en-MY" dirty="0"/>
          </a:p>
        </p:txBody>
      </p:sp>
      <p:sp>
        <p:nvSpPr>
          <p:cNvPr id="5" name="Slide Number Placeholder 4">
            <a:extLst>
              <a:ext uri="{FF2B5EF4-FFF2-40B4-BE49-F238E27FC236}">
                <a16:creationId xmlns:a16="http://schemas.microsoft.com/office/drawing/2014/main" id="{95B22902-9FEB-68E8-D1B7-0CBE9A2BAD4A}"/>
              </a:ext>
            </a:extLst>
          </p:cNvPr>
          <p:cNvSpPr>
            <a:spLocks noGrp="1"/>
          </p:cNvSpPr>
          <p:nvPr>
            <p:ph type="sldNum" sz="quarter" idx="12"/>
          </p:nvPr>
        </p:nvSpPr>
        <p:spPr/>
        <p:txBody>
          <a:bodyPr/>
          <a:lstStyle/>
          <a:p>
            <a:pPr>
              <a:defRPr/>
            </a:pPr>
            <a:fld id="{4AEEF2DB-3D68-4EFF-B92B-90C34555BE45}" type="slidenum">
              <a:rPr lang="en-US" smtClean="0"/>
              <a:pPr>
                <a:defRPr/>
              </a:pPr>
              <a:t>38</a:t>
            </a:fld>
            <a:endParaRPr lang="en-US" dirty="0"/>
          </a:p>
        </p:txBody>
      </p:sp>
      <p:sp>
        <p:nvSpPr>
          <p:cNvPr id="8" name="Rectangle 7">
            <a:extLst>
              <a:ext uri="{FF2B5EF4-FFF2-40B4-BE49-F238E27FC236}">
                <a16:creationId xmlns:a16="http://schemas.microsoft.com/office/drawing/2014/main" id="{33213661-02D5-4AC6-45B5-D1ECB344E499}"/>
              </a:ext>
            </a:extLst>
          </p:cNvPr>
          <p:cNvSpPr/>
          <p:nvPr/>
        </p:nvSpPr>
        <p:spPr>
          <a:xfrm>
            <a:off x="2538813" y="3306620"/>
            <a:ext cx="7443387" cy="1040050"/>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CREATE TABLE </a:t>
            </a:r>
            <a:r>
              <a:rPr lang="en-MY" sz="2000" dirty="0" err="1">
                <a:latin typeface="Courier New" panose="02070309020205020404" pitchFamily="49" charset="0"/>
                <a:cs typeface="Courier New" panose="02070309020205020404" pitchFamily="49" charset="0"/>
              </a:rPr>
              <a:t>tableName</a:t>
            </a:r>
            <a:endParaRPr lang="en-MY" sz="2000" dirty="0">
              <a:latin typeface="Courier New" panose="02070309020205020404" pitchFamily="49" charset="0"/>
              <a:cs typeface="Courier New" panose="02070309020205020404" pitchFamily="49" charset="0"/>
            </a:endParaRPr>
          </a:p>
          <a:p>
            <a:r>
              <a:rPr lang="en-MY" sz="2000" b="1" dirty="0">
                <a:solidFill>
                  <a:srgbClr val="FFC000"/>
                </a:solidFill>
                <a:latin typeface="Courier New" panose="02070309020205020404" pitchFamily="49" charset="0"/>
                <a:cs typeface="Courier New" panose="02070309020205020404" pitchFamily="49" charset="0"/>
              </a:rPr>
              <a:t>LIKE</a:t>
            </a:r>
            <a:r>
              <a:rPr lang="en-MY" sz="2000" b="1" dirty="0">
                <a:latin typeface="Courier New" panose="02070309020205020404" pitchFamily="49" charset="0"/>
                <a:cs typeface="Courier New" panose="02070309020205020404" pitchFamily="49" charset="0"/>
              </a:rPr>
              <a:t> </a:t>
            </a:r>
            <a:r>
              <a:rPr lang="en-MY" sz="2000" dirty="0" err="1">
                <a:latin typeface="Courier New" panose="02070309020205020404" pitchFamily="49" charset="0"/>
                <a:cs typeface="Courier New" panose="02070309020205020404" pitchFamily="49" charset="0"/>
              </a:rPr>
              <a:t>existingTableName</a:t>
            </a:r>
            <a:r>
              <a:rPr lang="en-MY" sz="2000" dirty="0">
                <a:solidFill>
                  <a:srgbClr val="FFC000"/>
                </a:solidFill>
                <a:latin typeface="Courier New" panose="02070309020205020404" pitchFamily="49" charset="0"/>
                <a:cs typeface="Courier New" panose="02070309020205020404" pitchFamily="49" charset="0"/>
              </a:rPr>
              <a:t>;</a:t>
            </a:r>
            <a:endParaRPr lang="en-MY" sz="2000" b="1" dirty="0">
              <a:solidFill>
                <a:srgbClr val="FFC000"/>
              </a:solidFill>
              <a:latin typeface="Courier New" panose="02070309020205020404" pitchFamily="49" charset="0"/>
              <a:cs typeface="Courier New" panose="02070309020205020404" pitchFamily="49" charset="0"/>
            </a:endParaRPr>
          </a:p>
        </p:txBody>
      </p:sp>
      <p:sp>
        <p:nvSpPr>
          <p:cNvPr id="9" name="Rectangle 8">
            <a:extLst>
              <a:ext uri="{FF2B5EF4-FFF2-40B4-BE49-F238E27FC236}">
                <a16:creationId xmlns:a16="http://schemas.microsoft.com/office/drawing/2014/main" id="{26411DAB-0054-A0A0-0D35-89889777E983}"/>
              </a:ext>
            </a:extLst>
          </p:cNvPr>
          <p:cNvSpPr/>
          <p:nvPr/>
        </p:nvSpPr>
        <p:spPr>
          <a:xfrm>
            <a:off x="2538812" y="4922552"/>
            <a:ext cx="7443387" cy="1040050"/>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2000" b="1" dirty="0">
                <a:solidFill>
                  <a:srgbClr val="FFC000"/>
                </a:solidFill>
                <a:latin typeface="Courier New" panose="02070309020205020404" pitchFamily="49" charset="0"/>
                <a:cs typeface="Courier New" panose="02070309020205020404" pitchFamily="49" charset="0"/>
              </a:rPr>
              <a:t>CREATE TABLE </a:t>
            </a:r>
            <a:r>
              <a:rPr lang="en-MY" sz="2000" dirty="0">
                <a:solidFill>
                  <a:srgbClr val="00B0F0"/>
                </a:solidFill>
                <a:latin typeface="Courier New" panose="02070309020205020404" pitchFamily="49" charset="0"/>
                <a:cs typeface="Courier New" panose="02070309020205020404" pitchFamily="49" charset="0"/>
              </a:rPr>
              <a:t>NewEmployee</a:t>
            </a:r>
          </a:p>
          <a:p>
            <a:r>
              <a:rPr lang="en-MY" sz="2000" b="1" dirty="0">
                <a:solidFill>
                  <a:srgbClr val="FFC000"/>
                </a:solidFill>
                <a:latin typeface="Courier New" panose="02070309020205020404" pitchFamily="49" charset="0"/>
                <a:cs typeface="Courier New" panose="02070309020205020404" pitchFamily="49" charset="0"/>
              </a:rPr>
              <a:t>LIKE </a:t>
            </a:r>
            <a:r>
              <a:rPr lang="en-MY" sz="2000" dirty="0" err="1">
                <a:solidFill>
                  <a:srgbClr val="00B0F0"/>
                </a:solidFill>
                <a:latin typeface="Courier New" panose="02070309020205020404" pitchFamily="49" charset="0"/>
                <a:cs typeface="Courier New" panose="02070309020205020404" pitchFamily="49" charset="0"/>
              </a:rPr>
              <a:t>hr.Employees</a:t>
            </a:r>
            <a:r>
              <a:rPr lang="en-MY" sz="2000" b="1" dirty="0">
                <a:solidFill>
                  <a:srgbClr val="FFC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933623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88007-FF74-437A-820F-5557BDAF109C}"/>
              </a:ext>
            </a:extLst>
          </p:cNvPr>
          <p:cNvSpPr>
            <a:spLocks noGrp="1"/>
          </p:cNvSpPr>
          <p:nvPr>
            <p:ph type="title"/>
          </p:nvPr>
        </p:nvSpPr>
        <p:spPr/>
        <p:txBody>
          <a:bodyPr/>
          <a:lstStyle/>
          <a:p>
            <a:r>
              <a:rPr lang="en-MY" dirty="0"/>
              <a:t>Exercise</a:t>
            </a:r>
          </a:p>
        </p:txBody>
      </p:sp>
      <p:sp>
        <p:nvSpPr>
          <p:cNvPr id="3" name="Content Placeholder 2">
            <a:extLst>
              <a:ext uri="{FF2B5EF4-FFF2-40B4-BE49-F238E27FC236}">
                <a16:creationId xmlns:a16="http://schemas.microsoft.com/office/drawing/2014/main" id="{A794114A-B803-46EC-81CC-1415734EEC31}"/>
              </a:ext>
            </a:extLst>
          </p:cNvPr>
          <p:cNvSpPr>
            <a:spLocks noGrp="1"/>
          </p:cNvSpPr>
          <p:nvPr>
            <p:ph idx="1"/>
          </p:nvPr>
        </p:nvSpPr>
        <p:spPr/>
        <p:txBody>
          <a:bodyPr/>
          <a:lstStyle/>
          <a:p>
            <a:r>
              <a:rPr lang="en-MY" dirty="0"/>
              <a:t>Using mySQL server, do following:</a:t>
            </a:r>
          </a:p>
          <a:p>
            <a:pPr marL="914400" lvl="1" indent="-457200">
              <a:buFont typeface="+mj-lt"/>
              <a:buAutoNum type="arabicPeriod"/>
            </a:pPr>
            <a:r>
              <a:rPr lang="en-MY" dirty="0"/>
              <a:t>Create the tables with constraint based on the following information:</a:t>
            </a:r>
          </a:p>
        </p:txBody>
      </p:sp>
      <p:sp>
        <p:nvSpPr>
          <p:cNvPr id="5" name="Slide Number Placeholder 4">
            <a:extLst>
              <a:ext uri="{FF2B5EF4-FFF2-40B4-BE49-F238E27FC236}">
                <a16:creationId xmlns:a16="http://schemas.microsoft.com/office/drawing/2014/main" id="{B5D29830-EED0-4DD8-A31D-CD2BBE7C86A4}"/>
              </a:ext>
            </a:extLst>
          </p:cNvPr>
          <p:cNvSpPr>
            <a:spLocks noGrp="1"/>
          </p:cNvSpPr>
          <p:nvPr>
            <p:ph type="sldNum" sz="quarter" idx="12"/>
          </p:nvPr>
        </p:nvSpPr>
        <p:spPr/>
        <p:txBody>
          <a:bodyPr/>
          <a:lstStyle/>
          <a:p>
            <a:pPr>
              <a:defRPr/>
            </a:pPr>
            <a:fld id="{4AEEF2DB-3D68-4EFF-B92B-90C34555BE45}" type="slidenum">
              <a:rPr lang="en-US" smtClean="0"/>
              <a:pPr>
                <a:defRPr/>
              </a:pPr>
              <a:t>39</a:t>
            </a:fld>
            <a:endParaRPr lang="en-US" dirty="0"/>
          </a:p>
        </p:txBody>
      </p:sp>
      <p:graphicFrame>
        <p:nvGraphicFramePr>
          <p:cNvPr id="7" name="Table 7">
            <a:extLst>
              <a:ext uri="{FF2B5EF4-FFF2-40B4-BE49-F238E27FC236}">
                <a16:creationId xmlns:a16="http://schemas.microsoft.com/office/drawing/2014/main" id="{1FF375C6-649E-479A-BF2D-2D6F2FF59D67}"/>
              </a:ext>
            </a:extLst>
          </p:cNvPr>
          <p:cNvGraphicFramePr>
            <a:graphicFrameLocks noGrp="1"/>
          </p:cNvGraphicFramePr>
          <p:nvPr>
            <p:extLst>
              <p:ext uri="{D42A27DB-BD31-4B8C-83A1-F6EECF244321}">
                <p14:modId xmlns:p14="http://schemas.microsoft.com/office/powerpoint/2010/main" val="3545943880"/>
              </p:ext>
            </p:extLst>
          </p:nvPr>
        </p:nvGraphicFramePr>
        <p:xfrm>
          <a:off x="1904679" y="3241812"/>
          <a:ext cx="4029558" cy="1854200"/>
        </p:xfrm>
        <a:graphic>
          <a:graphicData uri="http://schemas.openxmlformats.org/drawingml/2006/table">
            <a:tbl>
              <a:tblPr firstRow="1" bandRow="1">
                <a:tableStyleId>{5C22544A-7EE6-4342-B048-85BDC9FD1C3A}</a:tableStyleId>
              </a:tblPr>
              <a:tblGrid>
                <a:gridCol w="998670">
                  <a:extLst>
                    <a:ext uri="{9D8B030D-6E8A-4147-A177-3AD203B41FA5}">
                      <a16:colId xmlns:a16="http://schemas.microsoft.com/office/drawing/2014/main" val="2631299043"/>
                    </a:ext>
                  </a:extLst>
                </a:gridCol>
                <a:gridCol w="1403057">
                  <a:extLst>
                    <a:ext uri="{9D8B030D-6E8A-4147-A177-3AD203B41FA5}">
                      <a16:colId xmlns:a16="http://schemas.microsoft.com/office/drawing/2014/main" val="4467829"/>
                    </a:ext>
                  </a:extLst>
                </a:gridCol>
                <a:gridCol w="1627831">
                  <a:extLst>
                    <a:ext uri="{9D8B030D-6E8A-4147-A177-3AD203B41FA5}">
                      <a16:colId xmlns:a16="http://schemas.microsoft.com/office/drawing/2014/main" val="2352669886"/>
                    </a:ext>
                  </a:extLst>
                </a:gridCol>
              </a:tblGrid>
              <a:tr h="370840">
                <a:tc>
                  <a:txBody>
                    <a:bodyPr/>
                    <a:lstStyle/>
                    <a:p>
                      <a:r>
                        <a:rPr lang="en-MY" sz="1400" dirty="0"/>
                        <a:t>Attribute</a:t>
                      </a:r>
                    </a:p>
                  </a:txBody>
                  <a:tcPr/>
                </a:tc>
                <a:tc>
                  <a:txBody>
                    <a:bodyPr/>
                    <a:lstStyle/>
                    <a:p>
                      <a:r>
                        <a:rPr lang="en-MY" sz="1400" dirty="0"/>
                        <a:t>Datatype</a:t>
                      </a:r>
                    </a:p>
                  </a:txBody>
                  <a:tcPr/>
                </a:tc>
                <a:tc>
                  <a:txBody>
                    <a:bodyPr/>
                    <a:lstStyle/>
                    <a:p>
                      <a:r>
                        <a:rPr lang="en-MY" sz="1400" dirty="0"/>
                        <a:t>Constraints</a:t>
                      </a:r>
                    </a:p>
                  </a:txBody>
                  <a:tcPr/>
                </a:tc>
                <a:extLst>
                  <a:ext uri="{0D108BD9-81ED-4DB2-BD59-A6C34878D82A}">
                    <a16:rowId xmlns:a16="http://schemas.microsoft.com/office/drawing/2014/main" val="1873257483"/>
                  </a:ext>
                </a:extLst>
              </a:tr>
              <a:tr h="370840">
                <a:tc>
                  <a:txBody>
                    <a:bodyPr/>
                    <a:lstStyle/>
                    <a:p>
                      <a:r>
                        <a:rPr lang="en-MY" sz="1400" dirty="0" err="1"/>
                        <a:t>studID</a:t>
                      </a:r>
                      <a:endParaRPr lang="en-MY" sz="1400" dirty="0"/>
                    </a:p>
                  </a:txBody>
                  <a:tcPr/>
                </a:tc>
                <a:tc>
                  <a:txBody>
                    <a:bodyPr/>
                    <a:lstStyle/>
                    <a:p>
                      <a:r>
                        <a:rPr lang="en-MY" sz="1400" dirty="0"/>
                        <a:t>Varchar(10)</a:t>
                      </a:r>
                    </a:p>
                  </a:txBody>
                  <a:tcPr/>
                </a:tc>
                <a:tc>
                  <a:txBody>
                    <a:bodyPr/>
                    <a:lstStyle/>
                    <a:p>
                      <a:r>
                        <a:rPr lang="en-MY" sz="1400" dirty="0"/>
                        <a:t>Primary key</a:t>
                      </a:r>
                    </a:p>
                  </a:txBody>
                  <a:tcPr/>
                </a:tc>
                <a:extLst>
                  <a:ext uri="{0D108BD9-81ED-4DB2-BD59-A6C34878D82A}">
                    <a16:rowId xmlns:a16="http://schemas.microsoft.com/office/drawing/2014/main" val="3843317266"/>
                  </a:ext>
                </a:extLst>
              </a:tr>
              <a:tr h="370840">
                <a:tc>
                  <a:txBody>
                    <a:bodyPr/>
                    <a:lstStyle/>
                    <a:p>
                      <a:r>
                        <a:rPr lang="en-MY" sz="1400" dirty="0"/>
                        <a:t>name</a:t>
                      </a:r>
                    </a:p>
                  </a:txBody>
                  <a:tcPr/>
                </a:tc>
                <a:tc>
                  <a:txBody>
                    <a:bodyPr/>
                    <a:lstStyle/>
                    <a:p>
                      <a:r>
                        <a:rPr lang="en-MY" sz="1400" dirty="0"/>
                        <a:t>Varchar(50)</a:t>
                      </a:r>
                    </a:p>
                  </a:txBody>
                  <a:tcPr/>
                </a:tc>
                <a:tc>
                  <a:txBody>
                    <a:bodyPr/>
                    <a:lstStyle/>
                    <a:p>
                      <a:r>
                        <a:rPr lang="en-MY" sz="1400" dirty="0"/>
                        <a:t>Requires values</a:t>
                      </a:r>
                    </a:p>
                  </a:txBody>
                  <a:tcPr/>
                </a:tc>
                <a:extLst>
                  <a:ext uri="{0D108BD9-81ED-4DB2-BD59-A6C34878D82A}">
                    <a16:rowId xmlns:a16="http://schemas.microsoft.com/office/drawing/2014/main" val="1901654671"/>
                  </a:ext>
                </a:extLst>
              </a:tr>
              <a:tr h="370840">
                <a:tc>
                  <a:txBody>
                    <a:bodyPr/>
                    <a:lstStyle/>
                    <a:p>
                      <a:r>
                        <a:rPr lang="en-MY" sz="1400" dirty="0" err="1"/>
                        <a:t>tel</a:t>
                      </a:r>
                      <a:endParaRPr lang="en-MY" sz="1400" dirty="0"/>
                    </a:p>
                  </a:txBody>
                  <a:tcPr/>
                </a:tc>
                <a:tc>
                  <a:txBody>
                    <a:bodyPr/>
                    <a:lstStyle/>
                    <a:p>
                      <a:r>
                        <a:rPr lang="en-MY" sz="1400" dirty="0"/>
                        <a:t>Varchar(15)</a:t>
                      </a:r>
                    </a:p>
                  </a:txBody>
                  <a:tcPr/>
                </a:tc>
                <a:tc>
                  <a:txBody>
                    <a:bodyPr/>
                    <a:lstStyle/>
                    <a:p>
                      <a:endParaRPr lang="en-MY" sz="1400" dirty="0"/>
                    </a:p>
                  </a:txBody>
                  <a:tcPr/>
                </a:tc>
                <a:extLst>
                  <a:ext uri="{0D108BD9-81ED-4DB2-BD59-A6C34878D82A}">
                    <a16:rowId xmlns:a16="http://schemas.microsoft.com/office/drawing/2014/main" val="2089757628"/>
                  </a:ext>
                </a:extLst>
              </a:tr>
              <a:tr h="370840">
                <a:tc>
                  <a:txBody>
                    <a:bodyPr/>
                    <a:lstStyle/>
                    <a:p>
                      <a:r>
                        <a:rPr lang="en-MY" sz="1400" dirty="0"/>
                        <a:t>nationality</a:t>
                      </a:r>
                    </a:p>
                  </a:txBody>
                  <a:tcPr/>
                </a:tc>
                <a:tc>
                  <a:txBody>
                    <a:bodyPr/>
                    <a:lstStyle/>
                    <a:p>
                      <a:r>
                        <a:rPr lang="en-MY" sz="1400" dirty="0"/>
                        <a:t>Varchar(30)</a:t>
                      </a:r>
                    </a:p>
                  </a:txBody>
                  <a:tcPr/>
                </a:tc>
                <a:tc>
                  <a:txBody>
                    <a:bodyPr/>
                    <a:lstStyle/>
                    <a:p>
                      <a:endParaRPr lang="en-MY" sz="1400" dirty="0"/>
                    </a:p>
                  </a:txBody>
                  <a:tcPr/>
                </a:tc>
                <a:extLst>
                  <a:ext uri="{0D108BD9-81ED-4DB2-BD59-A6C34878D82A}">
                    <a16:rowId xmlns:a16="http://schemas.microsoft.com/office/drawing/2014/main" val="433874951"/>
                  </a:ext>
                </a:extLst>
              </a:tr>
            </a:tbl>
          </a:graphicData>
        </a:graphic>
      </p:graphicFrame>
      <p:sp>
        <p:nvSpPr>
          <p:cNvPr id="8" name="TextBox 7">
            <a:extLst>
              <a:ext uri="{FF2B5EF4-FFF2-40B4-BE49-F238E27FC236}">
                <a16:creationId xmlns:a16="http://schemas.microsoft.com/office/drawing/2014/main" id="{E32D49C3-1601-44CF-81C9-716ABAC2A206}"/>
              </a:ext>
            </a:extLst>
          </p:cNvPr>
          <p:cNvSpPr txBox="1"/>
          <p:nvPr/>
        </p:nvSpPr>
        <p:spPr>
          <a:xfrm>
            <a:off x="3235811" y="2853510"/>
            <a:ext cx="1023870" cy="400110"/>
          </a:xfrm>
          <a:prstGeom prst="rect">
            <a:avLst/>
          </a:prstGeom>
          <a:noFill/>
        </p:spPr>
        <p:txBody>
          <a:bodyPr wrap="none" rtlCol="0">
            <a:spAutoFit/>
          </a:bodyPr>
          <a:lstStyle/>
          <a:p>
            <a:r>
              <a:rPr lang="en-MY" sz="2000" b="1" dirty="0"/>
              <a:t>Student</a:t>
            </a:r>
          </a:p>
        </p:txBody>
      </p:sp>
      <p:graphicFrame>
        <p:nvGraphicFramePr>
          <p:cNvPr id="9" name="Table 7">
            <a:extLst>
              <a:ext uri="{FF2B5EF4-FFF2-40B4-BE49-F238E27FC236}">
                <a16:creationId xmlns:a16="http://schemas.microsoft.com/office/drawing/2014/main" id="{8E413444-B8A8-4982-97AC-5854FF4BC701}"/>
              </a:ext>
            </a:extLst>
          </p:cNvPr>
          <p:cNvGraphicFramePr>
            <a:graphicFrameLocks noGrp="1"/>
          </p:cNvGraphicFramePr>
          <p:nvPr>
            <p:extLst>
              <p:ext uri="{D42A27DB-BD31-4B8C-83A1-F6EECF244321}">
                <p14:modId xmlns:p14="http://schemas.microsoft.com/office/powerpoint/2010/main" val="2715320031"/>
              </p:ext>
            </p:extLst>
          </p:nvPr>
        </p:nvGraphicFramePr>
        <p:xfrm>
          <a:off x="6319999" y="3241812"/>
          <a:ext cx="3967323" cy="1630680"/>
        </p:xfrm>
        <a:graphic>
          <a:graphicData uri="http://schemas.openxmlformats.org/drawingml/2006/table">
            <a:tbl>
              <a:tblPr firstRow="1" bandRow="1">
                <a:tableStyleId>{5C22544A-7EE6-4342-B048-85BDC9FD1C3A}</a:tableStyleId>
              </a:tblPr>
              <a:tblGrid>
                <a:gridCol w="1170849">
                  <a:extLst>
                    <a:ext uri="{9D8B030D-6E8A-4147-A177-3AD203B41FA5}">
                      <a16:colId xmlns:a16="http://schemas.microsoft.com/office/drawing/2014/main" val="2631299043"/>
                    </a:ext>
                  </a:extLst>
                </a:gridCol>
                <a:gridCol w="1502261">
                  <a:extLst>
                    <a:ext uri="{9D8B030D-6E8A-4147-A177-3AD203B41FA5}">
                      <a16:colId xmlns:a16="http://schemas.microsoft.com/office/drawing/2014/main" val="4467829"/>
                    </a:ext>
                  </a:extLst>
                </a:gridCol>
                <a:gridCol w="1294213">
                  <a:extLst>
                    <a:ext uri="{9D8B030D-6E8A-4147-A177-3AD203B41FA5}">
                      <a16:colId xmlns:a16="http://schemas.microsoft.com/office/drawing/2014/main" val="2643015296"/>
                    </a:ext>
                  </a:extLst>
                </a:gridCol>
              </a:tblGrid>
              <a:tr h="370840">
                <a:tc>
                  <a:txBody>
                    <a:bodyPr/>
                    <a:lstStyle/>
                    <a:p>
                      <a:r>
                        <a:rPr lang="en-MY" sz="1400" dirty="0"/>
                        <a:t>Attribute</a:t>
                      </a:r>
                    </a:p>
                  </a:txBody>
                  <a:tcPr/>
                </a:tc>
                <a:tc>
                  <a:txBody>
                    <a:bodyPr/>
                    <a:lstStyle/>
                    <a:p>
                      <a:r>
                        <a:rPr lang="en-MY" sz="1400" dirty="0"/>
                        <a:t>Datatype</a:t>
                      </a:r>
                    </a:p>
                  </a:txBody>
                  <a:tcPr/>
                </a:tc>
                <a:tc>
                  <a:txBody>
                    <a:bodyPr/>
                    <a:lstStyle/>
                    <a:p>
                      <a:r>
                        <a:rPr lang="en-MY" sz="1400" dirty="0"/>
                        <a:t>Constraints</a:t>
                      </a:r>
                    </a:p>
                  </a:txBody>
                  <a:tcPr/>
                </a:tc>
                <a:extLst>
                  <a:ext uri="{0D108BD9-81ED-4DB2-BD59-A6C34878D82A}">
                    <a16:rowId xmlns:a16="http://schemas.microsoft.com/office/drawing/2014/main" val="1873257483"/>
                  </a:ext>
                </a:extLst>
              </a:tr>
              <a:tr h="370840">
                <a:tc>
                  <a:txBody>
                    <a:bodyPr/>
                    <a:lstStyle/>
                    <a:p>
                      <a:r>
                        <a:rPr lang="en-MY" sz="1400" dirty="0" err="1"/>
                        <a:t>studID</a:t>
                      </a:r>
                      <a:endParaRPr lang="en-MY" sz="1400" dirty="0"/>
                    </a:p>
                  </a:txBody>
                  <a:tcPr/>
                </a:tc>
                <a:tc>
                  <a:txBody>
                    <a:bodyPr/>
                    <a:lstStyle/>
                    <a:p>
                      <a:r>
                        <a:rPr lang="en-MY" sz="1400" dirty="0"/>
                        <a:t>Varchar(10)</a:t>
                      </a:r>
                    </a:p>
                  </a:txBody>
                  <a:tcPr/>
                </a:tc>
                <a:tc rowSpan="2">
                  <a:txBody>
                    <a:bodyPr/>
                    <a:lstStyle/>
                    <a:p>
                      <a:r>
                        <a:rPr lang="en-MY" sz="1400" dirty="0"/>
                        <a:t>Combination of both is the primary key</a:t>
                      </a:r>
                    </a:p>
                  </a:txBody>
                  <a:tcPr/>
                </a:tc>
                <a:extLst>
                  <a:ext uri="{0D108BD9-81ED-4DB2-BD59-A6C34878D82A}">
                    <a16:rowId xmlns:a16="http://schemas.microsoft.com/office/drawing/2014/main" val="3843317266"/>
                  </a:ext>
                </a:extLst>
              </a:tr>
              <a:tr h="370840">
                <a:tc>
                  <a:txBody>
                    <a:bodyPr/>
                    <a:lstStyle/>
                    <a:p>
                      <a:r>
                        <a:rPr lang="en-MY" sz="1400" dirty="0" err="1"/>
                        <a:t>courseID</a:t>
                      </a:r>
                      <a:endParaRPr lang="en-MY" sz="1400" dirty="0"/>
                    </a:p>
                  </a:txBody>
                  <a:tcPr/>
                </a:tc>
                <a:tc>
                  <a:txBody>
                    <a:bodyPr/>
                    <a:lstStyle/>
                    <a:p>
                      <a:r>
                        <a:rPr lang="en-MY" sz="1400" dirty="0"/>
                        <a:t>Varchar(10)</a:t>
                      </a:r>
                    </a:p>
                  </a:txBody>
                  <a:tcPr/>
                </a:tc>
                <a:tc vMerge="1">
                  <a:txBody>
                    <a:bodyPr/>
                    <a:lstStyle/>
                    <a:p>
                      <a:endParaRPr lang="en-MY" sz="1400" dirty="0"/>
                    </a:p>
                  </a:txBody>
                  <a:tcPr/>
                </a:tc>
                <a:extLst>
                  <a:ext uri="{0D108BD9-81ED-4DB2-BD59-A6C34878D82A}">
                    <a16:rowId xmlns:a16="http://schemas.microsoft.com/office/drawing/2014/main" val="1901654671"/>
                  </a:ext>
                </a:extLst>
              </a:tr>
              <a:tr h="370840">
                <a:tc>
                  <a:txBody>
                    <a:bodyPr/>
                    <a:lstStyle/>
                    <a:p>
                      <a:r>
                        <a:rPr lang="en-MY" sz="1400" dirty="0" err="1"/>
                        <a:t>RoomNo</a:t>
                      </a:r>
                      <a:endParaRPr lang="en-MY" sz="1400" dirty="0"/>
                    </a:p>
                  </a:txBody>
                  <a:tcPr/>
                </a:tc>
                <a:tc>
                  <a:txBody>
                    <a:bodyPr/>
                    <a:lstStyle/>
                    <a:p>
                      <a:r>
                        <a:rPr lang="en-MY" sz="1400" dirty="0"/>
                        <a:t>Number with size of 4</a:t>
                      </a:r>
                    </a:p>
                  </a:txBody>
                  <a:tcPr/>
                </a:tc>
                <a:tc>
                  <a:txBody>
                    <a:bodyPr/>
                    <a:lstStyle/>
                    <a:p>
                      <a:r>
                        <a:rPr lang="en-MY" sz="1400" dirty="0"/>
                        <a:t>Requires values</a:t>
                      </a:r>
                    </a:p>
                  </a:txBody>
                  <a:tcPr/>
                </a:tc>
                <a:extLst>
                  <a:ext uri="{0D108BD9-81ED-4DB2-BD59-A6C34878D82A}">
                    <a16:rowId xmlns:a16="http://schemas.microsoft.com/office/drawing/2014/main" val="2089757628"/>
                  </a:ext>
                </a:extLst>
              </a:tr>
            </a:tbl>
          </a:graphicData>
        </a:graphic>
      </p:graphicFrame>
      <p:sp>
        <p:nvSpPr>
          <p:cNvPr id="10" name="TextBox 9">
            <a:extLst>
              <a:ext uri="{FF2B5EF4-FFF2-40B4-BE49-F238E27FC236}">
                <a16:creationId xmlns:a16="http://schemas.microsoft.com/office/drawing/2014/main" id="{BEC7463F-104B-4739-83C4-0B518E67373B}"/>
              </a:ext>
            </a:extLst>
          </p:cNvPr>
          <p:cNvSpPr txBox="1"/>
          <p:nvPr/>
        </p:nvSpPr>
        <p:spPr>
          <a:xfrm>
            <a:off x="7562496" y="2881926"/>
            <a:ext cx="1309461" cy="400110"/>
          </a:xfrm>
          <a:prstGeom prst="rect">
            <a:avLst/>
          </a:prstGeom>
          <a:noFill/>
        </p:spPr>
        <p:txBody>
          <a:bodyPr wrap="none" rtlCol="0">
            <a:spAutoFit/>
          </a:bodyPr>
          <a:lstStyle/>
          <a:p>
            <a:r>
              <a:rPr lang="en-MY" sz="2000" b="1" dirty="0"/>
              <a:t>CourseReg</a:t>
            </a:r>
          </a:p>
        </p:txBody>
      </p:sp>
      <p:sp>
        <p:nvSpPr>
          <p:cNvPr id="11" name="TextBox 10">
            <a:extLst>
              <a:ext uri="{FF2B5EF4-FFF2-40B4-BE49-F238E27FC236}">
                <a16:creationId xmlns:a16="http://schemas.microsoft.com/office/drawing/2014/main" id="{F5CD83E7-2B9E-44DC-8D62-ABE4CDA7CB3A}"/>
              </a:ext>
            </a:extLst>
          </p:cNvPr>
          <p:cNvSpPr txBox="1"/>
          <p:nvPr/>
        </p:nvSpPr>
        <p:spPr>
          <a:xfrm>
            <a:off x="6319999" y="5082875"/>
            <a:ext cx="3967323" cy="523220"/>
          </a:xfrm>
          <a:prstGeom prst="rect">
            <a:avLst/>
          </a:prstGeom>
          <a:noFill/>
        </p:spPr>
        <p:txBody>
          <a:bodyPr wrap="square" rtlCol="0">
            <a:spAutoFit/>
          </a:bodyPr>
          <a:lstStyle/>
          <a:p>
            <a:r>
              <a:rPr lang="en-MY" sz="1400" b="1" dirty="0"/>
              <a:t>NOTE: </a:t>
            </a:r>
            <a:r>
              <a:rPr lang="en-MY" sz="1400" dirty="0" err="1"/>
              <a:t>studID</a:t>
            </a:r>
            <a:r>
              <a:rPr lang="en-MY" sz="1400" dirty="0"/>
              <a:t> in CourseReg is also a foreign key that refers to Student (</a:t>
            </a:r>
            <a:r>
              <a:rPr lang="en-MY" sz="1400" dirty="0" err="1"/>
              <a:t>studID</a:t>
            </a:r>
            <a:r>
              <a:rPr lang="en-MY" sz="1400" dirty="0"/>
              <a:t>)</a:t>
            </a:r>
          </a:p>
        </p:txBody>
      </p:sp>
    </p:spTree>
    <p:extLst>
      <p:ext uri="{BB962C8B-B14F-4D97-AF65-F5344CB8AC3E}">
        <p14:creationId xmlns:p14="http://schemas.microsoft.com/office/powerpoint/2010/main" val="895510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140A4-38A8-441B-BB91-284A257189B6}"/>
              </a:ext>
            </a:extLst>
          </p:cNvPr>
          <p:cNvSpPr>
            <a:spLocks noGrp="1"/>
          </p:cNvSpPr>
          <p:nvPr>
            <p:ph type="title"/>
          </p:nvPr>
        </p:nvSpPr>
        <p:spPr/>
        <p:txBody>
          <a:bodyPr/>
          <a:lstStyle/>
          <a:p>
            <a:r>
              <a:rPr lang="en-MY" dirty="0"/>
              <a:t>Exercise</a:t>
            </a:r>
          </a:p>
        </p:txBody>
      </p:sp>
      <p:sp>
        <p:nvSpPr>
          <p:cNvPr id="3" name="Content Placeholder 2">
            <a:extLst>
              <a:ext uri="{FF2B5EF4-FFF2-40B4-BE49-F238E27FC236}">
                <a16:creationId xmlns:a16="http://schemas.microsoft.com/office/drawing/2014/main" id="{CEF1F02B-1BFC-42F4-9131-193CDBC3AAE7}"/>
              </a:ext>
            </a:extLst>
          </p:cNvPr>
          <p:cNvSpPr>
            <a:spLocks noGrp="1"/>
          </p:cNvSpPr>
          <p:nvPr>
            <p:ph idx="1"/>
          </p:nvPr>
        </p:nvSpPr>
        <p:spPr/>
        <p:txBody>
          <a:bodyPr/>
          <a:lstStyle/>
          <a:p>
            <a:pPr marL="914400" lvl="1" indent="-457200">
              <a:buFont typeface="+mj-lt"/>
              <a:buAutoNum type="arabicPeriod" startAt="2"/>
            </a:pPr>
            <a:r>
              <a:rPr lang="en-MY" dirty="0"/>
              <a:t>Add a new column called “</a:t>
            </a:r>
            <a:r>
              <a:rPr lang="en-MY" b="1" dirty="0"/>
              <a:t>DOB</a:t>
            </a:r>
            <a:r>
              <a:rPr lang="en-MY" dirty="0"/>
              <a:t>” with the datatype of DATE to the “Student” table</a:t>
            </a:r>
          </a:p>
          <a:p>
            <a:pPr marL="914400" lvl="1" indent="-457200">
              <a:buFont typeface="+mj-lt"/>
              <a:buAutoNum type="arabicPeriod" startAt="2"/>
            </a:pPr>
            <a:r>
              <a:rPr lang="en-MY" dirty="0"/>
              <a:t>Delete column </a:t>
            </a:r>
            <a:r>
              <a:rPr lang="en-MY" b="1" dirty="0" err="1"/>
              <a:t>roomNo</a:t>
            </a:r>
            <a:r>
              <a:rPr lang="en-MY" dirty="0"/>
              <a:t> from “CourseReg” table.</a:t>
            </a:r>
          </a:p>
          <a:p>
            <a:pPr marL="914400" lvl="1" indent="-457200">
              <a:buFont typeface="+mj-lt"/>
              <a:buAutoNum type="arabicPeriod" startAt="2"/>
            </a:pPr>
            <a:r>
              <a:rPr lang="en-MY" dirty="0"/>
              <a:t>Add new column called “</a:t>
            </a:r>
            <a:r>
              <a:rPr lang="en-MY" b="1" dirty="0"/>
              <a:t>Availability</a:t>
            </a:r>
            <a:r>
              <a:rPr lang="en-MY" dirty="0"/>
              <a:t>” that holds variable character data (with the size of 5) to CourseReg table and set the default value to ‘NA’</a:t>
            </a:r>
          </a:p>
        </p:txBody>
      </p:sp>
      <p:sp>
        <p:nvSpPr>
          <p:cNvPr id="5" name="Slide Number Placeholder 4">
            <a:extLst>
              <a:ext uri="{FF2B5EF4-FFF2-40B4-BE49-F238E27FC236}">
                <a16:creationId xmlns:a16="http://schemas.microsoft.com/office/drawing/2014/main" id="{A35F6576-F259-49C8-B744-0F76F34323B1}"/>
              </a:ext>
            </a:extLst>
          </p:cNvPr>
          <p:cNvSpPr>
            <a:spLocks noGrp="1"/>
          </p:cNvSpPr>
          <p:nvPr>
            <p:ph type="sldNum" sz="quarter" idx="12"/>
          </p:nvPr>
        </p:nvSpPr>
        <p:spPr/>
        <p:txBody>
          <a:bodyPr/>
          <a:lstStyle/>
          <a:p>
            <a:pPr>
              <a:defRPr/>
            </a:pPr>
            <a:fld id="{4AEEF2DB-3D68-4EFF-B92B-90C34555BE45}" type="slidenum">
              <a:rPr lang="en-US" smtClean="0"/>
              <a:pPr>
                <a:defRPr/>
              </a:pPr>
              <a:t>40</a:t>
            </a:fld>
            <a:endParaRPr lang="en-US" dirty="0"/>
          </a:p>
        </p:txBody>
      </p:sp>
    </p:spTree>
    <p:extLst>
      <p:ext uri="{BB962C8B-B14F-4D97-AF65-F5344CB8AC3E}">
        <p14:creationId xmlns:p14="http://schemas.microsoft.com/office/powerpoint/2010/main" val="30857242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D4757-5810-403A-B8EC-4B371E5B9378}"/>
              </a:ext>
            </a:extLst>
          </p:cNvPr>
          <p:cNvSpPr>
            <a:spLocks noGrp="1"/>
          </p:cNvSpPr>
          <p:nvPr>
            <p:ph type="title"/>
          </p:nvPr>
        </p:nvSpPr>
        <p:spPr/>
        <p:txBody>
          <a:bodyPr/>
          <a:lstStyle/>
          <a:p>
            <a:r>
              <a:rPr lang="en-MY" dirty="0"/>
              <a:t>ANSWER</a:t>
            </a:r>
          </a:p>
        </p:txBody>
      </p:sp>
      <p:sp>
        <p:nvSpPr>
          <p:cNvPr id="5" name="Slide Number Placeholder 4">
            <a:extLst>
              <a:ext uri="{FF2B5EF4-FFF2-40B4-BE49-F238E27FC236}">
                <a16:creationId xmlns:a16="http://schemas.microsoft.com/office/drawing/2014/main" id="{CB62B4AA-63C9-4E3B-8FEC-DC16966CF2B5}"/>
              </a:ext>
            </a:extLst>
          </p:cNvPr>
          <p:cNvSpPr>
            <a:spLocks noGrp="1"/>
          </p:cNvSpPr>
          <p:nvPr>
            <p:ph type="sldNum" sz="quarter" idx="12"/>
          </p:nvPr>
        </p:nvSpPr>
        <p:spPr/>
        <p:txBody>
          <a:bodyPr/>
          <a:lstStyle/>
          <a:p>
            <a:pPr>
              <a:defRPr/>
            </a:pPr>
            <a:fld id="{4AEEF2DB-3D68-4EFF-B92B-90C34555BE45}" type="slidenum">
              <a:rPr lang="en-US" smtClean="0"/>
              <a:pPr>
                <a:defRPr/>
              </a:pPr>
              <a:t>41</a:t>
            </a:fld>
            <a:endParaRPr lang="en-US" dirty="0"/>
          </a:p>
        </p:txBody>
      </p:sp>
      <p:sp>
        <p:nvSpPr>
          <p:cNvPr id="8" name="Rectangle 7">
            <a:extLst>
              <a:ext uri="{FF2B5EF4-FFF2-40B4-BE49-F238E27FC236}">
                <a16:creationId xmlns:a16="http://schemas.microsoft.com/office/drawing/2014/main" id="{1532EABA-F27A-4DA7-9CA2-AB4D4B3806B1}"/>
              </a:ext>
            </a:extLst>
          </p:cNvPr>
          <p:cNvSpPr/>
          <p:nvPr/>
        </p:nvSpPr>
        <p:spPr>
          <a:xfrm>
            <a:off x="2152650" y="1509712"/>
            <a:ext cx="7886700" cy="4247908"/>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dirty="0">
                <a:solidFill>
                  <a:srgbClr val="FFFF00"/>
                </a:solidFill>
                <a:latin typeface="Courier New" panose="02070309020205020404" pitchFamily="49" charset="0"/>
                <a:cs typeface="Courier New" panose="02070309020205020404" pitchFamily="49" charset="0"/>
              </a:rPr>
              <a:t>#1</a:t>
            </a:r>
          </a:p>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Student</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studID</a:t>
            </a:r>
            <a:r>
              <a:rPr lang="en-MY" sz="1600" b="1" dirty="0">
                <a:solidFill>
                  <a:srgbClr val="FFC000"/>
                </a:solidFill>
                <a:latin typeface="Courier New" panose="02070309020205020404" pitchFamily="49" charset="0"/>
                <a:cs typeface="Courier New" panose="02070309020205020404" pitchFamily="49" charset="0"/>
              </a:rPr>
              <a:t> VARCHAR(10) </a:t>
            </a:r>
            <a:r>
              <a:rPr lang="en-MY" sz="1600" b="1" dirty="0">
                <a:solidFill>
                  <a:srgbClr val="00B050"/>
                </a:solidFill>
                <a:latin typeface="Courier New" panose="02070309020205020404" pitchFamily="49" charset="0"/>
                <a:cs typeface="Courier New" panose="02070309020205020404" pitchFamily="49" charset="0"/>
              </a:rPr>
              <a:t>PRIMARY KEY</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name</a:t>
            </a:r>
            <a:r>
              <a:rPr lang="en-MY" sz="1600" b="1" dirty="0">
                <a:solidFill>
                  <a:srgbClr val="FFC000"/>
                </a:solidFill>
                <a:latin typeface="Courier New" panose="02070309020205020404" pitchFamily="49" charset="0"/>
                <a:cs typeface="Courier New" panose="02070309020205020404" pitchFamily="49" charset="0"/>
              </a:rPr>
              <a:t> VARCHAR(50) </a:t>
            </a:r>
            <a:r>
              <a:rPr lang="en-MY" sz="1600" b="1" dirty="0">
                <a:solidFill>
                  <a:srgbClr val="00B050"/>
                </a:solidFill>
                <a:latin typeface="Courier New" panose="02070309020205020404" pitchFamily="49" charset="0"/>
                <a:cs typeface="Courier New" panose="02070309020205020404" pitchFamily="49" charset="0"/>
              </a:rPr>
              <a:t>NOT NULL</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tel</a:t>
            </a:r>
            <a:r>
              <a:rPr lang="en-MY" sz="1600" b="1" dirty="0">
                <a:solidFill>
                  <a:srgbClr val="FFC000"/>
                </a:solidFill>
                <a:latin typeface="Courier New" panose="02070309020205020404" pitchFamily="49" charset="0"/>
                <a:cs typeface="Courier New" panose="02070309020205020404" pitchFamily="49" charset="0"/>
              </a:rPr>
              <a:t> VARCHAR(15),</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a:solidFill>
                  <a:schemeClr val="bg1"/>
                </a:solidFill>
                <a:latin typeface="Courier New" panose="02070309020205020404" pitchFamily="49" charset="0"/>
                <a:cs typeface="Courier New" panose="02070309020205020404" pitchFamily="49" charset="0"/>
              </a:rPr>
              <a:t>nationality</a:t>
            </a:r>
            <a:r>
              <a:rPr lang="en-MY" sz="1600" b="1" dirty="0">
                <a:solidFill>
                  <a:srgbClr val="FFC000"/>
                </a:solidFill>
                <a:latin typeface="Courier New" panose="02070309020205020404" pitchFamily="49" charset="0"/>
                <a:cs typeface="Courier New" panose="02070309020205020404" pitchFamily="49" charset="0"/>
              </a:rPr>
              <a:t> VARCHAR(30)</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a:p>
            <a:endParaRPr lang="en-MY" sz="1600" dirty="0">
              <a:latin typeface="Courier New" panose="02070309020205020404" pitchFamily="49" charset="0"/>
              <a:cs typeface="Courier New" panose="02070309020205020404" pitchFamily="49" charset="0"/>
            </a:endParaRPr>
          </a:p>
          <a:p>
            <a:r>
              <a:rPr lang="en-MY" sz="1600" b="1" dirty="0">
                <a:solidFill>
                  <a:srgbClr val="FFC000"/>
                </a:solidFill>
                <a:latin typeface="Courier New" panose="02070309020205020404" pitchFamily="49" charset="0"/>
                <a:cs typeface="Courier New" panose="02070309020205020404" pitchFamily="49" charset="0"/>
              </a:rPr>
              <a:t>CREATE TABLE </a:t>
            </a:r>
            <a:r>
              <a:rPr lang="en-MY" sz="1600" dirty="0">
                <a:solidFill>
                  <a:srgbClr val="00B0F0"/>
                </a:solidFill>
                <a:latin typeface="Courier New" panose="02070309020205020404" pitchFamily="49" charset="0"/>
                <a:cs typeface="Courier New" panose="02070309020205020404" pitchFamily="49" charset="0"/>
              </a:rPr>
              <a:t>CourseReg</a:t>
            </a:r>
            <a:r>
              <a:rPr lang="en-MY" sz="1600" dirty="0">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studID</a:t>
            </a:r>
            <a:r>
              <a:rPr lang="en-MY" sz="1600" b="1" dirty="0">
                <a:solidFill>
                  <a:srgbClr val="FFC000"/>
                </a:solidFill>
                <a:latin typeface="Courier New" panose="02070309020205020404" pitchFamily="49" charset="0"/>
                <a:cs typeface="Courier New" panose="02070309020205020404" pitchFamily="49" charset="0"/>
              </a:rPr>
              <a:t> VARCHAR(10),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courseID</a:t>
            </a:r>
            <a:r>
              <a:rPr lang="en-MY" sz="1600" b="1" dirty="0">
                <a:solidFill>
                  <a:srgbClr val="FFC000"/>
                </a:solidFill>
                <a:latin typeface="Courier New" panose="02070309020205020404" pitchFamily="49" charset="0"/>
                <a:cs typeface="Courier New" panose="02070309020205020404" pitchFamily="49" charset="0"/>
              </a:rPr>
              <a:t> VARCHAR(10),</a:t>
            </a:r>
          </a:p>
          <a:p>
            <a:r>
              <a:rPr lang="en-MY" sz="1600" b="1" dirty="0">
                <a:solidFill>
                  <a:srgbClr val="FFC000"/>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roomNo</a:t>
            </a:r>
            <a:r>
              <a:rPr lang="en-MY" sz="1600" b="1" dirty="0">
                <a:solidFill>
                  <a:srgbClr val="FFC000"/>
                </a:solidFill>
                <a:latin typeface="Courier New" panose="02070309020205020404" pitchFamily="49" charset="0"/>
                <a:cs typeface="Courier New" panose="02070309020205020404" pitchFamily="49" charset="0"/>
              </a:rPr>
              <a:t> NUMBER(4) NOT NULL,</a:t>
            </a:r>
          </a:p>
          <a:p>
            <a:r>
              <a:rPr lang="en-MY" sz="1600" b="1" dirty="0">
                <a:solidFill>
                  <a:srgbClr val="FFC000"/>
                </a:solidFill>
                <a:latin typeface="Courier New" panose="02070309020205020404" pitchFamily="49" charset="0"/>
                <a:cs typeface="Courier New" panose="02070309020205020404" pitchFamily="49" charset="0"/>
              </a:rPr>
              <a:t>	CONSTRAINT</a:t>
            </a:r>
            <a:r>
              <a:rPr lang="en-MY" sz="1600" b="1" dirty="0">
                <a:solidFill>
                  <a:schemeClr val="bg1"/>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pk_CourseReg</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PRIMARY KEY</a:t>
            </a:r>
            <a:r>
              <a:rPr lang="en-MY" sz="1600" b="1" dirty="0">
                <a:solidFill>
                  <a:schemeClr val="bg1"/>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studID</a:t>
            </a:r>
            <a:r>
              <a:rPr lang="en-MY" sz="1600" dirty="0">
                <a:solidFill>
                  <a:schemeClr val="bg1"/>
                </a:solidFill>
                <a:latin typeface="Courier New" panose="02070309020205020404" pitchFamily="49" charset="0"/>
                <a:cs typeface="Courier New" panose="02070309020205020404" pitchFamily="49" charset="0"/>
              </a:rPr>
              <a:t>, </a:t>
            </a:r>
            <a:r>
              <a:rPr lang="en-MY" sz="1600" dirty="0" err="1">
                <a:solidFill>
                  <a:schemeClr val="bg1"/>
                </a:solidFill>
                <a:latin typeface="Courier New" panose="02070309020205020404" pitchFamily="49" charset="0"/>
                <a:cs typeface="Courier New" panose="02070309020205020404" pitchFamily="49" charset="0"/>
              </a:rPr>
              <a:t>courseID</a:t>
            </a:r>
            <a:r>
              <a:rPr lang="en-MY" sz="1600" b="1" dirty="0">
                <a:solidFill>
                  <a:schemeClr val="bg1"/>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	CONSTRAINT </a:t>
            </a:r>
            <a:r>
              <a:rPr lang="en-MY" sz="1600" dirty="0" err="1">
                <a:solidFill>
                  <a:schemeClr val="bg1"/>
                </a:solidFill>
                <a:latin typeface="Courier New" panose="02070309020205020404" pitchFamily="49" charset="0"/>
                <a:cs typeface="Courier New" panose="02070309020205020404" pitchFamily="49" charset="0"/>
              </a:rPr>
              <a:t>fk_courseStud</a:t>
            </a:r>
            <a:r>
              <a:rPr lang="en-MY" sz="1600" dirty="0">
                <a:solidFill>
                  <a:schemeClr val="bg1"/>
                </a:solidFill>
                <a:latin typeface="Courier New" panose="02070309020205020404" pitchFamily="49" charset="0"/>
                <a:cs typeface="Courier New" panose="02070309020205020404" pitchFamily="49" charset="0"/>
              </a:rPr>
              <a:t> </a:t>
            </a:r>
            <a:r>
              <a:rPr lang="en-MY" sz="1600" b="1" dirty="0">
                <a:solidFill>
                  <a:srgbClr val="00B050"/>
                </a:solidFill>
                <a:latin typeface="Courier New" panose="02070309020205020404" pitchFamily="49" charset="0"/>
                <a:cs typeface="Courier New" panose="02070309020205020404" pitchFamily="49" charset="0"/>
              </a:rPr>
              <a:t>FOREIGN KEY </a:t>
            </a:r>
            <a:r>
              <a:rPr lang="en-MY" sz="1600" dirty="0">
                <a:solidFill>
                  <a:schemeClr val="bg1"/>
                </a:solidFill>
                <a:latin typeface="Courier New" panose="02070309020205020404" pitchFamily="49" charset="0"/>
                <a:cs typeface="Courier New" panose="02070309020205020404" pitchFamily="49" charset="0"/>
              </a:rPr>
              <a:t>(</a:t>
            </a:r>
            <a:r>
              <a:rPr lang="en-MY" sz="1600" dirty="0" err="1">
                <a:solidFill>
                  <a:schemeClr val="bg1"/>
                </a:solidFill>
                <a:latin typeface="Courier New" panose="02070309020205020404" pitchFamily="49" charset="0"/>
                <a:cs typeface="Courier New" panose="02070309020205020404" pitchFamily="49" charset="0"/>
              </a:rPr>
              <a:t>studID</a:t>
            </a:r>
            <a:r>
              <a:rPr lang="en-MY" sz="1600" dirty="0">
                <a:solidFill>
                  <a:schemeClr val="bg1"/>
                </a:solidFill>
                <a:latin typeface="Courier New" panose="02070309020205020404" pitchFamily="49" charset="0"/>
                <a:cs typeface="Courier New" panose="02070309020205020404" pitchFamily="49" charset="0"/>
              </a:rPr>
              <a:t>),</a:t>
            </a:r>
          </a:p>
          <a:p>
            <a:r>
              <a:rPr lang="en-MY" sz="1600" dirty="0">
                <a:solidFill>
                  <a:srgbClr val="FFC000"/>
                </a:solidFill>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REFERENCES </a:t>
            </a:r>
            <a:r>
              <a:rPr lang="en-MY" sz="1600" dirty="0">
                <a:solidFill>
                  <a:srgbClr val="00B0F0"/>
                </a:solidFill>
                <a:latin typeface="Courier New" panose="02070309020205020404" pitchFamily="49" charset="0"/>
                <a:cs typeface="Courier New" panose="02070309020205020404" pitchFamily="49" charset="0"/>
              </a:rPr>
              <a:t>Student</a:t>
            </a:r>
            <a:r>
              <a:rPr lang="en-MY" sz="1600" b="1" dirty="0">
                <a:solidFill>
                  <a:srgbClr val="FFC000"/>
                </a:solidFill>
                <a:latin typeface="Courier New" panose="02070309020205020404" pitchFamily="49" charset="0"/>
                <a:cs typeface="Courier New" panose="02070309020205020404" pitchFamily="49" charset="0"/>
              </a:rPr>
              <a:t>(</a:t>
            </a:r>
            <a:r>
              <a:rPr lang="en-MY" sz="1600" dirty="0" err="1">
                <a:solidFill>
                  <a:schemeClr val="bg1">
                    <a:lumMod val="95000"/>
                  </a:schemeClr>
                </a:solidFill>
                <a:latin typeface="Courier New" panose="02070309020205020404" pitchFamily="49" charset="0"/>
                <a:cs typeface="Courier New" panose="02070309020205020404" pitchFamily="49" charset="0"/>
              </a:rPr>
              <a:t>studID</a:t>
            </a:r>
            <a:r>
              <a:rPr lang="en-MY" sz="1600" b="1" dirty="0">
                <a:solidFill>
                  <a:srgbClr val="FFC000"/>
                </a:solidFill>
                <a:latin typeface="Courier New" panose="02070309020205020404" pitchFamily="49" charset="0"/>
                <a:cs typeface="Courier New" panose="02070309020205020404" pitchFamily="49" charset="0"/>
              </a:rPr>
              <a:t>)</a:t>
            </a:r>
          </a:p>
          <a:p>
            <a:r>
              <a:rPr lang="en-MY" sz="1600" b="1" dirty="0">
                <a:solidFill>
                  <a:srgbClr val="FFC000"/>
                </a:solidFill>
                <a:latin typeface="Courier New" panose="02070309020205020404" pitchFamily="49" charset="0"/>
                <a:cs typeface="Courier New" panose="02070309020205020404" pitchFamily="49" charset="0"/>
              </a:rPr>
              <a:t>);</a:t>
            </a:r>
            <a:r>
              <a:rPr lang="en-MY" sz="1600" dirty="0">
                <a:solidFill>
                  <a:srgbClr val="FFC000"/>
                </a:solidFill>
                <a:latin typeface="Courier New" panose="02070309020205020404" pitchFamily="49" charset="0"/>
                <a:cs typeface="Courier New" panose="02070309020205020404" pitchFamily="49" charset="0"/>
              </a:rPr>
              <a:t> </a:t>
            </a:r>
          </a:p>
          <a:p>
            <a:endParaRPr lang="en-MY" sz="16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307939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D4757-5810-403A-B8EC-4B371E5B9378}"/>
              </a:ext>
            </a:extLst>
          </p:cNvPr>
          <p:cNvSpPr>
            <a:spLocks noGrp="1"/>
          </p:cNvSpPr>
          <p:nvPr>
            <p:ph type="title"/>
          </p:nvPr>
        </p:nvSpPr>
        <p:spPr/>
        <p:txBody>
          <a:bodyPr/>
          <a:lstStyle/>
          <a:p>
            <a:r>
              <a:rPr lang="en-MY" dirty="0"/>
              <a:t>ANSWER</a:t>
            </a:r>
          </a:p>
        </p:txBody>
      </p:sp>
      <p:sp>
        <p:nvSpPr>
          <p:cNvPr id="5" name="Slide Number Placeholder 4">
            <a:extLst>
              <a:ext uri="{FF2B5EF4-FFF2-40B4-BE49-F238E27FC236}">
                <a16:creationId xmlns:a16="http://schemas.microsoft.com/office/drawing/2014/main" id="{CB62B4AA-63C9-4E3B-8FEC-DC16966CF2B5}"/>
              </a:ext>
            </a:extLst>
          </p:cNvPr>
          <p:cNvSpPr>
            <a:spLocks noGrp="1"/>
          </p:cNvSpPr>
          <p:nvPr>
            <p:ph type="sldNum" sz="quarter" idx="12"/>
          </p:nvPr>
        </p:nvSpPr>
        <p:spPr/>
        <p:txBody>
          <a:bodyPr/>
          <a:lstStyle/>
          <a:p>
            <a:pPr>
              <a:defRPr/>
            </a:pPr>
            <a:fld id="{4AEEF2DB-3D68-4EFF-B92B-90C34555BE45}" type="slidenum">
              <a:rPr lang="en-US" smtClean="0"/>
              <a:pPr>
                <a:defRPr/>
              </a:pPr>
              <a:t>42</a:t>
            </a:fld>
            <a:endParaRPr lang="en-US" dirty="0"/>
          </a:p>
        </p:txBody>
      </p:sp>
      <p:sp>
        <p:nvSpPr>
          <p:cNvPr id="8" name="Rectangle 7">
            <a:extLst>
              <a:ext uri="{FF2B5EF4-FFF2-40B4-BE49-F238E27FC236}">
                <a16:creationId xmlns:a16="http://schemas.microsoft.com/office/drawing/2014/main" id="{1532EABA-F27A-4DA7-9CA2-AB4D4B3806B1}"/>
              </a:ext>
            </a:extLst>
          </p:cNvPr>
          <p:cNvSpPr/>
          <p:nvPr/>
        </p:nvSpPr>
        <p:spPr>
          <a:xfrm>
            <a:off x="2152650" y="1509713"/>
            <a:ext cx="7886700" cy="3798456"/>
          </a:xfrm>
          <a:prstGeom prst="rect">
            <a:avLst/>
          </a:prstGeom>
          <a:solidFill>
            <a:schemeClr val="tx1">
              <a:lumMod val="75000"/>
              <a:lumOff val="25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r>
              <a:rPr lang="en-MY" sz="1600" dirty="0">
                <a:solidFill>
                  <a:srgbClr val="FFFF00"/>
                </a:solidFill>
                <a:latin typeface="Courier New" panose="02070309020205020404" pitchFamily="49" charset="0"/>
                <a:cs typeface="Courier New" panose="02070309020205020404" pitchFamily="49" charset="0"/>
              </a:rPr>
              <a:t>#2</a:t>
            </a:r>
          </a:p>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solidFill>
                  <a:srgbClr val="00B0F0"/>
                </a:solidFill>
                <a:latin typeface="Courier New" panose="02070309020205020404" pitchFamily="49" charset="0"/>
                <a:cs typeface="Courier New" panose="02070309020205020404" pitchFamily="49" charset="0"/>
              </a:rPr>
              <a:t>Student </a:t>
            </a:r>
          </a:p>
          <a:p>
            <a:r>
              <a:rPr lang="en-MY" sz="1600" b="1" dirty="0">
                <a:solidFill>
                  <a:srgbClr val="FFC000"/>
                </a:solidFill>
                <a:latin typeface="Courier New" panose="02070309020205020404" pitchFamily="49" charset="0"/>
                <a:cs typeface="Courier New" panose="02070309020205020404" pitchFamily="49" charset="0"/>
              </a:rPr>
              <a:t>ADD</a:t>
            </a:r>
            <a:r>
              <a:rPr lang="en-MY" sz="1600" b="1" dirty="0">
                <a:solidFill>
                  <a:srgbClr val="00B0F0"/>
                </a:solidFill>
                <a:latin typeface="Courier New" panose="02070309020205020404" pitchFamily="49" charset="0"/>
                <a:cs typeface="Courier New" panose="02070309020205020404" pitchFamily="49" charset="0"/>
              </a:rPr>
              <a:t> </a:t>
            </a:r>
            <a:r>
              <a:rPr lang="en-MY" sz="1600" dirty="0">
                <a:solidFill>
                  <a:schemeClr val="bg1">
                    <a:lumMod val="95000"/>
                  </a:schemeClr>
                </a:solidFill>
                <a:latin typeface="Courier New" panose="02070309020205020404" pitchFamily="49" charset="0"/>
                <a:cs typeface="Courier New" panose="02070309020205020404" pitchFamily="49" charset="0"/>
              </a:rPr>
              <a:t>DOB</a:t>
            </a:r>
            <a:r>
              <a:rPr lang="en-MY" sz="1600" b="1" dirty="0">
                <a:solidFill>
                  <a:srgbClr val="00B0F0"/>
                </a:solidFill>
                <a:latin typeface="Courier New" panose="02070309020205020404" pitchFamily="49" charset="0"/>
                <a:cs typeface="Courier New" panose="02070309020205020404" pitchFamily="49" charset="0"/>
              </a:rPr>
              <a:t> </a:t>
            </a:r>
            <a:r>
              <a:rPr lang="en-MY" sz="1600" b="1" dirty="0">
                <a:solidFill>
                  <a:srgbClr val="FFC000"/>
                </a:solidFill>
                <a:latin typeface="Courier New" panose="02070309020205020404" pitchFamily="49" charset="0"/>
                <a:cs typeface="Courier New" panose="02070309020205020404" pitchFamily="49" charset="0"/>
              </a:rPr>
              <a:t>DATE;</a:t>
            </a:r>
          </a:p>
          <a:p>
            <a:endParaRPr lang="en-MY" sz="1600" b="1" dirty="0">
              <a:solidFill>
                <a:srgbClr val="00B0F0"/>
              </a:solidFill>
              <a:latin typeface="Courier New" panose="02070309020205020404" pitchFamily="49" charset="0"/>
              <a:cs typeface="Courier New" panose="02070309020205020404" pitchFamily="49" charset="0"/>
            </a:endParaRPr>
          </a:p>
          <a:p>
            <a:r>
              <a:rPr lang="en-MY" sz="1600" dirty="0">
                <a:solidFill>
                  <a:srgbClr val="FFFF00"/>
                </a:solidFill>
                <a:latin typeface="Courier New" panose="02070309020205020404" pitchFamily="49" charset="0"/>
                <a:cs typeface="Courier New" panose="02070309020205020404" pitchFamily="49" charset="0"/>
              </a:rPr>
              <a:t>#3</a:t>
            </a:r>
          </a:p>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solidFill>
                  <a:srgbClr val="00B0F0"/>
                </a:solidFill>
                <a:latin typeface="Courier New" panose="02070309020205020404" pitchFamily="49" charset="0"/>
                <a:cs typeface="Courier New" panose="02070309020205020404" pitchFamily="49" charset="0"/>
              </a:rPr>
              <a:t>CourseReg</a:t>
            </a:r>
          </a:p>
          <a:p>
            <a:r>
              <a:rPr lang="en-MY" sz="1600" b="1" dirty="0">
                <a:solidFill>
                  <a:srgbClr val="FFC000"/>
                </a:solidFill>
                <a:latin typeface="Courier New" panose="02070309020205020404" pitchFamily="49" charset="0"/>
                <a:cs typeface="Courier New" panose="02070309020205020404" pitchFamily="49" charset="0"/>
              </a:rPr>
              <a:t>DROP COLUMN </a:t>
            </a:r>
            <a:r>
              <a:rPr lang="en-MY" sz="1600" dirty="0" err="1">
                <a:solidFill>
                  <a:schemeClr val="bg1"/>
                </a:solidFill>
                <a:latin typeface="Courier New" panose="02070309020205020404" pitchFamily="49" charset="0"/>
                <a:cs typeface="Courier New" panose="02070309020205020404" pitchFamily="49" charset="0"/>
              </a:rPr>
              <a:t>roomNo</a:t>
            </a:r>
            <a:r>
              <a:rPr lang="en-MY" sz="1600" b="1" dirty="0">
                <a:solidFill>
                  <a:srgbClr val="FFC000"/>
                </a:solidFill>
                <a:latin typeface="Courier New" panose="02070309020205020404" pitchFamily="49" charset="0"/>
                <a:cs typeface="Courier New" panose="02070309020205020404" pitchFamily="49" charset="0"/>
              </a:rPr>
              <a:t>;</a:t>
            </a:r>
          </a:p>
          <a:p>
            <a:endParaRPr lang="en-MY" sz="1600" b="1" dirty="0">
              <a:solidFill>
                <a:srgbClr val="FFC000"/>
              </a:solidFill>
              <a:latin typeface="Courier New" panose="02070309020205020404" pitchFamily="49" charset="0"/>
              <a:cs typeface="Courier New" panose="02070309020205020404" pitchFamily="49" charset="0"/>
            </a:endParaRPr>
          </a:p>
          <a:p>
            <a:r>
              <a:rPr lang="en-MY" sz="1600" dirty="0">
                <a:solidFill>
                  <a:srgbClr val="FFFF00"/>
                </a:solidFill>
                <a:latin typeface="Courier New" panose="02070309020205020404" pitchFamily="49" charset="0"/>
                <a:cs typeface="Courier New" panose="02070309020205020404" pitchFamily="49" charset="0"/>
              </a:rPr>
              <a:t>#4</a:t>
            </a:r>
          </a:p>
          <a:p>
            <a:r>
              <a:rPr lang="en-MY" sz="1600" b="1" dirty="0">
                <a:solidFill>
                  <a:srgbClr val="FFC000"/>
                </a:solidFill>
                <a:latin typeface="Courier New" panose="02070309020205020404" pitchFamily="49" charset="0"/>
                <a:cs typeface="Courier New" panose="02070309020205020404" pitchFamily="49" charset="0"/>
              </a:rPr>
              <a:t>ALTER TABLE </a:t>
            </a:r>
            <a:r>
              <a:rPr lang="en-MY" sz="1600" dirty="0">
                <a:solidFill>
                  <a:srgbClr val="00B0F0"/>
                </a:solidFill>
                <a:latin typeface="Courier New" panose="02070309020205020404" pitchFamily="49" charset="0"/>
                <a:cs typeface="Courier New" panose="02070309020205020404" pitchFamily="49" charset="0"/>
              </a:rPr>
              <a:t>CourseReg</a:t>
            </a:r>
          </a:p>
          <a:p>
            <a:r>
              <a:rPr lang="en-MY" sz="1600" b="1" dirty="0">
                <a:solidFill>
                  <a:srgbClr val="FFC000"/>
                </a:solidFill>
                <a:latin typeface="Courier New" panose="02070309020205020404" pitchFamily="49" charset="0"/>
                <a:cs typeface="Courier New" panose="02070309020205020404" pitchFamily="49" charset="0"/>
              </a:rPr>
              <a:t>ADD </a:t>
            </a:r>
            <a:r>
              <a:rPr lang="en-MY" sz="1600" dirty="0">
                <a:solidFill>
                  <a:schemeClr val="bg1"/>
                </a:solidFill>
                <a:latin typeface="Courier New" panose="02070309020205020404" pitchFamily="49" charset="0"/>
                <a:cs typeface="Courier New" panose="02070309020205020404" pitchFamily="49" charset="0"/>
              </a:rPr>
              <a:t>Available</a:t>
            </a:r>
            <a:r>
              <a:rPr lang="en-MY" sz="1600" b="1" dirty="0">
                <a:solidFill>
                  <a:srgbClr val="FFC000"/>
                </a:solidFill>
                <a:latin typeface="Courier New" panose="02070309020205020404" pitchFamily="49" charset="0"/>
                <a:cs typeface="Courier New" panose="02070309020205020404" pitchFamily="49" charset="0"/>
              </a:rPr>
              <a:t> VARCHAR(5) DEFAULT ‘</a:t>
            </a:r>
            <a:r>
              <a:rPr lang="en-MY" sz="1600" dirty="0">
                <a:solidFill>
                  <a:schemeClr val="bg1"/>
                </a:solidFill>
                <a:latin typeface="Courier New" panose="02070309020205020404" pitchFamily="49" charset="0"/>
                <a:cs typeface="Courier New" panose="02070309020205020404" pitchFamily="49" charset="0"/>
              </a:rPr>
              <a:t>NA</a:t>
            </a:r>
            <a:r>
              <a:rPr lang="en-MY" sz="1600" b="1" dirty="0">
                <a:solidFill>
                  <a:srgbClr val="FFC000"/>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998870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32A7B-17DE-A49A-0D98-B172644510D5}"/>
              </a:ext>
            </a:extLst>
          </p:cNvPr>
          <p:cNvSpPr>
            <a:spLocks noGrp="1"/>
          </p:cNvSpPr>
          <p:nvPr>
            <p:ph type="title"/>
          </p:nvPr>
        </p:nvSpPr>
        <p:spPr/>
        <p:txBody>
          <a:bodyPr/>
          <a:lstStyle/>
          <a:p>
            <a:endParaRPr lang="en-US"/>
          </a:p>
        </p:txBody>
      </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0"/>
          </p:nvPr>
        </p:nvSpPr>
        <p:spPr/>
        <p:txBody>
          <a:bodyPr/>
          <a:lstStyle/>
          <a:p>
            <a:fld id="{7737D3DD-0AB3-4F16-99FA-6262B2B4036D}" type="slidenum">
              <a:rPr lang="en-MY" smtClean="0"/>
              <a:t>43</a:t>
            </a:fld>
            <a:endParaRPr lang="en-MY"/>
          </a:p>
        </p:txBody>
      </p:sp>
      <p:pic>
        <p:nvPicPr>
          <p:cNvPr id="50" name="Picture 49">
            <a:extLst>
              <a:ext uri="{FF2B5EF4-FFF2-40B4-BE49-F238E27FC236}">
                <a16:creationId xmlns:a16="http://schemas.microsoft.com/office/drawing/2014/main" id="{1EC0F348-2D30-7AC1-3CE0-4197AE9882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5188" y="3429000"/>
            <a:ext cx="5327003" cy="400892"/>
          </a:xfrm>
          <a:prstGeom prst="rect">
            <a:avLst/>
          </a:prstGeom>
        </p:spPr>
      </p:pic>
      <p:pic>
        <p:nvPicPr>
          <p:cNvPr id="52" name="Picture 51">
            <a:extLst>
              <a:ext uri="{FF2B5EF4-FFF2-40B4-BE49-F238E27FC236}">
                <a16:creationId xmlns:a16="http://schemas.microsoft.com/office/drawing/2014/main" id="{851558A9-F831-677E-BB04-1C0F9AD971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5089" y="2894401"/>
            <a:ext cx="5327003" cy="400892"/>
          </a:xfrm>
          <a:prstGeom prst="rect">
            <a:avLst/>
          </a:prstGeom>
        </p:spPr>
      </p:pic>
      <p:pic>
        <p:nvPicPr>
          <p:cNvPr id="54" name="Picture 53">
            <a:extLst>
              <a:ext uri="{FF2B5EF4-FFF2-40B4-BE49-F238E27FC236}">
                <a16:creationId xmlns:a16="http://schemas.microsoft.com/office/drawing/2014/main" id="{FCCD5C17-9FCF-9090-0510-5284D0FCF1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05563" y="2684422"/>
            <a:ext cx="3612283" cy="1221741"/>
          </a:xfrm>
          <a:prstGeom prst="rect">
            <a:avLst/>
          </a:prstGeom>
        </p:spPr>
      </p:pic>
    </p:spTree>
    <p:extLst>
      <p:ext uri="{BB962C8B-B14F-4D97-AF65-F5344CB8AC3E}">
        <p14:creationId xmlns:p14="http://schemas.microsoft.com/office/powerpoint/2010/main" val="1502775014"/>
      </p:ext>
    </p:extLst>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7606</TotalTime>
  <Words>2849</Words>
  <Application>Microsoft Macintosh PowerPoint</Application>
  <PresentationFormat>Widescreen</PresentationFormat>
  <Paragraphs>498</Paragraphs>
  <Slides>43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Courier New</vt:lpstr>
      <vt:lpstr>Helvetica</vt:lpstr>
      <vt:lpstr>Montserrat Semi</vt:lpstr>
      <vt:lpstr>Verdana</vt:lpstr>
      <vt:lpstr>Office Theme</vt:lpstr>
      <vt:lpstr>PowerPoint Presentation</vt:lpstr>
      <vt:lpstr>LECTURE LEARNING OUTCOME</vt:lpstr>
      <vt:lpstr>PowerPoint Presentation</vt:lpstr>
      <vt:lpstr>Introduction to DBMS</vt:lpstr>
      <vt:lpstr>Structured Query Language</vt:lpstr>
      <vt:lpstr>Data Definition Language (DDL)</vt:lpstr>
      <vt:lpstr>Integrity Enhancement Feature</vt:lpstr>
      <vt:lpstr>Data Integrity Constraints</vt:lpstr>
      <vt:lpstr>Constraint Guidelines (1)</vt:lpstr>
      <vt:lpstr>Constraint Guidelines (2)</vt:lpstr>
      <vt:lpstr>Dealing with Tables</vt:lpstr>
      <vt:lpstr>Creating Tables</vt:lpstr>
      <vt:lpstr>Common SQL Data Type</vt:lpstr>
      <vt:lpstr>Example (CREATE TABLE)</vt:lpstr>
      <vt:lpstr>CREATE TABLE without constraint</vt:lpstr>
      <vt:lpstr>Example (CREATE TABLE)  without constraint</vt:lpstr>
      <vt:lpstr>CREATE TABLE  (WITH CONSTRAINTS AT COLUMN LEVEL)</vt:lpstr>
      <vt:lpstr>CREATE TABLE  (WITH CONSTRAINTS AT TABLE LEVEL)</vt:lpstr>
      <vt:lpstr>PRIMARY KEY Constraint</vt:lpstr>
      <vt:lpstr>Example (CREATE TABLE) with constraints</vt:lpstr>
      <vt:lpstr>UNIQUE Constraint</vt:lpstr>
      <vt:lpstr>CHECK Constraint</vt:lpstr>
      <vt:lpstr>FOREIGN KEY Constraint</vt:lpstr>
      <vt:lpstr>FOREIGN KEY Constraint: Keywords</vt:lpstr>
      <vt:lpstr>Example (CREATE TABLE) with constraints NOT NULL Constraints</vt:lpstr>
      <vt:lpstr>Altering Tables</vt:lpstr>
      <vt:lpstr>Altering Tables</vt:lpstr>
      <vt:lpstr>ALTER TABLE - Examples</vt:lpstr>
      <vt:lpstr>ALTER TABLE - Examples</vt:lpstr>
      <vt:lpstr>Example (ALTER TABLE)</vt:lpstr>
      <vt:lpstr>Examples (ALTER TABLE)</vt:lpstr>
      <vt:lpstr>Deleting Table</vt:lpstr>
      <vt:lpstr>To CREATE a Database</vt:lpstr>
      <vt:lpstr>To Use a specific Database</vt:lpstr>
      <vt:lpstr>To DELETE a Database</vt:lpstr>
      <vt:lpstr>VIEW TABLE STRUCTURE DESCRIBE</vt:lpstr>
      <vt:lpstr>CREATE TABLE FROM EXISTING TABLES  (using AS – does not copy constraints)</vt:lpstr>
      <vt:lpstr>CREATE TABLE FROM EXISTING TABLES  (using LIKE – copy with constraints)</vt:lpstr>
      <vt:lpstr>Exercise</vt:lpstr>
      <vt:lpstr>Exercise</vt:lpstr>
      <vt:lpstr>ANSWER</vt:lpstr>
      <vt:lpstr>ANSWER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HASLINA BINTI HASHIM</cp:lastModifiedBy>
  <cp:revision>72</cp:revision>
  <dcterms:created xsi:type="dcterms:W3CDTF">2023-12-31T03:09:43Z</dcterms:created>
  <dcterms:modified xsi:type="dcterms:W3CDTF">2024-11-02T12:10:37Z</dcterms:modified>
</cp:coreProperties>
</file>