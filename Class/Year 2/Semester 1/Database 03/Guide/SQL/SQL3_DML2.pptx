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6858000" cx="9144000"/>
  <p:notesSz cx="6858000" cy="9144000"/>
  <p:embeddedFontLst>
    <p:embeddedFont>
      <p:font typeface="Constantia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g6/scE9vC8kGgmnBSqfmIGqBB9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2F1596-83C7-4EE0-B65B-82E37BD4DA08}">
  <a:tblStyle styleId="{422F1596-83C7-4EE0-B65B-82E37BD4DA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DBF5548-D2FA-44EF-BD8F-C0AFF3301EE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nstantia-regular.fntdata"/><Relationship Id="rId47" Type="http://schemas.openxmlformats.org/officeDocument/2006/relationships/slide" Target="slides/slide42.xml"/><Relationship Id="rId49" Type="http://schemas.openxmlformats.org/officeDocument/2006/relationships/font" Target="fonts/Constanti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onstantia-boldItalic.fntdata"/><Relationship Id="rId50" Type="http://schemas.openxmlformats.org/officeDocument/2006/relationships/font" Target="fonts/Constantia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2A2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job_id, sum(salary) payroll from employees where job_id not like ‘%REP%' group by job_id having sum(salary) &gt; 13000 order by sum(salary);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select job_id, sum(salary) payroll from employees where job_id not like ‘%REP%' group by job_id having sum(salary) &gt; 13000 order by payroll;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department_id, avg(salary) from employees group by department_id having avg(salary) &gt; 8000;</a:t>
            </a:r>
            <a:endParaRPr/>
          </a:p>
        </p:txBody>
      </p:sp>
      <p:sp>
        <p:nvSpPr>
          <p:cNvPr id="580" name="Google Shape;58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select department_id, avg(salary) from employees group by department_id;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select department_id, avg(salary) from employees group by department_id having avg(salary) &gt; 8000;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cover pag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4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211027" y="-211028"/>
            <a:ext cx="6880030" cy="7302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4"/>
          <p:cNvPicPr preferRelativeResize="0"/>
          <p:nvPr/>
        </p:nvPicPr>
        <p:blipFill rotWithShape="1">
          <a:blip r:embed="rId3">
            <a:alphaModFix amt="99000"/>
          </a:blip>
          <a:srcRect b="0" l="0" r="0" t="0"/>
          <a:stretch/>
        </p:blipFill>
        <p:spPr>
          <a:xfrm flipH="1">
            <a:off x="44320" y="0"/>
            <a:ext cx="9055360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4"/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4"/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www.utm.my</a:t>
            </a:r>
            <a:endParaRPr b="1" i="0" sz="825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" name="Google Shape;23;p4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" name="Google Shape;25;p4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45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1270"/>
            <a:ext cx="9055360" cy="3109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5"/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p45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3" name="Google Shape;33;p45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5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6"/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6"/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45;p46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46" name="Google Shape;46;p46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46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47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1270"/>
            <a:ext cx="9055360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47"/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55" name="Google Shape;55;p47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7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" name="Google Shape;5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7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59" name="Google Shape;59;p47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7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48"/>
          <p:cNvCxnSpPr/>
          <p:nvPr/>
        </p:nvCxnSpPr>
        <p:spPr>
          <a:xfrm>
            <a:off x="-9525" y="1016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9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8" name="Google Shape;68;p4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49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1270"/>
            <a:ext cx="9055360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49"/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73" name="Google Shape;73;p49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49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5" name="Google Shape;7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49"/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77" name="Google Shape;77;p49"/>
            <p:cNvSpPr/>
            <p:nvPr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9"/>
            <p:cNvSpPr/>
            <p:nvPr/>
          </p:nvSpPr>
          <p:spPr>
            <a:xfrm flipH="1" rot="10800000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49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80" name="Google Shape;80;p49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49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5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0"/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50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3" name="Google Shape;93;p50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0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51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2" name="Google Shape;102;p5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51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7" name="Google Shape;107;p5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8" name="Google Shape;108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3534946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2"/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2"/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52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16" name="Google Shape;116;p5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52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5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2" name="Google Shape;122;p5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5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5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1" name="Google Shape;141;p56"/>
          <p:cNvGrpSpPr/>
          <p:nvPr/>
        </p:nvGrpSpPr>
        <p:grpSpPr>
          <a:xfrm>
            <a:off x="0" y="0"/>
            <a:ext cx="3552108" cy="7783867"/>
            <a:chOff x="0" y="0"/>
            <a:chExt cx="4736144" cy="7783867"/>
          </a:xfrm>
        </p:grpSpPr>
        <p:pic>
          <p:nvPicPr>
            <p:cNvPr id="142" name="Google Shape;142;p5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3118649" cy="4463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56"/>
            <p:cNvSpPr/>
            <p:nvPr/>
          </p:nvSpPr>
          <p:spPr>
            <a:xfrm rot="8446488">
              <a:off x="1155879" y="3069975"/>
              <a:ext cx="2214654" cy="3120244"/>
            </a:xfrm>
            <a:prstGeom prst="parallelogram">
              <a:avLst>
                <a:gd fmla="val 25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56"/>
            <p:cNvSpPr/>
            <p:nvPr/>
          </p:nvSpPr>
          <p:spPr>
            <a:xfrm rot="8446488">
              <a:off x="2539020" y="5497285"/>
              <a:ext cx="1784436" cy="1941063"/>
            </a:xfrm>
            <a:custGeom>
              <a:rect b="b" l="l" r="r" t="t"/>
              <a:pathLst>
                <a:path extrusionOk="0" h="1941063" w="1784436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5" name="Google Shape;14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94748" y="-1062392"/>
            <a:ext cx="1803810" cy="3385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6"/>
          <p:cNvPicPr preferRelativeResize="0"/>
          <p:nvPr/>
        </p:nvPicPr>
        <p:blipFill rotWithShape="1">
          <a:blip r:embed="rId4">
            <a:alphaModFix amt="99000"/>
          </a:blip>
          <a:srcRect b="0" l="0" r="0" t="0"/>
          <a:stretch/>
        </p:blipFill>
        <p:spPr>
          <a:xfrm flipH="1" rot="-5400000">
            <a:off x="-2832572" y="2842942"/>
            <a:ext cx="7046892" cy="1361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12409" y="3743463"/>
            <a:ext cx="1560526" cy="297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320140" y="6145600"/>
            <a:ext cx="419100" cy="592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57"/>
          <p:cNvPicPr preferRelativeResize="0"/>
          <p:nvPr/>
        </p:nvPicPr>
        <p:blipFill rotWithShape="1">
          <a:blip r:embed="rId2">
            <a:alphaModFix/>
          </a:blip>
          <a:srcRect b="7973" l="0" r="0" t="2633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7"/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rgbClr val="6C1D35">
                  <a:alpha val="67843"/>
                </a:srgbClr>
              </a:gs>
              <a:gs pos="12000">
                <a:srgbClr val="6C1D35">
                  <a:alpha val="67843"/>
                </a:srgbClr>
              </a:gs>
              <a:gs pos="77000">
                <a:srgbClr val="2F5496"/>
              </a:gs>
              <a:gs pos="100000">
                <a:srgbClr val="2F5496"/>
              </a:gs>
            </a:gsLst>
            <a:lin ang="13500000" scaled="0"/>
          </a:gra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5" name="Google Shape;15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5334000" y="-35081"/>
            <a:ext cx="3688080" cy="6921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451197" y="349094"/>
            <a:ext cx="1507527" cy="282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page">
  <p:cSld name="end page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8"/>
          <p:cNvSpPr/>
          <p:nvPr/>
        </p:nvSpPr>
        <p:spPr>
          <a:xfrm>
            <a:off x="0" y="-1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58"/>
          <p:cNvPicPr preferRelativeResize="0"/>
          <p:nvPr/>
        </p:nvPicPr>
        <p:blipFill rotWithShape="1">
          <a:blip r:embed="rId2">
            <a:alphaModFix amt="32000"/>
          </a:blip>
          <a:srcRect b="0" l="20647" r="0" t="0"/>
          <a:stretch/>
        </p:blipFill>
        <p:spPr>
          <a:xfrm rot="-5400000">
            <a:off x="1157288" y="-1157288"/>
            <a:ext cx="6858000" cy="917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59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70" name="Google Shape;170;p59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9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59"/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9"/>
          <p:cNvSpPr txBox="1"/>
          <p:nvPr>
            <p:ph type="title"/>
          </p:nvPr>
        </p:nvSpPr>
        <p:spPr>
          <a:xfrm>
            <a:off x="628648" y="78105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1270"/>
            <a:ext cx="5334040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83591"/>
            <a:ext cx="1101125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60"/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81" name="Google Shape;181;p60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0"/>
            <p:cNvSpPr txBox="1"/>
            <p:nvPr/>
          </p:nvSpPr>
          <p:spPr>
            <a:xfrm rot="-5400000">
              <a:off x="-565324" y="5562781"/>
              <a:ext cx="1377301" cy="292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5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25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60"/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0"/>
          <p:cNvSpPr txBox="1"/>
          <p:nvPr>
            <p:ph type="title"/>
          </p:nvPr>
        </p:nvSpPr>
        <p:spPr>
          <a:xfrm>
            <a:off x="628648" y="78105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9.png"/><Relationship Id="rId4" Type="http://schemas.openxmlformats.org/officeDocument/2006/relationships/image" Target="../media/image3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/>
          <p:nvPr/>
        </p:nvSpPr>
        <p:spPr>
          <a:xfrm>
            <a:off x="1295775" y="3216670"/>
            <a:ext cx="62580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SQL 3 | DML 2</a:t>
            </a:r>
            <a:endParaRPr/>
          </a:p>
        </p:txBody>
      </p:sp>
      <p:sp>
        <p:nvSpPr>
          <p:cNvPr id="190" name="Google Shape;190;p1"/>
          <p:cNvSpPr txBox="1"/>
          <p:nvPr/>
        </p:nvSpPr>
        <p:spPr>
          <a:xfrm>
            <a:off x="1248727" y="2524173"/>
            <a:ext cx="8222726" cy="715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rPr>
              <a:t>SECD2523 DATABASE </a:t>
            </a:r>
            <a:endParaRPr/>
          </a:p>
        </p:txBody>
      </p:sp>
      <p:pic>
        <p:nvPicPr>
          <p:cNvPr id="191" name="Google Shape;1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5362" y="1306887"/>
            <a:ext cx="1687055" cy="56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3822" y="5621956"/>
            <a:ext cx="1602578" cy="120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LECTURE LEARNING OUTCOME</a:t>
            </a:r>
            <a:endParaRPr/>
          </a:p>
        </p:txBody>
      </p:sp>
      <p:grpSp>
        <p:nvGrpSpPr>
          <p:cNvPr id="198" name="Google Shape;198;p2"/>
          <p:cNvGrpSpPr/>
          <p:nvPr/>
        </p:nvGrpSpPr>
        <p:grpSpPr>
          <a:xfrm>
            <a:off x="567123" y="2349187"/>
            <a:ext cx="8117798" cy="623822"/>
            <a:chOff x="531658" y="2405747"/>
            <a:chExt cx="10823730" cy="831763"/>
          </a:xfrm>
        </p:grpSpPr>
        <p:sp>
          <p:nvSpPr>
            <p:cNvPr id="199" name="Google Shape;199;p2"/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"/>
            <p:cNvSpPr txBox="1"/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01" name="Google Shape;201;p2"/>
            <p:cNvSpPr txBox="1"/>
            <p:nvPr/>
          </p:nvSpPr>
          <p:spPr>
            <a:xfrm>
              <a:off x="1497254" y="2603728"/>
              <a:ext cx="9469053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Write DML statements that uses the followings:</a:t>
              </a:r>
              <a:endParaRPr/>
            </a:p>
          </p:txBody>
        </p:sp>
      </p:grpSp>
      <p:pic>
        <p:nvPicPr>
          <p:cNvPr id="202" name="Google Shape;2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4" y="5802954"/>
            <a:ext cx="1463448" cy="11013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"/>
          <p:cNvSpPr txBox="1"/>
          <p:nvPr/>
        </p:nvSpPr>
        <p:spPr>
          <a:xfrm>
            <a:off x="551645" y="2010859"/>
            <a:ext cx="4587765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students should be able to: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567123" y="3007572"/>
            <a:ext cx="8117798" cy="623822"/>
          </a:xfrm>
          <a:prstGeom prst="roundRect">
            <a:avLst>
              <a:gd fmla="val 16667" name="adj"/>
            </a:avLst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"/>
          <p:cNvSpPr txBox="1"/>
          <p:nvPr/>
        </p:nvSpPr>
        <p:spPr>
          <a:xfrm>
            <a:off x="1306799" y="3048046"/>
            <a:ext cx="710179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 BY</a:t>
            </a:r>
            <a:endParaRPr/>
          </a:p>
        </p:txBody>
      </p:sp>
      <p:grpSp>
        <p:nvGrpSpPr>
          <p:cNvPr id="206" name="Google Shape;206;p2"/>
          <p:cNvGrpSpPr/>
          <p:nvPr/>
        </p:nvGrpSpPr>
        <p:grpSpPr>
          <a:xfrm>
            <a:off x="551645" y="3312345"/>
            <a:ext cx="8117798" cy="980719"/>
            <a:chOff x="531658" y="1929885"/>
            <a:chExt cx="10823730" cy="1307625"/>
          </a:xfrm>
        </p:grpSpPr>
        <p:sp>
          <p:nvSpPr>
            <p:cNvPr id="207" name="Google Shape;207;p2"/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>
                <a:gd fmla="val 16667" name="adj"/>
              </a:avLst>
            </a:prstGeom>
            <a:solidFill>
              <a:srgbClr val="95625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"/>
            <p:cNvSpPr txBox="1"/>
            <p:nvPr/>
          </p:nvSpPr>
          <p:spPr>
            <a:xfrm>
              <a:off x="1538529" y="1929885"/>
              <a:ext cx="9469053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COUNT, SUM, AVG, MIN, MAX</a:t>
              </a:r>
              <a:endParaRPr/>
            </a:p>
          </p:txBody>
        </p:sp>
      </p:grpSp>
      <p:grpSp>
        <p:nvGrpSpPr>
          <p:cNvPr id="209" name="Google Shape;209;p2"/>
          <p:cNvGrpSpPr/>
          <p:nvPr/>
        </p:nvGrpSpPr>
        <p:grpSpPr>
          <a:xfrm>
            <a:off x="551645" y="3681070"/>
            <a:ext cx="8117798" cy="1273488"/>
            <a:chOff x="531658" y="1539526"/>
            <a:chExt cx="10823730" cy="1697984"/>
          </a:xfrm>
        </p:grpSpPr>
        <p:sp>
          <p:nvSpPr>
            <p:cNvPr id="210" name="Google Shape;210;p2"/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"/>
            <p:cNvSpPr txBox="1"/>
            <p:nvPr/>
          </p:nvSpPr>
          <p:spPr>
            <a:xfrm>
              <a:off x="1496629" y="1539526"/>
              <a:ext cx="9469053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GROUP BY</a:t>
              </a:r>
              <a:endParaRPr/>
            </a:p>
          </p:txBody>
        </p:sp>
      </p:grpSp>
      <p:sp>
        <p:nvSpPr>
          <p:cNvPr id="212" name="Google Shape;212;p2"/>
          <p:cNvSpPr txBox="1"/>
          <p:nvPr/>
        </p:nvSpPr>
        <p:spPr>
          <a:xfrm>
            <a:off x="1291320" y="3970212"/>
            <a:ext cx="710179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HAVING</a:t>
            </a:r>
            <a:endParaRPr/>
          </a:p>
        </p:txBody>
      </p:sp>
      <p:sp>
        <p:nvSpPr>
          <p:cNvPr id="213" name="Google Shape;213;p2"/>
          <p:cNvSpPr txBox="1"/>
          <p:nvPr/>
        </p:nvSpPr>
        <p:spPr>
          <a:xfrm>
            <a:off x="627459" y="4482991"/>
            <a:ext cx="679340" cy="364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14" name="Google Shape;214;p2"/>
          <p:cNvSpPr txBox="1"/>
          <p:nvPr/>
        </p:nvSpPr>
        <p:spPr>
          <a:xfrm>
            <a:off x="1275372" y="4498968"/>
            <a:ext cx="710179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Subqueries</a:t>
            </a:r>
            <a:endParaRPr/>
          </a:p>
        </p:txBody>
      </p:sp>
      <p:sp>
        <p:nvSpPr>
          <p:cNvPr id="215" name="Google Shape;215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"/>
          <p:cNvSpPr txBox="1"/>
          <p:nvPr>
            <p:ph type="title"/>
          </p:nvPr>
        </p:nvSpPr>
        <p:spPr>
          <a:xfrm>
            <a:off x="254000" y="136524"/>
            <a:ext cx="7567084" cy="864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Before start, our database should have these tables (which have been done in the DML1) as follows:</a:t>
            </a:r>
            <a:endParaRPr/>
          </a:p>
        </p:txBody>
      </p:sp>
      <p:sp>
        <p:nvSpPr>
          <p:cNvPr id="221" name="Google Shape;221;p3"/>
          <p:cNvSpPr txBox="1"/>
          <p:nvPr>
            <p:ph idx="1" type="body"/>
          </p:nvPr>
        </p:nvSpPr>
        <p:spPr>
          <a:xfrm>
            <a:off x="0" y="892174"/>
            <a:ext cx="9143999" cy="5829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create table employees(employee_id int primary key, first_name varchar(50) not null, last_name varchar(50) not null, email varchar(30) not null, department_id int, job_id varchar(10) not null, hire_date timestamp not null, salary decimal(10,2), commission_pct decimal(5,2), manager_id int);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insert into employees values (100,'steven','king','steven_king',90,'ad_pres','2020-02-20',5000,0.24,102);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insert into employees values (101,'neena','kochhar','neena_kochhar',60,'it_prog','2015-02-15',4500,0.35,null);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insert into employees values (102,'lex','de han','lee_dh',90,'ad_vp','2009-10-10',6500,0.44,null);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insert into employees values (103,'adam','fripp','adam',50,'rep','2009-01-10',10500,0.59,null);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insert into employees values (104,'den','kor','den_kor',60,'it_prog','2015-02-15',4500,0.15,null);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insert into employees values (105,'osman','lawrence','osman',80,'pu_clerk','2022-02-22',6705,null,null);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insert into employees values (106,'onto','law','ontolaw',10,'hr','2022-02-22',11705,null,null);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select * from employees;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+-------------+------------+-----------+---------------+---------------+----------+---------------------+----------+----------------+------------+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| employee_id | first_name | last_name | email         | department_id | job_id   | hire_date           | salary   | commission_pct | manager_id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+-------------+------------+-----------+---------------+---------------+----------+---------------------+----------+----------------+------------+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|         100 | steven     | king      | steven_king   |            90 | ad_pres  | 2020-02-20 00:00:00 |  5000.00 |           0.24 |        102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|         101 | neena      | kochhar   | neena_kochhar |            60 | it_prog  | 2015-02-15 00:00:00 |  4500.00 |           0.35 |       NULL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|         102 | lex        | de han    | lee_dh        |            90 | ad_vp    | 2009-10-10 00:00:00 |  6500.00 |           0.44 |       NULL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|         103 | adam       | fripp     | adam          |            50 | rep      | 2009-01-10 00:00:00 | 10500.00 |           0.59 |       NULL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|         104 | den        | kor       | den_kor       |            60 | it_prog  | 2015-02-15 00:00:00 |  4500.00 |           0.15 |       NULL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|         105 | osman      | lawrence  | osman         |            80 | pu_clerk | 2022-02-22 00:00:00 |  6705.00 |           NULL |       NULL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|         106 | onto       | law       | ontolaw       |            10 | hr       | 2022-02-22 00:00:00 | 11705.00 |           NULL |       NULL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+-------------+------------+-----------+---------------+---------------+----------+---------------------+----------+----------------+------------+</a:t>
            </a:r>
            <a:endParaRPr/>
          </a:p>
        </p:txBody>
      </p:sp>
      <p:sp>
        <p:nvSpPr>
          <p:cNvPr id="222" name="Google Shape;222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"/>
          <p:cNvSpPr txBox="1"/>
          <p:nvPr>
            <p:ph type="title"/>
          </p:nvPr>
        </p:nvSpPr>
        <p:spPr>
          <a:xfrm>
            <a:off x="628650" y="2286623"/>
            <a:ext cx="7886700" cy="2284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ORDER BY … ASC</a:t>
            </a:r>
            <a:br>
              <a:rPr lang="en-US"/>
            </a:br>
            <a:br>
              <a:rPr lang="en-US"/>
            </a:br>
            <a:r>
              <a:rPr lang="en-US"/>
              <a:t>ORDER BY … DESC</a:t>
            </a:r>
            <a:endParaRPr/>
          </a:p>
        </p:txBody>
      </p:sp>
      <p:sp>
        <p:nvSpPr>
          <p:cNvPr id="228" name="Google Shape;228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</a:t>
            </a:r>
            <a:r>
              <a:rPr lang="en-US">
                <a:solidFill>
                  <a:srgbClr val="0070C0"/>
                </a:solidFill>
              </a:rPr>
              <a:t>ORDER BY</a:t>
            </a:r>
            <a:endParaRPr/>
          </a:p>
        </p:txBody>
      </p:sp>
      <p:sp>
        <p:nvSpPr>
          <p:cNvPr id="234" name="Google Shape;234;p5"/>
          <p:cNvSpPr txBox="1"/>
          <p:nvPr>
            <p:ph idx="1" type="body"/>
          </p:nvPr>
        </p:nvSpPr>
        <p:spPr>
          <a:xfrm>
            <a:off x="628650" y="2091930"/>
            <a:ext cx="4163786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Purpose: To sort results in ascending (default) ASC or descending DESC order.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List employee salaries in all department, sort by department number in ascending order and by salary in descending order.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6" name="Google Shape;236;p5"/>
          <p:cNvPicPr preferRelativeResize="0"/>
          <p:nvPr/>
        </p:nvPicPr>
        <p:blipFill rotWithShape="1">
          <a:blip r:embed="rId3">
            <a:alphaModFix/>
          </a:blip>
          <a:srcRect b="22567" l="23536" r="53958" t="29486"/>
          <a:stretch/>
        </p:blipFill>
        <p:spPr>
          <a:xfrm>
            <a:off x="4890101" y="2238931"/>
            <a:ext cx="2869203" cy="2880203"/>
          </a:xfrm>
          <a:prstGeom prst="rect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237" name="Google Shape;237;p5"/>
          <p:cNvCxnSpPr/>
          <p:nvPr/>
        </p:nvCxnSpPr>
        <p:spPr>
          <a:xfrm>
            <a:off x="7005181" y="3119306"/>
            <a:ext cx="0" cy="109169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8" name="Google Shape;238;p5"/>
          <p:cNvCxnSpPr/>
          <p:nvPr/>
        </p:nvCxnSpPr>
        <p:spPr>
          <a:xfrm rot="10800000">
            <a:off x="5372099" y="3004630"/>
            <a:ext cx="0" cy="113324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9" name="Google Shape;239;p5"/>
          <p:cNvSpPr/>
          <p:nvPr/>
        </p:nvSpPr>
        <p:spPr>
          <a:xfrm>
            <a:off x="4856444" y="1607452"/>
            <a:ext cx="1031309" cy="567716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Ascending by default</a:t>
            </a:r>
            <a:endParaRPr b="1"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6585326" y="1297801"/>
            <a:ext cx="1308019" cy="865841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Descending order for each department</a:t>
            </a:r>
            <a:endParaRPr b="1"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956930" y="5225272"/>
            <a:ext cx="3657933" cy="92333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department_id, employee_id, salary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b="0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department_id,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salary 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DESC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</a:t>
            </a:r>
            <a:r>
              <a:rPr lang="en-US">
                <a:solidFill>
                  <a:srgbClr val="0070C0"/>
                </a:solidFill>
              </a:rPr>
              <a:t>ORDER BY</a:t>
            </a:r>
            <a:endParaRPr/>
          </a:p>
        </p:txBody>
      </p:sp>
      <p:sp>
        <p:nvSpPr>
          <p:cNvPr id="247" name="Google Shape;247;p6"/>
          <p:cNvSpPr txBox="1"/>
          <p:nvPr>
            <p:ph idx="1" type="body"/>
          </p:nvPr>
        </p:nvSpPr>
        <p:spPr>
          <a:xfrm>
            <a:off x="542260" y="1572808"/>
            <a:ext cx="4029740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Display a sorted list of employee salaries in ascending order with salary column header as EMP_SALARY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781875" y="3813129"/>
            <a:ext cx="4325700" cy="9603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department_id, employee_id, salary emp_salary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ORDER BY 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emp_salary;</a:t>
            </a:r>
            <a:endParaRPr/>
          </a:p>
        </p:txBody>
      </p:sp>
      <p:pic>
        <p:nvPicPr>
          <p:cNvPr id="250" name="Google Shape;250;p6"/>
          <p:cNvPicPr preferRelativeResize="0"/>
          <p:nvPr/>
        </p:nvPicPr>
        <p:blipFill rotWithShape="1">
          <a:blip r:embed="rId3">
            <a:alphaModFix/>
          </a:blip>
          <a:srcRect b="23000" l="23743" r="49374" t="28000"/>
          <a:stretch/>
        </p:blipFill>
        <p:spPr>
          <a:xfrm>
            <a:off x="5338416" y="2102645"/>
            <a:ext cx="2512175" cy="287080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6"/>
          <p:cNvSpPr/>
          <p:nvPr/>
        </p:nvSpPr>
        <p:spPr>
          <a:xfrm>
            <a:off x="3538330" y="3813114"/>
            <a:ext cx="1446981" cy="295060"/>
          </a:xfrm>
          <a:prstGeom prst="rect">
            <a:avLst/>
          </a:prstGeom>
          <a:solidFill>
            <a:srgbClr val="FFFF00">
              <a:alpha val="29803"/>
            </a:srgbClr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158740" y="4919311"/>
            <a:ext cx="1953962" cy="76229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will </a:t>
            </a:r>
            <a:r>
              <a:rPr b="1" lang="en-US" sz="135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rename</a:t>
            </a:r>
            <a:r>
              <a:rPr b="1"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display of column name in </a:t>
            </a:r>
            <a:r>
              <a:rPr b="1" lang="en-US" sz="135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output ONLY</a:t>
            </a:r>
            <a:endParaRPr b="1" sz="135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6"/>
          <p:cNvCxnSpPr>
            <a:endCxn id="251" idx="2"/>
          </p:cNvCxnSpPr>
          <p:nvPr/>
        </p:nvCxnSpPr>
        <p:spPr>
          <a:xfrm rot="10800000">
            <a:off x="4261821" y="4108174"/>
            <a:ext cx="723600" cy="5634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4" name="Google Shape;254;p6"/>
          <p:cNvCxnSpPr/>
          <p:nvPr/>
        </p:nvCxnSpPr>
        <p:spPr>
          <a:xfrm flipH="1" rot="10800000">
            <a:off x="5107489" y="2707970"/>
            <a:ext cx="1794353" cy="2211341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 txBox="1"/>
          <p:nvPr>
            <p:ph type="title"/>
          </p:nvPr>
        </p:nvSpPr>
        <p:spPr>
          <a:xfrm>
            <a:off x="628650" y="2286623"/>
            <a:ext cx="7886700" cy="2284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TRUNCATE(…,…)</a:t>
            </a:r>
            <a:br>
              <a:rPr lang="en-US"/>
            </a:br>
            <a:br>
              <a:rPr lang="en-US"/>
            </a:br>
            <a:r>
              <a:rPr lang="en-US"/>
              <a:t>ROUND(…,…)</a:t>
            </a:r>
            <a:endParaRPr/>
          </a:p>
        </p:txBody>
      </p:sp>
      <p:sp>
        <p:nvSpPr>
          <p:cNvPr id="260" name="Google Shape;260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Numeric Functions</a:t>
            </a:r>
            <a:endParaRPr/>
          </a:p>
        </p:txBody>
      </p:sp>
      <p:sp>
        <p:nvSpPr>
          <p:cNvPr id="266" name="Google Shape;266;p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0E3E"/>
              </a:buClr>
              <a:buSzPts val="2800"/>
              <a:buChar char="•"/>
            </a:pPr>
            <a:r>
              <a:rPr b="1" lang="en-US">
                <a:solidFill>
                  <a:srgbClr val="830E3E"/>
                </a:solidFill>
              </a:rPr>
              <a:t>ROUND</a:t>
            </a:r>
            <a:r>
              <a:rPr lang="en-US"/>
              <a:t>: Rounds value to specified decimal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0E3E"/>
              </a:buClr>
              <a:buSzPts val="2800"/>
              <a:buChar char="•"/>
            </a:pPr>
            <a:r>
              <a:rPr b="1" lang="en-US">
                <a:solidFill>
                  <a:srgbClr val="830E3E"/>
                </a:solidFill>
              </a:rPr>
              <a:t>TRUNCATE</a:t>
            </a:r>
            <a:r>
              <a:rPr lang="en-US"/>
              <a:t>: Truncates value to specified decimal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0E3E"/>
              </a:buClr>
              <a:buSzPts val="2800"/>
              <a:buChar char="•"/>
            </a:pPr>
            <a:r>
              <a:rPr b="1" lang="en-US">
                <a:solidFill>
                  <a:srgbClr val="830E3E"/>
                </a:solidFill>
              </a:rPr>
              <a:t>MOD</a:t>
            </a:r>
            <a:r>
              <a:rPr lang="en-US"/>
              <a:t>: Returns remainder of division (modulus)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68" name="Google Shape;268;p8"/>
          <p:cNvGraphicFramePr/>
          <p:nvPr/>
        </p:nvGraphicFramePr>
        <p:xfrm>
          <a:off x="9144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{422F1596-83C7-4EE0-B65B-82E37BD4DA08}</a:tableStyleId>
              </a:tblPr>
              <a:tblGrid>
                <a:gridCol w="5744625"/>
                <a:gridCol w="1597100"/>
              </a:tblGrid>
              <a:tr h="496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7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ROUND(45.926, 2)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0" baseline="3000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parameter: the value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baseline="3000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parameter: number of decimal places to round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45.93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77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TRUNCATE(45.926, 2)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0" baseline="3000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parameter: the value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baseline="3000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parameter: number of decimal places to truncate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45.92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MOD(1600, 300)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Using </a:t>
            </a:r>
            <a:r>
              <a:rPr b="1" lang="en-US" sz="3200">
                <a:solidFill>
                  <a:srgbClr val="0070C0"/>
                </a:solidFill>
              </a:rPr>
              <a:t>TRUNCATE</a:t>
            </a:r>
            <a:r>
              <a:rPr b="1" lang="en-US" sz="3200"/>
              <a:t> (MySQL)</a:t>
            </a:r>
            <a:endParaRPr/>
          </a:p>
        </p:txBody>
      </p:sp>
      <p:sp>
        <p:nvSpPr>
          <p:cNvPr id="275" name="Google Shape;275;p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of using </a:t>
            </a:r>
            <a:r>
              <a:rPr b="1" lang="en-US">
                <a:solidFill>
                  <a:srgbClr val="830E3E"/>
                </a:solidFill>
              </a:rPr>
              <a:t>TRUNCATE</a:t>
            </a:r>
            <a:r>
              <a:rPr lang="en-US"/>
              <a:t>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7" name="Google Shape;277;p9"/>
          <p:cNvPicPr preferRelativeResize="0"/>
          <p:nvPr/>
        </p:nvPicPr>
        <p:blipFill rotWithShape="1">
          <a:blip r:embed="rId3">
            <a:alphaModFix/>
          </a:blip>
          <a:srcRect b="17331" l="0" r="0" t="0"/>
          <a:stretch/>
        </p:blipFill>
        <p:spPr>
          <a:xfrm>
            <a:off x="6078219" y="2156670"/>
            <a:ext cx="1250699" cy="1494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9"/>
          <p:cNvPicPr preferRelativeResize="0"/>
          <p:nvPr/>
        </p:nvPicPr>
        <p:blipFill rotWithShape="1">
          <a:blip r:embed="rId4">
            <a:alphaModFix/>
          </a:blip>
          <a:srcRect b="7403" l="0" r="0" t="0"/>
          <a:stretch/>
        </p:blipFill>
        <p:spPr>
          <a:xfrm>
            <a:off x="6136957" y="4134434"/>
            <a:ext cx="1133225" cy="142935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 txBox="1"/>
          <p:nvPr/>
        </p:nvSpPr>
        <p:spPr>
          <a:xfrm>
            <a:off x="6248346" y="1869987"/>
            <a:ext cx="1328505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b="1" lang="en-US" sz="135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TRUNCATE</a:t>
            </a:r>
            <a:endParaRPr b="1" sz="1350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6196745" y="3790950"/>
            <a:ext cx="106099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data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839434" y="4315948"/>
            <a:ext cx="3726521" cy="92333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commission_pct</a:t>
            </a:r>
            <a:endParaRPr b="1" i="0" sz="1350" u="none" cap="none" strike="noStrike">
              <a:solidFill>
                <a:srgbClr val="E2A2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commission_pct</a:t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IS NOT NULL; 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1717967" y="4038949"/>
            <a:ext cx="2624373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normally without truncate: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689601" y="2847145"/>
            <a:ext cx="296333" cy="2903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687422" y="4620896"/>
            <a:ext cx="296333" cy="2903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733900" y="2571776"/>
            <a:ext cx="4850400" cy="120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MySQL: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TRUNCATE</a:t>
            </a:r>
            <a:r>
              <a:rPr b="0" i="0" lang="en-US" sz="18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commission_pct, 1</a:t>
            </a:r>
            <a:r>
              <a:rPr b="1" i="0" lang="en-US" sz="18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) FROM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 </a:t>
            </a:r>
            <a:r>
              <a:rPr b="1" i="0" lang="en-US" sz="18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commission_pct </a:t>
            </a:r>
            <a:r>
              <a:rPr b="1" i="0" lang="en-US" sz="18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IS NOT NULL;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</a:t>
            </a:r>
            <a:r>
              <a:rPr lang="en-US">
                <a:solidFill>
                  <a:srgbClr val="0070C0"/>
                </a:solidFill>
              </a:rPr>
              <a:t>ROUND</a:t>
            </a:r>
            <a:endParaRPr/>
          </a:p>
        </p:txBody>
      </p:sp>
      <p:sp>
        <p:nvSpPr>
          <p:cNvPr id="291" name="Google Shape;291;p1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of using </a:t>
            </a:r>
            <a:r>
              <a:rPr b="1" lang="en-US">
                <a:solidFill>
                  <a:srgbClr val="830E3E"/>
                </a:solidFill>
              </a:rPr>
              <a:t>ROUND</a:t>
            </a:r>
            <a:r>
              <a:rPr lang="en-US"/>
              <a:t>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839434" y="2528754"/>
            <a:ext cx="3726521" cy="92333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ROUND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commission_pct, 1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commission_pct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IS NOT NULL; </a:t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1839434" y="4315948"/>
            <a:ext cx="3726521" cy="92333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commission_pct</a:t>
            </a:r>
            <a:endParaRPr b="1" i="0" sz="1350" u="none" cap="none" strike="noStrike">
              <a:solidFill>
                <a:srgbClr val="E2A2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commission_pct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IS NOT NULL; </a:t>
            </a:r>
            <a:endParaRPr/>
          </a:p>
        </p:txBody>
      </p:sp>
      <p:sp>
        <p:nvSpPr>
          <p:cNvPr id="295" name="Google Shape;295;p10"/>
          <p:cNvSpPr txBox="1"/>
          <p:nvPr/>
        </p:nvSpPr>
        <p:spPr>
          <a:xfrm>
            <a:off x="1717968" y="4038949"/>
            <a:ext cx="2563459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normally without ROUND: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689601" y="2847145"/>
            <a:ext cx="296333" cy="2903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687422" y="4620896"/>
            <a:ext cx="296333" cy="2903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10"/>
          <p:cNvPicPr preferRelativeResize="0"/>
          <p:nvPr/>
        </p:nvPicPr>
        <p:blipFill rotWithShape="1">
          <a:blip r:embed="rId3">
            <a:alphaModFix/>
          </a:blip>
          <a:srcRect b="14810" l="0" r="0" t="0"/>
          <a:stretch/>
        </p:blipFill>
        <p:spPr>
          <a:xfrm>
            <a:off x="6067985" y="3956142"/>
            <a:ext cx="1461528" cy="16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 txBox="1"/>
          <p:nvPr/>
        </p:nvSpPr>
        <p:spPr>
          <a:xfrm>
            <a:off x="5992923" y="1594968"/>
            <a:ext cx="111594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b="1" lang="en-US" sz="135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ROUND</a:t>
            </a:r>
            <a:endParaRPr b="1" sz="1350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5992922" y="3661629"/>
            <a:ext cx="1099468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data 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7986" y="1914314"/>
            <a:ext cx="1321778" cy="1729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 txBox="1"/>
          <p:nvPr>
            <p:ph type="title"/>
          </p:nvPr>
        </p:nvSpPr>
        <p:spPr>
          <a:xfrm>
            <a:off x="628650" y="365126"/>
            <a:ext cx="71945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Compare </a:t>
            </a:r>
            <a:r>
              <a:rPr lang="en-US">
                <a:solidFill>
                  <a:srgbClr val="0070C0"/>
                </a:solidFill>
              </a:rPr>
              <a:t>ROUND</a:t>
            </a:r>
            <a:r>
              <a:rPr lang="en-US"/>
              <a:t>, </a:t>
            </a:r>
            <a:r>
              <a:rPr lang="en-US">
                <a:solidFill>
                  <a:srgbClr val="0070C0"/>
                </a:solidFill>
              </a:rPr>
              <a:t>TRUNCATE</a:t>
            </a:r>
            <a:r>
              <a:rPr lang="en-US"/>
              <a:t> and normal</a:t>
            </a:r>
            <a:endParaRPr/>
          </a:p>
        </p:txBody>
      </p:sp>
      <p:sp>
        <p:nvSpPr>
          <p:cNvPr id="308" name="Google Shape;308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Execute the SQL statement below to see the difference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0" name="Google Shape;3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843" y="4274044"/>
            <a:ext cx="3063036" cy="160951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 txBox="1"/>
          <p:nvPr/>
        </p:nvSpPr>
        <p:spPr>
          <a:xfrm>
            <a:off x="439925" y="2771872"/>
            <a:ext cx="7572000" cy="107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MySQL: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TRUNCATE</a:t>
            </a:r>
            <a:r>
              <a:rPr b="0" i="0" lang="en-US" sz="16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commission_pct, 1</a:t>
            </a:r>
            <a:r>
              <a:rPr b="1" i="0" lang="en-US" sz="16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1" i="0" lang="en-US" sz="16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ROUND</a:t>
            </a:r>
            <a:r>
              <a:rPr b="1" i="0" lang="en-US" sz="16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commission_pct, 1</a:t>
            </a:r>
            <a:r>
              <a:rPr b="1" i="0" lang="en-US" sz="16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commission_pct</a:t>
            </a:r>
            <a:endParaRPr b="1" i="0" sz="1600" u="none" cap="none" strike="noStrike">
              <a:solidFill>
                <a:srgbClr val="E2A2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 </a:t>
            </a:r>
            <a:r>
              <a:rPr b="1" i="0" lang="en-US" sz="16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commission_pct </a:t>
            </a:r>
            <a:r>
              <a:rPr b="1" i="0" lang="en-US" sz="160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IS NOT NULL;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 txBox="1"/>
          <p:nvPr>
            <p:ph type="title"/>
          </p:nvPr>
        </p:nvSpPr>
        <p:spPr>
          <a:xfrm>
            <a:off x="628650" y="2286623"/>
            <a:ext cx="7886700" cy="2284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AGGREGATE FUNCTIONS</a:t>
            </a:r>
            <a:endParaRPr/>
          </a:p>
        </p:txBody>
      </p:sp>
      <p:sp>
        <p:nvSpPr>
          <p:cNvPr id="317" name="Google Shape;317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Aggregate Functions</a:t>
            </a:r>
            <a:endParaRPr/>
          </a:p>
        </p:txBody>
      </p:sp>
      <p:sp>
        <p:nvSpPr>
          <p:cNvPr id="323" name="Google Shape;323;p1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Sometimes referred to as Group Functions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used only in the SELECT and HAVING clause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Operate on sets of rows to give one result per group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numeric data: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000"/>
              <a:buChar char="•"/>
            </a:pPr>
            <a:r>
              <a:rPr b="1" lang="en-US">
                <a:solidFill>
                  <a:srgbClr val="4472C4"/>
                </a:solidFill>
              </a:rPr>
              <a:t>AVG</a:t>
            </a:r>
            <a:r>
              <a:rPr lang="en-US"/>
              <a:t> 	- returns average of values in a column **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000"/>
              <a:buChar char="•"/>
            </a:pPr>
            <a:r>
              <a:rPr b="1" lang="en-US">
                <a:solidFill>
                  <a:srgbClr val="4472C4"/>
                </a:solidFill>
              </a:rPr>
              <a:t>SUM</a:t>
            </a:r>
            <a:r>
              <a:rPr lang="en-US"/>
              <a:t> 	- returns the sum of values in a column **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numeric, character &amp; date data types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000"/>
              <a:buChar char="•"/>
            </a:pPr>
            <a:r>
              <a:rPr b="1" lang="en-US">
                <a:solidFill>
                  <a:srgbClr val="4472C4"/>
                </a:solidFill>
              </a:rPr>
              <a:t>MAX</a:t>
            </a:r>
            <a:r>
              <a:rPr lang="en-US"/>
              <a:t> 	- returns the largest value of values in a column **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000"/>
              <a:buChar char="•"/>
            </a:pPr>
            <a:r>
              <a:rPr b="1" lang="en-US">
                <a:solidFill>
                  <a:srgbClr val="4472C4"/>
                </a:solidFill>
              </a:rPr>
              <a:t>MIN</a:t>
            </a:r>
            <a:r>
              <a:rPr lang="en-US"/>
              <a:t> 	- returns the smallest value of values in a column **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000"/>
              <a:buChar char="•"/>
            </a:pPr>
            <a:r>
              <a:rPr b="1" lang="en-US">
                <a:solidFill>
                  <a:srgbClr val="4472C4"/>
                </a:solidFill>
              </a:rPr>
              <a:t>COUNT</a:t>
            </a:r>
            <a:r>
              <a:rPr lang="en-US"/>
              <a:t>  - returns number of rows  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400"/>
              <a:buNone/>
            </a:pPr>
            <a:r>
              <a:rPr i="1" lang="en-US">
                <a:solidFill>
                  <a:srgbClr val="4472C4"/>
                </a:solidFill>
              </a:rPr>
              <a:t>** - Ignoring NULL values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Aggregate Functions</a:t>
            </a:r>
            <a:endParaRPr/>
          </a:p>
        </p:txBody>
      </p:sp>
      <p:sp>
        <p:nvSpPr>
          <p:cNvPr id="330" name="Google Shape;330;p1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(column)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Returns the number of rows with non-null values for the column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List the total number of employees who receive commissions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1634248" y="4297903"/>
            <a:ext cx="4891568" cy="30008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commission_pct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) FROM 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pic>
        <p:nvPicPr>
          <p:cNvPr id="333" name="Google Shape;3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6216" y="4786708"/>
            <a:ext cx="3907631" cy="1525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Aggregate Functions</a:t>
            </a:r>
            <a:endParaRPr/>
          </a:p>
        </p:txBody>
      </p:sp>
      <p:sp>
        <p:nvSpPr>
          <p:cNvPr id="340" name="Google Shape;340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(*)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Return number of records (rows) in the table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Includes duplicate rows and rows with NULL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List the total number of employees in department number 10.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1981073" y="4356676"/>
            <a:ext cx="4901118" cy="71558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) AS 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"No of Employees"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  <a:endParaRPr b="1" i="0" sz="1350" u="none" cap="none" strike="noStrike">
              <a:solidFill>
                <a:srgbClr val="E2A2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department_id = 10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pic>
        <p:nvPicPr>
          <p:cNvPr id="343" name="Google Shape;3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4589" y="5231826"/>
            <a:ext cx="2694422" cy="97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Aggregate Functions</a:t>
            </a:r>
            <a:endParaRPr/>
          </a:p>
        </p:txBody>
      </p:sp>
      <p:sp>
        <p:nvSpPr>
          <p:cNvPr id="349" name="Google Shape;349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List the average, sum, minimum and maximum salary for employees in department number 80.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Department number 80 has 34 employees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1" name="Google Shape;3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8687" y="4581952"/>
            <a:ext cx="4394020" cy="95739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6"/>
          <p:cNvSpPr/>
          <p:nvPr/>
        </p:nvSpPr>
        <p:spPr>
          <a:xfrm>
            <a:off x="1844158" y="3601060"/>
            <a:ext cx="5642492" cy="71558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(salary),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(salary),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(salary),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(salary)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department_id=80;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Substitute </a:t>
            </a:r>
            <a:r>
              <a:rPr lang="en-US">
                <a:solidFill>
                  <a:srgbClr val="4472C4"/>
                </a:solidFill>
              </a:rPr>
              <a:t>NULL</a:t>
            </a:r>
            <a:r>
              <a:rPr lang="en-US"/>
              <a:t> Values</a:t>
            </a:r>
            <a:endParaRPr/>
          </a:p>
        </p:txBody>
      </p:sp>
      <p:sp>
        <p:nvSpPr>
          <p:cNvPr id="358" name="Google Shape;358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following functions work with any data type and pertain to using NULLs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For MySQL, use </a:t>
            </a:r>
            <a:r>
              <a:rPr b="1" lang="en-US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IFNULL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(expr1, expr2)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For MySQL can use </a:t>
            </a:r>
            <a:r>
              <a:rPr b="1" lang="en-US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(expr1, expr2, expr3)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000"/>
              <a:buChar char="•"/>
            </a:pPr>
            <a:r>
              <a:rPr b="1" lang="en-US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NULLIF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(expr1, expr2)	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000"/>
              <a:buChar char="•"/>
            </a:pPr>
            <a:r>
              <a:rPr b="1" lang="en-US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COALESCE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(expr1, expr2, … , exprn)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Substitute </a:t>
            </a:r>
            <a:r>
              <a:rPr lang="en-US">
                <a:solidFill>
                  <a:srgbClr val="4472C4"/>
                </a:solidFill>
              </a:rPr>
              <a:t>NULL</a:t>
            </a:r>
            <a:r>
              <a:rPr lang="en-US"/>
              <a:t> Values</a:t>
            </a:r>
            <a:endParaRPr/>
          </a:p>
        </p:txBody>
      </p:sp>
      <p:graphicFrame>
        <p:nvGraphicFramePr>
          <p:cNvPr id="365" name="Google Shape;365;p18"/>
          <p:cNvGraphicFramePr/>
          <p:nvPr/>
        </p:nvGraphicFramePr>
        <p:xfrm>
          <a:off x="628650" y="1989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{EDBF5548-D2FA-44EF-BD8F-C0AFF3301EEE}</a:tableStyleId>
              </a:tblPr>
              <a:tblGrid>
                <a:gridCol w="1804100"/>
                <a:gridCol w="60826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Function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IFNULL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Converts a null value</a:t>
                      </a:r>
                      <a:r>
                        <a:rPr lang="en-US" sz="1800"/>
                        <a:t> to an actual value</a:t>
                      </a:r>
                      <a:endParaRPr sz="1800"/>
                    </a:p>
                  </a:txBody>
                  <a:tcPr marT="34300" marB="34300" marR="68575" marL="68575"/>
                </a:tc>
              </a:tr>
              <a:tr h="89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If</a:t>
                      </a:r>
                      <a:r>
                        <a:rPr lang="en-US" sz="1800"/>
                        <a:t> </a:t>
                      </a: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expr1</a:t>
                      </a:r>
                      <a:r>
                        <a:rPr lang="en-US" sz="1800"/>
                        <a:t> is not null, </a:t>
                      </a: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</a:t>
                      </a:r>
                      <a:r>
                        <a:rPr lang="en-US" sz="1800"/>
                        <a:t> returns </a:t>
                      </a: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expr2</a:t>
                      </a:r>
                      <a:r>
                        <a:rPr lang="en-US" sz="1800"/>
                        <a:t>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If </a:t>
                      </a: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expr1</a:t>
                      </a:r>
                      <a:r>
                        <a:rPr lang="en-US" sz="1800"/>
                        <a:t> is null, </a:t>
                      </a: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</a:t>
                      </a:r>
                      <a:r>
                        <a:rPr lang="en-US" sz="1800"/>
                        <a:t> returns </a:t>
                      </a: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expr3</a:t>
                      </a:r>
                      <a:r>
                        <a:rPr lang="en-US" sz="1800"/>
                        <a:t>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The argument </a:t>
                      </a: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expr1</a:t>
                      </a:r>
                      <a:r>
                        <a:rPr lang="en-US" sz="1800"/>
                        <a:t> can have any data type</a:t>
                      </a:r>
                      <a:endParaRPr sz="1800"/>
                    </a:p>
                  </a:txBody>
                  <a:tcPr marT="34300" marB="3430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NULLIF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Compares two</a:t>
                      </a:r>
                      <a:r>
                        <a:rPr lang="en-US" sz="1800"/>
                        <a:t> expressions and returns null if they are equal;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Returns the first expression if they are not equal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COALESCE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Returns the first non-null</a:t>
                      </a:r>
                      <a:r>
                        <a:rPr lang="en-US" sz="1800"/>
                        <a:t> expression in the expression list</a:t>
                      </a:r>
                      <a:endParaRPr sz="1800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sp>
        <p:nvSpPr>
          <p:cNvPr id="366" name="Google Shape;366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</a:t>
            </a:r>
            <a:r>
              <a:rPr lang="en-US">
                <a:solidFill>
                  <a:srgbClr val="4472C4"/>
                </a:solidFill>
              </a:rPr>
              <a:t>IFNULL</a:t>
            </a:r>
            <a:r>
              <a:rPr lang="en-US"/>
              <a:t> (MySQL)</a:t>
            </a:r>
            <a:endParaRPr/>
          </a:p>
        </p:txBody>
      </p:sp>
      <p:sp>
        <p:nvSpPr>
          <p:cNvPr id="372" name="Google Shape;372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Converts a NULL value to an actual value.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2400"/>
              <a:buChar char="•"/>
            </a:pPr>
            <a:r>
              <a:rPr b="1" lang="en-US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IFNULL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(expr1, expr2)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expr1 is the source value or expression that may contain NULL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expr2 is the target value for converting the null.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use the </a:t>
            </a:r>
            <a:r>
              <a:rPr b="1" lang="en-US">
                <a:solidFill>
                  <a:srgbClr val="4472C4"/>
                </a:solidFill>
              </a:rPr>
              <a:t>IFNULL</a:t>
            </a:r>
            <a:r>
              <a:rPr lang="en-US"/>
              <a:t> function with any data type, but the return value is always the </a:t>
            </a:r>
            <a:r>
              <a:rPr b="1" lang="en-US">
                <a:solidFill>
                  <a:srgbClr val="830E3E"/>
                </a:solidFill>
              </a:rPr>
              <a:t>same as data type in expr1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</a:t>
            </a:r>
            <a:r>
              <a:rPr lang="en-US">
                <a:solidFill>
                  <a:srgbClr val="4472C4"/>
                </a:solidFill>
              </a:rPr>
              <a:t>IFNULL</a:t>
            </a:r>
            <a:r>
              <a:rPr lang="en-US"/>
              <a:t> (MySQL)</a:t>
            </a:r>
            <a:endParaRPr/>
          </a:p>
        </p:txBody>
      </p:sp>
      <p:sp>
        <p:nvSpPr>
          <p:cNvPr id="379" name="Google Shape;379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types that can be used are date, character, and number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types must match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b="1" lang="en-US">
                <a:solidFill>
                  <a:srgbClr val="0070C0"/>
                </a:solidFill>
              </a:rPr>
              <a:t>IFNULL</a:t>
            </a:r>
            <a:r>
              <a:rPr lang="en-US"/>
              <a:t> (commission_pct, 0)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b="1" lang="en-US">
                <a:solidFill>
                  <a:srgbClr val="0070C0"/>
                </a:solidFill>
              </a:rPr>
              <a:t>IFNULL</a:t>
            </a:r>
            <a:r>
              <a:rPr lang="en-US"/>
              <a:t> (hire_date, ‘01-JAN-15’)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b="1" lang="en-US">
                <a:solidFill>
                  <a:srgbClr val="0070C0"/>
                </a:solidFill>
              </a:rPr>
              <a:t>IFNULL</a:t>
            </a:r>
            <a:r>
              <a:rPr lang="en-US"/>
              <a:t>(job_id, ‘No Job Yet’)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0" name="Google Shape;380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81" name="Google Shape;381;p20"/>
          <p:cNvGraphicFramePr/>
          <p:nvPr/>
        </p:nvGraphicFramePr>
        <p:xfrm>
          <a:off x="981755" y="4700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{422F1596-83C7-4EE0-B65B-82E37BD4DA08}</a:tableStyleId>
              </a:tblPr>
              <a:tblGrid>
                <a:gridCol w="1897850"/>
                <a:gridCol w="4856500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Type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 Example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NUMBER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IFNULL (number_column, 9)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DATE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IFNULL (date_column, ‘01-JAN-15’)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 or VARCHAR2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IFNULL (character_column, ‘Unavailable’)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the </a:t>
            </a:r>
            <a:r>
              <a:rPr lang="en-US">
                <a:solidFill>
                  <a:srgbClr val="0070C0"/>
                </a:solidFill>
              </a:rPr>
              <a:t>IFNULL</a:t>
            </a:r>
            <a:r>
              <a:rPr lang="en-US"/>
              <a:t> function</a:t>
            </a:r>
            <a:endParaRPr/>
          </a:p>
        </p:txBody>
      </p:sp>
      <p:sp>
        <p:nvSpPr>
          <p:cNvPr id="388" name="Google Shape;388;p21"/>
          <p:cNvSpPr txBox="1"/>
          <p:nvPr>
            <p:ph idx="1" type="body"/>
          </p:nvPr>
        </p:nvSpPr>
        <p:spPr>
          <a:xfrm>
            <a:off x="749398" y="152237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the annual salary of employees. We need to multiply the monthly salary by 12 and then add the commission percentage to the result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9" name="Google Shape;389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0" name="Google Shape;390;p21"/>
          <p:cNvGrpSpPr/>
          <p:nvPr/>
        </p:nvGrpSpPr>
        <p:grpSpPr>
          <a:xfrm>
            <a:off x="749398" y="2630081"/>
            <a:ext cx="7208062" cy="1047751"/>
            <a:chOff x="1217475" y="2286881"/>
            <a:chExt cx="7793361" cy="1397425"/>
          </a:xfrm>
        </p:grpSpPr>
        <p:sp>
          <p:nvSpPr>
            <p:cNvPr id="391" name="Google Shape;391;p21"/>
            <p:cNvSpPr txBox="1"/>
            <p:nvPr/>
          </p:nvSpPr>
          <p:spPr>
            <a:xfrm>
              <a:off x="2085459" y="2684351"/>
              <a:ext cx="6881743" cy="862036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2A22F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E2A22F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last_name, salary, commission_pct,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	(salary*12) + (salary * 12 * commission_pct) ANN_SAL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2A22F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E2A22F"/>
                  </a:solidFill>
                  <a:latin typeface="Arial"/>
                  <a:ea typeface="Arial"/>
                  <a:cs typeface="Arial"/>
                  <a:sym typeface="Arial"/>
                </a:rPr>
                <a:t>FROM </a:t>
              </a: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employees;</a:t>
              </a:r>
              <a:endParaRPr/>
            </a:p>
          </p:txBody>
        </p:sp>
        <p:grpSp>
          <p:nvGrpSpPr>
            <p:cNvPr id="392" name="Google Shape;392;p21"/>
            <p:cNvGrpSpPr/>
            <p:nvPr/>
          </p:nvGrpSpPr>
          <p:grpSpPr>
            <a:xfrm>
              <a:off x="1217475" y="2286881"/>
              <a:ext cx="7793361" cy="1397425"/>
              <a:chOff x="1217475" y="2286881"/>
              <a:chExt cx="7793361" cy="1397425"/>
            </a:xfrm>
          </p:grpSpPr>
          <p:sp>
            <p:nvSpPr>
              <p:cNvPr id="393" name="Google Shape;393;p21"/>
              <p:cNvSpPr/>
              <p:nvPr/>
            </p:nvSpPr>
            <p:spPr>
              <a:xfrm>
                <a:off x="3748064" y="2737882"/>
                <a:ext cx="2285737" cy="255823"/>
              </a:xfrm>
              <a:prstGeom prst="rect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>
                <a:off x="1217475" y="2985305"/>
                <a:ext cx="6317638" cy="249266"/>
              </a:xfrm>
              <a:prstGeom prst="rect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>
                <a:off x="7612218" y="2286881"/>
                <a:ext cx="647714" cy="61454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>
                <a:off x="8363122" y="3069756"/>
                <a:ext cx="647714" cy="61455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cxnSp>
            <p:nvCxnSpPr>
              <p:cNvPr id="397" name="Google Shape;397;p21"/>
              <p:cNvCxnSpPr>
                <a:stCxn id="395" idx="3"/>
                <a:endCxn id="393" idx="3"/>
              </p:cNvCxnSpPr>
              <p:nvPr/>
            </p:nvCxnSpPr>
            <p:spPr>
              <a:xfrm flipH="1">
                <a:off x="6033674" y="2811431"/>
                <a:ext cx="1673400" cy="54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31859C"/>
                </a:solidFill>
                <a:prstDash val="solid"/>
                <a:round/>
                <a:headEnd len="med" w="med" type="none"/>
                <a:tailEnd len="med" w="med" type="triangl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</p:cxnSp>
          <p:cxnSp>
            <p:nvCxnSpPr>
              <p:cNvPr id="398" name="Google Shape;398;p21"/>
              <p:cNvCxnSpPr>
                <a:stCxn id="396" idx="2"/>
                <a:endCxn id="394" idx="3"/>
              </p:cNvCxnSpPr>
              <p:nvPr/>
            </p:nvCxnSpPr>
            <p:spPr>
              <a:xfrm rot="10800000">
                <a:off x="7535122" y="3110031"/>
                <a:ext cx="828000" cy="267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31859C"/>
                </a:solidFill>
                <a:prstDash val="solid"/>
                <a:round/>
                <a:headEnd len="med" w="med" type="none"/>
                <a:tailEnd len="med" w="med" type="triangl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</p:cxnSp>
        </p:grpSp>
      </p:grpSp>
      <p:grpSp>
        <p:nvGrpSpPr>
          <p:cNvPr id="399" name="Google Shape;399;p21"/>
          <p:cNvGrpSpPr/>
          <p:nvPr/>
        </p:nvGrpSpPr>
        <p:grpSpPr>
          <a:xfrm>
            <a:off x="4370773" y="3698042"/>
            <a:ext cx="3379271" cy="1990764"/>
            <a:chOff x="3974813" y="3265440"/>
            <a:chExt cx="5000157" cy="3064492"/>
          </a:xfrm>
        </p:grpSpPr>
        <p:pic>
          <p:nvPicPr>
            <p:cNvPr id="400" name="Google Shape;4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74813" y="3265440"/>
              <a:ext cx="5000157" cy="815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74813" y="4476673"/>
              <a:ext cx="4999798" cy="1853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21"/>
            <p:cNvSpPr txBox="1"/>
            <p:nvPr/>
          </p:nvSpPr>
          <p:spPr>
            <a:xfrm>
              <a:off x="3974813" y="3899436"/>
              <a:ext cx="476412" cy="710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/>
            </a:p>
          </p:txBody>
        </p:sp>
      </p:grpSp>
      <p:sp>
        <p:nvSpPr>
          <p:cNvPr id="403" name="Google Shape;403;p21"/>
          <p:cNvSpPr txBox="1"/>
          <p:nvPr/>
        </p:nvSpPr>
        <p:spPr>
          <a:xfrm>
            <a:off x="1479021" y="3900488"/>
            <a:ext cx="265390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that the annual salary is calculated for only employees who earn a commission.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any column value expression is null, the result is null.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must convert the null value to a number before applying the arithmetic operator.</a:t>
            </a:r>
            <a:endParaRPr/>
          </a:p>
        </p:txBody>
      </p:sp>
      <p:pic>
        <p:nvPicPr>
          <p:cNvPr id="404" name="Google Shape;4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5401" y="4158115"/>
            <a:ext cx="322082" cy="39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8516" y="4140122"/>
            <a:ext cx="311999" cy="382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the </a:t>
            </a:r>
            <a:r>
              <a:rPr lang="en-US">
                <a:solidFill>
                  <a:srgbClr val="0070C0"/>
                </a:solidFill>
              </a:rPr>
              <a:t>IFNULL</a:t>
            </a:r>
            <a:r>
              <a:rPr lang="en-US"/>
              <a:t> function</a:t>
            </a:r>
            <a:endParaRPr/>
          </a:p>
        </p:txBody>
      </p:sp>
      <p:sp>
        <p:nvSpPr>
          <p:cNvPr id="412" name="Google Shape;412;p22"/>
          <p:cNvSpPr txBox="1"/>
          <p:nvPr>
            <p:ph idx="1" type="body"/>
          </p:nvPr>
        </p:nvSpPr>
        <p:spPr>
          <a:xfrm>
            <a:off x="628650" y="1480457"/>
            <a:ext cx="7886700" cy="4696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the annual salary of employees. We need to multiply the monthly salary by 12 and then add the commission percentage to the result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13" name="Google Shape;413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14" name="Google Shape;414;p22"/>
          <p:cNvGrpSpPr/>
          <p:nvPr/>
        </p:nvGrpSpPr>
        <p:grpSpPr>
          <a:xfrm>
            <a:off x="1689497" y="2426137"/>
            <a:ext cx="6267963" cy="1251694"/>
            <a:chOff x="653370" y="2014874"/>
            <a:chExt cx="8357466" cy="1669432"/>
          </a:xfrm>
        </p:grpSpPr>
        <p:sp>
          <p:nvSpPr>
            <p:cNvPr id="415" name="Google Shape;415;p22"/>
            <p:cNvSpPr txBox="1"/>
            <p:nvPr/>
          </p:nvSpPr>
          <p:spPr>
            <a:xfrm>
              <a:off x="653370" y="2684351"/>
              <a:ext cx="7425520" cy="862036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2A22F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E2A22F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last_name, salary, </a:t>
              </a:r>
              <a:r>
                <a:rPr b="1" lang="en-US" sz="1200">
                  <a:solidFill>
                    <a:srgbClr val="92D050"/>
                  </a:solidFill>
                  <a:latin typeface="Arial"/>
                  <a:ea typeface="Arial"/>
                  <a:cs typeface="Arial"/>
                  <a:sym typeface="Arial"/>
                </a:rPr>
                <a:t>IFNULL</a:t>
              </a: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(commission_pct, 0),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(salary*12) + (salary * 12 * </a:t>
              </a:r>
              <a:r>
                <a:rPr b="1" lang="en-US" sz="1200">
                  <a:solidFill>
                    <a:srgbClr val="92D050"/>
                  </a:solidFill>
                  <a:latin typeface="Arial"/>
                  <a:ea typeface="Arial"/>
                  <a:cs typeface="Arial"/>
                  <a:sym typeface="Arial"/>
                </a:rPr>
                <a:t>IFNULL</a:t>
              </a: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(commission_pct, 0)) ANN_SAL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2A22F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E2A22F"/>
                  </a:solidFill>
                  <a:latin typeface="Arial"/>
                  <a:ea typeface="Arial"/>
                  <a:cs typeface="Arial"/>
                  <a:sym typeface="Arial"/>
                </a:rPr>
                <a:t>FROM </a:t>
              </a: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employees;</a:t>
              </a:r>
              <a:endParaRPr/>
            </a:p>
          </p:txBody>
        </p:sp>
        <p:grpSp>
          <p:nvGrpSpPr>
            <p:cNvPr id="416" name="Google Shape;416;p22"/>
            <p:cNvGrpSpPr/>
            <p:nvPr/>
          </p:nvGrpSpPr>
          <p:grpSpPr>
            <a:xfrm>
              <a:off x="748798" y="2014874"/>
              <a:ext cx="8262038" cy="1669432"/>
              <a:chOff x="748798" y="2014874"/>
              <a:chExt cx="8262038" cy="1669432"/>
            </a:xfrm>
          </p:grpSpPr>
          <p:sp>
            <p:nvSpPr>
              <p:cNvPr id="417" name="Google Shape;417;p22"/>
              <p:cNvSpPr/>
              <p:nvPr/>
            </p:nvSpPr>
            <p:spPr>
              <a:xfrm>
                <a:off x="3748064" y="2737882"/>
                <a:ext cx="2758193" cy="266146"/>
              </a:xfrm>
              <a:prstGeom prst="rect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22"/>
              <p:cNvSpPr/>
              <p:nvPr/>
            </p:nvSpPr>
            <p:spPr>
              <a:xfrm>
                <a:off x="748798" y="2974981"/>
                <a:ext cx="7225046" cy="266146"/>
              </a:xfrm>
              <a:prstGeom prst="rect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22"/>
              <p:cNvSpPr/>
              <p:nvPr/>
            </p:nvSpPr>
            <p:spPr>
              <a:xfrm>
                <a:off x="8054225" y="2014874"/>
                <a:ext cx="647714" cy="61454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420" name="Google Shape;420;p22"/>
              <p:cNvSpPr/>
              <p:nvPr/>
            </p:nvSpPr>
            <p:spPr>
              <a:xfrm>
                <a:off x="8363122" y="3069756"/>
                <a:ext cx="647714" cy="614550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cxnSp>
            <p:nvCxnSpPr>
              <p:cNvPr id="421" name="Google Shape;421;p22"/>
              <p:cNvCxnSpPr>
                <a:stCxn id="419" idx="3"/>
                <a:endCxn id="417" idx="3"/>
              </p:cNvCxnSpPr>
              <p:nvPr/>
            </p:nvCxnSpPr>
            <p:spPr>
              <a:xfrm flipH="1">
                <a:off x="6506281" y="2539424"/>
                <a:ext cx="1642800" cy="331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31859C"/>
                </a:solidFill>
                <a:prstDash val="solid"/>
                <a:round/>
                <a:headEnd len="med" w="med" type="none"/>
                <a:tailEnd len="med" w="med" type="triangl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</p:cxnSp>
          <p:cxnSp>
            <p:nvCxnSpPr>
              <p:cNvPr id="422" name="Google Shape;422;p22"/>
              <p:cNvCxnSpPr>
                <a:stCxn id="420" idx="2"/>
                <a:endCxn id="418" idx="3"/>
              </p:cNvCxnSpPr>
              <p:nvPr/>
            </p:nvCxnSpPr>
            <p:spPr>
              <a:xfrm rot="10800000">
                <a:off x="7973722" y="3107931"/>
                <a:ext cx="389400" cy="269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31859C"/>
                </a:solidFill>
                <a:prstDash val="solid"/>
                <a:round/>
                <a:headEnd len="med" w="med" type="none"/>
                <a:tailEnd len="med" w="med" type="triangl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</p:cxnSp>
        </p:grpSp>
      </p:grpSp>
      <p:grpSp>
        <p:nvGrpSpPr>
          <p:cNvPr id="423" name="Google Shape;423;p22"/>
          <p:cNvGrpSpPr/>
          <p:nvPr/>
        </p:nvGrpSpPr>
        <p:grpSpPr>
          <a:xfrm>
            <a:off x="4463057" y="3723072"/>
            <a:ext cx="3380384" cy="1931075"/>
            <a:chOff x="3711765" y="3228814"/>
            <a:chExt cx="5357116" cy="3061323"/>
          </a:xfrm>
        </p:grpSpPr>
        <p:pic>
          <p:nvPicPr>
            <p:cNvPr id="424" name="Google Shape;42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11765" y="3228814"/>
              <a:ext cx="5357116" cy="759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1765" y="4478363"/>
              <a:ext cx="5357116" cy="18117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22"/>
            <p:cNvSpPr txBox="1"/>
            <p:nvPr/>
          </p:nvSpPr>
          <p:spPr>
            <a:xfrm>
              <a:off x="3711765" y="3907087"/>
              <a:ext cx="640686" cy="731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7029208" y="4024314"/>
              <a:ext cx="436506" cy="349321"/>
            </a:xfrm>
            <a:prstGeom prst="ellipse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8446662" y="4024314"/>
              <a:ext cx="436505" cy="349321"/>
            </a:xfrm>
            <a:prstGeom prst="ellipse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429" name="Google Shape;429;p22"/>
          <p:cNvSpPr txBox="1"/>
          <p:nvPr/>
        </p:nvSpPr>
        <p:spPr>
          <a:xfrm>
            <a:off x="1507887" y="3787484"/>
            <a:ext cx="265390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that the annual salary is calculated for only employees who earn a commission.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any column value expression is null, the result is null.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must convert the null value to a number before applying the arithmetic operator.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</a:t>
            </a:r>
            <a:r>
              <a:rPr lang="en-US">
                <a:solidFill>
                  <a:srgbClr val="0070C0"/>
                </a:solidFill>
              </a:rPr>
              <a:t>IF</a:t>
            </a:r>
            <a:r>
              <a:rPr lang="en-US"/>
              <a:t> (MySQL)</a:t>
            </a:r>
            <a:endParaRPr/>
          </a:p>
        </p:txBody>
      </p:sp>
      <p:sp>
        <p:nvSpPr>
          <p:cNvPr id="435" name="Google Shape;435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0070C0"/>
                </a:solidFill>
              </a:rPr>
              <a:t>IF</a:t>
            </a:r>
            <a:r>
              <a:rPr lang="en-US"/>
              <a:t> function examines the first expression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first expression is not null, the </a:t>
            </a:r>
            <a:r>
              <a:rPr b="1" lang="en-US">
                <a:solidFill>
                  <a:srgbClr val="0070C0"/>
                </a:solidFill>
              </a:rPr>
              <a:t>IF</a:t>
            </a:r>
            <a:r>
              <a:rPr lang="en-US"/>
              <a:t> function returns the second expression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first expression is null, the third expression is returned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b="1" lang="en-US">
                <a:solidFill>
                  <a:srgbClr val="0070C0"/>
                </a:solidFill>
              </a:rPr>
              <a:t>IF</a:t>
            </a:r>
            <a:r>
              <a:rPr lang="en-US"/>
              <a:t> (</a:t>
            </a:r>
            <a:r>
              <a:rPr b="1" lang="en-US">
                <a:solidFill>
                  <a:srgbClr val="830E3E"/>
                </a:solidFill>
              </a:rPr>
              <a:t>expr1</a:t>
            </a:r>
            <a:r>
              <a:rPr lang="en-US"/>
              <a:t>, </a:t>
            </a:r>
            <a:r>
              <a:rPr b="1" lang="en-US">
                <a:solidFill>
                  <a:srgbClr val="830E3E"/>
                </a:solidFill>
              </a:rPr>
              <a:t>expr2</a:t>
            </a:r>
            <a:r>
              <a:rPr lang="en-US"/>
              <a:t>, </a:t>
            </a:r>
            <a:r>
              <a:rPr b="1" lang="en-US">
                <a:solidFill>
                  <a:srgbClr val="830E3E"/>
                </a:solidFill>
              </a:rPr>
              <a:t>expr3</a:t>
            </a:r>
            <a:r>
              <a:rPr lang="en-US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0E3E"/>
              </a:buClr>
              <a:buSzPts val="2400"/>
              <a:buChar char="•"/>
            </a:pPr>
            <a:r>
              <a:rPr b="1" lang="en-US">
                <a:solidFill>
                  <a:srgbClr val="830E3E"/>
                </a:solidFill>
              </a:rPr>
              <a:t>expr1</a:t>
            </a:r>
            <a:r>
              <a:rPr lang="en-US"/>
              <a:t> is the source value or expression that may contain a null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0E3E"/>
              </a:buClr>
              <a:buSzPts val="2400"/>
              <a:buChar char="•"/>
            </a:pPr>
            <a:r>
              <a:rPr b="1" lang="en-US">
                <a:solidFill>
                  <a:srgbClr val="830E3E"/>
                </a:solidFill>
              </a:rPr>
              <a:t>expr2</a:t>
            </a:r>
            <a:r>
              <a:rPr lang="en-US"/>
              <a:t> is the value returned if expr1 is not null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0E3E"/>
              </a:buClr>
              <a:buSzPts val="2400"/>
              <a:buChar char="•"/>
            </a:pPr>
            <a:r>
              <a:rPr b="1" lang="en-US">
                <a:solidFill>
                  <a:srgbClr val="830E3E"/>
                </a:solidFill>
              </a:rPr>
              <a:t>expr3</a:t>
            </a:r>
            <a:r>
              <a:rPr lang="en-US"/>
              <a:t> is the value returned if expr1 is null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</a:t>
            </a:r>
            <a:r>
              <a:rPr lang="en-US">
                <a:solidFill>
                  <a:srgbClr val="0070C0"/>
                </a:solidFill>
              </a:rPr>
              <a:t>IF</a:t>
            </a:r>
            <a:r>
              <a:rPr lang="en-US"/>
              <a:t> (MySQL)</a:t>
            </a:r>
            <a:endParaRPr/>
          </a:p>
        </p:txBody>
      </p:sp>
      <p:sp>
        <p:nvSpPr>
          <p:cNvPr id="443" name="Google Shape;443;p24"/>
          <p:cNvSpPr txBox="1"/>
          <p:nvPr>
            <p:ph idx="1" type="body"/>
          </p:nvPr>
        </p:nvSpPr>
        <p:spPr>
          <a:xfrm>
            <a:off x="628650" y="1419241"/>
            <a:ext cx="7886700" cy="4757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commission_pct column is examined.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a value is detected, the text literal value of </a:t>
            </a:r>
            <a:r>
              <a:rPr lang="en-US">
                <a:highlight>
                  <a:srgbClr val="FFFF00"/>
                </a:highlight>
              </a:rPr>
              <a:t>salary+commission_pct </a:t>
            </a:r>
            <a:r>
              <a:rPr lang="en-US"/>
              <a:t>is returned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the commission_pct column contains a null value, the text literal value of </a:t>
            </a:r>
            <a:r>
              <a:rPr lang="en-US">
                <a:highlight>
                  <a:srgbClr val="FFFF00"/>
                </a:highlight>
              </a:rPr>
              <a:t>salary</a:t>
            </a:r>
            <a:r>
              <a:rPr lang="en-US"/>
              <a:t> is returned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45" name="Google Shape;445;p24"/>
          <p:cNvGrpSpPr/>
          <p:nvPr/>
        </p:nvGrpSpPr>
        <p:grpSpPr>
          <a:xfrm>
            <a:off x="2074684" y="3117930"/>
            <a:ext cx="5618719" cy="1140261"/>
            <a:chOff x="1790794" y="2590676"/>
            <a:chExt cx="7491993" cy="1521501"/>
          </a:xfrm>
        </p:grpSpPr>
        <p:sp>
          <p:nvSpPr>
            <p:cNvPr id="446" name="Google Shape;446;p24"/>
            <p:cNvSpPr txBox="1"/>
            <p:nvPr/>
          </p:nvSpPr>
          <p:spPr>
            <a:xfrm>
              <a:off x="1790794" y="2880077"/>
              <a:ext cx="6805200" cy="123210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2A22F"/>
                </a:buClr>
                <a:buSzPts val="1350"/>
                <a:buFont typeface="Arial"/>
                <a:buNone/>
              </a:pPr>
              <a:r>
                <a:rPr b="1" lang="en-US" sz="1350">
                  <a:solidFill>
                    <a:srgbClr val="E2A22F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r>
                <a:rPr lang="en-US"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last_name, salary SAL, commission_pct COMM,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2D050"/>
                </a:buClr>
                <a:buSzPts val="1350"/>
                <a:buFont typeface="Arial"/>
                <a:buNone/>
              </a:pPr>
              <a:r>
                <a:rPr b="1" lang="en-US" sz="1350">
                  <a:solidFill>
                    <a:srgbClr val="92D050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lang="en-US"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(commission_pct, 'SAL+COMM', 'SAL') income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2A22F"/>
                </a:buClr>
                <a:buSzPts val="1350"/>
                <a:buFont typeface="Arial"/>
                <a:buNone/>
              </a:pPr>
              <a:r>
                <a:rPr b="1" lang="en-US" sz="1350">
                  <a:solidFill>
                    <a:srgbClr val="E2A22F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r>
                <a:rPr lang="en-US"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	employees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2A22F"/>
                </a:buClr>
                <a:buSzPts val="1350"/>
                <a:buFont typeface="Arial"/>
                <a:buNone/>
              </a:pPr>
              <a:r>
                <a:rPr b="1" lang="en-US" sz="1350">
                  <a:solidFill>
                    <a:srgbClr val="E2A22F"/>
                  </a:solidFill>
                  <a:latin typeface="Arial"/>
                  <a:ea typeface="Arial"/>
                  <a:cs typeface="Arial"/>
                  <a:sym typeface="Arial"/>
                </a:rPr>
                <a:t>WHERE</a:t>
              </a:r>
              <a:r>
                <a:rPr lang="en-US"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	department_id IN (50, 80);</a:t>
              </a:r>
              <a:endParaRPr/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4024060" y="2886615"/>
              <a:ext cx="3831900" cy="2955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1860530" y="3205151"/>
              <a:ext cx="6165084" cy="2955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8679932" y="2590676"/>
              <a:ext cx="511200" cy="462313"/>
            </a:xfrm>
            <a:prstGeom prst="ellipse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450" name="Google Shape;450;p24"/>
            <p:cNvCxnSpPr>
              <a:stCxn id="449" idx="2"/>
              <a:endCxn id="447" idx="3"/>
            </p:cNvCxnSpPr>
            <p:nvPr/>
          </p:nvCxnSpPr>
          <p:spPr>
            <a:xfrm flipH="1">
              <a:off x="7855832" y="2821833"/>
              <a:ext cx="824100" cy="212400"/>
            </a:xfrm>
            <a:prstGeom prst="straightConnector1">
              <a:avLst/>
            </a:prstGeom>
            <a:noFill/>
            <a:ln cap="flat" cmpd="sng" w="38100">
              <a:solidFill>
                <a:srgbClr val="31859C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</p:cxnSp>
        <p:sp>
          <p:nvSpPr>
            <p:cNvPr id="451" name="Google Shape;451;p24"/>
            <p:cNvSpPr/>
            <p:nvPr/>
          </p:nvSpPr>
          <p:spPr>
            <a:xfrm>
              <a:off x="8795401" y="3174966"/>
              <a:ext cx="487386" cy="509973"/>
            </a:xfrm>
            <a:prstGeom prst="ellipse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452" name="Google Shape;452;p24"/>
            <p:cNvCxnSpPr>
              <a:stCxn id="451" idx="2"/>
              <a:endCxn id="448" idx="3"/>
            </p:cNvCxnSpPr>
            <p:nvPr/>
          </p:nvCxnSpPr>
          <p:spPr>
            <a:xfrm rot="10800000">
              <a:off x="8025601" y="3352853"/>
              <a:ext cx="769800" cy="77100"/>
            </a:xfrm>
            <a:prstGeom prst="straightConnector1">
              <a:avLst/>
            </a:prstGeom>
            <a:noFill/>
            <a:ln cap="flat" cmpd="sng" w="38100">
              <a:solidFill>
                <a:srgbClr val="31859C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</p:cxnSp>
      </p:grpSp>
      <p:grpSp>
        <p:nvGrpSpPr>
          <p:cNvPr id="453" name="Google Shape;453;p24"/>
          <p:cNvGrpSpPr/>
          <p:nvPr/>
        </p:nvGrpSpPr>
        <p:grpSpPr>
          <a:xfrm>
            <a:off x="4819384" y="4235005"/>
            <a:ext cx="2928125" cy="1428204"/>
            <a:chOff x="1691680" y="4141203"/>
            <a:chExt cx="4537427" cy="2212627"/>
          </a:xfrm>
        </p:grpSpPr>
        <p:pic>
          <p:nvPicPr>
            <p:cNvPr id="454" name="Google Shape;454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91680" y="4141203"/>
              <a:ext cx="4536504" cy="2212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24"/>
            <p:cNvSpPr/>
            <p:nvPr/>
          </p:nvSpPr>
          <p:spPr>
            <a:xfrm>
              <a:off x="4101692" y="4465002"/>
              <a:ext cx="511215" cy="463477"/>
            </a:xfrm>
            <a:prstGeom prst="ellipse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5741706" y="4441194"/>
              <a:ext cx="487401" cy="509507"/>
            </a:xfrm>
            <a:prstGeom prst="ellipse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457" name="Google Shape;457;p24"/>
          <p:cNvSpPr txBox="1"/>
          <p:nvPr/>
        </p:nvSpPr>
        <p:spPr>
          <a:xfrm>
            <a:off x="1482329" y="4307680"/>
            <a:ext cx="3119654" cy="11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/>
          </a:p>
          <a:p>
            <a:pPr indent="-214313" lvl="0" marL="2143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argument </a:t>
            </a:r>
            <a:r>
              <a:rPr b="1" lang="en-US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expr1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have any data type.</a:t>
            </a:r>
            <a:endParaRPr/>
          </a:p>
          <a:p>
            <a:pPr indent="-214313" lvl="0" marL="2143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argument </a:t>
            </a:r>
            <a:r>
              <a:rPr b="1" lang="en-US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expr2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expr3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have any data types except </a:t>
            </a:r>
            <a:r>
              <a:rPr b="1" lang="en-US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5"/>
          <p:cNvSpPr txBox="1"/>
          <p:nvPr>
            <p:ph type="title"/>
          </p:nvPr>
        </p:nvSpPr>
        <p:spPr>
          <a:xfrm>
            <a:off x="628650" y="2286623"/>
            <a:ext cx="7886700" cy="2284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 BY</a:t>
            </a:r>
            <a:endParaRPr/>
          </a:p>
        </p:txBody>
      </p:sp>
      <p:sp>
        <p:nvSpPr>
          <p:cNvPr id="463" name="Google Shape;463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6"/>
          <p:cNvSpPr txBox="1"/>
          <p:nvPr>
            <p:ph type="title"/>
          </p:nvPr>
        </p:nvSpPr>
        <p:spPr>
          <a:xfrm>
            <a:off x="348343" y="646892"/>
            <a:ext cx="8621486" cy="1043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Groups of Data – </a:t>
            </a:r>
            <a:r>
              <a:rPr lang="en-US">
                <a:solidFill>
                  <a:srgbClr val="0070C0"/>
                </a:solidFill>
              </a:rPr>
              <a:t>GROUP BY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469" name="Google Shape;469;p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divide rows in a table into smaller groups by using the </a:t>
            </a:r>
            <a:r>
              <a:rPr b="1" lang="en-US">
                <a:solidFill>
                  <a:srgbClr val="0070C0"/>
                </a:solidFill>
              </a:rPr>
              <a:t>GROUP BY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clause.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columns in the </a:t>
            </a:r>
            <a:r>
              <a:rPr b="1" lang="en-US">
                <a:solidFill>
                  <a:srgbClr val="0070C0"/>
                </a:solidFill>
              </a:rPr>
              <a:t>SELECT</a:t>
            </a:r>
            <a:r>
              <a:rPr lang="en-US"/>
              <a:t> list that are not in group functions must be in the </a:t>
            </a:r>
            <a:r>
              <a:rPr b="1" lang="en-US">
                <a:solidFill>
                  <a:srgbClr val="0070C0"/>
                </a:solidFill>
              </a:rPr>
              <a:t>GROUP BY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clause.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924334" y="3867151"/>
            <a:ext cx="5642492" cy="11310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	column, group_function(column)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 	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table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	condition</a:t>
            </a:r>
            <a:r>
              <a:rPr b="0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group_by_expression</a:t>
            </a:r>
            <a:r>
              <a:rPr b="0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ORDER BY 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column</a:t>
            </a:r>
            <a:r>
              <a:rPr b="0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924334" y="5215133"/>
            <a:ext cx="1926003" cy="744927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[  ]</a:t>
            </a:r>
            <a:r>
              <a:rPr b="1"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= OPTIONAL</a:t>
            </a:r>
            <a:endParaRPr b="1"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7644" y="1888087"/>
            <a:ext cx="5268713" cy="3081827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1873667" y="5036611"/>
            <a:ext cx="497501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if:</a:t>
            </a:r>
            <a:endParaRPr/>
          </a:p>
          <a:p>
            <a:pPr indent="-214313" lvl="0" marL="2143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department_id and number of staffs in each department.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7"/>
          <p:cNvSpPr txBox="1"/>
          <p:nvPr/>
        </p:nvSpPr>
        <p:spPr>
          <a:xfrm>
            <a:off x="348343" y="646892"/>
            <a:ext cx="8621486" cy="1043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Groups of Data – </a:t>
            </a:r>
            <a:r>
              <a:rPr lang="en-US" sz="4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  <a:endParaRPr sz="4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Issue: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86" name="Google Shape;486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1614489" y="4558003"/>
            <a:ext cx="5915024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GROUP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clause must be added to count the last names for each department_id</a:t>
            </a:r>
            <a:endParaRPr/>
          </a:p>
        </p:txBody>
      </p:sp>
      <p:grpSp>
        <p:nvGrpSpPr>
          <p:cNvPr id="488" name="Google Shape;488;p28"/>
          <p:cNvGrpSpPr/>
          <p:nvPr/>
        </p:nvGrpSpPr>
        <p:grpSpPr>
          <a:xfrm>
            <a:off x="2479138" y="2976050"/>
            <a:ext cx="4566870" cy="1327205"/>
            <a:chOff x="3511578" y="1888215"/>
            <a:chExt cx="5626978" cy="1450390"/>
          </a:xfrm>
        </p:grpSpPr>
        <p:grpSp>
          <p:nvGrpSpPr>
            <p:cNvPr id="489" name="Google Shape;489;p28"/>
            <p:cNvGrpSpPr/>
            <p:nvPr/>
          </p:nvGrpSpPr>
          <p:grpSpPr>
            <a:xfrm>
              <a:off x="3511578" y="1888215"/>
              <a:ext cx="5626978" cy="1450390"/>
              <a:chOff x="3511578" y="1888215"/>
              <a:chExt cx="5626978" cy="1450390"/>
            </a:xfrm>
          </p:grpSpPr>
          <p:pic>
            <p:nvPicPr>
              <p:cNvPr id="490" name="Google Shape;490;p2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11578" y="1888215"/>
                <a:ext cx="5626978" cy="14503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1" name="Google Shape;491;p28"/>
              <p:cNvSpPr/>
              <p:nvPr/>
            </p:nvSpPr>
            <p:spPr>
              <a:xfrm>
                <a:off x="4643322" y="3068543"/>
                <a:ext cx="3744441" cy="243056"/>
              </a:xfrm>
              <a:prstGeom prst="rect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2" name="Google Shape;492;p28"/>
            <p:cNvSpPr/>
            <p:nvPr/>
          </p:nvSpPr>
          <p:spPr>
            <a:xfrm>
              <a:off x="4284593" y="2420395"/>
              <a:ext cx="1439682" cy="216049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3" name="Google Shape;493;p28"/>
          <p:cNvSpPr txBox="1"/>
          <p:nvPr/>
        </p:nvSpPr>
        <p:spPr>
          <a:xfrm>
            <a:off x="1966616" y="2462116"/>
            <a:ext cx="4554388" cy="300082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department_id, </a:t>
            </a:r>
            <a:r>
              <a:rPr b="1" lang="en-US" sz="135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en-US" sz="13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(last_name) </a:t>
            </a:r>
            <a:r>
              <a:rPr b="1" lang="en-US" sz="135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employees;</a:t>
            </a:r>
            <a:endParaRPr sz="13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8"/>
          <p:cNvSpPr txBox="1"/>
          <p:nvPr>
            <p:ph type="title"/>
          </p:nvPr>
        </p:nvSpPr>
        <p:spPr>
          <a:xfrm>
            <a:off x="348343" y="646892"/>
            <a:ext cx="8621486" cy="1043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Groups of Data – </a:t>
            </a:r>
            <a:r>
              <a:rPr lang="en-US">
                <a:solidFill>
                  <a:srgbClr val="0070C0"/>
                </a:solidFill>
              </a:rPr>
              <a:t>GROUP BY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/>
          <p:nvPr>
            <p:ph idx="1" type="body"/>
          </p:nvPr>
        </p:nvSpPr>
        <p:spPr>
          <a:xfrm>
            <a:off x="1368529" y="2816542"/>
            <a:ext cx="3333750" cy="2887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/>
              <a:t>Whenever you use a mixture of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individual items </a:t>
            </a:r>
            <a:r>
              <a:rPr b="1" lang="en-US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(DEPARTMENT_ID) </a:t>
            </a:r>
            <a:r>
              <a:rPr lang="en-US"/>
              <a:t>and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group functions </a:t>
            </a:r>
            <a:r>
              <a:rPr b="1" lang="en-US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(COUNT)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the same </a:t>
            </a:r>
            <a:r>
              <a:rPr b="1" lang="en-US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US"/>
              <a:t> statement,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You must include a </a:t>
            </a:r>
            <a:r>
              <a:rPr b="1" lang="en-US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GROUP BY </a:t>
            </a:r>
            <a:r>
              <a:rPr lang="en-US"/>
              <a:t>clause that specifies the individual item (in this case, </a:t>
            </a:r>
            <a:r>
              <a:rPr b="1" lang="en-US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DEPARTMENT_ID</a:t>
            </a:r>
            <a:r>
              <a:rPr lang="en-US"/>
              <a:t>)</a:t>
            </a:r>
            <a:endParaRPr/>
          </a:p>
        </p:txBody>
      </p:sp>
      <p:sp>
        <p:nvSpPr>
          <p:cNvPr id="501" name="Google Shape;501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" name="Google Shape;502;p29"/>
          <p:cNvSpPr/>
          <p:nvPr/>
        </p:nvSpPr>
        <p:spPr>
          <a:xfrm>
            <a:off x="1750755" y="1989535"/>
            <a:ext cx="5642492" cy="71558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department_id, 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(last_name)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department_id;</a:t>
            </a:r>
            <a:endParaRPr/>
          </a:p>
        </p:txBody>
      </p:sp>
      <p:pic>
        <p:nvPicPr>
          <p:cNvPr id="503" name="Google Shape;5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897" y="2944036"/>
            <a:ext cx="2567616" cy="1289892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9"/>
          <p:cNvSpPr txBox="1"/>
          <p:nvPr>
            <p:ph type="title"/>
          </p:nvPr>
        </p:nvSpPr>
        <p:spPr>
          <a:xfrm>
            <a:off x="348343" y="646892"/>
            <a:ext cx="8621486" cy="1043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Groups of Data – </a:t>
            </a:r>
            <a:r>
              <a:rPr lang="en-US">
                <a:solidFill>
                  <a:srgbClr val="0070C0"/>
                </a:solidFill>
              </a:rPr>
              <a:t>GROUP BY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7644" y="1794319"/>
            <a:ext cx="5268713" cy="3081827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1873666" y="4942842"/>
            <a:ext cx="5332691" cy="715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if:</a:t>
            </a:r>
            <a:endParaRPr/>
          </a:p>
          <a:p>
            <a:pPr indent="-214313" lvl="0" marL="2143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department_id, job_id and number of staffs based on the job_id in each department.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0"/>
          <p:cNvSpPr txBox="1"/>
          <p:nvPr>
            <p:ph type="title"/>
          </p:nvPr>
        </p:nvSpPr>
        <p:spPr>
          <a:xfrm>
            <a:off x="348343" y="646892"/>
            <a:ext cx="8621486" cy="1043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Groups of Data – </a:t>
            </a:r>
            <a:r>
              <a:rPr lang="en-US">
                <a:solidFill>
                  <a:srgbClr val="0070C0"/>
                </a:solidFill>
              </a:rPr>
              <a:t>GROUP BY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Issue:</a:t>
            </a:r>
            <a:endParaRPr/>
          </a:p>
        </p:txBody>
      </p:sp>
      <p:sp>
        <p:nvSpPr>
          <p:cNvPr id="518" name="Google Shape;518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9" name="Google Shape;519;p31"/>
          <p:cNvSpPr txBox="1"/>
          <p:nvPr/>
        </p:nvSpPr>
        <p:spPr>
          <a:xfrm>
            <a:off x="2129500" y="2281898"/>
            <a:ext cx="3786600" cy="923400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department_id, job_id, </a:t>
            </a:r>
            <a:r>
              <a:rPr b="1" lang="en-US" sz="135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en-US" sz="13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(last_name)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GROUP BY </a:t>
            </a:r>
            <a:r>
              <a:rPr lang="en-US" sz="13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department_id;</a:t>
            </a:r>
            <a:endParaRPr b="1" sz="13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1"/>
          <p:cNvSpPr txBox="1"/>
          <p:nvPr/>
        </p:nvSpPr>
        <p:spPr>
          <a:xfrm>
            <a:off x="1614488" y="4766072"/>
            <a:ext cx="5915025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add job_id in the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GROUP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clause or remove the job_id column from the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list</a:t>
            </a:r>
            <a:endParaRPr/>
          </a:p>
        </p:txBody>
      </p:sp>
      <p:grpSp>
        <p:nvGrpSpPr>
          <p:cNvPr id="521" name="Google Shape;521;p31"/>
          <p:cNvGrpSpPr/>
          <p:nvPr/>
        </p:nvGrpSpPr>
        <p:grpSpPr>
          <a:xfrm>
            <a:off x="2554486" y="3316062"/>
            <a:ext cx="4035029" cy="1239441"/>
            <a:chOff x="3562171" y="3863734"/>
            <a:chExt cx="5380429" cy="1653498"/>
          </a:xfrm>
        </p:grpSpPr>
        <p:pic>
          <p:nvPicPr>
            <p:cNvPr id="522" name="Google Shape;52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62171" y="3863734"/>
              <a:ext cx="5380429" cy="1653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31"/>
            <p:cNvSpPr/>
            <p:nvPr/>
          </p:nvSpPr>
          <p:spPr>
            <a:xfrm>
              <a:off x="4649688" y="5229736"/>
              <a:ext cx="2802141" cy="287496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5802297" y="4581679"/>
              <a:ext cx="785869" cy="216019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5" name="Google Shape;525;p31"/>
          <p:cNvSpPr txBox="1"/>
          <p:nvPr>
            <p:ph type="title"/>
          </p:nvPr>
        </p:nvSpPr>
        <p:spPr>
          <a:xfrm>
            <a:off x="348343" y="646892"/>
            <a:ext cx="8621486" cy="1043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Groups of Data – </a:t>
            </a:r>
            <a:r>
              <a:rPr lang="en-US">
                <a:solidFill>
                  <a:srgbClr val="0070C0"/>
                </a:solidFill>
              </a:rPr>
              <a:t>GROUP BY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1" name="Google Shape;531;p32"/>
          <p:cNvSpPr/>
          <p:nvPr/>
        </p:nvSpPr>
        <p:spPr>
          <a:xfrm>
            <a:off x="1750755" y="1989535"/>
            <a:ext cx="5642492" cy="71558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department_id, job_id, </a:t>
            </a:r>
            <a:r>
              <a:rPr b="1" i="0" lang="en-US" sz="135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(last_name)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department_id, job_id;</a:t>
            </a:r>
            <a:endParaRPr/>
          </a:p>
        </p:txBody>
      </p:sp>
      <p:sp>
        <p:nvSpPr>
          <p:cNvPr id="532" name="Google Shape;532;p32"/>
          <p:cNvSpPr txBox="1"/>
          <p:nvPr/>
        </p:nvSpPr>
        <p:spPr>
          <a:xfrm>
            <a:off x="1382375" y="2720366"/>
            <a:ext cx="3872847" cy="2843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column or expression in the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list that is not an aggregate function must be in the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GROUP BY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clause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job_id is neither in the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clause nor is it being used by a group function, so there is a </a:t>
            </a: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“not a </a:t>
            </a:r>
            <a:r>
              <a:rPr b="1"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GROUP BY </a:t>
            </a: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expression”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correct this error by adding job_id in the </a:t>
            </a:r>
            <a:r>
              <a:rPr b="1" lang="en-US" sz="15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GROUP BY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clause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5874" y="2751310"/>
            <a:ext cx="2423881" cy="240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207" y="4612290"/>
            <a:ext cx="2201017" cy="1090827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2"/>
          <p:cNvSpPr txBox="1"/>
          <p:nvPr>
            <p:ph type="title"/>
          </p:nvPr>
        </p:nvSpPr>
        <p:spPr>
          <a:xfrm>
            <a:off x="348343" y="646892"/>
            <a:ext cx="8621486" cy="1043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Groups of Data – </a:t>
            </a:r>
            <a:r>
              <a:rPr lang="en-US">
                <a:solidFill>
                  <a:srgbClr val="0070C0"/>
                </a:solidFill>
              </a:rPr>
              <a:t>GROUP BY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3"/>
          <p:cNvSpPr txBox="1"/>
          <p:nvPr>
            <p:ph idx="1" type="body"/>
          </p:nvPr>
        </p:nvSpPr>
        <p:spPr>
          <a:xfrm>
            <a:off x="1216820" y="4513661"/>
            <a:ext cx="6591300" cy="1341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List the job ID and total monthly salary for each job that has a payroll exceeding $13,000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It excludes sales representatives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It sorts the list by the total monthly salary</a:t>
            </a:r>
            <a:endParaRPr/>
          </a:p>
        </p:txBody>
      </p:sp>
      <p:sp>
        <p:nvSpPr>
          <p:cNvPr id="542" name="Google Shape;542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43" name="Google Shape;543;p33"/>
          <p:cNvGrpSpPr/>
          <p:nvPr/>
        </p:nvGrpSpPr>
        <p:grpSpPr>
          <a:xfrm>
            <a:off x="1223964" y="2025255"/>
            <a:ext cx="3288506" cy="2153840"/>
            <a:chOff x="107504" y="1556791"/>
            <a:chExt cx="4385082" cy="2872507"/>
          </a:xfrm>
        </p:grpSpPr>
        <p:pic>
          <p:nvPicPr>
            <p:cNvPr id="544" name="Google Shape;544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7504" y="1556791"/>
              <a:ext cx="4385082" cy="28725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5" name="Google Shape;545;p33"/>
            <p:cNvSpPr/>
            <p:nvPr/>
          </p:nvSpPr>
          <p:spPr>
            <a:xfrm>
              <a:off x="1618944" y="2781060"/>
              <a:ext cx="1297108" cy="211191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6" name="Google Shape;546;p33"/>
          <p:cNvGrpSpPr/>
          <p:nvPr/>
        </p:nvGrpSpPr>
        <p:grpSpPr>
          <a:xfrm>
            <a:off x="4602956" y="2037160"/>
            <a:ext cx="3301604" cy="2141934"/>
            <a:chOff x="4613682" y="1572689"/>
            <a:chExt cx="4402213" cy="2856609"/>
          </a:xfrm>
        </p:grpSpPr>
        <p:pic>
          <p:nvPicPr>
            <p:cNvPr id="547" name="Google Shape;547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13682" y="1572689"/>
              <a:ext cx="4402213" cy="2856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8" name="Google Shape;548;p33"/>
            <p:cNvSpPr/>
            <p:nvPr/>
          </p:nvSpPr>
          <p:spPr>
            <a:xfrm>
              <a:off x="6166283" y="2781071"/>
              <a:ext cx="782651" cy="211190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9" name="Google Shape;549;p33"/>
          <p:cNvSpPr txBox="1"/>
          <p:nvPr>
            <p:ph type="title"/>
          </p:nvPr>
        </p:nvSpPr>
        <p:spPr>
          <a:xfrm>
            <a:off x="348343" y="646892"/>
            <a:ext cx="8621486" cy="1043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Groups of Data – </a:t>
            </a:r>
            <a:r>
              <a:rPr lang="en-US">
                <a:solidFill>
                  <a:srgbClr val="0070C0"/>
                </a:solidFill>
              </a:rPr>
              <a:t>GROUP BY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4"/>
          <p:cNvSpPr txBox="1"/>
          <p:nvPr>
            <p:ph type="title"/>
          </p:nvPr>
        </p:nvSpPr>
        <p:spPr>
          <a:xfrm>
            <a:off x="217713" y="551543"/>
            <a:ext cx="8694057" cy="1139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Illegal Queries Using Group Functions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55" name="Google Shape;555;p34"/>
          <p:cNvSpPr txBox="1"/>
          <p:nvPr>
            <p:ph idx="1" type="body"/>
          </p:nvPr>
        </p:nvSpPr>
        <p:spPr>
          <a:xfrm>
            <a:off x="1290638" y="2240756"/>
            <a:ext cx="2286000" cy="3349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You cannot use the </a:t>
            </a: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US" sz="1800"/>
              <a:t> clause to restrict groups.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You cannot use group functions in the </a:t>
            </a: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US" sz="1800"/>
              <a:t> clause.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1800"/>
              <a:buChar char="•"/>
            </a:pPr>
            <a:r>
              <a:rPr b="1" lang="en-US" sz="1800">
                <a:solidFill>
                  <a:srgbClr val="0000CC"/>
                </a:solidFill>
              </a:rPr>
              <a:t>Use </a:t>
            </a:r>
            <a:r>
              <a:rPr b="1" lang="en-US" sz="1800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HAVING </a:t>
            </a:r>
            <a:r>
              <a:rPr b="1" lang="en-US" sz="1800">
                <a:solidFill>
                  <a:srgbClr val="0000CC"/>
                </a:solidFill>
              </a:rPr>
              <a:t>clause to restrict groups</a:t>
            </a:r>
            <a:r>
              <a:rPr lang="en-US" sz="1800">
                <a:solidFill>
                  <a:srgbClr val="0000CC"/>
                </a:solidFill>
              </a:rPr>
              <a:t>.</a:t>
            </a:r>
            <a:endParaRPr b="1" sz="1800">
              <a:solidFill>
                <a:srgbClr val="0000CC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/>
              <a:t>	</a:t>
            </a:r>
            <a:endParaRPr sz="1800">
              <a:solidFill>
                <a:srgbClr val="FF0000"/>
              </a:solidFill>
            </a:endParaRPr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556" name="Google Shape;556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7" name="Google Shape;557;p34"/>
          <p:cNvGrpSpPr/>
          <p:nvPr/>
        </p:nvGrpSpPr>
        <p:grpSpPr>
          <a:xfrm>
            <a:off x="3576637" y="2412206"/>
            <a:ext cx="4424363" cy="2713792"/>
            <a:chOff x="3244651" y="2073276"/>
            <a:chExt cx="5899349" cy="3618388"/>
          </a:xfrm>
        </p:grpSpPr>
        <p:sp>
          <p:nvSpPr>
            <p:cNvPr id="558" name="Google Shape;558;p34"/>
            <p:cNvSpPr txBox="1"/>
            <p:nvPr/>
          </p:nvSpPr>
          <p:spPr>
            <a:xfrm>
              <a:off x="4038600" y="4953000"/>
              <a:ext cx="44958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500"/>
                <a:buFont typeface="Arial"/>
                <a:buNone/>
              </a:pPr>
              <a:r>
                <a:rPr b="1" lang="en-US" sz="1500">
                  <a:solidFill>
                    <a:srgbClr val="FF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Cannot use the WHERE clause to restrict groups</a:t>
              </a:r>
              <a:endParaRPr sz="15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pic>
          <p:nvPicPr>
            <p:cNvPr id="559" name="Google Shape;559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4651" y="2073276"/>
              <a:ext cx="5899349" cy="22240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60" name="Google Shape;560;p34"/>
            <p:cNvCxnSpPr/>
            <p:nvPr/>
          </p:nvCxnSpPr>
          <p:spPr>
            <a:xfrm rot="10800000">
              <a:off x="4571846" y="2924176"/>
              <a:ext cx="2232100" cy="2028824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561" name="Google Shape;561;p34"/>
            <p:cNvSpPr/>
            <p:nvPr/>
          </p:nvSpPr>
          <p:spPr>
            <a:xfrm>
              <a:off x="3852685" y="2636839"/>
              <a:ext cx="3383076" cy="287337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5"/>
          <p:cNvSpPr txBox="1"/>
          <p:nvPr>
            <p:ph type="title"/>
          </p:nvPr>
        </p:nvSpPr>
        <p:spPr>
          <a:xfrm>
            <a:off x="628650" y="2286623"/>
            <a:ext cx="7886700" cy="2284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HAVING</a:t>
            </a:r>
            <a:endParaRPr/>
          </a:p>
        </p:txBody>
      </p:sp>
      <p:sp>
        <p:nvSpPr>
          <p:cNvPr id="567" name="Google Shape;567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"/>
          <p:cNvSpPr txBox="1"/>
          <p:nvPr>
            <p:ph type="title"/>
          </p:nvPr>
        </p:nvSpPr>
        <p:spPr>
          <a:xfrm>
            <a:off x="0" y="622313"/>
            <a:ext cx="9144000" cy="1068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Restricting Group Results with the HAVING Clause</a:t>
            </a:r>
            <a:endParaRPr b="1" sz="3200"/>
          </a:p>
        </p:txBody>
      </p:sp>
      <p:sp>
        <p:nvSpPr>
          <p:cNvPr id="573" name="Google Shape;573;p3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you use the </a:t>
            </a:r>
            <a:r>
              <a:rPr b="1" lang="en-US">
                <a:solidFill>
                  <a:srgbClr val="0070C0"/>
                </a:solidFill>
              </a:rPr>
              <a:t>HAVING</a:t>
            </a:r>
            <a:r>
              <a:rPr lang="en-US"/>
              <a:t> clause, the Oracle server restricts groups as follows: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Rows are grouped.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group function is applied.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Groups matching the </a:t>
            </a:r>
            <a:r>
              <a:rPr b="1" lang="en-US">
                <a:solidFill>
                  <a:srgbClr val="0070C0"/>
                </a:solidFill>
              </a:rPr>
              <a:t>HAVING</a:t>
            </a:r>
            <a:r>
              <a:rPr lang="en-US"/>
              <a:t> clause are displayed.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74" name="Google Shape;574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1081282" y="4001294"/>
            <a:ext cx="5642492" cy="1338828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column, group_function(expr…)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table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condition]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BY group_by_expression]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group_condition]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1350" u="none" cap="none" strike="noStrike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BY column];</a:t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1081282" y="5591173"/>
            <a:ext cx="1967675" cy="359683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 ] = OPTIONAL</a:t>
            </a:r>
            <a:endParaRPr b="1"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7"/>
          <p:cNvSpPr txBox="1"/>
          <p:nvPr>
            <p:ph idx="1" type="body"/>
          </p:nvPr>
        </p:nvSpPr>
        <p:spPr>
          <a:xfrm>
            <a:off x="1321724" y="1961026"/>
            <a:ext cx="2106216" cy="3292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 the average salary for every department which has an average salary of $8000 </a:t>
            </a:r>
            <a:endParaRPr/>
          </a:p>
        </p:txBody>
      </p:sp>
      <p:sp>
        <p:nvSpPr>
          <p:cNvPr id="583" name="Google Shape;583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84" name="Google Shape;584;p37"/>
          <p:cNvGrpSpPr/>
          <p:nvPr/>
        </p:nvGrpSpPr>
        <p:grpSpPr>
          <a:xfrm>
            <a:off x="3427940" y="1961026"/>
            <a:ext cx="4429125" cy="2717006"/>
            <a:chOff x="3059832" y="1935163"/>
            <a:chExt cx="5904656" cy="3622025"/>
          </a:xfrm>
        </p:grpSpPr>
        <p:pic>
          <p:nvPicPr>
            <p:cNvPr id="585" name="Google Shape;585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59832" y="1935163"/>
              <a:ext cx="5904656" cy="3622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37"/>
            <p:cNvSpPr/>
            <p:nvPr/>
          </p:nvSpPr>
          <p:spPr>
            <a:xfrm>
              <a:off x="3780454" y="2997009"/>
              <a:ext cx="1007918" cy="287286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7" name="Google Shape;587;p37"/>
          <p:cNvSpPr txBox="1"/>
          <p:nvPr/>
        </p:nvSpPr>
        <p:spPr>
          <a:xfrm>
            <a:off x="0" y="622313"/>
            <a:ext cx="9144000" cy="1068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Restricting Group Results with the HAVING Clause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8"/>
          <p:cNvSpPr txBox="1"/>
          <p:nvPr>
            <p:ph idx="1" type="body"/>
          </p:nvPr>
        </p:nvSpPr>
        <p:spPr>
          <a:xfrm>
            <a:off x="493486" y="1407886"/>
            <a:ext cx="8171543" cy="3845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 the average salary for every department which has an average salary of $8000 </a:t>
            </a:r>
            <a:endParaRPr/>
          </a:p>
        </p:txBody>
      </p:sp>
      <p:sp>
        <p:nvSpPr>
          <p:cNvPr id="594" name="Google Shape;594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5" name="Google Shape;595;p38"/>
          <p:cNvSpPr txBox="1"/>
          <p:nvPr/>
        </p:nvSpPr>
        <p:spPr>
          <a:xfrm>
            <a:off x="1318339" y="2768844"/>
            <a:ext cx="3199769" cy="64633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department_id, </a:t>
            </a:r>
            <a:r>
              <a:rPr b="1" lang="en-US" sz="12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(salary)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department_id;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6" name="Google Shape;59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5869" y="3635727"/>
            <a:ext cx="2670410" cy="2475804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8"/>
          <p:cNvSpPr txBox="1"/>
          <p:nvPr/>
        </p:nvSpPr>
        <p:spPr>
          <a:xfrm>
            <a:off x="4645158" y="2573884"/>
            <a:ext cx="2443489" cy="830997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department_id, </a:t>
            </a:r>
            <a:r>
              <a:rPr b="1" lang="en-US" sz="12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(salary)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department_id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A22F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(salary)&gt;8000;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7723" y="3727121"/>
            <a:ext cx="2392880" cy="1289912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8"/>
          <p:cNvSpPr txBox="1"/>
          <p:nvPr>
            <p:ph type="title"/>
          </p:nvPr>
        </p:nvSpPr>
        <p:spPr>
          <a:xfrm>
            <a:off x="0" y="622313"/>
            <a:ext cx="9144000" cy="1068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FF0000"/>
                </a:solidFill>
              </a:rPr>
              <a:t>Restricting Group Results with the HAVING Clause</a:t>
            </a:r>
            <a:endParaRPr sz="3200">
              <a:solidFill>
                <a:srgbClr val="FF0000"/>
              </a:solidFill>
            </a:endParaRPr>
          </a:p>
        </p:txBody>
      </p:sp>
      <p:sp>
        <p:nvSpPr>
          <p:cNvPr id="600" name="Google Shape;600;p38"/>
          <p:cNvSpPr/>
          <p:nvPr/>
        </p:nvSpPr>
        <p:spPr>
          <a:xfrm>
            <a:off x="1872341" y="4238171"/>
            <a:ext cx="2322286" cy="14842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8"/>
          <p:cNvSpPr/>
          <p:nvPr/>
        </p:nvSpPr>
        <p:spPr>
          <a:xfrm>
            <a:off x="1879598" y="5159827"/>
            <a:ext cx="2322286" cy="87885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607" name="Google Shape;607;p3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ORDER BY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: To sort display in either ascending or descending order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Number functions : </a:t>
            </a:r>
            <a:r>
              <a:rPr b="1" lang="en-US">
                <a:solidFill>
                  <a:srgbClr val="0070C0"/>
                </a:solidFill>
              </a:rPr>
              <a:t>ROUND, TRUNCATE, MOD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Aggregate functions : </a:t>
            </a:r>
            <a:r>
              <a:rPr b="1" lang="en-US">
                <a:solidFill>
                  <a:srgbClr val="0070C0"/>
                </a:solidFill>
              </a:rPr>
              <a:t>COUNT, MAX, MIN, AVG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Grouping data: </a:t>
            </a:r>
            <a:r>
              <a:rPr b="1" lang="en-US">
                <a:solidFill>
                  <a:srgbClr val="0070C0"/>
                </a:solidFill>
              </a:rPr>
              <a:t>GROUP BY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Group functions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>
                <a:solidFill>
                  <a:srgbClr val="0070C0"/>
                </a:solidFill>
              </a:rPr>
              <a:t>HAVING</a:t>
            </a:r>
            <a:r>
              <a:rPr lang="en-US"/>
              <a:t> : use with conditions for restricting group results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8" name="Google Shape;608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Hand Written Exercise</a:t>
            </a:r>
            <a:endParaRPr/>
          </a:p>
        </p:txBody>
      </p:sp>
      <p:pic>
        <p:nvPicPr>
          <p:cNvPr id="614" name="Google Shape;614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565" y="2066297"/>
            <a:ext cx="4366580" cy="1923267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6" name="Google Shape;616;p40"/>
          <p:cNvSpPr txBox="1"/>
          <p:nvPr/>
        </p:nvSpPr>
        <p:spPr>
          <a:xfrm>
            <a:off x="1614488" y="1877262"/>
            <a:ext cx="59150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following relation schemas, construct the SQL statement for following tasks: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0"/>
          <p:cNvSpPr txBox="1"/>
          <p:nvPr/>
        </p:nvSpPr>
        <p:spPr>
          <a:xfrm>
            <a:off x="3424238" y="3916986"/>
            <a:ext cx="3283271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Schemas used in DML Question in Final Exam 2016/2017</a:t>
            </a:r>
            <a:endParaRPr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0"/>
          <p:cNvSpPr txBox="1"/>
          <p:nvPr/>
        </p:nvSpPr>
        <p:spPr>
          <a:xfrm>
            <a:off x="1614488" y="4177188"/>
            <a:ext cx="59150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SQL query below returns an error. Revise the SQL query.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film_id, title AVG(rental_rate) </a:t>
            </a:r>
            <a:b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FILM</a:t>
            </a:r>
            <a:b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(rental_rate)&lt;50</a:t>
            </a:r>
            <a:b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GROUP</a:t>
            </a: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film_id;</a:t>
            </a:r>
            <a:endParaRPr/>
          </a:p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stores which has more than 100 inactive customer (the value in “active” attribute is either YES or NO)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Hand Written Exercise</a:t>
            </a:r>
            <a:endParaRPr/>
          </a:p>
        </p:txBody>
      </p:sp>
      <p:pic>
        <p:nvPicPr>
          <p:cNvPr id="624" name="Google Shape;624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565" y="2066297"/>
            <a:ext cx="4366580" cy="1923267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6" name="Google Shape;626;p41"/>
          <p:cNvSpPr txBox="1"/>
          <p:nvPr/>
        </p:nvSpPr>
        <p:spPr>
          <a:xfrm>
            <a:off x="1614488" y="1877262"/>
            <a:ext cx="59150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following relation schemas, construct the SQL statement for following tasks: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1"/>
          <p:cNvSpPr txBox="1"/>
          <p:nvPr/>
        </p:nvSpPr>
        <p:spPr>
          <a:xfrm>
            <a:off x="1571625" y="3989564"/>
            <a:ext cx="5915025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SQL query below returns an error. Revise the SQL query.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SELECT 	film_id, title, AVG(rental_rate)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FROM		FILM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HAVING 	AVG(rental_rate) &lt; 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GROUP BY 	film_id;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stores which has more than 100 inactive customer (the value in “active” attribute is either YES or NO)</a:t>
            </a:r>
            <a:endParaRPr sz="1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SELECT		COUNT(store_id)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FROM		STORE, CUSTOMER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WHERE 	active = ‘NO’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HAVING         	COUNT(store_id) &gt; 100;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33" name="Google Shape;633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4" name="Google Shape;63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1392" y="3429000"/>
            <a:ext cx="3995252" cy="300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8817" y="3028051"/>
            <a:ext cx="3995252" cy="300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173" y="2870567"/>
            <a:ext cx="2709212" cy="916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2023-12-31T03:09:43Z</dcterms:created>
  <dc:creator>NUR AMALINA BINTI HAMIDI</dc:creator>
</cp:coreProperties>
</file>