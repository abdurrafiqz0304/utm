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lghXYUzTQlcRjIeAjRipOJq22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398923-446E-4975-B5FE-D83E89B4D70D}">
  <a:tblStyle styleId="{7C398923-446E-4975-B5FE-D83E89B4D7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>
                <a:solidFill>
                  <a:srgbClr val="830E3E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6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6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4" name="Google Shape;54;p36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3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9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9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72" name="Google Shape;72;p39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0"/>
          <p:cNvSpPr txBox="1">
            <a:spLocks noGrp="1"/>
          </p:cNvSpPr>
          <p:nvPr>
            <p:ph type="body" idx="1"/>
          </p:nvPr>
        </p:nvSpPr>
        <p:spPr>
          <a:xfrm rot="5400000">
            <a:off x="2306637" y="-31750"/>
            <a:ext cx="4530725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0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0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0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1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41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1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1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30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30E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30E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30E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30E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ftr" idx="11"/>
          </p:nvPr>
        </p:nvSpPr>
        <p:spPr>
          <a:xfrm>
            <a:off x="0" y="90488"/>
            <a:ext cx="4151086" cy="1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30E3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3200"/>
              <a:t>Structured Query Language (SQL) 1: Data Definition Language (DDL)</a:t>
            </a:r>
            <a:endParaRPr sz="320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SECD2523 Database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Semester </a:t>
            </a:r>
            <a:r>
              <a:rPr lang="en-MY"/>
              <a:t>1 </a:t>
            </a:r>
            <a:r>
              <a:rPr lang="en-MY" altLang="en-US">
                <a:sym typeface="+mn-ea"/>
              </a:rPr>
              <a:t>2021/2022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Learning Objective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MY"/>
              <a:t>At the end of this module, students should be able to: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Perform basic operations in a DBMS software.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Construct SQL statements to: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Create and delete tables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Perform changes to table structure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Include integrity constraints to tables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Introduction to DBMS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DBMS: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A software system that enables users to </a:t>
            </a:r>
            <a:r>
              <a:rPr lang="en-MY" b="1" u="sng">
                <a:solidFill>
                  <a:srgbClr val="C00000"/>
                </a:solidFill>
              </a:rPr>
              <a:t>define</a:t>
            </a:r>
            <a:r>
              <a:rPr lang="en-MY"/>
              <a:t>, </a:t>
            </a:r>
            <a:r>
              <a:rPr lang="en-MY" b="1" u="sng">
                <a:solidFill>
                  <a:srgbClr val="C00000"/>
                </a:solidFill>
              </a:rPr>
              <a:t>create</a:t>
            </a:r>
            <a:r>
              <a:rPr lang="en-MY"/>
              <a:t>, and maintain the database and that provides controlled access to this database.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DBMS perform the tasks through commands (a.k.a queries) written in Structured Query Language (SQL)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Structured Query Language</a:t>
            </a:r>
            <a:endParaRPr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A database language that allows users to: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Create database and relation structures.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Perform basic data management tasks (insertion, modification and deletion of data from relations)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Perform simple and complex queries.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Two major components: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Data Definition Language (DDL)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Data Manipulation Language (DML)</a:t>
            </a:r>
            <a:endParaRPr b="1">
              <a:solidFill>
                <a:srgbClr val="0070C0"/>
              </a:solidFill>
            </a:endParaRPr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Data Definition Language (DDL)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Definition: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A language that allows DBA or user to </a:t>
            </a:r>
            <a:r>
              <a:rPr lang="en-MY" b="1">
                <a:solidFill>
                  <a:srgbClr val="0070C0"/>
                </a:solidFill>
              </a:rPr>
              <a:t>describe</a:t>
            </a:r>
            <a:r>
              <a:rPr lang="en-MY"/>
              <a:t> and </a:t>
            </a:r>
            <a:r>
              <a:rPr lang="en-MY" b="1">
                <a:solidFill>
                  <a:srgbClr val="0070C0"/>
                </a:solidFill>
              </a:rPr>
              <a:t>name</a:t>
            </a:r>
            <a:r>
              <a:rPr lang="en-MY"/>
              <a:t> the entities, attributes, and relationships required for the application, together with any associated </a:t>
            </a:r>
            <a:r>
              <a:rPr lang="en-MY" b="1">
                <a:solidFill>
                  <a:srgbClr val="0070C0"/>
                </a:solidFill>
              </a:rPr>
              <a:t>integrity</a:t>
            </a:r>
            <a:r>
              <a:rPr lang="en-MY"/>
              <a:t> and </a:t>
            </a:r>
            <a:r>
              <a:rPr lang="en-MY" b="1">
                <a:solidFill>
                  <a:srgbClr val="0070C0"/>
                </a:solidFill>
              </a:rPr>
              <a:t>security</a:t>
            </a:r>
            <a:r>
              <a:rPr lang="en-MY"/>
              <a:t> constraints.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DDL allows database objects (schemas, domains, tables, views, etc) to be </a:t>
            </a:r>
            <a:r>
              <a:rPr lang="en-MY" b="1">
                <a:solidFill>
                  <a:srgbClr val="C00000"/>
                </a:solidFill>
              </a:rPr>
              <a:t>created</a:t>
            </a:r>
            <a:r>
              <a:rPr lang="en-MY"/>
              <a:t>, </a:t>
            </a:r>
            <a:r>
              <a:rPr lang="en-MY" b="1">
                <a:solidFill>
                  <a:srgbClr val="C00000"/>
                </a:solidFill>
              </a:rPr>
              <a:t>modified</a:t>
            </a:r>
            <a:r>
              <a:rPr lang="en-MY"/>
              <a:t> or </a:t>
            </a:r>
            <a:r>
              <a:rPr lang="en-MY" b="1">
                <a:solidFill>
                  <a:srgbClr val="C00000"/>
                </a:solidFill>
              </a:rPr>
              <a:t>deleted</a:t>
            </a:r>
            <a:r>
              <a:rPr lang="en-MY"/>
              <a:t>. Examples of DDL statements: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CREATE SCHEMA …	DROP SCHEMA …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CREATE TABLE …		DROP TABLE …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ALTER TABLE …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Integrity Enhancement Feature</a:t>
            </a:r>
            <a:endParaRPr/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SQL provides some facilities for integrity control to protect the database from becoming inconsistent.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Required Data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Using the </a:t>
            </a:r>
            <a:r>
              <a:rPr lang="en-MY" b="1"/>
              <a:t>NOT NULL </a:t>
            </a:r>
            <a:r>
              <a:rPr lang="en-MY"/>
              <a:t> constraint for column to ensure the column must contain a valid value.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Entity Integrity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Using </a:t>
            </a:r>
            <a:r>
              <a:rPr lang="en-MY" b="1"/>
              <a:t>PRIMARY KEY </a:t>
            </a:r>
            <a:r>
              <a:rPr lang="en-MY"/>
              <a:t>constraint for a column with unique, non-null value. Only ONE primary key per table.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Use </a:t>
            </a:r>
            <a:r>
              <a:rPr lang="en-MY" b="1"/>
              <a:t>UNIQUE</a:t>
            </a:r>
            <a:r>
              <a:rPr lang="en-MY"/>
              <a:t> constraint for column with unique values. Allow to be NULL but can assign to multiple columns.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Referential Integrity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Using </a:t>
            </a:r>
            <a:r>
              <a:rPr lang="en-MY" b="1"/>
              <a:t>FOREIGN KEY </a:t>
            </a:r>
            <a:r>
              <a:rPr lang="en-MY"/>
              <a:t>constraint to link to parent table that containing the matching attribute. A table can have multiple foreign keys.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9" name="Google Shape;129;p6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Dealing with Tables</a:t>
            </a:r>
            <a:endParaRPr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Define database structure and controlling access to data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AutoNum type="arabicPeriod"/>
            </a:pPr>
            <a:r>
              <a:rPr lang="en-MY" b="1">
                <a:solidFill>
                  <a:srgbClr val="0070C0"/>
                </a:solidFill>
              </a:rPr>
              <a:t>CREATE TABLE</a:t>
            </a:r>
            <a:r>
              <a:rPr lang="en-MY"/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to create table.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AutoNum type="arabicPeriod"/>
            </a:pPr>
            <a:r>
              <a:rPr lang="en-MY" b="1">
                <a:solidFill>
                  <a:srgbClr val="0070C0"/>
                </a:solidFill>
              </a:rPr>
              <a:t>ALTER TABLE</a:t>
            </a:r>
            <a:r>
              <a:rPr lang="en-MY"/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to modify the structure of the existing tables.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AutoNum type="arabicPeriod"/>
            </a:pPr>
            <a:r>
              <a:rPr lang="en-MY" b="1">
                <a:solidFill>
                  <a:srgbClr val="0070C0"/>
                </a:solidFill>
              </a:rPr>
              <a:t>DROP TABLE</a:t>
            </a:r>
            <a:r>
              <a:rPr lang="en-MY"/>
              <a:t>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to delete the existing tables.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7" name="Google Shape;137;p7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Creating Tables</a:t>
            </a:r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General SQL syntax for creating a table: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8</a:t>
            </a:fld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329" y="2297319"/>
            <a:ext cx="7377341" cy="3228561"/>
          </a:xfrm>
          <a:prstGeom prst="rect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8"/>
          <p:cNvSpPr/>
          <p:nvPr/>
        </p:nvSpPr>
        <p:spPr>
          <a:xfrm>
            <a:off x="6098584" y="5662405"/>
            <a:ext cx="2162086" cy="2616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 ] : optional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858351" y="5584172"/>
            <a:ext cx="18459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Connolly, 2015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CREATE TABLE</a:t>
            </a:r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Creating a table </a:t>
            </a:r>
            <a:r>
              <a:rPr lang="en-MY" b="1">
                <a:solidFill>
                  <a:srgbClr val="0070C0"/>
                </a:solidFill>
              </a:rPr>
              <a:t>without constraint</a:t>
            </a:r>
            <a:r>
              <a:rPr lang="en-MY"/>
              <a:t>.</a:t>
            </a:r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9</a:t>
            </a:fld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957128" y="2160351"/>
            <a:ext cx="7443387" cy="126864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20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 </a:t>
            </a:r>
            <a:r>
              <a:rPr lang="en-MY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20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[ 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 </a:t>
            </a:r>
            <a:r>
              <a:rPr lang="en-MY" sz="20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 b="1">
              <a:solidFill>
                <a:srgbClr val="2E75B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column2Name </a:t>
            </a:r>
            <a:r>
              <a:rPr lang="en-MY" sz="20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 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MY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38429" y="3436597"/>
            <a:ext cx="2162086" cy="26161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[ ]</a:t>
            </a: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optional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CREATE TABLE</a:t>
            </a:r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Creating a table </a:t>
            </a:r>
            <a:r>
              <a:rPr lang="en-MY" b="1">
                <a:solidFill>
                  <a:srgbClr val="0070C0"/>
                </a:solidFill>
              </a:rPr>
              <a:t>with constraints</a:t>
            </a:r>
            <a:r>
              <a:rPr lang="en-MY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Constraints at </a:t>
            </a:r>
            <a:r>
              <a:rPr lang="en-MY" b="1">
                <a:solidFill>
                  <a:srgbClr val="C00000"/>
                </a:solidFill>
              </a:rPr>
              <a:t>column level</a:t>
            </a:r>
            <a:r>
              <a:rPr lang="en-MY"/>
              <a:t>.</a:t>
            </a:r>
            <a:endParaRPr/>
          </a:p>
        </p:txBody>
      </p:sp>
      <p:sp>
        <p:nvSpPr>
          <p:cNvPr id="166" name="Google Shape;166;p10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10</a:t>
            </a:fld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957128" y="2785191"/>
            <a:ext cx="7443387" cy="159630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constraintName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constraintType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1">
              <a:solidFill>
                <a:srgbClr val="2E75B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column2Name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 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constraintName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constraintType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 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238429" y="4387220"/>
            <a:ext cx="2162086" cy="26161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[ ]</a:t>
            </a: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optional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CREATE TABLE</a:t>
            </a:r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Creating a table </a:t>
            </a:r>
            <a:r>
              <a:rPr lang="en-MY" b="1">
                <a:solidFill>
                  <a:srgbClr val="0070C0"/>
                </a:solidFill>
              </a:rPr>
              <a:t>with constraints</a:t>
            </a:r>
            <a:r>
              <a:rPr lang="en-MY"/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Constraints at </a:t>
            </a:r>
            <a:r>
              <a:rPr lang="en-MY" b="1">
                <a:solidFill>
                  <a:srgbClr val="C00000"/>
                </a:solidFill>
              </a:rPr>
              <a:t>table level</a:t>
            </a:r>
            <a:r>
              <a:rPr lang="en-MY"/>
              <a:t>.</a:t>
            </a:r>
            <a:endParaRPr/>
          </a:p>
        </p:txBody>
      </p:sp>
      <p:sp>
        <p:nvSpPr>
          <p:cNvPr id="176" name="Google Shape;176;p11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11</a:t>
            </a:fld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957128" y="2785191"/>
            <a:ext cx="7443387" cy="159630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1">
              <a:solidFill>
                <a:srgbClr val="2E75B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column2Name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 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DEFAULT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endParaRPr sz="18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constraintName</a:t>
            </a:r>
            <a:r>
              <a:rPr lang="en-MY" sz="1800" b="1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constraintType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columnName,…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MY" sz="18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238429" y="4387220"/>
            <a:ext cx="2162086" cy="26161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[ ]</a:t>
            </a: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 optional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Common Data Type</a:t>
            </a:r>
            <a:endParaRPr/>
          </a:p>
        </p:txBody>
      </p:sp>
      <p:sp>
        <p:nvSpPr>
          <p:cNvPr id="185" name="Google Shape;185;p1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Common Data Type (in Oracle)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Characters or String: CHAR(size), VARCHAR(size)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Dates: DATE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Numeric: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Integer: INTEGER, NUMBER(p) 🡪p: precision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Fixed number: NUMBER(p,s) 🡪 p: precision, s: scale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Floating-number: NUMBER, FLOAT</a:t>
            </a:r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Common SQL Data Type</a:t>
            </a: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13</a:t>
            </a:fld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Overview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96" name="Google Shape;1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183" y="2161460"/>
            <a:ext cx="8509633" cy="367966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 txBox="1"/>
          <p:nvPr/>
        </p:nvSpPr>
        <p:spPr>
          <a:xfrm>
            <a:off x="6825128" y="5551927"/>
            <a:ext cx="18459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Connolly, 2015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Constraints</a:t>
            </a:r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Types of constraints: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PRIMARY KEY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FOREIGN KEY</a:t>
            </a:r>
            <a:endParaRPr b="1">
              <a:solidFill>
                <a:srgbClr val="0070C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UNIQUE</a:t>
            </a:r>
            <a:endParaRPr b="1">
              <a:solidFill>
                <a:srgbClr val="0070C0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Ensure all data values stored in the column are unique.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Differ from PRIMARY KEY since it allows NULL values.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CHECK</a:t>
            </a:r>
            <a:endParaRPr b="1">
              <a:solidFill>
                <a:srgbClr val="0070C0"/>
              </a:solidFill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MY"/>
              <a:t>Checks a specific condition during the execution of the query.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MY" b="1">
                <a:solidFill>
                  <a:srgbClr val="0070C0"/>
                </a:solidFill>
              </a:rPr>
              <a:t>NOT NULL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204" name="Google Shape;204;p14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Examples (CREATE TABLE)</a:t>
            </a:r>
            <a:endParaRPr/>
          </a:p>
        </p:txBody>
      </p:sp>
      <p:sp>
        <p:nvSpPr>
          <p:cNvPr id="211" name="Google Shape;211;p1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Given the structure of the Department table as follows: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2" name="Google Shape;212;p15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15</a:t>
            </a:fld>
            <a:endParaRPr/>
          </a:p>
        </p:txBody>
      </p:sp>
      <p:graphicFrame>
        <p:nvGraphicFramePr>
          <p:cNvPr id="214" name="Google Shape;214;p15"/>
          <p:cNvGraphicFramePr/>
          <p:nvPr/>
        </p:nvGraphicFramePr>
        <p:xfrm>
          <a:off x="728662" y="28156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{7C398923-446E-4975-B5FE-D83E89B4D70D}</a:tableStyleId>
              </a:tblPr>
              <a:tblGrid>
                <a:gridCol w="198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u="none" strike="noStrike" cap="none"/>
                        <a:t>Attribute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Datatype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deptNo (Primary Key)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 – precision(5)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deptName </a:t>
                      </a:r>
                      <a:br>
                        <a:rPr lang="en-MY" sz="1400"/>
                      </a:br>
                      <a:r>
                        <a:rPr lang="en-MY" sz="1400"/>
                        <a:t>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Varchar(20)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Address 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Varchar(30)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City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Varchar(15)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5" name="Google Shape;215;p15"/>
          <p:cNvSpPr txBox="1"/>
          <p:nvPr/>
        </p:nvSpPr>
        <p:spPr>
          <a:xfrm>
            <a:off x="1963141" y="2455725"/>
            <a:ext cx="14823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15"/>
          <p:cNvGraphicFramePr/>
          <p:nvPr/>
        </p:nvGraphicFramePr>
        <p:xfrm>
          <a:off x="4795998" y="28156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{7C398923-446E-4975-B5FE-D83E89B4D70D}</a:tableStyleId>
              </a:tblPr>
              <a:tblGrid>
                <a:gridCol w="228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Attribute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Datatype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empID (Primary Key)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fName 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Varchar(20)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lName 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Varchar(30)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deptNo (Foreign key) – deptNo is an attribute in Department relation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Number(5)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7" name="Google Shape;217;p15"/>
          <p:cNvSpPr txBox="1"/>
          <p:nvPr/>
        </p:nvSpPr>
        <p:spPr>
          <a:xfrm>
            <a:off x="6038495" y="2455725"/>
            <a:ext cx="13360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Examples (CREATE TABLE)</a:t>
            </a:r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Create table without constraint: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In this case, constraints (e.g.: primary key) can be added using </a:t>
            </a:r>
            <a:r>
              <a:rPr lang="en-MY" b="1">
                <a:solidFill>
                  <a:srgbClr val="0070C0"/>
                </a:solidFill>
              </a:rPr>
              <a:t>ALTER TABLE </a:t>
            </a:r>
            <a:r>
              <a:rPr lang="en-MY"/>
              <a:t>command.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16</a:t>
            </a:fld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957129" y="2098360"/>
            <a:ext cx="7125300" cy="15282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NUMBER(5),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VARCHAR(20),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VARCHAR(30),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VARCHAR(15)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957129" y="3659625"/>
            <a:ext cx="7125238" cy="1528246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empID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VARCHAR(10),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VARCHAR(20),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NUMBER(5)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Examples (CREATE TABLE)</a:t>
            </a:r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Create table with constraints:</a:t>
            </a:r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17</a:t>
            </a:fld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957129" y="2160351"/>
            <a:ext cx="7125238" cy="1621235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NUMBER(5)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VARCHAR(20)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VARCHAR(30),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VARCHAR(15)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957129" y="3903067"/>
            <a:ext cx="7125238" cy="1621235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empID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VARCHAR(10)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VARCHAR(20)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NUMBER(5)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REFERENCES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Altering Tables</a:t>
            </a:r>
            <a:endParaRPr/>
          </a:p>
        </p:txBody>
      </p:sp>
      <p:sp>
        <p:nvSpPr>
          <p:cNvPr id="243" name="Google Shape;243;p1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To change the structure of a table once it has been created.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General Syntax:</a:t>
            </a:r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18</a:t>
            </a:fld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83733" y="3041565"/>
            <a:ext cx="6486689" cy="629952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);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83732" y="3719592"/>
            <a:ext cx="6486689" cy="801793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constraintName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constraintType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683732" y="4573379"/>
            <a:ext cx="6486688" cy="676484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MODIFY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newdataType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defaultvalue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83732" y="5279391"/>
            <a:ext cx="6486688" cy="676484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DROP COLUMN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columnName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225505" y="3041565"/>
            <a:ext cx="141179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column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7225505" y="3719592"/>
            <a:ext cx="16032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constraint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7170420" y="4521385"/>
            <a:ext cx="19184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data type, data size, default values, constraints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7181413" y="5256840"/>
            <a:ext cx="19184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column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Altering Tables</a:t>
            </a:r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9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19</a:t>
            </a:fld>
            <a:endParaRPr/>
          </a:p>
        </p:txBody>
      </p:sp>
      <p:sp>
        <p:nvSpPr>
          <p:cNvPr id="261" name="Google Shape;261;p19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General syntax for altering tables</a:t>
            </a:r>
            <a:endParaRPr/>
          </a:p>
        </p:txBody>
      </p:sp>
      <p:pic>
        <p:nvPicPr>
          <p:cNvPr id="262" name="Google Shape;26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820" y="2427565"/>
            <a:ext cx="7806359" cy="2604903"/>
          </a:xfrm>
          <a:prstGeom prst="rect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263" name="Google Shape;263;p19"/>
          <p:cNvSpPr/>
          <p:nvPr/>
        </p:nvSpPr>
        <p:spPr>
          <a:xfrm>
            <a:off x="6313093" y="5080957"/>
            <a:ext cx="2162086" cy="2616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 ] : optional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28650" y="5095974"/>
            <a:ext cx="18459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Connolly, 2015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ALTER TABLE - Examples</a:t>
            </a:r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MY" b="1">
                <a:solidFill>
                  <a:srgbClr val="C00000"/>
                </a:solidFill>
              </a:rPr>
              <a:t>Add</a:t>
            </a:r>
            <a:r>
              <a:rPr lang="en-MY"/>
              <a:t> new column “Address” into Employee table.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MY" b="1">
                <a:solidFill>
                  <a:srgbClr val="C00000"/>
                </a:solidFill>
              </a:rPr>
              <a:t>Change</a:t>
            </a:r>
            <a:r>
              <a:rPr lang="en-MY"/>
              <a:t> datatype of “Address” to VARCHAR(20) and set the column as NOT NULL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MY" b="1">
                <a:solidFill>
                  <a:srgbClr val="C00000"/>
                </a:solidFill>
              </a:rPr>
              <a:t>Delete</a:t>
            </a:r>
            <a:r>
              <a:rPr lang="en-MY"/>
              <a:t> the column “Address”</a:t>
            </a:r>
            <a:endParaRPr/>
          </a:p>
        </p:txBody>
      </p:sp>
      <p:sp>
        <p:nvSpPr>
          <p:cNvPr id="271" name="Google Shape;271;p20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20</a:t>
            </a:fld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1328655" y="2294804"/>
            <a:ext cx="6486689" cy="722715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VARCHAR(40)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1328655" y="5552673"/>
            <a:ext cx="6486688" cy="722714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DROP COLUMN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328655" y="4138142"/>
            <a:ext cx="6486688" cy="676484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MODIFY </a:t>
            </a:r>
            <a:r>
              <a:rPr lang="en-MY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MY" sz="16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16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VARCHAR(20) NOT NULL</a:t>
            </a:r>
            <a:r>
              <a:rPr lang="en-MY" sz="16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6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ALTER TABLE - Examples</a:t>
            </a:r>
            <a:endParaRPr/>
          </a:p>
        </p:txBody>
      </p:sp>
      <p:sp>
        <p:nvSpPr>
          <p:cNvPr id="281" name="Google Shape;281;p21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Adding constraint after a table has been created.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Set the attribute of “EmployeeID” as the PRIMARY KEY for the Employee table.</a:t>
            </a:r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1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21</a:t>
            </a:fld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1658312" y="3207121"/>
            <a:ext cx="4985548" cy="102197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pk_Employee</a:t>
            </a:r>
            <a:b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EmployeeID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5668979" y="3587305"/>
            <a:ext cx="1226341" cy="26161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21"/>
          <p:cNvCxnSpPr>
            <a:stCxn id="285" idx="1"/>
          </p:cNvCxnSpPr>
          <p:nvPr/>
        </p:nvCxnSpPr>
        <p:spPr>
          <a:xfrm rot="10800000">
            <a:off x="5341679" y="3718110"/>
            <a:ext cx="327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Examples (ALTER TABLE)</a:t>
            </a:r>
            <a:endParaRPr/>
          </a:p>
        </p:txBody>
      </p:sp>
      <p:sp>
        <p:nvSpPr>
          <p:cNvPr id="292" name="Google Shape;292;p22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If both tables are created without constraint.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Constraints must be added using </a:t>
            </a:r>
            <a:r>
              <a:rPr lang="en-MY" b="1">
                <a:solidFill>
                  <a:srgbClr val="0070C0"/>
                </a:solidFill>
              </a:rPr>
              <a:t>ALTER TABLE</a:t>
            </a:r>
            <a:r>
              <a:rPr lang="en-MY">
                <a:solidFill>
                  <a:srgbClr val="0070C0"/>
                </a:solidFill>
              </a:rPr>
              <a:t> </a:t>
            </a:r>
            <a:endParaRPr>
              <a:solidFill>
                <a:srgbClr val="0070C0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93" name="Google Shape;293;p22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2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22</a:t>
            </a:fld>
            <a:endParaRPr/>
          </a:p>
        </p:txBody>
      </p:sp>
      <p:graphicFrame>
        <p:nvGraphicFramePr>
          <p:cNvPr id="295" name="Google Shape;295;p22"/>
          <p:cNvGraphicFramePr/>
          <p:nvPr/>
        </p:nvGraphicFramePr>
        <p:xfrm>
          <a:off x="728662" y="31798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{7C398923-446E-4975-B5FE-D83E89B4D70D}</a:tableStyleId>
              </a:tblPr>
              <a:tblGrid>
                <a:gridCol w="198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Attribute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Datatype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deptNo (Primary Key)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 – precision(5)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deptName </a:t>
                      </a:r>
                      <a:br>
                        <a:rPr lang="en-MY" sz="1400"/>
                      </a:br>
                      <a:r>
                        <a:rPr lang="en-MY" sz="1400"/>
                        <a:t>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Varchar(20)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Address 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Varchar(30)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City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Varchar(15)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6" name="Google Shape;296;p22"/>
          <p:cNvSpPr txBox="1"/>
          <p:nvPr/>
        </p:nvSpPr>
        <p:spPr>
          <a:xfrm>
            <a:off x="1963141" y="2819934"/>
            <a:ext cx="14823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22"/>
          <p:cNvGraphicFramePr/>
          <p:nvPr/>
        </p:nvGraphicFramePr>
        <p:xfrm>
          <a:off x="4795998" y="317982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{7C398923-446E-4975-B5FE-D83E89B4D70D}</a:tableStyleId>
              </a:tblPr>
              <a:tblGrid>
                <a:gridCol w="228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Attribute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Datatype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empID (Primary Key)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fName 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Varchar(20)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lName – requires values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Varchar(30)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deptNo (Foreign key) – deptNo is an attribute in Department relation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/>
                        <a:t>Number(5)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8" name="Google Shape;298;p22"/>
          <p:cNvSpPr txBox="1"/>
          <p:nvPr/>
        </p:nvSpPr>
        <p:spPr>
          <a:xfrm>
            <a:off x="6038495" y="2819934"/>
            <a:ext cx="13360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Examples (ALTER TABLE)</a:t>
            </a:r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For Department table, </a:t>
            </a:r>
            <a:r>
              <a:rPr lang="en-MY" u="sng"/>
              <a:t>primary key</a:t>
            </a:r>
            <a:r>
              <a:rPr lang="en-MY"/>
              <a:t> and the </a:t>
            </a:r>
            <a:r>
              <a:rPr lang="en-MY" u="sng"/>
              <a:t>NOT NULL constraint</a:t>
            </a:r>
            <a:r>
              <a:rPr lang="en-MY"/>
              <a:t> for deptName attribute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For Employees table, </a:t>
            </a:r>
            <a:r>
              <a:rPr lang="en-MY" u="sng"/>
              <a:t>primary key</a:t>
            </a:r>
            <a:r>
              <a:rPr lang="en-MY"/>
              <a:t>, </a:t>
            </a:r>
            <a:r>
              <a:rPr lang="en-MY" u="sng"/>
              <a:t>NOT NULL constraints</a:t>
            </a:r>
            <a:r>
              <a:rPr lang="en-MY"/>
              <a:t> and </a:t>
            </a:r>
            <a:r>
              <a:rPr lang="en-MY" u="sng"/>
              <a:t>foreign key</a:t>
            </a:r>
            <a:r>
              <a:rPr lang="en-MY"/>
              <a:t> to be added.</a:t>
            </a:r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23</a:t>
            </a:fld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829155" y="2501947"/>
            <a:ext cx="7485689" cy="102197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pk_Department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MODIFY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deptName 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VARCHAR(20)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829155" y="4436651"/>
            <a:ext cx="7485689" cy="1838735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</a:t>
            </a:r>
            <a:r>
              <a:rPr lang="en-MY" sz="1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MODIFY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fName 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VARCHAR(20)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endParaRPr sz="18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MODIFY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lName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 VARCHAR(30)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endParaRPr sz="18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pk_Employees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empID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fk_EmpDept </a:t>
            </a:r>
            <a:r>
              <a:rPr lang="en-MY" sz="18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REFERENCES </a:t>
            </a:r>
            <a:r>
              <a:rPr lang="en-MY" sz="18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Department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MY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deptNo</a:t>
            </a:r>
            <a:r>
              <a:rPr lang="en-MY" sz="18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MY" sz="18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Deleting Table</a:t>
            </a:r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General Syntax: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Example: delete the table named “Employee”</a:t>
            </a:r>
            <a:endParaRPr/>
          </a:p>
        </p:txBody>
      </p:sp>
      <p:sp>
        <p:nvSpPr>
          <p:cNvPr id="315" name="Google Shape;315;p24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24</a:t>
            </a:fld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1841192" y="2292721"/>
            <a:ext cx="4985548" cy="102197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</a:t>
            </a:r>
            <a:r>
              <a:rPr lang="en-MY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tableName;</a:t>
            </a:r>
            <a:endParaRPr sz="24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1841192" y="4426321"/>
            <a:ext cx="4985548" cy="102197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</a:t>
            </a:r>
            <a:r>
              <a:rPr lang="en-MY" sz="24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Employee;</a:t>
            </a:r>
            <a:endParaRPr sz="24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Restore Dropped Table</a:t>
            </a:r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Dropped tables are actually placed in a recycle bin and can be restored.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Syntax: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Supported only in Oracle.</a:t>
            </a:r>
            <a:endParaRPr/>
          </a:p>
        </p:txBody>
      </p:sp>
      <p:sp>
        <p:nvSpPr>
          <p:cNvPr id="325" name="Google Shape;325;p25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5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25</a:t>
            </a:fld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910525" y="3152183"/>
            <a:ext cx="6861875" cy="66814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FLASHBACK TABLE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TO BEFORE DROP; 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Other Useful Statements</a:t>
            </a:r>
            <a:endParaRPr/>
          </a:p>
        </p:txBody>
      </p:sp>
      <p:sp>
        <p:nvSpPr>
          <p:cNvPr id="333" name="Google Shape;333;p26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Viewing list of tables in a user schema: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USER_TABLES: oracle’s data dictionary object that stores information of tables created under a specific user (schema)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To view the list of tables: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Supported in Oracle.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4" name="Google Shape;334;p26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6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26</a:t>
            </a:fld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910525" y="3981342"/>
            <a:ext cx="7322949" cy="668149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lang="en-MY" sz="2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TABLE_NAME </a:t>
            </a:r>
            <a:r>
              <a:rPr lang="en-MY" sz="2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lang="en-MY" sz="24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USER_TABLES</a:t>
            </a:r>
            <a:r>
              <a:rPr lang="en-MY" sz="24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Other Useful Statements</a:t>
            </a:r>
            <a:endParaRPr/>
          </a:p>
        </p:txBody>
      </p:sp>
      <p:sp>
        <p:nvSpPr>
          <p:cNvPr id="342" name="Google Shape;342;p27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Viewing table structures using </a:t>
            </a:r>
            <a:r>
              <a:rPr lang="en-MY" b="1"/>
              <a:t>DESC </a:t>
            </a:r>
            <a:r>
              <a:rPr lang="en-MY"/>
              <a:t>or </a:t>
            </a:r>
            <a:r>
              <a:rPr lang="en-MY" b="1"/>
              <a:t>DESCRIBE.</a:t>
            </a:r>
            <a:endParaRPr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Syntax: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Example: View the table structure of Employee table.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Rename a table using </a:t>
            </a:r>
            <a:r>
              <a:rPr lang="en-MY" b="1"/>
              <a:t>RENAME</a:t>
            </a:r>
            <a:endParaRPr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Syntax: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MY"/>
              <a:t>Example: Rename the Employee table to “Workers”</a:t>
            </a:r>
            <a:endParaRPr/>
          </a:p>
        </p:txBody>
      </p:sp>
      <p:sp>
        <p:nvSpPr>
          <p:cNvPr id="343" name="Google Shape;343;p27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7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27</a:t>
            </a:fld>
            <a:endParaRPr/>
          </a:p>
        </p:txBody>
      </p:sp>
      <p:sp>
        <p:nvSpPr>
          <p:cNvPr id="345" name="Google Shape;345;p27"/>
          <p:cNvSpPr/>
          <p:nvPr/>
        </p:nvSpPr>
        <p:spPr>
          <a:xfrm>
            <a:off x="2430128" y="2131018"/>
            <a:ext cx="4985548" cy="333213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DESCRIBE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tableName;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2079226" y="3010546"/>
            <a:ext cx="4985548" cy="333213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DESCRIBE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Employee;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2430127" y="4227163"/>
            <a:ext cx="5365519" cy="333213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RENAME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newtableName;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1889240" y="5045156"/>
            <a:ext cx="5365519" cy="333213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RENAME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Workers;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Other Useful Statements</a:t>
            </a:r>
            <a:endParaRPr/>
          </a:p>
        </p:txBody>
      </p:sp>
      <p:sp>
        <p:nvSpPr>
          <p:cNvPr id="354" name="Google Shape;354;p28"/>
          <p:cNvSpPr txBox="1">
            <a:spLocks noGrp="1"/>
          </p:cNvSpPr>
          <p:nvPr>
            <p:ph type="body" idx="1"/>
          </p:nvPr>
        </p:nvSpPr>
        <p:spPr>
          <a:xfrm>
            <a:off x="628650" y="1646238"/>
            <a:ext cx="78867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Create table from existing database tables, using the </a:t>
            </a:r>
            <a:r>
              <a:rPr lang="en-MY" b="1">
                <a:solidFill>
                  <a:srgbClr val="0070C0"/>
                </a:solidFill>
              </a:rPr>
              <a:t>AS</a:t>
            </a:r>
            <a:r>
              <a:rPr lang="en-MY"/>
              <a:t> clause and subqueries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Syntax: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MY"/>
              <a:t>Example: create a new table based on the HR Employee table in Oracle.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8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28</a:t>
            </a:fld>
            <a:endParaRPr/>
          </a:p>
        </p:txBody>
      </p:sp>
      <p:sp>
        <p:nvSpPr>
          <p:cNvPr id="357" name="Google Shape;357;p28"/>
          <p:cNvSpPr/>
          <p:nvPr/>
        </p:nvSpPr>
        <p:spPr>
          <a:xfrm>
            <a:off x="941630" y="3036006"/>
            <a:ext cx="7443387" cy="104005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tableName </a:t>
            </a:r>
            <a:r>
              <a:rPr lang="en-MY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(columnName,…)</a:t>
            </a:r>
            <a:r>
              <a:rPr lang="en-MY" sz="20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 b="1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MY" sz="20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MY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(…subquery…)</a:t>
            </a:r>
            <a:r>
              <a:rPr lang="en-MY" sz="2000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0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941630" y="4945799"/>
            <a:ext cx="7443387" cy="104005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lang="en-MY" sz="20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NewEmployee</a:t>
            </a:r>
            <a:endParaRPr sz="20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AS (SELECT * FROM </a:t>
            </a:r>
            <a:r>
              <a:rPr lang="en-MY" sz="20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hr.Employees</a:t>
            </a:r>
            <a:r>
              <a:rPr lang="en-MY" sz="2000" b="1">
                <a:solidFill>
                  <a:srgbClr val="FFC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 b="1">
              <a:solidFill>
                <a:srgbClr val="FFC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2924745" y="5882195"/>
            <a:ext cx="1226341" cy="261610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Subquery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28"/>
          <p:cNvCxnSpPr/>
          <p:nvPr/>
        </p:nvCxnSpPr>
        <p:spPr>
          <a:xfrm>
            <a:off x="1720312" y="5773119"/>
            <a:ext cx="383583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9"/>
          <p:cNvSpPr txBox="1">
            <a:spLocks noGrp="1"/>
          </p:cNvSpPr>
          <p:nvPr>
            <p:ph type="title"/>
          </p:nvPr>
        </p:nvSpPr>
        <p:spPr>
          <a:xfrm>
            <a:off x="628650" y="582613"/>
            <a:ext cx="7886700" cy="9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Exercise</a:t>
            </a:r>
            <a:endParaRPr/>
          </a:p>
        </p:txBody>
      </p:sp>
      <p:sp>
        <p:nvSpPr>
          <p:cNvPr id="366" name="Google Shape;366;p29"/>
          <p:cNvSpPr txBox="1">
            <a:spLocks noGrp="1"/>
          </p:cNvSpPr>
          <p:nvPr>
            <p:ph type="dt" idx="10"/>
          </p:nvPr>
        </p:nvSpPr>
        <p:spPr>
          <a:xfrm>
            <a:off x="0" y="6492875"/>
            <a:ext cx="1457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2366963" y="6492875"/>
            <a:ext cx="674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1549</Words>
  <Application>Microsoft Office PowerPoint</Application>
  <PresentationFormat>On-screen Show (4:3)</PresentationFormat>
  <Paragraphs>310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Structured Query Language (SQL) 1: Data Definition Language (DDL)</vt:lpstr>
      <vt:lpstr>Learning Objective</vt:lpstr>
      <vt:lpstr>Introduction to DBMS</vt:lpstr>
      <vt:lpstr>Structured Query Language</vt:lpstr>
      <vt:lpstr>Data Definition Language (DDL)</vt:lpstr>
      <vt:lpstr>Integrity Enhancement Feature</vt:lpstr>
      <vt:lpstr>Dealing with Tables</vt:lpstr>
      <vt:lpstr>Creating Tables</vt:lpstr>
      <vt:lpstr>CREATE TABLE</vt:lpstr>
      <vt:lpstr>CREATE TABLE</vt:lpstr>
      <vt:lpstr>CREATE TABLE</vt:lpstr>
      <vt:lpstr>Common Data Type</vt:lpstr>
      <vt:lpstr>Common SQL Data Type</vt:lpstr>
      <vt:lpstr>Constraints</vt:lpstr>
      <vt:lpstr>Examples (CREATE TABLE)</vt:lpstr>
      <vt:lpstr>Examples (CREATE TABLE)</vt:lpstr>
      <vt:lpstr>Examples (CREATE TABLE)</vt:lpstr>
      <vt:lpstr>Altering Tables</vt:lpstr>
      <vt:lpstr>Altering Tables</vt:lpstr>
      <vt:lpstr>ALTER TABLE - Examples</vt:lpstr>
      <vt:lpstr>ALTER TABLE - Examples</vt:lpstr>
      <vt:lpstr>Examples (ALTER TABLE)</vt:lpstr>
      <vt:lpstr>Examples (ALTER TABLE)</vt:lpstr>
      <vt:lpstr>Deleting Table</vt:lpstr>
      <vt:lpstr>Restore Dropped Table</vt:lpstr>
      <vt:lpstr>Other Useful Statements</vt:lpstr>
      <vt:lpstr>Other Useful Statements</vt:lpstr>
      <vt:lpstr>Other Useful Statements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Query Language (SQL) 1: Data Definition Language (DDL)</dc:title>
  <dc:creator>acidfed</dc:creator>
  <cp:lastModifiedBy>HASLINA BINTI HASHIM</cp:lastModifiedBy>
  <cp:revision>1</cp:revision>
  <dcterms:created xsi:type="dcterms:W3CDTF">2019-01-07T08:53:00Z</dcterms:created>
  <dcterms:modified xsi:type="dcterms:W3CDTF">2021-10-19T04:08:04Z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