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315" r:id="rId2"/>
    <p:sldId id="275" r:id="rId3"/>
    <p:sldId id="262" r:id="rId4"/>
    <p:sldId id="258" r:id="rId5"/>
    <p:sldId id="259" r:id="rId6"/>
    <p:sldId id="260" r:id="rId7"/>
    <p:sldId id="261" r:id="rId8"/>
    <p:sldId id="316" r:id="rId9"/>
    <p:sldId id="263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17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13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10839A6-B55F-5645-A2AC-B93202AE315A}">
          <p14:sldIdLst>
            <p14:sldId id="315"/>
            <p14:sldId id="275"/>
            <p14:sldId id="262"/>
            <p14:sldId id="258"/>
            <p14:sldId id="259"/>
          </p14:sldIdLst>
        </p14:section>
        <p14:section name="HR SCHEMA" id="{A6DE4D12-FD13-884C-9AAB-243E5E416473}">
          <p14:sldIdLst>
            <p14:sldId id="260"/>
            <p14:sldId id="261"/>
          </p14:sldIdLst>
        </p14:section>
        <p14:section name="INSERT INTO ... VALUES" id="{7C71252B-2DA3-914C-A33A-90AFBFB1C0EB}">
          <p14:sldIdLst>
            <p14:sldId id="316"/>
            <p14:sldId id="263"/>
            <p14:sldId id="264"/>
            <p14:sldId id="266"/>
            <p14:sldId id="265"/>
            <p14:sldId id="267"/>
            <p14:sldId id="268"/>
            <p14:sldId id="269"/>
            <p14:sldId id="270"/>
          </p14:sldIdLst>
        </p14:section>
        <p14:section name="INSERT INTO SELECT" id="{E35CEF50-04F2-9648-B9BB-603235A71518}">
          <p14:sldIdLst>
            <p14:sldId id="271"/>
          </p14:sldIdLst>
        </p14:section>
        <p14:section name="UPDATE SET" id="{4756EDC8-2062-FD4B-88B8-F558EB8CEC00}">
          <p14:sldIdLst>
            <p14:sldId id="272"/>
            <p14:sldId id="273"/>
            <p14:sldId id="274"/>
          </p14:sldIdLst>
        </p14:section>
        <p14:section name="DELETE FROM" id="{AF4B8982-0F85-654C-9DF8-7505B5C85588}">
          <p14:sldIdLst>
            <p14:sldId id="317"/>
          </p14:sldIdLst>
        </p14:section>
        <p14:section name="SELECT FROM" id="{3A00E573-033F-D040-801D-09537267AB54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SELECT FROM WHERE" id="{A5AAA317-E223-BC43-9BC7-925375F88336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RULES OF PRECEDENCE" id="{5D69A78D-1FB6-EC48-8967-05B7F2C8A287}">
          <p14:sldIdLst>
            <p14:sldId id="292"/>
            <p14:sldId id="293"/>
          </p14:sldIdLst>
        </p14:section>
        <p14:section name="DISTINCT" id="{7864BB9F-6294-084E-BE69-1439F4C3CE96}">
          <p14:sldIdLst>
            <p14:sldId id="294"/>
            <p14:sldId id="295"/>
          </p14:sldIdLst>
        </p14:section>
        <p14:section name="DESCRIBE" id="{25170B5E-5EB1-F443-B285-FBEA886C2CCA}">
          <p14:sldIdLst>
            <p14:sldId id="296"/>
          </p14:sldIdLst>
        </p14:section>
        <p14:section name="SUMMARY" id="{BD90C2ED-FDB7-B74F-A56F-D9B2DC0CDABB}">
          <p14:sldIdLst>
            <p14:sldId id="297"/>
          </p14:sldIdLst>
        </p14:section>
        <p14:section name="Exercise" id="{C04EB0E0-0275-3443-882D-134204C4EC29}">
          <p14:sldIdLst>
            <p14:sldId id="298"/>
            <p14:sldId id="299"/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1D35"/>
    <a:srgbClr val="956251"/>
    <a:srgbClr val="9B2D1F"/>
    <a:srgbClr val="F2F2F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76" autoAdjust="0"/>
    <p:restoredTop sz="82313" autoAdjust="0"/>
  </p:normalViewPr>
  <p:slideViewPr>
    <p:cSldViewPr snapToGrid="0">
      <p:cViewPr varScale="1">
        <p:scale>
          <a:sx n="100" d="100"/>
          <a:sy n="100" d="100"/>
        </p:scale>
        <p:origin x="1368" y="1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509BF-53EE-4D84-844F-BEC1430829BC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2B6879-5321-45FF-A6AE-E6B1BB62C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74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D76A01-9653-4E88-A0A9-E9EA91B8AD2B}" type="slidenum">
              <a:rPr lang="en-MY" smtClean="0"/>
              <a:pPr>
                <a:defRPr/>
              </a:pPr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5694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7D76A01-9653-4E88-A0A9-E9EA91B8AD2B}" type="slidenum">
              <a:rPr lang="en-MY" smtClean="0"/>
              <a:pPr>
                <a:defRPr/>
              </a:pPr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23741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0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Create a new table name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my_dept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with the same structure as table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  <a:r>
              <a:rPr lang="en-US" dirty="0"/>
              <a:t>(when copying the command from above, ensure to rename constraint names as they are unique in a schema/database)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2B6879-5321-45FF-A6AE-E6B1BB62CBA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368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tiff"/><Relationship Id="rId5" Type="http://schemas.openxmlformats.org/officeDocument/2006/relationships/image" Target="../media/image6.svg"/><Relationship Id="rId10" Type="http://schemas.openxmlformats.org/officeDocument/2006/relationships/image" Target="../media/image10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A77FC49-908E-7282-71D1-FF9B45CC7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428041" y="-1428041"/>
            <a:ext cx="6880030" cy="9736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FB5ACA-D821-A539-94D6-EEC7337F3A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9000"/>
          </a:blip>
          <a:stretch>
            <a:fillRect/>
          </a:stretch>
        </p:blipFill>
        <p:spPr>
          <a:xfrm rot="10800000" flipV="1">
            <a:off x="59093" y="0"/>
            <a:ext cx="12073813" cy="310918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500D8EF-2DF1-88B7-4784-92F60D932A2D}"/>
              </a:ext>
            </a:extLst>
          </p:cNvPr>
          <p:cNvSpPr/>
          <p:nvPr userDrawn="1"/>
        </p:nvSpPr>
        <p:spPr>
          <a:xfrm rot="5400000">
            <a:off x="5953544" y="641578"/>
            <a:ext cx="28490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418E44-B184-3318-E83E-1ED0427C4C32}"/>
              </a:ext>
            </a:extLst>
          </p:cNvPr>
          <p:cNvSpPr txBox="1"/>
          <p:nvPr userDrawn="1"/>
        </p:nvSpPr>
        <p:spPr>
          <a:xfrm>
            <a:off x="5479363" y="6595121"/>
            <a:ext cx="137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i="0" dirty="0">
                <a:solidFill>
                  <a:schemeClr val="bg1">
                    <a:lumMod val="95000"/>
                  </a:schemeClr>
                </a:solidFill>
                <a:ea typeface="Montserrat Semi" charset="0"/>
                <a:cs typeface="Montserrat Semi" charset="0"/>
              </a:rPr>
              <a:t>www.utm.my</a:t>
            </a:r>
            <a:endParaRPr lang="en-US" sz="1100" b="1" i="0" dirty="0">
              <a:solidFill>
                <a:schemeClr val="accent4"/>
              </a:solidFill>
              <a:ea typeface="Montserrat Semi" charset="0"/>
              <a:cs typeface="Montserrat Sem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44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0C8336-6E97-19E8-88CA-FE902FF18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694A3-909C-4BC7-8684-CF6A8DF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86F0-1709-92BF-CEC8-7DFA93F8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7993728-E209-C557-FA87-A687A2439D90}"/>
              </a:ext>
            </a:extLst>
          </p:cNvPr>
          <p:cNvGrpSpPr/>
          <p:nvPr userDrawn="1"/>
        </p:nvGrpSpPr>
        <p:grpSpPr>
          <a:xfrm>
            <a:off x="0" y="0"/>
            <a:ext cx="4323456" cy="7438348"/>
            <a:chOff x="0" y="0"/>
            <a:chExt cx="4323456" cy="7438348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291997A-C196-DCDE-0EA0-51D4FDEDAD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0" y="0"/>
              <a:ext cx="3118649" cy="4463581"/>
            </a:xfrm>
            <a:prstGeom prst="rect">
              <a:avLst/>
            </a:prstGeom>
          </p:spPr>
        </p:pic>
        <p:sp>
          <p:nvSpPr>
            <p:cNvPr id="2" name="Parallelogram 1">
              <a:extLst>
                <a:ext uri="{FF2B5EF4-FFF2-40B4-BE49-F238E27FC236}">
                  <a16:creationId xmlns:a16="http://schemas.microsoft.com/office/drawing/2014/main" id="{14354985-0AB8-E860-28D0-17AD10E6B863}"/>
                </a:ext>
              </a:extLst>
            </p:cNvPr>
            <p:cNvSpPr/>
            <p:nvPr userDrawn="1"/>
          </p:nvSpPr>
          <p:spPr>
            <a:xfrm rot="8446488">
              <a:off x="1155879" y="3069975"/>
              <a:ext cx="2214654" cy="3120244"/>
            </a:xfrm>
            <a:prstGeom prst="parallelogram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9C95F9B9-2A5B-F93A-EA33-600D61519C46}"/>
                </a:ext>
              </a:extLst>
            </p:cNvPr>
            <p:cNvSpPr/>
            <p:nvPr userDrawn="1"/>
          </p:nvSpPr>
          <p:spPr>
            <a:xfrm rot="8446488">
              <a:off x="2539020" y="5497285"/>
              <a:ext cx="1784436" cy="1941063"/>
            </a:xfrm>
            <a:custGeom>
              <a:avLst/>
              <a:gdLst>
                <a:gd name="connsiteX0" fmla="*/ 0 w 2214654"/>
                <a:gd name="connsiteY0" fmla="*/ 3120244 h 3120244"/>
                <a:gd name="connsiteX1" fmla="*/ 553664 w 2214654"/>
                <a:gd name="connsiteY1" fmla="*/ 0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2214654"/>
                <a:gd name="connsiteY0" fmla="*/ 3120244 h 3120244"/>
                <a:gd name="connsiteX1" fmla="*/ 341522 w 2214654"/>
                <a:gd name="connsiteY1" fmla="*/ 1179181 h 3120244"/>
                <a:gd name="connsiteX2" fmla="*/ 2214654 w 2214654"/>
                <a:gd name="connsiteY2" fmla="*/ 0 h 3120244"/>
                <a:gd name="connsiteX3" fmla="*/ 1660991 w 2214654"/>
                <a:gd name="connsiteY3" fmla="*/ 3120244 h 3120244"/>
                <a:gd name="connsiteX4" fmla="*/ 0 w 2214654"/>
                <a:gd name="connsiteY4" fmla="*/ 3120244 h 3120244"/>
                <a:gd name="connsiteX0" fmla="*/ 0 w 1784436"/>
                <a:gd name="connsiteY0" fmla="*/ 1941063 h 1941063"/>
                <a:gd name="connsiteX1" fmla="*/ 341522 w 1784436"/>
                <a:gd name="connsiteY1" fmla="*/ 0 h 1941063"/>
                <a:gd name="connsiteX2" fmla="*/ 1784436 w 1784436"/>
                <a:gd name="connsiteY2" fmla="*/ 1205605 h 1941063"/>
                <a:gd name="connsiteX3" fmla="*/ 1660991 w 1784436"/>
                <a:gd name="connsiteY3" fmla="*/ 1941063 h 1941063"/>
                <a:gd name="connsiteX4" fmla="*/ 0 w 1784436"/>
                <a:gd name="connsiteY4" fmla="*/ 1941063 h 1941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4436" h="1941063">
                  <a:moveTo>
                    <a:pt x="0" y="1941063"/>
                  </a:moveTo>
                  <a:lnTo>
                    <a:pt x="341522" y="0"/>
                  </a:lnTo>
                  <a:lnTo>
                    <a:pt x="1784436" y="1205605"/>
                  </a:lnTo>
                  <a:lnTo>
                    <a:pt x="1660991" y="1941063"/>
                  </a:lnTo>
                  <a:lnTo>
                    <a:pt x="0" y="1941063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0B5606AF-41C6-0137-32A8-807A0A5D0D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2126331" y="-1062392"/>
            <a:ext cx="2405080" cy="3385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F4D5AD-886B-F49D-187E-EF188BA5C86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99000"/>
          </a:blip>
          <a:stretch>
            <a:fillRect/>
          </a:stretch>
        </p:blipFill>
        <p:spPr>
          <a:xfrm rot="5400000" flipV="1">
            <a:off x="-2602281" y="2616106"/>
            <a:ext cx="7046892" cy="1814681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DB128DF-CD31-0CEB-4D7C-71A6580623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283211" y="3743462"/>
            <a:ext cx="2080701" cy="2978013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3FF214BE-EBD1-4C75-B559-2A68D3A7182D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1830037" y="6046777"/>
            <a:ext cx="419100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E22F56BC-829B-3BC8-96F9-8B26B69F0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33" b="797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D44EBC3-45F4-19C6-0AEB-16C907B4BCB5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12000">
                <a:srgbClr val="6C1D35">
                  <a:alpha val="68000"/>
                </a:srgbClr>
              </a:gs>
              <a:gs pos="77000">
                <a:schemeClr val="accent1">
                  <a:lumMod val="7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8AE63-F58B-C295-2F24-0E7B0755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40798-1691-00D6-C3D9-64CC3EB82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835F-2749-4B9F-A9CB-5E0BF430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BBA782F0-1339-9AD7-88E8-E482862A0C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7112000" y="-35081"/>
            <a:ext cx="4917440" cy="6921189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955F31CF-FB2A-3612-E2CA-58665EF22E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 flipH="1">
            <a:off x="11268262" y="349094"/>
            <a:ext cx="2010036" cy="28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4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9A0EB9F-5240-3366-0373-E8B7C3C2A4FE}"/>
              </a:ext>
            </a:extLst>
          </p:cNvPr>
          <p:cNvSpPr/>
          <p:nvPr userDrawn="1"/>
        </p:nvSpPr>
        <p:spPr>
          <a:xfrm>
            <a:off x="0" y="-2"/>
            <a:ext cx="12230100" cy="6858001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AF7B2D7-FB34-55B3-113A-7F96DDA7A8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7"/>
          <a:stretch/>
        </p:blipFill>
        <p:spPr>
          <a:xfrm rot="16200000">
            <a:off x="2686050" y="-2686050"/>
            <a:ext cx="6858000" cy="122301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B2BBA-3015-27B9-D210-D15544F2C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AB71C-4835-3D07-2B7F-A7456A46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E7A9C-9AFC-99CF-42E5-627A58693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4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CAB3E7-A192-D902-B47D-B2CC33AF3A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9956ED8E-CF4D-D756-5FA9-5F3263853A9C}"/>
              </a:ext>
            </a:extLst>
          </p:cNvPr>
          <p:cNvGrpSpPr/>
          <p:nvPr userDrawn="1"/>
        </p:nvGrpSpPr>
        <p:grpSpPr>
          <a:xfrm>
            <a:off x="0" y="6438899"/>
            <a:ext cx="4425450" cy="419100"/>
            <a:chOff x="0" y="6438899"/>
            <a:chExt cx="4425450" cy="4191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85CCF7-2507-F40E-2E71-04B5C07C7F09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ight Triangle 27">
              <a:extLst>
                <a:ext uri="{FF2B5EF4-FFF2-40B4-BE49-F238E27FC236}">
                  <a16:creationId xmlns:a16="http://schemas.microsoft.com/office/drawing/2014/main" id="{891B4BFE-7090-CB15-ACE2-E76D3D5E6402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796ACF-1284-B0D3-20AC-1A411B0BC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47751"/>
            <a:ext cx="10515600" cy="1500187"/>
          </a:xfrm>
        </p:spPr>
        <p:txBody>
          <a:bodyPr anchor="t"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66E6B-CFF2-F241-A3D1-4FD4DAC4F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14638"/>
            <a:ext cx="10515600" cy="33575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6DBAF-8EC8-76B5-BD68-4EE498D12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FC1A71-0977-DB43-6672-9DD2B43F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1AA75-9A52-677C-BAAB-361020BE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CA6469-707B-4B2D-CE38-C2E80563F8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B94ABDC-D409-D0CF-BFD9-E874B46B7EEF}"/>
              </a:ext>
            </a:extLst>
          </p:cNvPr>
          <p:cNvGrpSpPr/>
          <p:nvPr userDrawn="1"/>
        </p:nvGrpSpPr>
        <p:grpSpPr>
          <a:xfrm>
            <a:off x="0" y="0"/>
            <a:ext cx="2135014" cy="390908"/>
            <a:chOff x="0" y="0"/>
            <a:chExt cx="2135014" cy="39090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5CC8F0A-14AF-F65B-6D14-A51CBEFF1729}"/>
                </a:ext>
              </a:extLst>
            </p:cNvPr>
            <p:cNvSpPr/>
            <p:nvPr userDrawn="1"/>
          </p:nvSpPr>
          <p:spPr>
            <a:xfrm>
              <a:off x="0" y="1"/>
              <a:ext cx="1921715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7D170A48-ED14-4722-ED48-412F8B7C44AA}"/>
                </a:ext>
              </a:extLst>
            </p:cNvPr>
            <p:cNvSpPr/>
            <p:nvPr userDrawn="1"/>
          </p:nvSpPr>
          <p:spPr>
            <a:xfrm flipV="1">
              <a:off x="1921715" y="0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4B6D801-7EDC-E981-F405-040472A43AB5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90F7BDA-9A67-4500-FC96-D0DCA5669FC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D3808A-7510-8E14-D035-56A7CA6C58A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22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45FB79D-2789-2E82-ACD5-FA141CFFB8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06C3F4-36B0-1561-8EFF-3B31A7774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81125"/>
          </a:xfrm>
        </p:spPr>
        <p:txBody>
          <a:bodyPr anchor="t">
            <a:normAutofit/>
          </a:bodyPr>
          <a:lstStyle>
            <a:lvl1pPr algn="l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4E23C-BC64-3E31-C7C9-1CCB71C59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8"/>
            <a:ext cx="9144000" cy="3461751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AAB4A-F681-D1CE-536F-A8600B878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2C815-2D69-C272-C63C-A195EBFE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A072-5E8E-BDBB-35CA-3A355E5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6C1D35"/>
                </a:solidFill>
              </a:defRPr>
            </a:lvl1pPr>
          </a:lstStyle>
          <a:p>
            <a:fld id="{B5912E74-8957-4046-8937-1199D066517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FB2FEB-1CDE-753F-3231-2131ED23FF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0EA2A08-0768-E840-71C5-CB5BA198C844}"/>
              </a:ext>
            </a:extLst>
          </p:cNvPr>
          <p:cNvGrpSpPr/>
          <p:nvPr userDrawn="1"/>
        </p:nvGrpSpPr>
        <p:grpSpPr>
          <a:xfrm>
            <a:off x="0" y="336866"/>
            <a:ext cx="838200" cy="390908"/>
            <a:chOff x="0" y="585597"/>
            <a:chExt cx="838200" cy="39090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7FE56D3-CDFF-99C8-081E-21872711345C}"/>
                </a:ext>
              </a:extLst>
            </p:cNvPr>
            <p:cNvSpPr/>
            <p:nvPr userDrawn="1"/>
          </p:nvSpPr>
          <p:spPr>
            <a:xfrm>
              <a:off x="0" y="585598"/>
              <a:ext cx="624901" cy="390907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Triangle 22">
              <a:extLst>
                <a:ext uri="{FF2B5EF4-FFF2-40B4-BE49-F238E27FC236}">
                  <a16:creationId xmlns:a16="http://schemas.microsoft.com/office/drawing/2014/main" id="{55D81439-E4CF-3498-4773-82E6A34DB949}"/>
                </a:ext>
              </a:extLst>
            </p:cNvPr>
            <p:cNvSpPr/>
            <p:nvPr userDrawn="1"/>
          </p:nvSpPr>
          <p:spPr>
            <a:xfrm flipV="1">
              <a:off x="624901" y="585597"/>
              <a:ext cx="213299" cy="390907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F56CB3B-27D6-0844-017F-CFA08F52311B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5E31CA-977D-9659-5E4D-1E4EC75ABA7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4385F2-2245-0F8C-C446-564E2DE5084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5987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5386308-8E2B-C701-D9C5-CFF5B6D9F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8221F6-B30E-6574-4F98-77B2C490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BEFF-E786-80CC-C462-EC9F1C9C3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6CF37-673E-EFC4-46AD-C8B8CC64E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B8A85-2B88-6B89-6CF8-4D396AB7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774E-879A-AA6A-5AEF-0FD775B97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F9B18A-4C13-213C-5ECD-7D00902A82F8}"/>
              </a:ext>
            </a:extLst>
          </p:cNvPr>
          <p:cNvSpPr/>
          <p:nvPr userDrawn="1"/>
        </p:nvSpPr>
        <p:spPr>
          <a:xfrm>
            <a:off x="3894421" y="21431"/>
            <a:ext cx="4460168" cy="256507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A0DAC0-1D7C-425C-A3EA-189775AB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A6FB34-FC21-998E-F2ED-B41CC15A4311}"/>
              </a:ext>
            </a:extLst>
          </p:cNvPr>
          <p:cNvSpPr/>
          <p:nvPr userDrawn="1"/>
        </p:nvSpPr>
        <p:spPr>
          <a:xfrm>
            <a:off x="-1" y="6808662"/>
            <a:ext cx="12249013" cy="1089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91E5DFC-83E6-86F2-21A3-C9353A831D9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6CDA0-D409-8B80-7C3D-EE78328F12C7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1DCC3F2-36B2-C662-DECB-01503AFCAA9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8066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660D2230-4C54-C188-62C4-95CC76262B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66CAA0-852B-2260-4E79-4DCDC5D3C474}"/>
              </a:ext>
            </a:extLst>
          </p:cNvPr>
          <p:cNvSpPr/>
          <p:nvPr userDrawn="1"/>
        </p:nvSpPr>
        <p:spPr>
          <a:xfrm>
            <a:off x="-38100" y="1690688"/>
            <a:ext cx="12230100" cy="5167312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D09984-B07C-717A-A1FC-A0212B127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6CC2-F4AE-C871-25CA-0693B8E51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4C4D5-028B-CF4F-DB83-2E7DAE145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84ECB3-6230-1C4A-4271-8B1B329A9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D0EBE9-6EE3-30E5-37E9-966CEBBA4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42C9F-71DE-08A3-B2D8-60F040A88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1BACEB-C3CA-5C73-C1CD-7E28828923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32450C2-7E85-EAB2-8C8F-8B13B9657507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93644A-0A35-6B8C-F216-AC1945DFC79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A806244-EF9A-642C-8573-A2BFA17DB33E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536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169F28-4F60-04EA-2355-80F723258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D3BD4A-F379-8CFF-EBD6-707DD0E70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59623-7488-E134-22F1-5329048ED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9D7D39-C4CD-9439-3408-FF0BFA1B1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750B8F-83C3-D985-5919-F1A3FDF4D0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CCF953-DD56-9B85-AB4B-B9C9F0FF0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D25C81-2863-04F8-8182-D218BA273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A521E1-8180-A360-8696-A84620A87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3D6C59-8054-7190-9FD8-FAA59634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23B567-24C2-C088-6F75-913992BE2D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32B20C0-22D4-422D-2940-7F540F191BF7}"/>
              </a:ext>
            </a:extLst>
          </p:cNvPr>
          <p:cNvSpPr/>
          <p:nvPr userDrawn="1"/>
        </p:nvSpPr>
        <p:spPr>
          <a:xfrm>
            <a:off x="6764" y="342265"/>
            <a:ext cx="10269639" cy="45719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870257A-EF80-EF1A-EE95-68EB9FBC2F71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AEA7E83-8757-44B8-B8ED-EFD855548FA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03E4A3-2F29-E99E-59AA-19FD2D71718A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019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C5A05E41-FECA-555C-4DA5-FBDABE88EA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9000"/>
          </a:blip>
          <a:stretch>
            <a:fillRect/>
          </a:stretch>
        </p:blipFill>
        <p:spPr>
          <a:xfrm rot="10800000" flipV="1">
            <a:off x="6764" y="1270"/>
            <a:ext cx="12073813" cy="310918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EFDB3D2-BABB-4614-ACBD-74206D54EFA7}"/>
              </a:ext>
            </a:extLst>
          </p:cNvPr>
          <p:cNvGrpSpPr/>
          <p:nvPr userDrawn="1"/>
        </p:nvGrpSpPr>
        <p:grpSpPr>
          <a:xfrm flipH="1">
            <a:off x="8896479" y="6438899"/>
            <a:ext cx="3295521" cy="419101"/>
            <a:chOff x="0" y="6438899"/>
            <a:chExt cx="4425450" cy="4191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3C9DBE5-42FF-593C-82CE-C4B2774E3AD0}"/>
                </a:ext>
              </a:extLst>
            </p:cNvPr>
            <p:cNvSpPr/>
            <p:nvPr userDrawn="1"/>
          </p:nvSpPr>
          <p:spPr>
            <a:xfrm>
              <a:off x="0" y="6438900"/>
              <a:ext cx="4115884" cy="419099"/>
            </a:xfrm>
            <a:prstGeom prst="rect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ight Triangle 14">
              <a:extLst>
                <a:ext uri="{FF2B5EF4-FFF2-40B4-BE49-F238E27FC236}">
                  <a16:creationId xmlns:a16="http://schemas.microsoft.com/office/drawing/2014/main" id="{D8516993-C2D5-28D4-6E6E-D3A5B19FD20F}"/>
                </a:ext>
              </a:extLst>
            </p:cNvPr>
            <p:cNvSpPr/>
            <p:nvPr userDrawn="1"/>
          </p:nvSpPr>
          <p:spPr>
            <a:xfrm>
              <a:off x="4115884" y="6438899"/>
              <a:ext cx="309566" cy="419100"/>
            </a:xfrm>
            <a:prstGeom prst="rtTriangle">
              <a:avLst/>
            </a:prstGeom>
            <a:solidFill>
              <a:srgbClr val="6C1D3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EB218D0-0E4A-6601-1430-D75D1D898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974" y="2766218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407DD1-72E8-53B4-A8B5-16105BC66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21DE3-618B-CDA6-C30A-1DB7F4E9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68125-E5E8-EEE2-D064-3848DBBA6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F13517-FB38-BE9B-5A77-235BBF8CE8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715FA5D2-1257-770C-1E2F-2CCA5238FD2A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9FA834-B150-3245-D347-588904243A5E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8EF11FA-4280-83FF-5E5F-70581310F2C4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66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C80EC996-29B5-35CD-CAA8-09FAAB535A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4713261" y="1270"/>
            <a:ext cx="7112053" cy="183146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E085B5-6456-E991-6904-BB25D1005185}"/>
              </a:ext>
            </a:extLst>
          </p:cNvPr>
          <p:cNvSpPr/>
          <p:nvPr userDrawn="1"/>
        </p:nvSpPr>
        <p:spPr>
          <a:xfrm>
            <a:off x="-38099" y="0"/>
            <a:ext cx="4764088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5AF6C-3A58-DD89-B778-7C9B4E493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71969" cy="1600200"/>
          </a:xfrm>
        </p:spPr>
        <p:txBody>
          <a:bodyPr anchor="b">
            <a:normAutofit/>
          </a:bodyPr>
          <a:lstStyle>
            <a:lvl1pPr>
              <a:defRPr sz="28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0643-5DEF-0301-05FB-43BFE7810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84E7D-D23B-8AA6-561F-6482F0A12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77196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0D1C3-135E-09A0-2E54-EFBC9A5D9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11F67-329D-954C-CD5C-1AA093EC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5EB87E-06D7-61E3-D9E0-49BF14B3E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8EA7C3-CAA4-9F46-F633-CAA69D61B6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D1F696-3383-CCD0-5F6F-4B9E89375262}"/>
              </a:ext>
            </a:extLst>
          </p:cNvPr>
          <p:cNvSpPr/>
          <p:nvPr userDrawn="1"/>
        </p:nvSpPr>
        <p:spPr>
          <a:xfrm rot="5400000">
            <a:off x="1324286" y="3399184"/>
            <a:ext cx="6858000" cy="5963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7DF8517-697A-D659-D645-CCC025297F18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28F6DD2-968A-9801-9B22-22DBD1C894E0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F835E16-0810-A050-7387-E04FC0CFD8C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010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BDE0F43-CB86-1C9B-53B1-54930B9BBD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A7D5CF-8052-62A2-8652-9E5660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7CEA865B-9359-931D-9136-36413785F784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90C6828-16EB-91B9-7078-52ADFDC0F2F1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EA9D62-1A2E-5482-2A68-9FCEFEB913F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9613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-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6208AF-0FB5-0709-9E4A-86BB9C81B267}"/>
              </a:ext>
            </a:extLst>
          </p:cNvPr>
          <p:cNvSpPr/>
          <p:nvPr userDrawn="1"/>
        </p:nvSpPr>
        <p:spPr>
          <a:xfrm>
            <a:off x="-38100" y="0"/>
            <a:ext cx="12230100" cy="6858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D46B25-0C92-A630-DD9E-0DC228627926}"/>
              </a:ext>
            </a:extLst>
          </p:cNvPr>
          <p:cNvGrpSpPr/>
          <p:nvPr userDrawn="1"/>
        </p:nvGrpSpPr>
        <p:grpSpPr>
          <a:xfrm>
            <a:off x="7180119" y="6473574"/>
            <a:ext cx="5011881" cy="390911"/>
            <a:chOff x="7180118" y="6489891"/>
            <a:chExt cx="5011881" cy="39091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51D9DD-D54B-BD6E-1FC0-1E96064A7DD4}"/>
                </a:ext>
              </a:extLst>
            </p:cNvPr>
            <p:cNvSpPr/>
            <p:nvPr userDrawn="1"/>
          </p:nvSpPr>
          <p:spPr>
            <a:xfrm rot="10800000">
              <a:off x="7393415" y="6489891"/>
              <a:ext cx="4798584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B12D63A4-B45F-D7EE-07AE-ED4F2AA9FBF6}"/>
                </a:ext>
              </a:extLst>
            </p:cNvPr>
            <p:cNvSpPr/>
            <p:nvPr userDrawn="1"/>
          </p:nvSpPr>
          <p:spPr>
            <a:xfrm rot="10800000" flipV="1">
              <a:off x="7180118" y="6489895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E4DBBFF-D866-CE38-8CC8-48E42BA7EF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20" y="283589"/>
            <a:ext cx="1470825" cy="4974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8C0B1-8B0B-33DB-42B1-6BBD5950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7F86FD-0946-30C8-BC74-577779A4D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EAC2-352E-92E4-C579-C2A59B694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ECA337-96B6-AF15-88CE-5A1B9B8EBDB6}"/>
              </a:ext>
            </a:extLst>
          </p:cNvPr>
          <p:cNvGrpSpPr/>
          <p:nvPr userDrawn="1"/>
        </p:nvGrpSpPr>
        <p:grpSpPr>
          <a:xfrm>
            <a:off x="-58882" y="0"/>
            <a:ext cx="2130820" cy="390908"/>
            <a:chOff x="-58882" y="0"/>
            <a:chExt cx="2130820" cy="39090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55327DB-3941-6535-2638-26DDF5148B23}"/>
                </a:ext>
              </a:extLst>
            </p:cNvPr>
            <p:cNvSpPr/>
            <p:nvPr userDrawn="1"/>
          </p:nvSpPr>
          <p:spPr>
            <a:xfrm>
              <a:off x="-58882" y="1"/>
              <a:ext cx="1921715" cy="3909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751988F2-DBDB-53FA-2E8B-DE674D6D2B6A}"/>
                </a:ext>
              </a:extLst>
            </p:cNvPr>
            <p:cNvSpPr/>
            <p:nvPr userDrawn="1"/>
          </p:nvSpPr>
          <p:spPr>
            <a:xfrm flipV="1">
              <a:off x="1858639" y="0"/>
              <a:ext cx="213299" cy="390907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5B451E3-7C30-F7E8-27F1-20A1711850CE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F9E3A6-8792-EBEF-E21F-6506CA347F72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2D7814D-56F3-7C85-157F-E73DAB5F0429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828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812957FA-0954-130C-016A-4BAA3351102F}"/>
              </a:ext>
            </a:extLst>
          </p:cNvPr>
          <p:cNvSpPr/>
          <p:nvPr userDrawn="1"/>
        </p:nvSpPr>
        <p:spPr>
          <a:xfrm rot="5400000">
            <a:off x="6073139" y="761174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B5F1816-5F6B-7928-15B1-1910931B2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43350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D450D105-3168-9AA2-1E36-18264E43F5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 flipV="1">
            <a:off x="6765" y="1270"/>
            <a:ext cx="7112053" cy="1831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3EA9C-34EA-199C-CEF0-8463AAE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6D9ED6-2507-9043-2434-14990C2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5142B-2BCF-3584-CF46-5568AF239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7FA9-E26A-4F12-3480-6499E26C73F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8878" y="283590"/>
            <a:ext cx="1468167" cy="49746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2F26ABC-4A2D-3F29-949F-D733E61C91B2}"/>
              </a:ext>
            </a:extLst>
          </p:cNvPr>
          <p:cNvGrpSpPr/>
          <p:nvPr userDrawn="1"/>
        </p:nvGrpSpPr>
        <p:grpSpPr>
          <a:xfrm>
            <a:off x="11930388" y="4900065"/>
            <a:ext cx="261612" cy="1456285"/>
            <a:chOff x="-7479" y="4982614"/>
            <a:chExt cx="261612" cy="14562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0ED001F-8063-F3C7-2FEF-E453A15D6F8A}"/>
                </a:ext>
              </a:extLst>
            </p:cNvPr>
            <p:cNvSpPr/>
            <p:nvPr userDrawn="1"/>
          </p:nvSpPr>
          <p:spPr>
            <a:xfrm>
              <a:off x="-7479" y="4982614"/>
              <a:ext cx="261612" cy="1456285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584E66-4123-80C8-F229-404A09AEC330}"/>
                </a:ext>
              </a:extLst>
            </p:cNvPr>
            <p:cNvSpPr txBox="1"/>
            <p:nvPr userDrawn="1"/>
          </p:nvSpPr>
          <p:spPr>
            <a:xfrm rot="16200000">
              <a:off x="-565323" y="5578170"/>
              <a:ext cx="137730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i="0" dirty="0">
                  <a:solidFill>
                    <a:schemeClr val="bg1">
                      <a:lumMod val="95000"/>
                    </a:schemeClr>
                  </a:solidFill>
                  <a:ea typeface="Montserrat Semi" charset="0"/>
                  <a:cs typeface="Montserrat Semi" charset="0"/>
                </a:rPr>
                <a:t>www.utm.my</a:t>
              </a:r>
              <a:endParaRPr lang="en-US" sz="1100" b="1" i="0" dirty="0">
                <a:solidFill>
                  <a:schemeClr val="accent4"/>
                </a:solidFill>
                <a:ea typeface="Montserrat Semi" charset="0"/>
                <a:cs typeface="Montserrat Semi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AE4AFB9-D289-5BB8-FC6E-3A98AE611BFD}"/>
              </a:ext>
            </a:extLst>
          </p:cNvPr>
          <p:cNvSpPr/>
          <p:nvPr userDrawn="1"/>
        </p:nvSpPr>
        <p:spPr>
          <a:xfrm rot="5400000">
            <a:off x="6079906" y="-6086095"/>
            <a:ext cx="45719" cy="12192000"/>
          </a:xfrm>
          <a:prstGeom prst="rect">
            <a:avLst/>
          </a:prstGeom>
          <a:solidFill>
            <a:srgbClr val="6C1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C5E7F-48AB-BACC-5157-81B70262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781051"/>
            <a:ext cx="10515600" cy="1325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86618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20">
    <p:bg>
      <p:bgPr>
        <a:solidFill>
          <a:srgbClr val="4B47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1AA9A-AEC4-6046-A3F2-5369021A3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475A35-BAA4-3243-952D-99C48B8346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F781150-1FB5-914F-8F90-3BA38EB3A9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4C836B4-5E2D-D94D-B92C-56626921C682}"/>
              </a:ext>
            </a:extLst>
          </p:cNvPr>
          <p:cNvCxnSpPr/>
          <p:nvPr userDrawn="1"/>
        </p:nvCxnSpPr>
        <p:spPr>
          <a:xfrm>
            <a:off x="-12700" y="101600"/>
            <a:ext cx="1219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046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19975F-708A-F234-4722-AEB234342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7F26E-314A-B65E-03F9-0EADD49DA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C2CC6-2915-3AF9-A194-7961055772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959E7-45DE-4A2D-ACFD-0D8C8BBAB79F}" type="datetimeFigureOut">
              <a:rPr lang="en-US" smtClean="0"/>
              <a:t>11/2/24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C745-1356-0A9F-002D-66D467AF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9A2B0-BC9C-678A-D6F9-6A0D62CAA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12E74-8957-4046-8937-1199D0665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53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6" r:id="rId3"/>
    <p:sldLayoutId id="2147483662" r:id="rId4"/>
    <p:sldLayoutId id="2147483651" r:id="rId5"/>
    <p:sldLayoutId id="2147483649" r:id="rId6"/>
    <p:sldLayoutId id="2147483650" r:id="rId7"/>
    <p:sldLayoutId id="2147483652" r:id="rId8"/>
    <p:sldLayoutId id="2147483653" r:id="rId9"/>
    <p:sldLayoutId id="2147483654" r:id="rId10"/>
    <p:sldLayoutId id="2147483656" r:id="rId11"/>
    <p:sldLayoutId id="2147483655" r:id="rId12"/>
    <p:sldLayoutId id="2147483660" r:id="rId13"/>
    <p:sldLayoutId id="2147483657" r:id="rId14"/>
    <p:sldLayoutId id="2147483663" r:id="rId15"/>
    <p:sldLayoutId id="2147483668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D0E23-96B9-5B33-C4F6-4DBCE5F54F96}"/>
              </a:ext>
            </a:extLst>
          </p:cNvPr>
          <p:cNvSpPr txBox="1"/>
          <p:nvPr/>
        </p:nvSpPr>
        <p:spPr>
          <a:xfrm>
            <a:off x="1727700" y="3145893"/>
            <a:ext cx="91797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32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Structured Query Language (SQL) 2| </a:t>
            </a:r>
          </a:p>
          <a:p>
            <a:r>
              <a:rPr lang="en-MY" sz="3200" spc="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Manipulation Language (DML)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02EFA-FD94-7D1F-B76C-45B63CEC7823}"/>
              </a:ext>
            </a:extLst>
          </p:cNvPr>
          <p:cNvSpPr txBox="1"/>
          <p:nvPr/>
        </p:nvSpPr>
        <p:spPr>
          <a:xfrm>
            <a:off x="1664969" y="2222563"/>
            <a:ext cx="109636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kern="0" dirty="0">
                <a:solidFill>
                  <a:srgbClr val="6C1D35"/>
                </a:solidFill>
              </a:rPr>
              <a:t>SECD2523 DATABASE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0A5E36-46DF-4261-B2A9-84180659C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149" y="599516"/>
            <a:ext cx="2249407" cy="7518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DAB95FE-9FB6-3175-C6AD-6B6A256E7A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429" y="6352942"/>
            <a:ext cx="2136771" cy="160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72DD83-1D7D-D9BF-F0F3-053EE3201597}"/>
              </a:ext>
            </a:extLst>
          </p:cNvPr>
          <p:cNvSpPr txBox="1"/>
          <p:nvPr/>
        </p:nvSpPr>
        <p:spPr>
          <a:xfrm>
            <a:off x="805543" y="5858374"/>
            <a:ext cx="106788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1400" dirty="0">
                <a:solidFill>
                  <a:schemeClr val="tx1"/>
                </a:solidFill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Content adapted from </a:t>
            </a:r>
            <a:r>
              <a:rPr lang="en-MY" sz="1400" dirty="0">
                <a:effectLst/>
                <a:latin typeface="Helvetica" pitchFamily="2" charset="0"/>
              </a:rPr>
              <a:t>Connolly, T., </a:t>
            </a:r>
            <a:r>
              <a:rPr lang="en-MY" sz="1400" dirty="0" err="1">
                <a:effectLst/>
                <a:latin typeface="Helvetica" pitchFamily="2" charset="0"/>
              </a:rPr>
              <a:t>Begg</a:t>
            </a:r>
            <a:r>
              <a:rPr lang="en-MY" sz="1400" dirty="0">
                <a:effectLst/>
                <a:latin typeface="Helvetica" pitchFamily="2" charset="0"/>
              </a:rPr>
              <a:t>, C., 2015. Database Systems: A Practical Approach to Design, Implementation, and Management, Global Edition. Pearson Education.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746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6133-417D-9582-AD5C-C9B40323D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LEARNING OUTCOME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2E07F62-62EA-F0CE-56B7-24048F3E2214}"/>
              </a:ext>
            </a:extLst>
          </p:cNvPr>
          <p:cNvGrpSpPr/>
          <p:nvPr/>
        </p:nvGrpSpPr>
        <p:grpSpPr>
          <a:xfrm>
            <a:off x="756164" y="1989249"/>
            <a:ext cx="10671253" cy="2300735"/>
            <a:chOff x="531658" y="2405747"/>
            <a:chExt cx="10671253" cy="230073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F245CD-7264-D27E-FACB-A8B4DD06F1D6}"/>
                </a:ext>
              </a:extLst>
            </p:cNvPr>
            <p:cNvSpPr/>
            <p:nvPr/>
          </p:nvSpPr>
          <p:spPr>
            <a:xfrm>
              <a:off x="531658" y="2405747"/>
              <a:ext cx="10671253" cy="196226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 Placeholder 22">
              <a:extLst>
                <a:ext uri="{FF2B5EF4-FFF2-40B4-BE49-F238E27FC236}">
                  <a16:creationId xmlns:a16="http://schemas.microsoft.com/office/drawing/2014/main" id="{2F0FB714-3007-23C8-9764-E8C7159E2C4E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29E73F1-1DD6-8DC9-0B8E-AD1B04B34741}"/>
                </a:ext>
              </a:extLst>
            </p:cNvPr>
            <p:cNvSpPr txBox="1"/>
            <p:nvPr/>
          </p:nvSpPr>
          <p:spPr>
            <a:xfrm>
              <a:off x="1517892" y="2459713"/>
              <a:ext cx="946905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Write DML statements to add data into table, update data, and delete data using the following commands: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INSERT INTO … VALUES …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INSERT INTO … SELECT …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UPDATE … SET … [WHERE] …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DELETE FROM … [WHERE] …</a:t>
              </a:r>
            </a:p>
            <a:p>
              <a:pPr algn="just"/>
              <a:endParaRPr lang="en-US" altLang="ko-KR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58F1EA-447C-486C-DE06-EF8199F79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CF5489-1A93-67FA-16A5-04A76546BEFF}"/>
              </a:ext>
            </a:extLst>
          </p:cNvPr>
          <p:cNvSpPr txBox="1"/>
          <p:nvPr/>
        </p:nvSpPr>
        <p:spPr>
          <a:xfrm>
            <a:off x="735527" y="1538145"/>
            <a:ext cx="61170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MY" b="1" dirty="0"/>
              <a:t>By the end of this lecture, students should be able to:</a:t>
            </a:r>
            <a:endParaRPr lang="en-MY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FB3996-836C-433B-849F-07DE0EB4D6C8}"/>
              </a:ext>
            </a:extLst>
          </p:cNvPr>
          <p:cNvGrpSpPr/>
          <p:nvPr/>
        </p:nvGrpSpPr>
        <p:grpSpPr>
          <a:xfrm>
            <a:off x="684135" y="4130619"/>
            <a:ext cx="10835075" cy="2453026"/>
            <a:chOff x="531658" y="2405747"/>
            <a:chExt cx="10671253" cy="245302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1CCCF47-DA2B-EE2D-1175-8353E84752A4}"/>
                </a:ext>
              </a:extLst>
            </p:cNvPr>
            <p:cNvSpPr/>
            <p:nvPr/>
          </p:nvSpPr>
          <p:spPr>
            <a:xfrm>
              <a:off x="531658" y="2405747"/>
              <a:ext cx="10671253" cy="2181318"/>
            </a:xfrm>
            <a:prstGeom prst="roundRect">
              <a:avLst/>
            </a:prstGeom>
            <a:solidFill>
              <a:srgbClr val="9562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 Placeholder 22">
              <a:extLst>
                <a:ext uri="{FF2B5EF4-FFF2-40B4-BE49-F238E27FC236}">
                  <a16:creationId xmlns:a16="http://schemas.microsoft.com/office/drawing/2014/main" id="{8568B624-1F62-97ED-C328-D9F20C650282}"/>
                </a:ext>
              </a:extLst>
            </p:cNvPr>
            <p:cNvSpPr txBox="1">
              <a:spLocks/>
            </p:cNvSpPr>
            <p:nvPr/>
          </p:nvSpPr>
          <p:spPr>
            <a:xfrm>
              <a:off x="612106" y="2569292"/>
              <a:ext cx="905786" cy="485535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altLang="ko-KR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2C9E1B7-E84D-CFFF-E5B9-40004CBFE476}"/>
                </a:ext>
              </a:extLst>
            </p:cNvPr>
            <p:cNvSpPr txBox="1"/>
            <p:nvPr/>
          </p:nvSpPr>
          <p:spPr>
            <a:xfrm>
              <a:off x="1517891" y="2612004"/>
              <a:ext cx="9469053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Write DML statement to display records in tables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SELECT … FROM …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SELECT … FROM … WHERE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SELECT … FROM … WHERE … BETWEEN … AND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SELECT … FROM … WHERE … IN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SELECT … FROM … WHERE … LIKE</a:t>
              </a:r>
            </a:p>
            <a:p>
              <a:pPr algn="just"/>
              <a:endParaRPr lang="en-US" altLang="ko-KR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206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03A9152-69B0-736A-2CFE-04A297940E6A}"/>
              </a:ext>
            </a:extLst>
          </p:cNvPr>
          <p:cNvSpPr txBox="1"/>
          <p:nvPr/>
        </p:nvSpPr>
        <p:spPr>
          <a:xfrm>
            <a:off x="6052352" y="1334348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INSERT INTO … VALUES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BDAC7-AF3F-67DF-4F18-78B7C660723C}"/>
              </a:ext>
            </a:extLst>
          </p:cNvPr>
          <p:cNvSpPr txBox="1"/>
          <p:nvPr/>
        </p:nvSpPr>
        <p:spPr>
          <a:xfrm>
            <a:off x="5114018" y="1211238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01</a:t>
            </a:r>
            <a:endParaRPr lang="ko-KR" altLang="en-US" sz="3600" b="1" dirty="0"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0E09E0-332F-3E06-48B0-67500B459963}"/>
              </a:ext>
            </a:extLst>
          </p:cNvPr>
          <p:cNvGrpSpPr/>
          <p:nvPr/>
        </p:nvGrpSpPr>
        <p:grpSpPr>
          <a:xfrm>
            <a:off x="5114018" y="1929326"/>
            <a:ext cx="6505167" cy="646331"/>
            <a:chOff x="5114018" y="1929326"/>
            <a:chExt cx="6505167" cy="646331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E4D0E0-0363-7D00-9476-926580CC8B81}"/>
                </a:ext>
              </a:extLst>
            </p:cNvPr>
            <p:cNvSpPr txBox="1"/>
            <p:nvPr/>
          </p:nvSpPr>
          <p:spPr>
            <a:xfrm>
              <a:off x="6052352" y="2054221"/>
              <a:ext cx="5566833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INSERT INTO … SELECT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33923C-0FE2-D0D7-D3D2-546A2398E56F}"/>
                </a:ext>
              </a:extLst>
            </p:cNvPr>
            <p:cNvSpPr txBox="1"/>
            <p:nvPr/>
          </p:nvSpPr>
          <p:spPr>
            <a:xfrm>
              <a:off x="5114018" y="1929326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02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9E4484E9-F589-F0D0-E711-BD1AD2477BB3}"/>
              </a:ext>
            </a:extLst>
          </p:cNvPr>
          <p:cNvSpPr txBox="1"/>
          <p:nvPr/>
        </p:nvSpPr>
        <p:spPr>
          <a:xfrm>
            <a:off x="6052352" y="2724335"/>
            <a:ext cx="5062337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UPDATE … SET … [WHERE]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08DE2FE-EE81-76C5-D3F5-E4AFA05286F0}"/>
              </a:ext>
            </a:extLst>
          </p:cNvPr>
          <p:cNvSpPr txBox="1"/>
          <p:nvPr/>
        </p:nvSpPr>
        <p:spPr>
          <a:xfrm>
            <a:off x="5114018" y="2650449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03</a:t>
            </a:r>
            <a:endParaRPr lang="ko-KR" altLang="en-US" sz="3600" b="1" dirty="0">
              <a:cs typeface="Arial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9613243-C4DA-5CC5-7318-211CCB5D3BA1}"/>
              </a:ext>
            </a:extLst>
          </p:cNvPr>
          <p:cNvGrpSpPr/>
          <p:nvPr/>
        </p:nvGrpSpPr>
        <p:grpSpPr>
          <a:xfrm>
            <a:off x="5114018" y="3404050"/>
            <a:ext cx="5446026" cy="646331"/>
            <a:chOff x="5292036" y="974450"/>
            <a:chExt cx="5446026" cy="646331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B8D799-B9DD-C367-C39E-7D4C8AA8760C}"/>
                </a:ext>
              </a:extLst>
            </p:cNvPr>
            <p:cNvSpPr txBox="1"/>
            <p:nvPr/>
          </p:nvSpPr>
          <p:spPr>
            <a:xfrm>
              <a:off x="6230370" y="1100844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DELETE … FROM [WHERE]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B653FF4-B6FB-AB93-3922-3E2C06C965CE}"/>
                </a:ext>
              </a:extLst>
            </p:cNvPr>
            <p:cNvSpPr txBox="1"/>
            <p:nvPr/>
          </p:nvSpPr>
          <p:spPr>
            <a:xfrm>
              <a:off x="5292036" y="97445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04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A63027A-A8CD-9E48-8312-06F52A14B3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018" y="6594272"/>
            <a:ext cx="1951264" cy="146845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31933D3-F573-B1DE-109A-841063E04740}"/>
              </a:ext>
            </a:extLst>
          </p:cNvPr>
          <p:cNvGrpSpPr/>
          <p:nvPr/>
        </p:nvGrpSpPr>
        <p:grpSpPr>
          <a:xfrm>
            <a:off x="5114018" y="4156177"/>
            <a:ext cx="5446026" cy="646331"/>
            <a:chOff x="5292036" y="974450"/>
            <a:chExt cx="5446026" cy="646331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CA24613-6786-F397-A6D4-BC823DA25298}"/>
                </a:ext>
              </a:extLst>
            </p:cNvPr>
            <p:cNvSpPr txBox="1"/>
            <p:nvPr/>
          </p:nvSpPr>
          <p:spPr>
            <a:xfrm>
              <a:off x="6230370" y="1097560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SELECT … FROM … [WHERE]</a:t>
              </a:r>
              <a:endParaRPr lang="ko-KR" altLang="en-US" sz="2000" b="1" dirty="0">
                <a:cs typeface="Arial" pitchFamily="34" charset="0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BEF3A2A-94C1-9044-E916-211EB45749FB}"/>
                </a:ext>
              </a:extLst>
            </p:cNvPr>
            <p:cNvSpPr txBox="1"/>
            <p:nvPr/>
          </p:nvSpPr>
          <p:spPr>
            <a:xfrm>
              <a:off x="5292036" y="97445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05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DA178B5-9907-BB89-7B61-67BB8D645FB2}"/>
              </a:ext>
            </a:extLst>
          </p:cNvPr>
          <p:cNvGrpSpPr/>
          <p:nvPr/>
        </p:nvGrpSpPr>
        <p:grpSpPr>
          <a:xfrm>
            <a:off x="5114017" y="4908304"/>
            <a:ext cx="6079595" cy="725200"/>
            <a:chOff x="5292036" y="974450"/>
            <a:chExt cx="5330394" cy="725200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80CF681-95FD-20D2-B99C-5C876EC4B422}"/>
                </a:ext>
              </a:extLst>
            </p:cNvPr>
            <p:cNvSpPr txBox="1"/>
            <p:nvPr/>
          </p:nvSpPr>
          <p:spPr>
            <a:xfrm>
              <a:off x="6114738" y="991764"/>
              <a:ext cx="4507692" cy="707886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cs typeface="Arial" pitchFamily="34" charset="0"/>
                </a:rPr>
                <a:t>SELECT … FROM … WHERE … [BETWEEN … AND] / [IN] / [LIKE]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A60AAD9-7F57-D3DC-B4F1-11E7C53691D0}"/>
                </a:ext>
              </a:extLst>
            </p:cNvPr>
            <p:cNvSpPr txBox="1"/>
            <p:nvPr/>
          </p:nvSpPr>
          <p:spPr>
            <a:xfrm>
              <a:off x="5292036" y="974450"/>
              <a:ext cx="860971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cs typeface="Arial" pitchFamily="34" charset="0"/>
                </a:rPr>
                <a:t>06</a:t>
              </a:r>
              <a:endParaRPr lang="ko-KR" altLang="en-US" sz="3600" b="1" dirty="0">
                <a:cs typeface="Arial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0E21EB4F-1E13-B895-7EA6-6169699B685F}"/>
              </a:ext>
            </a:extLst>
          </p:cNvPr>
          <p:cNvSpPr txBox="1"/>
          <p:nvPr/>
        </p:nvSpPr>
        <p:spPr>
          <a:xfrm>
            <a:off x="6052352" y="5689732"/>
            <a:ext cx="4507692" cy="400110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r>
              <a:rPr lang="en-US" altLang="ko-KR" sz="2000" b="1" dirty="0">
                <a:cs typeface="Arial" pitchFamily="34" charset="0"/>
              </a:rPr>
              <a:t>RULES OF PRECEDENCE</a:t>
            </a:r>
            <a:endParaRPr lang="ko-KR" altLang="en-US" sz="2000" b="1" dirty="0"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8DA9D-9C2F-5669-6008-91F542A2DD80}"/>
              </a:ext>
            </a:extLst>
          </p:cNvPr>
          <p:cNvSpPr txBox="1"/>
          <p:nvPr/>
        </p:nvSpPr>
        <p:spPr>
          <a:xfrm>
            <a:off x="5114018" y="5566622"/>
            <a:ext cx="958096" cy="646331"/>
          </a:xfrm>
          <a:prstGeom prst="rect">
            <a:avLst/>
          </a:prstGeom>
          <a:noFill/>
        </p:spPr>
        <p:txBody>
          <a:bodyPr wrap="square" lIns="108000" rIns="108000" rtlCol="0">
            <a:spAutoFit/>
          </a:bodyPr>
          <a:lstStyle/>
          <a:p>
            <a:pPr algn="ctr"/>
            <a:r>
              <a:rPr lang="en-US" altLang="ko-KR" sz="3600" b="1" dirty="0">
                <a:cs typeface="Arial" pitchFamily="34" charset="0"/>
              </a:rPr>
              <a:t>07</a:t>
            </a:r>
            <a:endParaRPr lang="ko-KR" altLang="en-US" sz="3600" b="1" dirty="0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3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DC8BB-DA9C-4583-843F-32F8DC0F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SQL Statements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0EDE6-96BE-46EC-8167-03435A44E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E3C20CF-ACD9-48C2-944F-41FBEBDB202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09750" y="1320775"/>
          <a:ext cx="8572500" cy="4954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0365">
                  <a:extLst>
                    <a:ext uri="{9D8B030D-6E8A-4147-A177-3AD203B41FA5}">
                      <a16:colId xmlns:a16="http://schemas.microsoft.com/office/drawing/2014/main" val="3798089818"/>
                    </a:ext>
                  </a:extLst>
                </a:gridCol>
                <a:gridCol w="6502135">
                  <a:extLst>
                    <a:ext uri="{9D8B030D-6E8A-4147-A177-3AD203B41FA5}">
                      <a16:colId xmlns:a16="http://schemas.microsoft.com/office/drawing/2014/main" val="1870229283"/>
                    </a:ext>
                  </a:extLst>
                </a:gridCol>
              </a:tblGrid>
              <a:tr h="358493">
                <a:tc>
                  <a:txBody>
                    <a:bodyPr/>
                    <a:lstStyle/>
                    <a:p>
                      <a:r>
                        <a:rPr lang="en-US" sz="1600" dirty="0"/>
                        <a:t>STATEMENTS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TYPE</a:t>
                      </a:r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2740879575"/>
                  </a:ext>
                </a:extLst>
              </a:tr>
              <a:tr h="130394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SELECT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INSERT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UPDATE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DELETE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MERGE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DATA</a:t>
                      </a:r>
                      <a:r>
                        <a:rPr lang="en-US" sz="1600" b="1" baseline="0" dirty="0"/>
                        <a:t> MANIPULATION LANGUAGE (DML)</a:t>
                      </a:r>
                    </a:p>
                    <a:p>
                      <a:r>
                        <a:rPr lang="en-US" sz="1600" baseline="0" dirty="0"/>
                        <a:t>Retrieves data from database, enters new rows, changes existing rows, and removes unwanted rows from tables in the database, respectively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1079327306"/>
                  </a:ext>
                </a:extLst>
              </a:tr>
              <a:tr h="1546538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CREATE 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ALTER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DROP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RENAME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TRUNCATE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COMMENT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DATA DEFINITION LANGUAGE (DDL)</a:t>
                      </a:r>
                    </a:p>
                    <a:p>
                      <a:r>
                        <a:rPr lang="en-US" sz="1600" dirty="0"/>
                        <a:t>Sets up, changes, and removes data structures</a:t>
                      </a:r>
                      <a:r>
                        <a:rPr lang="en-US" sz="1600" baseline="0" dirty="0"/>
                        <a:t> from tables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2333063212"/>
                  </a:ext>
                </a:extLst>
              </a:tr>
              <a:tr h="8470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GRANT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REVOKE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DATA CONTROL LANGUAGE</a:t>
                      </a:r>
                      <a:r>
                        <a:rPr lang="en-US" sz="1600" b="1" baseline="0" dirty="0"/>
                        <a:t> (DCL)</a:t>
                      </a:r>
                    </a:p>
                    <a:p>
                      <a:r>
                        <a:rPr lang="en-US" sz="1600" baseline="0" dirty="0"/>
                        <a:t>Provides or removes access rights to both the Database and the structures within it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4171929943"/>
                  </a:ext>
                </a:extLst>
              </a:tr>
              <a:tr h="88395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COMMIT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ROLLBACK</a:t>
                      </a:r>
                    </a:p>
                    <a:p>
                      <a:r>
                        <a:rPr lang="en-US" sz="16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SAVEPOINT</a:t>
                      </a:r>
                    </a:p>
                  </a:txBody>
                  <a:tcPr marT="45725" marB="45725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TRANSACTION CONTROL</a:t>
                      </a:r>
                    </a:p>
                    <a:p>
                      <a:r>
                        <a:rPr lang="en-US" sz="1600" dirty="0"/>
                        <a:t>Manages</a:t>
                      </a:r>
                      <a:r>
                        <a:rPr lang="en-US" sz="1600" baseline="0" dirty="0"/>
                        <a:t> the changes made by DML statements. Changes to the data can be grouped together into logical transactions</a:t>
                      </a:r>
                      <a:endParaRPr lang="en-US" sz="1600" dirty="0"/>
                    </a:p>
                  </a:txBody>
                  <a:tcPr marT="45725" marB="45725"/>
                </a:tc>
                <a:extLst>
                  <a:ext uri="{0D108BD9-81ED-4DB2-BD59-A6C34878D82A}">
                    <a16:rowId xmlns:a16="http://schemas.microsoft.com/office/drawing/2014/main" val="29800950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479DD-B07E-44FB-9E60-3B9A7F1D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Writing SQL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6F6FE-38E4-4296-A2FB-E0A4013D7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SQL statements are </a:t>
            </a:r>
            <a:r>
              <a:rPr lang="en-US" b="1" dirty="0">
                <a:solidFill>
                  <a:srgbClr val="0070C0"/>
                </a:solidFill>
              </a:rPr>
              <a:t>not case sensitive </a:t>
            </a:r>
            <a:r>
              <a:rPr lang="en-US" dirty="0"/>
              <a:t>(unless indicated).</a:t>
            </a:r>
          </a:p>
          <a:p>
            <a:r>
              <a:rPr lang="en-US" dirty="0"/>
              <a:t>SQL statements can be entered on </a:t>
            </a:r>
            <a:r>
              <a:rPr lang="en-US" b="1" dirty="0">
                <a:solidFill>
                  <a:srgbClr val="0070C0"/>
                </a:solidFill>
              </a:rPr>
              <a:t>one or more lines.</a:t>
            </a:r>
          </a:p>
          <a:p>
            <a:r>
              <a:rPr lang="en-US" dirty="0"/>
              <a:t>Keywords cannot be abbreviated or split across lines</a:t>
            </a:r>
          </a:p>
          <a:p>
            <a:r>
              <a:rPr lang="en-US" dirty="0"/>
              <a:t>Clauses are usually placed on separate lines</a:t>
            </a:r>
          </a:p>
          <a:p>
            <a:r>
              <a:rPr lang="en-US" b="1" dirty="0">
                <a:solidFill>
                  <a:srgbClr val="0070C0"/>
                </a:solidFill>
              </a:rPr>
              <a:t>Indents</a:t>
            </a:r>
            <a:r>
              <a:rPr lang="en-US" dirty="0"/>
              <a:t> are used to enhance readability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0628B-8CD3-4FB0-BD0A-11FD6FB46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72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1A64-8C3C-4784-BA3F-D62AC17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 Resource (HR)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1BAF-1DFE-4DC1-8838-ED2C259E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the HR records, each employee has an identification number, email address, job identification code, salary, and manager. Some employees earn commissions in addition to their salary</a:t>
            </a:r>
          </a:p>
          <a:p>
            <a:r>
              <a:rPr lang="en-US" sz="2400" dirty="0"/>
              <a:t>The company also tracks information about jobs within the organization. Each job has an identification code, job title, and a minimum and maximum salary range for the job. Some employees have been with the company for a long time and have held different positions within the company. When an employee resigns, the duration the employee was working for, the job identification number, and the department are recorded. </a:t>
            </a: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B603A-155F-4E02-A7DA-E26DDC15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474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71A64-8C3C-4784-BA3F-D62AC177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Human Resource (HR) schema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E1BAF-1DFE-4DC1-8838-ED2C259E1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/>
              <a:t>The sample company is regionally diverse, so it tracks the locations of its warehouses and departments. Each employee is assigned to a department, and each department is identified by a unique department number or short name. Each department is associated with one location, and each location has a full address that includes the street name, postal code, city, state or province, and the country code. </a:t>
            </a:r>
          </a:p>
          <a:p>
            <a:pPr algn="just"/>
            <a:r>
              <a:rPr lang="en-US" sz="2400" dirty="0"/>
              <a:t>In places where the departments and warehouses are located, the company records details such as the country name, currency symbol, currency name, and the region where the country is located geographically.</a:t>
            </a:r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B603A-155F-4E02-A7DA-E26DDC155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956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725D-1AE1-429E-9CDD-08BE63954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INSERT INTO …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BC02-9F14-40E9-8488-EE9252F9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38115"/>
          </a:xfrm>
        </p:spPr>
        <p:txBody>
          <a:bodyPr/>
          <a:lstStyle/>
          <a:p>
            <a:r>
              <a:rPr lang="en-US" sz="2400" dirty="0"/>
              <a:t>Purpose: To </a:t>
            </a:r>
            <a:r>
              <a:rPr lang="en-US" sz="2400" b="1" dirty="0">
                <a:solidFill>
                  <a:srgbClr val="0070C0"/>
                </a:solidFill>
              </a:rPr>
              <a:t>insert a row of data </a:t>
            </a:r>
            <a:r>
              <a:rPr lang="en-US" sz="2400" dirty="0"/>
              <a:t>into a table.</a:t>
            </a:r>
          </a:p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Example: Insert a new row into table Department: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MY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61BBEB-1037-4328-9BB4-02E5C4B0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0E2EDA-C67B-4A4C-8767-9C0938FE6A58}"/>
              </a:ext>
            </a:extLst>
          </p:cNvPr>
          <p:cNvSpPr/>
          <p:nvPr/>
        </p:nvSpPr>
        <p:spPr>
          <a:xfrm>
            <a:off x="2095500" y="2600089"/>
            <a:ext cx="8001000" cy="7796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tableName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column1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column2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column3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value1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value2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value3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BF90ED-BCB0-4398-90BF-AFDA0329167A}"/>
              </a:ext>
            </a:extLst>
          </p:cNvPr>
          <p:cNvSpPr/>
          <p:nvPr/>
        </p:nvSpPr>
        <p:spPr>
          <a:xfrm>
            <a:off x="2095500" y="4046536"/>
            <a:ext cx="8001000" cy="7796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70,’Public Relations’,100,70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F2F35A-D0FD-4A8E-8CCB-AF82E5540382}"/>
              </a:ext>
            </a:extLst>
          </p:cNvPr>
          <p:cNvSpPr/>
          <p:nvPr/>
        </p:nvSpPr>
        <p:spPr>
          <a:xfrm>
            <a:off x="2095500" y="5231166"/>
            <a:ext cx="8001000" cy="99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department_id, department_name, manager_id, location_id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70,’Public Relations’,100,70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9B465-16E0-4B6B-86E6-A4F9A480B296}"/>
              </a:ext>
            </a:extLst>
          </p:cNvPr>
          <p:cNvSpPr/>
          <p:nvPr/>
        </p:nvSpPr>
        <p:spPr>
          <a:xfrm>
            <a:off x="5232400" y="4860188"/>
            <a:ext cx="863600" cy="330200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E3041B-969B-43BF-9F8F-2CF3E1DD85AE}"/>
              </a:ext>
            </a:extLst>
          </p:cNvPr>
          <p:cNvSpPr/>
          <p:nvPr/>
        </p:nvSpPr>
        <p:spPr>
          <a:xfrm>
            <a:off x="5099050" y="6265188"/>
            <a:ext cx="4997450" cy="33348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Use single quote (‘) for string / character data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8731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9AAEC-F4F8-4DFF-B30B-735A81EF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Inserting rows with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2B99A-3BCC-4F28-88AF-5EEB50F3C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Implicit method: Omit the column from the column list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Explicit method: Specify the NULL keyword in the VALUES clause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01FB6-9D08-4EF1-943C-8ABE2FF6F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8D7764-1E95-46B8-AC2E-D51AE2DF4B99}"/>
              </a:ext>
            </a:extLst>
          </p:cNvPr>
          <p:cNvSpPr/>
          <p:nvPr/>
        </p:nvSpPr>
        <p:spPr>
          <a:xfrm>
            <a:off x="2038350" y="2246351"/>
            <a:ext cx="8001000" cy="99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department_id, department_name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30, ‘Purchasing’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44A47A-D2BB-4B36-82E2-594900250BB1}"/>
              </a:ext>
            </a:extLst>
          </p:cNvPr>
          <p:cNvSpPr/>
          <p:nvPr/>
        </p:nvSpPr>
        <p:spPr>
          <a:xfrm>
            <a:off x="2038350" y="4328339"/>
            <a:ext cx="8001000" cy="9985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department_id, department_name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30, ‘Purchasing’, NULL, NULL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E105899-D314-4842-B1A4-20DD36B275AB}"/>
              </a:ext>
            </a:extLst>
          </p:cNvPr>
          <p:cNvGraphicFramePr>
            <a:graphicFrameLocks noGrp="1"/>
          </p:cNvGraphicFramePr>
          <p:nvPr/>
        </p:nvGraphicFramePr>
        <p:xfrm>
          <a:off x="2095500" y="5489487"/>
          <a:ext cx="78867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373657254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202599972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89585852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2364671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MY" b="1" dirty="0" err="1"/>
                        <a:t>department_id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 err="1"/>
                        <a:t>department_name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 err="1"/>
                        <a:t>manager_id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b="1" dirty="0" err="1"/>
                        <a:t>location_id</a:t>
                      </a:r>
                      <a:endParaRPr lang="en-US" b="1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86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dirty="0"/>
                        <a:t>Purchasing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9788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882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A3D8-8F57-4FCD-8D79-DB07DDF7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Attention: Inserting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3CC1-0627-48FA-ABFE-46F15682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 sure that you can use the </a:t>
            </a:r>
            <a:r>
              <a:rPr lang="en-US" b="1" dirty="0">
                <a:solidFill>
                  <a:srgbClr val="0070C0"/>
                </a:solidFill>
              </a:rPr>
              <a:t>NULL</a:t>
            </a:r>
            <a:r>
              <a:rPr lang="en-US" dirty="0"/>
              <a:t> value in the targeted column by verifying the NULL status with the </a:t>
            </a:r>
            <a:r>
              <a:rPr lang="en-US" b="1" dirty="0">
                <a:solidFill>
                  <a:srgbClr val="0070C0"/>
                </a:solidFill>
              </a:rPr>
              <a:t>DESCRIBE</a:t>
            </a:r>
            <a:r>
              <a:rPr lang="en-US" dirty="0"/>
              <a:t> command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678DB-D401-488E-8EA7-E2FE6FD0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C19A1F-3A73-44E1-8034-97F1202F127C}"/>
              </a:ext>
            </a:extLst>
          </p:cNvPr>
          <p:cNvSpPr/>
          <p:nvPr/>
        </p:nvSpPr>
        <p:spPr>
          <a:xfrm>
            <a:off x="6795018" y="3128654"/>
            <a:ext cx="2341890" cy="735075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of DESCRIBE in MySQL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48D3B-BC1C-4134-8F93-16C1C6AF03A7}"/>
              </a:ext>
            </a:extLst>
          </p:cNvPr>
          <p:cNvSpPr/>
          <p:nvPr/>
        </p:nvSpPr>
        <p:spPr>
          <a:xfrm>
            <a:off x="6795018" y="4776098"/>
            <a:ext cx="2341890" cy="735075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of DESCRIBE in Oracle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2C13A18-E08C-E470-6040-AE0F41A6A960}"/>
              </a:ext>
            </a:extLst>
          </p:cNvPr>
          <p:cNvGrpSpPr/>
          <p:nvPr/>
        </p:nvGrpSpPr>
        <p:grpSpPr>
          <a:xfrm>
            <a:off x="2282103" y="4426212"/>
            <a:ext cx="4383461" cy="2066663"/>
            <a:chOff x="2437140" y="4289687"/>
            <a:chExt cx="4073388" cy="185582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1679BF1-29A3-4B30-8534-E6E4A9A46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37140" y="4289687"/>
              <a:ext cx="4073388" cy="1855829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E69D6BB-A47F-42DF-B4B5-1C153E66E2E9}"/>
                </a:ext>
              </a:extLst>
            </p:cNvPr>
            <p:cNvSpPr/>
            <p:nvPr/>
          </p:nvSpPr>
          <p:spPr>
            <a:xfrm>
              <a:off x="3383280" y="5084989"/>
              <a:ext cx="981456" cy="31389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C77C4D8-4036-41DE-A371-5D468F8C5151}"/>
                </a:ext>
              </a:extLst>
            </p:cNvPr>
            <p:cNvSpPr/>
            <p:nvPr/>
          </p:nvSpPr>
          <p:spPr>
            <a:xfrm>
              <a:off x="3383280" y="5681748"/>
              <a:ext cx="981456" cy="31389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3E38702-968B-E815-A0E9-6AFB2002E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103" y="2836773"/>
            <a:ext cx="4383461" cy="138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58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A3D8-8F57-4FCD-8D79-DB07DDF7C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Attention: Inserting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23CC1-0627-48FA-ABFE-46F156822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errors that can occur during the user input are checked in the following order:</a:t>
            </a:r>
          </a:p>
          <a:p>
            <a:pPr lvl="1"/>
            <a:r>
              <a:rPr lang="en-US" dirty="0"/>
              <a:t>Mandatory value missing for a </a:t>
            </a:r>
            <a:r>
              <a:rPr lang="en-US" b="1" dirty="0">
                <a:solidFill>
                  <a:srgbClr val="0070C0"/>
                </a:solidFill>
              </a:rPr>
              <a:t>NOT NULL </a:t>
            </a:r>
            <a:r>
              <a:rPr lang="en-US" dirty="0"/>
              <a:t>column</a:t>
            </a:r>
          </a:p>
          <a:p>
            <a:pPr lvl="1"/>
            <a:r>
              <a:rPr lang="en-US" dirty="0"/>
              <a:t>Duplicate value violating any </a:t>
            </a:r>
            <a:r>
              <a:rPr lang="en-US" b="1" dirty="0">
                <a:solidFill>
                  <a:srgbClr val="0070C0"/>
                </a:solidFill>
              </a:rPr>
              <a:t>unique</a:t>
            </a:r>
            <a:r>
              <a:rPr lang="en-US" dirty="0"/>
              <a:t> or </a:t>
            </a:r>
            <a:r>
              <a:rPr lang="en-US" b="1" dirty="0">
                <a:solidFill>
                  <a:srgbClr val="0070C0"/>
                </a:solidFill>
              </a:rPr>
              <a:t>primary key </a:t>
            </a:r>
            <a:r>
              <a:rPr lang="en-US" dirty="0"/>
              <a:t>constraint</a:t>
            </a:r>
          </a:p>
          <a:p>
            <a:pPr lvl="1"/>
            <a:r>
              <a:rPr lang="en-US" dirty="0"/>
              <a:t>Any value violating a </a:t>
            </a:r>
            <a:r>
              <a:rPr lang="en-US" b="1" dirty="0">
                <a:solidFill>
                  <a:srgbClr val="0070C0"/>
                </a:solidFill>
              </a:rPr>
              <a:t>CHECK</a:t>
            </a:r>
            <a:r>
              <a:rPr lang="en-US" dirty="0"/>
              <a:t> constraint</a:t>
            </a:r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Referential integrity maintained </a:t>
            </a:r>
            <a:r>
              <a:rPr lang="en-US" dirty="0"/>
              <a:t>for a foreign key constraint</a:t>
            </a:r>
          </a:p>
          <a:p>
            <a:pPr lvl="1"/>
            <a:r>
              <a:rPr lang="en-US" dirty="0"/>
              <a:t>Data </a:t>
            </a:r>
            <a:r>
              <a:rPr lang="en-US" b="1" dirty="0">
                <a:solidFill>
                  <a:srgbClr val="0070C0"/>
                </a:solidFill>
              </a:rPr>
              <a:t>type mismatch </a:t>
            </a:r>
            <a:r>
              <a:rPr lang="en-US" dirty="0"/>
              <a:t>or values too wide to fit in column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678DB-D401-488E-8EA7-E2FE6FD0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79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DE77-2154-4BEB-B1C5-45F1619D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Attention: Inserting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B2A26-C596-4DF2-B255-30866C98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05" y="1382751"/>
            <a:ext cx="10515600" cy="5045060"/>
          </a:xfrm>
        </p:spPr>
        <p:txBody>
          <a:bodyPr>
            <a:normAutofit/>
          </a:bodyPr>
          <a:lstStyle/>
          <a:p>
            <a:r>
              <a:rPr lang="en-US" dirty="0"/>
              <a:t>Any value violating a CHECK constraint</a:t>
            </a:r>
          </a:p>
          <a:p>
            <a:pPr lvl="1"/>
            <a:r>
              <a:rPr lang="en-US" dirty="0"/>
              <a:t>CHECK is a constraint that set a specific condition for the input data to follow. E.g.: DDL statement below: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Example above: the column “</a:t>
            </a:r>
            <a:r>
              <a:rPr lang="en-US" dirty="0" err="1"/>
              <a:t>Manager_ID</a:t>
            </a:r>
            <a:r>
              <a:rPr lang="en-US" dirty="0"/>
              <a:t>” has a </a:t>
            </a:r>
            <a:r>
              <a:rPr lang="en-US" b="1" dirty="0">
                <a:solidFill>
                  <a:srgbClr val="00B0F0"/>
                </a:solidFill>
              </a:rPr>
              <a:t>CHECK</a:t>
            </a:r>
            <a:r>
              <a:rPr lang="en-US" dirty="0"/>
              <a:t> constraint that checks if the input is larger than zero, </a:t>
            </a:r>
          </a:p>
          <a:p>
            <a:pPr lvl="1"/>
            <a:r>
              <a:rPr lang="en-US" dirty="0"/>
              <a:t>Therefore, only input that is larger than zero is allowed to enter the column. Error example in mySQL: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7A848B-568E-45F7-9D47-891F2334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5CDC28-876F-8BF6-5485-A5ED93AF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86" y="2338631"/>
            <a:ext cx="4132062" cy="1648309"/>
          </a:xfrm>
          <a:prstGeom prst="rect">
            <a:avLst/>
          </a:prstGeom>
          <a:ln w="15875">
            <a:solidFill>
              <a:schemeClr val="accent2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CFED099-C196-F57A-89B6-54D851BBD8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263" y="5257668"/>
            <a:ext cx="6366703" cy="573823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D6ADFBD-B5C0-E204-2F1E-B0967944218E}"/>
              </a:ext>
            </a:extLst>
          </p:cNvPr>
          <p:cNvSpPr txBox="1"/>
          <p:nvPr/>
        </p:nvSpPr>
        <p:spPr>
          <a:xfrm>
            <a:off x="1497051" y="5954137"/>
            <a:ext cx="7598697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Error Code: 3819. Check constraint 'dept_chk_1' is violated.</a:t>
            </a:r>
          </a:p>
        </p:txBody>
      </p:sp>
    </p:spTree>
    <p:extLst>
      <p:ext uri="{BB962C8B-B14F-4D97-AF65-F5344CB8AC3E}">
        <p14:creationId xmlns:p14="http://schemas.microsoft.com/office/powerpoint/2010/main" val="1072460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0970D-FA45-4730-8433-37D8CA11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Attention: Inserting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16672-E777-437D-9F35-F6CBE443D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Referential integrity maintained</a:t>
            </a:r>
            <a:r>
              <a:rPr lang="en-US" dirty="0"/>
              <a:t> for a foreign key constraint</a:t>
            </a:r>
          </a:p>
          <a:p>
            <a:pPr lvl="1"/>
            <a:r>
              <a:rPr lang="en-US" dirty="0"/>
              <a:t>Whenever the foreign key exists in the table, according to </a:t>
            </a:r>
            <a:r>
              <a:rPr lang="en-US" b="1" dirty="0">
                <a:solidFill>
                  <a:srgbClr val="0070C0"/>
                </a:solidFill>
              </a:rPr>
              <a:t>Referential Integrity constraint</a:t>
            </a:r>
            <a:r>
              <a:rPr lang="en-US" dirty="0"/>
              <a:t>, the value can either be:</a:t>
            </a:r>
          </a:p>
          <a:p>
            <a:pPr lvl="2"/>
            <a:r>
              <a:rPr lang="en-US" b="1" dirty="0">
                <a:solidFill>
                  <a:srgbClr val="0070C0"/>
                </a:solidFill>
              </a:rPr>
              <a:t>Values exist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in the parent table foreign key refers to. OR</a:t>
            </a:r>
          </a:p>
          <a:p>
            <a:pPr lvl="2"/>
            <a:r>
              <a:rPr lang="en-US" dirty="0"/>
              <a:t>Wholly </a:t>
            </a:r>
            <a:r>
              <a:rPr lang="en-US" b="1" dirty="0">
                <a:solidFill>
                  <a:srgbClr val="0070C0"/>
                </a:solidFill>
              </a:rPr>
              <a:t>NULL</a:t>
            </a:r>
          </a:p>
          <a:p>
            <a:pPr lvl="1"/>
            <a:r>
              <a:rPr lang="en-US" dirty="0"/>
              <a:t>Therefore, non-NULL values that does not exist at the table where the foreign key refers to are not allowed to enter in the column. Error example in Oracle: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0D9FA-EF11-44A0-968C-1031D7551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BB5A24-8FC6-A9A8-4C41-B74BCDB0D870}"/>
              </a:ext>
            </a:extLst>
          </p:cNvPr>
          <p:cNvSpPr txBox="1"/>
          <p:nvPr/>
        </p:nvSpPr>
        <p:spPr>
          <a:xfrm>
            <a:off x="838200" y="5283385"/>
            <a:ext cx="105156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Error Code: 1452. Cannot add or update a child row: a foreign key constraint fails (`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`.`employees`, CONSTRAINT `employees_ibfk_1` FOREIGN KEY (`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`) REFERENCES `jobs` (`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`))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FBD85D9-75F3-94F3-0D7C-15BF67B3E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497181"/>
            <a:ext cx="10515599" cy="662627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019899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D29B-BBAF-4305-8865-030275914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Recommendation: Inserting </a:t>
            </a:r>
            <a:r>
              <a:rPr lang="en-MY" dirty="0">
                <a:solidFill>
                  <a:srgbClr val="0070C0"/>
                </a:solidFill>
              </a:rPr>
              <a:t>NULL</a:t>
            </a:r>
            <a:r>
              <a:rPr lang="en-MY" dirty="0"/>
              <a:t>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0D4B3-F82E-4602-91B3-53C557A6B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Use of the column list is </a:t>
            </a:r>
            <a:r>
              <a:rPr lang="en-US" b="1" dirty="0">
                <a:solidFill>
                  <a:srgbClr val="0070C0"/>
                </a:solidFill>
              </a:rPr>
              <a:t>recommended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because it makes the INSERT statement more readable and reliable, or less prone to mistakes. Example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A5CC2E-1AB4-4DFD-B023-2C0E93764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A8BFED-CC2B-45B4-9B27-E70E77221100}"/>
              </a:ext>
            </a:extLst>
          </p:cNvPr>
          <p:cNvSpPr/>
          <p:nvPr/>
        </p:nvSpPr>
        <p:spPr>
          <a:xfrm>
            <a:off x="1257300" y="3423424"/>
            <a:ext cx="9677400" cy="7861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tableName </a:t>
            </a:r>
            <a:r>
              <a:rPr lang="en-MY" sz="24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column1</a:t>
            </a:r>
            <a:r>
              <a:rPr lang="en-MY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sz="2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column2</a:t>
            </a:r>
            <a:r>
              <a:rPr lang="en-MY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column3</a:t>
            </a:r>
            <a:r>
              <a:rPr lang="en-MY" sz="24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sz="24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MY" sz="24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sz="2400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value1</a:t>
            </a:r>
            <a:r>
              <a:rPr lang="en-MY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sz="2400" dirty="0">
                <a:solidFill>
                  <a:srgbClr val="92D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value2</a:t>
            </a:r>
            <a:r>
              <a:rPr lang="en-MY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value3</a:t>
            </a:r>
            <a:r>
              <a:rPr lang="en-MY" sz="24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91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F634-C824-4735-8FE6-6EB18DBE0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Inserting Special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8889D-5F69-470D-8A1B-C349E0A4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SYSDATE()</a:t>
            </a:r>
            <a:r>
              <a:rPr lang="en-US" dirty="0"/>
              <a:t>function records the current date and time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04382B-3628-4036-9AD1-54C0ED5EF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A9D489-300D-48B8-88E1-F10817FA9D1B}"/>
              </a:ext>
            </a:extLst>
          </p:cNvPr>
          <p:cNvSpPr/>
          <p:nvPr/>
        </p:nvSpPr>
        <p:spPr>
          <a:xfrm>
            <a:off x="625397" y="2757934"/>
            <a:ext cx="10941205" cy="181764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sz="20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</a:p>
          <a:p>
            <a:r>
              <a:rPr lang="en-MY" sz="2000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email, </a:t>
            </a:r>
            <a:r>
              <a:rPr lang="en-US" sz="2000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hire_date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  <a:r>
              <a:rPr lang="en-MY" sz="2000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sz="2000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</a:p>
          <a:p>
            <a:r>
              <a:rPr lang="en-MY" sz="2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300, ‘</a:t>
            </a:r>
            <a:r>
              <a:rPr lang="en-MY" sz="20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Mikail</a:t>
            </a:r>
            <a:r>
              <a:rPr lang="en-MY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’, ‘Hafiz’, ‘MHAFIZ’, </a:t>
            </a:r>
            <a:r>
              <a:rPr lang="en-MY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SYSDATE()</a:t>
            </a:r>
            <a:r>
              <a:rPr lang="en-MY" sz="2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‘IT_PROG’, 9000</a:t>
            </a:r>
            <a:r>
              <a:rPr lang="en-MY" sz="2000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6022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9549B-E8F9-44A8-8068-DFC7CE365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specific Date and Time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B6495-D012-4D64-AE3B-BF7E06BDC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DD-MON-RR format is generally used to insert a date value.</a:t>
            </a:r>
          </a:p>
          <a:p>
            <a:r>
              <a:rPr lang="en-US" sz="2000" dirty="0"/>
              <a:t>You may also supply the date value in DD-MON-YYYY format.</a:t>
            </a:r>
          </a:p>
          <a:p>
            <a:r>
              <a:rPr lang="en-US" sz="2000" dirty="0"/>
              <a:t>This is recommended because it clearly specifies the century and does not depend on the internal RR format logic specifying the correct century</a:t>
            </a:r>
          </a:p>
          <a:p>
            <a:endParaRPr lang="en-MY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4AE4D-B2F1-4574-991A-F28F61B0E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4DB57-10B1-444A-9590-19370EC7194F}"/>
              </a:ext>
            </a:extLst>
          </p:cNvPr>
          <p:cNvSpPr/>
          <p:nvPr/>
        </p:nvSpPr>
        <p:spPr>
          <a:xfrm>
            <a:off x="2634270" y="5287645"/>
            <a:ext cx="7197868" cy="484090"/>
          </a:xfrm>
          <a:prstGeom prst="rect">
            <a:avLst/>
          </a:prstGeom>
          <a:solidFill>
            <a:srgbClr val="FF0000"/>
          </a:solid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MySQL, use “YYYY-MM-DD” format for DATE datatype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6AA938-CE7D-4FAE-A6AD-556DDD68D829}"/>
              </a:ext>
            </a:extLst>
          </p:cNvPr>
          <p:cNvSpPr/>
          <p:nvPr/>
        </p:nvSpPr>
        <p:spPr>
          <a:xfrm>
            <a:off x="613317" y="3549370"/>
            <a:ext cx="10515600" cy="118989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MY" dirty="0">
                <a:latin typeface="Courier New" panose="02070309020205020404" pitchFamily="49" charset="0"/>
                <a:cs typeface="Courier New" panose="02070309020205020404" pitchFamily="49" charset="0"/>
              </a:rPr>
              <a:t>employees </a:t>
            </a:r>
          </a:p>
          <a:p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email,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hire_date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  <a:r>
              <a:rPr lang="en-MY" dirty="0">
                <a:solidFill>
                  <a:srgbClr val="E2A22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</a:p>
          <a:p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400, ‘Yusuf’, ‘</a:t>
            </a:r>
            <a:r>
              <a:rPr lang="en-MY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Syarin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’, ‘YSYARIN’, </a:t>
            </a:r>
            <a:r>
              <a:rPr lang="en-MY" b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‘2024-12-12’</a:t>
            </a:r>
            <a:r>
              <a:rPr lang="en-MY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MY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‘SA_REP’, 8000</a:t>
            </a:r>
            <a:r>
              <a:rPr lang="en-MY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MY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819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9812D-1E8D-4D66-98E3-D407B4451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INSERT INTO …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0791F-80FE-47C4-A80F-C12973385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data </a:t>
            </a:r>
            <a:r>
              <a:rPr lang="en-US" b="1" dirty="0">
                <a:solidFill>
                  <a:srgbClr val="0070C0"/>
                </a:solidFill>
              </a:rPr>
              <a:t>from an existing table</a:t>
            </a:r>
          </a:p>
          <a:p>
            <a:r>
              <a:rPr lang="en-US" dirty="0"/>
              <a:t>Write the INSERT statement with a </a:t>
            </a:r>
            <a:r>
              <a:rPr lang="en-US" b="1" dirty="0">
                <a:solidFill>
                  <a:srgbClr val="0070C0"/>
                </a:solidFill>
              </a:rPr>
              <a:t>subquery</a:t>
            </a:r>
          </a:p>
          <a:p>
            <a:r>
              <a:rPr lang="en-US" dirty="0"/>
              <a:t>DO NOT use the VALUES clause</a:t>
            </a:r>
          </a:p>
          <a:p>
            <a:r>
              <a:rPr lang="en-US" dirty="0"/>
              <a:t>Match the number of columns in the INSERT clause to those in the subquery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06E21-3A0F-44EE-9AFF-F4F6E213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0CEBCA-FA90-4DE5-B04B-35E132D24A52}"/>
              </a:ext>
            </a:extLst>
          </p:cNvPr>
          <p:cNvSpPr/>
          <p:nvPr/>
        </p:nvSpPr>
        <p:spPr>
          <a:xfrm>
            <a:off x="2095500" y="4342092"/>
            <a:ext cx="8001000" cy="160175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sales_reps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id, name, salary,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employee_id,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salary,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LIKE ‘%REP%’;</a:t>
            </a:r>
          </a:p>
        </p:txBody>
      </p:sp>
    </p:spTree>
    <p:extLst>
      <p:ext uri="{BB962C8B-B14F-4D97-AF65-F5344CB8AC3E}">
        <p14:creationId xmlns:p14="http://schemas.microsoft.com/office/powerpoint/2010/main" val="2636456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0C888-4F75-4A6C-85BB-B9C186B5E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UPDATE …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9A8F-FCCB-4C39-970C-811BA67C1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Purpose: To modify existing values in a table.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Update the department ID of employee with the ID of 113 to 50</a:t>
            </a:r>
          </a:p>
          <a:p>
            <a:pPr marL="0" indent="0">
              <a:buNone/>
            </a:pPr>
            <a:endParaRPr lang="en-US" dirty="0"/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A8EB9-6C0F-4146-AC59-998C063A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5558BB-05B5-477E-925A-B77CB5C73756}"/>
              </a:ext>
            </a:extLst>
          </p:cNvPr>
          <p:cNvSpPr/>
          <p:nvPr/>
        </p:nvSpPr>
        <p:spPr>
          <a:xfrm>
            <a:off x="2095500" y="2889903"/>
            <a:ext cx="8001000" cy="10781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table-name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col1 = update-value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,col2 = update-value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search-condition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43501B-F04C-41DF-8D5B-07664DCDFAD7}"/>
              </a:ext>
            </a:extLst>
          </p:cNvPr>
          <p:cNvSpPr/>
          <p:nvPr/>
        </p:nvSpPr>
        <p:spPr>
          <a:xfrm>
            <a:off x="2095500" y="5098770"/>
            <a:ext cx="8001000" cy="107819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department_id = 50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 = 113;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56EBA5-6DCE-4403-BC45-A2F81DC77651}"/>
              </a:ext>
            </a:extLst>
          </p:cNvPr>
          <p:cNvSpPr/>
          <p:nvPr/>
        </p:nvSpPr>
        <p:spPr>
          <a:xfrm>
            <a:off x="8455025" y="2559703"/>
            <a:ext cx="1641475" cy="330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tx1"/>
                </a:solidFill>
              </a:rPr>
              <a:t>[ ]</a:t>
            </a:r>
            <a:r>
              <a:rPr lang="en-MY" sz="1600" b="1" dirty="0"/>
              <a:t> = </a:t>
            </a:r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538069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98D3-97D4-44E9-81CF-7C7E559B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Two Columns with a </a:t>
            </a:r>
            <a:r>
              <a:rPr lang="en-US" dirty="0">
                <a:solidFill>
                  <a:srgbClr val="0070C0"/>
                </a:solidFill>
              </a:rPr>
              <a:t>Subquery</a:t>
            </a:r>
            <a:endParaRPr lang="en-MY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44F64-938F-4852-BFD7-FE1A29BBA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also be done for multiple subqueries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B4510-9104-47FE-B13B-E96AE1DC9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2563E-3D00-41ED-BC5F-91472DDE2F11}"/>
              </a:ext>
            </a:extLst>
          </p:cNvPr>
          <p:cNvSpPr/>
          <p:nvPr/>
        </p:nvSpPr>
        <p:spPr>
          <a:xfrm>
            <a:off x="2075543" y="2604713"/>
            <a:ext cx="8001000" cy="24412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(SELECT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column2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(SELECT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A9F64C-70D0-8ACE-F2F9-28C902D087D1}"/>
              </a:ext>
            </a:extLst>
          </p:cNvPr>
          <p:cNvSpPr/>
          <p:nvPr/>
        </p:nvSpPr>
        <p:spPr>
          <a:xfrm>
            <a:off x="8435068" y="2274513"/>
            <a:ext cx="1641475" cy="330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tx1"/>
                </a:solidFill>
              </a:rPr>
              <a:t>[ ]</a:t>
            </a:r>
            <a:r>
              <a:rPr lang="en-MY" sz="1600" b="1" dirty="0"/>
              <a:t> = </a:t>
            </a:r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1828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8E4A8-23B6-4C64-AA3F-B5FA9B2F5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Two Columns with Subquery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0F00B-869E-49AA-A36F-EFCAF4236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Update employee 113’s job and salary to match those of employee 205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E81B5A-9AA9-429A-8D96-223D8A60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C9EDAB-47ED-4AC0-94A0-11C638026D84}"/>
              </a:ext>
            </a:extLst>
          </p:cNvPr>
          <p:cNvSpPr/>
          <p:nvPr/>
        </p:nvSpPr>
        <p:spPr>
          <a:xfrm>
            <a:off x="2095500" y="3153851"/>
            <a:ext cx="8001000" cy="228794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 (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(SELECT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job_id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WHERE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 = 205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 = 113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22022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852D9-A0FD-4F1C-A9E2-99149D301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DELETE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0581F-141E-4659-A9D0-4B8BA8AFC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5897"/>
          </a:xfrm>
        </p:spPr>
        <p:txBody>
          <a:bodyPr/>
          <a:lstStyle/>
          <a:p>
            <a:r>
              <a:rPr lang="en-US" dirty="0"/>
              <a:t>Purpose: To delete existing rows from table</a:t>
            </a:r>
          </a:p>
          <a:p>
            <a:r>
              <a:rPr lang="en-US" dirty="0"/>
              <a:t>Syntax: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 Delete the record of department Finance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rows in the table are deleted if you omit the WHERE clause.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D00687-2A7D-45E6-B650-514620A6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ABCBA9-A8AC-443B-A520-F9FCF03353A4}"/>
              </a:ext>
            </a:extLst>
          </p:cNvPr>
          <p:cNvSpPr/>
          <p:nvPr/>
        </p:nvSpPr>
        <p:spPr>
          <a:xfrm>
            <a:off x="1526788" y="2806720"/>
            <a:ext cx="8001000" cy="927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table-name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search-condition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BEBE4A-9A3B-42DA-B9B6-1F5E46E97FC9}"/>
              </a:ext>
            </a:extLst>
          </p:cNvPr>
          <p:cNvSpPr/>
          <p:nvPr/>
        </p:nvSpPr>
        <p:spPr>
          <a:xfrm>
            <a:off x="1526788" y="4340206"/>
            <a:ext cx="8001000" cy="9271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department_name = ‘Finance’;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ECC376-A93A-4D7A-9831-A1BF4B65D4E5}"/>
              </a:ext>
            </a:extLst>
          </p:cNvPr>
          <p:cNvSpPr/>
          <p:nvPr/>
        </p:nvSpPr>
        <p:spPr>
          <a:xfrm>
            <a:off x="1526788" y="5944563"/>
            <a:ext cx="8001000" cy="45815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 FROM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870BC6-6109-54D4-37D5-09BACB5026DA}"/>
              </a:ext>
            </a:extLst>
          </p:cNvPr>
          <p:cNvSpPr/>
          <p:nvPr/>
        </p:nvSpPr>
        <p:spPr>
          <a:xfrm>
            <a:off x="7886313" y="2476520"/>
            <a:ext cx="1641475" cy="330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tx1"/>
                </a:solidFill>
              </a:rPr>
              <a:t>[ ]</a:t>
            </a:r>
            <a:r>
              <a:rPr lang="en-MY" sz="1600" b="1" dirty="0"/>
              <a:t> = </a:t>
            </a:r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43268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4DE1A-301F-41E8-BAFA-61019AAB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 …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CBD99-0AF3-412F-ABA6-0C12AF640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retrieve and display data from one or more tables.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19705-4A73-47B1-94F2-F761D0A37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7BA45-08E8-4037-9C11-1C0BACAB0493}"/>
              </a:ext>
            </a:extLst>
          </p:cNvPr>
          <p:cNvSpPr/>
          <p:nvPr/>
        </p:nvSpPr>
        <p:spPr>
          <a:xfrm>
            <a:off x="2095500" y="2941978"/>
            <a:ext cx="8001000" cy="18632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col1, col2, …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TableName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,TableName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 BY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columnList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HAVING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ORDER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BY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columnList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94C3A5-C598-15E7-2A9F-C6BEC3C4994D}"/>
              </a:ext>
            </a:extLst>
          </p:cNvPr>
          <p:cNvSpPr/>
          <p:nvPr/>
        </p:nvSpPr>
        <p:spPr>
          <a:xfrm>
            <a:off x="8455025" y="2611778"/>
            <a:ext cx="1641475" cy="3302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600" b="1" dirty="0">
                <a:solidFill>
                  <a:schemeClr val="tx1"/>
                </a:solidFill>
              </a:rPr>
              <a:t>[ ]</a:t>
            </a:r>
            <a:r>
              <a:rPr lang="en-MY" sz="1600" b="1" dirty="0"/>
              <a:t> = </a:t>
            </a:r>
            <a:r>
              <a:rPr lang="en-MY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OPTIONAL</a:t>
            </a:r>
            <a:endParaRPr 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3559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8174-BD69-4D39-94A5-032AF7213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 …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32D1A-C6ED-46D3-A328-5EC9CE1A9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252" y="1231193"/>
            <a:ext cx="2800350" cy="4530725"/>
          </a:xfrm>
        </p:spPr>
        <p:txBody>
          <a:bodyPr/>
          <a:lstStyle/>
          <a:p>
            <a:r>
              <a:rPr lang="en-US" dirty="0"/>
              <a:t>Retrieve all columns and all rows</a:t>
            </a:r>
          </a:p>
          <a:p>
            <a:r>
              <a:rPr lang="en-US" dirty="0"/>
              <a:t>List the full details of the DEPARTMENTS table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9CB2F-315F-431C-9B57-FEF18FEA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D88C41-06F0-4DBC-AC4D-0E9142D7411C}"/>
              </a:ext>
            </a:extLst>
          </p:cNvPr>
          <p:cNvSpPr/>
          <p:nvPr/>
        </p:nvSpPr>
        <p:spPr>
          <a:xfrm>
            <a:off x="442968" y="4220945"/>
            <a:ext cx="2512106" cy="5105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departments;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B65BFB-4A14-F7B9-513F-C7020E215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5779" y="1255795"/>
            <a:ext cx="3794797" cy="51251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DCE42D-C083-CB90-7F0E-42430C16A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021" y="1255795"/>
            <a:ext cx="4526339" cy="516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8691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E93BF-098A-42FE-8CC0-6F65FB84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 … FROM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CEDB2-9518-4A47-8DD6-804010268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332" y="1551769"/>
            <a:ext cx="5633223" cy="4530725"/>
          </a:xfrm>
        </p:spPr>
        <p:txBody>
          <a:bodyPr/>
          <a:lstStyle/>
          <a:p>
            <a:r>
              <a:rPr lang="en-US" dirty="0"/>
              <a:t>Retrieve specific columns, all rows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Produce a list of salaries for all staff, displaying only the employee ID, first name and salary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E1930-5CDD-4138-9400-7D115EC6F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F3457F-7AC2-485D-AE5F-A1197B4CB91E}"/>
              </a:ext>
            </a:extLst>
          </p:cNvPr>
          <p:cNvSpPr/>
          <p:nvPr/>
        </p:nvSpPr>
        <p:spPr>
          <a:xfrm>
            <a:off x="838200" y="3995773"/>
            <a:ext cx="5517995" cy="8680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employees;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E9757A-8074-BB33-2CCB-C440C0AB6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406" y="1551769"/>
            <a:ext cx="3937137" cy="27483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3E9644-F0E3-1518-3A95-8729E4D0B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406" y="4559000"/>
            <a:ext cx="4105141" cy="20241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ED5B43-BBCA-D061-482E-4C168245AFBB}"/>
              </a:ext>
            </a:extLst>
          </p:cNvPr>
          <p:cNvSpPr txBox="1"/>
          <p:nvPr/>
        </p:nvSpPr>
        <p:spPr>
          <a:xfrm>
            <a:off x="8482361" y="4245109"/>
            <a:ext cx="256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497046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FD247-D961-4B21-83DE-687802BD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pPr algn="l"/>
            <a:r>
              <a:rPr lang="en-MY" dirty="0"/>
              <a:t>INSERT INTO … SELECT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C56AC-A85E-45B1-BBB7-8E933DB3C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792" y="1196047"/>
            <a:ext cx="6294480" cy="5394324"/>
          </a:xfrm>
        </p:spPr>
        <p:txBody>
          <a:bodyPr>
            <a:normAutofit/>
          </a:bodyPr>
          <a:lstStyle/>
          <a:p>
            <a:r>
              <a:rPr lang="en-US" dirty="0"/>
              <a:t>Copy multiple row of records into a different table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Get the command for creating existing table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Create a new table name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my_dept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with the same structure as table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endParaRPr lang="en-US" dirty="0"/>
          </a:p>
          <a:p>
            <a:pPr lvl="1"/>
            <a:r>
              <a:rPr lang="en-US" dirty="0"/>
              <a:t>Copy all records from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 </a:t>
            </a:r>
            <a:r>
              <a:rPr lang="en-US" dirty="0"/>
              <a:t>table to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my_dept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dirty="0"/>
          </a:p>
          <a:p>
            <a:pPr marL="0" indent="0">
              <a:buNone/>
            </a:pP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8FE4E-2FC4-4C32-994A-1DB6C1319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39DAB6-6487-4F67-8770-F4F2333B8F83}"/>
              </a:ext>
            </a:extLst>
          </p:cNvPr>
          <p:cNvSpPr/>
          <p:nvPr/>
        </p:nvSpPr>
        <p:spPr>
          <a:xfrm>
            <a:off x="944743" y="5481002"/>
            <a:ext cx="5334862" cy="10579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 INTO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my_dept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9182B4-AA2D-8B38-FC8C-1897978E4D5F}"/>
              </a:ext>
            </a:extLst>
          </p:cNvPr>
          <p:cNvSpPr/>
          <p:nvPr/>
        </p:nvSpPr>
        <p:spPr>
          <a:xfrm>
            <a:off x="1007564" y="3206837"/>
            <a:ext cx="4876792" cy="4443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CREATE TABLE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departments;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C93AA3-39AB-D5FD-0F80-7E2DA8511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333" y="267629"/>
            <a:ext cx="5657239" cy="6417551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1C99B32-9E47-D3FB-69FE-114C12723BA8}"/>
              </a:ext>
            </a:extLst>
          </p:cNvPr>
          <p:cNvSpPr/>
          <p:nvPr/>
        </p:nvSpPr>
        <p:spPr>
          <a:xfrm>
            <a:off x="7593980" y="1215483"/>
            <a:ext cx="892098" cy="246605"/>
          </a:xfrm>
          <a:prstGeom prst="rect">
            <a:avLst/>
          </a:prstGeom>
          <a:solidFill>
            <a:schemeClr val="accent1">
              <a:alpha val="27328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7AD7FE-91FF-7F81-8D8B-C6340517160D}"/>
              </a:ext>
            </a:extLst>
          </p:cNvPr>
          <p:cNvSpPr txBox="1"/>
          <p:nvPr/>
        </p:nvSpPr>
        <p:spPr>
          <a:xfrm>
            <a:off x="9121698" y="1625213"/>
            <a:ext cx="2585306" cy="65935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Constraint name must be unique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873F2F0-4D81-1427-D69F-7D54A385FC94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8486078" y="1462088"/>
            <a:ext cx="635620" cy="492802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15779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D071E-77EB-445D-9704-C379040B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476278" cy="1325563"/>
          </a:xfrm>
        </p:spPr>
        <p:txBody>
          <a:bodyPr/>
          <a:lstStyle/>
          <a:p>
            <a:pPr algn="l"/>
            <a:r>
              <a:rPr lang="en-US" dirty="0"/>
              <a:t>Create new table by copying the structure of an existing table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D699-7B0D-455D-848F-ACF274959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3380"/>
            <a:ext cx="5756910" cy="45307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Create a new table name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dept_baharu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with the same structure as table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would create a new table called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dept_baharu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that includes all columns from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dirty="0"/>
              <a:t> table </a:t>
            </a:r>
            <a:r>
              <a:rPr lang="en-US" b="1" dirty="0">
                <a:solidFill>
                  <a:srgbClr val="FF0000"/>
                </a:solidFill>
              </a:rPr>
              <a:t>WITHOUT</a:t>
            </a:r>
            <a:r>
              <a:rPr lang="en-US" dirty="0"/>
              <a:t> the data from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8147C-B68F-4FFB-8087-D5194574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2474" y="6492875"/>
            <a:ext cx="2743200" cy="365125"/>
          </a:xfrm>
        </p:spPr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271B50-719B-471E-A869-8DFDE3F0B89F}"/>
              </a:ext>
            </a:extLst>
          </p:cNvPr>
          <p:cNvSpPr/>
          <p:nvPr/>
        </p:nvSpPr>
        <p:spPr>
          <a:xfrm>
            <a:off x="1145450" y="2849812"/>
            <a:ext cx="4530520" cy="115837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dept_baharu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AS (SELECT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1=2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2ED67FF-7950-64C9-2C02-DF9E1D26A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1027906"/>
            <a:ext cx="5113670" cy="5522763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2018997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E3FBD-1B50-49FD-AA62-80C5F5D1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543585" cy="1325563"/>
          </a:xfrm>
        </p:spPr>
        <p:txBody>
          <a:bodyPr/>
          <a:lstStyle/>
          <a:p>
            <a:pPr algn="l"/>
            <a:r>
              <a:rPr lang="en-US" dirty="0"/>
              <a:t>Create new table by copying the structure of an existing table (and data)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7D01C-3734-4108-AF24-727954997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81" y="1690688"/>
            <a:ext cx="5634990" cy="453072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Create a new table name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new_dept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with the same structure as table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would create a new table called </a:t>
            </a:r>
            <a:r>
              <a:rPr lang="en-US" b="1" dirty="0" err="1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new_dept</a:t>
            </a:r>
            <a:r>
              <a:rPr lang="en-US" dirty="0">
                <a:solidFill>
                  <a:srgbClr val="00B0F0"/>
                </a:solidFill>
              </a:rPr>
              <a:t> </a:t>
            </a:r>
            <a:r>
              <a:rPr lang="en-US" dirty="0"/>
              <a:t>that includes all columns from the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dirty="0"/>
              <a:t> table </a:t>
            </a:r>
            <a:r>
              <a:rPr lang="en-US" sz="3000" b="1" dirty="0">
                <a:solidFill>
                  <a:srgbClr val="FF0000"/>
                </a:solidFill>
              </a:rPr>
              <a:t>INCLUDING</a:t>
            </a:r>
            <a:r>
              <a:rPr lang="en-US" dirty="0"/>
              <a:t> all the data from </a:t>
            </a:r>
            <a:r>
              <a:rPr lang="en-US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dirty="0"/>
              <a:t> 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FE075-36C3-42C2-9AE7-4C1F3E84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EDB611-AE11-F140-1F23-2CC68D85D6FA}"/>
              </a:ext>
            </a:extLst>
          </p:cNvPr>
          <p:cNvSpPr/>
          <p:nvPr/>
        </p:nvSpPr>
        <p:spPr>
          <a:xfrm>
            <a:off x="838200" y="2898140"/>
            <a:ext cx="4351172" cy="10579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TABLE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new_dept</a:t>
            </a:r>
            <a:endParaRPr lang="en-US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 (SELECT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departments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68D672-8E34-188C-762B-092A22043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726" y="977253"/>
            <a:ext cx="4880610" cy="5801480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1763237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DF2B-8442-40BF-8586-E9B61FC93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SELECT…FROM…WHERE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2D72-C2E8-4668-81F8-40094AFBD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list only selected row of records based on conditions</a:t>
            </a:r>
          </a:p>
          <a:p>
            <a:r>
              <a:rPr lang="en-US" dirty="0"/>
              <a:t>Conditions involve comparison operators and/or logical operators</a:t>
            </a:r>
          </a:p>
          <a:p>
            <a:pPr lvl="1"/>
            <a:r>
              <a:rPr lang="en-US" dirty="0"/>
              <a:t>Comparison operators:</a:t>
            </a:r>
          </a:p>
          <a:p>
            <a:pPr lvl="2"/>
            <a:r>
              <a:rPr lang="en-US" dirty="0"/>
              <a:t>=  &lt;&gt;   &lt;   &gt;   &lt;=   &gt;=   !=   </a:t>
            </a:r>
          </a:p>
          <a:p>
            <a:pPr lvl="2"/>
            <a:r>
              <a:rPr lang="en-US" dirty="0"/>
              <a:t>BETWEEN..AND    LIKE    IN(set)</a:t>
            </a:r>
          </a:p>
          <a:p>
            <a:pPr lvl="1"/>
            <a:r>
              <a:rPr lang="en-US" dirty="0"/>
              <a:t>Logical operators:</a:t>
            </a:r>
          </a:p>
          <a:p>
            <a:pPr lvl="2"/>
            <a:r>
              <a:rPr lang="en-US" dirty="0"/>
              <a:t>AND   OR   NOT 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AA6FB1-5B21-409C-B2B1-6AD1F332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A6993B-9935-4EE9-95B4-CF8604F8DFE5}"/>
              </a:ext>
            </a:extLst>
          </p:cNvPr>
          <p:cNvSpPr/>
          <p:nvPr/>
        </p:nvSpPr>
        <p:spPr>
          <a:xfrm>
            <a:off x="3722790" y="4748054"/>
            <a:ext cx="4746421" cy="105791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chemeClr val="accent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list-of-columns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of tables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search-condition</a:t>
            </a:r>
            <a:r>
              <a:rPr lang="en-US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247413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A0741-7743-4FD4-AC7F-AB00DA8F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SELECT…FROM…WHERE…BETWEEN…AND</a:t>
            </a:r>
            <a:endParaRPr lang="en-MY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1FD6-2505-4D3A-AA56-BE3B23FBE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all employee ID, </a:t>
            </a:r>
            <a:r>
              <a:rPr lang="en-US" dirty="0" err="1"/>
              <a:t>last_name</a:t>
            </a:r>
            <a:r>
              <a:rPr lang="en-US" dirty="0"/>
              <a:t>, salary where salary is between 3000 and 4000</a:t>
            </a: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6DFD53-17DC-442B-A846-A0EE4A0F0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503270-BC0F-4F59-9E2E-94E34AD45A06}"/>
              </a:ext>
            </a:extLst>
          </p:cNvPr>
          <p:cNvSpPr/>
          <p:nvPr/>
        </p:nvSpPr>
        <p:spPr>
          <a:xfrm>
            <a:off x="733634" y="3533724"/>
            <a:ext cx="5466931" cy="112748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BETWEEN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3000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4000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6B4D7D-E1FF-3F48-EB48-4A144BDC3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576" y="1237371"/>
            <a:ext cx="4053468" cy="5484104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7734353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37E71-D2AE-4F82-B811-E2B23F6D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SELECT…FROM…WHERE…IN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D65A6-FA27-41A4-859E-B734BEF44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68" y="1847850"/>
            <a:ext cx="5361878" cy="4351338"/>
          </a:xfrm>
        </p:spPr>
        <p:txBody>
          <a:bodyPr/>
          <a:lstStyle/>
          <a:p>
            <a:r>
              <a:rPr lang="en-US" dirty="0"/>
              <a:t>To search values in a list set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all employees whose salaries are 17000, 2500, 8600, 1000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04DB-C121-4CCB-8977-1FD71DF4F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8103E9-7DCE-49E0-BD9D-13E655D4D031}"/>
              </a:ext>
            </a:extLst>
          </p:cNvPr>
          <p:cNvSpPr/>
          <p:nvPr/>
        </p:nvSpPr>
        <p:spPr>
          <a:xfrm>
            <a:off x="633609" y="3632538"/>
            <a:ext cx="6040547" cy="13630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17000, 2500, 8600, 1000</a:t>
            </a:r>
            <a:r>
              <a:rPr lang="en-US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F21EA0-A0DE-9D23-A5FC-E56371A1A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498" y="1306925"/>
            <a:ext cx="5116676" cy="42352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9941564-979E-412E-A322-47269A1BBDF2}"/>
              </a:ext>
            </a:extLst>
          </p:cNvPr>
          <p:cNvSpPr/>
          <p:nvPr/>
        </p:nvSpPr>
        <p:spPr>
          <a:xfrm>
            <a:off x="8272318" y="5283627"/>
            <a:ext cx="35591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no employee with a salary of 1000. </a:t>
            </a:r>
          </a:p>
          <a:p>
            <a:pPr>
              <a:spcBef>
                <a:spcPct val="0"/>
              </a:spcBef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Therefore, it does not return a value.</a:t>
            </a:r>
          </a:p>
        </p:txBody>
      </p:sp>
    </p:spTree>
    <p:extLst>
      <p:ext uri="{BB962C8B-B14F-4D97-AF65-F5344CB8AC3E}">
        <p14:creationId xmlns:p14="http://schemas.microsoft.com/office/powerpoint/2010/main" val="172802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0CD7-C431-41CB-B5D5-B95902BE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SELECT…FROM…WHERE…LIKE (1)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3F550-BBFE-4FA3-B029-63B294215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54" y="1491089"/>
            <a:ext cx="6410093" cy="4351338"/>
          </a:xfrm>
        </p:spPr>
        <p:txBody>
          <a:bodyPr/>
          <a:lstStyle/>
          <a:p>
            <a:r>
              <a:rPr lang="en-US" dirty="0"/>
              <a:t>To perform wild card searchers of valid search string values</a:t>
            </a:r>
          </a:p>
          <a:p>
            <a:pPr lvl="1"/>
            <a:r>
              <a:rPr lang="en-US" dirty="0"/>
              <a:t>_   (underscore symbol) denotes one character</a:t>
            </a:r>
          </a:p>
          <a:p>
            <a:pPr lvl="1"/>
            <a:r>
              <a:rPr lang="en-US" dirty="0"/>
              <a:t>%   denotes zero or many character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all employee whose first name starts with a J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16FE1-1EB4-485B-BDF4-DF3C057C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CB2D53-547A-4A2E-8944-40C8A0BA93C5}"/>
              </a:ext>
            </a:extLst>
          </p:cNvPr>
          <p:cNvSpPr/>
          <p:nvPr/>
        </p:nvSpPr>
        <p:spPr>
          <a:xfrm>
            <a:off x="468654" y="4774693"/>
            <a:ext cx="6040547" cy="9896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‘J%’;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0D29CA4-096B-8410-842C-024DD696E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529" y="1232984"/>
            <a:ext cx="4721612" cy="5064635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4965315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6217F-288A-4B1A-8C12-0A3F8E71B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SELECT…FROM…WHERE…LIKE (2)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C31E8-3DAC-4A00-9987-09144C370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94845" cy="4351338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r>
              <a:rPr lang="en-US" dirty="0"/>
              <a:t>List all employees whose first name’s third letter is an E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1DAC46-40DD-4FBC-B651-1148CD4F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D72A50E-3860-42F4-903D-79FEC6783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098" y="4624318"/>
            <a:ext cx="34884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ea typeface="ＭＳ Ｐゴシック" panose="020B0600070205080204" pitchFamily="34" charset="-128"/>
              </a:rPr>
              <a:t>(2 underscore symbols)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79803B-3B87-4215-8C5E-743DD01F2909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56849" y="4217432"/>
            <a:ext cx="367731" cy="418688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76ABB6CB-F5BA-6351-102D-B8F0FBE516C8}"/>
              </a:ext>
            </a:extLst>
          </p:cNvPr>
          <p:cNvSpPr/>
          <p:nvPr/>
        </p:nvSpPr>
        <p:spPr>
          <a:xfrm>
            <a:off x="838200" y="3227757"/>
            <a:ext cx="5568252" cy="9896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salary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LIKE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‘__e%’;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3AF712-4E44-8E51-0412-4542D8FDE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985" y="1393082"/>
            <a:ext cx="4874638" cy="4963268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01665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0EC9-8789-438F-BEF9-EA16A270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SELECT…FROM…WHERE…IS NULL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16DCE-72A8-4988-A7C4-90C7C66F2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874" y="1497013"/>
            <a:ext cx="4118610" cy="4530725"/>
          </a:xfrm>
        </p:spPr>
        <p:txBody>
          <a:bodyPr/>
          <a:lstStyle/>
          <a:p>
            <a:r>
              <a:rPr lang="en-US" dirty="0"/>
              <a:t>To search for columns with </a:t>
            </a:r>
            <a:r>
              <a:rPr lang="en-US" b="1" dirty="0">
                <a:solidFill>
                  <a:srgbClr val="0070C0"/>
                </a:solidFill>
              </a:rPr>
              <a:t>null value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all employees who has not receive any  commission.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62FB23-6A4D-4B13-AE6E-B2F287FE0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57D521-ED2F-4EA5-8EFE-019B6C298F96}"/>
              </a:ext>
            </a:extLst>
          </p:cNvPr>
          <p:cNvSpPr/>
          <p:nvPr/>
        </p:nvSpPr>
        <p:spPr>
          <a:xfrm>
            <a:off x="546874" y="4018474"/>
            <a:ext cx="5285214" cy="14344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NULL;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09FDA66-18E1-3C07-013D-CEF7FE3AE7B8}"/>
              </a:ext>
            </a:extLst>
          </p:cNvPr>
          <p:cNvGrpSpPr/>
          <p:nvPr/>
        </p:nvGrpSpPr>
        <p:grpSpPr>
          <a:xfrm>
            <a:off x="5947750" y="1542315"/>
            <a:ext cx="5026909" cy="4816785"/>
            <a:chOff x="6326892" y="1539566"/>
            <a:chExt cx="3365500" cy="31594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213BA64-8012-1BC6-549B-BF79E98DF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58642" y="1539566"/>
              <a:ext cx="3302000" cy="1358900"/>
            </a:xfrm>
            <a:prstGeom prst="rect">
              <a:avLst/>
            </a:prstGeom>
            <a:ln w="12700">
              <a:solidFill>
                <a:schemeClr val="accent2"/>
              </a:solidFill>
            </a:ln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A3FF9-91FC-5CF4-E8E0-FD67D71B92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6892" y="3429000"/>
              <a:ext cx="3365500" cy="1270000"/>
            </a:xfrm>
            <a:prstGeom prst="rect">
              <a:avLst/>
            </a:prstGeom>
            <a:ln w="12700">
              <a:solidFill>
                <a:schemeClr val="accent2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302334A-9B80-DF6F-B33C-42FE1ECA126C}"/>
                </a:ext>
              </a:extLst>
            </p:cNvPr>
            <p:cNvSpPr txBox="1"/>
            <p:nvPr/>
          </p:nvSpPr>
          <p:spPr>
            <a:xfrm>
              <a:off x="7494596" y="2979067"/>
              <a:ext cx="343364" cy="369332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91414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8C754-050E-420A-B31F-C8F28A328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SELECT…FROM…WHERE…IS NOT NULL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741E8-FD94-4BEA-8581-3ED7CED57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25" y="1479937"/>
            <a:ext cx="4547839" cy="4351338"/>
          </a:xfrm>
        </p:spPr>
        <p:txBody>
          <a:bodyPr/>
          <a:lstStyle/>
          <a:p>
            <a:r>
              <a:rPr lang="en-US" dirty="0"/>
              <a:t>To search for columns with value is not NULL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List all employees who have received any  commissions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4636CC-2759-4BB9-B59B-BD365A6F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A09B03-D958-F9BF-19C2-2BD7B1486A6D}"/>
              </a:ext>
            </a:extLst>
          </p:cNvPr>
          <p:cNvSpPr/>
          <p:nvPr/>
        </p:nvSpPr>
        <p:spPr>
          <a:xfrm>
            <a:off x="558025" y="3739693"/>
            <a:ext cx="5285214" cy="14344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employee_id,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first_name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</a:p>
          <a:p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WHERE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commission_pct</a:t>
            </a:r>
            <a:r>
              <a:rPr lang="en-US" b="1" dirty="0">
                <a:solidFill>
                  <a:schemeClr val="accent4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 NOT NULL;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11069AA-D74F-72A3-8876-1CB2FB22B694}"/>
              </a:ext>
            </a:extLst>
          </p:cNvPr>
          <p:cNvGrpSpPr/>
          <p:nvPr/>
        </p:nvGrpSpPr>
        <p:grpSpPr>
          <a:xfrm>
            <a:off x="6328316" y="1479936"/>
            <a:ext cx="4822903" cy="4876413"/>
            <a:chOff x="6328317" y="1479937"/>
            <a:chExt cx="3556000" cy="360401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4CA84B6-ADD5-3D8C-B80D-6FA71F065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8317" y="1479937"/>
              <a:ext cx="3505200" cy="18923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F805E0C-F234-CFC5-2D6F-09B87B0162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8317" y="3890149"/>
              <a:ext cx="3556000" cy="1193800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FB9F8A-C503-FC3A-2AC8-72CE8B748B9A}"/>
                </a:ext>
              </a:extLst>
            </p:cNvPr>
            <p:cNvSpPr txBox="1"/>
            <p:nvPr/>
          </p:nvSpPr>
          <p:spPr>
            <a:xfrm>
              <a:off x="7737553" y="3418649"/>
              <a:ext cx="343364" cy="369332"/>
            </a:xfrm>
            <a:prstGeom prst="rect">
              <a:avLst/>
            </a:prstGeom>
            <a:noFill/>
            <a:ln>
              <a:solidFill>
                <a:schemeClr val="accent2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GB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686346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3FDE-A27D-4D2A-AC72-9B3F65BC1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SELECT…FROM…WHERE…AND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1437-3BA9-49DB-B7CD-C93BCC5D8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26980" cy="4351338"/>
          </a:xfrm>
        </p:spPr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AND</a:t>
            </a:r>
            <a:r>
              <a:rPr lang="en-US" dirty="0"/>
              <a:t> requires both component conditions to be true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FD58F-968D-479A-AABE-9E88A109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5EFDD41-4727-89F1-A348-0E908B819BFC}"/>
              </a:ext>
            </a:extLst>
          </p:cNvPr>
          <p:cNvGrpSpPr/>
          <p:nvPr/>
        </p:nvGrpSpPr>
        <p:grpSpPr>
          <a:xfrm>
            <a:off x="376556" y="2845100"/>
            <a:ext cx="6358782" cy="1538884"/>
            <a:chOff x="376555" y="2845100"/>
            <a:chExt cx="7070091" cy="153888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0700027-2776-6069-9F62-903F8305723A}"/>
                </a:ext>
              </a:extLst>
            </p:cNvPr>
            <p:cNvSpPr/>
            <p:nvPr/>
          </p:nvSpPr>
          <p:spPr>
            <a:xfrm>
              <a:off x="376555" y="2845100"/>
              <a:ext cx="7070091" cy="1538884"/>
            </a:xfrm>
            <a:prstGeom prst="rect">
              <a:avLst/>
            </a:prstGeom>
            <a:solidFill>
              <a:sysClr val="windowText" lastClr="000000">
                <a:lumMod val="75000"/>
                <a:lumOff val="25000"/>
              </a:sysClr>
            </a:solidFill>
            <a:ln w="12700" cap="flat" cmpd="sng" algn="ctr">
              <a:solidFill>
                <a:sysClr val="windowText" lastClr="000000">
                  <a:shade val="50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SELECT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employee_id, 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last_name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 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job_id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, salary</a:t>
              </a:r>
            </a:p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FROM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employees</a:t>
              </a:r>
            </a:p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WHERE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salary &gt;= 10000</a:t>
              </a:r>
            </a:p>
            <a:p>
              <a:pPr marL="0" marR="0" lvl="0" indent="0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AND </a:t>
              </a:r>
              <a:r>
                <a:rPr kumimoji="0" 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job_id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 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LIKE 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‘%MAN%’</a:t>
              </a:r>
              <a:r>
                <a: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Courier New" panose="02070309020205020404" pitchFamily="49" charset="0"/>
                  <a:ea typeface="+mn-ea"/>
                  <a:cs typeface="Courier New" panose="02070309020205020404" pitchFamily="49" charset="0"/>
                </a:rPr>
                <a:t>;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D945CBC-955E-4CFA-74F0-0B104F9BDB04}"/>
                </a:ext>
              </a:extLst>
            </p:cNvPr>
            <p:cNvSpPr/>
            <p:nvPr/>
          </p:nvSpPr>
          <p:spPr>
            <a:xfrm>
              <a:off x="4172778" y="3628537"/>
              <a:ext cx="1641475" cy="209122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CONDITION 1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D86F9FF-EA7B-CD62-0A6F-4184EEA30ADD}"/>
                </a:ext>
              </a:extLst>
            </p:cNvPr>
            <p:cNvSpPr/>
            <p:nvPr/>
          </p:nvSpPr>
          <p:spPr>
            <a:xfrm>
              <a:off x="4172779" y="3929535"/>
              <a:ext cx="1641475" cy="209122"/>
            </a:xfrm>
            <a:prstGeom prst="rect">
              <a:avLst/>
            </a:prstGeom>
            <a:solidFill>
              <a:srgbClr val="FFC000"/>
            </a:solidFill>
            <a:ln w="19050" cap="flat" cmpd="sng" algn="ctr">
              <a:solidFill>
                <a:sysClr val="window" lastClr="FFFFFF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MY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anose="020F0502020204030204"/>
                  <a:ea typeface="+mn-ea"/>
                  <a:cs typeface="+mn-cs"/>
                </a:rPr>
                <a:t>CONDITION 2</a:t>
              </a:r>
              <a:endPara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236D8582-E988-E6D7-39E0-130C5C860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3402" y="1690687"/>
            <a:ext cx="4862041" cy="3576211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36551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6149-6493-4BB8-B7E0-16302C52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SELECT…FROM…WHERE…OR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B6363-3288-48A6-8F00-0E9A5C858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OR requires either component conditions to be true</a:t>
            </a:r>
          </a:p>
          <a:p>
            <a:pPr marL="0" indent="0">
              <a:buNone/>
            </a:pPr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EECD59-1717-47BD-9149-E808FEF5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5137" y="6461806"/>
            <a:ext cx="2743200" cy="365125"/>
          </a:xfrm>
        </p:spPr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2DF679-445F-96B5-3593-A27BB6B5E585}"/>
              </a:ext>
            </a:extLst>
          </p:cNvPr>
          <p:cNvSpPr/>
          <p:nvPr/>
        </p:nvSpPr>
        <p:spPr>
          <a:xfrm>
            <a:off x="356730" y="3044630"/>
            <a:ext cx="7070091" cy="1538884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employee_id,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last_name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salary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WHERE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salary &gt;= 10000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LIKE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‘%MAN%’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3078F2-14B7-AA7C-6B64-62E465291138}"/>
              </a:ext>
            </a:extLst>
          </p:cNvPr>
          <p:cNvSpPr/>
          <p:nvPr/>
        </p:nvSpPr>
        <p:spPr>
          <a:xfrm>
            <a:off x="3716108" y="3832167"/>
            <a:ext cx="1641475" cy="209122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CONDITION 1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F815E6-C420-550E-5839-0B5B282B6F8B}"/>
              </a:ext>
            </a:extLst>
          </p:cNvPr>
          <p:cNvSpPr/>
          <p:nvPr/>
        </p:nvSpPr>
        <p:spPr>
          <a:xfrm>
            <a:off x="3716109" y="4133165"/>
            <a:ext cx="1641475" cy="209122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CONDITION 2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FC64C3-95D9-BF96-831D-1581C402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682" y="1283917"/>
            <a:ext cx="3762117" cy="5338771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908991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8513-FEAF-4ADA-90E1-81503015A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772400" cy="1149077"/>
          </a:xfrm>
        </p:spPr>
        <p:txBody>
          <a:bodyPr/>
          <a:lstStyle/>
          <a:p>
            <a:r>
              <a:rPr lang="en-MY" dirty="0"/>
              <a:t>NOT operator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F12B8-0383-4E35-B78B-608064BD4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1878" cy="4351338"/>
          </a:xfrm>
        </p:spPr>
        <p:txBody>
          <a:bodyPr/>
          <a:lstStyle/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Display the last name and job ID of employees whose job ID is not IT_PROG, ST_CLERK, SA_REP, SH_CLERK, or PU_CLERK 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C9750E-6FB6-4B5A-A2DB-69D5C21AA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BE2670-E2FF-F15E-E2E7-9C87DAFCAA34}"/>
              </a:ext>
            </a:extLst>
          </p:cNvPr>
          <p:cNvSpPr/>
          <p:nvPr/>
        </p:nvSpPr>
        <p:spPr>
          <a:xfrm>
            <a:off x="994317" y="4001293"/>
            <a:ext cx="4882376" cy="1864247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last_name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WHERE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NOT IN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‘IT_PROG’, ‘ST_CLERK’, ‘SA_REP’, ‘SH_CLERK’, ‘PU_CLERK’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6BE234-91E4-6FD8-DC2B-8EE6361BB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003" y="841211"/>
            <a:ext cx="4177680" cy="5515139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32818921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69432-44B8-4479-904E-8E12AE47B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Rules of precedence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C1D8A-6E13-41FC-808F-BC2C4315E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use parenthesis to override rules of precedence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2CACD-24E9-4D00-923C-54F2FDE8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DEDFAA-4D40-46F4-A4D1-07F9ABF85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541" y="2342247"/>
            <a:ext cx="5236918" cy="383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251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1E41-0A40-4FA6-8C6B-4C6852403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Rules of Precedence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CA9EB-A7DD-4802-AAA1-E5F16B54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585957F-7B0E-F474-2BBF-BAA2D60E41C5}"/>
              </a:ext>
            </a:extLst>
          </p:cNvPr>
          <p:cNvSpPr/>
          <p:nvPr/>
        </p:nvSpPr>
        <p:spPr>
          <a:xfrm>
            <a:off x="2480271" y="3868637"/>
            <a:ext cx="4432640" cy="1538884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last_name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job_id,salary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WHERE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‘SA_REP’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 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‘AD_PRES’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AND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salary &gt; 15000;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B6C40F-7CFA-0E5D-AE37-4ABD7C97D6B4}"/>
              </a:ext>
            </a:extLst>
          </p:cNvPr>
          <p:cNvSpPr/>
          <p:nvPr/>
        </p:nvSpPr>
        <p:spPr>
          <a:xfrm>
            <a:off x="2480272" y="1825625"/>
            <a:ext cx="4432639" cy="1538884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last_name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job_id,salary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WHERE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‘SA_REP’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OR 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‘AD_PRES’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AND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salary &gt; 15000;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D1A9207-7D13-A637-E4ED-97F661B63778}"/>
              </a:ext>
            </a:extLst>
          </p:cNvPr>
          <p:cNvSpPr/>
          <p:nvPr/>
        </p:nvSpPr>
        <p:spPr>
          <a:xfrm>
            <a:off x="1796565" y="2022806"/>
            <a:ext cx="5357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ED7D31"/>
                  </a:outerShdw>
                </a:effectLst>
                <a:uLnTx/>
                <a:uFillTx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151FE01-7840-809E-320E-1D0981212C78}"/>
              </a:ext>
            </a:extLst>
          </p:cNvPr>
          <p:cNvSpPr/>
          <p:nvPr/>
        </p:nvSpPr>
        <p:spPr>
          <a:xfrm>
            <a:off x="1796565" y="4031490"/>
            <a:ext cx="5357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0" cap="none" spc="0" normalizeH="0" baseline="0" noProof="0" dirty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ED7D31"/>
                  </a:outerShdw>
                </a:effectLst>
                <a:uLnTx/>
                <a:uFillTx/>
              </a:rPr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8935D0-297C-E473-0834-2C1C66AB7A22}"/>
              </a:ext>
            </a:extLst>
          </p:cNvPr>
          <p:cNvSpPr/>
          <p:nvPr/>
        </p:nvSpPr>
        <p:spPr>
          <a:xfrm>
            <a:off x="2981326" y="4449863"/>
            <a:ext cx="2774016" cy="6065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82C30B-300C-56F9-DC0C-23AD7910C068}"/>
              </a:ext>
            </a:extLst>
          </p:cNvPr>
          <p:cNvSpPr/>
          <p:nvPr/>
        </p:nvSpPr>
        <p:spPr>
          <a:xfrm>
            <a:off x="2480271" y="4787154"/>
            <a:ext cx="501055" cy="2692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43E90F-6D7A-79D9-6491-B64C0858152E}"/>
              </a:ext>
            </a:extLst>
          </p:cNvPr>
          <p:cNvSpPr/>
          <p:nvPr/>
        </p:nvSpPr>
        <p:spPr>
          <a:xfrm>
            <a:off x="2981326" y="2668498"/>
            <a:ext cx="2774016" cy="60658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92FCBA-C662-B9A0-3E52-B31712036615}"/>
              </a:ext>
            </a:extLst>
          </p:cNvPr>
          <p:cNvSpPr/>
          <p:nvPr/>
        </p:nvSpPr>
        <p:spPr>
          <a:xfrm>
            <a:off x="2480271" y="3005789"/>
            <a:ext cx="501055" cy="26929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57D96C-435F-1919-5304-7CECA814AA2D}"/>
              </a:ext>
            </a:extLst>
          </p:cNvPr>
          <p:cNvSpPr/>
          <p:nvPr/>
        </p:nvSpPr>
        <p:spPr>
          <a:xfrm>
            <a:off x="2911938" y="3319390"/>
            <a:ext cx="2843404" cy="263525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Check this condition first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BA3C675-599B-FF8F-853F-AECF16B71F30}"/>
              </a:ext>
            </a:extLst>
          </p:cNvPr>
          <p:cNvSpPr/>
          <p:nvPr/>
        </p:nvSpPr>
        <p:spPr>
          <a:xfrm>
            <a:off x="2480270" y="5463828"/>
            <a:ext cx="3691006" cy="280985"/>
          </a:xfrm>
          <a:prstGeom prst="rect">
            <a:avLst/>
          </a:prstGeom>
          <a:solidFill>
            <a:srgbClr val="FFC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Check the one with parenthesis first</a:t>
            </a: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">
            <a:extLst>
              <a:ext uri="{FF2B5EF4-FFF2-40B4-BE49-F238E27FC236}">
                <a16:creationId xmlns:a16="http://schemas.microsoft.com/office/drawing/2014/main" id="{4E6826AC-C844-EE75-5090-440C58FD8C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158" y="1633049"/>
            <a:ext cx="3584709" cy="1952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id="{C68049E4-1CD7-BB12-9527-27F1A10ED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158" y="3868637"/>
            <a:ext cx="3790425" cy="15388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0793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9ADA-8295-4F1B-815E-B7E64A0D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DISTINCT (1)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EE71A6-503D-4DD2-BF07-A4DFE0A1C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123FF9-70A0-3B84-A2AA-806EBFECF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989" y="1340846"/>
            <a:ext cx="6288822" cy="4176307"/>
          </a:xfrm>
        </p:spPr>
        <p:txBody>
          <a:bodyPr/>
          <a:lstStyle/>
          <a:p>
            <a:r>
              <a:rPr lang="en-US" dirty="0"/>
              <a:t>The default display of queries is all rows, including duplicate rows</a:t>
            </a:r>
          </a:p>
          <a:p>
            <a:r>
              <a:rPr lang="en-US" dirty="0"/>
              <a:t>Use the DISTINCT keyword immediately after the SELECT keyword to eliminate duplicate rows</a:t>
            </a:r>
          </a:p>
          <a:p>
            <a:endParaRPr lang="en-MY" dirty="0"/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406D675F-0731-AD70-1CEF-62E68C70F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1082" y="1569416"/>
            <a:ext cx="1906109" cy="478693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007A9460-9C11-4540-E97D-91322C1C5EF7}"/>
              </a:ext>
            </a:extLst>
          </p:cNvPr>
          <p:cNvSpPr/>
          <p:nvPr/>
        </p:nvSpPr>
        <p:spPr>
          <a:xfrm>
            <a:off x="602344" y="3782736"/>
            <a:ext cx="4149538" cy="90955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DISTINCT </a:t>
            </a:r>
            <a:r>
              <a:rPr lang="en-US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department_id</a:t>
            </a:r>
          </a:p>
          <a:p>
            <a:pPr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dirty="0">
                <a:solidFill>
                  <a:prstClr val="whit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employees</a:t>
            </a:r>
            <a:r>
              <a:rPr lang="en-US" b="1" dirty="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5" name="Picture 3">
            <a:extLst>
              <a:ext uri="{FF2B5EF4-FFF2-40B4-BE49-F238E27FC236}">
                <a16:creationId xmlns:a16="http://schemas.microsoft.com/office/drawing/2014/main" id="{AEB8F76D-05B5-5D07-059A-10C378B42E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701" y="1569416"/>
            <a:ext cx="2355491" cy="216266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7332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84F4-2904-495B-AF1E-CC05DB768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DISTINCT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F8B0B-4CB3-44CE-9525-5A93466F3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295" y="1322854"/>
            <a:ext cx="4287382" cy="4530725"/>
          </a:xfrm>
        </p:spPr>
        <p:txBody>
          <a:bodyPr/>
          <a:lstStyle/>
          <a:p>
            <a:r>
              <a:rPr lang="en-US" dirty="0"/>
              <a:t>Multiply columns can be specified after the DISTINCT qualifier</a:t>
            </a:r>
          </a:p>
          <a:p>
            <a:r>
              <a:rPr lang="en-US" dirty="0"/>
              <a:t>This affects all the selected columns, and the result is every distinct combination of the columns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5EF11-D35D-4A0B-A983-9C6FF6CA1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5C9371-4EEE-363C-DDC9-0FD87EED8717}"/>
              </a:ext>
            </a:extLst>
          </p:cNvPr>
          <p:cNvSpPr/>
          <p:nvPr/>
        </p:nvSpPr>
        <p:spPr>
          <a:xfrm>
            <a:off x="725295" y="4691198"/>
            <a:ext cx="5240607" cy="950507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DISTINCT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department_id,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job_id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employees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E36089C-0B4E-219E-E324-A80F0454A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190" y="1322854"/>
            <a:ext cx="4140820" cy="5281846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18355573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83BA-3E9E-4765-AEF2-B5C47DC8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DESCRIBE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D4928-64F8-4FBC-B55A-783BF49E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DESCRIBE command to </a:t>
            </a:r>
            <a:r>
              <a:rPr lang="en-US" b="1" dirty="0">
                <a:solidFill>
                  <a:srgbClr val="0070C0"/>
                </a:solidFill>
              </a:rPr>
              <a:t>display</a:t>
            </a:r>
            <a:r>
              <a:rPr lang="en-US" dirty="0"/>
              <a:t> the </a:t>
            </a:r>
            <a:r>
              <a:rPr lang="en-US" b="1" dirty="0">
                <a:solidFill>
                  <a:srgbClr val="0070C0"/>
                </a:solidFill>
              </a:rPr>
              <a:t>structure</a:t>
            </a:r>
            <a:r>
              <a:rPr lang="en-US" dirty="0"/>
              <a:t> of a table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1003A-EAFB-470F-B2D9-046E87A0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E502AB-1463-6C14-5B41-71209D240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2994" y="2299865"/>
            <a:ext cx="6566830" cy="4193010"/>
          </a:xfrm>
          <a:prstGeom prst="rect">
            <a:avLst/>
          </a:prstGeom>
          <a:ln w="12700"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8526846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3B400-48E4-42D2-9258-748E948B1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5A17-6CF4-49E0-A303-A4CDE278D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INSERT INTO </a:t>
            </a:r>
            <a:r>
              <a:rPr lang="en-US" dirty="0"/>
              <a:t>: To add new values (data) into a table</a:t>
            </a:r>
          </a:p>
          <a:p>
            <a:r>
              <a:rPr lang="en-US" b="1" dirty="0">
                <a:solidFill>
                  <a:srgbClr val="0070C0"/>
                </a:solidFill>
              </a:rPr>
              <a:t>UPDATE … SET </a:t>
            </a:r>
            <a:r>
              <a:rPr lang="en-US" dirty="0"/>
              <a:t>:  To update existing value of a column with a new value</a:t>
            </a:r>
          </a:p>
          <a:p>
            <a:r>
              <a:rPr lang="en-US" b="1" dirty="0">
                <a:solidFill>
                  <a:srgbClr val="0070C0"/>
                </a:solidFill>
              </a:rPr>
              <a:t>SELECT … FROM </a:t>
            </a:r>
            <a:r>
              <a:rPr lang="en-US" dirty="0"/>
              <a:t>:  To retrieve records in table(s)</a:t>
            </a:r>
          </a:p>
          <a:p>
            <a:r>
              <a:rPr lang="en-US" b="1" dirty="0">
                <a:solidFill>
                  <a:srgbClr val="0070C0"/>
                </a:solidFill>
              </a:rPr>
              <a:t>SELECT … FROM …. WHERE </a:t>
            </a:r>
            <a:r>
              <a:rPr lang="en-US" dirty="0"/>
              <a:t>: To retrieve record that match certain condition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C9F43B-A410-4E52-BC3D-CBA21A43D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5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115D-86A5-45C4-8CB5-6E5C3717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Handwritten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60FD3-159B-449A-80F3-8EFF0738B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620" y="1393902"/>
            <a:ext cx="10718180" cy="4783061"/>
          </a:xfrm>
        </p:spPr>
        <p:txBody>
          <a:bodyPr/>
          <a:lstStyle/>
          <a:p>
            <a:r>
              <a:rPr lang="en-US" dirty="0"/>
              <a:t>Given the following relation schemas, construct the SQL statement for following tasks:</a:t>
            </a:r>
          </a:p>
          <a:p>
            <a:endParaRPr lang="en-MY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93312-20F6-495B-B696-42E91F54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CBA597D4-9F8A-4A86-B1A3-A8727C95B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89430" y="2201744"/>
            <a:ext cx="5834798" cy="256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7FD5EE-CE72-40C1-87FB-C266BAB68EDF}"/>
              </a:ext>
            </a:extLst>
          </p:cNvPr>
          <p:cNvSpPr txBox="1"/>
          <p:nvPr/>
        </p:nvSpPr>
        <p:spPr>
          <a:xfrm>
            <a:off x="2152650" y="4825357"/>
            <a:ext cx="788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n-MY" sz="2000" dirty="0"/>
              <a:t>List all films title, rental duration and rental rate.</a:t>
            </a:r>
          </a:p>
          <a:p>
            <a:pPr marL="342900" indent="-342900">
              <a:buFont typeface="+mj-lt"/>
              <a:buAutoNum type="arabicParenR"/>
            </a:pPr>
            <a:r>
              <a:rPr lang="en-MY" sz="2000" dirty="0"/>
              <a:t>List all customers’ details who registered to store with ID of ST_002.</a:t>
            </a:r>
          </a:p>
          <a:p>
            <a:pPr marL="342900" indent="-342900">
              <a:buFont typeface="+mj-lt"/>
              <a:buAutoNum type="arabicParenR"/>
            </a:pPr>
            <a:r>
              <a:rPr lang="en-MY" sz="2000" dirty="0"/>
              <a:t>Insert a new film in database which has the film ID ‘F_0099’, title ‘My Neighbour Totoro’, description ‘Is a 1998 Japanese animated film by Hayao Miyazaki’, rental duration 14 days, and rental rate of RM8.</a:t>
            </a:r>
          </a:p>
        </p:txBody>
      </p:sp>
    </p:spTree>
    <p:extLst>
      <p:ext uri="{BB962C8B-B14F-4D97-AF65-F5344CB8AC3E}">
        <p14:creationId xmlns:p14="http://schemas.microsoft.com/office/powerpoint/2010/main" val="363516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115D-86A5-45C4-8CB5-6E5C3717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Simple Handwritten Exercise (Answer)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60FD3-159B-449A-80F3-8EFF0738B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List all films title, rental duration and rental rate.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List all customers’ details who registered to store with ID of ST_002.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Insert a new film in database which has the film ID ‘F_0099’, title ‘My </a:t>
            </a:r>
            <a:r>
              <a:rPr lang="en-US" sz="2000" dirty="0" err="1"/>
              <a:t>Neighbour</a:t>
            </a:r>
            <a:r>
              <a:rPr lang="en-US" sz="2000" dirty="0"/>
              <a:t> Totoro’, description ‘Is a 1998 Japanese animated film by Hayao Miyazaki’, rental duration 14 days, and rental rate of RM8.</a:t>
            </a:r>
            <a:br>
              <a:rPr lang="en-US" sz="2000" dirty="0"/>
            </a:br>
            <a:endParaRPr lang="en-MY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93312-20F6-495B-B696-42E91F546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EEF2DB-3D68-4EFF-B92B-90C34555BE45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7BFC9D-FCDB-553B-C9A2-5E7FC89FD1AF}"/>
              </a:ext>
            </a:extLst>
          </p:cNvPr>
          <p:cNvSpPr/>
          <p:nvPr/>
        </p:nvSpPr>
        <p:spPr>
          <a:xfrm>
            <a:off x="1364629" y="2236699"/>
            <a:ext cx="8437291" cy="506277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title,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rental_duration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rental_rate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FILM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6442BD-2D0F-5B2C-3421-CC720224C4EF}"/>
              </a:ext>
            </a:extLst>
          </p:cNvPr>
          <p:cNvSpPr/>
          <p:nvPr/>
        </p:nvSpPr>
        <p:spPr>
          <a:xfrm>
            <a:off x="1364629" y="3175861"/>
            <a:ext cx="8437291" cy="506277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SELECT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*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FROM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CUSTOMER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WHERE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store_id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=‘ST_002’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74F85C-5FF2-84CC-9252-AB7AA9F26DBE}"/>
              </a:ext>
            </a:extLst>
          </p:cNvPr>
          <p:cNvSpPr/>
          <p:nvPr/>
        </p:nvSpPr>
        <p:spPr>
          <a:xfrm>
            <a:off x="1364629" y="4591186"/>
            <a:ext cx="8437291" cy="1585777"/>
          </a:xfrm>
          <a:prstGeom prst="rect">
            <a:avLst/>
          </a:prstGeom>
          <a:solidFill>
            <a:sysClr val="windowText" lastClr="000000">
              <a:lumMod val="75000"/>
              <a:lumOff val="25000"/>
            </a:sysClr>
          </a:solidFill>
          <a:ln w="12700" cap="flat" cmpd="sng" algn="ctr">
            <a:solidFill>
              <a:sysClr val="windowText" lastClr="000000">
                <a:shade val="50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4572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INSERT INTO FILM (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film_id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title, description,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rental_duration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rental_rate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  <a:b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VALUES 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‘F_0099’, ‘My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Neighbour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Totoro’, ‘Is a 1998 Japanese animated film by Hayao Miyazaki’, 14, 8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33624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832A7B-17DE-A49A-0D98-B17264451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BE87F-5B1E-B127-DCFD-1E4D482175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37D3DD-0AB3-4F16-99FA-6262B2B4036D}" type="slidenum">
              <a:rPr lang="en-MY" smtClean="0"/>
              <a:t>46</a:t>
            </a:fld>
            <a:endParaRPr lang="en-MY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1EC0F348-2D30-7AC1-3CE0-4197AE988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188" y="3429000"/>
            <a:ext cx="5327003" cy="400892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851558A9-F831-677E-BB04-1C0F9AD97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089" y="2894401"/>
            <a:ext cx="5327003" cy="400892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FCCD5C17-9FCF-9090-0510-5284D0FCF1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563" y="2684422"/>
            <a:ext cx="3612283" cy="122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775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6C1D35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6C3636"/>
      </a:accent6>
      <a:hlink>
        <a:srgbClr val="CC9900"/>
      </a:hlink>
      <a:folHlink>
        <a:srgbClr val="96A9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8124</TotalTime>
  <Words>3118</Words>
  <Application>Microsoft Macintosh PowerPoint</Application>
  <PresentationFormat>Widescreen</PresentationFormat>
  <Paragraphs>451</Paragraphs>
  <Slides>46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Calibri</vt:lpstr>
      <vt:lpstr>Courier New</vt:lpstr>
      <vt:lpstr>Helvetica</vt:lpstr>
      <vt:lpstr>Montserrat Semi</vt:lpstr>
      <vt:lpstr>Verdana</vt:lpstr>
      <vt:lpstr>Office Theme</vt:lpstr>
      <vt:lpstr>PowerPoint Presentation</vt:lpstr>
      <vt:lpstr>LECTURE LEARNING OUTCOME</vt:lpstr>
      <vt:lpstr>PowerPoint Presentation</vt:lpstr>
      <vt:lpstr>SQL Statements</vt:lpstr>
      <vt:lpstr>Writing SQL Statements</vt:lpstr>
      <vt:lpstr>Human Resource (HR) schema</vt:lpstr>
      <vt:lpstr>Human Resource (HR) schema</vt:lpstr>
      <vt:lpstr>INSERT INTO … VALUES</vt:lpstr>
      <vt:lpstr>Inserting rows with NULL values</vt:lpstr>
      <vt:lpstr>Attention: Inserting NULL values</vt:lpstr>
      <vt:lpstr>Attention: Inserting NULL values</vt:lpstr>
      <vt:lpstr>Attention: Inserting NULL values</vt:lpstr>
      <vt:lpstr>Attention: Inserting NULL values</vt:lpstr>
      <vt:lpstr>Recommendation: Inserting NULL values</vt:lpstr>
      <vt:lpstr>Inserting Special Values</vt:lpstr>
      <vt:lpstr>Inserting specific Date and Time</vt:lpstr>
      <vt:lpstr>INSERT INTO … SELECT</vt:lpstr>
      <vt:lpstr>UPDATE … SET</vt:lpstr>
      <vt:lpstr>Update Two Columns with a Subquery</vt:lpstr>
      <vt:lpstr>Update Two Columns with Subquery</vt:lpstr>
      <vt:lpstr>DELETE FROM</vt:lpstr>
      <vt:lpstr>SELECT … FROM</vt:lpstr>
      <vt:lpstr>SELECT … FROM</vt:lpstr>
      <vt:lpstr>SELECT … FROM</vt:lpstr>
      <vt:lpstr>INSERT INTO … SELECT</vt:lpstr>
      <vt:lpstr>Create new table by copying the structure of an existing table</vt:lpstr>
      <vt:lpstr>Create new table by copying the structure of an existing table (and data)</vt:lpstr>
      <vt:lpstr>SELECT…FROM…WHERE (1)</vt:lpstr>
      <vt:lpstr>SELECT…FROM…WHERE…BETWEEN…AND</vt:lpstr>
      <vt:lpstr>SELECT…FROM…WHERE…IN</vt:lpstr>
      <vt:lpstr>SELECT…FROM…WHERE…LIKE (1)</vt:lpstr>
      <vt:lpstr>SELECT…FROM…WHERE…LIKE (2)</vt:lpstr>
      <vt:lpstr>SELECT…FROM…WHERE…IS NULL</vt:lpstr>
      <vt:lpstr>SELECT…FROM…WHERE…IS NOT NULL</vt:lpstr>
      <vt:lpstr>SELECT…FROM…WHERE…AND</vt:lpstr>
      <vt:lpstr>SELECT…FROM…WHERE…OR</vt:lpstr>
      <vt:lpstr>NOT operator</vt:lpstr>
      <vt:lpstr>Rules of precedence</vt:lpstr>
      <vt:lpstr>Rules of Precedence</vt:lpstr>
      <vt:lpstr>DISTINCT (1)</vt:lpstr>
      <vt:lpstr>DISTINCT (2)</vt:lpstr>
      <vt:lpstr>DESCRIBE </vt:lpstr>
      <vt:lpstr>SUMMARY</vt:lpstr>
      <vt:lpstr>Simple Handwritten Exercise</vt:lpstr>
      <vt:lpstr>Simple Handwritten Exercise (Answer)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NUR AMALINA BINTI HAMIDI</dc:creator>
  <cp:lastModifiedBy>HASLINA BINTI HASHIM</cp:lastModifiedBy>
  <cp:revision>80</cp:revision>
  <dcterms:created xsi:type="dcterms:W3CDTF">2023-12-31T03:09:43Z</dcterms:created>
  <dcterms:modified xsi:type="dcterms:W3CDTF">2024-11-02T12:29:45Z</dcterms:modified>
</cp:coreProperties>
</file>