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3"/>
  </p:notesMasterIdLst>
  <p:sldIdLst>
    <p:sldId id="256" r:id="rId2"/>
    <p:sldId id="264" r:id="rId3"/>
    <p:sldId id="265" r:id="rId4"/>
    <p:sldId id="266" r:id="rId5"/>
    <p:sldId id="267" r:id="rId6"/>
    <p:sldId id="268" r:id="rId7"/>
    <p:sldId id="280" r:id="rId8"/>
    <p:sldId id="281" r:id="rId9"/>
    <p:sldId id="282" r:id="rId10"/>
    <p:sldId id="283" r:id="rId11"/>
    <p:sldId id="273" r:id="rId12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7D3C275-982B-465B-B821-EF4557266366}">
          <p14:sldIdLst>
            <p14:sldId id="256"/>
            <p14:sldId id="264"/>
            <p14:sldId id="265"/>
            <p14:sldId id="266"/>
            <p14:sldId id="267"/>
            <p14:sldId id="268"/>
            <p14:sldId id="280"/>
            <p14:sldId id="281"/>
            <p14:sldId id="282"/>
            <p14:sldId id="283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0E3E"/>
    <a:srgbClr val="0070C0"/>
    <a:srgbClr val="4472C4"/>
    <a:srgbClr val="FFFFCC"/>
    <a:srgbClr val="FFC000"/>
    <a:srgbClr val="E2A2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47" autoAdjust="0"/>
    <p:restoredTop sz="94660"/>
  </p:normalViewPr>
  <p:slideViewPr>
    <p:cSldViewPr snapToGrid="0">
      <p:cViewPr varScale="1">
        <p:scale>
          <a:sx n="54" d="100"/>
          <a:sy n="54" d="100"/>
        </p:scale>
        <p:origin x="19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1CB005FD-FC8B-4FF4-955B-7EA50B8B0663}" type="datetimeFigureOut">
              <a:rPr lang="en-MY"/>
              <a:t>27/12/2022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MY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MY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77D76A01-9653-4E88-A0A9-E9EA91B8AD2B}" type="slidenum">
              <a:rPr lang="en-MY"/>
              <a:t>‹#›</a:t>
            </a:fld>
            <a:endParaRPr lang="en-M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D76A01-9653-4E88-A0A9-E9EA91B8AD2B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42914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000" b="1">
                <a:solidFill>
                  <a:srgbClr val="830E3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CA369B-9ECB-4BA5-A7ED-66D4A320BBA2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02A6F-F68E-42AE-AE2F-753F71817D8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A07878-072F-4F95-8AF2-003920565BB0}" type="datetime1">
              <a:rPr lang="en-US" smtClean="0"/>
              <a:t>12/27/2022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EF2DB-3D68-4EFF-B92B-90C34555BE45}" type="slidenum">
              <a:rPr lang="en-US"/>
              <a:t>‹#›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13C3AE-587C-4613-8B8D-C3E042519364}" type="datetime1">
              <a:rPr lang="en-US" smtClean="0"/>
              <a:t>12/27/2022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D5586-745C-4D1D-AC0D-50A29C310C58}" type="slidenum">
              <a:rPr lang="en-US"/>
              <a:t>‹#›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25F1E-5143-418C-B16F-B53F6F71C758}" type="datetime1">
              <a:rPr lang="en-US" smtClean="0"/>
              <a:t>12/27/2022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69A2C-1C93-4A5E-AA86-D928C00BCD92}" type="slidenum">
              <a:rPr lang="en-US"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C22398-17E0-4244-A94E-ADF718D8A94E}" type="datetime1">
              <a:rPr lang="en-US" smtClean="0"/>
              <a:t>12/27/2022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7D458-EF61-4B7E-AFE9-875D2476F532}" type="slidenum">
              <a:rPr lang="en-US"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01E0D5-DCD9-401B-AA7A-CABD4479E7C7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E95FEE-A042-4E46-858D-E255F286AFAD}" type="slidenum">
              <a:rPr lang="en-US"/>
              <a:t>‹#›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875F7-26A9-4C67-AEF6-380D2B41CE1C}" type="datetime1">
              <a:rPr lang="en-US" smtClean="0"/>
              <a:t>12/27/2022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22C836-3674-4059-90D2-D86E3DE58AF5}" type="slidenum">
              <a:rPr lang="en-US"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36C24-F00B-4A9D-AD82-7B4F1E8149E4}" type="datetime1">
              <a:rPr lang="en-US" smtClean="0"/>
              <a:t>12/27/2022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6BA56-7896-42D5-8307-DADE9CA6683E}" type="slidenum">
              <a:rPr lang="en-US"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DD51B1-BC3D-453F-92EF-867357DC9C48}" type="datetime1">
              <a:rPr lang="en-US" smtClean="0"/>
              <a:t>12/27/2022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612DB0-978D-4D16-877F-1B531896CD64}" type="slidenum">
              <a:rPr lang="en-US"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062EA1-A570-49FF-8DCB-54AE6FCBE245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4142B-9149-44AD-9D92-D86EB0C2BF77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04791-9505-4479-9CF4-9A1DFE11A5E4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1EE60-E854-4E7C-BF7C-54A65C2A0E6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1457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963F593C-0803-424A-9ACA-A5865156ABAE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90488"/>
            <a:ext cx="4151086" cy="176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30E3E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378DD1A9-E041-452A-A8AB-5B84301EF847}" type="slidenum">
              <a:rPr lang="en-US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830E3E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830E3E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MY" altLang="en-US" sz="3200"/>
              <a:t>Topic 8</a:t>
            </a:r>
            <a:br>
              <a:rPr lang="en-MY" altLang="en-US" sz="3200" dirty="0"/>
            </a:br>
            <a:r>
              <a:rPr lang="en-MY" altLang="en-US" sz="3200" dirty="0"/>
              <a:t>Introduction to NoSQL Database</a:t>
            </a:r>
          </a:p>
        </p:txBody>
      </p:sp>
      <p:sp>
        <p:nvSpPr>
          <p:cNvPr id="3075" name="Subtitle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MY" altLang="en-US" dirty="0">
                <a:sym typeface="+mn-ea"/>
              </a:rPr>
              <a:t>SECD2523 Database</a:t>
            </a:r>
            <a:endParaRPr lang="en-MY" altLang="en-US" dirty="0"/>
          </a:p>
          <a:p>
            <a:pPr eaLnBrk="1" hangingPunct="1"/>
            <a:r>
              <a:rPr lang="en-MY" altLang="en-US" dirty="0">
                <a:sym typeface="+mn-ea"/>
              </a:rPr>
              <a:t>Semester </a:t>
            </a:r>
            <a:r>
              <a:rPr lang="en-MY" altLang="en-US">
                <a:sym typeface="+mn-ea"/>
              </a:rPr>
              <a:t>1 2022/2023</a:t>
            </a:r>
            <a:endParaRPr lang="en-MY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Learning 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After completing this chapter, you will be able to:</a:t>
            </a:r>
          </a:p>
          <a:p>
            <a:pPr lvl="1"/>
            <a:r>
              <a:rPr lang="en-US" dirty="0"/>
              <a:t>Summarize the four major approaches of the NoSQL data model and how they differ from the relational model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39B44F-64F3-4727-9EF0-CD6B5527AD3A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Towards Big Data…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0397B7-7495-4F62-A9A7-03BEBA1BB4E7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  <p:pic>
        <p:nvPicPr>
          <p:cNvPr id="7" name="Content Placeholder 6" descr="Figure 14.1 depicts volume, velocity, and variety in an original view of Big Data through a Venn diagram. &#10;" title="Figure 14.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0613" y="1646238"/>
            <a:ext cx="7262773" cy="4530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Towards Big Data…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0F6AC4-D936-466C-B877-57288357F063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dirty="0">
                <a:solidFill>
                  <a:srgbClr val="830E3E"/>
                </a:solidFill>
              </a:rPr>
              <a:t>Volume</a:t>
            </a:r>
            <a:r>
              <a:rPr lang="en-US" altLang="en-US" sz="2000" dirty="0"/>
              <a:t>: quantity of data to be stored</a:t>
            </a:r>
          </a:p>
          <a:p>
            <a:pPr lvl="1"/>
            <a:r>
              <a:rPr lang="en-US" altLang="en-US" sz="1800" dirty="0"/>
              <a:t>Scaling up: keeping the same number of systems but migrating each one to a larger system</a:t>
            </a:r>
          </a:p>
          <a:p>
            <a:pPr lvl="1"/>
            <a:r>
              <a:rPr lang="en-US" altLang="en-US" sz="1800" dirty="0"/>
              <a:t>Scaling out: when the workload exceeds server capacity, it is spread out across a number of servers</a:t>
            </a:r>
          </a:p>
          <a:p>
            <a:r>
              <a:rPr lang="en-US" altLang="en-US" sz="2000" b="1" dirty="0">
                <a:solidFill>
                  <a:srgbClr val="830E3E"/>
                </a:solidFill>
              </a:rPr>
              <a:t>Velocity</a:t>
            </a:r>
            <a:r>
              <a:rPr lang="en-US" altLang="en-US" sz="2000" dirty="0"/>
              <a:t>: speed at which data is entered into system and must be processed</a:t>
            </a:r>
          </a:p>
          <a:p>
            <a:pPr lvl="1"/>
            <a:r>
              <a:rPr lang="en-US" altLang="en-US" sz="1800" dirty="0"/>
              <a:t>Stream processing: focuses on input processing and requires analysis of data stream as it enters the system</a:t>
            </a:r>
          </a:p>
          <a:p>
            <a:pPr lvl="1"/>
            <a:r>
              <a:rPr lang="en-US" altLang="en-US" sz="1800" dirty="0"/>
              <a:t>Feedback loop processing: analysis of data to produce actionable results</a:t>
            </a:r>
          </a:p>
          <a:p>
            <a:r>
              <a:rPr lang="en-US" altLang="en-US" sz="2000" b="1" dirty="0">
                <a:solidFill>
                  <a:srgbClr val="830E3E"/>
                </a:solidFill>
              </a:rPr>
              <a:t>Variety</a:t>
            </a:r>
            <a:r>
              <a:rPr lang="en-US" altLang="en-US" sz="2000" dirty="0"/>
              <a:t>: variations in the structure of data to be stored</a:t>
            </a:r>
          </a:p>
          <a:p>
            <a:pPr lvl="1"/>
            <a:r>
              <a:rPr lang="en-US" altLang="en-US" sz="1800" dirty="0"/>
              <a:t>Structured data: fits into a predefined data model</a:t>
            </a:r>
          </a:p>
          <a:p>
            <a:pPr lvl="1"/>
            <a:r>
              <a:rPr lang="en-US" altLang="en-US" sz="1800" dirty="0"/>
              <a:t>Unstructured data: does not fit into a predefined model</a:t>
            </a:r>
          </a:p>
          <a:p>
            <a:endParaRPr lang="en-MY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Towards Big Data…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86F8DCE-C3B6-4413-90EC-0FC70853EC24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Other characteristics</a:t>
            </a:r>
          </a:p>
          <a:p>
            <a:pPr lvl="1"/>
            <a:r>
              <a:rPr lang="en-US" altLang="en-US" b="1" dirty="0">
                <a:solidFill>
                  <a:srgbClr val="830E3E"/>
                </a:solidFill>
              </a:rPr>
              <a:t>Variability</a:t>
            </a:r>
            <a:r>
              <a:rPr lang="en-US" altLang="en-US" dirty="0"/>
              <a:t>: changes in meaning of data based on context</a:t>
            </a:r>
          </a:p>
          <a:p>
            <a:pPr lvl="1"/>
            <a:r>
              <a:rPr lang="en-US" altLang="en-US" b="1" dirty="0">
                <a:solidFill>
                  <a:srgbClr val="830E3E"/>
                </a:solidFill>
              </a:rPr>
              <a:t>Sentimental analysis</a:t>
            </a:r>
            <a:r>
              <a:rPr lang="en-US" altLang="en-US" dirty="0"/>
              <a:t>: attempts to determine if a statement conveys a positive, negative, or neutral attitude about a topic</a:t>
            </a:r>
          </a:p>
          <a:p>
            <a:pPr lvl="1"/>
            <a:r>
              <a:rPr lang="en-US" altLang="en-US" b="1" dirty="0">
                <a:solidFill>
                  <a:srgbClr val="830E3E"/>
                </a:solidFill>
              </a:rPr>
              <a:t>Veracity</a:t>
            </a:r>
            <a:r>
              <a:rPr lang="en-US" altLang="en-US" dirty="0"/>
              <a:t>: trustworthiness of data</a:t>
            </a:r>
          </a:p>
          <a:p>
            <a:pPr lvl="1"/>
            <a:r>
              <a:rPr lang="en-US" altLang="en-US" b="1" dirty="0">
                <a:solidFill>
                  <a:srgbClr val="830E3E"/>
                </a:solidFill>
              </a:rPr>
              <a:t>Value</a:t>
            </a:r>
            <a:r>
              <a:rPr lang="en-US" altLang="en-US" dirty="0"/>
              <a:t>: degree data can be analyzed for meaningful insight</a:t>
            </a:r>
          </a:p>
          <a:p>
            <a:pPr lvl="1"/>
            <a:r>
              <a:rPr lang="en-US" altLang="en-US" b="1" dirty="0">
                <a:solidFill>
                  <a:srgbClr val="830E3E"/>
                </a:solidFill>
              </a:rPr>
              <a:t>Visualization</a:t>
            </a:r>
            <a:r>
              <a:rPr lang="en-US" altLang="en-US" dirty="0"/>
              <a:t>: ability to graphically resent data to make it understandable</a:t>
            </a:r>
          </a:p>
          <a:p>
            <a:r>
              <a:rPr lang="en-US" altLang="en-US" dirty="0"/>
              <a:t>Relational databases are not necessarily the best for storing and managing all organizational data</a:t>
            </a:r>
          </a:p>
          <a:p>
            <a:pPr lvl="1"/>
            <a:r>
              <a:rPr lang="en-US" altLang="en-US" dirty="0"/>
              <a:t>Polyglot persistence: coexistence of a variety of data storage and management technologies within an organization’s infrastructure</a:t>
            </a:r>
          </a:p>
          <a:p>
            <a:endParaRPr lang="en-MY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NoSQL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NoSQL: non-relational database technologies developed to address Big Data challenges. Four major approaches: Key-value DB, document DB, column-oriented DB, Graph DB.</a:t>
            </a:r>
          </a:p>
          <a:p>
            <a:endParaRPr lang="en-MY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D4C81-96DA-4E4B-B8C3-02D65A304C99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  <p:sp>
        <p:nvSpPr>
          <p:cNvPr id="7" name="Rectangle: Rounded Corners 6"/>
          <p:cNvSpPr/>
          <p:nvPr/>
        </p:nvSpPr>
        <p:spPr>
          <a:xfrm>
            <a:off x="134827" y="2766853"/>
            <a:ext cx="2104700" cy="6227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Key-value (KV) DB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2366963" y="2766853"/>
            <a:ext cx="2104700" cy="62273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 DB</a:t>
            </a:r>
          </a:p>
        </p:txBody>
      </p:sp>
      <p:sp>
        <p:nvSpPr>
          <p:cNvPr id="9" name="Rectangle: Rounded Corners 8"/>
          <p:cNvSpPr/>
          <p:nvPr/>
        </p:nvSpPr>
        <p:spPr>
          <a:xfrm>
            <a:off x="4599099" y="2766853"/>
            <a:ext cx="2104700" cy="62273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Column-oriented DB</a:t>
            </a:r>
          </a:p>
        </p:txBody>
      </p:sp>
      <p:sp>
        <p:nvSpPr>
          <p:cNvPr id="10" name="Rectangle: Rounded Corners 9"/>
          <p:cNvSpPr/>
          <p:nvPr/>
        </p:nvSpPr>
        <p:spPr>
          <a:xfrm>
            <a:off x="6831235" y="2766853"/>
            <a:ext cx="2104700" cy="62273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DB</a:t>
            </a:r>
          </a:p>
        </p:txBody>
      </p:sp>
      <p:sp>
        <p:nvSpPr>
          <p:cNvPr id="11" name="Rectangle: Rounded Corners 10"/>
          <p:cNvSpPr/>
          <p:nvPr/>
        </p:nvSpPr>
        <p:spPr>
          <a:xfrm>
            <a:off x="134827" y="3501702"/>
            <a:ext cx="2104700" cy="2772977"/>
          </a:xfrm>
          <a:prstGeom prst="roundRect">
            <a:avLst>
              <a:gd name="adj" fmla="val 58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conceptually the </a:t>
            </a:r>
            <a:r>
              <a:rPr 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simplest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the NoSQL data models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Store data as a </a:t>
            </a:r>
            <a:r>
              <a:rPr 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 of key-value pairs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organized as buckets which are the equivalent of tables</a:t>
            </a:r>
          </a:p>
        </p:txBody>
      </p:sp>
      <p:sp>
        <p:nvSpPr>
          <p:cNvPr id="12" name="Rectangle: Rounded Corners 11"/>
          <p:cNvSpPr/>
          <p:nvPr/>
        </p:nvSpPr>
        <p:spPr>
          <a:xfrm>
            <a:off x="2366963" y="3501705"/>
            <a:ext cx="2104700" cy="2772977"/>
          </a:xfrm>
          <a:prstGeom prst="roundRect">
            <a:avLst>
              <a:gd name="adj" fmla="val 580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like key-value databases and can almost be considered a subtype of KV databases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Store data in </a:t>
            </a:r>
            <a:r>
              <a:rPr 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key-value pairs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which the value components are </a:t>
            </a:r>
            <a:r>
              <a:rPr 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encoded documents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grouped into large groups called </a:t>
            </a:r>
            <a:r>
              <a:rPr 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collections</a:t>
            </a:r>
          </a:p>
        </p:txBody>
      </p:sp>
      <p:sp>
        <p:nvSpPr>
          <p:cNvPr id="13" name="Rectangle: Rounded Corners 12"/>
          <p:cNvSpPr/>
          <p:nvPr/>
        </p:nvSpPr>
        <p:spPr>
          <a:xfrm>
            <a:off x="4603531" y="3501702"/>
            <a:ext cx="2104700" cy="2772977"/>
          </a:xfrm>
          <a:prstGeom prst="roundRect">
            <a:avLst>
              <a:gd name="adj" fmla="val 5806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technologies</a:t>
            </a:r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Column-centric storage: 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stored in blocks which hold data from a single column across many rows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Row-centric storage: 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stored in block which hold data from all columns of a given set of rows</a:t>
            </a:r>
          </a:p>
        </p:txBody>
      </p:sp>
      <p:sp>
        <p:nvSpPr>
          <p:cNvPr id="14" name="Rectangle: Rounded Corners 13"/>
          <p:cNvSpPr/>
          <p:nvPr/>
        </p:nvSpPr>
        <p:spPr>
          <a:xfrm>
            <a:off x="6840099" y="3502470"/>
            <a:ext cx="2104700" cy="2772977"/>
          </a:xfrm>
          <a:prstGeom prst="roundRect">
            <a:avLst>
              <a:gd name="adj" fmla="val 5806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store data on </a:t>
            </a:r>
            <a:r>
              <a:rPr 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relationship-rich data 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a collection of </a:t>
            </a:r>
            <a:r>
              <a:rPr 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nodes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edges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Properties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like attributes; they are the data that we need to store about the node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Traversal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query in a graph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Example: Key-value (KV) DB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AC8F1F-8763-439D-ABB3-521143EB850F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003921"/>
            <a:ext cx="7886700" cy="38153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Example: Document DB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E4BB84-DE47-42F4-9D62-397D719D96AB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750986"/>
            <a:ext cx="7886700" cy="43212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Example: Column-oriented DB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59AE4D-3AC1-4DF3-AAC1-5E760D2D2FF7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1847" y="1646740"/>
            <a:ext cx="6840305" cy="45297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Example: Graph DB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8D37EA-8465-401D-AF82-469ABA4DB5D5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1407" y="1646740"/>
            <a:ext cx="7401185" cy="45297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Big Data is characterized by data of such volume, velocity, and/or variety that the relational model struggles to adapt to it</a:t>
            </a:r>
          </a:p>
          <a:p>
            <a:r>
              <a:rPr lang="en-US" sz="1800" dirty="0"/>
              <a:t>Volume, velocity, and variety are collectively referred to as the 3 Vs of Big Data</a:t>
            </a:r>
          </a:p>
          <a:p>
            <a:r>
              <a:rPr lang="en-US" sz="1800" dirty="0"/>
              <a:t>NoSQL is a broad term to refer to any of several nonrelational database approaches to data management</a:t>
            </a:r>
          </a:p>
          <a:p>
            <a:r>
              <a:rPr lang="en-US" sz="1800" dirty="0"/>
              <a:t>Key-value databases store data in key-value pairs</a:t>
            </a:r>
          </a:p>
          <a:p>
            <a:r>
              <a:rPr lang="en-US" sz="1800" dirty="0"/>
              <a:t>Document databases also store data in key-value pairs, but the data in the value component is an encoded document</a:t>
            </a:r>
          </a:p>
          <a:p>
            <a:r>
              <a:rPr lang="en-US" sz="1800" dirty="0"/>
              <a:t>Column-oriented databases, also called column family databases, organize data into key-value pairs in which the value component is composed of a series of columns, which are themselves key-value pairs</a:t>
            </a:r>
          </a:p>
          <a:p>
            <a:r>
              <a:rPr lang="en-US" sz="1800" dirty="0"/>
              <a:t>Graph databases are based on graph theory and represent data through nodes, edges, and properties</a:t>
            </a:r>
          </a:p>
          <a:p>
            <a:endParaRPr lang="en-US" sz="1800" dirty="0"/>
          </a:p>
          <a:p>
            <a:endParaRPr lang="en-MY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A07878-072F-4F95-8AF2-003920565BB0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SCSD2523 Database - NoSQL: Introduction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</TotalTime>
  <Words>670</Words>
  <Application>Microsoft Office PowerPoint</Application>
  <PresentationFormat>On-screen Show (4:3)</PresentationFormat>
  <Paragraphs>85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Topic 8 Introduction to NoSQL Database</vt:lpstr>
      <vt:lpstr>Learning Objective</vt:lpstr>
      <vt:lpstr>Towards Big Data…</vt:lpstr>
      <vt:lpstr>Towards Big Data…</vt:lpstr>
      <vt:lpstr>Towards Big Data…</vt:lpstr>
      <vt:lpstr>NoSQL</vt:lpstr>
      <vt:lpstr>Example: Key-value (KV) DB</vt:lpstr>
      <vt:lpstr>Example: Document DB</vt:lpstr>
      <vt:lpstr>Example: Column-oriented DB</vt:lpstr>
      <vt:lpstr>Example: Graph DB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acidfed</dc:creator>
  <cp:lastModifiedBy>izyan</cp:lastModifiedBy>
  <cp:revision>163</cp:revision>
  <dcterms:created xsi:type="dcterms:W3CDTF">2019-01-07T08:53:00Z</dcterms:created>
  <dcterms:modified xsi:type="dcterms:W3CDTF">2022-12-27T16:49:09Z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