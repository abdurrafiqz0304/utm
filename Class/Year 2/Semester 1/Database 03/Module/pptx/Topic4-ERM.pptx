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sldSz cx="9144000" cy="6858000" type="screen4x3"/>
  <p:notesSz cx="6858000" cy="9144000"/>
  <p:embeddedFontLst>
    <p:embeddedFont>
      <p:font typeface="Helvetica Neue" panose="02000503000000020004" pitchFamily="2" charset="0"/>
      <p:regular r:id="rId64"/>
      <p:bold r:id="rId65"/>
      <p:italic r:id="rId66"/>
      <p:boldItalic r:id="rId67"/>
    </p:embeddedFont>
    <p:embeddedFont>
      <p:font typeface="Verdana" panose="020B0604030504040204" pitchFamily="34" charset="0"/>
      <p:regular r:id="rId68"/>
      <p:bold r:id="rId69"/>
      <p:italic r:id="rId70"/>
      <p:boldItalic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2" roundtripDataSignature="AMtx7mjd/NdHWy0fR8NszGHojFf1hi0VV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FB2D74-6EB1-41F2-982F-C580A1C14902}">
  <a:tblStyle styleId="{0AFB2D74-6EB1-41F2-982F-C580A1C1490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17" d="100"/>
          <a:sy n="117" d="100"/>
        </p:scale>
        <p:origin x="192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3.fntdata"/><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1.fntdata"/><Relationship Id="rId69"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slide" Target="slides/slide50.xml"/><Relationship Id="rId72"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7.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2.fntdata"/><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3" name="Google Shape;373;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0" name="Google Shape;380;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7" name="Google Shape;387;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5" name="Google Shape;445;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7" name="Google Shape;457;p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4" name="Google Shape;464;p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9" name="Google Shape;479;p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 name="Google Shape;486;p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3" name="Google Shape;493;p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0" name="Google Shape;550;p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7" name="Google Shape;557;p3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5" name="Google Shape;585;p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p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9" name="Google Shape;599;p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7" name="Google Shape;607;p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4" name="Google Shape;614;p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1" name="Google Shape;621;p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8" name="Google Shape;628;p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5" name="Google Shape;635;p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5" name="Google Shape;645;p4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2" name="Google Shape;652;p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0" name="Google Shape;660;p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7" name="Google Shape;667;p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5" name="Google Shape;675;p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2" name="Google Shape;682;p5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9" name="Google Shape;689;p5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7" name="Google Shape;697;p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4" name="Google Shape;704;p5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1" name="Google Shape;711;p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8" name="Google Shape;718;p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5" name="Google Shape;725;p5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2" name="Google Shape;732;p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9" name="Google Shape;739;p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6" name="Google Shape;746;p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3" name="Google Shape;753;p6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page">
  <p:cSld name="cover page">
    <p:spTree>
      <p:nvGrpSpPr>
        <p:cNvPr id="1" name="Shape 15"/>
        <p:cNvGrpSpPr/>
        <p:nvPr/>
      </p:nvGrpSpPr>
      <p:grpSpPr>
        <a:xfrm>
          <a:off x="0" y="0"/>
          <a:ext cx="0" cy="0"/>
          <a:chOff x="0" y="0"/>
          <a:chExt cx="0" cy="0"/>
        </a:xfrm>
      </p:grpSpPr>
      <p:pic>
        <p:nvPicPr>
          <p:cNvPr id="16" name="Google Shape;16;p63"/>
          <p:cNvPicPr preferRelativeResize="0"/>
          <p:nvPr/>
        </p:nvPicPr>
        <p:blipFill rotWithShape="1">
          <a:blip r:embed="rId2">
            <a:alphaModFix amt="34000"/>
          </a:blip>
          <a:srcRect/>
          <a:stretch/>
        </p:blipFill>
        <p:spPr>
          <a:xfrm rot="-5400000">
            <a:off x="211027" y="-211028"/>
            <a:ext cx="6880030" cy="7302083"/>
          </a:xfrm>
          <a:prstGeom prst="rect">
            <a:avLst/>
          </a:prstGeom>
          <a:noFill/>
          <a:ln>
            <a:noFill/>
          </a:ln>
        </p:spPr>
      </p:pic>
      <p:pic>
        <p:nvPicPr>
          <p:cNvPr id="17" name="Google Shape;17;p63"/>
          <p:cNvPicPr preferRelativeResize="0"/>
          <p:nvPr/>
        </p:nvPicPr>
        <p:blipFill rotWithShape="1">
          <a:blip r:embed="rId3">
            <a:alphaModFix amt="99000"/>
          </a:blip>
          <a:srcRect/>
          <a:stretch/>
        </p:blipFill>
        <p:spPr>
          <a:xfrm flipH="1">
            <a:off x="44320" y="1"/>
            <a:ext cx="9055360" cy="3109189"/>
          </a:xfrm>
          <a:prstGeom prst="rect">
            <a:avLst/>
          </a:prstGeom>
          <a:noFill/>
          <a:ln>
            <a:noFill/>
          </a:ln>
        </p:spPr>
      </p:pic>
      <p:sp>
        <p:nvSpPr>
          <p:cNvPr id="18" name="Google Shape;18;p63"/>
          <p:cNvSpPr/>
          <p:nvPr/>
        </p:nvSpPr>
        <p:spPr>
          <a:xfrm rot="5400000">
            <a:off x="4429545" y="2165578"/>
            <a:ext cx="284909" cy="9144000"/>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19" name="Google Shape;19;p63"/>
          <p:cNvSpPr txBox="1"/>
          <p:nvPr/>
        </p:nvSpPr>
        <p:spPr>
          <a:xfrm>
            <a:off x="4109523" y="6595122"/>
            <a:ext cx="1032976" cy="21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25" b="1" i="0" u="none" strike="noStrike" cap="none">
                <a:solidFill>
                  <a:srgbClr val="F2F2F2"/>
                </a:solidFill>
                <a:latin typeface="Calibri"/>
                <a:ea typeface="Calibri"/>
                <a:cs typeface="Calibri"/>
                <a:sym typeface="Calibri"/>
              </a:rPr>
              <a:t>www.utm.my</a:t>
            </a:r>
            <a:endParaRPr sz="825" b="1" i="0" u="none" strike="noStrike" cap="none">
              <a:solidFill>
                <a:schemeClr val="accent4"/>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0"/>
        <p:cNvGrpSpPr/>
        <p:nvPr/>
      </p:nvGrpSpPr>
      <p:grpSpPr>
        <a:xfrm>
          <a:off x="0" y="0"/>
          <a:ext cx="0" cy="0"/>
          <a:chOff x="0" y="0"/>
          <a:chExt cx="0" cy="0"/>
        </a:xfrm>
      </p:grpSpPr>
      <p:sp>
        <p:nvSpPr>
          <p:cNvPr id="21" name="Google Shape;21;p64"/>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64"/>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3" name="Google Shape;23;p64"/>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64"/>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5" name="Google Shape;25;p64"/>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6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6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6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9" name="Google Shape;29;p64"/>
          <p:cNvPicPr preferRelativeResize="0"/>
          <p:nvPr/>
        </p:nvPicPr>
        <p:blipFill rotWithShape="1">
          <a:blip r:embed="rId2">
            <a:alphaModFix amt="99000"/>
          </a:blip>
          <a:srcRect/>
          <a:stretch/>
        </p:blipFill>
        <p:spPr>
          <a:xfrm flipH="1">
            <a:off x="5073" y="1271"/>
            <a:ext cx="9055360" cy="3109189"/>
          </a:xfrm>
          <a:prstGeom prst="rect">
            <a:avLst/>
          </a:prstGeom>
          <a:noFill/>
          <a:ln>
            <a:noFill/>
          </a:ln>
        </p:spPr>
      </p:pic>
      <p:pic>
        <p:nvPicPr>
          <p:cNvPr id="30" name="Google Shape;30;p64"/>
          <p:cNvPicPr preferRelativeResize="0"/>
          <p:nvPr/>
        </p:nvPicPr>
        <p:blipFill rotWithShape="1">
          <a:blip r:embed="rId3">
            <a:alphaModFix/>
          </a:blip>
          <a:srcRect/>
          <a:stretch/>
        </p:blipFill>
        <p:spPr>
          <a:xfrm>
            <a:off x="7859159" y="283591"/>
            <a:ext cx="1101125" cy="497461"/>
          </a:xfrm>
          <a:prstGeom prst="rect">
            <a:avLst/>
          </a:prstGeom>
          <a:noFill/>
          <a:ln>
            <a:noFill/>
          </a:ln>
        </p:spPr>
      </p:pic>
      <p:sp>
        <p:nvSpPr>
          <p:cNvPr id="31" name="Google Shape;31;p64"/>
          <p:cNvSpPr/>
          <p:nvPr/>
        </p:nvSpPr>
        <p:spPr>
          <a:xfrm>
            <a:off x="5074" y="342266"/>
            <a:ext cx="7702229" cy="45719"/>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grpSp>
        <p:nvGrpSpPr>
          <p:cNvPr id="32" name="Google Shape;32;p64"/>
          <p:cNvGrpSpPr/>
          <p:nvPr/>
        </p:nvGrpSpPr>
        <p:grpSpPr>
          <a:xfrm>
            <a:off x="8936250" y="4900066"/>
            <a:ext cx="219291" cy="1456285"/>
            <a:chOff x="-22867" y="4982614"/>
            <a:chExt cx="292388" cy="1456285"/>
          </a:xfrm>
        </p:grpSpPr>
        <p:sp>
          <p:nvSpPr>
            <p:cNvPr id="33" name="Google Shape;33;p64"/>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34" name="Google Shape;34;p64"/>
            <p:cNvSpPr txBox="1"/>
            <p:nvPr/>
          </p:nvSpPr>
          <p:spPr>
            <a:xfrm rot="-5400000">
              <a:off x="-565324" y="5562781"/>
              <a:ext cx="1377301" cy="2923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25" b="1" i="0">
                  <a:solidFill>
                    <a:srgbClr val="F2F2F2"/>
                  </a:solidFill>
                  <a:latin typeface="Calibri"/>
                  <a:ea typeface="Calibri"/>
                  <a:cs typeface="Calibri"/>
                  <a:sym typeface="Calibri"/>
                </a:rPr>
                <a:t>www.utm.my</a:t>
              </a:r>
              <a:endParaRPr sz="825" b="1" i="0">
                <a:solidFill>
                  <a:schemeClr val="accent4"/>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5"/>
        <p:cNvGrpSpPr/>
        <p:nvPr/>
      </p:nvGrpSpPr>
      <p:grpSpPr>
        <a:xfrm>
          <a:off x="0" y="0"/>
          <a:ext cx="0" cy="0"/>
          <a:chOff x="0" y="0"/>
          <a:chExt cx="0" cy="0"/>
        </a:xfrm>
      </p:grpSpPr>
      <p:sp>
        <p:nvSpPr>
          <p:cNvPr id="36" name="Google Shape;36;p6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5"/>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6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41" name="Google Shape;41;p65"/>
          <p:cNvPicPr preferRelativeResize="0"/>
          <p:nvPr/>
        </p:nvPicPr>
        <p:blipFill rotWithShape="1">
          <a:blip r:embed="rId2">
            <a:alphaModFix/>
          </a:blip>
          <a:srcRect/>
          <a:stretch/>
        </p:blipFill>
        <p:spPr>
          <a:xfrm flipH="1">
            <a:off x="5074" y="1270"/>
            <a:ext cx="5334040" cy="1831461"/>
          </a:xfrm>
          <a:prstGeom prst="rect">
            <a:avLst/>
          </a:prstGeom>
          <a:noFill/>
          <a:ln>
            <a:noFill/>
          </a:ln>
        </p:spPr>
      </p:pic>
      <p:sp>
        <p:nvSpPr>
          <p:cNvPr id="42" name="Google Shape;42;p65"/>
          <p:cNvSpPr/>
          <p:nvPr/>
        </p:nvSpPr>
        <p:spPr>
          <a:xfrm>
            <a:off x="2920816" y="21432"/>
            <a:ext cx="3345126" cy="256507"/>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pic>
        <p:nvPicPr>
          <p:cNvPr id="43" name="Google Shape;43;p65"/>
          <p:cNvPicPr preferRelativeResize="0"/>
          <p:nvPr/>
        </p:nvPicPr>
        <p:blipFill rotWithShape="1">
          <a:blip r:embed="rId3">
            <a:alphaModFix/>
          </a:blip>
          <a:srcRect/>
          <a:stretch/>
        </p:blipFill>
        <p:spPr>
          <a:xfrm>
            <a:off x="7859159" y="283591"/>
            <a:ext cx="1101125" cy="497461"/>
          </a:xfrm>
          <a:prstGeom prst="rect">
            <a:avLst/>
          </a:prstGeom>
          <a:noFill/>
          <a:ln>
            <a:noFill/>
          </a:ln>
        </p:spPr>
      </p:pic>
      <p:sp>
        <p:nvSpPr>
          <p:cNvPr id="44" name="Google Shape;44;p65"/>
          <p:cNvSpPr/>
          <p:nvPr/>
        </p:nvSpPr>
        <p:spPr>
          <a:xfrm>
            <a:off x="-1" y="6808663"/>
            <a:ext cx="9186760" cy="108973"/>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grpSp>
        <p:nvGrpSpPr>
          <p:cNvPr id="45" name="Google Shape;45;p65"/>
          <p:cNvGrpSpPr/>
          <p:nvPr/>
        </p:nvGrpSpPr>
        <p:grpSpPr>
          <a:xfrm>
            <a:off x="8936250" y="4900066"/>
            <a:ext cx="219291" cy="1456285"/>
            <a:chOff x="-22867" y="4982614"/>
            <a:chExt cx="292388" cy="1456285"/>
          </a:xfrm>
        </p:grpSpPr>
        <p:sp>
          <p:nvSpPr>
            <p:cNvPr id="46" name="Google Shape;46;p65"/>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47" name="Google Shape;47;p65"/>
            <p:cNvSpPr txBox="1"/>
            <p:nvPr/>
          </p:nvSpPr>
          <p:spPr>
            <a:xfrm rot="-5400000">
              <a:off x="-565324" y="5562781"/>
              <a:ext cx="1377301" cy="2923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25" b="1" i="0">
                  <a:solidFill>
                    <a:srgbClr val="F2F2F2"/>
                  </a:solidFill>
                  <a:latin typeface="Calibri"/>
                  <a:ea typeface="Calibri"/>
                  <a:cs typeface="Calibri"/>
                  <a:sym typeface="Calibri"/>
                </a:rPr>
                <a:t>www.utm.my</a:t>
              </a:r>
              <a:endParaRPr sz="825" b="1" i="0">
                <a:solidFill>
                  <a:schemeClr val="accent4"/>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8"/>
        <p:cNvGrpSpPr/>
        <p:nvPr/>
      </p:nvGrpSpPr>
      <p:grpSpPr>
        <a:xfrm>
          <a:off x="0" y="0"/>
          <a:ext cx="0" cy="0"/>
          <a:chOff x="0" y="0"/>
          <a:chExt cx="0" cy="0"/>
        </a:xfrm>
      </p:grpSpPr>
      <p:sp>
        <p:nvSpPr>
          <p:cNvPr id="49" name="Google Shape;49;p66"/>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66"/>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51" name="Google Shape;51;p6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54" name="Google Shape;54;p66"/>
          <p:cNvPicPr preferRelativeResize="0"/>
          <p:nvPr/>
        </p:nvPicPr>
        <p:blipFill rotWithShape="1">
          <a:blip r:embed="rId2">
            <a:alphaModFix amt="99000"/>
          </a:blip>
          <a:srcRect/>
          <a:stretch/>
        </p:blipFill>
        <p:spPr>
          <a:xfrm flipH="1">
            <a:off x="5073" y="1271"/>
            <a:ext cx="9055360" cy="3109189"/>
          </a:xfrm>
          <a:prstGeom prst="rect">
            <a:avLst/>
          </a:prstGeom>
          <a:noFill/>
          <a:ln>
            <a:noFill/>
          </a:ln>
        </p:spPr>
      </p:pic>
      <p:pic>
        <p:nvPicPr>
          <p:cNvPr id="55" name="Google Shape;55;p66"/>
          <p:cNvPicPr preferRelativeResize="0"/>
          <p:nvPr/>
        </p:nvPicPr>
        <p:blipFill rotWithShape="1">
          <a:blip r:embed="rId3">
            <a:alphaModFix/>
          </a:blip>
          <a:srcRect/>
          <a:stretch/>
        </p:blipFill>
        <p:spPr>
          <a:xfrm>
            <a:off x="7859159" y="283591"/>
            <a:ext cx="1101125" cy="497461"/>
          </a:xfrm>
          <a:prstGeom prst="rect">
            <a:avLst/>
          </a:prstGeom>
          <a:noFill/>
          <a:ln>
            <a:noFill/>
          </a:ln>
        </p:spPr>
      </p:pic>
      <p:grpSp>
        <p:nvGrpSpPr>
          <p:cNvPr id="56" name="Google Shape;56;p66"/>
          <p:cNvGrpSpPr/>
          <p:nvPr/>
        </p:nvGrpSpPr>
        <p:grpSpPr>
          <a:xfrm>
            <a:off x="0" y="336866"/>
            <a:ext cx="628650" cy="390908"/>
            <a:chOff x="0" y="585597"/>
            <a:chExt cx="838200" cy="390908"/>
          </a:xfrm>
        </p:grpSpPr>
        <p:sp>
          <p:nvSpPr>
            <p:cNvPr id="57" name="Google Shape;57;p66"/>
            <p:cNvSpPr/>
            <p:nvPr/>
          </p:nvSpPr>
          <p:spPr>
            <a:xfrm>
              <a:off x="0" y="585598"/>
              <a:ext cx="624901" cy="390907"/>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58" name="Google Shape;58;p66"/>
            <p:cNvSpPr/>
            <p:nvPr/>
          </p:nvSpPr>
          <p:spPr>
            <a:xfrm rot="10800000" flipH="1">
              <a:off x="624901" y="585597"/>
              <a:ext cx="213299" cy="390907"/>
            </a:xfrm>
            <a:prstGeom prst="rtTriangle">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grpSp>
      <p:grpSp>
        <p:nvGrpSpPr>
          <p:cNvPr id="59" name="Google Shape;59;p66"/>
          <p:cNvGrpSpPr/>
          <p:nvPr/>
        </p:nvGrpSpPr>
        <p:grpSpPr>
          <a:xfrm>
            <a:off x="8936250" y="4900066"/>
            <a:ext cx="219291" cy="1456285"/>
            <a:chOff x="-22867" y="4982614"/>
            <a:chExt cx="292388" cy="1456285"/>
          </a:xfrm>
        </p:grpSpPr>
        <p:sp>
          <p:nvSpPr>
            <p:cNvPr id="60" name="Google Shape;60;p66"/>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61" name="Google Shape;61;p66"/>
            <p:cNvSpPr txBox="1"/>
            <p:nvPr/>
          </p:nvSpPr>
          <p:spPr>
            <a:xfrm rot="-5400000">
              <a:off x="-565324" y="5562781"/>
              <a:ext cx="1377301" cy="2923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25" b="1" i="0">
                  <a:solidFill>
                    <a:srgbClr val="F2F2F2"/>
                  </a:solidFill>
                  <a:latin typeface="Calibri"/>
                  <a:ea typeface="Calibri"/>
                  <a:cs typeface="Calibri"/>
                  <a:sym typeface="Calibri"/>
                </a:rPr>
                <a:t>www.utm.my</a:t>
              </a:r>
              <a:endParaRPr sz="825" b="1" i="0">
                <a:solidFill>
                  <a:schemeClr val="accent4"/>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ayout20">
  <p:cSld name="Layout20">
    <p:bg>
      <p:bgPr>
        <a:solidFill>
          <a:srgbClr val="4B473E"/>
        </a:solidFill>
        <a:effectLst/>
      </p:bgPr>
    </p:bg>
    <p:spTree>
      <p:nvGrpSpPr>
        <p:cNvPr id="1" name="Shape 62"/>
        <p:cNvGrpSpPr/>
        <p:nvPr/>
      </p:nvGrpSpPr>
      <p:grpSpPr>
        <a:xfrm>
          <a:off x="0" y="0"/>
          <a:ext cx="0" cy="0"/>
          <a:chOff x="0" y="0"/>
          <a:chExt cx="0" cy="0"/>
        </a:xfrm>
      </p:grpSpPr>
      <p:sp>
        <p:nvSpPr>
          <p:cNvPr id="63" name="Google Shape;63;p6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6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65" name="Google Shape;65;p67"/>
          <p:cNvCxnSpPr/>
          <p:nvPr/>
        </p:nvCxnSpPr>
        <p:spPr>
          <a:xfrm>
            <a:off x="-9525" y="101600"/>
            <a:ext cx="9144000"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6"/>
        <p:cNvGrpSpPr/>
        <p:nvPr/>
      </p:nvGrpSpPr>
      <p:grpSpPr>
        <a:xfrm>
          <a:off x="0" y="0"/>
          <a:ext cx="0" cy="0"/>
          <a:chOff x="0" y="0"/>
          <a:chExt cx="0" cy="0"/>
        </a:xfrm>
      </p:grpSpPr>
      <p:sp>
        <p:nvSpPr>
          <p:cNvPr id="67" name="Google Shape;67;p68"/>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68"/>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69" name="Google Shape;69;p6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6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6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72" name="Google Shape;72;p68"/>
          <p:cNvPicPr preferRelativeResize="0"/>
          <p:nvPr/>
        </p:nvPicPr>
        <p:blipFill rotWithShape="1">
          <a:blip r:embed="rId2">
            <a:alphaModFix amt="99000"/>
          </a:blip>
          <a:srcRect/>
          <a:stretch/>
        </p:blipFill>
        <p:spPr>
          <a:xfrm flipH="1">
            <a:off x="5073" y="1271"/>
            <a:ext cx="9055360" cy="3109189"/>
          </a:xfrm>
          <a:prstGeom prst="rect">
            <a:avLst/>
          </a:prstGeom>
          <a:noFill/>
          <a:ln>
            <a:noFill/>
          </a:ln>
        </p:spPr>
      </p:pic>
      <p:grpSp>
        <p:nvGrpSpPr>
          <p:cNvPr id="73" name="Google Shape;73;p68"/>
          <p:cNvGrpSpPr/>
          <p:nvPr/>
        </p:nvGrpSpPr>
        <p:grpSpPr>
          <a:xfrm>
            <a:off x="0" y="6438899"/>
            <a:ext cx="3319088" cy="419100"/>
            <a:chOff x="0" y="6438899"/>
            <a:chExt cx="4425450" cy="419100"/>
          </a:xfrm>
        </p:grpSpPr>
        <p:sp>
          <p:nvSpPr>
            <p:cNvPr id="74" name="Google Shape;74;p68"/>
            <p:cNvSpPr/>
            <p:nvPr/>
          </p:nvSpPr>
          <p:spPr>
            <a:xfrm>
              <a:off x="0" y="6438900"/>
              <a:ext cx="4115884" cy="419099"/>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75" name="Google Shape;75;p68"/>
            <p:cNvSpPr/>
            <p:nvPr/>
          </p:nvSpPr>
          <p:spPr>
            <a:xfrm>
              <a:off x="4115884" y="6438899"/>
              <a:ext cx="309566" cy="419100"/>
            </a:xfrm>
            <a:prstGeom prst="rtTriangle">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grpSp>
      <p:pic>
        <p:nvPicPr>
          <p:cNvPr id="76" name="Google Shape;76;p68"/>
          <p:cNvPicPr preferRelativeResize="0"/>
          <p:nvPr/>
        </p:nvPicPr>
        <p:blipFill rotWithShape="1">
          <a:blip r:embed="rId3">
            <a:alphaModFix/>
          </a:blip>
          <a:srcRect/>
          <a:stretch/>
        </p:blipFill>
        <p:spPr>
          <a:xfrm>
            <a:off x="7859159" y="283591"/>
            <a:ext cx="1101125" cy="497461"/>
          </a:xfrm>
          <a:prstGeom prst="rect">
            <a:avLst/>
          </a:prstGeom>
          <a:noFill/>
          <a:ln>
            <a:noFill/>
          </a:ln>
        </p:spPr>
      </p:pic>
      <p:grpSp>
        <p:nvGrpSpPr>
          <p:cNvPr id="77" name="Google Shape;77;p68"/>
          <p:cNvGrpSpPr/>
          <p:nvPr/>
        </p:nvGrpSpPr>
        <p:grpSpPr>
          <a:xfrm>
            <a:off x="0" y="0"/>
            <a:ext cx="1601261" cy="390908"/>
            <a:chOff x="0" y="0"/>
            <a:chExt cx="2135014" cy="390908"/>
          </a:xfrm>
        </p:grpSpPr>
        <p:sp>
          <p:nvSpPr>
            <p:cNvPr id="78" name="Google Shape;78;p68"/>
            <p:cNvSpPr/>
            <p:nvPr/>
          </p:nvSpPr>
          <p:spPr>
            <a:xfrm>
              <a:off x="0" y="1"/>
              <a:ext cx="1921715" cy="390907"/>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79" name="Google Shape;79;p68"/>
            <p:cNvSpPr/>
            <p:nvPr/>
          </p:nvSpPr>
          <p:spPr>
            <a:xfrm rot="10800000" flipH="1">
              <a:off x="1921715" y="0"/>
              <a:ext cx="213299" cy="390907"/>
            </a:xfrm>
            <a:prstGeom prst="rtTriangle">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grpSp>
      <p:grpSp>
        <p:nvGrpSpPr>
          <p:cNvPr id="80" name="Google Shape;80;p68"/>
          <p:cNvGrpSpPr/>
          <p:nvPr/>
        </p:nvGrpSpPr>
        <p:grpSpPr>
          <a:xfrm>
            <a:off x="8936250" y="4900066"/>
            <a:ext cx="219291" cy="1456285"/>
            <a:chOff x="-22867" y="4982614"/>
            <a:chExt cx="292388" cy="1456285"/>
          </a:xfrm>
        </p:grpSpPr>
        <p:sp>
          <p:nvSpPr>
            <p:cNvPr id="81" name="Google Shape;81;p68"/>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82" name="Google Shape;82;p68"/>
            <p:cNvSpPr txBox="1"/>
            <p:nvPr/>
          </p:nvSpPr>
          <p:spPr>
            <a:xfrm rot="-5400000">
              <a:off x="-565324" y="5562781"/>
              <a:ext cx="1377301" cy="2923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25" b="1" i="0">
                  <a:solidFill>
                    <a:srgbClr val="F2F2F2"/>
                  </a:solidFill>
                  <a:latin typeface="Calibri"/>
                  <a:ea typeface="Calibri"/>
                  <a:cs typeface="Calibri"/>
                  <a:sym typeface="Calibri"/>
                </a:rPr>
                <a:t>www.utm.my</a:t>
              </a:r>
              <a:endParaRPr sz="825" b="1" i="0">
                <a:solidFill>
                  <a:schemeClr val="accent4"/>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3"/>
        <p:cNvGrpSpPr/>
        <p:nvPr/>
      </p:nvGrpSpPr>
      <p:grpSpPr>
        <a:xfrm>
          <a:off x="0" y="0"/>
          <a:ext cx="0" cy="0"/>
          <a:chOff x="0" y="0"/>
          <a:chExt cx="0" cy="0"/>
        </a:xfrm>
      </p:grpSpPr>
      <p:sp>
        <p:nvSpPr>
          <p:cNvPr id="84" name="Google Shape;84;p6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69"/>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69"/>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6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6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6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90" name="Google Shape;90;p69"/>
          <p:cNvPicPr preferRelativeResize="0"/>
          <p:nvPr/>
        </p:nvPicPr>
        <p:blipFill rotWithShape="1">
          <a:blip r:embed="rId2">
            <a:alphaModFix/>
          </a:blip>
          <a:srcRect/>
          <a:stretch/>
        </p:blipFill>
        <p:spPr>
          <a:xfrm flipH="1">
            <a:off x="5074" y="1270"/>
            <a:ext cx="5334040" cy="1831461"/>
          </a:xfrm>
          <a:prstGeom prst="rect">
            <a:avLst/>
          </a:prstGeom>
          <a:noFill/>
          <a:ln>
            <a:noFill/>
          </a:ln>
        </p:spPr>
      </p:pic>
      <p:sp>
        <p:nvSpPr>
          <p:cNvPr id="91" name="Google Shape;91;p69"/>
          <p:cNvSpPr/>
          <p:nvPr/>
        </p:nvSpPr>
        <p:spPr>
          <a:xfrm>
            <a:off x="-28575" y="1690688"/>
            <a:ext cx="9172575" cy="5167312"/>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pic>
        <p:nvPicPr>
          <p:cNvPr id="92" name="Google Shape;92;p69"/>
          <p:cNvPicPr preferRelativeResize="0"/>
          <p:nvPr/>
        </p:nvPicPr>
        <p:blipFill rotWithShape="1">
          <a:blip r:embed="rId3">
            <a:alphaModFix/>
          </a:blip>
          <a:srcRect/>
          <a:stretch/>
        </p:blipFill>
        <p:spPr>
          <a:xfrm>
            <a:off x="7859159" y="283591"/>
            <a:ext cx="1101125" cy="497461"/>
          </a:xfrm>
          <a:prstGeom prst="rect">
            <a:avLst/>
          </a:prstGeom>
          <a:noFill/>
          <a:ln>
            <a:noFill/>
          </a:ln>
        </p:spPr>
      </p:pic>
      <p:grpSp>
        <p:nvGrpSpPr>
          <p:cNvPr id="93" name="Google Shape;93;p69"/>
          <p:cNvGrpSpPr/>
          <p:nvPr/>
        </p:nvGrpSpPr>
        <p:grpSpPr>
          <a:xfrm>
            <a:off x="8936250" y="4900066"/>
            <a:ext cx="219291" cy="1456285"/>
            <a:chOff x="-22867" y="4982614"/>
            <a:chExt cx="292388" cy="1456285"/>
          </a:xfrm>
        </p:grpSpPr>
        <p:sp>
          <p:nvSpPr>
            <p:cNvPr id="94" name="Google Shape;94;p69"/>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95" name="Google Shape;95;p69"/>
            <p:cNvSpPr txBox="1"/>
            <p:nvPr/>
          </p:nvSpPr>
          <p:spPr>
            <a:xfrm rot="-5400000">
              <a:off x="-565324" y="5562781"/>
              <a:ext cx="1377301" cy="2923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25" b="1" i="0">
                  <a:solidFill>
                    <a:srgbClr val="F2F2F2"/>
                  </a:solidFill>
                  <a:latin typeface="Calibri"/>
                  <a:ea typeface="Calibri"/>
                  <a:cs typeface="Calibri"/>
                  <a:sym typeface="Calibri"/>
                </a:rPr>
                <a:t>www.utm.my</a:t>
              </a:r>
              <a:endParaRPr sz="825" b="1" i="0">
                <a:solidFill>
                  <a:schemeClr val="accent4"/>
                </a:solidFill>
                <a:latin typeface="Calibri"/>
                <a:ea typeface="Calibri"/>
                <a:cs typeface="Calibri"/>
                <a:sym typeface="Calibri"/>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6"/>
        <p:cNvGrpSpPr/>
        <p:nvPr/>
      </p:nvGrpSpPr>
      <p:grpSpPr>
        <a:xfrm>
          <a:off x="0" y="0"/>
          <a:ext cx="0" cy="0"/>
          <a:chOff x="0" y="0"/>
          <a:chExt cx="0" cy="0"/>
        </a:xfrm>
      </p:grpSpPr>
      <p:sp>
        <p:nvSpPr>
          <p:cNvPr id="97" name="Google Shape;97;p7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7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7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7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101" name="Google Shape;101;p70"/>
          <p:cNvPicPr preferRelativeResize="0"/>
          <p:nvPr/>
        </p:nvPicPr>
        <p:blipFill rotWithShape="1">
          <a:blip r:embed="rId2">
            <a:alphaModFix amt="99000"/>
          </a:blip>
          <a:srcRect/>
          <a:stretch/>
        </p:blipFill>
        <p:spPr>
          <a:xfrm flipH="1">
            <a:off x="5073" y="1271"/>
            <a:ext cx="9055360" cy="3109189"/>
          </a:xfrm>
          <a:prstGeom prst="rect">
            <a:avLst/>
          </a:prstGeom>
          <a:noFill/>
          <a:ln>
            <a:noFill/>
          </a:ln>
        </p:spPr>
      </p:pic>
      <p:grpSp>
        <p:nvGrpSpPr>
          <p:cNvPr id="102" name="Google Shape;102;p70"/>
          <p:cNvGrpSpPr/>
          <p:nvPr/>
        </p:nvGrpSpPr>
        <p:grpSpPr>
          <a:xfrm flipH="1">
            <a:off x="6672360" y="6438900"/>
            <a:ext cx="2471641" cy="419101"/>
            <a:chOff x="0" y="6438899"/>
            <a:chExt cx="4425450" cy="419100"/>
          </a:xfrm>
        </p:grpSpPr>
        <p:sp>
          <p:nvSpPr>
            <p:cNvPr id="103" name="Google Shape;103;p70"/>
            <p:cNvSpPr/>
            <p:nvPr/>
          </p:nvSpPr>
          <p:spPr>
            <a:xfrm>
              <a:off x="0" y="6438900"/>
              <a:ext cx="4115884" cy="419099"/>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104" name="Google Shape;104;p70"/>
            <p:cNvSpPr/>
            <p:nvPr/>
          </p:nvSpPr>
          <p:spPr>
            <a:xfrm>
              <a:off x="4115884" y="6438899"/>
              <a:ext cx="309566" cy="419100"/>
            </a:xfrm>
            <a:prstGeom prst="rtTriangle">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grpSp>
      <p:pic>
        <p:nvPicPr>
          <p:cNvPr id="105" name="Google Shape;105;p70"/>
          <p:cNvPicPr preferRelativeResize="0"/>
          <p:nvPr/>
        </p:nvPicPr>
        <p:blipFill rotWithShape="1">
          <a:blip r:embed="rId3">
            <a:alphaModFix/>
          </a:blip>
          <a:srcRect/>
          <a:stretch/>
        </p:blipFill>
        <p:spPr>
          <a:xfrm>
            <a:off x="7859159" y="283591"/>
            <a:ext cx="1101125" cy="497461"/>
          </a:xfrm>
          <a:prstGeom prst="rect">
            <a:avLst/>
          </a:prstGeom>
          <a:noFill/>
          <a:ln>
            <a:noFill/>
          </a:ln>
        </p:spPr>
      </p:pic>
      <p:grpSp>
        <p:nvGrpSpPr>
          <p:cNvPr id="106" name="Google Shape;106;p70"/>
          <p:cNvGrpSpPr/>
          <p:nvPr/>
        </p:nvGrpSpPr>
        <p:grpSpPr>
          <a:xfrm>
            <a:off x="8936250" y="4900066"/>
            <a:ext cx="219291" cy="1456285"/>
            <a:chOff x="-22867" y="4982614"/>
            <a:chExt cx="292388" cy="1456285"/>
          </a:xfrm>
        </p:grpSpPr>
        <p:sp>
          <p:nvSpPr>
            <p:cNvPr id="107" name="Google Shape;107;p70"/>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108" name="Google Shape;108;p70"/>
            <p:cNvSpPr txBox="1"/>
            <p:nvPr/>
          </p:nvSpPr>
          <p:spPr>
            <a:xfrm rot="-5400000">
              <a:off x="-565324" y="5562781"/>
              <a:ext cx="1377301" cy="2923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25" b="1" i="0">
                  <a:solidFill>
                    <a:srgbClr val="F2F2F2"/>
                  </a:solidFill>
                  <a:latin typeface="Calibri"/>
                  <a:ea typeface="Calibri"/>
                  <a:cs typeface="Calibri"/>
                  <a:sym typeface="Calibri"/>
                </a:rPr>
                <a:t>www.utm.my</a:t>
              </a:r>
              <a:endParaRPr sz="825" b="1" i="0">
                <a:solidFill>
                  <a:schemeClr val="accent4"/>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9"/>
        <p:cNvGrpSpPr/>
        <p:nvPr/>
      </p:nvGrpSpPr>
      <p:grpSpPr>
        <a:xfrm>
          <a:off x="0" y="0"/>
          <a:ext cx="0" cy="0"/>
          <a:chOff x="0" y="0"/>
          <a:chExt cx="0" cy="0"/>
        </a:xfrm>
      </p:grpSpPr>
      <p:sp>
        <p:nvSpPr>
          <p:cNvPr id="110" name="Google Shape;110;p7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7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7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113" name="Google Shape;113;p71"/>
          <p:cNvPicPr preferRelativeResize="0"/>
          <p:nvPr/>
        </p:nvPicPr>
        <p:blipFill rotWithShape="1">
          <a:blip r:embed="rId2">
            <a:alphaModFix/>
          </a:blip>
          <a:srcRect/>
          <a:stretch/>
        </p:blipFill>
        <p:spPr>
          <a:xfrm flipH="1">
            <a:off x="5074" y="1270"/>
            <a:ext cx="5334040" cy="1831461"/>
          </a:xfrm>
          <a:prstGeom prst="rect">
            <a:avLst/>
          </a:prstGeom>
          <a:noFill/>
          <a:ln>
            <a:noFill/>
          </a:ln>
        </p:spPr>
      </p:pic>
      <p:pic>
        <p:nvPicPr>
          <p:cNvPr id="114" name="Google Shape;114;p71"/>
          <p:cNvPicPr preferRelativeResize="0"/>
          <p:nvPr/>
        </p:nvPicPr>
        <p:blipFill rotWithShape="1">
          <a:blip r:embed="rId3">
            <a:alphaModFix/>
          </a:blip>
          <a:srcRect/>
          <a:stretch/>
        </p:blipFill>
        <p:spPr>
          <a:xfrm>
            <a:off x="7859159" y="283591"/>
            <a:ext cx="1101125" cy="497461"/>
          </a:xfrm>
          <a:prstGeom prst="rect">
            <a:avLst/>
          </a:prstGeom>
          <a:noFill/>
          <a:ln>
            <a:noFill/>
          </a:ln>
        </p:spPr>
      </p:pic>
      <p:grpSp>
        <p:nvGrpSpPr>
          <p:cNvPr id="115" name="Google Shape;115;p71"/>
          <p:cNvGrpSpPr/>
          <p:nvPr/>
        </p:nvGrpSpPr>
        <p:grpSpPr>
          <a:xfrm>
            <a:off x="8936250" y="4900066"/>
            <a:ext cx="219291" cy="1456285"/>
            <a:chOff x="-22867" y="4982614"/>
            <a:chExt cx="292388" cy="1456285"/>
          </a:xfrm>
        </p:grpSpPr>
        <p:sp>
          <p:nvSpPr>
            <p:cNvPr id="116" name="Google Shape;116;p71"/>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117" name="Google Shape;117;p71"/>
            <p:cNvSpPr txBox="1"/>
            <p:nvPr/>
          </p:nvSpPr>
          <p:spPr>
            <a:xfrm rot="-5400000">
              <a:off x="-565324" y="5562781"/>
              <a:ext cx="1377301" cy="2923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25" b="1" i="0">
                  <a:solidFill>
                    <a:srgbClr val="F2F2F2"/>
                  </a:solidFill>
                  <a:latin typeface="Calibri"/>
                  <a:ea typeface="Calibri"/>
                  <a:cs typeface="Calibri"/>
                  <a:sym typeface="Calibri"/>
                </a:rPr>
                <a:t>www.utm.my</a:t>
              </a:r>
              <a:endParaRPr sz="825" b="1" i="0">
                <a:solidFill>
                  <a:schemeClr val="accent4"/>
                </a:solidFill>
                <a:latin typeface="Calibri"/>
                <a:ea typeface="Calibri"/>
                <a:cs typeface="Calibri"/>
                <a:sym typeface="Calibri"/>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18"/>
        <p:cNvGrpSpPr/>
        <p:nvPr/>
      </p:nvGrpSpPr>
      <p:grpSpPr>
        <a:xfrm>
          <a:off x="0" y="0"/>
          <a:ext cx="0" cy="0"/>
          <a:chOff x="0" y="0"/>
          <a:chExt cx="0" cy="0"/>
        </a:xfrm>
      </p:grpSpPr>
      <p:sp>
        <p:nvSpPr>
          <p:cNvPr id="119" name="Google Shape;119;p72"/>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0" name="Google Shape;120;p72"/>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21" name="Google Shape;121;p72"/>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2" name="Google Shape;122;p7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7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7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125" name="Google Shape;125;p72"/>
          <p:cNvPicPr preferRelativeResize="0"/>
          <p:nvPr/>
        </p:nvPicPr>
        <p:blipFill rotWithShape="1">
          <a:blip r:embed="rId2">
            <a:alphaModFix/>
          </a:blip>
          <a:srcRect/>
          <a:stretch/>
        </p:blipFill>
        <p:spPr>
          <a:xfrm flipH="1">
            <a:off x="3534946" y="1270"/>
            <a:ext cx="5334040" cy="1831461"/>
          </a:xfrm>
          <a:prstGeom prst="rect">
            <a:avLst/>
          </a:prstGeom>
          <a:noFill/>
          <a:ln>
            <a:noFill/>
          </a:ln>
        </p:spPr>
      </p:pic>
      <p:sp>
        <p:nvSpPr>
          <p:cNvPr id="126" name="Google Shape;126;p72"/>
          <p:cNvSpPr/>
          <p:nvPr/>
        </p:nvSpPr>
        <p:spPr>
          <a:xfrm>
            <a:off x="-28574" y="0"/>
            <a:ext cx="3573066" cy="6858000"/>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pic>
        <p:nvPicPr>
          <p:cNvPr id="127" name="Google Shape;127;p72"/>
          <p:cNvPicPr preferRelativeResize="0"/>
          <p:nvPr/>
        </p:nvPicPr>
        <p:blipFill rotWithShape="1">
          <a:blip r:embed="rId3">
            <a:alphaModFix/>
          </a:blip>
          <a:srcRect/>
          <a:stretch/>
        </p:blipFill>
        <p:spPr>
          <a:xfrm>
            <a:off x="7859159" y="283591"/>
            <a:ext cx="1101125" cy="497461"/>
          </a:xfrm>
          <a:prstGeom prst="rect">
            <a:avLst/>
          </a:prstGeom>
          <a:noFill/>
          <a:ln>
            <a:noFill/>
          </a:ln>
        </p:spPr>
      </p:pic>
      <p:sp>
        <p:nvSpPr>
          <p:cNvPr id="128" name="Google Shape;128;p72"/>
          <p:cNvSpPr/>
          <p:nvPr/>
        </p:nvSpPr>
        <p:spPr>
          <a:xfrm rot="5400000">
            <a:off x="135965" y="3406639"/>
            <a:ext cx="6858000" cy="44726"/>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grpSp>
        <p:nvGrpSpPr>
          <p:cNvPr id="129" name="Google Shape;129;p72"/>
          <p:cNvGrpSpPr/>
          <p:nvPr/>
        </p:nvGrpSpPr>
        <p:grpSpPr>
          <a:xfrm>
            <a:off x="8936250" y="4900066"/>
            <a:ext cx="219291" cy="1456285"/>
            <a:chOff x="-22867" y="4982614"/>
            <a:chExt cx="292388" cy="1456285"/>
          </a:xfrm>
        </p:grpSpPr>
        <p:sp>
          <p:nvSpPr>
            <p:cNvPr id="130" name="Google Shape;130;p72"/>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131" name="Google Shape;131;p72"/>
            <p:cNvSpPr txBox="1"/>
            <p:nvPr/>
          </p:nvSpPr>
          <p:spPr>
            <a:xfrm rot="-5400000">
              <a:off x="-565324" y="5562781"/>
              <a:ext cx="1377301" cy="2923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25" b="1" i="0">
                  <a:solidFill>
                    <a:srgbClr val="F2F2F2"/>
                  </a:solidFill>
                  <a:latin typeface="Calibri"/>
                  <a:ea typeface="Calibri"/>
                  <a:cs typeface="Calibri"/>
                  <a:sym typeface="Calibri"/>
                </a:rPr>
                <a:t>www.utm.my</a:t>
              </a:r>
              <a:endParaRPr sz="825" b="1" i="0">
                <a:solidFill>
                  <a:schemeClr val="accent4"/>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2"/>
        <p:cNvGrpSpPr/>
        <p:nvPr/>
      </p:nvGrpSpPr>
      <p:grpSpPr>
        <a:xfrm>
          <a:off x="0" y="0"/>
          <a:ext cx="0" cy="0"/>
          <a:chOff x="0" y="0"/>
          <a:chExt cx="0" cy="0"/>
        </a:xfrm>
      </p:grpSpPr>
      <p:sp>
        <p:nvSpPr>
          <p:cNvPr id="133" name="Google Shape;133;p73"/>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p73"/>
          <p:cNvSpPr>
            <a:spLocks noGrp="1"/>
          </p:cNvSpPr>
          <p:nvPr>
            <p:ph type="pic" idx="2"/>
          </p:nvPr>
        </p:nvSpPr>
        <p:spPr>
          <a:xfrm>
            <a:off x="3887391" y="987426"/>
            <a:ext cx="4629150" cy="4873625"/>
          </a:xfrm>
          <a:prstGeom prst="rect">
            <a:avLst/>
          </a:prstGeom>
          <a:noFill/>
          <a:ln>
            <a:noFill/>
          </a:ln>
        </p:spPr>
      </p:sp>
      <p:sp>
        <p:nvSpPr>
          <p:cNvPr id="135" name="Google Shape;135;p73"/>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6" name="Google Shape;136;p7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7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7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9"/>
        <p:cNvGrpSpPr/>
        <p:nvPr/>
      </p:nvGrpSpPr>
      <p:grpSpPr>
        <a:xfrm>
          <a:off x="0" y="0"/>
          <a:ext cx="0" cy="0"/>
          <a:chOff x="0" y="0"/>
          <a:chExt cx="0" cy="0"/>
        </a:xfrm>
      </p:grpSpPr>
      <p:sp>
        <p:nvSpPr>
          <p:cNvPr id="140" name="Google Shape;140;p7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p74"/>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p7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7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7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5"/>
        <p:cNvGrpSpPr/>
        <p:nvPr/>
      </p:nvGrpSpPr>
      <p:grpSpPr>
        <a:xfrm>
          <a:off x="0" y="0"/>
          <a:ext cx="0" cy="0"/>
          <a:chOff x="0" y="0"/>
          <a:chExt cx="0" cy="0"/>
        </a:xfrm>
      </p:grpSpPr>
      <p:sp>
        <p:nvSpPr>
          <p:cNvPr id="146" name="Google Shape;146;p75"/>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p75"/>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p7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7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7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51"/>
        <p:cNvGrpSpPr/>
        <p:nvPr/>
      </p:nvGrpSpPr>
      <p:grpSpPr>
        <a:xfrm>
          <a:off x="0" y="0"/>
          <a:ext cx="0" cy="0"/>
          <a:chOff x="0" y="0"/>
          <a:chExt cx="0" cy="0"/>
        </a:xfrm>
      </p:grpSpPr>
      <p:sp>
        <p:nvSpPr>
          <p:cNvPr id="152" name="Google Shape;152;p7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7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7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55" name="Google Shape;155;p76"/>
          <p:cNvGrpSpPr/>
          <p:nvPr/>
        </p:nvGrpSpPr>
        <p:grpSpPr>
          <a:xfrm>
            <a:off x="0" y="0"/>
            <a:ext cx="3552108" cy="7783867"/>
            <a:chOff x="0" y="0"/>
            <a:chExt cx="4736144" cy="7783867"/>
          </a:xfrm>
        </p:grpSpPr>
        <p:pic>
          <p:nvPicPr>
            <p:cNvPr id="156" name="Google Shape;156;p76"/>
            <p:cNvPicPr preferRelativeResize="0"/>
            <p:nvPr/>
          </p:nvPicPr>
          <p:blipFill rotWithShape="1">
            <a:blip r:embed="rId2">
              <a:alphaModFix/>
            </a:blip>
            <a:srcRect/>
            <a:stretch/>
          </p:blipFill>
          <p:spPr>
            <a:xfrm>
              <a:off x="0" y="0"/>
              <a:ext cx="3118649" cy="4463581"/>
            </a:xfrm>
            <a:prstGeom prst="rect">
              <a:avLst/>
            </a:prstGeom>
            <a:noFill/>
            <a:ln>
              <a:noFill/>
            </a:ln>
          </p:spPr>
        </p:pic>
        <p:sp>
          <p:nvSpPr>
            <p:cNvPr id="157" name="Google Shape;157;p76"/>
            <p:cNvSpPr/>
            <p:nvPr/>
          </p:nvSpPr>
          <p:spPr>
            <a:xfrm rot="8446488">
              <a:off x="1155879" y="3069975"/>
              <a:ext cx="2214654" cy="3120244"/>
            </a:xfrm>
            <a:prstGeom prst="parallelogram">
              <a:avLst>
                <a:gd name="adj" fmla="val 25000"/>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158" name="Google Shape;158;p76"/>
            <p:cNvSpPr/>
            <p:nvPr/>
          </p:nvSpPr>
          <p:spPr>
            <a:xfrm rot="8446488">
              <a:off x="2539020" y="5497285"/>
              <a:ext cx="1784436" cy="1941063"/>
            </a:xfrm>
            <a:custGeom>
              <a:avLst/>
              <a:gdLst/>
              <a:ahLst/>
              <a:cxnLst/>
              <a:rect l="l" t="t" r="r" b="b"/>
              <a:pathLst>
                <a:path w="1784436" h="1941063" extrusionOk="0">
                  <a:moveTo>
                    <a:pt x="0" y="1941063"/>
                  </a:moveTo>
                  <a:lnTo>
                    <a:pt x="341522" y="0"/>
                  </a:lnTo>
                  <a:lnTo>
                    <a:pt x="1784436" y="1205605"/>
                  </a:lnTo>
                  <a:lnTo>
                    <a:pt x="1660991" y="1941063"/>
                  </a:lnTo>
                  <a:lnTo>
                    <a:pt x="0" y="1941063"/>
                  </a:lnTo>
                  <a:close/>
                </a:path>
              </a:pathLst>
            </a:cu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grpSp>
      <p:pic>
        <p:nvPicPr>
          <p:cNvPr id="159" name="Google Shape;159;p76"/>
          <p:cNvPicPr preferRelativeResize="0"/>
          <p:nvPr/>
        </p:nvPicPr>
        <p:blipFill rotWithShape="1">
          <a:blip r:embed="rId3">
            <a:alphaModFix/>
          </a:blip>
          <a:srcRect/>
          <a:stretch/>
        </p:blipFill>
        <p:spPr>
          <a:xfrm flipH="1">
            <a:off x="1594748" y="-1062392"/>
            <a:ext cx="1803810" cy="3385097"/>
          </a:xfrm>
          <a:prstGeom prst="rect">
            <a:avLst/>
          </a:prstGeom>
          <a:noFill/>
          <a:ln>
            <a:noFill/>
          </a:ln>
        </p:spPr>
      </p:pic>
      <p:pic>
        <p:nvPicPr>
          <p:cNvPr id="160" name="Google Shape;160;p76"/>
          <p:cNvPicPr preferRelativeResize="0"/>
          <p:nvPr/>
        </p:nvPicPr>
        <p:blipFill rotWithShape="1">
          <a:blip r:embed="rId4">
            <a:alphaModFix amt="99000"/>
          </a:blip>
          <a:srcRect/>
          <a:stretch/>
        </p:blipFill>
        <p:spPr>
          <a:xfrm rot="-5400000" flipH="1">
            <a:off x="-2832572" y="2842942"/>
            <a:ext cx="7046892" cy="1361011"/>
          </a:xfrm>
          <a:prstGeom prst="rect">
            <a:avLst/>
          </a:prstGeom>
          <a:noFill/>
          <a:ln>
            <a:noFill/>
          </a:ln>
        </p:spPr>
      </p:pic>
      <p:pic>
        <p:nvPicPr>
          <p:cNvPr id="161" name="Google Shape;161;p76"/>
          <p:cNvPicPr preferRelativeResize="0"/>
          <p:nvPr/>
        </p:nvPicPr>
        <p:blipFill rotWithShape="1">
          <a:blip r:embed="rId5">
            <a:alphaModFix/>
          </a:blip>
          <a:srcRect/>
          <a:stretch/>
        </p:blipFill>
        <p:spPr>
          <a:xfrm rot="10800000">
            <a:off x="212409" y="3743463"/>
            <a:ext cx="1560526" cy="2978013"/>
          </a:xfrm>
          <a:prstGeom prst="rect">
            <a:avLst/>
          </a:prstGeom>
          <a:noFill/>
          <a:ln>
            <a:noFill/>
          </a:ln>
        </p:spPr>
      </p:pic>
      <p:pic>
        <p:nvPicPr>
          <p:cNvPr id="162" name="Google Shape;162;p76"/>
          <p:cNvPicPr preferRelativeResize="0"/>
          <p:nvPr/>
        </p:nvPicPr>
        <p:blipFill rotWithShape="1">
          <a:blip r:embed="rId6">
            <a:alphaModFix/>
          </a:blip>
          <a:srcRect/>
          <a:stretch/>
        </p:blipFill>
        <p:spPr>
          <a:xfrm rot="5400000">
            <a:off x="1320140" y="6145600"/>
            <a:ext cx="419100" cy="592931"/>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163"/>
        <p:cNvGrpSpPr/>
        <p:nvPr/>
      </p:nvGrpSpPr>
      <p:grpSpPr>
        <a:xfrm>
          <a:off x="0" y="0"/>
          <a:ext cx="0" cy="0"/>
          <a:chOff x="0" y="0"/>
          <a:chExt cx="0" cy="0"/>
        </a:xfrm>
      </p:grpSpPr>
      <p:pic>
        <p:nvPicPr>
          <p:cNvPr id="164" name="Google Shape;164;p77"/>
          <p:cNvPicPr preferRelativeResize="0"/>
          <p:nvPr/>
        </p:nvPicPr>
        <p:blipFill rotWithShape="1">
          <a:blip r:embed="rId2">
            <a:alphaModFix/>
          </a:blip>
          <a:srcRect t="26333" b="7973"/>
          <a:stretch/>
        </p:blipFill>
        <p:spPr>
          <a:xfrm>
            <a:off x="0" y="0"/>
            <a:ext cx="9144000" cy="6858000"/>
          </a:xfrm>
          <a:prstGeom prst="rect">
            <a:avLst/>
          </a:prstGeom>
          <a:noFill/>
          <a:ln>
            <a:noFill/>
          </a:ln>
        </p:spPr>
      </p:pic>
      <p:sp>
        <p:nvSpPr>
          <p:cNvPr id="165" name="Google Shape;165;p77"/>
          <p:cNvSpPr/>
          <p:nvPr/>
        </p:nvSpPr>
        <p:spPr>
          <a:xfrm>
            <a:off x="0" y="1"/>
            <a:ext cx="9144000" cy="6858000"/>
          </a:xfrm>
          <a:prstGeom prst="rect">
            <a:avLst/>
          </a:prstGeom>
          <a:gradFill>
            <a:gsLst>
              <a:gs pos="0">
                <a:srgbClr val="6C1D35">
                  <a:alpha val="67843"/>
                </a:srgbClr>
              </a:gs>
              <a:gs pos="12000">
                <a:srgbClr val="6C1D35">
                  <a:alpha val="67843"/>
                </a:srgbClr>
              </a:gs>
              <a:gs pos="77000">
                <a:srgbClr val="2F5496"/>
              </a:gs>
              <a:gs pos="100000">
                <a:srgbClr val="2F5496"/>
              </a:gs>
            </a:gsLst>
            <a:lin ang="13500000" scaled="0"/>
          </a:gra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166" name="Google Shape;166;p7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p7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8" name="Google Shape;168;p7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169" name="Google Shape;169;p77"/>
          <p:cNvPicPr preferRelativeResize="0"/>
          <p:nvPr/>
        </p:nvPicPr>
        <p:blipFill rotWithShape="1">
          <a:blip r:embed="rId3">
            <a:alphaModFix/>
          </a:blip>
          <a:srcRect/>
          <a:stretch/>
        </p:blipFill>
        <p:spPr>
          <a:xfrm rot="10800000" flipH="1">
            <a:off x="5334000" y="-35081"/>
            <a:ext cx="3688080" cy="6921189"/>
          </a:xfrm>
          <a:prstGeom prst="rect">
            <a:avLst/>
          </a:prstGeom>
          <a:noFill/>
          <a:ln>
            <a:noFill/>
          </a:ln>
        </p:spPr>
      </p:pic>
      <p:pic>
        <p:nvPicPr>
          <p:cNvPr id="170" name="Google Shape;170;p77"/>
          <p:cNvPicPr preferRelativeResize="0"/>
          <p:nvPr/>
        </p:nvPicPr>
        <p:blipFill rotWithShape="1">
          <a:blip r:embed="rId3">
            <a:alphaModFix/>
          </a:blip>
          <a:srcRect/>
          <a:stretch/>
        </p:blipFill>
        <p:spPr>
          <a:xfrm rot="10800000" flipH="1">
            <a:off x="8451197" y="349094"/>
            <a:ext cx="1507527" cy="2829081"/>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end page">
  <p:cSld name="end page">
    <p:spTree>
      <p:nvGrpSpPr>
        <p:cNvPr id="1" name="Shape 171"/>
        <p:cNvGrpSpPr/>
        <p:nvPr/>
      </p:nvGrpSpPr>
      <p:grpSpPr>
        <a:xfrm>
          <a:off x="0" y="0"/>
          <a:ext cx="0" cy="0"/>
          <a:chOff x="0" y="0"/>
          <a:chExt cx="0" cy="0"/>
        </a:xfrm>
      </p:grpSpPr>
      <p:sp>
        <p:nvSpPr>
          <p:cNvPr id="172" name="Google Shape;172;p78"/>
          <p:cNvSpPr/>
          <p:nvPr/>
        </p:nvSpPr>
        <p:spPr>
          <a:xfrm>
            <a:off x="0" y="-2"/>
            <a:ext cx="9172575" cy="6858001"/>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pic>
        <p:nvPicPr>
          <p:cNvPr id="173" name="Google Shape;173;p78"/>
          <p:cNvPicPr preferRelativeResize="0"/>
          <p:nvPr/>
        </p:nvPicPr>
        <p:blipFill rotWithShape="1">
          <a:blip r:embed="rId2">
            <a:alphaModFix amt="32000"/>
          </a:blip>
          <a:srcRect l="20647"/>
          <a:stretch/>
        </p:blipFill>
        <p:spPr>
          <a:xfrm rot="-5400000">
            <a:off x="1157288" y="-1157288"/>
            <a:ext cx="6858000" cy="9172575"/>
          </a:xfrm>
          <a:prstGeom prst="rect">
            <a:avLst/>
          </a:prstGeom>
          <a:noFill/>
          <a:ln>
            <a:noFill/>
          </a:ln>
        </p:spPr>
      </p:pic>
      <p:sp>
        <p:nvSpPr>
          <p:cNvPr id="174" name="Google Shape;174;p7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5" name="Google Shape;175;p7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6" name="Google Shape;176;p7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Picture with Caption">
  <p:cSld name="1_Picture with Caption">
    <p:spTree>
      <p:nvGrpSpPr>
        <p:cNvPr id="1" name="Shape 177"/>
        <p:cNvGrpSpPr/>
        <p:nvPr/>
      </p:nvGrpSpPr>
      <p:grpSpPr>
        <a:xfrm>
          <a:off x="0" y="0"/>
          <a:ext cx="0" cy="0"/>
          <a:chOff x="0" y="0"/>
          <a:chExt cx="0" cy="0"/>
        </a:xfrm>
      </p:grpSpPr>
      <p:pic>
        <p:nvPicPr>
          <p:cNvPr id="178" name="Google Shape;178;p79"/>
          <p:cNvPicPr preferRelativeResize="0"/>
          <p:nvPr/>
        </p:nvPicPr>
        <p:blipFill rotWithShape="1">
          <a:blip r:embed="rId2">
            <a:alphaModFix/>
          </a:blip>
          <a:srcRect/>
          <a:stretch/>
        </p:blipFill>
        <p:spPr>
          <a:xfrm flipH="1">
            <a:off x="5074" y="1270"/>
            <a:ext cx="5334040" cy="1831461"/>
          </a:xfrm>
          <a:prstGeom prst="rect">
            <a:avLst/>
          </a:prstGeom>
          <a:noFill/>
          <a:ln>
            <a:noFill/>
          </a:ln>
        </p:spPr>
      </p:pic>
      <p:sp>
        <p:nvSpPr>
          <p:cNvPr id="179" name="Google Shape;179;p7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0" name="Google Shape;180;p7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p7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182" name="Google Shape;182;p79"/>
          <p:cNvPicPr preferRelativeResize="0"/>
          <p:nvPr/>
        </p:nvPicPr>
        <p:blipFill rotWithShape="1">
          <a:blip r:embed="rId3">
            <a:alphaModFix/>
          </a:blip>
          <a:srcRect/>
          <a:stretch/>
        </p:blipFill>
        <p:spPr>
          <a:xfrm>
            <a:off x="7859159" y="283591"/>
            <a:ext cx="1101125" cy="497461"/>
          </a:xfrm>
          <a:prstGeom prst="rect">
            <a:avLst/>
          </a:prstGeom>
          <a:noFill/>
          <a:ln>
            <a:noFill/>
          </a:ln>
        </p:spPr>
      </p:pic>
      <p:grpSp>
        <p:nvGrpSpPr>
          <p:cNvPr id="183" name="Google Shape;183;p79"/>
          <p:cNvGrpSpPr/>
          <p:nvPr/>
        </p:nvGrpSpPr>
        <p:grpSpPr>
          <a:xfrm>
            <a:off x="8936250" y="4900066"/>
            <a:ext cx="219291" cy="1456285"/>
            <a:chOff x="-22867" y="4982614"/>
            <a:chExt cx="292388" cy="1456285"/>
          </a:xfrm>
        </p:grpSpPr>
        <p:sp>
          <p:nvSpPr>
            <p:cNvPr id="184" name="Google Shape;184;p79"/>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185" name="Google Shape;185;p79"/>
            <p:cNvSpPr txBox="1"/>
            <p:nvPr/>
          </p:nvSpPr>
          <p:spPr>
            <a:xfrm rot="-5400000">
              <a:off x="-565324" y="5562781"/>
              <a:ext cx="1377301" cy="2923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25" b="1" i="0">
                  <a:solidFill>
                    <a:srgbClr val="F2F2F2"/>
                  </a:solidFill>
                  <a:latin typeface="Calibri"/>
                  <a:ea typeface="Calibri"/>
                  <a:cs typeface="Calibri"/>
                  <a:sym typeface="Calibri"/>
                </a:rPr>
                <a:t>www.utm.my</a:t>
              </a:r>
              <a:endParaRPr sz="825" b="1" i="0">
                <a:solidFill>
                  <a:schemeClr val="accent4"/>
                </a:solidFill>
                <a:latin typeface="Calibri"/>
                <a:ea typeface="Calibri"/>
                <a:cs typeface="Calibri"/>
                <a:sym typeface="Calibri"/>
              </a:endParaRPr>
            </a:p>
          </p:txBody>
        </p:sp>
      </p:grpSp>
      <p:sp>
        <p:nvSpPr>
          <p:cNvPr id="186" name="Google Shape;186;p79"/>
          <p:cNvSpPr/>
          <p:nvPr/>
        </p:nvSpPr>
        <p:spPr>
          <a:xfrm rot="5400000">
            <a:off x="4549140" y="2285174"/>
            <a:ext cx="45719" cy="9144000"/>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187" name="Google Shape;187;p79"/>
          <p:cNvSpPr txBox="1">
            <a:spLocks noGrp="1"/>
          </p:cNvSpPr>
          <p:nvPr>
            <p:ph type="title"/>
          </p:nvPr>
        </p:nvSpPr>
        <p:spPr>
          <a:xfrm>
            <a:off x="628649" y="781052"/>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_Picture with Caption">
  <p:cSld name="2_Picture with Caption">
    <p:spTree>
      <p:nvGrpSpPr>
        <p:cNvPr id="1" name="Shape 188"/>
        <p:cNvGrpSpPr/>
        <p:nvPr/>
      </p:nvGrpSpPr>
      <p:grpSpPr>
        <a:xfrm>
          <a:off x="0" y="0"/>
          <a:ext cx="0" cy="0"/>
          <a:chOff x="0" y="0"/>
          <a:chExt cx="0" cy="0"/>
        </a:xfrm>
      </p:grpSpPr>
      <p:pic>
        <p:nvPicPr>
          <p:cNvPr id="189" name="Google Shape;189;p80"/>
          <p:cNvPicPr preferRelativeResize="0"/>
          <p:nvPr/>
        </p:nvPicPr>
        <p:blipFill rotWithShape="1">
          <a:blip r:embed="rId2">
            <a:alphaModFix/>
          </a:blip>
          <a:srcRect/>
          <a:stretch/>
        </p:blipFill>
        <p:spPr>
          <a:xfrm flipH="1">
            <a:off x="5074" y="1270"/>
            <a:ext cx="5334040" cy="1831461"/>
          </a:xfrm>
          <a:prstGeom prst="rect">
            <a:avLst/>
          </a:prstGeom>
          <a:noFill/>
          <a:ln>
            <a:noFill/>
          </a:ln>
        </p:spPr>
      </p:pic>
      <p:sp>
        <p:nvSpPr>
          <p:cNvPr id="190" name="Google Shape;190;p8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1" name="Google Shape;191;p8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2" name="Google Shape;192;p8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193" name="Google Shape;193;p80"/>
          <p:cNvPicPr preferRelativeResize="0"/>
          <p:nvPr/>
        </p:nvPicPr>
        <p:blipFill rotWithShape="1">
          <a:blip r:embed="rId3">
            <a:alphaModFix/>
          </a:blip>
          <a:srcRect/>
          <a:stretch/>
        </p:blipFill>
        <p:spPr>
          <a:xfrm>
            <a:off x="7859159" y="283591"/>
            <a:ext cx="1101125" cy="497461"/>
          </a:xfrm>
          <a:prstGeom prst="rect">
            <a:avLst/>
          </a:prstGeom>
          <a:noFill/>
          <a:ln>
            <a:noFill/>
          </a:ln>
        </p:spPr>
      </p:pic>
      <p:grpSp>
        <p:nvGrpSpPr>
          <p:cNvPr id="194" name="Google Shape;194;p80"/>
          <p:cNvGrpSpPr/>
          <p:nvPr/>
        </p:nvGrpSpPr>
        <p:grpSpPr>
          <a:xfrm>
            <a:off x="8936250" y="4900066"/>
            <a:ext cx="219291" cy="1456285"/>
            <a:chOff x="-22867" y="4982614"/>
            <a:chExt cx="292388" cy="1456285"/>
          </a:xfrm>
        </p:grpSpPr>
        <p:sp>
          <p:nvSpPr>
            <p:cNvPr id="195" name="Google Shape;195;p80"/>
            <p:cNvSpPr/>
            <p:nvPr/>
          </p:nvSpPr>
          <p:spPr>
            <a:xfrm>
              <a:off x="-7479" y="4982614"/>
              <a:ext cx="261612" cy="1456285"/>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196" name="Google Shape;196;p80"/>
            <p:cNvSpPr txBox="1"/>
            <p:nvPr/>
          </p:nvSpPr>
          <p:spPr>
            <a:xfrm rot="-5400000">
              <a:off x="-565324" y="5562781"/>
              <a:ext cx="1377301" cy="2923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25" b="1" i="0">
                  <a:solidFill>
                    <a:srgbClr val="F2F2F2"/>
                  </a:solidFill>
                  <a:latin typeface="Calibri"/>
                  <a:ea typeface="Calibri"/>
                  <a:cs typeface="Calibri"/>
                  <a:sym typeface="Calibri"/>
                </a:rPr>
                <a:t>www.utm.my</a:t>
              </a:r>
              <a:endParaRPr sz="825" b="1" i="0">
                <a:solidFill>
                  <a:schemeClr val="accent4"/>
                </a:solidFill>
                <a:latin typeface="Calibri"/>
                <a:ea typeface="Calibri"/>
                <a:cs typeface="Calibri"/>
                <a:sym typeface="Calibri"/>
              </a:endParaRPr>
            </a:p>
          </p:txBody>
        </p:sp>
      </p:grpSp>
      <p:sp>
        <p:nvSpPr>
          <p:cNvPr id="197" name="Google Shape;197;p80"/>
          <p:cNvSpPr/>
          <p:nvPr/>
        </p:nvSpPr>
        <p:spPr>
          <a:xfrm rot="5400000">
            <a:off x="4554215" y="-4562095"/>
            <a:ext cx="45719" cy="9144000"/>
          </a:xfrm>
          <a:prstGeom prst="rect">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198" name="Google Shape;198;p80"/>
          <p:cNvSpPr txBox="1">
            <a:spLocks noGrp="1"/>
          </p:cNvSpPr>
          <p:nvPr>
            <p:ph type="title"/>
          </p:nvPr>
        </p:nvSpPr>
        <p:spPr>
          <a:xfrm>
            <a:off x="628649" y="781052"/>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2"/>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1.xml"/><Relationship Id="rId1" Type="http://schemas.openxmlformats.org/officeDocument/2006/relationships/slideLayout" Target="../slideLayouts/slideLayout5.xml"/><Relationship Id="rId5" Type="http://schemas.openxmlformats.org/officeDocument/2006/relationships/image" Target="../media/image47.png"/><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
          <p:cNvSpPr txBox="1"/>
          <p:nvPr/>
        </p:nvSpPr>
        <p:spPr>
          <a:xfrm>
            <a:off x="1295774" y="3216670"/>
            <a:ext cx="68580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F3F3F"/>
                </a:solidFill>
                <a:latin typeface="Calibri"/>
                <a:ea typeface="Calibri"/>
                <a:cs typeface="Calibri"/>
                <a:sym typeface="Calibri"/>
              </a:rPr>
              <a:t>TOPIC 4 | ENTITY RELATIONSHIP MODELLING</a:t>
            </a:r>
            <a:endParaRPr/>
          </a:p>
        </p:txBody>
      </p:sp>
      <p:sp>
        <p:nvSpPr>
          <p:cNvPr id="204" name="Google Shape;204;p1"/>
          <p:cNvSpPr txBox="1"/>
          <p:nvPr/>
        </p:nvSpPr>
        <p:spPr>
          <a:xfrm>
            <a:off x="1248727" y="2524173"/>
            <a:ext cx="8222726" cy="7155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50" b="1">
                <a:solidFill>
                  <a:srgbClr val="6C1D35"/>
                </a:solidFill>
                <a:latin typeface="Calibri"/>
                <a:ea typeface="Calibri"/>
                <a:cs typeface="Calibri"/>
                <a:sym typeface="Calibri"/>
              </a:rPr>
              <a:t>SECD2523 DATABASE </a:t>
            </a:r>
            <a:endParaRPr/>
          </a:p>
        </p:txBody>
      </p:sp>
      <p:pic>
        <p:nvPicPr>
          <p:cNvPr id="205" name="Google Shape;205;p1"/>
          <p:cNvPicPr preferRelativeResize="0"/>
          <p:nvPr/>
        </p:nvPicPr>
        <p:blipFill rotWithShape="1">
          <a:blip r:embed="rId3">
            <a:alphaModFix/>
          </a:blip>
          <a:srcRect/>
          <a:stretch/>
        </p:blipFill>
        <p:spPr>
          <a:xfrm>
            <a:off x="3545362" y="1306887"/>
            <a:ext cx="1687055" cy="563921"/>
          </a:xfrm>
          <a:prstGeom prst="rect">
            <a:avLst/>
          </a:prstGeom>
          <a:noFill/>
          <a:ln>
            <a:noFill/>
          </a:ln>
        </p:spPr>
      </p:pic>
      <p:pic>
        <p:nvPicPr>
          <p:cNvPr id="206" name="Google Shape;206;p1"/>
          <p:cNvPicPr preferRelativeResize="0"/>
          <p:nvPr/>
        </p:nvPicPr>
        <p:blipFill rotWithShape="1">
          <a:blip r:embed="rId4">
            <a:alphaModFix/>
          </a:blip>
          <a:srcRect/>
          <a:stretch/>
        </p:blipFill>
        <p:spPr>
          <a:xfrm>
            <a:off x="3883822" y="6334875"/>
            <a:ext cx="1602578" cy="120605"/>
          </a:xfrm>
          <a:prstGeom prst="rect">
            <a:avLst/>
          </a:prstGeom>
          <a:noFill/>
          <a:ln>
            <a:noFill/>
          </a:ln>
        </p:spPr>
      </p:pic>
      <p:sp>
        <p:nvSpPr>
          <p:cNvPr id="207" name="Google Shape;207;p1"/>
          <p:cNvSpPr txBox="1"/>
          <p:nvPr/>
        </p:nvSpPr>
        <p:spPr>
          <a:xfrm>
            <a:off x="604157" y="5963950"/>
            <a:ext cx="8009165" cy="62324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Verdana"/>
                <a:ea typeface="Verdana"/>
                <a:cs typeface="Verdana"/>
                <a:sym typeface="Verdana"/>
              </a:rPr>
              <a:t>Content adapted from </a:t>
            </a:r>
            <a:r>
              <a:rPr lang="en-US" sz="1050">
                <a:solidFill>
                  <a:schemeClr val="dk1"/>
                </a:solidFill>
                <a:latin typeface="Helvetica Neue"/>
                <a:ea typeface="Helvetica Neue"/>
                <a:cs typeface="Helvetica Neue"/>
                <a:sym typeface="Helvetica Neue"/>
              </a:rPr>
              <a:t>Connolly, T., Begg, C., 2015. Database Systems: A Practical Approach to Design, Implementation, and Management, Global Edition. Pearson Education.</a:t>
            </a:r>
            <a:endParaRPr/>
          </a:p>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LECTURE LEARNING OUTCOME</a:t>
            </a:r>
            <a:endParaRPr/>
          </a:p>
        </p:txBody>
      </p:sp>
      <p:grpSp>
        <p:nvGrpSpPr>
          <p:cNvPr id="213" name="Google Shape;213;p2"/>
          <p:cNvGrpSpPr/>
          <p:nvPr/>
        </p:nvGrpSpPr>
        <p:grpSpPr>
          <a:xfrm>
            <a:off x="567123" y="2349187"/>
            <a:ext cx="8117798" cy="623822"/>
            <a:chOff x="531658" y="2405747"/>
            <a:chExt cx="10823730" cy="831763"/>
          </a:xfrm>
        </p:grpSpPr>
        <p:sp>
          <p:nvSpPr>
            <p:cNvPr id="214" name="Google Shape;214;p2"/>
            <p:cNvSpPr/>
            <p:nvPr/>
          </p:nvSpPr>
          <p:spPr>
            <a:xfrm>
              <a:off x="531658" y="2405747"/>
              <a:ext cx="10823730" cy="831763"/>
            </a:xfrm>
            <a:prstGeom prst="roundRect">
              <a:avLst>
                <a:gd name="adj" fmla="val 16667"/>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215" name="Google Shape;215;p2"/>
            <p:cNvSpPr txBox="1"/>
            <p:nvPr/>
          </p:nvSpPr>
          <p:spPr>
            <a:xfrm>
              <a:off x="612106" y="2569292"/>
              <a:ext cx="905786" cy="48553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400"/>
                <a:buFont typeface="Arial"/>
                <a:buNone/>
              </a:pPr>
              <a:r>
                <a:rPr lang="en-US" sz="2400" b="1">
                  <a:solidFill>
                    <a:schemeClr val="lt1"/>
                  </a:solidFill>
                  <a:latin typeface="Calibri"/>
                  <a:ea typeface="Calibri"/>
                  <a:cs typeface="Calibri"/>
                  <a:sym typeface="Calibri"/>
                </a:rPr>
                <a:t>01</a:t>
              </a:r>
              <a:endParaRPr/>
            </a:p>
          </p:txBody>
        </p:sp>
        <p:sp>
          <p:nvSpPr>
            <p:cNvPr id="216" name="Google Shape;216;p2"/>
            <p:cNvSpPr txBox="1"/>
            <p:nvPr/>
          </p:nvSpPr>
          <p:spPr>
            <a:xfrm>
              <a:off x="1517893" y="2459712"/>
              <a:ext cx="9469053" cy="43088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500" b="1">
                  <a:solidFill>
                    <a:schemeClr val="lt1"/>
                  </a:solidFill>
                  <a:latin typeface="Calibri"/>
                  <a:ea typeface="Calibri"/>
                  <a:cs typeface="Calibri"/>
                  <a:sym typeface="Calibri"/>
                </a:rPr>
                <a:t>Define basic concepts associated with ER diagram</a:t>
              </a:r>
              <a:endParaRPr/>
            </a:p>
          </p:txBody>
        </p:sp>
      </p:grpSp>
      <p:pic>
        <p:nvPicPr>
          <p:cNvPr id="217" name="Google Shape;217;p2"/>
          <p:cNvPicPr preferRelativeResize="0"/>
          <p:nvPr/>
        </p:nvPicPr>
        <p:blipFill rotWithShape="1">
          <a:blip r:embed="rId3">
            <a:alphaModFix/>
          </a:blip>
          <a:srcRect/>
          <a:stretch/>
        </p:blipFill>
        <p:spPr>
          <a:xfrm>
            <a:off x="3835514" y="5802954"/>
            <a:ext cx="1463448" cy="110134"/>
          </a:xfrm>
          <a:prstGeom prst="rect">
            <a:avLst/>
          </a:prstGeom>
          <a:noFill/>
          <a:ln>
            <a:noFill/>
          </a:ln>
        </p:spPr>
      </p:pic>
      <p:sp>
        <p:nvSpPr>
          <p:cNvPr id="218" name="Google Shape;218;p2"/>
          <p:cNvSpPr txBox="1"/>
          <p:nvPr/>
        </p:nvSpPr>
        <p:spPr>
          <a:xfrm>
            <a:off x="551645" y="2010859"/>
            <a:ext cx="4587765" cy="30008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b="1">
                <a:solidFill>
                  <a:schemeClr val="dk1"/>
                </a:solidFill>
                <a:latin typeface="Calibri"/>
                <a:ea typeface="Calibri"/>
                <a:cs typeface="Calibri"/>
                <a:sym typeface="Calibri"/>
              </a:rPr>
              <a:t>By the end of this lecture, students should be able to:</a:t>
            </a:r>
            <a:endParaRPr sz="1350">
              <a:solidFill>
                <a:schemeClr val="dk1"/>
              </a:solidFill>
              <a:latin typeface="Calibri"/>
              <a:ea typeface="Calibri"/>
              <a:cs typeface="Calibri"/>
              <a:sym typeface="Calibri"/>
            </a:endParaRPr>
          </a:p>
        </p:txBody>
      </p:sp>
      <p:sp>
        <p:nvSpPr>
          <p:cNvPr id="219" name="Google Shape;219;p2"/>
          <p:cNvSpPr/>
          <p:nvPr/>
        </p:nvSpPr>
        <p:spPr>
          <a:xfrm>
            <a:off x="567123" y="3007572"/>
            <a:ext cx="8117798" cy="623822"/>
          </a:xfrm>
          <a:prstGeom prst="roundRect">
            <a:avLst>
              <a:gd name="adj" fmla="val 16667"/>
            </a:avLst>
          </a:prstGeom>
          <a:solidFill>
            <a:srgbClr val="6C1D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220" name="Google Shape;220;p2"/>
          <p:cNvSpPr txBox="1"/>
          <p:nvPr/>
        </p:nvSpPr>
        <p:spPr>
          <a:xfrm>
            <a:off x="627459" y="3130231"/>
            <a:ext cx="679340" cy="36415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SzPts val="2400"/>
              <a:buFont typeface="Arial"/>
              <a:buNone/>
            </a:pPr>
            <a:r>
              <a:rPr lang="en-US" sz="2400" b="1">
                <a:solidFill>
                  <a:schemeClr val="lt1"/>
                </a:solidFill>
                <a:latin typeface="Calibri"/>
                <a:ea typeface="Calibri"/>
                <a:cs typeface="Calibri"/>
                <a:sym typeface="Calibri"/>
              </a:rPr>
              <a:t>02</a:t>
            </a:r>
            <a:endParaRPr/>
          </a:p>
        </p:txBody>
      </p:sp>
      <p:sp>
        <p:nvSpPr>
          <p:cNvPr id="221" name="Google Shape;221;p2"/>
          <p:cNvSpPr txBox="1"/>
          <p:nvPr/>
        </p:nvSpPr>
        <p:spPr>
          <a:xfrm>
            <a:off x="1306799" y="3048046"/>
            <a:ext cx="7101790" cy="32316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500" b="1">
                <a:solidFill>
                  <a:schemeClr val="lt1"/>
                </a:solidFill>
                <a:latin typeface="Calibri"/>
                <a:ea typeface="Calibri"/>
                <a:cs typeface="Calibri"/>
                <a:sym typeface="Calibri"/>
              </a:rPr>
              <a:t>Produce ER model to represent information to application system</a:t>
            </a:r>
            <a:endParaRPr/>
          </a:p>
        </p:txBody>
      </p:sp>
      <p:sp>
        <p:nvSpPr>
          <p:cNvPr id="222" name="Google Shape;222;p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
          <p:cNvSpPr txBox="1">
            <a:spLocks noGrp="1"/>
          </p:cNvSpPr>
          <p:nvPr>
            <p:ph type="title"/>
          </p:nvPr>
        </p:nvSpPr>
        <p:spPr>
          <a:xfrm>
            <a:off x="628650" y="365126"/>
            <a:ext cx="2920462"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600"/>
              <a:buFont typeface="Calibri"/>
              <a:buNone/>
            </a:pPr>
            <a:r>
              <a:rPr lang="en-US" sz="3600"/>
              <a:t>Entity Relationship Modeling</a:t>
            </a:r>
            <a:endParaRPr sz="3600"/>
          </a:p>
        </p:txBody>
      </p:sp>
      <p:sp>
        <p:nvSpPr>
          <p:cNvPr id="228" name="Google Shape;228;p3"/>
          <p:cNvSpPr txBox="1">
            <a:spLocks noGrp="1"/>
          </p:cNvSpPr>
          <p:nvPr>
            <p:ph type="body" idx="1"/>
          </p:nvPr>
        </p:nvSpPr>
        <p:spPr>
          <a:xfrm>
            <a:off x="628651" y="2216258"/>
            <a:ext cx="2440013" cy="427661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Models business, not implementation</a:t>
            </a:r>
            <a:endParaRPr/>
          </a:p>
          <a:p>
            <a:pPr marL="228600" lvl="0" indent="-228600" algn="l" rtl="0">
              <a:lnSpc>
                <a:spcPct val="90000"/>
              </a:lnSpc>
              <a:spcBef>
                <a:spcPts val="1000"/>
              </a:spcBef>
              <a:spcAft>
                <a:spcPts val="0"/>
              </a:spcAft>
              <a:buClr>
                <a:schemeClr val="dk1"/>
              </a:buClr>
              <a:buSzPts val="2000"/>
              <a:buChar char="•"/>
            </a:pPr>
            <a:r>
              <a:rPr lang="en-US" sz="2000"/>
              <a:t>Is a well-established technique</a:t>
            </a:r>
            <a:endParaRPr/>
          </a:p>
          <a:p>
            <a:pPr marL="228600" lvl="0" indent="-228600" algn="l" rtl="0">
              <a:lnSpc>
                <a:spcPct val="90000"/>
              </a:lnSpc>
              <a:spcBef>
                <a:spcPts val="1000"/>
              </a:spcBef>
              <a:spcAft>
                <a:spcPts val="0"/>
              </a:spcAft>
              <a:buClr>
                <a:schemeClr val="dk1"/>
              </a:buClr>
              <a:buSzPts val="2000"/>
              <a:buChar char="•"/>
            </a:pPr>
            <a:r>
              <a:rPr lang="en-US" sz="2000"/>
              <a:t>Has a robust syntax</a:t>
            </a:r>
            <a:endParaRPr/>
          </a:p>
          <a:p>
            <a:pPr marL="228600" lvl="0" indent="-228600" algn="l" rtl="0">
              <a:lnSpc>
                <a:spcPct val="90000"/>
              </a:lnSpc>
              <a:spcBef>
                <a:spcPts val="1000"/>
              </a:spcBef>
              <a:spcAft>
                <a:spcPts val="0"/>
              </a:spcAft>
              <a:buClr>
                <a:schemeClr val="dk1"/>
              </a:buClr>
              <a:buSzPts val="2000"/>
              <a:buChar char="•"/>
            </a:pPr>
            <a:r>
              <a:rPr lang="en-US" sz="2000"/>
              <a:t>Results in easy-to-read diagrams…</a:t>
            </a:r>
            <a:endParaRPr/>
          </a:p>
          <a:p>
            <a:pPr marL="228600" lvl="0" indent="-228600" algn="l" rtl="0">
              <a:lnSpc>
                <a:spcPct val="90000"/>
              </a:lnSpc>
              <a:spcBef>
                <a:spcPts val="1000"/>
              </a:spcBef>
              <a:spcAft>
                <a:spcPts val="0"/>
              </a:spcAft>
              <a:buClr>
                <a:schemeClr val="dk1"/>
              </a:buClr>
              <a:buSzPts val="2000"/>
              <a:buChar char="•"/>
            </a:pPr>
            <a:r>
              <a:rPr lang="en-US" sz="2000"/>
              <a:t>…although they may look rather complex at first sight</a:t>
            </a:r>
            <a:endParaRPr/>
          </a:p>
          <a:p>
            <a:pPr marL="228600" lvl="0" indent="-101600" algn="l" rtl="0">
              <a:lnSpc>
                <a:spcPct val="90000"/>
              </a:lnSpc>
              <a:spcBef>
                <a:spcPts val="1000"/>
              </a:spcBef>
              <a:spcAft>
                <a:spcPts val="0"/>
              </a:spcAft>
              <a:buClr>
                <a:schemeClr val="dk1"/>
              </a:buClr>
              <a:buSzPts val="2000"/>
              <a:buNone/>
            </a:pPr>
            <a:endParaRPr sz="2000"/>
          </a:p>
        </p:txBody>
      </p:sp>
      <p:sp>
        <p:nvSpPr>
          <p:cNvPr id="229" name="Google Shape;229;p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graphicFrame>
        <p:nvGraphicFramePr>
          <p:cNvPr id="230" name="Google Shape;230;p3"/>
          <p:cNvGraphicFramePr/>
          <p:nvPr/>
        </p:nvGraphicFramePr>
        <p:xfrm>
          <a:off x="3068664" y="136525"/>
          <a:ext cx="6036698" cy="6270196"/>
        </p:xfrm>
        <a:graphic>
          <a:graphicData uri="http://schemas.openxmlformats.org/presentationml/2006/ole">
            <mc:AlternateContent xmlns:mc="http://schemas.openxmlformats.org/markup-compatibility/2006">
              <mc:Choice xmlns:v="urn:schemas-microsoft-com:vml" Requires="v">
                <p:oleObj r:id="rId3" imgW="6036698" imgH="6270196" progId="Awe.Document">
                  <p:embed/>
                </p:oleObj>
              </mc:Choice>
              <mc:Fallback>
                <p:oleObj r:id="rId3" imgW="6036698" imgH="6270196" progId="Awe.Document">
                  <p:embed/>
                  <p:pic>
                    <p:nvPicPr>
                      <p:cNvPr id="230" name="Google Shape;230;p3"/>
                      <p:cNvPicPr preferRelativeResize="0"/>
                      <p:nvPr/>
                    </p:nvPicPr>
                    <p:blipFill rotWithShape="1">
                      <a:blip r:embed="rId4">
                        <a:alphaModFix/>
                      </a:blip>
                      <a:srcRect/>
                      <a:stretch/>
                    </p:blipFill>
                    <p:spPr>
                      <a:xfrm>
                        <a:off x="3068664" y="136525"/>
                        <a:ext cx="6036698" cy="6270196"/>
                      </a:xfrm>
                      <a:prstGeom prst="rect">
                        <a:avLst/>
                      </a:prstGeom>
                      <a:solidFill>
                        <a:srgbClr val="FFFFCC"/>
                      </a:solidFill>
                      <a:ln>
                        <a:noFill/>
                      </a:ln>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Goals of Entity Relationship Modeling</a:t>
            </a:r>
            <a:endParaRPr/>
          </a:p>
        </p:txBody>
      </p:sp>
      <p:sp>
        <p:nvSpPr>
          <p:cNvPr id="236" name="Google Shape;236;p4"/>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Capture </a:t>
            </a:r>
            <a:r>
              <a:rPr lang="en-US" b="1" i="1"/>
              <a:t>all</a:t>
            </a:r>
            <a:r>
              <a:rPr lang="en-US"/>
              <a:t> required information</a:t>
            </a:r>
            <a:endParaRPr/>
          </a:p>
          <a:p>
            <a:pPr marL="228600" lvl="0" indent="-228600" algn="l" rtl="0">
              <a:lnSpc>
                <a:spcPct val="90000"/>
              </a:lnSpc>
              <a:spcBef>
                <a:spcPts val="1000"/>
              </a:spcBef>
              <a:spcAft>
                <a:spcPts val="0"/>
              </a:spcAft>
              <a:buClr>
                <a:schemeClr val="dk1"/>
              </a:buClr>
              <a:buSzPts val="2800"/>
              <a:buChar char="•"/>
            </a:pPr>
            <a:r>
              <a:rPr lang="en-US"/>
              <a:t>Information appears </a:t>
            </a:r>
            <a:r>
              <a:rPr lang="en-US" b="1" i="1"/>
              <a:t>only once</a:t>
            </a:r>
            <a:endParaRPr/>
          </a:p>
          <a:p>
            <a:pPr marL="228600" lvl="0" indent="-228600" algn="l" rtl="0">
              <a:lnSpc>
                <a:spcPct val="90000"/>
              </a:lnSpc>
              <a:spcBef>
                <a:spcPts val="1000"/>
              </a:spcBef>
              <a:spcAft>
                <a:spcPts val="0"/>
              </a:spcAft>
              <a:buClr>
                <a:schemeClr val="dk1"/>
              </a:buClr>
              <a:buSzPts val="2800"/>
              <a:buChar char="•"/>
            </a:pPr>
            <a:r>
              <a:rPr lang="en-US"/>
              <a:t>Model </a:t>
            </a:r>
            <a:r>
              <a:rPr lang="en-US" b="1" i="1"/>
              <a:t>no</a:t>
            </a:r>
            <a:r>
              <a:rPr lang="en-US"/>
              <a:t> information that is derivable from other information already modelled</a:t>
            </a:r>
            <a:endParaRPr/>
          </a:p>
          <a:p>
            <a:pPr marL="228600" lvl="0" indent="-228600" algn="l" rtl="0">
              <a:lnSpc>
                <a:spcPct val="90000"/>
              </a:lnSpc>
              <a:spcBef>
                <a:spcPts val="1000"/>
              </a:spcBef>
              <a:spcAft>
                <a:spcPts val="0"/>
              </a:spcAft>
              <a:buClr>
                <a:schemeClr val="dk1"/>
              </a:buClr>
              <a:buSzPts val="2800"/>
              <a:buChar char="•"/>
            </a:pPr>
            <a:r>
              <a:rPr lang="en-US"/>
              <a:t>Information is in a predictable, logical place</a:t>
            </a:r>
            <a:endParaRPr/>
          </a:p>
        </p:txBody>
      </p:sp>
      <p:sp>
        <p:nvSpPr>
          <p:cNvPr id="237" name="Google Shape;237;p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pic>
        <p:nvPicPr>
          <p:cNvPr id="242" name="Google Shape;242;p5" descr="DS3-Figure 11-01"/>
          <p:cNvPicPr preferRelativeResize="0">
            <a:picLocks noGrp="1"/>
          </p:cNvPicPr>
          <p:nvPr>
            <p:ph type="body" idx="1"/>
          </p:nvPr>
        </p:nvPicPr>
        <p:blipFill rotWithShape="1">
          <a:blip r:embed="rId3">
            <a:alphaModFix/>
          </a:blip>
          <a:srcRect/>
          <a:stretch/>
        </p:blipFill>
        <p:spPr>
          <a:xfrm>
            <a:off x="1592795" y="1255363"/>
            <a:ext cx="6872501" cy="5388623"/>
          </a:xfrm>
          <a:prstGeom prst="rect">
            <a:avLst/>
          </a:prstGeom>
          <a:noFill/>
          <a:ln>
            <a:noFill/>
          </a:ln>
        </p:spPr>
      </p:pic>
      <p:sp>
        <p:nvSpPr>
          <p:cNvPr id="243" name="Google Shape;243;p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244" name="Google Shape;244;p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ER Diagram of Branch View of DreamHome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6"/>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ER Modelling Notations</a:t>
            </a:r>
            <a:endParaRPr/>
          </a:p>
        </p:txBody>
      </p:sp>
      <p:graphicFrame>
        <p:nvGraphicFramePr>
          <p:cNvPr id="250" name="Google Shape;250;p6"/>
          <p:cNvGraphicFramePr/>
          <p:nvPr/>
        </p:nvGraphicFramePr>
        <p:xfrm>
          <a:off x="252663" y="1646237"/>
          <a:ext cx="8662725" cy="2949825"/>
        </p:xfrm>
        <a:graphic>
          <a:graphicData uri="http://schemas.openxmlformats.org/drawingml/2006/table">
            <a:tbl>
              <a:tblPr firstRow="1" bandRow="1">
                <a:noFill/>
                <a:tableStyleId>{0AFB2D74-6EB1-41F2-982F-C580A1C14902}</a:tableStyleId>
              </a:tblPr>
              <a:tblGrid>
                <a:gridCol w="2887575">
                  <a:extLst>
                    <a:ext uri="{9D8B030D-6E8A-4147-A177-3AD203B41FA5}">
                      <a16:colId xmlns:a16="http://schemas.microsoft.com/office/drawing/2014/main" val="20000"/>
                    </a:ext>
                  </a:extLst>
                </a:gridCol>
                <a:gridCol w="2887575">
                  <a:extLst>
                    <a:ext uri="{9D8B030D-6E8A-4147-A177-3AD203B41FA5}">
                      <a16:colId xmlns:a16="http://schemas.microsoft.com/office/drawing/2014/main" val="20001"/>
                    </a:ext>
                  </a:extLst>
                </a:gridCol>
                <a:gridCol w="2887575">
                  <a:extLst>
                    <a:ext uri="{9D8B030D-6E8A-4147-A177-3AD203B41FA5}">
                      <a16:colId xmlns:a16="http://schemas.microsoft.com/office/drawing/2014/main" val="20002"/>
                    </a:ext>
                  </a:extLst>
                </a:gridCol>
              </a:tblGrid>
              <a:tr h="529675">
                <a:tc>
                  <a:txBody>
                    <a:bodyPr/>
                    <a:lstStyle/>
                    <a:p>
                      <a:pPr marL="0" marR="0" lvl="0" indent="0" algn="l" rtl="0">
                        <a:spcBef>
                          <a:spcPts val="0"/>
                        </a:spcBef>
                        <a:spcAft>
                          <a:spcPts val="0"/>
                        </a:spcAft>
                        <a:buNone/>
                      </a:pPr>
                      <a:r>
                        <a:rPr lang="en-US" sz="1800" u="none" strike="noStrike" cap="none"/>
                        <a:t>UML Notation</a:t>
                      </a:r>
                      <a:endParaRPr sz="1800"/>
                    </a:p>
                  </a:txBody>
                  <a:tcPr marL="91450" marR="91450" marT="45725" marB="45725"/>
                </a:tc>
                <a:tc>
                  <a:txBody>
                    <a:bodyPr/>
                    <a:lstStyle/>
                    <a:p>
                      <a:pPr marL="0" marR="0" lvl="0" indent="0" algn="l" rtl="0">
                        <a:spcBef>
                          <a:spcPts val="0"/>
                        </a:spcBef>
                        <a:spcAft>
                          <a:spcPts val="0"/>
                        </a:spcAft>
                        <a:buNone/>
                      </a:pPr>
                      <a:r>
                        <a:rPr lang="en-US" sz="1800"/>
                        <a:t>Chen’s Notation</a:t>
                      </a:r>
                      <a:endParaRPr sz="1800"/>
                    </a:p>
                  </a:txBody>
                  <a:tcPr marL="91450" marR="91450" marT="45725" marB="45725"/>
                </a:tc>
                <a:tc>
                  <a:txBody>
                    <a:bodyPr/>
                    <a:lstStyle/>
                    <a:p>
                      <a:pPr marL="0" marR="0" lvl="0" indent="0" algn="l" rtl="0">
                        <a:spcBef>
                          <a:spcPts val="0"/>
                        </a:spcBef>
                        <a:spcAft>
                          <a:spcPts val="0"/>
                        </a:spcAft>
                        <a:buNone/>
                      </a:pPr>
                      <a:r>
                        <a:rPr lang="en-US" sz="1800"/>
                        <a:t>Crow’s Feet Notation</a:t>
                      </a:r>
                      <a:endParaRPr sz="1800"/>
                    </a:p>
                  </a:txBody>
                  <a:tcPr marL="91450" marR="91450" marT="45725" marB="45725"/>
                </a:tc>
                <a:extLst>
                  <a:ext uri="{0D108BD9-81ED-4DB2-BD59-A6C34878D82A}">
                    <a16:rowId xmlns:a16="http://schemas.microsoft.com/office/drawing/2014/main" val="10000"/>
                  </a:ext>
                </a:extLst>
              </a:tr>
              <a:tr h="2420150">
                <a:tc>
                  <a:txBody>
                    <a:bodyPr/>
                    <a:lstStyle/>
                    <a:p>
                      <a:pPr marL="0" marR="0" lvl="0" indent="0" algn="l" rtl="0">
                        <a:spcBef>
                          <a:spcPts val="0"/>
                        </a:spcBef>
                        <a:spcAft>
                          <a:spcPts val="0"/>
                        </a:spcAft>
                        <a:buNone/>
                      </a:pPr>
                      <a:endParaRPr sz="1800"/>
                    </a:p>
                  </a:txBody>
                  <a:tcPr marL="91450" marR="91450" marT="45725" marB="45725">
                    <a:solidFill>
                      <a:schemeClr val="lt1"/>
                    </a:solidFill>
                  </a:tcPr>
                </a:tc>
                <a:tc>
                  <a:txBody>
                    <a:bodyPr/>
                    <a:lstStyle/>
                    <a:p>
                      <a:pPr marL="0" marR="0" lvl="0" indent="0" algn="l" rtl="0">
                        <a:spcBef>
                          <a:spcPts val="0"/>
                        </a:spcBef>
                        <a:spcAft>
                          <a:spcPts val="0"/>
                        </a:spcAft>
                        <a:buNone/>
                      </a:pPr>
                      <a:endParaRPr sz="1800"/>
                    </a:p>
                  </a:txBody>
                  <a:tcPr marL="91450" marR="91450" marT="45725" marB="45725">
                    <a:solidFill>
                      <a:schemeClr val="lt1"/>
                    </a:solidFill>
                  </a:tcPr>
                </a:tc>
                <a:tc>
                  <a:txBody>
                    <a:bodyPr/>
                    <a:lstStyle/>
                    <a:p>
                      <a:pPr marL="0" marR="0" lvl="0" indent="0" algn="l" rtl="0">
                        <a:spcBef>
                          <a:spcPts val="0"/>
                        </a:spcBef>
                        <a:spcAft>
                          <a:spcPts val="0"/>
                        </a:spcAft>
                        <a:buNone/>
                      </a:pPr>
                      <a:endParaRPr sz="1800"/>
                    </a:p>
                  </a:txBody>
                  <a:tcPr marL="91450" marR="91450" marT="45725" marB="45725">
                    <a:solidFill>
                      <a:schemeClr val="lt1"/>
                    </a:solidFill>
                  </a:tcPr>
                </a:tc>
                <a:extLst>
                  <a:ext uri="{0D108BD9-81ED-4DB2-BD59-A6C34878D82A}">
                    <a16:rowId xmlns:a16="http://schemas.microsoft.com/office/drawing/2014/main" val="10001"/>
                  </a:ext>
                </a:extLst>
              </a:tr>
            </a:tbl>
          </a:graphicData>
        </a:graphic>
      </p:graphicFrame>
      <p:sp>
        <p:nvSpPr>
          <p:cNvPr id="251" name="Google Shape;251;p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252" name="Google Shape;252;p6"/>
          <p:cNvSpPr/>
          <p:nvPr/>
        </p:nvSpPr>
        <p:spPr>
          <a:xfrm>
            <a:off x="252663" y="1646236"/>
            <a:ext cx="2851923" cy="3459163"/>
          </a:xfrm>
          <a:prstGeom prst="rect">
            <a:avLst/>
          </a:prstGeom>
          <a:noFill/>
          <a:ln w="38100" cap="flat" cmpd="sng">
            <a:solidFill>
              <a:srgbClr val="FF00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3" name="Google Shape;253;p6"/>
          <p:cNvSpPr/>
          <p:nvPr/>
        </p:nvSpPr>
        <p:spPr>
          <a:xfrm>
            <a:off x="252663" y="5108102"/>
            <a:ext cx="2851923" cy="694602"/>
          </a:xfrm>
          <a:prstGeom prst="rect">
            <a:avLst/>
          </a:prstGeom>
          <a:solidFill>
            <a:srgbClr val="FF0000"/>
          </a:solid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Calibri"/>
                <a:ea typeface="Calibri"/>
                <a:cs typeface="Calibri"/>
                <a:sym typeface="Calibri"/>
              </a:rPr>
              <a:t>We are using this in this course</a:t>
            </a:r>
            <a:endParaRPr sz="1800" b="1">
              <a:solidFill>
                <a:schemeClr val="lt1"/>
              </a:solidFill>
              <a:latin typeface="Calibri"/>
              <a:ea typeface="Calibri"/>
              <a:cs typeface="Calibri"/>
              <a:sym typeface="Calibri"/>
            </a:endParaRPr>
          </a:p>
        </p:txBody>
      </p:sp>
      <p:pic>
        <p:nvPicPr>
          <p:cNvPr id="254" name="Google Shape;254;p6"/>
          <p:cNvPicPr preferRelativeResize="0"/>
          <p:nvPr/>
        </p:nvPicPr>
        <p:blipFill rotWithShape="1">
          <a:blip r:embed="rId3">
            <a:alphaModFix/>
          </a:blip>
          <a:srcRect l="2268" r="4550" b="1321"/>
          <a:stretch/>
        </p:blipFill>
        <p:spPr>
          <a:xfrm>
            <a:off x="3174264" y="2251045"/>
            <a:ext cx="2816292" cy="1658968"/>
          </a:xfrm>
          <a:prstGeom prst="rect">
            <a:avLst/>
          </a:prstGeom>
          <a:noFill/>
          <a:ln>
            <a:noFill/>
          </a:ln>
        </p:spPr>
      </p:pic>
      <p:pic>
        <p:nvPicPr>
          <p:cNvPr id="255" name="Google Shape;255;p6"/>
          <p:cNvPicPr preferRelativeResize="0"/>
          <p:nvPr/>
        </p:nvPicPr>
        <p:blipFill rotWithShape="1">
          <a:blip r:embed="rId4">
            <a:alphaModFix/>
          </a:blip>
          <a:srcRect/>
          <a:stretch/>
        </p:blipFill>
        <p:spPr>
          <a:xfrm>
            <a:off x="6039416" y="2248674"/>
            <a:ext cx="2852043" cy="1751826"/>
          </a:xfrm>
          <a:prstGeom prst="rect">
            <a:avLst/>
          </a:prstGeom>
          <a:noFill/>
          <a:ln>
            <a:noFill/>
          </a:ln>
        </p:spPr>
      </p:pic>
      <p:pic>
        <p:nvPicPr>
          <p:cNvPr id="256" name="Google Shape;256;p6"/>
          <p:cNvPicPr preferRelativeResize="0"/>
          <p:nvPr/>
        </p:nvPicPr>
        <p:blipFill rotWithShape="1">
          <a:blip r:embed="rId5">
            <a:alphaModFix/>
          </a:blip>
          <a:srcRect/>
          <a:stretch/>
        </p:blipFill>
        <p:spPr>
          <a:xfrm>
            <a:off x="327652" y="2177326"/>
            <a:ext cx="2701943" cy="2781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Concepts of the ER Model</a:t>
            </a:r>
            <a:endParaRPr/>
          </a:p>
        </p:txBody>
      </p:sp>
      <p:sp>
        <p:nvSpPr>
          <p:cNvPr id="262" name="Google Shape;262;p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Entity types</a:t>
            </a:r>
            <a:endParaRPr/>
          </a:p>
          <a:p>
            <a:pPr marL="228600" lvl="0" indent="-228600" algn="l" rtl="0">
              <a:lnSpc>
                <a:spcPct val="90000"/>
              </a:lnSpc>
              <a:spcBef>
                <a:spcPts val="1000"/>
              </a:spcBef>
              <a:spcAft>
                <a:spcPts val="0"/>
              </a:spcAft>
              <a:buClr>
                <a:schemeClr val="dk1"/>
              </a:buClr>
              <a:buSzPts val="2800"/>
              <a:buChar char="•"/>
            </a:pPr>
            <a:r>
              <a:rPr lang="en-US"/>
              <a:t>Relationship types</a:t>
            </a:r>
            <a:endParaRPr/>
          </a:p>
          <a:p>
            <a:pPr marL="228600" lvl="0" indent="-228600" algn="l" rtl="0">
              <a:lnSpc>
                <a:spcPct val="90000"/>
              </a:lnSpc>
              <a:spcBef>
                <a:spcPts val="1000"/>
              </a:spcBef>
              <a:spcAft>
                <a:spcPts val="0"/>
              </a:spcAft>
              <a:buClr>
                <a:schemeClr val="dk1"/>
              </a:buClr>
              <a:buSzPts val="2800"/>
              <a:buChar char="•"/>
            </a:pPr>
            <a:r>
              <a:rPr lang="en-US"/>
              <a:t>Attributes</a:t>
            </a:r>
            <a:endParaRPr/>
          </a:p>
        </p:txBody>
      </p:sp>
      <p:sp>
        <p:nvSpPr>
          <p:cNvPr id="263" name="Google Shape;263;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Entity Types</a:t>
            </a:r>
            <a:endParaRPr/>
          </a:p>
        </p:txBody>
      </p:sp>
      <p:sp>
        <p:nvSpPr>
          <p:cNvPr id="269" name="Google Shape;269;p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70C0"/>
              </a:buClr>
              <a:buSzPts val="2800"/>
              <a:buChar char="•"/>
            </a:pPr>
            <a:r>
              <a:rPr lang="en-US" b="1">
                <a:solidFill>
                  <a:srgbClr val="0070C0"/>
                </a:solidFill>
              </a:rPr>
              <a:t>Entity types</a:t>
            </a:r>
            <a:endParaRPr/>
          </a:p>
          <a:p>
            <a:pPr marL="685800" lvl="1" indent="-228600" algn="l" rtl="0">
              <a:lnSpc>
                <a:spcPct val="90000"/>
              </a:lnSpc>
              <a:spcBef>
                <a:spcPts val="500"/>
              </a:spcBef>
              <a:spcAft>
                <a:spcPts val="0"/>
              </a:spcAft>
              <a:buClr>
                <a:schemeClr val="dk1"/>
              </a:buClr>
              <a:buSzPts val="2400"/>
              <a:buChar char="•"/>
            </a:pPr>
            <a:r>
              <a:rPr lang="en-US"/>
              <a:t>Group of objects with same properties, identified by enterprise as having an independent existence.</a:t>
            </a:r>
            <a:endParaRPr/>
          </a:p>
          <a:p>
            <a:pPr marL="685800" lvl="1" indent="-228600" algn="l" rtl="0">
              <a:lnSpc>
                <a:spcPct val="90000"/>
              </a:lnSpc>
              <a:spcBef>
                <a:spcPts val="500"/>
              </a:spcBef>
              <a:spcAft>
                <a:spcPts val="0"/>
              </a:spcAft>
              <a:buClr>
                <a:srgbClr val="830E3E"/>
              </a:buClr>
              <a:buSzPts val="2400"/>
              <a:buChar char="•"/>
            </a:pPr>
            <a:r>
              <a:rPr lang="en-US">
                <a:solidFill>
                  <a:srgbClr val="830E3E"/>
                </a:solidFill>
              </a:rPr>
              <a:t>“Something” of significance to the business about which data must be known</a:t>
            </a:r>
            <a:endParaRPr/>
          </a:p>
          <a:p>
            <a:pPr marL="685800" lvl="1" indent="-228600" algn="l" rtl="0">
              <a:lnSpc>
                <a:spcPct val="90000"/>
              </a:lnSpc>
              <a:spcBef>
                <a:spcPts val="500"/>
              </a:spcBef>
              <a:spcAft>
                <a:spcPts val="0"/>
              </a:spcAft>
              <a:buClr>
                <a:schemeClr val="dk1"/>
              </a:buClr>
              <a:buSzPts val="2400"/>
              <a:buChar char="•"/>
            </a:pPr>
            <a:r>
              <a:rPr lang="en-US"/>
              <a:t>A name for the things that you can list</a:t>
            </a:r>
            <a:endParaRPr/>
          </a:p>
          <a:p>
            <a:pPr marL="685800" lvl="1" indent="-228600" algn="l" rtl="0">
              <a:lnSpc>
                <a:spcPct val="90000"/>
              </a:lnSpc>
              <a:spcBef>
                <a:spcPts val="500"/>
              </a:spcBef>
              <a:spcAft>
                <a:spcPts val="0"/>
              </a:spcAft>
              <a:buClr>
                <a:schemeClr val="dk1"/>
              </a:buClr>
              <a:buSzPts val="2400"/>
              <a:buChar char="•"/>
            </a:pPr>
            <a:r>
              <a:rPr lang="en-US"/>
              <a:t>Usually a noun</a:t>
            </a:r>
            <a:endParaRPr/>
          </a:p>
          <a:p>
            <a:pPr marL="228600" lvl="0" indent="-228600" algn="l" rtl="0">
              <a:lnSpc>
                <a:spcPct val="90000"/>
              </a:lnSpc>
              <a:spcBef>
                <a:spcPts val="1000"/>
              </a:spcBef>
              <a:spcAft>
                <a:spcPts val="0"/>
              </a:spcAft>
              <a:buClr>
                <a:srgbClr val="0070C0"/>
              </a:buClr>
              <a:buSzPts val="2800"/>
              <a:buChar char="•"/>
            </a:pPr>
            <a:r>
              <a:rPr lang="en-US" b="1">
                <a:solidFill>
                  <a:srgbClr val="0070C0"/>
                </a:solidFill>
              </a:rPr>
              <a:t>Entity occurrence/instances</a:t>
            </a:r>
            <a:endParaRPr/>
          </a:p>
          <a:p>
            <a:pPr marL="685800" lvl="1" indent="-228600" algn="l" rtl="0">
              <a:lnSpc>
                <a:spcPct val="90000"/>
              </a:lnSpc>
              <a:spcBef>
                <a:spcPts val="500"/>
              </a:spcBef>
              <a:spcAft>
                <a:spcPts val="0"/>
              </a:spcAft>
              <a:buClr>
                <a:schemeClr val="dk1"/>
              </a:buClr>
              <a:buSzPts val="2400"/>
              <a:buChar char="•"/>
            </a:pPr>
            <a:r>
              <a:rPr lang="en-US"/>
              <a:t>Uniquely identifiable object of an entity type.</a:t>
            </a:r>
            <a:endParaRPr/>
          </a:p>
          <a:p>
            <a:pPr marL="228600" lvl="0" indent="-50800" algn="l" rtl="0">
              <a:lnSpc>
                <a:spcPct val="90000"/>
              </a:lnSpc>
              <a:spcBef>
                <a:spcPts val="1000"/>
              </a:spcBef>
              <a:spcAft>
                <a:spcPts val="0"/>
              </a:spcAft>
              <a:buClr>
                <a:schemeClr val="dk1"/>
              </a:buClr>
              <a:buSzPts val="2800"/>
              <a:buNone/>
            </a:pPr>
            <a:endParaRPr/>
          </a:p>
        </p:txBody>
      </p:sp>
      <p:sp>
        <p:nvSpPr>
          <p:cNvPr id="270" name="Google Shape;270;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Example of Entities and Instances</a:t>
            </a:r>
            <a:endParaRPr/>
          </a:p>
        </p:txBody>
      </p:sp>
      <p:sp>
        <p:nvSpPr>
          <p:cNvPr id="276" name="Google Shape;276;p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277" name="Google Shape;277;p9"/>
          <p:cNvSpPr txBox="1"/>
          <p:nvPr/>
        </p:nvSpPr>
        <p:spPr>
          <a:xfrm>
            <a:off x="787401" y="1874538"/>
            <a:ext cx="3479800" cy="3981450"/>
          </a:xfrm>
          <a:prstGeom prst="rect">
            <a:avLst/>
          </a:prstGeom>
          <a:noFill/>
          <a:ln>
            <a:noFill/>
          </a:ln>
        </p:spPr>
        <p:txBody>
          <a:bodyPr spcFirstLastPara="1" wrap="square" lIns="91425" tIns="45700" rIns="91425" bIns="45700" anchor="t" anchorCtr="0">
            <a:normAutofit lnSpcReduction="10000"/>
          </a:bodyPr>
          <a:lstStyle/>
          <a:p>
            <a:pPr marL="228600" marR="0" lvl="0" indent="-228600" algn="l" rtl="0">
              <a:lnSpc>
                <a:spcPct val="90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PERSON</a:t>
            </a:r>
            <a:endParaRPr/>
          </a:p>
          <a:p>
            <a:pPr marL="228600" marR="0" lvl="0" indent="-228600" algn="l" rtl="0">
              <a:lnSpc>
                <a:spcPct val="90000"/>
              </a:lnSpc>
              <a:spcBef>
                <a:spcPts val="10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PRODUCT</a:t>
            </a:r>
            <a:endParaRPr/>
          </a:p>
          <a:p>
            <a:pPr marL="228600" marR="0" lvl="0" indent="-228600" algn="l" rtl="0">
              <a:lnSpc>
                <a:spcPct val="90000"/>
              </a:lnSpc>
              <a:spcBef>
                <a:spcPts val="10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PRODUCT TYPE</a:t>
            </a:r>
            <a:endParaRPr/>
          </a:p>
          <a:p>
            <a:pPr marL="228600" marR="0" lvl="0" indent="-228600" algn="l" rtl="0">
              <a:lnSpc>
                <a:spcPct val="90000"/>
              </a:lnSpc>
              <a:spcBef>
                <a:spcPts val="10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EMPLOYMENT CONTRACT</a:t>
            </a:r>
            <a:endParaRPr/>
          </a:p>
          <a:p>
            <a:pPr marL="228600" marR="0" lvl="0" indent="-228600" algn="l" rtl="0">
              <a:lnSpc>
                <a:spcPct val="90000"/>
              </a:lnSpc>
              <a:spcBef>
                <a:spcPts val="10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JOB</a:t>
            </a:r>
            <a:endParaRPr/>
          </a:p>
          <a:p>
            <a:pPr marL="228600" marR="0" lvl="0" indent="-228600" algn="l" rtl="0">
              <a:lnSpc>
                <a:spcPct val="90000"/>
              </a:lnSpc>
              <a:spcBef>
                <a:spcPts val="10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SKILL LEVEL</a:t>
            </a:r>
            <a:endParaRPr/>
          </a:p>
          <a:p>
            <a:pPr marL="228600" marR="0" lvl="0" indent="-228600" algn="l" rtl="0">
              <a:lnSpc>
                <a:spcPct val="90000"/>
              </a:lnSpc>
              <a:spcBef>
                <a:spcPts val="10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TICKET RESERVATION</a:t>
            </a:r>
            <a:endParaRPr/>
          </a:p>
          <a:p>
            <a:pPr marL="228600" marR="0" lvl="0" indent="-228600" algn="l" rtl="0">
              <a:lnSpc>
                <a:spcPct val="90000"/>
              </a:lnSpc>
              <a:spcBef>
                <a:spcPts val="10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PURCHASE</a:t>
            </a:r>
            <a:endParaRPr/>
          </a:p>
          <a:p>
            <a:pPr marL="228600" marR="0" lvl="0" indent="-228600" algn="l" rtl="0">
              <a:lnSpc>
                <a:spcPct val="90000"/>
              </a:lnSpc>
              <a:spcBef>
                <a:spcPts val="10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ELECTION</a:t>
            </a:r>
            <a:endParaRPr/>
          </a:p>
          <a:p>
            <a:pPr marL="228600" marR="0" lvl="0" indent="-228600" algn="l" rtl="0">
              <a:lnSpc>
                <a:spcPct val="90000"/>
              </a:lnSpc>
              <a:spcBef>
                <a:spcPts val="10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PRINTER PREFERENCE</a:t>
            </a:r>
            <a:endParaRPr/>
          </a:p>
          <a:p>
            <a:pPr marL="228600" marR="0" lvl="0" indent="-228600" algn="l" rtl="0">
              <a:lnSpc>
                <a:spcPct val="90000"/>
              </a:lnSpc>
              <a:spcBef>
                <a:spcPts val="100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DOCUMENT VERSION</a:t>
            </a:r>
            <a:endParaRPr/>
          </a:p>
        </p:txBody>
      </p:sp>
      <p:sp>
        <p:nvSpPr>
          <p:cNvPr id="278" name="Google Shape;278;p9"/>
          <p:cNvSpPr txBox="1"/>
          <p:nvPr/>
        </p:nvSpPr>
        <p:spPr>
          <a:xfrm>
            <a:off x="4758747" y="1874538"/>
            <a:ext cx="3616325" cy="4017126"/>
          </a:xfrm>
          <a:prstGeom prst="rect">
            <a:avLst/>
          </a:prstGeom>
          <a:noFill/>
          <a:ln>
            <a:noFill/>
          </a:ln>
        </p:spPr>
        <p:txBody>
          <a:bodyPr spcFirstLastPara="1" wrap="square" lIns="92075" tIns="46025" rIns="92075" bIns="46025" anchor="t" anchorCtr="0">
            <a:spAutoFit/>
          </a:bodyPr>
          <a:lstStyle/>
          <a:p>
            <a:pPr marL="228600" marR="0" lvl="0" indent="-228600" algn="l" rtl="0">
              <a:lnSpc>
                <a:spcPct val="90000"/>
              </a:lnSpc>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Mahatma Gandhi</a:t>
            </a:r>
            <a:endParaRPr/>
          </a:p>
          <a:p>
            <a:pPr marL="228600" marR="0" lvl="0" indent="-228600" algn="l" rtl="0">
              <a:lnSpc>
                <a:spcPct val="90000"/>
              </a:lnSpc>
              <a:spcBef>
                <a:spcPts val="10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2.5 x 35 mm copper nail</a:t>
            </a:r>
            <a:endParaRPr/>
          </a:p>
          <a:p>
            <a:pPr marL="228600" marR="0" lvl="0" indent="-228600" algn="l" rtl="0">
              <a:lnSpc>
                <a:spcPct val="90000"/>
              </a:lnSpc>
              <a:spcBef>
                <a:spcPts val="10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nail</a:t>
            </a:r>
            <a:endParaRPr/>
          </a:p>
          <a:p>
            <a:pPr marL="228600" marR="0" lvl="0" indent="-228600" algn="l" rtl="0">
              <a:lnSpc>
                <a:spcPct val="90000"/>
              </a:lnSpc>
              <a:spcBef>
                <a:spcPts val="10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my previous contract</a:t>
            </a:r>
            <a:endParaRPr/>
          </a:p>
          <a:p>
            <a:pPr marL="228600" marR="0" lvl="0" indent="-228600" algn="l" rtl="0">
              <a:lnSpc>
                <a:spcPct val="90000"/>
              </a:lnSpc>
              <a:spcBef>
                <a:spcPts val="10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violinist</a:t>
            </a:r>
            <a:endParaRPr/>
          </a:p>
          <a:p>
            <a:pPr marL="228600" marR="0" lvl="0" indent="-228600" algn="l" rtl="0">
              <a:lnSpc>
                <a:spcPct val="90000"/>
              </a:lnSpc>
              <a:spcBef>
                <a:spcPts val="10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fluent</a:t>
            </a:r>
            <a:endParaRPr/>
          </a:p>
          <a:p>
            <a:pPr marL="228600" marR="0" lvl="0" indent="-228600" algn="l" rtl="0">
              <a:lnSpc>
                <a:spcPct val="90000"/>
              </a:lnSpc>
              <a:spcBef>
                <a:spcPts val="10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tonight: Hamlet in the Royal</a:t>
            </a:r>
            <a:endParaRPr/>
          </a:p>
          <a:p>
            <a:pPr marL="228600" marR="0" lvl="0" indent="-228600" algn="l" rtl="0">
              <a:lnSpc>
                <a:spcPct val="90000"/>
              </a:lnSpc>
              <a:spcBef>
                <a:spcPts val="10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the CD I bought yesterday</a:t>
            </a:r>
            <a:endParaRPr/>
          </a:p>
          <a:p>
            <a:pPr marL="228600" marR="0" lvl="0" indent="-228600" algn="l" rtl="0">
              <a:lnSpc>
                <a:spcPct val="90000"/>
              </a:lnSpc>
              <a:spcBef>
                <a:spcPts val="10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for parliament next fall</a:t>
            </a:r>
            <a:endParaRPr/>
          </a:p>
          <a:p>
            <a:pPr marL="228600" marR="0" lvl="0" indent="-228600" algn="l" rtl="0">
              <a:lnSpc>
                <a:spcPct val="90000"/>
              </a:lnSpc>
              <a:spcBef>
                <a:spcPts val="10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a:t>
            </a:r>
            <a:endParaRPr/>
          </a:p>
        </p:txBody>
      </p:sp>
      <p:sp>
        <p:nvSpPr>
          <p:cNvPr id="279" name="Google Shape;279;p9"/>
          <p:cNvSpPr txBox="1"/>
          <p:nvPr/>
        </p:nvSpPr>
        <p:spPr>
          <a:xfrm>
            <a:off x="1496290" y="1290637"/>
            <a:ext cx="1083951"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CC"/>
              </a:buClr>
              <a:buSzPts val="2400"/>
              <a:buFont typeface="Arial"/>
              <a:buNone/>
            </a:pPr>
            <a:r>
              <a:rPr lang="en-US" sz="2400" b="1">
                <a:solidFill>
                  <a:srgbClr val="0000CC"/>
                </a:solidFill>
                <a:latin typeface="Calibri"/>
                <a:ea typeface="Calibri"/>
                <a:cs typeface="Calibri"/>
                <a:sym typeface="Calibri"/>
              </a:rPr>
              <a:t>ENTITY</a:t>
            </a:r>
            <a:endParaRPr/>
          </a:p>
        </p:txBody>
      </p:sp>
      <p:sp>
        <p:nvSpPr>
          <p:cNvPr id="280" name="Google Shape;280;p9"/>
          <p:cNvSpPr txBox="1"/>
          <p:nvPr/>
        </p:nvSpPr>
        <p:spPr>
          <a:xfrm>
            <a:off x="5384800" y="1290637"/>
            <a:ext cx="158434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CC"/>
              </a:buClr>
              <a:buSzPts val="2400"/>
              <a:buFont typeface="Arial"/>
              <a:buNone/>
            </a:pPr>
            <a:r>
              <a:rPr lang="en-US" sz="2400" b="1">
                <a:solidFill>
                  <a:srgbClr val="0000CC"/>
                </a:solidFill>
                <a:latin typeface="Calibri"/>
                <a:ea typeface="Calibri"/>
                <a:cs typeface="Calibri"/>
                <a:sym typeface="Calibri"/>
              </a:rPr>
              <a:t>INSTANCES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1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Examples of Entity Types</a:t>
            </a:r>
            <a:endParaRPr/>
          </a:p>
        </p:txBody>
      </p:sp>
      <p:sp>
        <p:nvSpPr>
          <p:cNvPr id="286" name="Google Shape;286;p10"/>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Something that exists physically or conceptually </a:t>
            </a:r>
            <a:endParaRPr/>
          </a:p>
          <a:p>
            <a:pPr marL="228600" lvl="0" indent="-50800" algn="l" rtl="0">
              <a:lnSpc>
                <a:spcPct val="90000"/>
              </a:lnSpc>
              <a:spcBef>
                <a:spcPts val="1000"/>
              </a:spcBef>
              <a:spcAft>
                <a:spcPts val="0"/>
              </a:spcAft>
              <a:buClr>
                <a:schemeClr val="dk1"/>
              </a:buClr>
              <a:buSzPts val="2800"/>
              <a:buNone/>
            </a:pPr>
            <a:endParaRPr/>
          </a:p>
        </p:txBody>
      </p:sp>
      <p:sp>
        <p:nvSpPr>
          <p:cNvPr id="287" name="Google Shape;287;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pic>
        <p:nvPicPr>
          <p:cNvPr id="288" name="Google Shape;288;p10"/>
          <p:cNvPicPr preferRelativeResize="0"/>
          <p:nvPr/>
        </p:nvPicPr>
        <p:blipFill rotWithShape="1">
          <a:blip r:embed="rId3">
            <a:alphaModFix/>
          </a:blip>
          <a:srcRect/>
          <a:stretch/>
        </p:blipFill>
        <p:spPr>
          <a:xfrm>
            <a:off x="2366963" y="2266692"/>
            <a:ext cx="4210638" cy="369621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1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Entities and Sets</a:t>
            </a:r>
            <a:endParaRPr/>
          </a:p>
        </p:txBody>
      </p:sp>
      <p:sp>
        <p:nvSpPr>
          <p:cNvPr id="294" name="Google Shape;294;p1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An entity represents a set of instances that are of  interest to a particular business.</a:t>
            </a:r>
            <a:endParaRPr/>
          </a:p>
          <a:p>
            <a:pPr marL="228600" lvl="0" indent="-50800" algn="l" rtl="0">
              <a:lnSpc>
                <a:spcPct val="90000"/>
              </a:lnSpc>
              <a:spcBef>
                <a:spcPts val="1000"/>
              </a:spcBef>
              <a:spcAft>
                <a:spcPts val="0"/>
              </a:spcAft>
              <a:buClr>
                <a:schemeClr val="dk1"/>
              </a:buClr>
              <a:buSzPts val="2800"/>
              <a:buNone/>
            </a:pPr>
            <a:endParaRPr/>
          </a:p>
        </p:txBody>
      </p:sp>
      <p:sp>
        <p:nvSpPr>
          <p:cNvPr id="295" name="Google Shape;295;p1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296" name="Google Shape;296;p11"/>
          <p:cNvSpPr/>
          <p:nvPr/>
        </p:nvSpPr>
        <p:spPr>
          <a:xfrm>
            <a:off x="577273" y="3359150"/>
            <a:ext cx="1060450" cy="523875"/>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rgbClr val="7030A0"/>
              </a:buClr>
              <a:buSzPts val="2800"/>
              <a:buFont typeface="Arial"/>
              <a:buNone/>
            </a:pPr>
            <a:r>
              <a:rPr lang="en-US" sz="2800" b="1">
                <a:solidFill>
                  <a:srgbClr val="7030A0"/>
                </a:solidFill>
                <a:latin typeface="Calibri"/>
                <a:ea typeface="Calibri"/>
                <a:cs typeface="Calibri"/>
                <a:sym typeface="Calibri"/>
              </a:rPr>
              <a:t>JOB</a:t>
            </a:r>
            <a:endParaRPr/>
          </a:p>
        </p:txBody>
      </p:sp>
      <p:grpSp>
        <p:nvGrpSpPr>
          <p:cNvPr id="297" name="Google Shape;297;p11"/>
          <p:cNvGrpSpPr/>
          <p:nvPr/>
        </p:nvGrpSpPr>
        <p:grpSpPr>
          <a:xfrm>
            <a:off x="1796473" y="2978150"/>
            <a:ext cx="5260975" cy="2533650"/>
            <a:chOff x="2232" y="2064"/>
            <a:chExt cx="3314" cy="1596"/>
          </a:xfrm>
        </p:grpSpPr>
        <p:sp>
          <p:nvSpPr>
            <p:cNvPr id="298" name="Google Shape;298;p11"/>
            <p:cNvSpPr/>
            <p:nvPr/>
          </p:nvSpPr>
          <p:spPr>
            <a:xfrm>
              <a:off x="2232" y="2064"/>
              <a:ext cx="2892" cy="1596"/>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lt1"/>
                </a:solidFill>
                <a:latin typeface="Calibri"/>
                <a:ea typeface="Calibri"/>
                <a:cs typeface="Calibri"/>
                <a:sym typeface="Calibri"/>
              </a:endParaRPr>
            </a:p>
          </p:txBody>
        </p:sp>
        <p:sp>
          <p:nvSpPr>
            <p:cNvPr id="299" name="Google Shape;299;p11"/>
            <p:cNvSpPr/>
            <p:nvPr/>
          </p:nvSpPr>
          <p:spPr>
            <a:xfrm>
              <a:off x="4136" y="2657"/>
              <a:ext cx="1410" cy="231"/>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lt1"/>
                </a:buClr>
                <a:buSzPts val="1800"/>
                <a:buFont typeface="Arial"/>
                <a:buNone/>
              </a:pPr>
              <a:r>
                <a:rPr lang="en-US" sz="1800" b="1">
                  <a:solidFill>
                    <a:schemeClr val="lt1"/>
                  </a:solidFill>
                  <a:latin typeface="Calibri"/>
                  <a:ea typeface="Calibri"/>
                  <a:cs typeface="Calibri"/>
                  <a:sym typeface="Calibri"/>
                </a:rPr>
                <a:t>dish washer</a:t>
              </a:r>
              <a:endParaRPr/>
            </a:p>
          </p:txBody>
        </p:sp>
        <p:sp>
          <p:nvSpPr>
            <p:cNvPr id="300" name="Google Shape;300;p11"/>
            <p:cNvSpPr/>
            <p:nvPr/>
          </p:nvSpPr>
          <p:spPr>
            <a:xfrm rot="660000">
              <a:off x="2732" y="3067"/>
              <a:ext cx="152" cy="182"/>
            </a:xfrm>
            <a:prstGeom prst="star5">
              <a:avLst>
                <a:gd name="adj" fmla="val 19098"/>
                <a:gd name="hf" fmla="val 105146"/>
                <a:gd name="vf" fmla="val 110557"/>
              </a:avLst>
            </a:prstGeom>
            <a:solidFill>
              <a:srgbClr val="0000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1" name="Google Shape;301;p11"/>
            <p:cNvSpPr/>
            <p:nvPr/>
          </p:nvSpPr>
          <p:spPr>
            <a:xfrm>
              <a:off x="2851" y="3101"/>
              <a:ext cx="1009" cy="231"/>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lt1"/>
                </a:buClr>
                <a:buSzPts val="1800"/>
                <a:buFont typeface="Arial"/>
                <a:buNone/>
              </a:pPr>
              <a:r>
                <a:rPr lang="en-US" sz="1800" b="1">
                  <a:solidFill>
                    <a:schemeClr val="lt1"/>
                  </a:solidFill>
                  <a:latin typeface="Calibri"/>
                  <a:ea typeface="Calibri"/>
                  <a:cs typeface="Calibri"/>
                  <a:sym typeface="Calibri"/>
                </a:rPr>
                <a:t>waiter</a:t>
              </a:r>
              <a:endParaRPr/>
            </a:p>
          </p:txBody>
        </p:sp>
        <p:sp>
          <p:nvSpPr>
            <p:cNvPr id="302" name="Google Shape;302;p11"/>
            <p:cNvSpPr/>
            <p:nvPr/>
          </p:nvSpPr>
          <p:spPr>
            <a:xfrm>
              <a:off x="4007" y="2360"/>
              <a:ext cx="577" cy="233"/>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lt1"/>
                </a:buClr>
                <a:buSzPts val="1800"/>
                <a:buFont typeface="Arial"/>
                <a:buNone/>
              </a:pPr>
              <a:r>
                <a:rPr lang="en-US" sz="1800" b="1">
                  <a:solidFill>
                    <a:schemeClr val="lt1"/>
                  </a:solidFill>
                  <a:latin typeface="Calibri"/>
                  <a:ea typeface="Calibri"/>
                  <a:cs typeface="Calibri"/>
                  <a:sym typeface="Calibri"/>
                </a:rPr>
                <a:t>cook</a:t>
              </a:r>
              <a:endParaRPr/>
            </a:p>
          </p:txBody>
        </p:sp>
        <p:sp>
          <p:nvSpPr>
            <p:cNvPr id="303" name="Google Shape;303;p11"/>
            <p:cNvSpPr/>
            <p:nvPr/>
          </p:nvSpPr>
          <p:spPr>
            <a:xfrm rot="1260000">
              <a:off x="2565" y="2474"/>
              <a:ext cx="152" cy="183"/>
            </a:xfrm>
            <a:prstGeom prst="star5">
              <a:avLst>
                <a:gd name="adj" fmla="val 19098"/>
                <a:gd name="hf" fmla="val 105146"/>
                <a:gd name="vf" fmla="val 110557"/>
              </a:avLst>
            </a:prstGeom>
            <a:solidFill>
              <a:srgbClr val="0000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4" name="Google Shape;304;p11"/>
            <p:cNvSpPr/>
            <p:nvPr/>
          </p:nvSpPr>
          <p:spPr>
            <a:xfrm>
              <a:off x="2716" y="2500"/>
              <a:ext cx="1016" cy="231"/>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lt1"/>
                </a:buClr>
                <a:buSzPts val="1800"/>
                <a:buFont typeface="Arial"/>
                <a:buNone/>
              </a:pPr>
              <a:r>
                <a:rPr lang="en-US" sz="1800" b="1">
                  <a:solidFill>
                    <a:schemeClr val="lt1"/>
                  </a:solidFill>
                  <a:latin typeface="Calibri"/>
                  <a:ea typeface="Calibri"/>
                  <a:cs typeface="Calibri"/>
                  <a:sym typeface="Calibri"/>
                </a:rPr>
                <a:t>waitress</a:t>
              </a:r>
              <a:endParaRPr/>
            </a:p>
          </p:txBody>
        </p:sp>
        <p:sp>
          <p:nvSpPr>
            <p:cNvPr id="305" name="Google Shape;305;p11"/>
            <p:cNvSpPr/>
            <p:nvPr/>
          </p:nvSpPr>
          <p:spPr>
            <a:xfrm rot="-780000">
              <a:off x="3954" y="2604"/>
              <a:ext cx="211" cy="183"/>
            </a:xfrm>
            <a:prstGeom prst="star5">
              <a:avLst>
                <a:gd name="adj" fmla="val 19098"/>
                <a:gd name="hf" fmla="val 105146"/>
                <a:gd name="vf" fmla="val 110557"/>
              </a:avLst>
            </a:prstGeom>
            <a:solidFill>
              <a:srgbClr val="0000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6" name="Google Shape;306;p11"/>
            <p:cNvSpPr/>
            <p:nvPr/>
          </p:nvSpPr>
          <p:spPr>
            <a:xfrm>
              <a:off x="3320" y="2144"/>
              <a:ext cx="1016" cy="231"/>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lt1"/>
                </a:buClr>
                <a:buSzPts val="1800"/>
                <a:buFont typeface="Arial"/>
                <a:buNone/>
              </a:pPr>
              <a:r>
                <a:rPr lang="en-US" sz="1800" b="1">
                  <a:solidFill>
                    <a:schemeClr val="lt1"/>
                  </a:solidFill>
                  <a:latin typeface="Calibri"/>
                  <a:ea typeface="Calibri"/>
                  <a:cs typeface="Calibri"/>
                  <a:sym typeface="Calibri"/>
                </a:rPr>
                <a:t>manager</a:t>
              </a:r>
              <a:endParaRPr/>
            </a:p>
          </p:txBody>
        </p:sp>
        <p:sp>
          <p:nvSpPr>
            <p:cNvPr id="307" name="Google Shape;307;p11"/>
            <p:cNvSpPr/>
            <p:nvPr/>
          </p:nvSpPr>
          <p:spPr>
            <a:xfrm>
              <a:off x="2478" y="2805"/>
              <a:ext cx="1833" cy="231"/>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lt1"/>
                </a:buClr>
                <a:buSzPts val="1800"/>
                <a:buFont typeface="Arial"/>
                <a:buNone/>
              </a:pPr>
              <a:r>
                <a:rPr lang="en-US" sz="1800" b="1">
                  <a:solidFill>
                    <a:schemeClr val="lt1"/>
                  </a:solidFill>
                  <a:latin typeface="Calibri"/>
                  <a:ea typeface="Calibri"/>
                  <a:cs typeface="Calibri"/>
                  <a:sym typeface="Calibri"/>
                </a:rPr>
                <a:t>financial controller</a:t>
              </a:r>
              <a:endParaRPr/>
            </a:p>
          </p:txBody>
        </p:sp>
        <p:sp>
          <p:nvSpPr>
            <p:cNvPr id="308" name="Google Shape;308;p11"/>
            <p:cNvSpPr/>
            <p:nvPr/>
          </p:nvSpPr>
          <p:spPr>
            <a:xfrm rot="1920000">
              <a:off x="4101" y="2995"/>
              <a:ext cx="153" cy="182"/>
            </a:xfrm>
            <a:prstGeom prst="star5">
              <a:avLst>
                <a:gd name="adj" fmla="val 19098"/>
                <a:gd name="hf" fmla="val 105146"/>
                <a:gd name="vf" fmla="val 110557"/>
              </a:avLst>
            </a:prstGeom>
            <a:solidFill>
              <a:srgbClr val="0000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9" name="Google Shape;309;p11"/>
            <p:cNvSpPr/>
            <p:nvPr/>
          </p:nvSpPr>
          <p:spPr>
            <a:xfrm>
              <a:off x="4222" y="3017"/>
              <a:ext cx="712" cy="231"/>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lt1"/>
                </a:buClr>
                <a:buSzPts val="1800"/>
                <a:buFont typeface="Arial"/>
                <a:buNone/>
              </a:pPr>
              <a:r>
                <a:rPr lang="en-US" sz="1800" b="1">
                  <a:solidFill>
                    <a:schemeClr val="lt1"/>
                  </a:solidFill>
                  <a:latin typeface="Calibri"/>
                  <a:ea typeface="Calibri"/>
                  <a:cs typeface="Calibri"/>
                  <a:sym typeface="Calibri"/>
                </a:rPr>
                <a:t>porter</a:t>
              </a:r>
              <a:endParaRPr/>
            </a:p>
          </p:txBody>
        </p:sp>
        <p:sp>
          <p:nvSpPr>
            <p:cNvPr id="310" name="Google Shape;310;p11"/>
            <p:cNvSpPr/>
            <p:nvPr/>
          </p:nvSpPr>
          <p:spPr>
            <a:xfrm>
              <a:off x="3528" y="3120"/>
              <a:ext cx="720" cy="408"/>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lt1"/>
                </a:buClr>
                <a:buSzPts val="1800"/>
                <a:buFont typeface="Arial"/>
                <a:buNone/>
              </a:pPr>
              <a:r>
                <a:rPr lang="en-US" sz="1800" b="1">
                  <a:solidFill>
                    <a:schemeClr val="lt1"/>
                  </a:solidFill>
                  <a:latin typeface="Calibri"/>
                  <a:ea typeface="Calibri"/>
                  <a:cs typeface="Calibri"/>
                  <a:sym typeface="Calibri"/>
                </a:rPr>
                <a:t>piano player</a:t>
              </a:r>
              <a:endParaRPr/>
            </a:p>
          </p:txBody>
        </p:sp>
        <p:sp>
          <p:nvSpPr>
            <p:cNvPr id="311" name="Google Shape;311;p11"/>
            <p:cNvSpPr/>
            <p:nvPr/>
          </p:nvSpPr>
          <p:spPr>
            <a:xfrm>
              <a:off x="3192" y="2167"/>
              <a:ext cx="152" cy="181"/>
            </a:xfrm>
            <a:prstGeom prst="star5">
              <a:avLst>
                <a:gd name="adj" fmla="val 19098"/>
                <a:gd name="hf" fmla="val 105146"/>
                <a:gd name="vf" fmla="val 110557"/>
              </a:avLst>
            </a:prstGeom>
            <a:solidFill>
              <a:srgbClr val="0000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2" name="Google Shape;312;p11"/>
            <p:cNvSpPr/>
            <p:nvPr/>
          </p:nvSpPr>
          <p:spPr>
            <a:xfrm>
              <a:off x="3891" y="2355"/>
              <a:ext cx="152" cy="182"/>
            </a:xfrm>
            <a:prstGeom prst="star5">
              <a:avLst>
                <a:gd name="adj" fmla="val 19098"/>
                <a:gd name="hf" fmla="val 105146"/>
                <a:gd name="vf" fmla="val 110557"/>
              </a:avLst>
            </a:prstGeom>
            <a:solidFill>
              <a:srgbClr val="0000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3" name="Google Shape;313;p11"/>
            <p:cNvSpPr/>
            <p:nvPr/>
          </p:nvSpPr>
          <p:spPr>
            <a:xfrm rot="180000">
              <a:off x="2346" y="2759"/>
              <a:ext cx="146" cy="165"/>
            </a:xfrm>
            <a:prstGeom prst="star5">
              <a:avLst>
                <a:gd name="adj" fmla="val 19098"/>
                <a:gd name="hf" fmla="val 105146"/>
                <a:gd name="vf" fmla="val 110557"/>
              </a:avLst>
            </a:prstGeom>
            <a:solidFill>
              <a:srgbClr val="0000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4" name="Google Shape;314;p11"/>
            <p:cNvSpPr/>
            <p:nvPr/>
          </p:nvSpPr>
          <p:spPr>
            <a:xfrm rot="720000">
              <a:off x="3354" y="3281"/>
              <a:ext cx="169" cy="182"/>
            </a:xfrm>
            <a:prstGeom prst="star5">
              <a:avLst>
                <a:gd name="adj" fmla="val 19098"/>
                <a:gd name="hf" fmla="val 105146"/>
                <a:gd name="vf" fmla="val 110557"/>
              </a:avLst>
            </a:prstGeom>
            <a:solidFill>
              <a:srgbClr val="0000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grpSp>
      <p:cxnSp>
        <p:nvCxnSpPr>
          <p:cNvPr id="315" name="Google Shape;315;p11"/>
          <p:cNvCxnSpPr/>
          <p:nvPr/>
        </p:nvCxnSpPr>
        <p:spPr>
          <a:xfrm rot="-5400000">
            <a:off x="651886" y="4121150"/>
            <a:ext cx="687388" cy="77787"/>
          </a:xfrm>
          <a:prstGeom prst="straightConnector1">
            <a:avLst/>
          </a:prstGeom>
          <a:noFill/>
          <a:ln w="9525" cap="flat" cmpd="sng">
            <a:solidFill>
              <a:schemeClr val="dk1"/>
            </a:solidFill>
            <a:prstDash val="solid"/>
            <a:miter lim="800000"/>
            <a:headEnd type="none" w="sm" len="sm"/>
            <a:tailEnd type="stealth" w="med" len="med"/>
          </a:ln>
        </p:spPr>
      </p:cxnSp>
      <p:sp>
        <p:nvSpPr>
          <p:cNvPr id="316" name="Google Shape;316;p11"/>
          <p:cNvSpPr txBox="1"/>
          <p:nvPr/>
        </p:nvSpPr>
        <p:spPr>
          <a:xfrm>
            <a:off x="424873" y="4578350"/>
            <a:ext cx="1053365"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C00000"/>
              </a:buClr>
              <a:buSzPts val="2800"/>
              <a:buFont typeface="Arial"/>
              <a:buNone/>
            </a:pPr>
            <a:r>
              <a:rPr lang="en-US" sz="2800" b="1" i="1">
                <a:solidFill>
                  <a:srgbClr val="C00000"/>
                </a:solidFill>
                <a:latin typeface="Calibri"/>
                <a:ea typeface="Calibri"/>
                <a:cs typeface="Calibri"/>
                <a:sym typeface="Calibri"/>
              </a:rPr>
              <a:t>entity</a:t>
            </a:r>
            <a:endParaRPr/>
          </a:p>
        </p:txBody>
      </p:sp>
      <p:sp>
        <p:nvSpPr>
          <p:cNvPr id="317" name="Google Shape;317;p11"/>
          <p:cNvSpPr txBox="1"/>
          <p:nvPr/>
        </p:nvSpPr>
        <p:spPr>
          <a:xfrm>
            <a:off x="6901873" y="2749550"/>
            <a:ext cx="2057400" cy="12001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C00000"/>
              </a:buClr>
              <a:buSzPts val="2400"/>
              <a:buFont typeface="Arial"/>
              <a:buNone/>
            </a:pPr>
            <a:r>
              <a:rPr lang="en-US" sz="2400" b="1" i="1">
                <a:solidFill>
                  <a:srgbClr val="C00000"/>
                </a:solidFill>
                <a:latin typeface="Calibri"/>
                <a:ea typeface="Calibri"/>
                <a:cs typeface="Calibri"/>
                <a:sym typeface="Calibri"/>
              </a:rPr>
              <a:t>Set of instances of entity JOB</a:t>
            </a:r>
            <a:endParaRPr/>
          </a:p>
        </p:txBody>
      </p:sp>
      <p:cxnSp>
        <p:nvCxnSpPr>
          <p:cNvPr id="318" name="Google Shape;318;p11"/>
          <p:cNvCxnSpPr/>
          <p:nvPr/>
        </p:nvCxnSpPr>
        <p:spPr>
          <a:xfrm flipH="1">
            <a:off x="6216073" y="3511550"/>
            <a:ext cx="762000" cy="228600"/>
          </a:xfrm>
          <a:prstGeom prst="straightConnector1">
            <a:avLst/>
          </a:prstGeom>
          <a:noFill/>
          <a:ln w="9525" cap="flat" cmpd="sng">
            <a:solidFill>
              <a:schemeClr val="dk1"/>
            </a:solidFill>
            <a:prstDash val="solid"/>
            <a:miter lim="800000"/>
            <a:headEnd type="none" w="sm" len="sm"/>
            <a:tailEnd type="stealth"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1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Entity Representation in Diagram</a:t>
            </a:r>
            <a:endParaRPr/>
          </a:p>
        </p:txBody>
      </p:sp>
      <p:sp>
        <p:nvSpPr>
          <p:cNvPr id="324" name="Google Shape;324;p12"/>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Drawn as a box</a:t>
            </a:r>
            <a:endParaRPr/>
          </a:p>
          <a:p>
            <a:pPr marL="228600" lvl="0" indent="-228600" algn="l" rtl="0">
              <a:lnSpc>
                <a:spcPct val="90000"/>
              </a:lnSpc>
              <a:spcBef>
                <a:spcPts val="1000"/>
              </a:spcBef>
              <a:spcAft>
                <a:spcPts val="0"/>
              </a:spcAft>
              <a:buClr>
                <a:schemeClr val="dk1"/>
              </a:buClr>
              <a:buSzPts val="2800"/>
              <a:buChar char="•"/>
            </a:pPr>
            <a:r>
              <a:rPr lang="en-US"/>
              <a:t>Name singular</a:t>
            </a:r>
            <a:endParaRPr/>
          </a:p>
          <a:p>
            <a:pPr marL="228600" lvl="0" indent="-228600" algn="l" rtl="0">
              <a:lnSpc>
                <a:spcPct val="90000"/>
              </a:lnSpc>
              <a:spcBef>
                <a:spcPts val="1000"/>
              </a:spcBef>
              <a:spcAft>
                <a:spcPts val="0"/>
              </a:spcAft>
              <a:buClr>
                <a:schemeClr val="dk1"/>
              </a:buClr>
              <a:buSzPts val="2800"/>
              <a:buChar char="•"/>
            </a:pPr>
            <a:r>
              <a:rPr lang="en-US"/>
              <a:t>Name inside</a:t>
            </a:r>
            <a:endParaRPr/>
          </a:p>
          <a:p>
            <a:pPr marL="228600" lvl="0" indent="-228600" algn="l" rtl="0">
              <a:lnSpc>
                <a:spcPct val="90000"/>
              </a:lnSpc>
              <a:spcBef>
                <a:spcPts val="1000"/>
              </a:spcBef>
              <a:spcAft>
                <a:spcPts val="0"/>
              </a:spcAft>
              <a:buClr>
                <a:schemeClr val="dk1"/>
              </a:buClr>
              <a:buSzPts val="2800"/>
              <a:buChar char="•"/>
            </a:pPr>
            <a:r>
              <a:rPr lang="en-US"/>
              <a:t>Neither size, </a:t>
            </a:r>
            <a:br>
              <a:rPr lang="en-US"/>
            </a:br>
            <a:r>
              <a:rPr lang="en-US"/>
              <a:t>nor position </a:t>
            </a:r>
            <a:br>
              <a:rPr lang="en-US"/>
            </a:br>
            <a:r>
              <a:rPr lang="en-US"/>
              <a:t>has a special </a:t>
            </a:r>
            <a:br>
              <a:rPr lang="en-US"/>
            </a:br>
            <a:r>
              <a:rPr lang="en-US"/>
              <a:t>meaning</a:t>
            </a:r>
            <a:endParaRPr/>
          </a:p>
          <a:p>
            <a:pPr marL="228600" lvl="0" indent="-50800" algn="l" rtl="0">
              <a:lnSpc>
                <a:spcPct val="90000"/>
              </a:lnSpc>
              <a:spcBef>
                <a:spcPts val="1000"/>
              </a:spcBef>
              <a:spcAft>
                <a:spcPts val="0"/>
              </a:spcAft>
              <a:buClr>
                <a:schemeClr val="dk1"/>
              </a:buClr>
              <a:buSzPts val="2800"/>
              <a:buNone/>
            </a:pPr>
            <a:endParaRPr/>
          </a:p>
        </p:txBody>
      </p:sp>
      <p:sp>
        <p:nvSpPr>
          <p:cNvPr id="325" name="Google Shape;325;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326" name="Google Shape;326;p12"/>
          <p:cNvSpPr/>
          <p:nvPr/>
        </p:nvSpPr>
        <p:spPr>
          <a:xfrm>
            <a:off x="1295400" y="5181600"/>
            <a:ext cx="6992938" cy="501650"/>
          </a:xfrm>
          <a:prstGeom prst="rect">
            <a:avLst/>
          </a:prstGeom>
          <a:noFill/>
          <a:ln>
            <a:noFill/>
          </a:ln>
        </p:spPr>
        <p:txBody>
          <a:bodyPr spcFirstLastPara="1" wrap="square" lIns="92075" tIns="46025" rIns="92075" bIns="46025" anchor="t" anchorCtr="0">
            <a:spAutoFit/>
          </a:bodyPr>
          <a:lstStyle/>
          <a:p>
            <a:pPr marL="405130" marR="0" lvl="0" indent="-405130" algn="l" rtl="0">
              <a:lnSpc>
                <a:spcPct val="95000"/>
              </a:lnSpc>
              <a:spcBef>
                <a:spcPts val="0"/>
              </a:spcBef>
              <a:spcAft>
                <a:spcPts val="0"/>
              </a:spcAft>
              <a:buClr>
                <a:srgbClr val="FF0000"/>
              </a:buClr>
              <a:buSzPts val="2800"/>
              <a:buFont typeface="Arial"/>
              <a:buNone/>
            </a:pPr>
            <a:r>
              <a:rPr lang="en-US" sz="2800" b="1" i="1">
                <a:solidFill>
                  <a:srgbClr val="FF0000"/>
                </a:solidFill>
                <a:latin typeface="Calibri"/>
                <a:ea typeface="Calibri"/>
                <a:cs typeface="Calibri"/>
                <a:sym typeface="Calibri"/>
              </a:rPr>
              <a:t>During design, entities usually lead to tables.</a:t>
            </a:r>
            <a:endParaRPr/>
          </a:p>
        </p:txBody>
      </p:sp>
      <p:grpSp>
        <p:nvGrpSpPr>
          <p:cNvPr id="327" name="Google Shape;327;p12"/>
          <p:cNvGrpSpPr/>
          <p:nvPr/>
        </p:nvGrpSpPr>
        <p:grpSpPr>
          <a:xfrm>
            <a:off x="3525982" y="1388196"/>
            <a:ext cx="4892220" cy="3244273"/>
            <a:chOff x="2366" y="1483"/>
            <a:chExt cx="2559" cy="1697"/>
          </a:xfrm>
        </p:grpSpPr>
        <p:sp>
          <p:nvSpPr>
            <p:cNvPr id="328" name="Google Shape;328;p12"/>
            <p:cNvSpPr/>
            <p:nvPr/>
          </p:nvSpPr>
          <p:spPr>
            <a:xfrm>
              <a:off x="4301" y="1483"/>
              <a:ext cx="624" cy="1324"/>
            </a:xfrm>
            <a:prstGeom prst="rect">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p:txBody>
        </p:sp>
        <p:sp>
          <p:nvSpPr>
            <p:cNvPr id="329" name="Google Shape;329;p12"/>
            <p:cNvSpPr/>
            <p:nvPr/>
          </p:nvSpPr>
          <p:spPr>
            <a:xfrm>
              <a:off x="2403" y="2879"/>
              <a:ext cx="2512" cy="301"/>
            </a:xfrm>
            <a:prstGeom prst="rect">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p:txBody>
        </p:sp>
        <p:sp>
          <p:nvSpPr>
            <p:cNvPr id="330" name="Google Shape;330;p12"/>
            <p:cNvSpPr/>
            <p:nvPr/>
          </p:nvSpPr>
          <p:spPr>
            <a:xfrm>
              <a:off x="2886" y="1524"/>
              <a:ext cx="1208" cy="482"/>
            </a:xfrm>
            <a:prstGeom prst="rect">
              <a:avLst/>
            </a:prstGeom>
            <a:noFill/>
            <a:ln w="28575" cap="flat" cmpd="sng">
              <a:solidFill>
                <a:schemeClr val="dk1"/>
              </a:solidFill>
              <a:prstDash val="solid"/>
              <a:miter lim="800000"/>
              <a:headEnd type="none" w="sm" len="sm"/>
              <a:tailEnd type="none" w="sm" len="sm"/>
            </a:ln>
          </p:spPr>
          <p:txBody>
            <a:bodyPr spcFirstLastPara="1" wrap="square" lIns="92075" tIns="46025" rIns="92075" bIns="46025" anchor="ctr" anchorCtr="0">
              <a:noAutofit/>
            </a:bodyPr>
            <a:lstStyle/>
            <a:p>
              <a:pPr marL="0" marR="0" lvl="0" indent="0" algn="ctr"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EMPLOYEE</a:t>
              </a:r>
              <a:endParaRPr/>
            </a:p>
          </p:txBody>
        </p:sp>
        <p:sp>
          <p:nvSpPr>
            <p:cNvPr id="331" name="Google Shape;331;p12"/>
            <p:cNvSpPr/>
            <p:nvPr/>
          </p:nvSpPr>
          <p:spPr>
            <a:xfrm>
              <a:off x="3095" y="2322"/>
              <a:ext cx="1100" cy="474"/>
            </a:xfrm>
            <a:prstGeom prst="rect">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p:txBody>
        </p:sp>
        <p:sp>
          <p:nvSpPr>
            <p:cNvPr id="332" name="Google Shape;332;p12"/>
            <p:cNvSpPr/>
            <p:nvPr/>
          </p:nvSpPr>
          <p:spPr>
            <a:xfrm>
              <a:off x="3073" y="2325"/>
              <a:ext cx="1280" cy="495"/>
            </a:xfrm>
            <a:prstGeom prst="rect">
              <a:avLst/>
            </a:prstGeom>
            <a:noFill/>
            <a:ln>
              <a:noFill/>
            </a:ln>
          </p:spPr>
          <p:txBody>
            <a:bodyPr spcFirstLastPara="1" wrap="square" lIns="92075" tIns="46025" rIns="92075" bIns="46025" anchor="ctr" anchorCtr="0">
              <a:noAutofit/>
            </a:bodyPr>
            <a:lstStyle/>
            <a:p>
              <a:pPr marL="0" marR="0" lvl="0" indent="0" algn="ctr" rtl="0">
                <a:lnSpc>
                  <a:spcPct val="40000"/>
                </a:lnSpc>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TICKET</a:t>
              </a:r>
              <a:endParaRPr/>
            </a:p>
            <a:p>
              <a:pPr marL="0" marR="0" lvl="0" indent="0" algn="ctr" rtl="0">
                <a:lnSpc>
                  <a:spcPct val="40000"/>
                </a:lnSpc>
                <a:spcBef>
                  <a:spcPts val="90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RESERVATION</a:t>
              </a:r>
              <a:endParaRPr/>
            </a:p>
          </p:txBody>
        </p:sp>
        <p:sp>
          <p:nvSpPr>
            <p:cNvPr id="333" name="Google Shape;333;p12"/>
            <p:cNvSpPr/>
            <p:nvPr/>
          </p:nvSpPr>
          <p:spPr>
            <a:xfrm>
              <a:off x="2412" y="2888"/>
              <a:ext cx="2498" cy="265"/>
            </a:xfrm>
            <a:prstGeom prst="rect">
              <a:avLst/>
            </a:prstGeom>
            <a:noFill/>
            <a:ln>
              <a:noFill/>
            </a:ln>
          </p:spPr>
          <p:txBody>
            <a:bodyPr spcFirstLastPara="1" wrap="square" lIns="92075" tIns="46025" rIns="92075" bIns="46025" anchor="ctr" anchorCtr="0">
              <a:noAutofit/>
            </a:bodyPr>
            <a:lstStyle/>
            <a:p>
              <a:pPr marL="0" marR="0" lvl="0" indent="0" algn="ctr"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JOB ASSIGNMENT</a:t>
              </a:r>
              <a:endParaRPr/>
            </a:p>
          </p:txBody>
        </p:sp>
        <p:sp>
          <p:nvSpPr>
            <p:cNvPr id="334" name="Google Shape;334;p12"/>
            <p:cNvSpPr/>
            <p:nvPr/>
          </p:nvSpPr>
          <p:spPr>
            <a:xfrm>
              <a:off x="4346" y="1548"/>
              <a:ext cx="500" cy="288"/>
            </a:xfrm>
            <a:prstGeom prst="rect">
              <a:avLst/>
            </a:prstGeom>
            <a:noFill/>
            <a:ln>
              <a:noFill/>
            </a:ln>
          </p:spPr>
          <p:txBody>
            <a:bodyPr spcFirstLastPara="1" wrap="square" lIns="92075" tIns="46025" rIns="92075" bIns="46025" anchor="ctr" anchorCtr="0">
              <a:noAutofit/>
            </a:bodyPr>
            <a:lstStyle/>
            <a:p>
              <a:pPr marL="0" marR="0" lvl="0" indent="0" algn="ctr"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JOB</a:t>
              </a:r>
              <a:endParaRPr/>
            </a:p>
          </p:txBody>
        </p:sp>
        <p:sp>
          <p:nvSpPr>
            <p:cNvPr id="335" name="Google Shape;335;p12"/>
            <p:cNvSpPr/>
            <p:nvPr/>
          </p:nvSpPr>
          <p:spPr>
            <a:xfrm>
              <a:off x="2366" y="2582"/>
              <a:ext cx="672" cy="240"/>
            </a:xfrm>
            <a:prstGeom prst="rect">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p:txBody>
        </p:sp>
        <p:sp>
          <p:nvSpPr>
            <p:cNvPr id="336" name="Google Shape;336;p12"/>
            <p:cNvSpPr/>
            <p:nvPr/>
          </p:nvSpPr>
          <p:spPr>
            <a:xfrm>
              <a:off x="2366" y="2571"/>
              <a:ext cx="672" cy="265"/>
            </a:xfrm>
            <a:prstGeom prst="rect">
              <a:avLst/>
            </a:prstGeom>
            <a:noFill/>
            <a:ln>
              <a:noFill/>
            </a:ln>
          </p:spPr>
          <p:txBody>
            <a:bodyPr spcFirstLastPara="1" wrap="square" lIns="92075" tIns="46025" rIns="92075" bIns="46025" anchor="ctr" anchorCtr="0">
              <a:no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ORDER</a:t>
              </a:r>
              <a:endParaRPr/>
            </a:p>
          </p:txBody>
        </p:sp>
        <p:sp>
          <p:nvSpPr>
            <p:cNvPr id="337" name="Google Shape;337;p12"/>
            <p:cNvSpPr/>
            <p:nvPr/>
          </p:nvSpPr>
          <p:spPr>
            <a:xfrm rot="-5400000">
              <a:off x="2118" y="1774"/>
              <a:ext cx="945" cy="448"/>
            </a:xfrm>
            <a:prstGeom prst="rect">
              <a:avLst/>
            </a:prstGeom>
            <a:noFill/>
            <a:ln w="28575" cap="flat" cmpd="sng">
              <a:solidFill>
                <a:schemeClr val="dk1"/>
              </a:solidFill>
              <a:prstDash val="solid"/>
              <a:miter lim="800000"/>
              <a:headEnd type="none" w="sm" len="sm"/>
              <a:tailEnd type="none" w="sm" len="sm"/>
            </a:ln>
          </p:spPr>
          <p:txBody>
            <a:bodyPr spcFirstLastPara="1" wrap="square" lIns="92075" tIns="46025" rIns="92075" bIns="46025" anchor="ctr" anchorCtr="0">
              <a:no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ELECTION</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1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Remarks on creating Entities</a:t>
            </a:r>
            <a:endParaRPr/>
          </a:p>
        </p:txBody>
      </p:sp>
      <p:sp>
        <p:nvSpPr>
          <p:cNvPr id="343" name="Google Shape;343;p13"/>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Give the entity a unique name</a:t>
            </a:r>
            <a:endParaRPr/>
          </a:p>
          <a:p>
            <a:pPr marL="228600" lvl="0" indent="-228600" algn="l" rtl="0">
              <a:lnSpc>
                <a:spcPct val="90000"/>
              </a:lnSpc>
              <a:spcBef>
                <a:spcPts val="1000"/>
              </a:spcBef>
              <a:spcAft>
                <a:spcPts val="0"/>
              </a:spcAft>
              <a:buClr>
                <a:schemeClr val="dk1"/>
              </a:buClr>
              <a:buSzPts val="2800"/>
              <a:buChar char="•"/>
            </a:pPr>
            <a:r>
              <a:rPr lang="en-US"/>
              <a:t>Create a formal description of </a:t>
            </a:r>
            <a:br>
              <a:rPr lang="en-US"/>
            </a:br>
            <a:r>
              <a:rPr lang="en-US"/>
              <a:t>the entity</a:t>
            </a:r>
            <a:endParaRPr/>
          </a:p>
          <a:p>
            <a:pPr marL="228600" lvl="0" indent="-228600" algn="l" rtl="0">
              <a:lnSpc>
                <a:spcPct val="90000"/>
              </a:lnSpc>
              <a:spcBef>
                <a:spcPts val="1000"/>
              </a:spcBef>
              <a:spcAft>
                <a:spcPts val="0"/>
              </a:spcAft>
              <a:buClr>
                <a:schemeClr val="dk1"/>
              </a:buClr>
              <a:buSzPts val="2800"/>
              <a:buChar char="•"/>
            </a:pPr>
            <a:r>
              <a:rPr lang="en-US"/>
              <a:t>Add a few attributes, if possible</a:t>
            </a:r>
            <a:endParaRPr/>
          </a:p>
          <a:p>
            <a:pPr marL="228600" lvl="0" indent="-228600" algn="l" rtl="0">
              <a:lnSpc>
                <a:spcPct val="90000"/>
              </a:lnSpc>
              <a:spcBef>
                <a:spcPts val="1000"/>
              </a:spcBef>
              <a:spcAft>
                <a:spcPts val="0"/>
              </a:spcAft>
              <a:buClr>
                <a:schemeClr val="dk1"/>
              </a:buClr>
              <a:buSzPts val="2800"/>
              <a:buChar char="•"/>
            </a:pPr>
            <a:r>
              <a:rPr lang="en-US"/>
              <a:t>Be aware of homonyms (words with same pronunciation but different meaning)</a:t>
            </a:r>
            <a:endParaRPr/>
          </a:p>
          <a:p>
            <a:pPr marL="228600" lvl="0" indent="-228600" algn="l" rtl="0">
              <a:lnSpc>
                <a:spcPct val="90000"/>
              </a:lnSpc>
              <a:spcBef>
                <a:spcPts val="1000"/>
              </a:spcBef>
              <a:spcAft>
                <a:spcPts val="0"/>
              </a:spcAft>
              <a:buClr>
                <a:schemeClr val="dk1"/>
              </a:buClr>
              <a:buSzPts val="2800"/>
              <a:buChar char="•"/>
            </a:pPr>
            <a:r>
              <a:rPr lang="en-US"/>
              <a:t>Check entity names and descriptions regularly</a:t>
            </a:r>
            <a:endParaRPr/>
          </a:p>
          <a:p>
            <a:pPr marL="228600" lvl="0" indent="-228600" algn="l" rtl="0">
              <a:lnSpc>
                <a:spcPct val="90000"/>
              </a:lnSpc>
              <a:spcBef>
                <a:spcPts val="1000"/>
              </a:spcBef>
              <a:spcAft>
                <a:spcPts val="0"/>
              </a:spcAft>
              <a:buClr>
                <a:schemeClr val="dk1"/>
              </a:buClr>
              <a:buSzPts val="2800"/>
              <a:buChar char="•"/>
            </a:pPr>
            <a:r>
              <a:rPr lang="en-US"/>
              <a:t>Avoid use of reserved words</a:t>
            </a:r>
            <a:endParaRPr/>
          </a:p>
          <a:p>
            <a:pPr marL="228600" lvl="0" indent="-228600" algn="l" rtl="0">
              <a:lnSpc>
                <a:spcPct val="90000"/>
              </a:lnSpc>
              <a:spcBef>
                <a:spcPts val="1000"/>
              </a:spcBef>
              <a:spcAft>
                <a:spcPts val="0"/>
              </a:spcAft>
              <a:buClr>
                <a:schemeClr val="dk1"/>
              </a:buClr>
              <a:buSzPts val="2800"/>
              <a:buChar char="•"/>
            </a:pPr>
            <a:r>
              <a:rPr lang="en-US"/>
              <a:t>Remove relationship name from entity name</a:t>
            </a:r>
            <a:endParaRPr/>
          </a:p>
          <a:p>
            <a:pPr marL="228600" lvl="0" indent="-50800" algn="l" rtl="0">
              <a:lnSpc>
                <a:spcPct val="90000"/>
              </a:lnSpc>
              <a:spcBef>
                <a:spcPts val="1000"/>
              </a:spcBef>
              <a:spcAft>
                <a:spcPts val="0"/>
              </a:spcAft>
              <a:buClr>
                <a:schemeClr val="dk1"/>
              </a:buClr>
              <a:buSzPts val="2800"/>
              <a:buNone/>
            </a:pPr>
            <a:endParaRPr/>
          </a:p>
        </p:txBody>
      </p:sp>
      <p:sp>
        <p:nvSpPr>
          <p:cNvPr id="344" name="Google Shape;344;p1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345" name="Google Shape;345;p13"/>
          <p:cNvSpPr/>
          <p:nvPr/>
        </p:nvSpPr>
        <p:spPr>
          <a:xfrm>
            <a:off x="6005368" y="1825625"/>
            <a:ext cx="1314450" cy="1417638"/>
          </a:xfrm>
          <a:prstGeom prst="roundRect">
            <a:avLst>
              <a:gd name="adj" fmla="val 12495"/>
            </a:avLst>
          </a:prstGeom>
          <a:solidFill>
            <a:srgbClr val="FFCC66"/>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p:txBody>
      </p:sp>
      <p:cxnSp>
        <p:nvCxnSpPr>
          <p:cNvPr id="346" name="Google Shape;346;p13"/>
          <p:cNvCxnSpPr/>
          <p:nvPr/>
        </p:nvCxnSpPr>
        <p:spPr>
          <a:xfrm>
            <a:off x="6179993" y="2028825"/>
            <a:ext cx="739775" cy="0"/>
          </a:xfrm>
          <a:prstGeom prst="straightConnector1">
            <a:avLst/>
          </a:prstGeom>
          <a:noFill/>
          <a:ln w="127000" cap="flat" cmpd="sng">
            <a:solidFill>
              <a:srgbClr val="777777"/>
            </a:solidFill>
            <a:prstDash val="solid"/>
            <a:round/>
            <a:headEnd type="none" w="sm" len="sm"/>
            <a:tailEnd type="none" w="sm" len="sm"/>
          </a:ln>
        </p:spPr>
      </p:cxnSp>
      <p:grpSp>
        <p:nvGrpSpPr>
          <p:cNvPr id="347" name="Google Shape;347;p13"/>
          <p:cNvGrpSpPr/>
          <p:nvPr/>
        </p:nvGrpSpPr>
        <p:grpSpPr>
          <a:xfrm>
            <a:off x="7738918" y="1890713"/>
            <a:ext cx="923925" cy="1141412"/>
            <a:chOff x="4522" y="1608"/>
            <a:chExt cx="582" cy="719"/>
          </a:xfrm>
        </p:grpSpPr>
        <p:sp>
          <p:nvSpPr>
            <p:cNvPr id="348" name="Google Shape;348;p13"/>
            <p:cNvSpPr/>
            <p:nvPr/>
          </p:nvSpPr>
          <p:spPr>
            <a:xfrm>
              <a:off x="4522" y="1608"/>
              <a:ext cx="582" cy="719"/>
            </a:xfrm>
            <a:custGeom>
              <a:avLst/>
              <a:gdLst/>
              <a:ahLst/>
              <a:cxnLst/>
              <a:rect l="l" t="t" r="r" b="b"/>
              <a:pathLst>
                <a:path w="582" h="719" extrusionOk="0">
                  <a:moveTo>
                    <a:pt x="559" y="13"/>
                  </a:moveTo>
                  <a:lnTo>
                    <a:pt x="0" y="0"/>
                  </a:lnTo>
                  <a:lnTo>
                    <a:pt x="0" y="694"/>
                  </a:lnTo>
                  <a:lnTo>
                    <a:pt x="463" y="718"/>
                  </a:lnTo>
                  <a:lnTo>
                    <a:pt x="571" y="613"/>
                  </a:lnTo>
                  <a:lnTo>
                    <a:pt x="581" y="10"/>
                  </a:lnTo>
                </a:path>
              </a:pathLst>
            </a:custGeom>
            <a:solidFill>
              <a:schemeClr val="dk1"/>
            </a:solidFill>
            <a:ln w="12700" cap="rnd"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9" name="Google Shape;349;p13"/>
            <p:cNvSpPr/>
            <p:nvPr/>
          </p:nvSpPr>
          <p:spPr>
            <a:xfrm>
              <a:off x="4943" y="2192"/>
              <a:ext cx="152" cy="134"/>
            </a:xfrm>
            <a:custGeom>
              <a:avLst/>
              <a:gdLst/>
              <a:ahLst/>
              <a:cxnLst/>
              <a:rect l="l" t="t" r="r" b="b"/>
              <a:pathLst>
                <a:path w="152" h="134" extrusionOk="0">
                  <a:moveTo>
                    <a:pt x="0" y="133"/>
                  </a:moveTo>
                  <a:lnTo>
                    <a:pt x="10" y="133"/>
                  </a:lnTo>
                  <a:lnTo>
                    <a:pt x="17" y="133"/>
                  </a:lnTo>
                  <a:lnTo>
                    <a:pt x="25" y="133"/>
                  </a:lnTo>
                  <a:lnTo>
                    <a:pt x="33" y="130"/>
                  </a:lnTo>
                  <a:lnTo>
                    <a:pt x="40" y="130"/>
                  </a:lnTo>
                  <a:lnTo>
                    <a:pt x="48" y="128"/>
                  </a:lnTo>
                  <a:lnTo>
                    <a:pt x="56" y="125"/>
                  </a:lnTo>
                  <a:lnTo>
                    <a:pt x="63" y="123"/>
                  </a:lnTo>
                  <a:lnTo>
                    <a:pt x="71" y="123"/>
                  </a:lnTo>
                  <a:lnTo>
                    <a:pt x="79" y="121"/>
                  </a:lnTo>
                  <a:lnTo>
                    <a:pt x="87" y="116"/>
                  </a:lnTo>
                  <a:lnTo>
                    <a:pt x="94" y="114"/>
                  </a:lnTo>
                  <a:lnTo>
                    <a:pt x="102" y="109"/>
                  </a:lnTo>
                  <a:lnTo>
                    <a:pt x="110" y="104"/>
                  </a:lnTo>
                  <a:lnTo>
                    <a:pt x="115" y="97"/>
                  </a:lnTo>
                  <a:lnTo>
                    <a:pt x="122" y="92"/>
                  </a:lnTo>
                  <a:lnTo>
                    <a:pt x="127" y="85"/>
                  </a:lnTo>
                  <a:lnTo>
                    <a:pt x="130" y="78"/>
                  </a:lnTo>
                  <a:lnTo>
                    <a:pt x="135" y="71"/>
                  </a:lnTo>
                  <a:lnTo>
                    <a:pt x="138" y="64"/>
                  </a:lnTo>
                  <a:lnTo>
                    <a:pt x="140" y="57"/>
                  </a:lnTo>
                  <a:lnTo>
                    <a:pt x="143" y="49"/>
                  </a:lnTo>
                  <a:lnTo>
                    <a:pt x="145" y="42"/>
                  </a:lnTo>
                  <a:lnTo>
                    <a:pt x="148" y="35"/>
                  </a:lnTo>
                  <a:lnTo>
                    <a:pt x="151" y="28"/>
                  </a:lnTo>
                  <a:lnTo>
                    <a:pt x="151" y="21"/>
                  </a:lnTo>
                  <a:lnTo>
                    <a:pt x="151" y="14"/>
                  </a:lnTo>
                  <a:lnTo>
                    <a:pt x="151" y="7"/>
                  </a:lnTo>
                  <a:lnTo>
                    <a:pt x="151" y="0"/>
                  </a:lnTo>
                  <a:lnTo>
                    <a:pt x="148" y="7"/>
                  </a:lnTo>
                  <a:lnTo>
                    <a:pt x="140" y="16"/>
                  </a:lnTo>
                  <a:lnTo>
                    <a:pt x="138" y="23"/>
                  </a:lnTo>
                  <a:lnTo>
                    <a:pt x="130" y="28"/>
                  </a:lnTo>
                  <a:lnTo>
                    <a:pt x="122" y="35"/>
                  </a:lnTo>
                  <a:lnTo>
                    <a:pt x="115" y="38"/>
                  </a:lnTo>
                  <a:lnTo>
                    <a:pt x="107" y="40"/>
                  </a:lnTo>
                  <a:lnTo>
                    <a:pt x="99" y="40"/>
                  </a:lnTo>
                  <a:lnTo>
                    <a:pt x="89" y="45"/>
                  </a:lnTo>
                  <a:lnTo>
                    <a:pt x="81" y="47"/>
                  </a:lnTo>
                  <a:lnTo>
                    <a:pt x="74" y="47"/>
                  </a:lnTo>
                  <a:lnTo>
                    <a:pt x="66" y="47"/>
                  </a:lnTo>
                  <a:lnTo>
                    <a:pt x="61" y="54"/>
                  </a:lnTo>
                  <a:lnTo>
                    <a:pt x="61" y="64"/>
                  </a:lnTo>
                  <a:lnTo>
                    <a:pt x="58" y="71"/>
                  </a:lnTo>
                  <a:lnTo>
                    <a:pt x="58" y="78"/>
                  </a:lnTo>
                  <a:lnTo>
                    <a:pt x="58" y="85"/>
                  </a:lnTo>
                  <a:lnTo>
                    <a:pt x="58" y="92"/>
                  </a:lnTo>
                  <a:lnTo>
                    <a:pt x="51" y="97"/>
                  </a:lnTo>
                  <a:lnTo>
                    <a:pt x="48" y="104"/>
                  </a:lnTo>
                  <a:lnTo>
                    <a:pt x="40" y="109"/>
                  </a:lnTo>
                  <a:lnTo>
                    <a:pt x="35" y="116"/>
                  </a:lnTo>
                  <a:lnTo>
                    <a:pt x="30" y="123"/>
                  </a:lnTo>
                  <a:lnTo>
                    <a:pt x="23" y="123"/>
                  </a:lnTo>
                  <a:lnTo>
                    <a:pt x="17" y="130"/>
                  </a:lnTo>
                  <a:lnTo>
                    <a:pt x="10" y="133"/>
                  </a:lnTo>
                  <a:lnTo>
                    <a:pt x="0" y="133"/>
                  </a:lnTo>
                </a:path>
              </a:pathLst>
            </a:custGeom>
            <a:solidFill>
              <a:schemeClr val="accent2"/>
            </a:solidFill>
            <a:ln w="12700" cap="rnd"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350" name="Google Shape;350;p13"/>
            <p:cNvGrpSpPr/>
            <p:nvPr/>
          </p:nvGrpSpPr>
          <p:grpSpPr>
            <a:xfrm>
              <a:off x="4607" y="1773"/>
              <a:ext cx="429" cy="467"/>
              <a:chOff x="4607" y="1773"/>
              <a:chExt cx="429" cy="467"/>
            </a:xfrm>
          </p:grpSpPr>
          <p:cxnSp>
            <p:nvCxnSpPr>
              <p:cNvPr id="351" name="Google Shape;351;p13"/>
              <p:cNvCxnSpPr/>
              <p:nvPr/>
            </p:nvCxnSpPr>
            <p:spPr>
              <a:xfrm>
                <a:off x="4623" y="1773"/>
                <a:ext cx="397" cy="24"/>
              </a:xfrm>
              <a:prstGeom prst="straightConnector1">
                <a:avLst/>
              </a:prstGeom>
              <a:noFill/>
              <a:ln w="25400" cap="flat" cmpd="sng">
                <a:solidFill>
                  <a:schemeClr val="lt2"/>
                </a:solidFill>
                <a:prstDash val="solid"/>
                <a:round/>
                <a:headEnd type="none" w="sm" len="sm"/>
                <a:tailEnd type="none" w="sm" len="sm"/>
              </a:ln>
            </p:spPr>
          </p:cxnSp>
          <p:cxnSp>
            <p:nvCxnSpPr>
              <p:cNvPr id="352" name="Google Shape;352;p13"/>
              <p:cNvCxnSpPr/>
              <p:nvPr/>
            </p:nvCxnSpPr>
            <p:spPr>
              <a:xfrm>
                <a:off x="4623" y="1820"/>
                <a:ext cx="397" cy="23"/>
              </a:xfrm>
              <a:prstGeom prst="straightConnector1">
                <a:avLst/>
              </a:prstGeom>
              <a:noFill/>
              <a:ln w="25400" cap="flat" cmpd="sng">
                <a:solidFill>
                  <a:schemeClr val="lt2"/>
                </a:solidFill>
                <a:prstDash val="solid"/>
                <a:round/>
                <a:headEnd type="none" w="sm" len="sm"/>
                <a:tailEnd type="none" w="sm" len="sm"/>
              </a:ln>
            </p:spPr>
          </p:cxnSp>
          <p:cxnSp>
            <p:nvCxnSpPr>
              <p:cNvPr id="353" name="Google Shape;353;p13"/>
              <p:cNvCxnSpPr/>
              <p:nvPr/>
            </p:nvCxnSpPr>
            <p:spPr>
              <a:xfrm>
                <a:off x="4607" y="1866"/>
                <a:ext cx="397" cy="24"/>
              </a:xfrm>
              <a:prstGeom prst="straightConnector1">
                <a:avLst/>
              </a:prstGeom>
              <a:noFill/>
              <a:ln w="25400" cap="flat" cmpd="sng">
                <a:solidFill>
                  <a:schemeClr val="lt2"/>
                </a:solidFill>
                <a:prstDash val="solid"/>
                <a:round/>
                <a:headEnd type="none" w="sm" len="sm"/>
                <a:tailEnd type="none" w="sm" len="sm"/>
              </a:ln>
            </p:spPr>
          </p:cxnSp>
          <p:cxnSp>
            <p:nvCxnSpPr>
              <p:cNvPr id="354" name="Google Shape;354;p13"/>
              <p:cNvCxnSpPr/>
              <p:nvPr/>
            </p:nvCxnSpPr>
            <p:spPr>
              <a:xfrm>
                <a:off x="4639" y="1920"/>
                <a:ext cx="397" cy="24"/>
              </a:xfrm>
              <a:prstGeom prst="straightConnector1">
                <a:avLst/>
              </a:prstGeom>
              <a:noFill/>
              <a:ln w="25400" cap="flat" cmpd="sng">
                <a:solidFill>
                  <a:schemeClr val="lt2"/>
                </a:solidFill>
                <a:prstDash val="solid"/>
                <a:round/>
                <a:headEnd type="none" w="sm" len="sm"/>
                <a:tailEnd type="none" w="sm" len="sm"/>
              </a:ln>
            </p:spPr>
          </p:cxnSp>
          <p:cxnSp>
            <p:nvCxnSpPr>
              <p:cNvPr id="355" name="Google Shape;355;p13"/>
              <p:cNvCxnSpPr/>
              <p:nvPr/>
            </p:nvCxnSpPr>
            <p:spPr>
              <a:xfrm>
                <a:off x="4623" y="1974"/>
                <a:ext cx="397" cy="24"/>
              </a:xfrm>
              <a:prstGeom prst="straightConnector1">
                <a:avLst/>
              </a:prstGeom>
              <a:noFill/>
              <a:ln w="25400" cap="flat" cmpd="sng">
                <a:solidFill>
                  <a:schemeClr val="lt2"/>
                </a:solidFill>
                <a:prstDash val="solid"/>
                <a:round/>
                <a:headEnd type="none" w="sm" len="sm"/>
                <a:tailEnd type="none" w="sm" len="sm"/>
              </a:ln>
            </p:spPr>
          </p:cxnSp>
          <p:cxnSp>
            <p:nvCxnSpPr>
              <p:cNvPr id="356" name="Google Shape;356;p13"/>
              <p:cNvCxnSpPr/>
              <p:nvPr/>
            </p:nvCxnSpPr>
            <p:spPr>
              <a:xfrm>
                <a:off x="4607" y="2021"/>
                <a:ext cx="397" cy="23"/>
              </a:xfrm>
              <a:prstGeom prst="straightConnector1">
                <a:avLst/>
              </a:prstGeom>
              <a:noFill/>
              <a:ln w="25400" cap="flat" cmpd="sng">
                <a:solidFill>
                  <a:schemeClr val="lt2"/>
                </a:solidFill>
                <a:prstDash val="solid"/>
                <a:round/>
                <a:headEnd type="none" w="sm" len="sm"/>
                <a:tailEnd type="none" w="sm" len="sm"/>
              </a:ln>
            </p:spPr>
          </p:cxnSp>
          <p:cxnSp>
            <p:nvCxnSpPr>
              <p:cNvPr id="357" name="Google Shape;357;p13"/>
              <p:cNvCxnSpPr/>
              <p:nvPr/>
            </p:nvCxnSpPr>
            <p:spPr>
              <a:xfrm>
                <a:off x="4623" y="2067"/>
                <a:ext cx="286" cy="25"/>
              </a:xfrm>
              <a:prstGeom prst="straightConnector1">
                <a:avLst/>
              </a:prstGeom>
              <a:noFill/>
              <a:ln w="25400" cap="flat" cmpd="sng">
                <a:solidFill>
                  <a:schemeClr val="lt2"/>
                </a:solidFill>
                <a:prstDash val="solid"/>
                <a:round/>
                <a:headEnd type="none" w="sm" len="sm"/>
                <a:tailEnd type="none" w="sm" len="sm"/>
              </a:ln>
            </p:spPr>
          </p:cxnSp>
          <p:cxnSp>
            <p:nvCxnSpPr>
              <p:cNvPr id="358" name="Google Shape;358;p13"/>
              <p:cNvCxnSpPr/>
              <p:nvPr/>
            </p:nvCxnSpPr>
            <p:spPr>
              <a:xfrm>
                <a:off x="4623" y="2122"/>
                <a:ext cx="397" cy="24"/>
              </a:xfrm>
              <a:prstGeom prst="straightConnector1">
                <a:avLst/>
              </a:prstGeom>
              <a:noFill/>
              <a:ln w="25400" cap="flat" cmpd="sng">
                <a:solidFill>
                  <a:schemeClr val="lt2"/>
                </a:solidFill>
                <a:prstDash val="solid"/>
                <a:round/>
                <a:headEnd type="none" w="sm" len="sm"/>
                <a:tailEnd type="none" w="sm" len="sm"/>
              </a:ln>
            </p:spPr>
          </p:cxnSp>
          <p:cxnSp>
            <p:nvCxnSpPr>
              <p:cNvPr id="359" name="Google Shape;359;p13"/>
              <p:cNvCxnSpPr/>
              <p:nvPr/>
            </p:nvCxnSpPr>
            <p:spPr>
              <a:xfrm>
                <a:off x="4623" y="2169"/>
                <a:ext cx="397" cy="23"/>
              </a:xfrm>
              <a:prstGeom prst="straightConnector1">
                <a:avLst/>
              </a:prstGeom>
              <a:noFill/>
              <a:ln w="25400" cap="flat" cmpd="sng">
                <a:solidFill>
                  <a:schemeClr val="lt2"/>
                </a:solidFill>
                <a:prstDash val="solid"/>
                <a:round/>
                <a:headEnd type="none" w="sm" len="sm"/>
                <a:tailEnd type="none" w="sm" len="sm"/>
              </a:ln>
            </p:spPr>
          </p:cxnSp>
          <p:cxnSp>
            <p:nvCxnSpPr>
              <p:cNvPr id="360" name="Google Shape;360;p13"/>
              <p:cNvCxnSpPr/>
              <p:nvPr/>
            </p:nvCxnSpPr>
            <p:spPr>
              <a:xfrm>
                <a:off x="4631" y="2223"/>
                <a:ext cx="207" cy="17"/>
              </a:xfrm>
              <a:prstGeom prst="straightConnector1">
                <a:avLst/>
              </a:prstGeom>
              <a:noFill/>
              <a:ln w="25400" cap="flat" cmpd="sng">
                <a:solidFill>
                  <a:schemeClr val="lt2"/>
                </a:solidFill>
                <a:prstDash val="solid"/>
                <a:round/>
                <a:headEnd type="none" w="sm" len="sm"/>
                <a:tailEnd type="none" w="sm" len="sm"/>
              </a:ln>
            </p:spPr>
          </p:cxnSp>
        </p:grpSp>
        <p:cxnSp>
          <p:nvCxnSpPr>
            <p:cNvPr id="361" name="Google Shape;361;p13"/>
            <p:cNvCxnSpPr/>
            <p:nvPr/>
          </p:nvCxnSpPr>
          <p:spPr>
            <a:xfrm>
              <a:off x="4621" y="1693"/>
              <a:ext cx="277" cy="23"/>
            </a:xfrm>
            <a:prstGeom prst="straightConnector1">
              <a:avLst/>
            </a:prstGeom>
            <a:noFill/>
            <a:ln w="127000" cap="flat" cmpd="sng">
              <a:solidFill>
                <a:srgbClr val="777777"/>
              </a:solidFill>
              <a:prstDash val="solid"/>
              <a:round/>
              <a:headEnd type="none" w="sm" len="sm"/>
              <a:tailEnd type="none" w="sm" len="sm"/>
            </a:ln>
          </p:spPr>
        </p:cxnSp>
      </p:grpSp>
      <p:grpSp>
        <p:nvGrpSpPr>
          <p:cNvPr id="362" name="Google Shape;362;p13"/>
          <p:cNvGrpSpPr/>
          <p:nvPr/>
        </p:nvGrpSpPr>
        <p:grpSpPr>
          <a:xfrm>
            <a:off x="6186343" y="2303463"/>
            <a:ext cx="720725" cy="452437"/>
            <a:chOff x="3750" y="1473"/>
            <a:chExt cx="454" cy="285"/>
          </a:xfrm>
        </p:grpSpPr>
        <p:cxnSp>
          <p:nvCxnSpPr>
            <p:cNvPr id="363" name="Google Shape;363;p13"/>
            <p:cNvCxnSpPr/>
            <p:nvPr/>
          </p:nvCxnSpPr>
          <p:spPr>
            <a:xfrm>
              <a:off x="3842" y="1473"/>
              <a:ext cx="149" cy="0"/>
            </a:xfrm>
            <a:prstGeom prst="straightConnector1">
              <a:avLst/>
            </a:prstGeom>
            <a:noFill/>
            <a:ln w="76200" cap="flat" cmpd="sng">
              <a:solidFill>
                <a:srgbClr val="CC0000"/>
              </a:solidFill>
              <a:prstDash val="solid"/>
              <a:round/>
              <a:headEnd type="none" w="sm" len="sm"/>
              <a:tailEnd type="none" w="sm" len="sm"/>
            </a:ln>
          </p:spPr>
        </p:cxnSp>
        <p:cxnSp>
          <p:nvCxnSpPr>
            <p:cNvPr id="364" name="Google Shape;364;p13"/>
            <p:cNvCxnSpPr/>
            <p:nvPr/>
          </p:nvCxnSpPr>
          <p:spPr>
            <a:xfrm>
              <a:off x="3842" y="1568"/>
              <a:ext cx="362" cy="0"/>
            </a:xfrm>
            <a:prstGeom prst="straightConnector1">
              <a:avLst/>
            </a:prstGeom>
            <a:noFill/>
            <a:ln w="76200" cap="flat" cmpd="sng">
              <a:solidFill>
                <a:srgbClr val="CC0000"/>
              </a:solidFill>
              <a:prstDash val="solid"/>
              <a:round/>
              <a:headEnd type="none" w="sm" len="sm"/>
              <a:tailEnd type="none" w="sm" len="sm"/>
            </a:ln>
          </p:spPr>
        </p:cxnSp>
        <p:cxnSp>
          <p:nvCxnSpPr>
            <p:cNvPr id="365" name="Google Shape;365;p13"/>
            <p:cNvCxnSpPr/>
            <p:nvPr/>
          </p:nvCxnSpPr>
          <p:spPr>
            <a:xfrm>
              <a:off x="3842" y="1663"/>
              <a:ext cx="229" cy="0"/>
            </a:xfrm>
            <a:prstGeom prst="straightConnector1">
              <a:avLst/>
            </a:prstGeom>
            <a:noFill/>
            <a:ln w="76200" cap="flat" cmpd="sng">
              <a:solidFill>
                <a:srgbClr val="CC0000"/>
              </a:solidFill>
              <a:prstDash val="solid"/>
              <a:round/>
              <a:headEnd type="none" w="sm" len="sm"/>
              <a:tailEnd type="none" w="sm" len="sm"/>
            </a:ln>
          </p:spPr>
        </p:cxnSp>
        <p:cxnSp>
          <p:nvCxnSpPr>
            <p:cNvPr id="366" name="Google Shape;366;p13"/>
            <p:cNvCxnSpPr/>
            <p:nvPr/>
          </p:nvCxnSpPr>
          <p:spPr>
            <a:xfrm>
              <a:off x="3842" y="1758"/>
              <a:ext cx="307" cy="0"/>
            </a:xfrm>
            <a:prstGeom prst="straightConnector1">
              <a:avLst/>
            </a:prstGeom>
            <a:noFill/>
            <a:ln w="76200" cap="flat" cmpd="sng">
              <a:solidFill>
                <a:srgbClr val="CC0000"/>
              </a:solidFill>
              <a:prstDash val="solid"/>
              <a:round/>
              <a:headEnd type="none" w="sm" len="sm"/>
              <a:tailEnd type="none" w="sm" len="sm"/>
            </a:ln>
          </p:spPr>
        </p:cxnSp>
        <p:cxnSp>
          <p:nvCxnSpPr>
            <p:cNvPr id="367" name="Google Shape;367;p13"/>
            <p:cNvCxnSpPr/>
            <p:nvPr/>
          </p:nvCxnSpPr>
          <p:spPr>
            <a:xfrm>
              <a:off x="3750" y="1473"/>
              <a:ext cx="46" cy="0"/>
            </a:xfrm>
            <a:prstGeom prst="straightConnector1">
              <a:avLst/>
            </a:prstGeom>
            <a:noFill/>
            <a:ln w="76200" cap="flat" cmpd="sng">
              <a:solidFill>
                <a:srgbClr val="CC0000"/>
              </a:solidFill>
              <a:prstDash val="solid"/>
              <a:round/>
              <a:headEnd type="none" w="sm" len="sm"/>
              <a:tailEnd type="none" w="sm" len="sm"/>
            </a:ln>
          </p:spPr>
        </p:cxnSp>
        <p:cxnSp>
          <p:nvCxnSpPr>
            <p:cNvPr id="368" name="Google Shape;368;p13"/>
            <p:cNvCxnSpPr/>
            <p:nvPr/>
          </p:nvCxnSpPr>
          <p:spPr>
            <a:xfrm>
              <a:off x="3750" y="1568"/>
              <a:ext cx="46" cy="0"/>
            </a:xfrm>
            <a:prstGeom prst="straightConnector1">
              <a:avLst/>
            </a:prstGeom>
            <a:noFill/>
            <a:ln w="76200" cap="flat" cmpd="sng">
              <a:solidFill>
                <a:srgbClr val="CC0000"/>
              </a:solidFill>
              <a:prstDash val="solid"/>
              <a:round/>
              <a:headEnd type="none" w="sm" len="sm"/>
              <a:tailEnd type="none" w="sm" len="sm"/>
            </a:ln>
          </p:spPr>
        </p:cxnSp>
        <p:cxnSp>
          <p:nvCxnSpPr>
            <p:cNvPr id="369" name="Google Shape;369;p13"/>
            <p:cNvCxnSpPr/>
            <p:nvPr/>
          </p:nvCxnSpPr>
          <p:spPr>
            <a:xfrm>
              <a:off x="3750" y="1663"/>
              <a:ext cx="46" cy="0"/>
            </a:xfrm>
            <a:prstGeom prst="straightConnector1">
              <a:avLst/>
            </a:prstGeom>
            <a:noFill/>
            <a:ln w="76200" cap="flat" cmpd="sng">
              <a:solidFill>
                <a:srgbClr val="CC0000"/>
              </a:solidFill>
              <a:prstDash val="solid"/>
              <a:round/>
              <a:headEnd type="none" w="sm" len="sm"/>
              <a:tailEnd type="none" w="sm" len="sm"/>
            </a:ln>
          </p:spPr>
        </p:cxnSp>
        <p:cxnSp>
          <p:nvCxnSpPr>
            <p:cNvPr id="370" name="Google Shape;370;p13"/>
            <p:cNvCxnSpPr/>
            <p:nvPr/>
          </p:nvCxnSpPr>
          <p:spPr>
            <a:xfrm>
              <a:off x="3750" y="1758"/>
              <a:ext cx="46" cy="0"/>
            </a:xfrm>
            <a:prstGeom prst="straightConnector1">
              <a:avLst/>
            </a:prstGeom>
            <a:noFill/>
            <a:ln w="76200" cap="flat" cmpd="sng">
              <a:solidFill>
                <a:srgbClr val="CC0000"/>
              </a:solidFill>
              <a:prstDash val="solid"/>
              <a:round/>
              <a:headEnd type="none" w="sm" len="sm"/>
              <a:tailEnd type="none" w="sm" len="sm"/>
            </a:ln>
          </p:spPr>
        </p:cxn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1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Relationship</a:t>
            </a:r>
            <a:endParaRPr/>
          </a:p>
        </p:txBody>
      </p:sp>
      <p:sp>
        <p:nvSpPr>
          <p:cNvPr id="376" name="Google Shape;376;p14"/>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70C0"/>
              </a:buClr>
              <a:buSzPts val="2800"/>
              <a:buChar char="•"/>
            </a:pPr>
            <a:r>
              <a:rPr lang="en-US" b="1">
                <a:solidFill>
                  <a:srgbClr val="0070C0"/>
                </a:solidFill>
              </a:rPr>
              <a:t>Relationship type</a:t>
            </a:r>
            <a:endParaRPr/>
          </a:p>
          <a:p>
            <a:pPr marL="685800" lvl="1" indent="-228600" algn="l" rtl="0">
              <a:lnSpc>
                <a:spcPct val="90000"/>
              </a:lnSpc>
              <a:spcBef>
                <a:spcPts val="500"/>
              </a:spcBef>
              <a:spcAft>
                <a:spcPts val="0"/>
              </a:spcAft>
              <a:buClr>
                <a:schemeClr val="dk1"/>
              </a:buClr>
              <a:buSzPts val="2400"/>
              <a:buChar char="•"/>
            </a:pPr>
            <a:r>
              <a:rPr lang="en-US"/>
              <a:t>Set of meaningful associations among entity types.</a:t>
            </a:r>
            <a:endParaRPr/>
          </a:p>
          <a:p>
            <a:pPr marL="685800" lvl="1" indent="-228600" algn="l" rtl="0">
              <a:lnSpc>
                <a:spcPct val="90000"/>
              </a:lnSpc>
              <a:spcBef>
                <a:spcPts val="500"/>
              </a:spcBef>
              <a:spcAft>
                <a:spcPts val="0"/>
              </a:spcAft>
              <a:buClr>
                <a:schemeClr val="dk1"/>
              </a:buClr>
              <a:buSzPts val="2400"/>
              <a:buChar char="•"/>
            </a:pPr>
            <a:r>
              <a:rPr lang="en-US"/>
              <a:t>Express how entities are mutually related</a:t>
            </a:r>
            <a:endParaRPr/>
          </a:p>
          <a:p>
            <a:pPr marL="685800" lvl="1" indent="-228600" algn="l" rtl="0">
              <a:lnSpc>
                <a:spcPct val="90000"/>
              </a:lnSpc>
              <a:spcBef>
                <a:spcPts val="500"/>
              </a:spcBef>
              <a:spcAft>
                <a:spcPts val="0"/>
              </a:spcAft>
              <a:buClr>
                <a:schemeClr val="dk1"/>
              </a:buClr>
              <a:buSzPts val="2400"/>
              <a:buChar char="•"/>
            </a:pPr>
            <a:r>
              <a:rPr lang="en-US"/>
              <a:t>Always exist between two entities (or one entity twice)</a:t>
            </a:r>
            <a:endParaRPr/>
          </a:p>
          <a:p>
            <a:pPr marL="228600" lvl="0" indent="-228600" algn="l" rtl="0">
              <a:lnSpc>
                <a:spcPct val="90000"/>
              </a:lnSpc>
              <a:spcBef>
                <a:spcPts val="1000"/>
              </a:spcBef>
              <a:spcAft>
                <a:spcPts val="0"/>
              </a:spcAft>
              <a:buClr>
                <a:srgbClr val="0070C0"/>
              </a:buClr>
              <a:buSzPts val="2800"/>
              <a:buChar char="•"/>
            </a:pPr>
            <a:r>
              <a:rPr lang="en-US" b="1">
                <a:solidFill>
                  <a:srgbClr val="0070C0"/>
                </a:solidFill>
              </a:rPr>
              <a:t>Relationship occurrence</a:t>
            </a:r>
            <a:endParaRPr/>
          </a:p>
          <a:p>
            <a:pPr marL="685800" lvl="1" indent="-228600" algn="l" rtl="0">
              <a:lnSpc>
                <a:spcPct val="90000"/>
              </a:lnSpc>
              <a:spcBef>
                <a:spcPts val="500"/>
              </a:spcBef>
              <a:spcAft>
                <a:spcPts val="0"/>
              </a:spcAft>
              <a:buClr>
                <a:schemeClr val="dk1"/>
              </a:buClr>
              <a:buSzPts val="2400"/>
              <a:buChar char="•"/>
            </a:pPr>
            <a:r>
              <a:rPr lang="en-US"/>
              <a:t>Uniquely identifiable association, which includes one occurrence from each participating entity type.</a:t>
            </a:r>
            <a:endParaRPr/>
          </a:p>
          <a:p>
            <a:pPr marL="228600" lvl="0" indent="-50800" algn="l" rtl="0">
              <a:lnSpc>
                <a:spcPct val="90000"/>
              </a:lnSpc>
              <a:spcBef>
                <a:spcPts val="1000"/>
              </a:spcBef>
              <a:spcAft>
                <a:spcPts val="0"/>
              </a:spcAft>
              <a:buClr>
                <a:schemeClr val="dk1"/>
              </a:buClr>
              <a:buSzPts val="2800"/>
              <a:buNone/>
            </a:pPr>
            <a:endParaRPr/>
          </a:p>
        </p:txBody>
      </p:sp>
      <p:sp>
        <p:nvSpPr>
          <p:cNvPr id="377" name="Google Shape;377;p1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1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Relationship Examples</a:t>
            </a:r>
            <a:endParaRPr/>
          </a:p>
        </p:txBody>
      </p:sp>
      <p:sp>
        <p:nvSpPr>
          <p:cNvPr id="383" name="Google Shape;383;p15"/>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70C0"/>
              </a:buClr>
              <a:buSzPts val="2800"/>
              <a:buChar char="•"/>
            </a:pPr>
            <a:r>
              <a:rPr lang="en-US" b="1">
                <a:solidFill>
                  <a:srgbClr val="0070C0"/>
                </a:solidFill>
              </a:rPr>
              <a:t>BRANCH</a:t>
            </a:r>
            <a:r>
              <a:rPr lang="en-US"/>
              <a:t> </a:t>
            </a:r>
            <a:r>
              <a:rPr lang="en-US" i="1">
                <a:solidFill>
                  <a:srgbClr val="C00000"/>
                </a:solidFill>
              </a:rPr>
              <a:t>has</a:t>
            </a:r>
            <a:r>
              <a:rPr lang="en-US"/>
              <a:t> </a:t>
            </a:r>
            <a:r>
              <a:rPr lang="en-US" b="1">
                <a:solidFill>
                  <a:srgbClr val="0070C0"/>
                </a:solidFill>
              </a:rPr>
              <a:t>STAFF</a:t>
            </a:r>
            <a:br>
              <a:rPr lang="en-US" b="1">
                <a:solidFill>
                  <a:srgbClr val="0070C0"/>
                </a:solidFill>
              </a:rPr>
            </a:br>
            <a:r>
              <a:rPr lang="en-US" b="1">
                <a:solidFill>
                  <a:srgbClr val="0070C0"/>
                </a:solidFill>
              </a:rPr>
              <a:t>STAFF</a:t>
            </a:r>
            <a:r>
              <a:rPr lang="en-US"/>
              <a:t> </a:t>
            </a:r>
            <a:r>
              <a:rPr lang="en-US" i="1">
                <a:solidFill>
                  <a:srgbClr val="C00000"/>
                </a:solidFill>
              </a:rPr>
              <a:t>belongs to </a:t>
            </a:r>
            <a:r>
              <a:rPr lang="en-US" b="1">
                <a:solidFill>
                  <a:srgbClr val="0070C0"/>
                </a:solidFill>
              </a:rPr>
              <a:t>BRANCH</a:t>
            </a:r>
            <a:endParaRPr/>
          </a:p>
          <a:p>
            <a:pPr marL="228600" lvl="0" indent="-228600" algn="l" rtl="0">
              <a:lnSpc>
                <a:spcPct val="90000"/>
              </a:lnSpc>
              <a:spcBef>
                <a:spcPts val="1000"/>
              </a:spcBef>
              <a:spcAft>
                <a:spcPts val="0"/>
              </a:spcAft>
              <a:buClr>
                <a:srgbClr val="0070C0"/>
              </a:buClr>
              <a:buSzPts val="2800"/>
              <a:buChar char="•"/>
            </a:pPr>
            <a:r>
              <a:rPr lang="en-US" b="1">
                <a:solidFill>
                  <a:srgbClr val="0070C0"/>
                </a:solidFill>
              </a:rPr>
              <a:t>EMPLOYEES</a:t>
            </a:r>
            <a:r>
              <a:rPr lang="en-US"/>
              <a:t> </a:t>
            </a:r>
            <a:r>
              <a:rPr lang="en-US" i="1">
                <a:solidFill>
                  <a:srgbClr val="C00000"/>
                </a:solidFill>
              </a:rPr>
              <a:t>have</a:t>
            </a:r>
            <a:r>
              <a:rPr lang="en-US"/>
              <a:t> </a:t>
            </a:r>
            <a:r>
              <a:rPr lang="en-US" b="1">
                <a:solidFill>
                  <a:srgbClr val="0070C0"/>
                </a:solidFill>
              </a:rPr>
              <a:t>JOBS</a:t>
            </a:r>
            <a:br>
              <a:rPr lang="en-US"/>
            </a:br>
            <a:r>
              <a:rPr lang="en-US" b="1">
                <a:solidFill>
                  <a:srgbClr val="0070C0"/>
                </a:solidFill>
              </a:rPr>
              <a:t>JOBS</a:t>
            </a:r>
            <a:r>
              <a:rPr lang="en-US"/>
              <a:t> </a:t>
            </a:r>
            <a:r>
              <a:rPr lang="en-US" i="1">
                <a:solidFill>
                  <a:srgbClr val="C00000"/>
                </a:solidFill>
              </a:rPr>
              <a:t>are held by </a:t>
            </a:r>
            <a:r>
              <a:rPr lang="en-US" b="1">
                <a:solidFill>
                  <a:srgbClr val="0070C0"/>
                </a:solidFill>
              </a:rPr>
              <a:t>EMPLOYEES</a:t>
            </a:r>
            <a:endParaRPr/>
          </a:p>
          <a:p>
            <a:pPr marL="228600" lvl="0" indent="-228600" algn="l" rtl="0">
              <a:lnSpc>
                <a:spcPct val="90000"/>
              </a:lnSpc>
              <a:spcBef>
                <a:spcPts val="1000"/>
              </a:spcBef>
              <a:spcAft>
                <a:spcPts val="0"/>
              </a:spcAft>
              <a:buClr>
                <a:srgbClr val="0070C0"/>
              </a:buClr>
              <a:buSzPts val="2800"/>
              <a:buChar char="•"/>
            </a:pPr>
            <a:r>
              <a:rPr lang="en-US" b="1">
                <a:solidFill>
                  <a:srgbClr val="0070C0"/>
                </a:solidFill>
              </a:rPr>
              <a:t>PEOPLE</a:t>
            </a:r>
            <a:r>
              <a:rPr lang="en-US"/>
              <a:t> </a:t>
            </a:r>
            <a:r>
              <a:rPr lang="en-US" i="1">
                <a:solidFill>
                  <a:srgbClr val="C00000"/>
                </a:solidFill>
              </a:rPr>
              <a:t>make</a:t>
            </a:r>
            <a:r>
              <a:rPr lang="en-US"/>
              <a:t> </a:t>
            </a:r>
            <a:r>
              <a:rPr lang="en-US" b="1">
                <a:solidFill>
                  <a:srgbClr val="0070C0"/>
                </a:solidFill>
              </a:rPr>
              <a:t>TICKET</a:t>
            </a:r>
            <a:r>
              <a:rPr lang="en-US"/>
              <a:t> </a:t>
            </a:r>
            <a:r>
              <a:rPr lang="en-US" b="1">
                <a:solidFill>
                  <a:srgbClr val="0070C0"/>
                </a:solidFill>
              </a:rPr>
              <a:t>RESERVATIONS</a:t>
            </a:r>
            <a:br>
              <a:rPr lang="en-US"/>
            </a:br>
            <a:r>
              <a:rPr lang="en-US" b="1">
                <a:solidFill>
                  <a:srgbClr val="0070C0"/>
                </a:solidFill>
              </a:rPr>
              <a:t>TICKET</a:t>
            </a:r>
            <a:r>
              <a:rPr lang="en-US"/>
              <a:t> </a:t>
            </a:r>
            <a:r>
              <a:rPr lang="en-US" b="1">
                <a:solidFill>
                  <a:srgbClr val="0070C0"/>
                </a:solidFill>
              </a:rPr>
              <a:t>RESERVATIONS</a:t>
            </a:r>
            <a:r>
              <a:rPr lang="en-US"/>
              <a:t> </a:t>
            </a:r>
            <a:r>
              <a:rPr lang="en-US" i="1">
                <a:solidFill>
                  <a:srgbClr val="C00000"/>
                </a:solidFill>
              </a:rPr>
              <a:t>are made by </a:t>
            </a:r>
            <a:r>
              <a:rPr lang="en-US" b="1">
                <a:solidFill>
                  <a:srgbClr val="0070C0"/>
                </a:solidFill>
              </a:rPr>
              <a:t>PEOPLE</a:t>
            </a:r>
            <a:endParaRPr/>
          </a:p>
          <a:p>
            <a:pPr marL="228600" lvl="0" indent="-50800" algn="l" rtl="0">
              <a:lnSpc>
                <a:spcPct val="90000"/>
              </a:lnSpc>
              <a:spcBef>
                <a:spcPts val="1000"/>
              </a:spcBef>
              <a:spcAft>
                <a:spcPts val="0"/>
              </a:spcAft>
              <a:buClr>
                <a:schemeClr val="dk1"/>
              </a:buClr>
              <a:buSzPts val="2800"/>
              <a:buNone/>
            </a:pPr>
            <a:endParaRPr/>
          </a:p>
        </p:txBody>
      </p:sp>
      <p:sp>
        <p:nvSpPr>
          <p:cNvPr id="384" name="Google Shape;384;p1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16"/>
          <p:cNvSpPr txBox="1">
            <a:spLocks noGrp="1"/>
          </p:cNvSpPr>
          <p:nvPr>
            <p:ph type="title"/>
          </p:nvPr>
        </p:nvSpPr>
        <p:spPr>
          <a:xfrm>
            <a:off x="628650" y="365126"/>
            <a:ext cx="7274379"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Semantic Net of </a:t>
            </a:r>
            <a:r>
              <a:rPr lang="en-US" i="1">
                <a:solidFill>
                  <a:srgbClr val="0070C0"/>
                </a:solidFill>
              </a:rPr>
              <a:t>Has</a:t>
            </a:r>
            <a:r>
              <a:rPr lang="en-US"/>
              <a:t> Relationship Type</a:t>
            </a:r>
            <a:endParaRPr/>
          </a:p>
        </p:txBody>
      </p:sp>
      <p:pic>
        <p:nvPicPr>
          <p:cNvPr id="390" name="Google Shape;390;p16"/>
          <p:cNvPicPr preferRelativeResize="0">
            <a:picLocks noGrp="1"/>
          </p:cNvPicPr>
          <p:nvPr>
            <p:ph type="body" idx="1"/>
          </p:nvPr>
        </p:nvPicPr>
        <p:blipFill rotWithShape="1">
          <a:blip r:embed="rId3">
            <a:alphaModFix/>
          </a:blip>
          <a:srcRect/>
          <a:stretch/>
        </p:blipFill>
        <p:spPr>
          <a:xfrm>
            <a:off x="832915" y="2153186"/>
            <a:ext cx="7478169" cy="3696216"/>
          </a:xfrm>
          <a:prstGeom prst="rect">
            <a:avLst/>
          </a:prstGeom>
          <a:noFill/>
          <a:ln>
            <a:noFill/>
          </a:ln>
        </p:spPr>
      </p:pic>
      <p:sp>
        <p:nvSpPr>
          <p:cNvPr id="391" name="Google Shape;391;p1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1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Relationship </a:t>
            </a:r>
            <a:r>
              <a:rPr lang="en-US" i="1">
                <a:solidFill>
                  <a:srgbClr val="0070C0"/>
                </a:solidFill>
              </a:rPr>
              <a:t>Has</a:t>
            </a:r>
            <a:r>
              <a:rPr lang="en-US"/>
              <a:t> Between Staff and Branch</a:t>
            </a:r>
            <a:endParaRPr/>
          </a:p>
        </p:txBody>
      </p:sp>
      <p:pic>
        <p:nvPicPr>
          <p:cNvPr id="397" name="Google Shape;397;p17"/>
          <p:cNvPicPr preferRelativeResize="0">
            <a:picLocks noGrp="1"/>
          </p:cNvPicPr>
          <p:nvPr>
            <p:ph type="body" idx="1"/>
          </p:nvPr>
        </p:nvPicPr>
        <p:blipFill rotWithShape="1">
          <a:blip r:embed="rId3">
            <a:alphaModFix/>
          </a:blip>
          <a:srcRect/>
          <a:stretch/>
        </p:blipFill>
        <p:spPr>
          <a:xfrm>
            <a:off x="941613" y="1825625"/>
            <a:ext cx="7260773" cy="3683000"/>
          </a:xfrm>
          <a:prstGeom prst="rect">
            <a:avLst/>
          </a:prstGeom>
          <a:noFill/>
          <a:ln>
            <a:noFill/>
          </a:ln>
        </p:spPr>
      </p:pic>
      <p:sp>
        <p:nvSpPr>
          <p:cNvPr id="398" name="Google Shape;398;p1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1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Employees </a:t>
            </a:r>
            <a:r>
              <a:rPr lang="en-US" i="1">
                <a:solidFill>
                  <a:srgbClr val="0070C0"/>
                </a:solidFill>
              </a:rPr>
              <a:t>have</a:t>
            </a:r>
            <a:r>
              <a:rPr lang="en-US"/>
              <a:t> Jobs</a:t>
            </a:r>
            <a:endParaRPr/>
          </a:p>
        </p:txBody>
      </p:sp>
      <p:sp>
        <p:nvSpPr>
          <p:cNvPr id="404" name="Google Shape;404;p1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
        <p:nvSpPr>
          <p:cNvPr id="405" name="Google Shape;405;p18"/>
          <p:cNvSpPr/>
          <p:nvPr/>
        </p:nvSpPr>
        <p:spPr>
          <a:xfrm>
            <a:off x="928688" y="2006600"/>
            <a:ext cx="2563812" cy="1714500"/>
          </a:xfrm>
          <a:prstGeom prst="ellipse">
            <a:avLst/>
          </a:prstGeom>
          <a:solidFill>
            <a:srgbClr val="99CCFF"/>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p:txBody>
      </p:sp>
      <p:sp>
        <p:nvSpPr>
          <p:cNvPr id="406" name="Google Shape;406;p18"/>
          <p:cNvSpPr/>
          <p:nvPr/>
        </p:nvSpPr>
        <p:spPr>
          <a:xfrm>
            <a:off x="3657600" y="1282700"/>
            <a:ext cx="4591050" cy="2533650"/>
          </a:xfrm>
          <a:prstGeom prst="ellipse">
            <a:avLst/>
          </a:prstGeom>
          <a:solidFill>
            <a:srgbClr val="FFC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p:txBody>
      </p:sp>
      <p:sp>
        <p:nvSpPr>
          <p:cNvPr id="407" name="Google Shape;407;p18"/>
          <p:cNvSpPr/>
          <p:nvPr/>
        </p:nvSpPr>
        <p:spPr>
          <a:xfrm>
            <a:off x="3582988" y="1289050"/>
            <a:ext cx="1060450" cy="396875"/>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dk1"/>
              </a:buClr>
              <a:buSzPts val="2000"/>
              <a:buFont typeface="Arial"/>
              <a:buNone/>
            </a:pPr>
            <a:r>
              <a:rPr lang="en-US" sz="2000" b="1">
                <a:solidFill>
                  <a:schemeClr val="dk1"/>
                </a:solidFill>
                <a:latin typeface="Calibri"/>
                <a:ea typeface="Calibri"/>
                <a:cs typeface="Calibri"/>
                <a:sym typeface="Calibri"/>
              </a:rPr>
              <a:t>JOB</a:t>
            </a:r>
            <a:endParaRPr/>
          </a:p>
        </p:txBody>
      </p:sp>
      <p:sp>
        <p:nvSpPr>
          <p:cNvPr id="408" name="Google Shape;408;p18"/>
          <p:cNvSpPr/>
          <p:nvPr/>
        </p:nvSpPr>
        <p:spPr>
          <a:xfrm rot="660000">
            <a:off x="4457700" y="2881313"/>
            <a:ext cx="228600" cy="276225"/>
          </a:xfrm>
          <a:prstGeom prst="star5">
            <a:avLst>
              <a:gd name="adj" fmla="val 19098"/>
              <a:gd name="hf" fmla="val 105146"/>
              <a:gd name="vf" fmla="val 110557"/>
            </a:avLst>
          </a:prstGeom>
          <a:solidFill>
            <a:srgbClr val="0066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9" name="Google Shape;409;p18"/>
          <p:cNvSpPr/>
          <p:nvPr/>
        </p:nvSpPr>
        <p:spPr>
          <a:xfrm>
            <a:off x="4640263" y="2928938"/>
            <a:ext cx="1601787" cy="366712"/>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waiter</a:t>
            </a:r>
            <a:endParaRPr/>
          </a:p>
        </p:txBody>
      </p:sp>
      <p:sp>
        <p:nvSpPr>
          <p:cNvPr id="410" name="Google Shape;410;p18"/>
          <p:cNvSpPr/>
          <p:nvPr/>
        </p:nvSpPr>
        <p:spPr>
          <a:xfrm>
            <a:off x="6475413" y="1752600"/>
            <a:ext cx="1373187" cy="461963"/>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cook</a:t>
            </a:r>
            <a:endParaRPr/>
          </a:p>
        </p:txBody>
      </p:sp>
      <p:sp>
        <p:nvSpPr>
          <p:cNvPr id="411" name="Google Shape;411;p18"/>
          <p:cNvSpPr/>
          <p:nvPr/>
        </p:nvSpPr>
        <p:spPr>
          <a:xfrm rot="1260000">
            <a:off x="4192588" y="1939925"/>
            <a:ext cx="228600" cy="277813"/>
          </a:xfrm>
          <a:prstGeom prst="star5">
            <a:avLst>
              <a:gd name="adj" fmla="val 19098"/>
              <a:gd name="hf" fmla="val 105146"/>
              <a:gd name="vf" fmla="val 110557"/>
            </a:avLst>
          </a:prstGeom>
          <a:solidFill>
            <a:srgbClr val="0066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2" name="Google Shape;412;p18"/>
          <p:cNvSpPr/>
          <p:nvPr/>
        </p:nvSpPr>
        <p:spPr>
          <a:xfrm>
            <a:off x="4425950" y="1974850"/>
            <a:ext cx="1612900" cy="366713"/>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waitress</a:t>
            </a:r>
            <a:endParaRPr/>
          </a:p>
        </p:txBody>
      </p:sp>
      <p:sp>
        <p:nvSpPr>
          <p:cNvPr id="413" name="Google Shape;413;p18"/>
          <p:cNvSpPr/>
          <p:nvPr/>
        </p:nvSpPr>
        <p:spPr>
          <a:xfrm rot="-780000">
            <a:off x="6397625" y="2146300"/>
            <a:ext cx="322263" cy="277813"/>
          </a:xfrm>
          <a:prstGeom prst="star5">
            <a:avLst>
              <a:gd name="adj" fmla="val 19098"/>
              <a:gd name="hf" fmla="val 105146"/>
              <a:gd name="vf" fmla="val 110557"/>
            </a:avLst>
          </a:prstGeom>
          <a:solidFill>
            <a:srgbClr val="0066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4" name="Google Shape;414;p18"/>
          <p:cNvSpPr/>
          <p:nvPr/>
        </p:nvSpPr>
        <p:spPr>
          <a:xfrm>
            <a:off x="5384800" y="1409700"/>
            <a:ext cx="1612900" cy="366713"/>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manager</a:t>
            </a:r>
            <a:endParaRPr/>
          </a:p>
        </p:txBody>
      </p:sp>
      <p:sp>
        <p:nvSpPr>
          <p:cNvPr id="415" name="Google Shape;415;p18"/>
          <p:cNvSpPr/>
          <p:nvPr/>
        </p:nvSpPr>
        <p:spPr>
          <a:xfrm>
            <a:off x="4048125" y="2459038"/>
            <a:ext cx="2909888" cy="366712"/>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financial controller</a:t>
            </a:r>
            <a:endParaRPr/>
          </a:p>
        </p:txBody>
      </p:sp>
      <p:sp>
        <p:nvSpPr>
          <p:cNvPr id="416" name="Google Shape;416;p18"/>
          <p:cNvSpPr/>
          <p:nvPr/>
        </p:nvSpPr>
        <p:spPr>
          <a:xfrm rot="1920000">
            <a:off x="6629400" y="2767013"/>
            <a:ext cx="231775" cy="276225"/>
          </a:xfrm>
          <a:prstGeom prst="star5">
            <a:avLst>
              <a:gd name="adj" fmla="val 19098"/>
              <a:gd name="hf" fmla="val 105146"/>
              <a:gd name="vf" fmla="val 110557"/>
            </a:avLst>
          </a:prstGeom>
          <a:solidFill>
            <a:srgbClr val="0066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7" name="Google Shape;417;p18"/>
          <p:cNvSpPr/>
          <p:nvPr/>
        </p:nvSpPr>
        <p:spPr>
          <a:xfrm>
            <a:off x="6816725" y="2795588"/>
            <a:ext cx="1130300" cy="366712"/>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porter</a:t>
            </a:r>
            <a:endParaRPr/>
          </a:p>
        </p:txBody>
      </p:sp>
      <p:sp>
        <p:nvSpPr>
          <p:cNvPr id="418" name="Google Shape;418;p18"/>
          <p:cNvSpPr/>
          <p:nvPr/>
        </p:nvSpPr>
        <p:spPr>
          <a:xfrm>
            <a:off x="5699125" y="3273425"/>
            <a:ext cx="1784350" cy="366713"/>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piano player</a:t>
            </a:r>
            <a:endParaRPr/>
          </a:p>
        </p:txBody>
      </p:sp>
      <p:sp>
        <p:nvSpPr>
          <p:cNvPr id="419" name="Google Shape;419;p18"/>
          <p:cNvSpPr/>
          <p:nvPr/>
        </p:nvSpPr>
        <p:spPr>
          <a:xfrm>
            <a:off x="5187950" y="1452563"/>
            <a:ext cx="228600" cy="274637"/>
          </a:xfrm>
          <a:prstGeom prst="star5">
            <a:avLst>
              <a:gd name="adj" fmla="val 19098"/>
              <a:gd name="hf" fmla="val 105146"/>
              <a:gd name="vf" fmla="val 110557"/>
            </a:avLst>
          </a:prstGeom>
          <a:solidFill>
            <a:srgbClr val="0066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0" name="Google Shape;420;p18"/>
          <p:cNvSpPr/>
          <p:nvPr/>
        </p:nvSpPr>
        <p:spPr>
          <a:xfrm>
            <a:off x="6297613" y="1751013"/>
            <a:ext cx="228600" cy="276225"/>
          </a:xfrm>
          <a:prstGeom prst="star5">
            <a:avLst>
              <a:gd name="adj" fmla="val 19098"/>
              <a:gd name="hf" fmla="val 105146"/>
              <a:gd name="vf" fmla="val 110557"/>
            </a:avLst>
          </a:prstGeom>
          <a:solidFill>
            <a:srgbClr val="0066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1" name="Google Shape;421;p18"/>
          <p:cNvSpPr/>
          <p:nvPr/>
        </p:nvSpPr>
        <p:spPr>
          <a:xfrm rot="180000">
            <a:off x="3844925" y="2392363"/>
            <a:ext cx="219075" cy="249237"/>
          </a:xfrm>
          <a:prstGeom prst="star5">
            <a:avLst>
              <a:gd name="adj" fmla="val 19098"/>
              <a:gd name="hf" fmla="val 105146"/>
              <a:gd name="vf" fmla="val 110557"/>
            </a:avLst>
          </a:prstGeom>
          <a:solidFill>
            <a:srgbClr val="0066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2" name="Google Shape;422;p18"/>
          <p:cNvSpPr/>
          <p:nvPr/>
        </p:nvSpPr>
        <p:spPr>
          <a:xfrm rot="720000">
            <a:off x="5445125" y="3221038"/>
            <a:ext cx="255588" cy="276225"/>
          </a:xfrm>
          <a:prstGeom prst="star5">
            <a:avLst>
              <a:gd name="adj" fmla="val 19098"/>
              <a:gd name="hf" fmla="val 105146"/>
              <a:gd name="vf" fmla="val 110557"/>
            </a:avLst>
          </a:prstGeom>
          <a:solidFill>
            <a:srgbClr val="0066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3" name="Google Shape;423;p18"/>
          <p:cNvSpPr/>
          <p:nvPr/>
        </p:nvSpPr>
        <p:spPr>
          <a:xfrm>
            <a:off x="1100138" y="2809875"/>
            <a:ext cx="1303337" cy="366713"/>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Ahmed</a:t>
            </a:r>
            <a:endParaRPr/>
          </a:p>
        </p:txBody>
      </p:sp>
      <p:sp>
        <p:nvSpPr>
          <p:cNvPr id="424" name="Google Shape;424;p18"/>
          <p:cNvSpPr/>
          <p:nvPr/>
        </p:nvSpPr>
        <p:spPr>
          <a:xfrm>
            <a:off x="1106488" y="2433638"/>
            <a:ext cx="681037" cy="366712"/>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Jill</a:t>
            </a:r>
            <a:endParaRPr/>
          </a:p>
        </p:txBody>
      </p:sp>
      <p:sp>
        <p:nvSpPr>
          <p:cNvPr id="425" name="Google Shape;425;p18"/>
          <p:cNvSpPr/>
          <p:nvPr/>
        </p:nvSpPr>
        <p:spPr>
          <a:xfrm>
            <a:off x="2409825" y="2590800"/>
            <a:ext cx="1135063" cy="366713"/>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Adam</a:t>
            </a:r>
            <a:endParaRPr/>
          </a:p>
        </p:txBody>
      </p:sp>
      <p:sp>
        <p:nvSpPr>
          <p:cNvPr id="426" name="Google Shape;426;p18"/>
          <p:cNvSpPr/>
          <p:nvPr/>
        </p:nvSpPr>
        <p:spPr>
          <a:xfrm>
            <a:off x="2251075" y="3105150"/>
            <a:ext cx="1146175" cy="366713"/>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Maria</a:t>
            </a:r>
            <a:endParaRPr/>
          </a:p>
        </p:txBody>
      </p:sp>
      <p:sp>
        <p:nvSpPr>
          <p:cNvPr id="427" name="Google Shape;427;p18"/>
          <p:cNvSpPr/>
          <p:nvPr/>
        </p:nvSpPr>
        <p:spPr>
          <a:xfrm>
            <a:off x="912813" y="1687513"/>
            <a:ext cx="1933575" cy="396875"/>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dk1"/>
              </a:buClr>
              <a:buSzPts val="2000"/>
              <a:buFont typeface="Arial"/>
              <a:buNone/>
            </a:pPr>
            <a:r>
              <a:rPr lang="en-US" sz="2000" b="1">
                <a:solidFill>
                  <a:schemeClr val="dk1"/>
                </a:solidFill>
                <a:latin typeface="Calibri"/>
                <a:ea typeface="Calibri"/>
                <a:cs typeface="Calibri"/>
                <a:sym typeface="Calibri"/>
              </a:rPr>
              <a:t>EMPLOYEE</a:t>
            </a:r>
            <a:endParaRPr/>
          </a:p>
        </p:txBody>
      </p:sp>
      <p:grpSp>
        <p:nvGrpSpPr>
          <p:cNvPr id="428" name="Google Shape;428;p18"/>
          <p:cNvGrpSpPr/>
          <p:nvPr/>
        </p:nvGrpSpPr>
        <p:grpSpPr>
          <a:xfrm>
            <a:off x="1612900" y="1943100"/>
            <a:ext cx="4776788" cy="2008188"/>
            <a:chOff x="1016" y="1224"/>
            <a:chExt cx="3009" cy="1265"/>
          </a:xfrm>
        </p:grpSpPr>
        <p:sp>
          <p:nvSpPr>
            <p:cNvPr id="429" name="Google Shape;429;p18"/>
            <p:cNvSpPr/>
            <p:nvPr/>
          </p:nvSpPr>
          <p:spPr>
            <a:xfrm>
              <a:off x="1720" y="1224"/>
              <a:ext cx="2305" cy="225"/>
            </a:xfrm>
            <a:custGeom>
              <a:avLst/>
              <a:gdLst/>
              <a:ahLst/>
              <a:cxnLst/>
              <a:rect l="l" t="t" r="r" b="b"/>
              <a:pathLst>
                <a:path w="2305" h="225" extrusionOk="0">
                  <a:moveTo>
                    <a:pt x="0" y="224"/>
                  </a:moveTo>
                  <a:lnTo>
                    <a:pt x="0" y="0"/>
                  </a:lnTo>
                  <a:lnTo>
                    <a:pt x="2304" y="0"/>
                  </a:lnTo>
                </a:path>
              </a:pathLst>
            </a:custGeom>
            <a:noFill/>
            <a:ln w="25400" cap="rnd" cmpd="sng">
              <a:solidFill>
                <a:schemeClr val="dk2"/>
              </a:solidFill>
              <a:prstDash val="solid"/>
              <a:round/>
              <a:headEnd type="none" w="sm" len="sm"/>
              <a:tailEnd type="stealth"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430" name="Google Shape;430;p18"/>
            <p:cNvCxnSpPr/>
            <p:nvPr/>
          </p:nvCxnSpPr>
          <p:spPr>
            <a:xfrm>
              <a:off x="1016" y="1608"/>
              <a:ext cx="1424" cy="0"/>
            </a:xfrm>
            <a:prstGeom prst="straightConnector1">
              <a:avLst/>
            </a:prstGeom>
            <a:noFill/>
            <a:ln w="25400" cap="flat" cmpd="sng">
              <a:solidFill>
                <a:schemeClr val="dk2"/>
              </a:solidFill>
              <a:prstDash val="solid"/>
              <a:round/>
              <a:headEnd type="none" w="sm" len="sm"/>
              <a:tailEnd type="stealth" w="med" len="med"/>
            </a:ln>
          </p:spPr>
        </p:cxnSp>
        <p:sp>
          <p:nvSpPr>
            <p:cNvPr id="431" name="Google Shape;431;p18"/>
            <p:cNvSpPr/>
            <p:nvPr/>
          </p:nvSpPr>
          <p:spPr>
            <a:xfrm>
              <a:off x="2088" y="1736"/>
              <a:ext cx="769" cy="177"/>
            </a:xfrm>
            <a:custGeom>
              <a:avLst/>
              <a:gdLst/>
              <a:ahLst/>
              <a:cxnLst/>
              <a:rect l="l" t="t" r="r" b="b"/>
              <a:pathLst>
                <a:path w="769" h="177" extrusionOk="0">
                  <a:moveTo>
                    <a:pt x="0" y="0"/>
                  </a:moveTo>
                  <a:lnTo>
                    <a:pt x="0" y="176"/>
                  </a:lnTo>
                  <a:lnTo>
                    <a:pt x="768" y="176"/>
                  </a:lnTo>
                </a:path>
              </a:pathLst>
            </a:custGeom>
            <a:noFill/>
            <a:ln w="25400" cap="rnd" cmpd="sng">
              <a:solidFill>
                <a:schemeClr val="dk2"/>
              </a:solidFill>
              <a:prstDash val="solid"/>
              <a:round/>
              <a:headEnd type="none" w="sm" len="sm"/>
              <a:tailEnd type="stealth"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432" name="Google Shape;432;p18"/>
            <p:cNvCxnSpPr/>
            <p:nvPr/>
          </p:nvCxnSpPr>
          <p:spPr>
            <a:xfrm>
              <a:off x="1960" y="2104"/>
              <a:ext cx="1488" cy="0"/>
            </a:xfrm>
            <a:prstGeom prst="straightConnector1">
              <a:avLst/>
            </a:prstGeom>
            <a:noFill/>
            <a:ln w="25400" cap="flat" cmpd="sng">
              <a:solidFill>
                <a:schemeClr val="dk2"/>
              </a:solidFill>
              <a:prstDash val="solid"/>
              <a:round/>
              <a:headEnd type="none" w="sm" len="sm"/>
              <a:tailEnd type="stealth" w="med" len="med"/>
            </a:ln>
          </p:spPr>
        </p:cxnSp>
        <p:sp>
          <p:nvSpPr>
            <p:cNvPr id="433" name="Google Shape;433;p18"/>
            <p:cNvSpPr/>
            <p:nvPr/>
          </p:nvSpPr>
          <p:spPr>
            <a:xfrm>
              <a:off x="1328" y="1944"/>
              <a:ext cx="2146" cy="545"/>
            </a:xfrm>
            <a:custGeom>
              <a:avLst/>
              <a:gdLst/>
              <a:ahLst/>
              <a:cxnLst/>
              <a:rect l="l" t="t" r="r" b="b"/>
              <a:pathLst>
                <a:path w="2146" h="545" extrusionOk="0">
                  <a:moveTo>
                    <a:pt x="0" y="0"/>
                  </a:moveTo>
                  <a:lnTo>
                    <a:pt x="0" y="544"/>
                  </a:lnTo>
                  <a:lnTo>
                    <a:pt x="2145" y="544"/>
                  </a:lnTo>
                  <a:lnTo>
                    <a:pt x="2145" y="300"/>
                  </a:lnTo>
                </a:path>
              </a:pathLst>
            </a:custGeom>
            <a:noFill/>
            <a:ln w="25400" cap="rnd" cmpd="sng">
              <a:solidFill>
                <a:schemeClr val="dk2"/>
              </a:solidFill>
              <a:prstDash val="solid"/>
              <a:round/>
              <a:headEnd type="none" w="sm" len="sm"/>
              <a:tailEnd type="stealth" w="med" len="med"/>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434" name="Google Shape;434;p18"/>
          <p:cNvSpPr/>
          <p:nvPr/>
        </p:nvSpPr>
        <p:spPr>
          <a:xfrm>
            <a:off x="228600" y="4087813"/>
            <a:ext cx="6934200" cy="2174875"/>
          </a:xfrm>
          <a:prstGeom prst="rect">
            <a:avLst/>
          </a:prstGeom>
          <a:noFill/>
          <a:ln>
            <a:noFill/>
          </a:ln>
        </p:spPr>
        <p:txBody>
          <a:bodyPr spcFirstLastPara="1" wrap="square" lIns="92075" tIns="46025" rIns="92075" bIns="46025" anchor="t" anchorCtr="0">
            <a:spAutoFit/>
          </a:bodyPr>
          <a:lstStyle/>
          <a:p>
            <a:pPr marL="405130" marR="0" lvl="0" indent="-405130" algn="l" rtl="0">
              <a:lnSpc>
                <a:spcPct val="95000"/>
              </a:lnSpc>
              <a:spcBef>
                <a:spcPts val="0"/>
              </a:spcBef>
              <a:spcAft>
                <a:spcPts val="0"/>
              </a:spcAft>
              <a:buClr>
                <a:srgbClr val="0000CC"/>
              </a:buClr>
              <a:buSzPts val="2200"/>
              <a:buFont typeface="Arial"/>
              <a:buNone/>
            </a:pPr>
            <a:r>
              <a:rPr lang="en-US" sz="2200" i="1">
                <a:solidFill>
                  <a:srgbClr val="0000CC"/>
                </a:solidFill>
                <a:latin typeface="Calibri"/>
                <a:ea typeface="Calibri"/>
                <a:cs typeface="Calibri"/>
                <a:sym typeface="Calibri"/>
              </a:rPr>
              <a:t>Numerical observation:</a:t>
            </a:r>
            <a:endParaRPr sz="2200">
              <a:solidFill>
                <a:srgbClr val="0000CC"/>
              </a:solidFill>
              <a:latin typeface="Calibri"/>
              <a:ea typeface="Calibri"/>
              <a:cs typeface="Calibri"/>
              <a:sym typeface="Calibri"/>
            </a:endParaRPr>
          </a:p>
          <a:p>
            <a:pPr marL="405130" marR="0" lvl="0" indent="-405130" algn="l" rtl="0">
              <a:lnSpc>
                <a:spcPct val="95000"/>
              </a:lnSpc>
              <a:spcBef>
                <a:spcPts val="770"/>
              </a:spcBef>
              <a:spcAft>
                <a:spcPts val="0"/>
              </a:spcAft>
              <a:buClr>
                <a:schemeClr val="accent2"/>
              </a:buClr>
              <a:buSzPts val="2200"/>
              <a:buFont typeface="Arial"/>
              <a:buChar char="•"/>
            </a:pPr>
            <a:r>
              <a:rPr lang="en-US" sz="2200" i="1" u="sng">
                <a:solidFill>
                  <a:srgbClr val="0000CC"/>
                </a:solidFill>
                <a:latin typeface="Calibri"/>
                <a:ea typeface="Calibri"/>
                <a:cs typeface="Calibri"/>
                <a:sym typeface="Calibri"/>
              </a:rPr>
              <a:t>All</a:t>
            </a:r>
            <a:r>
              <a:rPr lang="en-US" sz="2200">
                <a:solidFill>
                  <a:srgbClr val="0000CC"/>
                </a:solidFill>
                <a:latin typeface="Calibri"/>
                <a:ea typeface="Calibri"/>
                <a:cs typeface="Calibri"/>
                <a:sym typeface="Calibri"/>
              </a:rPr>
              <a:t> EMPLOYEES have a JOB</a:t>
            </a:r>
            <a:endParaRPr/>
          </a:p>
          <a:p>
            <a:pPr marL="405130" marR="0" lvl="0" indent="-405130" algn="l" rtl="0">
              <a:lnSpc>
                <a:spcPct val="95000"/>
              </a:lnSpc>
              <a:spcBef>
                <a:spcPts val="770"/>
              </a:spcBef>
              <a:spcAft>
                <a:spcPts val="0"/>
              </a:spcAft>
              <a:buClr>
                <a:schemeClr val="accent2"/>
              </a:buClr>
              <a:buSzPts val="2200"/>
              <a:buFont typeface="Arial"/>
              <a:buChar char="•"/>
            </a:pPr>
            <a:r>
              <a:rPr lang="en-US" sz="2200">
                <a:solidFill>
                  <a:srgbClr val="0000CC"/>
                </a:solidFill>
                <a:latin typeface="Calibri"/>
                <a:ea typeface="Calibri"/>
                <a:cs typeface="Calibri"/>
                <a:sym typeface="Calibri"/>
              </a:rPr>
              <a:t>No EMPLOYEE has </a:t>
            </a:r>
            <a:r>
              <a:rPr lang="en-US" sz="2200" i="1" u="sng">
                <a:solidFill>
                  <a:srgbClr val="0000CC"/>
                </a:solidFill>
                <a:latin typeface="Calibri"/>
                <a:ea typeface="Calibri"/>
                <a:cs typeface="Calibri"/>
                <a:sym typeface="Calibri"/>
              </a:rPr>
              <a:t>more than one</a:t>
            </a:r>
            <a:r>
              <a:rPr lang="en-US" sz="2200">
                <a:solidFill>
                  <a:srgbClr val="0000CC"/>
                </a:solidFill>
                <a:latin typeface="Calibri"/>
                <a:ea typeface="Calibri"/>
                <a:cs typeface="Calibri"/>
                <a:sym typeface="Calibri"/>
              </a:rPr>
              <a:t> JOB</a:t>
            </a:r>
            <a:endParaRPr/>
          </a:p>
          <a:p>
            <a:pPr marL="405130" marR="0" lvl="0" indent="-405130" algn="l" rtl="0">
              <a:lnSpc>
                <a:spcPct val="95000"/>
              </a:lnSpc>
              <a:spcBef>
                <a:spcPts val="770"/>
              </a:spcBef>
              <a:spcAft>
                <a:spcPts val="0"/>
              </a:spcAft>
              <a:buClr>
                <a:schemeClr val="accent2"/>
              </a:buClr>
              <a:buSzPts val="2200"/>
              <a:buFont typeface="Arial"/>
              <a:buChar char="•"/>
            </a:pPr>
            <a:r>
              <a:rPr lang="en-US" sz="2200" i="1" u="sng">
                <a:solidFill>
                  <a:srgbClr val="0000CC"/>
                </a:solidFill>
                <a:latin typeface="Calibri"/>
                <a:ea typeface="Calibri"/>
                <a:cs typeface="Calibri"/>
                <a:sym typeface="Calibri"/>
              </a:rPr>
              <a:t>Not all</a:t>
            </a:r>
            <a:r>
              <a:rPr lang="en-US" sz="2200">
                <a:solidFill>
                  <a:srgbClr val="0000CC"/>
                </a:solidFill>
                <a:latin typeface="Calibri"/>
                <a:ea typeface="Calibri"/>
                <a:cs typeface="Calibri"/>
                <a:sym typeface="Calibri"/>
              </a:rPr>
              <a:t> JOBS are held by an EMPLOYEE</a:t>
            </a:r>
            <a:endParaRPr/>
          </a:p>
          <a:p>
            <a:pPr marL="405130" marR="0" lvl="0" indent="-405130" algn="l" rtl="0">
              <a:lnSpc>
                <a:spcPct val="95000"/>
              </a:lnSpc>
              <a:spcBef>
                <a:spcPts val="770"/>
              </a:spcBef>
              <a:spcAft>
                <a:spcPts val="0"/>
              </a:spcAft>
              <a:buClr>
                <a:schemeClr val="accent2"/>
              </a:buClr>
              <a:buSzPts val="2200"/>
              <a:buFont typeface="Arial"/>
              <a:buChar char="•"/>
            </a:pPr>
            <a:r>
              <a:rPr lang="en-US" sz="2200">
                <a:solidFill>
                  <a:srgbClr val="0000CC"/>
                </a:solidFill>
                <a:latin typeface="Calibri"/>
                <a:ea typeface="Calibri"/>
                <a:cs typeface="Calibri"/>
                <a:sym typeface="Calibri"/>
              </a:rPr>
              <a:t>Some JOBS are held by </a:t>
            </a:r>
            <a:r>
              <a:rPr lang="en-US" sz="2200" i="1" u="sng">
                <a:solidFill>
                  <a:srgbClr val="0000CC"/>
                </a:solidFill>
                <a:latin typeface="Calibri"/>
                <a:ea typeface="Calibri"/>
                <a:cs typeface="Calibri"/>
                <a:sym typeface="Calibri"/>
              </a:rPr>
              <a:t>more than one</a:t>
            </a:r>
            <a:r>
              <a:rPr lang="en-US" sz="2200">
                <a:solidFill>
                  <a:srgbClr val="0000CC"/>
                </a:solidFill>
                <a:latin typeface="Calibri"/>
                <a:ea typeface="Calibri"/>
                <a:cs typeface="Calibri"/>
                <a:sym typeface="Calibri"/>
              </a:rPr>
              <a:t> EMPLOYEE </a:t>
            </a:r>
            <a:endParaRPr/>
          </a:p>
        </p:txBody>
      </p:sp>
      <p:sp>
        <p:nvSpPr>
          <p:cNvPr id="435" name="Google Shape;435;p18"/>
          <p:cNvSpPr/>
          <p:nvPr/>
        </p:nvSpPr>
        <p:spPr>
          <a:xfrm>
            <a:off x="1571625" y="2085975"/>
            <a:ext cx="1408113" cy="366713"/>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Shintaro</a:t>
            </a:r>
            <a:endParaRPr/>
          </a:p>
        </p:txBody>
      </p:sp>
      <p:sp>
        <p:nvSpPr>
          <p:cNvPr id="436" name="Google Shape;436;p18"/>
          <p:cNvSpPr/>
          <p:nvPr/>
        </p:nvSpPr>
        <p:spPr>
          <a:xfrm rot="-60000">
            <a:off x="2619375" y="2155825"/>
            <a:ext cx="198438" cy="227013"/>
          </a:xfrm>
          <a:prstGeom prst="plus">
            <a:avLst>
              <a:gd name="adj" fmla="val 29694"/>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p:txBody>
      </p:sp>
      <p:sp>
        <p:nvSpPr>
          <p:cNvPr id="437" name="Google Shape;437;p18"/>
          <p:cNvSpPr/>
          <p:nvPr/>
        </p:nvSpPr>
        <p:spPr>
          <a:xfrm>
            <a:off x="6731000" y="2198688"/>
            <a:ext cx="2238375" cy="366712"/>
          </a:xfrm>
          <a:prstGeom prst="rect">
            <a:avLst/>
          </a:prstGeom>
          <a:noFill/>
          <a:ln>
            <a:noFill/>
          </a:ln>
        </p:spPr>
        <p:txBody>
          <a:bodyPr spcFirstLastPara="1" wrap="square" lIns="92075" tIns="46025" rIns="92075" bIns="46025" anchor="t" anchorCtr="0">
            <a:spAutoFit/>
          </a:bodyPr>
          <a:lstStyle/>
          <a:p>
            <a:pPr marL="0" marR="0" lvl="0" indent="0" algn="l" rtl="0">
              <a:spcBef>
                <a:spcPts val="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dish washer</a:t>
            </a:r>
            <a:endParaRPr/>
          </a:p>
        </p:txBody>
      </p:sp>
      <p:sp>
        <p:nvSpPr>
          <p:cNvPr id="438" name="Google Shape;438;p18"/>
          <p:cNvSpPr/>
          <p:nvPr/>
        </p:nvSpPr>
        <p:spPr>
          <a:xfrm rot="-60000">
            <a:off x="3000375" y="3184525"/>
            <a:ext cx="196850" cy="225425"/>
          </a:xfrm>
          <a:prstGeom prst="plus">
            <a:avLst>
              <a:gd name="adj" fmla="val 29694"/>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p:txBody>
      </p:sp>
      <p:sp>
        <p:nvSpPr>
          <p:cNvPr id="439" name="Google Shape;439;p18"/>
          <p:cNvSpPr/>
          <p:nvPr/>
        </p:nvSpPr>
        <p:spPr>
          <a:xfrm rot="-60000">
            <a:off x="2009775" y="2867025"/>
            <a:ext cx="198438" cy="225425"/>
          </a:xfrm>
          <a:prstGeom prst="plus">
            <a:avLst>
              <a:gd name="adj" fmla="val 29694"/>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p:txBody>
      </p:sp>
      <p:sp>
        <p:nvSpPr>
          <p:cNvPr id="440" name="Google Shape;440;p18"/>
          <p:cNvSpPr/>
          <p:nvPr/>
        </p:nvSpPr>
        <p:spPr>
          <a:xfrm rot="-60000">
            <a:off x="1557338" y="2435225"/>
            <a:ext cx="196850" cy="225425"/>
          </a:xfrm>
          <a:prstGeom prst="plus">
            <a:avLst>
              <a:gd name="adj" fmla="val 29694"/>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p:txBody>
      </p:sp>
      <p:sp>
        <p:nvSpPr>
          <p:cNvPr id="441" name="Google Shape;441;p18"/>
          <p:cNvSpPr/>
          <p:nvPr/>
        </p:nvSpPr>
        <p:spPr>
          <a:xfrm rot="-60000">
            <a:off x="3203575" y="2663825"/>
            <a:ext cx="198438" cy="227013"/>
          </a:xfrm>
          <a:prstGeom prst="plus">
            <a:avLst>
              <a:gd name="adj" fmla="val 29694"/>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p:txBody>
      </p:sp>
      <p:sp>
        <p:nvSpPr>
          <p:cNvPr id="442" name="Google Shape;442;p18"/>
          <p:cNvSpPr txBox="1"/>
          <p:nvPr/>
        </p:nvSpPr>
        <p:spPr>
          <a:xfrm>
            <a:off x="5867400" y="4267200"/>
            <a:ext cx="3048000" cy="1200150"/>
          </a:xfrm>
          <a:prstGeom prst="rect">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Clr>
                <a:srgbClr val="FF0000"/>
              </a:buClr>
              <a:buSzPts val="2400"/>
              <a:buFont typeface="Arial"/>
              <a:buNone/>
            </a:pPr>
            <a:r>
              <a:rPr lang="en-US" sz="2400">
                <a:solidFill>
                  <a:srgbClr val="FF0000"/>
                </a:solidFill>
                <a:latin typeface="Times New Roman"/>
                <a:ea typeface="Times New Roman"/>
                <a:cs typeface="Times New Roman"/>
                <a:sym typeface="Times New Roman"/>
              </a:rPr>
              <a:t>Whether all these are true, it all depends on business rules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1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Employees </a:t>
            </a:r>
            <a:r>
              <a:rPr lang="en-US" i="1">
                <a:solidFill>
                  <a:srgbClr val="0070C0"/>
                </a:solidFill>
              </a:rPr>
              <a:t>Have</a:t>
            </a:r>
            <a:r>
              <a:rPr lang="en-US"/>
              <a:t> Jobs</a:t>
            </a:r>
            <a:endParaRPr/>
          </a:p>
        </p:txBody>
      </p:sp>
      <p:sp>
        <p:nvSpPr>
          <p:cNvPr id="448" name="Google Shape;448;p1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grpSp>
        <p:nvGrpSpPr>
          <p:cNvPr id="449" name="Google Shape;449;p19"/>
          <p:cNvGrpSpPr/>
          <p:nvPr/>
        </p:nvGrpSpPr>
        <p:grpSpPr>
          <a:xfrm>
            <a:off x="838200" y="2819400"/>
            <a:ext cx="7467600" cy="1447800"/>
            <a:chOff x="1524000" y="4038600"/>
            <a:chExt cx="6172200" cy="923330"/>
          </a:xfrm>
        </p:grpSpPr>
        <p:sp>
          <p:nvSpPr>
            <p:cNvPr id="450" name="Google Shape;450;p19"/>
            <p:cNvSpPr txBox="1"/>
            <p:nvPr/>
          </p:nvSpPr>
          <p:spPr>
            <a:xfrm>
              <a:off x="1524000" y="4038600"/>
              <a:ext cx="2133600" cy="923330"/>
            </a:xfrm>
            <a:prstGeom prst="rect">
              <a:avLst/>
            </a:prstGeom>
            <a:noFill/>
            <a:ln w="28575" cap="flat" cmpd="sng">
              <a:solidFill>
                <a:schemeClr val="dk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400"/>
                <a:buFont typeface="Arial"/>
                <a:buNone/>
              </a:pPr>
              <a:endParaRPr sz="2400">
                <a:solidFill>
                  <a:schemeClr val="dk1"/>
                </a:solidFill>
                <a:latin typeface="Arial"/>
                <a:ea typeface="Arial"/>
                <a:cs typeface="Arial"/>
                <a:sym typeface="Arial"/>
              </a:endParaRPr>
            </a:p>
            <a:p>
              <a:pPr marL="0" marR="0" lvl="0" indent="0" algn="ctr" rtl="0">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EMPLOYEES</a:t>
              </a:r>
              <a:endParaRPr/>
            </a:p>
            <a:p>
              <a:pPr marL="0" marR="0" lvl="0" indent="0" algn="ctr" rtl="0">
                <a:spcBef>
                  <a:spcPts val="0"/>
                </a:spcBef>
                <a:spcAft>
                  <a:spcPts val="0"/>
                </a:spcAft>
                <a:buClr>
                  <a:schemeClr val="dk1"/>
                </a:buClr>
                <a:buSzPts val="2400"/>
                <a:buFont typeface="Arial"/>
                <a:buNone/>
              </a:pPr>
              <a:endParaRPr sz="2400">
                <a:solidFill>
                  <a:schemeClr val="dk1"/>
                </a:solidFill>
                <a:latin typeface="Arial"/>
                <a:ea typeface="Arial"/>
                <a:cs typeface="Arial"/>
                <a:sym typeface="Arial"/>
              </a:endParaRPr>
            </a:p>
          </p:txBody>
        </p:sp>
        <p:sp>
          <p:nvSpPr>
            <p:cNvPr id="451" name="Google Shape;451;p19"/>
            <p:cNvSpPr txBox="1"/>
            <p:nvPr/>
          </p:nvSpPr>
          <p:spPr>
            <a:xfrm>
              <a:off x="6096000" y="4038600"/>
              <a:ext cx="1600200" cy="92333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400"/>
                <a:buFont typeface="Arial"/>
                <a:buNone/>
              </a:pPr>
              <a:endParaRPr sz="2400">
                <a:solidFill>
                  <a:schemeClr val="dk1"/>
                </a:solidFill>
                <a:latin typeface="Arial"/>
                <a:ea typeface="Arial"/>
                <a:cs typeface="Arial"/>
                <a:sym typeface="Arial"/>
              </a:endParaRPr>
            </a:p>
            <a:p>
              <a:pPr marL="0" marR="0" lvl="0" indent="0" algn="ctr" rtl="0">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JOBS</a:t>
              </a:r>
              <a:endParaRPr/>
            </a:p>
            <a:p>
              <a:pPr marL="0" marR="0" lvl="0" indent="0" algn="ctr" rtl="0">
                <a:spcBef>
                  <a:spcPts val="0"/>
                </a:spcBef>
                <a:spcAft>
                  <a:spcPts val="0"/>
                </a:spcAft>
                <a:buClr>
                  <a:schemeClr val="dk1"/>
                </a:buClr>
                <a:buSzPts val="2400"/>
                <a:buFont typeface="Arial"/>
                <a:buNone/>
              </a:pPr>
              <a:endParaRPr sz="2400">
                <a:solidFill>
                  <a:schemeClr val="dk1"/>
                </a:solidFill>
                <a:latin typeface="Arial"/>
                <a:ea typeface="Arial"/>
                <a:cs typeface="Arial"/>
                <a:sym typeface="Arial"/>
              </a:endParaRPr>
            </a:p>
          </p:txBody>
        </p:sp>
        <p:cxnSp>
          <p:nvCxnSpPr>
            <p:cNvPr id="452" name="Google Shape;452;p19"/>
            <p:cNvCxnSpPr>
              <a:stCxn id="450" idx="3"/>
              <a:endCxn id="451" idx="1"/>
            </p:cNvCxnSpPr>
            <p:nvPr/>
          </p:nvCxnSpPr>
          <p:spPr>
            <a:xfrm>
              <a:off x="3657600" y="4500265"/>
              <a:ext cx="2438400" cy="0"/>
            </a:xfrm>
            <a:prstGeom prst="straightConnector1">
              <a:avLst/>
            </a:prstGeom>
            <a:noFill/>
            <a:ln w="9525" cap="flat" cmpd="sng">
              <a:solidFill>
                <a:schemeClr val="dk1"/>
              </a:solidFill>
              <a:prstDash val="solid"/>
              <a:miter lim="800000"/>
              <a:headEnd type="none" w="sm" len="sm"/>
              <a:tailEnd type="none" w="sm" len="sm"/>
            </a:ln>
          </p:spPr>
        </p:cxnSp>
        <p:sp>
          <p:nvSpPr>
            <p:cNvPr id="453" name="Google Shape;453;p19"/>
            <p:cNvSpPr txBox="1"/>
            <p:nvPr/>
          </p:nvSpPr>
          <p:spPr>
            <a:xfrm>
              <a:off x="4343400" y="4038600"/>
              <a:ext cx="86004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HAVE </a:t>
              </a:r>
              <a:endParaRPr/>
            </a:p>
          </p:txBody>
        </p:sp>
        <p:sp>
          <p:nvSpPr>
            <p:cNvPr id="454" name="Google Shape;454;p19"/>
            <p:cNvSpPr/>
            <p:nvPr/>
          </p:nvSpPr>
          <p:spPr>
            <a:xfrm rot="5400000">
              <a:off x="5257800" y="4114800"/>
              <a:ext cx="152400" cy="152400"/>
            </a:xfrm>
            <a:prstGeom prst="triangle">
              <a:avLst>
                <a:gd name="adj" fmla="val 50000"/>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Calibri"/>
                <a:ea typeface="Calibri"/>
                <a:cs typeface="Calibri"/>
                <a:sym typeface="Calibri"/>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2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Relationship Types</a:t>
            </a:r>
            <a:endParaRPr/>
          </a:p>
        </p:txBody>
      </p:sp>
      <p:sp>
        <p:nvSpPr>
          <p:cNvPr id="460" name="Google Shape;460;p20"/>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70C0"/>
              </a:buClr>
              <a:buSzPts val="2800"/>
              <a:buChar char="•"/>
            </a:pPr>
            <a:r>
              <a:rPr lang="en-US" b="1">
                <a:solidFill>
                  <a:srgbClr val="0070C0"/>
                </a:solidFill>
              </a:rPr>
              <a:t>Degree of a Relationship</a:t>
            </a:r>
            <a:endParaRPr/>
          </a:p>
          <a:p>
            <a:pPr marL="685800" lvl="1" indent="-228600" algn="l" rtl="0">
              <a:lnSpc>
                <a:spcPct val="90000"/>
              </a:lnSpc>
              <a:spcBef>
                <a:spcPts val="500"/>
              </a:spcBef>
              <a:spcAft>
                <a:spcPts val="0"/>
              </a:spcAft>
              <a:buClr>
                <a:schemeClr val="dk1"/>
              </a:buClr>
              <a:buSzPts val="2400"/>
              <a:buChar char="•"/>
            </a:pPr>
            <a:r>
              <a:rPr lang="en-US"/>
              <a:t>Number of participating entities in  relationship.</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Degree of relationship:</a:t>
            </a:r>
            <a:endParaRPr/>
          </a:p>
          <a:p>
            <a:pPr marL="685800" lvl="1" indent="-228600" algn="l" rtl="0">
              <a:lnSpc>
                <a:spcPct val="90000"/>
              </a:lnSpc>
              <a:spcBef>
                <a:spcPts val="500"/>
              </a:spcBef>
              <a:spcAft>
                <a:spcPts val="0"/>
              </a:spcAft>
              <a:buClr>
                <a:schemeClr val="dk1"/>
              </a:buClr>
              <a:buSzPts val="2400"/>
              <a:buChar char="•"/>
            </a:pPr>
            <a:r>
              <a:rPr lang="en-US"/>
              <a:t>two entities 🡪 </a:t>
            </a:r>
            <a:r>
              <a:rPr lang="en-US" b="1">
                <a:solidFill>
                  <a:srgbClr val="0070C0"/>
                </a:solidFill>
              </a:rPr>
              <a:t>binary</a:t>
            </a:r>
            <a:r>
              <a:rPr lang="en-US"/>
              <a:t>;</a:t>
            </a:r>
            <a:endParaRPr/>
          </a:p>
          <a:p>
            <a:pPr marL="685800" lvl="1" indent="-228600" algn="l" rtl="0">
              <a:lnSpc>
                <a:spcPct val="90000"/>
              </a:lnSpc>
              <a:spcBef>
                <a:spcPts val="500"/>
              </a:spcBef>
              <a:spcAft>
                <a:spcPts val="0"/>
              </a:spcAft>
              <a:buClr>
                <a:schemeClr val="dk1"/>
              </a:buClr>
              <a:buSzPts val="2400"/>
              <a:buChar char="•"/>
            </a:pPr>
            <a:r>
              <a:rPr lang="en-US"/>
              <a:t>three entities 🡪 </a:t>
            </a:r>
            <a:r>
              <a:rPr lang="en-US" b="1">
                <a:solidFill>
                  <a:srgbClr val="0070C0"/>
                </a:solidFill>
              </a:rPr>
              <a:t>ternary</a:t>
            </a:r>
            <a:r>
              <a:rPr lang="en-US"/>
              <a:t>;</a:t>
            </a:r>
            <a:endParaRPr/>
          </a:p>
          <a:p>
            <a:pPr marL="685800" lvl="1" indent="-228600" algn="l" rtl="0">
              <a:lnSpc>
                <a:spcPct val="90000"/>
              </a:lnSpc>
              <a:spcBef>
                <a:spcPts val="500"/>
              </a:spcBef>
              <a:spcAft>
                <a:spcPts val="0"/>
              </a:spcAft>
              <a:buClr>
                <a:schemeClr val="dk1"/>
              </a:buClr>
              <a:buSzPts val="2400"/>
              <a:buChar char="•"/>
            </a:pPr>
            <a:r>
              <a:rPr lang="en-US"/>
              <a:t>four entities 🡪 </a:t>
            </a:r>
            <a:r>
              <a:rPr lang="en-US" b="1">
                <a:solidFill>
                  <a:srgbClr val="0070C0"/>
                </a:solidFill>
              </a:rPr>
              <a:t>quaternary</a:t>
            </a:r>
            <a:r>
              <a:rPr lang="en-US"/>
              <a:t>.</a:t>
            </a:r>
            <a:endParaRPr/>
          </a:p>
          <a:p>
            <a:pPr marL="228600" lvl="0" indent="-50800" algn="l" rtl="0">
              <a:lnSpc>
                <a:spcPct val="90000"/>
              </a:lnSpc>
              <a:spcBef>
                <a:spcPts val="1000"/>
              </a:spcBef>
              <a:spcAft>
                <a:spcPts val="0"/>
              </a:spcAft>
              <a:buClr>
                <a:schemeClr val="dk1"/>
              </a:buClr>
              <a:buSzPts val="2800"/>
              <a:buNone/>
            </a:pPr>
            <a:endParaRPr/>
          </a:p>
        </p:txBody>
      </p:sp>
      <p:sp>
        <p:nvSpPr>
          <p:cNvPr id="461" name="Google Shape;461;p2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2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Example a binary relationship called: </a:t>
            </a:r>
            <a:r>
              <a:rPr lang="en-US" i="1">
                <a:solidFill>
                  <a:srgbClr val="0070C0"/>
                </a:solidFill>
              </a:rPr>
              <a:t>POwns</a:t>
            </a:r>
            <a:endParaRPr>
              <a:solidFill>
                <a:srgbClr val="0070C0"/>
              </a:solidFill>
            </a:endParaRPr>
          </a:p>
        </p:txBody>
      </p:sp>
      <p:pic>
        <p:nvPicPr>
          <p:cNvPr id="467" name="Google Shape;467;p21"/>
          <p:cNvPicPr preferRelativeResize="0">
            <a:picLocks noGrp="1"/>
          </p:cNvPicPr>
          <p:nvPr>
            <p:ph type="body" idx="1"/>
          </p:nvPr>
        </p:nvPicPr>
        <p:blipFill rotWithShape="1">
          <a:blip r:embed="rId3">
            <a:alphaModFix/>
          </a:blip>
          <a:srcRect/>
          <a:stretch/>
        </p:blipFill>
        <p:spPr>
          <a:xfrm>
            <a:off x="435238" y="2065263"/>
            <a:ext cx="8273524" cy="2036837"/>
          </a:xfrm>
          <a:prstGeom prst="rect">
            <a:avLst/>
          </a:prstGeom>
          <a:noFill/>
          <a:ln>
            <a:noFill/>
          </a:ln>
        </p:spPr>
      </p:pic>
      <p:sp>
        <p:nvSpPr>
          <p:cNvPr id="468" name="Google Shape;468;p2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pic>
        <p:nvPicPr>
          <p:cNvPr id="469" name="Google Shape;469;p21"/>
          <p:cNvPicPr preferRelativeResize="0"/>
          <p:nvPr/>
        </p:nvPicPr>
        <p:blipFill rotWithShape="1">
          <a:blip r:embed="rId4">
            <a:alphaModFix/>
          </a:blip>
          <a:srcRect/>
          <a:stretch/>
        </p:blipFill>
        <p:spPr>
          <a:xfrm>
            <a:off x="6500736" y="4324283"/>
            <a:ext cx="1627264" cy="141501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2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Example of a ternary relationship called: </a:t>
            </a:r>
            <a:r>
              <a:rPr lang="en-US" i="1">
                <a:solidFill>
                  <a:srgbClr val="0070C0"/>
                </a:solidFill>
              </a:rPr>
              <a:t>Registers</a:t>
            </a:r>
            <a:endParaRPr>
              <a:solidFill>
                <a:srgbClr val="0070C0"/>
              </a:solidFill>
            </a:endParaRPr>
          </a:p>
        </p:txBody>
      </p:sp>
      <p:pic>
        <p:nvPicPr>
          <p:cNvPr id="475" name="Google Shape;475;p22"/>
          <p:cNvPicPr preferRelativeResize="0">
            <a:picLocks noGrp="1"/>
          </p:cNvPicPr>
          <p:nvPr>
            <p:ph type="body" idx="1"/>
          </p:nvPr>
        </p:nvPicPr>
        <p:blipFill rotWithShape="1">
          <a:blip r:embed="rId3">
            <a:alphaModFix/>
          </a:blip>
          <a:srcRect/>
          <a:stretch/>
        </p:blipFill>
        <p:spPr>
          <a:xfrm>
            <a:off x="904363" y="2605686"/>
            <a:ext cx="7335274" cy="2791215"/>
          </a:xfrm>
          <a:prstGeom prst="rect">
            <a:avLst/>
          </a:prstGeom>
          <a:noFill/>
          <a:ln>
            <a:noFill/>
          </a:ln>
        </p:spPr>
      </p:pic>
      <p:sp>
        <p:nvSpPr>
          <p:cNvPr id="476" name="Google Shape;476;p2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2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Example of a quaternary relationship called: </a:t>
            </a:r>
            <a:r>
              <a:rPr lang="en-US" i="1">
                <a:solidFill>
                  <a:srgbClr val="0070C0"/>
                </a:solidFill>
              </a:rPr>
              <a:t>Arranges</a:t>
            </a:r>
            <a:endParaRPr/>
          </a:p>
        </p:txBody>
      </p:sp>
      <p:pic>
        <p:nvPicPr>
          <p:cNvPr id="482" name="Google Shape;482;p23"/>
          <p:cNvPicPr preferRelativeResize="0">
            <a:picLocks noGrp="1"/>
          </p:cNvPicPr>
          <p:nvPr>
            <p:ph type="body" idx="1"/>
          </p:nvPr>
        </p:nvPicPr>
        <p:blipFill rotWithShape="1">
          <a:blip r:embed="rId3">
            <a:alphaModFix/>
          </a:blip>
          <a:srcRect/>
          <a:stretch/>
        </p:blipFill>
        <p:spPr>
          <a:xfrm>
            <a:off x="628650" y="1971774"/>
            <a:ext cx="7886700" cy="4059039"/>
          </a:xfrm>
          <a:prstGeom prst="rect">
            <a:avLst/>
          </a:prstGeom>
          <a:noFill/>
          <a:ln>
            <a:noFill/>
          </a:ln>
        </p:spPr>
      </p:pic>
      <p:sp>
        <p:nvSpPr>
          <p:cNvPr id="483" name="Google Shape;483;p2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2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Relationship Types</a:t>
            </a:r>
            <a:endParaRPr/>
          </a:p>
        </p:txBody>
      </p:sp>
      <p:sp>
        <p:nvSpPr>
          <p:cNvPr id="489" name="Google Shape;489;p24"/>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70C0"/>
              </a:buClr>
              <a:buSzPts val="2800"/>
              <a:buChar char="•"/>
            </a:pPr>
            <a:r>
              <a:rPr lang="en-US" b="1">
                <a:solidFill>
                  <a:srgbClr val="0070C0"/>
                </a:solidFill>
              </a:rPr>
              <a:t>Recursive Relationship</a:t>
            </a:r>
            <a:endParaRPr/>
          </a:p>
          <a:p>
            <a:pPr marL="685800" lvl="1" indent="-228600" algn="l" rtl="0">
              <a:lnSpc>
                <a:spcPct val="90000"/>
              </a:lnSpc>
              <a:spcBef>
                <a:spcPts val="500"/>
              </a:spcBef>
              <a:spcAft>
                <a:spcPts val="0"/>
              </a:spcAft>
              <a:buClr>
                <a:schemeClr val="dk1"/>
              </a:buClr>
              <a:buSzPts val="2400"/>
              <a:buChar char="•"/>
            </a:pPr>
            <a:r>
              <a:rPr lang="en-US"/>
              <a:t>Relationship type where same entity type participates more than once in different roles. </a:t>
            </a:r>
            <a:endParaRPr/>
          </a:p>
          <a:p>
            <a:pPr marL="228600" lvl="0" indent="-228600" algn="l" rtl="0">
              <a:lnSpc>
                <a:spcPct val="90000"/>
              </a:lnSpc>
              <a:spcBef>
                <a:spcPts val="1000"/>
              </a:spcBef>
              <a:spcAft>
                <a:spcPts val="0"/>
              </a:spcAft>
              <a:buClr>
                <a:schemeClr val="dk1"/>
              </a:buClr>
              <a:buSzPts val="2800"/>
              <a:buChar char="•"/>
            </a:pPr>
            <a:r>
              <a:rPr lang="en-US"/>
              <a:t>Relationships may be given role names to indicate purpose that each participating entity type plays in a relationship. </a:t>
            </a:r>
            <a:endParaRPr/>
          </a:p>
          <a:p>
            <a:pPr marL="228600" lvl="0" indent="-50800" algn="l" rtl="0">
              <a:lnSpc>
                <a:spcPct val="90000"/>
              </a:lnSpc>
              <a:spcBef>
                <a:spcPts val="1000"/>
              </a:spcBef>
              <a:spcAft>
                <a:spcPts val="0"/>
              </a:spcAft>
              <a:buClr>
                <a:schemeClr val="dk1"/>
              </a:buClr>
              <a:buSzPts val="2800"/>
              <a:buNone/>
            </a:pPr>
            <a:endParaRPr/>
          </a:p>
        </p:txBody>
      </p:sp>
      <p:sp>
        <p:nvSpPr>
          <p:cNvPr id="490" name="Google Shape;490;p2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2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Example of recursive relationship called: </a:t>
            </a:r>
            <a:r>
              <a:rPr lang="en-US" i="1">
                <a:solidFill>
                  <a:srgbClr val="0070C0"/>
                </a:solidFill>
              </a:rPr>
              <a:t>Supervises</a:t>
            </a:r>
            <a:r>
              <a:rPr lang="en-US" i="1"/>
              <a:t> </a:t>
            </a:r>
            <a:r>
              <a:rPr lang="en-US"/>
              <a:t>with role names</a:t>
            </a:r>
            <a:endParaRPr/>
          </a:p>
        </p:txBody>
      </p:sp>
      <p:pic>
        <p:nvPicPr>
          <p:cNvPr id="496" name="Google Shape;496;p25"/>
          <p:cNvPicPr preferRelativeResize="0">
            <a:picLocks noGrp="1"/>
          </p:cNvPicPr>
          <p:nvPr>
            <p:ph type="body" idx="1"/>
          </p:nvPr>
        </p:nvPicPr>
        <p:blipFill rotWithShape="1">
          <a:blip r:embed="rId3">
            <a:alphaModFix/>
          </a:blip>
          <a:srcRect/>
          <a:stretch/>
        </p:blipFill>
        <p:spPr>
          <a:xfrm>
            <a:off x="1801870" y="1722812"/>
            <a:ext cx="7151741" cy="3313952"/>
          </a:xfrm>
          <a:prstGeom prst="rect">
            <a:avLst/>
          </a:prstGeom>
          <a:noFill/>
          <a:ln>
            <a:noFill/>
          </a:ln>
        </p:spPr>
      </p:pic>
      <p:sp>
        <p:nvSpPr>
          <p:cNvPr id="497" name="Google Shape;497;p2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pic>
        <p:nvPicPr>
          <p:cNvPr id="498" name="Google Shape;498;p25"/>
          <p:cNvPicPr preferRelativeResize="0"/>
          <p:nvPr/>
        </p:nvPicPr>
        <p:blipFill rotWithShape="1">
          <a:blip r:embed="rId4">
            <a:alphaModFix/>
          </a:blip>
          <a:srcRect/>
          <a:stretch/>
        </p:blipFill>
        <p:spPr>
          <a:xfrm>
            <a:off x="201447" y="2690502"/>
            <a:ext cx="1600423" cy="222916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26"/>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Entities associated through </a:t>
            </a:r>
            <a:r>
              <a:rPr lang="en-US">
                <a:solidFill>
                  <a:srgbClr val="0070C0"/>
                </a:solidFill>
              </a:rPr>
              <a:t>two</a:t>
            </a:r>
            <a:r>
              <a:rPr lang="en-US"/>
              <a:t> distinct Relationships with Role Names</a:t>
            </a:r>
            <a:endParaRPr/>
          </a:p>
        </p:txBody>
      </p:sp>
      <p:pic>
        <p:nvPicPr>
          <p:cNvPr id="504" name="Google Shape;504;p26"/>
          <p:cNvPicPr preferRelativeResize="0">
            <a:picLocks noGrp="1"/>
          </p:cNvPicPr>
          <p:nvPr>
            <p:ph type="body" idx="1"/>
          </p:nvPr>
        </p:nvPicPr>
        <p:blipFill rotWithShape="1">
          <a:blip r:embed="rId3">
            <a:alphaModFix/>
          </a:blip>
          <a:srcRect/>
          <a:stretch/>
        </p:blipFill>
        <p:spPr>
          <a:xfrm>
            <a:off x="1354369" y="1825625"/>
            <a:ext cx="6435262" cy="4351338"/>
          </a:xfrm>
          <a:prstGeom prst="rect">
            <a:avLst/>
          </a:prstGeom>
          <a:noFill/>
          <a:ln>
            <a:noFill/>
          </a:ln>
        </p:spPr>
      </p:pic>
      <p:sp>
        <p:nvSpPr>
          <p:cNvPr id="505" name="Google Shape;505;p2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2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Practice 1 (Problem 1): Identify all </a:t>
            </a:r>
            <a:r>
              <a:rPr lang="en-US">
                <a:solidFill>
                  <a:srgbClr val="0070C0"/>
                </a:solidFill>
              </a:rPr>
              <a:t>entities</a:t>
            </a:r>
            <a:r>
              <a:rPr lang="en-US"/>
              <a:t> and </a:t>
            </a:r>
            <a:r>
              <a:rPr lang="en-US">
                <a:solidFill>
                  <a:srgbClr val="0070C0"/>
                </a:solidFill>
              </a:rPr>
              <a:t>relationship</a:t>
            </a:r>
            <a:r>
              <a:rPr lang="en-US"/>
              <a:t> between entities.</a:t>
            </a:r>
            <a:endParaRPr/>
          </a:p>
        </p:txBody>
      </p:sp>
      <p:sp>
        <p:nvSpPr>
          <p:cNvPr id="511" name="Google Shape;511;p2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400"/>
              <a:buChar char="•"/>
            </a:pPr>
            <a:r>
              <a:rPr lang="en-US" sz="2400"/>
              <a:t>I am the manager of a training company that provides instructor-led courses in management techniques. We teach many courses, each of which has a code, a name and a fee. Introduction to UNIX and C Programming are two of our more popular courses. Courses vary in length from one day to four days. An instructor can teach several courses. Paul Rogers and Maria Gonzales are two of our best teachers. We track each instructor's name and phone number. Each course is taught by only one instructor. We create a course and then line up an instructor. The students can take several courses over time, and many of them do this. Jamie Brown from AT&amp;T took every course we offer! We track each student's name and phone number. Some of our students and instructors do not give us their phone numbers.</a:t>
            </a:r>
            <a:endParaRPr/>
          </a:p>
          <a:p>
            <a:pPr marL="228600" lvl="0" indent="-76200" algn="l" rtl="0">
              <a:lnSpc>
                <a:spcPct val="90000"/>
              </a:lnSpc>
              <a:spcBef>
                <a:spcPts val="1000"/>
              </a:spcBef>
              <a:spcAft>
                <a:spcPts val="0"/>
              </a:spcAft>
              <a:buClr>
                <a:schemeClr val="dk1"/>
              </a:buClr>
              <a:buSzPts val="2400"/>
              <a:buNone/>
            </a:pPr>
            <a:endParaRPr sz="2400"/>
          </a:p>
        </p:txBody>
      </p:sp>
      <p:sp>
        <p:nvSpPr>
          <p:cNvPr id="512" name="Google Shape;512;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28"/>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3200"/>
              <a:buFont typeface="Calibri"/>
              <a:buNone/>
            </a:pPr>
            <a:r>
              <a:rPr lang="en-US" sz="3200"/>
              <a:t>Part 2</a:t>
            </a:r>
            <a:endParaRPr/>
          </a:p>
        </p:txBody>
      </p:sp>
      <p:sp>
        <p:nvSpPr>
          <p:cNvPr id="518" name="Google Shape;518;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pic>
        <p:nvPicPr>
          <p:cNvPr id="519" name="Google Shape;519;p28" descr="Body builder outline"/>
          <p:cNvPicPr preferRelativeResize="0"/>
          <p:nvPr/>
        </p:nvPicPr>
        <p:blipFill rotWithShape="1">
          <a:blip r:embed="rId3">
            <a:alphaModFix/>
          </a:blip>
          <a:srcRect/>
          <a:stretch/>
        </p:blipFill>
        <p:spPr>
          <a:xfrm>
            <a:off x="3568484" y="3135353"/>
            <a:ext cx="2007031" cy="200703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2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Attributes</a:t>
            </a:r>
            <a:endParaRPr/>
          </a:p>
        </p:txBody>
      </p:sp>
      <p:sp>
        <p:nvSpPr>
          <p:cNvPr id="525" name="Google Shape;525;p29"/>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070C0"/>
              </a:buClr>
              <a:buSzPts val="2800"/>
              <a:buChar char="•"/>
            </a:pPr>
            <a:r>
              <a:rPr lang="en-US" b="1">
                <a:solidFill>
                  <a:srgbClr val="0070C0"/>
                </a:solidFill>
              </a:rPr>
              <a:t>Attribute</a:t>
            </a:r>
            <a:endParaRPr/>
          </a:p>
          <a:p>
            <a:pPr marL="685800" lvl="1" indent="-228600" algn="l" rtl="0">
              <a:lnSpc>
                <a:spcPct val="90000"/>
              </a:lnSpc>
              <a:spcBef>
                <a:spcPts val="500"/>
              </a:spcBef>
              <a:spcAft>
                <a:spcPts val="0"/>
              </a:spcAft>
              <a:buClr>
                <a:schemeClr val="dk1"/>
              </a:buClr>
              <a:buSzPts val="2400"/>
              <a:buChar char="•"/>
            </a:pPr>
            <a:r>
              <a:rPr lang="en-US"/>
              <a:t>Also represents something of significance to the business</a:t>
            </a:r>
            <a:endParaRPr/>
          </a:p>
          <a:p>
            <a:pPr marL="685800" lvl="1" indent="-228600" algn="l" rtl="0">
              <a:lnSpc>
                <a:spcPct val="90000"/>
              </a:lnSpc>
              <a:spcBef>
                <a:spcPts val="500"/>
              </a:spcBef>
              <a:spcAft>
                <a:spcPts val="0"/>
              </a:spcAft>
              <a:buClr>
                <a:schemeClr val="dk1"/>
              </a:buClr>
              <a:buSzPts val="2400"/>
              <a:buChar char="•"/>
            </a:pPr>
            <a:r>
              <a:rPr lang="en-US"/>
              <a:t>Is a specific piece of information that:</a:t>
            </a:r>
            <a:endParaRPr/>
          </a:p>
          <a:p>
            <a:pPr marL="1143000" lvl="2" indent="-228600" algn="l" rtl="0">
              <a:lnSpc>
                <a:spcPct val="90000"/>
              </a:lnSpc>
              <a:spcBef>
                <a:spcPts val="500"/>
              </a:spcBef>
              <a:spcAft>
                <a:spcPts val="0"/>
              </a:spcAft>
              <a:buClr>
                <a:schemeClr val="dk1"/>
              </a:buClr>
              <a:buSzPts val="2000"/>
              <a:buChar char="•"/>
            </a:pPr>
            <a:r>
              <a:rPr lang="en-US"/>
              <a:t>Describes</a:t>
            </a:r>
            <a:endParaRPr/>
          </a:p>
          <a:p>
            <a:pPr marL="1143000" lvl="2" indent="-228600" algn="l" rtl="0">
              <a:lnSpc>
                <a:spcPct val="90000"/>
              </a:lnSpc>
              <a:spcBef>
                <a:spcPts val="500"/>
              </a:spcBef>
              <a:spcAft>
                <a:spcPts val="0"/>
              </a:spcAft>
              <a:buClr>
                <a:schemeClr val="dk1"/>
              </a:buClr>
              <a:buSzPts val="2000"/>
              <a:buChar char="•"/>
            </a:pPr>
            <a:r>
              <a:rPr lang="en-US"/>
              <a:t>Quantifies</a:t>
            </a:r>
            <a:endParaRPr/>
          </a:p>
          <a:p>
            <a:pPr marL="1143000" lvl="2" indent="-228600" algn="l" rtl="0">
              <a:lnSpc>
                <a:spcPct val="90000"/>
              </a:lnSpc>
              <a:spcBef>
                <a:spcPts val="500"/>
              </a:spcBef>
              <a:spcAft>
                <a:spcPts val="0"/>
              </a:spcAft>
              <a:buClr>
                <a:schemeClr val="dk1"/>
              </a:buClr>
              <a:buSzPts val="2000"/>
              <a:buChar char="•"/>
            </a:pPr>
            <a:r>
              <a:rPr lang="en-US"/>
              <a:t>Qualifies</a:t>
            </a:r>
            <a:endParaRPr/>
          </a:p>
          <a:p>
            <a:pPr marL="1143000" lvl="2" indent="-228600" algn="l" rtl="0">
              <a:lnSpc>
                <a:spcPct val="90000"/>
              </a:lnSpc>
              <a:spcBef>
                <a:spcPts val="500"/>
              </a:spcBef>
              <a:spcAft>
                <a:spcPts val="0"/>
              </a:spcAft>
              <a:buClr>
                <a:schemeClr val="dk1"/>
              </a:buClr>
              <a:buSzPts val="2000"/>
              <a:buChar char="•"/>
            </a:pPr>
            <a:r>
              <a:rPr lang="en-US"/>
              <a:t>Classifies</a:t>
            </a:r>
            <a:endParaRPr/>
          </a:p>
          <a:p>
            <a:pPr marL="1143000" lvl="2" indent="-228600" algn="l" rtl="0">
              <a:lnSpc>
                <a:spcPct val="90000"/>
              </a:lnSpc>
              <a:spcBef>
                <a:spcPts val="500"/>
              </a:spcBef>
              <a:spcAft>
                <a:spcPts val="0"/>
              </a:spcAft>
              <a:buClr>
                <a:schemeClr val="dk1"/>
              </a:buClr>
              <a:buSzPts val="2000"/>
              <a:buChar char="•"/>
            </a:pPr>
            <a:r>
              <a:rPr lang="en-US"/>
              <a:t>Specifies an entity</a:t>
            </a:r>
            <a:endParaRPr/>
          </a:p>
          <a:p>
            <a:pPr marL="685800" lvl="1" indent="-228600" algn="l" rtl="0">
              <a:lnSpc>
                <a:spcPct val="90000"/>
              </a:lnSpc>
              <a:spcBef>
                <a:spcPts val="500"/>
              </a:spcBef>
              <a:spcAft>
                <a:spcPts val="0"/>
              </a:spcAft>
              <a:buClr>
                <a:schemeClr val="dk1"/>
              </a:buClr>
              <a:buSzPts val="2400"/>
              <a:buChar char="•"/>
            </a:pPr>
            <a:r>
              <a:rPr lang="en-US"/>
              <a:t>Is a property of an entity or a relationship type.</a:t>
            </a:r>
            <a:endParaRPr/>
          </a:p>
          <a:p>
            <a:pPr marL="228600" lvl="0" indent="-228600" algn="l" rtl="0">
              <a:lnSpc>
                <a:spcPct val="90000"/>
              </a:lnSpc>
              <a:spcBef>
                <a:spcPts val="1000"/>
              </a:spcBef>
              <a:spcAft>
                <a:spcPts val="0"/>
              </a:spcAft>
              <a:buClr>
                <a:srgbClr val="0070C0"/>
              </a:buClr>
              <a:buSzPts val="2800"/>
              <a:buChar char="•"/>
            </a:pPr>
            <a:r>
              <a:rPr lang="en-US" b="1">
                <a:solidFill>
                  <a:srgbClr val="0070C0"/>
                </a:solidFill>
              </a:rPr>
              <a:t>Attribute Domain</a:t>
            </a:r>
            <a:endParaRPr/>
          </a:p>
          <a:p>
            <a:pPr marL="685800" lvl="1" indent="-228600" algn="l" rtl="0">
              <a:lnSpc>
                <a:spcPct val="90000"/>
              </a:lnSpc>
              <a:spcBef>
                <a:spcPts val="500"/>
              </a:spcBef>
              <a:spcAft>
                <a:spcPts val="0"/>
              </a:spcAft>
              <a:buClr>
                <a:schemeClr val="dk1"/>
              </a:buClr>
              <a:buSzPts val="2400"/>
              <a:buChar char="•"/>
            </a:pPr>
            <a:r>
              <a:rPr lang="en-US"/>
              <a:t>Set of allowable values for one or more attributes.</a:t>
            </a:r>
            <a:endParaRPr/>
          </a:p>
        </p:txBody>
      </p:sp>
      <p:sp>
        <p:nvSpPr>
          <p:cNvPr id="526" name="Google Shape;526;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3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Attribute examples</a:t>
            </a:r>
            <a:endParaRPr/>
          </a:p>
        </p:txBody>
      </p:sp>
      <p:pic>
        <p:nvPicPr>
          <p:cNvPr id="532" name="Google Shape;532;p30"/>
          <p:cNvPicPr preferRelativeResize="0">
            <a:picLocks noGrp="1"/>
          </p:cNvPicPr>
          <p:nvPr>
            <p:ph type="body" idx="1"/>
          </p:nvPr>
        </p:nvPicPr>
        <p:blipFill rotWithShape="1">
          <a:blip r:embed="rId3">
            <a:alphaModFix/>
          </a:blip>
          <a:srcRect/>
          <a:stretch/>
        </p:blipFill>
        <p:spPr>
          <a:xfrm>
            <a:off x="628650" y="1832626"/>
            <a:ext cx="7886700" cy="4337336"/>
          </a:xfrm>
          <a:prstGeom prst="rect">
            <a:avLst/>
          </a:prstGeom>
          <a:noFill/>
          <a:ln>
            <a:noFill/>
          </a:ln>
        </p:spPr>
      </p:pic>
      <p:sp>
        <p:nvSpPr>
          <p:cNvPr id="533" name="Google Shape;533;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3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Attribute (Simple vs Composite)</a:t>
            </a:r>
            <a:endParaRPr/>
          </a:p>
        </p:txBody>
      </p:sp>
      <p:sp>
        <p:nvSpPr>
          <p:cNvPr id="539" name="Google Shape;539;p3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70C0"/>
              </a:buClr>
              <a:buSzPts val="2800"/>
              <a:buChar char="•"/>
            </a:pPr>
            <a:r>
              <a:rPr lang="en-US" b="1">
                <a:solidFill>
                  <a:srgbClr val="0070C0"/>
                </a:solidFill>
              </a:rPr>
              <a:t>Simple Attribute</a:t>
            </a:r>
            <a:endParaRPr/>
          </a:p>
          <a:p>
            <a:pPr marL="685800" lvl="1" indent="-228600" algn="l" rtl="0">
              <a:lnSpc>
                <a:spcPct val="90000"/>
              </a:lnSpc>
              <a:spcBef>
                <a:spcPts val="500"/>
              </a:spcBef>
              <a:spcAft>
                <a:spcPts val="0"/>
              </a:spcAft>
              <a:buClr>
                <a:schemeClr val="dk1"/>
              </a:buClr>
              <a:buSzPts val="2400"/>
              <a:buChar char="•"/>
            </a:pPr>
            <a:r>
              <a:rPr lang="en-US"/>
              <a:t>Attribute composed of a single component with an independent existence.</a:t>
            </a:r>
            <a:endParaRPr/>
          </a:p>
          <a:p>
            <a:pPr marL="685800" lvl="1" indent="-228600" algn="l" rtl="0">
              <a:lnSpc>
                <a:spcPct val="90000"/>
              </a:lnSpc>
              <a:spcBef>
                <a:spcPts val="500"/>
              </a:spcBef>
              <a:spcAft>
                <a:spcPts val="0"/>
              </a:spcAft>
              <a:buClr>
                <a:schemeClr val="dk1"/>
              </a:buClr>
              <a:buSzPts val="2400"/>
              <a:buChar char="•"/>
            </a:pPr>
            <a:r>
              <a:rPr lang="en-US"/>
              <a:t>Cannot be further subdivided into smaller components.</a:t>
            </a:r>
            <a:endParaRPr/>
          </a:p>
          <a:p>
            <a:pPr marL="228600" lvl="0" indent="-228600" algn="l" rtl="0">
              <a:lnSpc>
                <a:spcPct val="90000"/>
              </a:lnSpc>
              <a:spcBef>
                <a:spcPts val="1000"/>
              </a:spcBef>
              <a:spcAft>
                <a:spcPts val="0"/>
              </a:spcAft>
              <a:buClr>
                <a:srgbClr val="0070C0"/>
              </a:buClr>
              <a:buSzPts val="2800"/>
              <a:buChar char="•"/>
            </a:pPr>
            <a:r>
              <a:rPr lang="en-US" b="1">
                <a:solidFill>
                  <a:srgbClr val="0070C0"/>
                </a:solidFill>
              </a:rPr>
              <a:t>Composite Attribute</a:t>
            </a:r>
            <a:endParaRPr/>
          </a:p>
          <a:p>
            <a:pPr marL="685800" lvl="1" indent="-228600" algn="l" rtl="0">
              <a:lnSpc>
                <a:spcPct val="90000"/>
              </a:lnSpc>
              <a:spcBef>
                <a:spcPts val="500"/>
              </a:spcBef>
              <a:spcAft>
                <a:spcPts val="0"/>
              </a:spcAft>
              <a:buClr>
                <a:schemeClr val="dk1"/>
              </a:buClr>
              <a:buSzPts val="2400"/>
              <a:buChar char="•"/>
            </a:pPr>
            <a:r>
              <a:rPr lang="en-US"/>
              <a:t>Attribute composed of multiple components, each with an independent existence.</a:t>
            </a:r>
            <a:endParaRPr/>
          </a:p>
          <a:p>
            <a:pPr marL="685800" lvl="1" indent="-228600" algn="l" rtl="0">
              <a:lnSpc>
                <a:spcPct val="90000"/>
              </a:lnSpc>
              <a:spcBef>
                <a:spcPts val="500"/>
              </a:spcBef>
              <a:spcAft>
                <a:spcPts val="0"/>
              </a:spcAft>
              <a:buClr>
                <a:schemeClr val="dk1"/>
              </a:buClr>
              <a:buSzPts val="2400"/>
              <a:buChar char="•"/>
            </a:pPr>
            <a:r>
              <a:rPr lang="en-US"/>
              <a:t>Example:  address  (simple attribute) 🡪 can be subdivided into attributes of street, city, postcode</a:t>
            </a:r>
            <a:endParaRPr/>
          </a:p>
          <a:p>
            <a:pPr marL="228600" lvl="0" indent="-50800" algn="l" rtl="0">
              <a:lnSpc>
                <a:spcPct val="90000"/>
              </a:lnSpc>
              <a:spcBef>
                <a:spcPts val="1000"/>
              </a:spcBef>
              <a:spcAft>
                <a:spcPts val="0"/>
              </a:spcAft>
              <a:buClr>
                <a:schemeClr val="dk1"/>
              </a:buClr>
              <a:buSzPts val="2800"/>
              <a:buNone/>
            </a:pPr>
            <a:endParaRPr/>
          </a:p>
        </p:txBody>
      </p:sp>
      <p:sp>
        <p:nvSpPr>
          <p:cNvPr id="540" name="Google Shape;540;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3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Attribute (Single-valued vs Multi-valued)</a:t>
            </a:r>
            <a:endParaRPr/>
          </a:p>
        </p:txBody>
      </p:sp>
      <p:sp>
        <p:nvSpPr>
          <p:cNvPr id="546" name="Google Shape;546;p32"/>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70C0"/>
              </a:buClr>
              <a:buSzPts val="2800"/>
              <a:buChar char="•"/>
            </a:pPr>
            <a:r>
              <a:rPr lang="en-US" b="1">
                <a:solidFill>
                  <a:srgbClr val="0070C0"/>
                </a:solidFill>
              </a:rPr>
              <a:t>Single-valued Attribute</a:t>
            </a:r>
            <a:endParaRPr/>
          </a:p>
          <a:p>
            <a:pPr marL="685800" lvl="1" indent="-228600" algn="l" rtl="0">
              <a:lnSpc>
                <a:spcPct val="90000"/>
              </a:lnSpc>
              <a:spcBef>
                <a:spcPts val="500"/>
              </a:spcBef>
              <a:spcAft>
                <a:spcPts val="0"/>
              </a:spcAft>
              <a:buClr>
                <a:schemeClr val="dk1"/>
              </a:buClr>
              <a:buSzPts val="2400"/>
              <a:buChar char="•"/>
            </a:pPr>
            <a:r>
              <a:rPr lang="en-US"/>
              <a:t>Attribute that holds a single value for each occurrence of an entity type. </a:t>
            </a:r>
            <a:endParaRPr/>
          </a:p>
          <a:p>
            <a:pPr marL="685800" lvl="1" indent="-228600" algn="l" rtl="0">
              <a:lnSpc>
                <a:spcPct val="90000"/>
              </a:lnSpc>
              <a:spcBef>
                <a:spcPts val="500"/>
              </a:spcBef>
              <a:spcAft>
                <a:spcPts val="0"/>
              </a:spcAft>
              <a:buClr>
                <a:schemeClr val="dk1"/>
              </a:buClr>
              <a:buSzPts val="2400"/>
              <a:buChar char="•"/>
            </a:pPr>
            <a:r>
              <a:rPr lang="en-US"/>
              <a:t>Majority of attributes are single-valued.</a:t>
            </a:r>
            <a:endParaRPr/>
          </a:p>
          <a:p>
            <a:pPr marL="228600" lvl="0" indent="-228600" algn="l" rtl="0">
              <a:lnSpc>
                <a:spcPct val="90000"/>
              </a:lnSpc>
              <a:spcBef>
                <a:spcPts val="1000"/>
              </a:spcBef>
              <a:spcAft>
                <a:spcPts val="0"/>
              </a:spcAft>
              <a:buClr>
                <a:srgbClr val="0070C0"/>
              </a:buClr>
              <a:buSzPts val="2800"/>
              <a:buChar char="•"/>
            </a:pPr>
            <a:r>
              <a:rPr lang="en-US" b="1">
                <a:solidFill>
                  <a:srgbClr val="0070C0"/>
                </a:solidFill>
              </a:rPr>
              <a:t>Multi-valued Attribute</a:t>
            </a:r>
            <a:endParaRPr/>
          </a:p>
          <a:p>
            <a:pPr marL="685800" lvl="1" indent="-228600" algn="l" rtl="0">
              <a:lnSpc>
                <a:spcPct val="90000"/>
              </a:lnSpc>
              <a:spcBef>
                <a:spcPts val="500"/>
              </a:spcBef>
              <a:spcAft>
                <a:spcPts val="0"/>
              </a:spcAft>
              <a:buClr>
                <a:schemeClr val="dk1"/>
              </a:buClr>
              <a:buSzPts val="2400"/>
              <a:buChar char="•"/>
            </a:pPr>
            <a:r>
              <a:rPr lang="en-US"/>
              <a:t>Attribute that holds multiple values for each occurrence of an entity type. </a:t>
            </a:r>
            <a:endParaRPr/>
          </a:p>
          <a:p>
            <a:pPr marL="685800" lvl="1" indent="-228600" algn="l" rtl="0">
              <a:lnSpc>
                <a:spcPct val="90000"/>
              </a:lnSpc>
              <a:spcBef>
                <a:spcPts val="500"/>
              </a:spcBef>
              <a:spcAft>
                <a:spcPts val="0"/>
              </a:spcAft>
              <a:buClr>
                <a:schemeClr val="dk1"/>
              </a:buClr>
              <a:buSzPts val="2400"/>
              <a:buChar char="•"/>
            </a:pPr>
            <a:r>
              <a:rPr lang="en-US"/>
              <a:t>E.g.: Each branch have multiple telephone numbers. Thus, in this case, the attribute </a:t>
            </a:r>
            <a:r>
              <a:rPr lang="en-US" i="1"/>
              <a:t>telNo</a:t>
            </a:r>
            <a:r>
              <a:rPr lang="en-US"/>
              <a:t> is multi-valued.</a:t>
            </a:r>
            <a:endParaRPr/>
          </a:p>
          <a:p>
            <a:pPr marL="228600" lvl="0" indent="-50800" algn="l" rtl="0">
              <a:lnSpc>
                <a:spcPct val="90000"/>
              </a:lnSpc>
              <a:spcBef>
                <a:spcPts val="1000"/>
              </a:spcBef>
              <a:spcAft>
                <a:spcPts val="0"/>
              </a:spcAft>
              <a:buClr>
                <a:schemeClr val="dk1"/>
              </a:buClr>
              <a:buSzPts val="2800"/>
              <a:buNone/>
            </a:pPr>
            <a:endParaRPr/>
          </a:p>
        </p:txBody>
      </p:sp>
      <p:sp>
        <p:nvSpPr>
          <p:cNvPr id="547" name="Google Shape;547;p3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3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Attribute (Derived)</a:t>
            </a:r>
            <a:endParaRPr/>
          </a:p>
        </p:txBody>
      </p:sp>
      <p:sp>
        <p:nvSpPr>
          <p:cNvPr id="553" name="Google Shape;553;p33"/>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70C0"/>
              </a:buClr>
              <a:buSzPts val="2800"/>
              <a:buChar char="•"/>
            </a:pPr>
            <a:r>
              <a:rPr lang="en-US" b="1">
                <a:solidFill>
                  <a:srgbClr val="0070C0"/>
                </a:solidFill>
              </a:rPr>
              <a:t>Derived Attribute</a:t>
            </a:r>
            <a:endParaRPr/>
          </a:p>
          <a:p>
            <a:pPr marL="685800" lvl="1" indent="-228600" algn="l" rtl="0">
              <a:lnSpc>
                <a:spcPct val="90000"/>
              </a:lnSpc>
              <a:spcBef>
                <a:spcPts val="500"/>
              </a:spcBef>
              <a:spcAft>
                <a:spcPts val="0"/>
              </a:spcAft>
              <a:buClr>
                <a:schemeClr val="dk1"/>
              </a:buClr>
              <a:buSzPts val="2400"/>
              <a:buChar char="•"/>
            </a:pPr>
            <a:r>
              <a:rPr lang="en-US"/>
              <a:t>Attribute that represents a value that is derivable from value of a related attribute, or set of attributes, not necessarily in the same entity type. </a:t>
            </a:r>
            <a:endParaRPr/>
          </a:p>
          <a:p>
            <a:pPr marL="685800" lvl="1" indent="-228600" algn="l" rtl="0">
              <a:lnSpc>
                <a:spcPct val="90000"/>
              </a:lnSpc>
              <a:spcBef>
                <a:spcPts val="500"/>
              </a:spcBef>
              <a:spcAft>
                <a:spcPts val="0"/>
              </a:spcAft>
              <a:buClr>
                <a:schemeClr val="dk1"/>
              </a:buClr>
              <a:buSzPts val="2400"/>
              <a:buChar char="•"/>
            </a:pPr>
            <a:r>
              <a:rPr lang="en-US"/>
              <a:t>E.g.: the value for the </a:t>
            </a:r>
            <a:r>
              <a:rPr lang="en-US" b="1" i="1"/>
              <a:t>duration</a:t>
            </a:r>
            <a:r>
              <a:rPr lang="en-US"/>
              <a:t> attribute of the </a:t>
            </a:r>
            <a:r>
              <a:rPr lang="en-US" b="1"/>
              <a:t>Lease</a:t>
            </a:r>
            <a:r>
              <a:rPr lang="en-US"/>
              <a:t> entity is calculated from the </a:t>
            </a:r>
            <a:r>
              <a:rPr lang="en-US" b="1" i="1"/>
              <a:t>rentStart</a:t>
            </a:r>
            <a:r>
              <a:rPr lang="en-US"/>
              <a:t> and </a:t>
            </a:r>
            <a:r>
              <a:rPr lang="en-US" b="1" i="1"/>
              <a:t>rentFinish</a:t>
            </a:r>
            <a:r>
              <a:rPr lang="en-US"/>
              <a:t> attributes, also of the Lease entity type.</a:t>
            </a:r>
            <a:endParaRPr/>
          </a:p>
          <a:p>
            <a:pPr marL="228600" lvl="0" indent="-50800" algn="l" rtl="0">
              <a:lnSpc>
                <a:spcPct val="90000"/>
              </a:lnSpc>
              <a:spcBef>
                <a:spcPts val="1000"/>
              </a:spcBef>
              <a:spcAft>
                <a:spcPts val="0"/>
              </a:spcAft>
              <a:buClr>
                <a:schemeClr val="dk1"/>
              </a:buClr>
              <a:buSzPts val="2800"/>
              <a:buNone/>
            </a:pPr>
            <a:endParaRPr/>
          </a:p>
        </p:txBody>
      </p:sp>
      <p:sp>
        <p:nvSpPr>
          <p:cNvPr id="554" name="Google Shape;554;p3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3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Practice 2 (Problem 1)</a:t>
            </a:r>
            <a:endParaRPr/>
          </a:p>
        </p:txBody>
      </p:sp>
      <p:sp>
        <p:nvSpPr>
          <p:cNvPr id="560" name="Google Shape;560;p34"/>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Identify all attributes for each entity identified in Practice 1.</a:t>
            </a:r>
            <a:endParaRPr/>
          </a:p>
          <a:p>
            <a:pPr marL="228600" lvl="0" indent="-228600" algn="l" rtl="0">
              <a:lnSpc>
                <a:spcPct val="90000"/>
              </a:lnSpc>
              <a:spcBef>
                <a:spcPts val="1000"/>
              </a:spcBef>
              <a:spcAft>
                <a:spcPts val="0"/>
              </a:spcAft>
              <a:buClr>
                <a:schemeClr val="dk1"/>
              </a:buClr>
              <a:buSzPts val="2800"/>
              <a:buChar char="•"/>
            </a:pPr>
            <a:r>
              <a:rPr lang="en-US"/>
              <a:t>Can you determine the type of each attribute?</a:t>
            </a:r>
            <a:endParaRPr/>
          </a:p>
          <a:p>
            <a:pPr marL="228600" lvl="0" indent="-50800" algn="l" rtl="0">
              <a:lnSpc>
                <a:spcPct val="90000"/>
              </a:lnSpc>
              <a:spcBef>
                <a:spcPts val="1000"/>
              </a:spcBef>
              <a:spcAft>
                <a:spcPts val="0"/>
              </a:spcAft>
              <a:buClr>
                <a:schemeClr val="dk1"/>
              </a:buClr>
              <a:buSzPts val="2800"/>
              <a:buNone/>
            </a:pPr>
            <a:endParaRPr/>
          </a:p>
        </p:txBody>
      </p:sp>
      <p:sp>
        <p:nvSpPr>
          <p:cNvPr id="561" name="Google Shape;561;p3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3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Attribute: Keys</a:t>
            </a:r>
            <a:endParaRPr/>
          </a:p>
        </p:txBody>
      </p:sp>
      <p:sp>
        <p:nvSpPr>
          <p:cNvPr id="567" name="Google Shape;567;p35"/>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70C0"/>
              </a:buClr>
              <a:buSzPts val="2800"/>
              <a:buChar char="•"/>
            </a:pPr>
            <a:r>
              <a:rPr lang="en-US" b="1">
                <a:solidFill>
                  <a:srgbClr val="0070C0"/>
                </a:solidFill>
              </a:rPr>
              <a:t>Candidate Key</a:t>
            </a:r>
            <a:endParaRPr/>
          </a:p>
          <a:p>
            <a:pPr marL="685800" lvl="1" indent="-228600" algn="l" rtl="0">
              <a:lnSpc>
                <a:spcPct val="90000"/>
              </a:lnSpc>
              <a:spcBef>
                <a:spcPts val="500"/>
              </a:spcBef>
              <a:spcAft>
                <a:spcPts val="0"/>
              </a:spcAft>
              <a:buClr>
                <a:schemeClr val="dk1"/>
              </a:buClr>
              <a:buSzPts val="2400"/>
              <a:buChar char="•"/>
            </a:pPr>
            <a:r>
              <a:rPr lang="en-US"/>
              <a:t>Minimal set of attributes that uniquely identifies each occurrence of an entity type. </a:t>
            </a:r>
            <a:endParaRPr/>
          </a:p>
          <a:p>
            <a:pPr marL="228600" lvl="0" indent="-228600" algn="l" rtl="0">
              <a:lnSpc>
                <a:spcPct val="90000"/>
              </a:lnSpc>
              <a:spcBef>
                <a:spcPts val="1000"/>
              </a:spcBef>
              <a:spcAft>
                <a:spcPts val="0"/>
              </a:spcAft>
              <a:buClr>
                <a:srgbClr val="0070C0"/>
              </a:buClr>
              <a:buSzPts val="2800"/>
              <a:buChar char="•"/>
            </a:pPr>
            <a:r>
              <a:rPr lang="en-US" b="1">
                <a:solidFill>
                  <a:srgbClr val="0070C0"/>
                </a:solidFill>
              </a:rPr>
              <a:t>Composite Key</a:t>
            </a:r>
            <a:endParaRPr/>
          </a:p>
          <a:p>
            <a:pPr marL="685800" lvl="1" indent="-228600" algn="l" rtl="0">
              <a:lnSpc>
                <a:spcPct val="90000"/>
              </a:lnSpc>
              <a:spcBef>
                <a:spcPts val="500"/>
              </a:spcBef>
              <a:spcAft>
                <a:spcPts val="0"/>
              </a:spcAft>
              <a:buClr>
                <a:schemeClr val="dk1"/>
              </a:buClr>
              <a:buSzPts val="2400"/>
              <a:buChar char="•"/>
            </a:pPr>
            <a:r>
              <a:rPr lang="en-US"/>
              <a:t>A candidate key that consists of two or more attributes.</a:t>
            </a:r>
            <a:endParaRPr/>
          </a:p>
          <a:p>
            <a:pPr marL="228600" lvl="0" indent="-228600" algn="l" rtl="0">
              <a:lnSpc>
                <a:spcPct val="90000"/>
              </a:lnSpc>
              <a:spcBef>
                <a:spcPts val="1000"/>
              </a:spcBef>
              <a:spcAft>
                <a:spcPts val="0"/>
              </a:spcAft>
              <a:buClr>
                <a:srgbClr val="0070C0"/>
              </a:buClr>
              <a:buSzPts val="2800"/>
              <a:buChar char="•"/>
            </a:pPr>
            <a:r>
              <a:rPr lang="en-US" b="1">
                <a:solidFill>
                  <a:srgbClr val="0070C0"/>
                </a:solidFill>
              </a:rPr>
              <a:t>Primary Key</a:t>
            </a:r>
            <a:endParaRPr/>
          </a:p>
          <a:p>
            <a:pPr marL="685800" lvl="1" indent="-228600" algn="l" rtl="0">
              <a:lnSpc>
                <a:spcPct val="90000"/>
              </a:lnSpc>
              <a:spcBef>
                <a:spcPts val="500"/>
              </a:spcBef>
              <a:spcAft>
                <a:spcPts val="0"/>
              </a:spcAft>
              <a:buClr>
                <a:schemeClr val="dk1"/>
              </a:buClr>
              <a:buSzPts val="2400"/>
              <a:buChar char="•"/>
            </a:pPr>
            <a:r>
              <a:rPr lang="en-US"/>
              <a:t>Candidate key selected to uniquely identify each occurrence of an entity type. </a:t>
            </a:r>
            <a:endParaRPr/>
          </a:p>
          <a:p>
            <a:pPr marL="228600" lvl="0" indent="-50800" algn="l" rtl="0">
              <a:lnSpc>
                <a:spcPct val="90000"/>
              </a:lnSpc>
              <a:spcBef>
                <a:spcPts val="1000"/>
              </a:spcBef>
              <a:spcAft>
                <a:spcPts val="0"/>
              </a:spcAft>
              <a:buClr>
                <a:schemeClr val="dk1"/>
              </a:buClr>
              <a:buSzPts val="2800"/>
              <a:buNone/>
            </a:pPr>
            <a:endParaRPr/>
          </a:p>
        </p:txBody>
      </p:sp>
      <p:sp>
        <p:nvSpPr>
          <p:cNvPr id="568" name="Google Shape;568;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36"/>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ER Diagram of </a:t>
            </a:r>
            <a:r>
              <a:rPr lang="en-US">
                <a:solidFill>
                  <a:srgbClr val="0070C0"/>
                </a:solidFill>
              </a:rPr>
              <a:t>Staff</a:t>
            </a:r>
            <a:r>
              <a:rPr lang="en-US"/>
              <a:t> and </a:t>
            </a:r>
            <a:r>
              <a:rPr lang="en-US">
                <a:solidFill>
                  <a:srgbClr val="0070C0"/>
                </a:solidFill>
              </a:rPr>
              <a:t>Branch</a:t>
            </a:r>
            <a:r>
              <a:rPr lang="en-US"/>
              <a:t> Entities and their Attributes</a:t>
            </a:r>
            <a:endParaRPr/>
          </a:p>
        </p:txBody>
      </p:sp>
      <p:pic>
        <p:nvPicPr>
          <p:cNvPr id="574" name="Google Shape;574;p36"/>
          <p:cNvPicPr preferRelativeResize="0">
            <a:picLocks noGrp="1"/>
          </p:cNvPicPr>
          <p:nvPr>
            <p:ph type="body" idx="1"/>
          </p:nvPr>
        </p:nvPicPr>
        <p:blipFill rotWithShape="1">
          <a:blip r:embed="rId3">
            <a:alphaModFix/>
          </a:blip>
          <a:srcRect/>
          <a:stretch/>
        </p:blipFill>
        <p:spPr>
          <a:xfrm>
            <a:off x="628650" y="1945869"/>
            <a:ext cx="7886700" cy="4110850"/>
          </a:xfrm>
          <a:prstGeom prst="rect">
            <a:avLst/>
          </a:prstGeom>
          <a:noFill/>
          <a:ln>
            <a:noFill/>
          </a:ln>
        </p:spPr>
      </p:pic>
      <p:sp>
        <p:nvSpPr>
          <p:cNvPr id="575" name="Google Shape;575;p3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3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Practice 3 (Problem 1)</a:t>
            </a:r>
            <a:endParaRPr/>
          </a:p>
        </p:txBody>
      </p:sp>
      <p:sp>
        <p:nvSpPr>
          <p:cNvPr id="581" name="Google Shape;581;p3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Identify the primary key for each entity.</a:t>
            </a:r>
            <a:endParaRPr/>
          </a:p>
          <a:p>
            <a:pPr marL="228600" lvl="0" indent="-50800" algn="l" rtl="0">
              <a:lnSpc>
                <a:spcPct val="90000"/>
              </a:lnSpc>
              <a:spcBef>
                <a:spcPts val="1000"/>
              </a:spcBef>
              <a:spcAft>
                <a:spcPts val="0"/>
              </a:spcAft>
              <a:buClr>
                <a:schemeClr val="dk1"/>
              </a:buClr>
              <a:buSzPts val="2800"/>
              <a:buNone/>
            </a:pPr>
            <a:endParaRPr/>
          </a:p>
        </p:txBody>
      </p:sp>
      <p:sp>
        <p:nvSpPr>
          <p:cNvPr id="582" name="Google Shape;582;p3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3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Entity Type</a:t>
            </a:r>
            <a:endParaRPr/>
          </a:p>
        </p:txBody>
      </p:sp>
      <p:sp>
        <p:nvSpPr>
          <p:cNvPr id="588" name="Google Shape;588;p3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070C0"/>
              </a:buClr>
              <a:buSzPts val="2800"/>
              <a:buChar char="•"/>
            </a:pPr>
            <a:r>
              <a:rPr lang="en-US" b="1">
                <a:solidFill>
                  <a:srgbClr val="0070C0"/>
                </a:solidFill>
              </a:rPr>
              <a:t>Strong Entity Type</a:t>
            </a:r>
            <a:endParaRPr/>
          </a:p>
          <a:p>
            <a:pPr marL="685800" lvl="1" indent="-228600" algn="l" rtl="0">
              <a:lnSpc>
                <a:spcPct val="90000"/>
              </a:lnSpc>
              <a:spcBef>
                <a:spcPts val="500"/>
              </a:spcBef>
              <a:spcAft>
                <a:spcPts val="0"/>
              </a:spcAft>
              <a:buClr>
                <a:schemeClr val="dk1"/>
              </a:buClr>
              <a:buSzPts val="2400"/>
              <a:buChar char="•"/>
            </a:pPr>
            <a:r>
              <a:rPr lang="en-US"/>
              <a:t>Entity type that is not existence-dependent on some other entity type. </a:t>
            </a:r>
            <a:endParaRPr/>
          </a:p>
          <a:p>
            <a:pPr marL="685800" lvl="1" indent="-228600" algn="l" rtl="0">
              <a:lnSpc>
                <a:spcPct val="90000"/>
              </a:lnSpc>
              <a:spcBef>
                <a:spcPts val="500"/>
              </a:spcBef>
              <a:spcAft>
                <a:spcPts val="0"/>
              </a:spcAft>
              <a:buClr>
                <a:schemeClr val="dk1"/>
              </a:buClr>
              <a:buSzPts val="2400"/>
              <a:buChar char="•"/>
            </a:pPr>
            <a:r>
              <a:rPr lang="en-US"/>
              <a:t>Characteristic:</a:t>
            </a:r>
            <a:endParaRPr/>
          </a:p>
          <a:p>
            <a:pPr marL="1143000" lvl="2" indent="-228600" algn="l" rtl="0">
              <a:lnSpc>
                <a:spcPct val="90000"/>
              </a:lnSpc>
              <a:spcBef>
                <a:spcPts val="500"/>
              </a:spcBef>
              <a:spcAft>
                <a:spcPts val="0"/>
              </a:spcAft>
              <a:buClr>
                <a:schemeClr val="dk1"/>
              </a:buClr>
              <a:buSzPts val="2000"/>
              <a:buChar char="•"/>
            </a:pPr>
            <a:r>
              <a:rPr lang="en-US"/>
              <a:t>Each entity occurrence  is uniquely identifiable using PK attribute of the entity type</a:t>
            </a:r>
            <a:endParaRPr/>
          </a:p>
          <a:p>
            <a:pPr marL="228600" lvl="0" indent="-228600" algn="l" rtl="0">
              <a:lnSpc>
                <a:spcPct val="90000"/>
              </a:lnSpc>
              <a:spcBef>
                <a:spcPts val="1000"/>
              </a:spcBef>
              <a:spcAft>
                <a:spcPts val="0"/>
              </a:spcAft>
              <a:buClr>
                <a:srgbClr val="0070C0"/>
              </a:buClr>
              <a:buSzPts val="2800"/>
              <a:buChar char="•"/>
            </a:pPr>
            <a:r>
              <a:rPr lang="en-US" b="1">
                <a:solidFill>
                  <a:srgbClr val="0070C0"/>
                </a:solidFill>
              </a:rPr>
              <a:t>Weak Entity Type</a:t>
            </a:r>
            <a:endParaRPr/>
          </a:p>
          <a:p>
            <a:pPr marL="685800" lvl="1" indent="-228600" algn="l" rtl="0">
              <a:lnSpc>
                <a:spcPct val="90000"/>
              </a:lnSpc>
              <a:spcBef>
                <a:spcPts val="500"/>
              </a:spcBef>
              <a:spcAft>
                <a:spcPts val="0"/>
              </a:spcAft>
              <a:buClr>
                <a:schemeClr val="dk1"/>
              </a:buClr>
              <a:buSzPts val="2400"/>
              <a:buChar char="•"/>
            </a:pPr>
            <a:r>
              <a:rPr lang="en-US"/>
              <a:t>Entity type that is existence-dependent on some other entity type. </a:t>
            </a:r>
            <a:endParaRPr/>
          </a:p>
          <a:p>
            <a:pPr marL="685800" lvl="1" indent="-228600" algn="l" rtl="0">
              <a:lnSpc>
                <a:spcPct val="90000"/>
              </a:lnSpc>
              <a:spcBef>
                <a:spcPts val="500"/>
              </a:spcBef>
              <a:spcAft>
                <a:spcPts val="0"/>
              </a:spcAft>
              <a:buClr>
                <a:schemeClr val="dk1"/>
              </a:buClr>
              <a:buSzPts val="2400"/>
              <a:buChar char="•"/>
            </a:pPr>
            <a:r>
              <a:rPr lang="en-US"/>
              <a:t>Characteristic:</a:t>
            </a:r>
            <a:endParaRPr/>
          </a:p>
          <a:p>
            <a:pPr marL="1143000" lvl="2" indent="-228600" algn="l" rtl="0">
              <a:lnSpc>
                <a:spcPct val="90000"/>
              </a:lnSpc>
              <a:spcBef>
                <a:spcPts val="500"/>
              </a:spcBef>
              <a:spcAft>
                <a:spcPts val="0"/>
              </a:spcAft>
              <a:buClr>
                <a:schemeClr val="dk1"/>
              </a:buClr>
              <a:buSzPts val="2000"/>
              <a:buChar char="•"/>
            </a:pPr>
            <a:r>
              <a:rPr lang="en-US"/>
              <a:t>Each entity occurrence cannot be uniquely identified using attributes associated with the entity type</a:t>
            </a:r>
            <a:endParaRPr/>
          </a:p>
          <a:p>
            <a:pPr marL="228600" lvl="0" indent="-50800" algn="l" rtl="0">
              <a:lnSpc>
                <a:spcPct val="90000"/>
              </a:lnSpc>
              <a:spcBef>
                <a:spcPts val="1000"/>
              </a:spcBef>
              <a:spcAft>
                <a:spcPts val="0"/>
              </a:spcAft>
              <a:buClr>
                <a:schemeClr val="dk1"/>
              </a:buClr>
              <a:buSzPts val="2800"/>
              <a:buNone/>
            </a:pPr>
            <a:endParaRPr/>
          </a:p>
        </p:txBody>
      </p:sp>
      <p:sp>
        <p:nvSpPr>
          <p:cNvPr id="589" name="Google Shape;589;p3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3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Strong vs Weak Entity</a:t>
            </a:r>
            <a:endParaRPr/>
          </a:p>
        </p:txBody>
      </p:sp>
      <p:pic>
        <p:nvPicPr>
          <p:cNvPr id="595" name="Google Shape;595;p39"/>
          <p:cNvPicPr preferRelativeResize="0">
            <a:picLocks noGrp="1"/>
          </p:cNvPicPr>
          <p:nvPr>
            <p:ph type="body" idx="1"/>
          </p:nvPr>
        </p:nvPicPr>
        <p:blipFill rotWithShape="1">
          <a:blip r:embed="rId3">
            <a:alphaModFix/>
          </a:blip>
          <a:srcRect/>
          <a:stretch/>
        </p:blipFill>
        <p:spPr>
          <a:xfrm>
            <a:off x="990100" y="2172238"/>
            <a:ext cx="7163800" cy="3658111"/>
          </a:xfrm>
          <a:prstGeom prst="rect">
            <a:avLst/>
          </a:prstGeom>
          <a:noFill/>
          <a:ln>
            <a:noFill/>
          </a:ln>
        </p:spPr>
      </p:pic>
      <p:sp>
        <p:nvSpPr>
          <p:cNvPr id="596" name="Google Shape;596;p3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4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Relationship with Attributes</a:t>
            </a:r>
            <a:endParaRPr/>
          </a:p>
        </p:txBody>
      </p:sp>
      <p:pic>
        <p:nvPicPr>
          <p:cNvPr id="602" name="Google Shape;602;p40"/>
          <p:cNvPicPr preferRelativeResize="0">
            <a:picLocks noGrp="1"/>
          </p:cNvPicPr>
          <p:nvPr>
            <p:ph type="body" idx="1"/>
          </p:nvPr>
        </p:nvPicPr>
        <p:blipFill rotWithShape="1">
          <a:blip r:embed="rId3">
            <a:alphaModFix/>
          </a:blip>
          <a:srcRect/>
          <a:stretch/>
        </p:blipFill>
        <p:spPr>
          <a:xfrm>
            <a:off x="790047" y="1867396"/>
            <a:ext cx="7563906" cy="4267796"/>
          </a:xfrm>
          <a:prstGeom prst="rect">
            <a:avLst/>
          </a:prstGeom>
          <a:noFill/>
          <a:ln>
            <a:noFill/>
          </a:ln>
        </p:spPr>
      </p:pic>
      <p:sp>
        <p:nvSpPr>
          <p:cNvPr id="603" name="Google Shape;603;p4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
        <p:nvSpPr>
          <p:cNvPr id="604" name="Google Shape;604;p40"/>
          <p:cNvSpPr txBox="1"/>
          <p:nvPr/>
        </p:nvSpPr>
        <p:spPr>
          <a:xfrm>
            <a:off x="951706" y="3911600"/>
            <a:ext cx="1752600" cy="19383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FF0000"/>
              </a:buClr>
              <a:buSzPts val="2400"/>
              <a:buFont typeface="Arial"/>
              <a:buNone/>
            </a:pPr>
            <a:r>
              <a:rPr lang="en-US" sz="2400" b="1" i="1">
                <a:solidFill>
                  <a:srgbClr val="FF0000"/>
                </a:solidFill>
                <a:latin typeface="Calibri"/>
                <a:ea typeface="Calibri"/>
                <a:cs typeface="Calibri"/>
                <a:sym typeface="Calibri"/>
              </a:rPr>
              <a:t>When to have relationship with attributes?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41"/>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3200"/>
              <a:buFont typeface="Calibri"/>
              <a:buNone/>
            </a:pPr>
            <a:r>
              <a:rPr lang="en-US" sz="3200"/>
              <a:t>Part 3</a:t>
            </a:r>
            <a:endParaRPr/>
          </a:p>
        </p:txBody>
      </p:sp>
      <p:sp>
        <p:nvSpPr>
          <p:cNvPr id="610" name="Google Shape;610;p4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pic>
        <p:nvPicPr>
          <p:cNvPr id="611" name="Google Shape;611;p41" descr="Easel outline"/>
          <p:cNvPicPr preferRelativeResize="0"/>
          <p:nvPr/>
        </p:nvPicPr>
        <p:blipFill rotWithShape="1">
          <a:blip r:embed="rId3">
            <a:alphaModFix/>
          </a:blip>
          <a:srcRect/>
          <a:stretch/>
        </p:blipFill>
        <p:spPr>
          <a:xfrm>
            <a:off x="2607590" y="1545553"/>
            <a:ext cx="3928820" cy="392882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4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Structural Constraints</a:t>
            </a:r>
            <a:endParaRPr/>
          </a:p>
        </p:txBody>
      </p:sp>
      <p:sp>
        <p:nvSpPr>
          <p:cNvPr id="617" name="Google Shape;617;p42"/>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Main type of constraint on relationships is called </a:t>
            </a:r>
            <a:r>
              <a:rPr lang="en-US" b="1">
                <a:solidFill>
                  <a:srgbClr val="0070C0"/>
                </a:solidFill>
              </a:rPr>
              <a:t>multiplicity</a:t>
            </a:r>
            <a:r>
              <a:rPr lang="en-US"/>
              <a:t>.</a:t>
            </a:r>
            <a:endParaRPr/>
          </a:p>
          <a:p>
            <a:pPr marL="228600" lvl="0" indent="-228600" algn="l" rtl="0">
              <a:lnSpc>
                <a:spcPct val="90000"/>
              </a:lnSpc>
              <a:spcBef>
                <a:spcPts val="1000"/>
              </a:spcBef>
              <a:spcAft>
                <a:spcPts val="0"/>
              </a:spcAft>
              <a:buClr>
                <a:srgbClr val="0070C0"/>
              </a:buClr>
              <a:buSzPts val="2800"/>
              <a:buChar char="•"/>
            </a:pPr>
            <a:r>
              <a:rPr lang="en-US" b="1" u="sng">
                <a:solidFill>
                  <a:srgbClr val="0070C0"/>
                </a:solidFill>
              </a:rPr>
              <a:t>Multiplicity</a:t>
            </a:r>
            <a:r>
              <a:rPr lang="en-US"/>
              <a:t>: </a:t>
            </a:r>
            <a:r>
              <a:rPr lang="en-US" b="1">
                <a:solidFill>
                  <a:srgbClr val="0070C0"/>
                </a:solidFill>
              </a:rPr>
              <a:t>number (or range) of possible occurrences of an entity type that may relate to a single occurrence of an associated entity type through a particular relationship. </a:t>
            </a:r>
            <a:endParaRPr/>
          </a:p>
          <a:p>
            <a:pPr marL="685800" lvl="1" indent="-228600" algn="l" rtl="0">
              <a:lnSpc>
                <a:spcPct val="90000"/>
              </a:lnSpc>
              <a:spcBef>
                <a:spcPts val="500"/>
              </a:spcBef>
              <a:spcAft>
                <a:spcPts val="0"/>
              </a:spcAft>
              <a:buClr>
                <a:schemeClr val="dk1"/>
              </a:buClr>
              <a:buSzPts val="2400"/>
              <a:buChar char="•"/>
            </a:pPr>
            <a:r>
              <a:rPr lang="en-US"/>
              <a:t>Constrains the way the entities are related in the relationship</a:t>
            </a:r>
            <a:endParaRPr/>
          </a:p>
          <a:p>
            <a:pPr marL="685800" lvl="1" indent="-228600" algn="l" rtl="0">
              <a:lnSpc>
                <a:spcPct val="90000"/>
              </a:lnSpc>
              <a:spcBef>
                <a:spcPts val="500"/>
              </a:spcBef>
              <a:spcAft>
                <a:spcPts val="0"/>
              </a:spcAft>
              <a:buClr>
                <a:schemeClr val="dk1"/>
              </a:buClr>
              <a:buSzPts val="2400"/>
              <a:buChar char="•"/>
            </a:pPr>
            <a:r>
              <a:rPr lang="en-US"/>
              <a:t>Represents policies (called business rules) established by user or company. </a:t>
            </a:r>
            <a:endParaRPr/>
          </a:p>
          <a:p>
            <a:pPr marL="228600" lvl="0" indent="-50800" algn="l" rtl="0">
              <a:lnSpc>
                <a:spcPct val="90000"/>
              </a:lnSpc>
              <a:spcBef>
                <a:spcPts val="1000"/>
              </a:spcBef>
              <a:spcAft>
                <a:spcPts val="0"/>
              </a:spcAft>
              <a:buClr>
                <a:schemeClr val="dk1"/>
              </a:buClr>
              <a:buSzPts val="2800"/>
              <a:buNone/>
            </a:pPr>
            <a:endParaRPr/>
          </a:p>
        </p:txBody>
      </p:sp>
      <p:sp>
        <p:nvSpPr>
          <p:cNvPr id="618" name="Google Shape;618;p4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4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Structural Constraint (Binary Relationship)</a:t>
            </a:r>
            <a:endParaRPr/>
          </a:p>
        </p:txBody>
      </p:sp>
      <p:sp>
        <p:nvSpPr>
          <p:cNvPr id="624" name="Google Shape;624;p43"/>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70C0"/>
              </a:buClr>
              <a:buSzPts val="2800"/>
              <a:buChar char="•"/>
            </a:pPr>
            <a:r>
              <a:rPr lang="en-US" b="1">
                <a:solidFill>
                  <a:srgbClr val="0070C0"/>
                </a:solidFill>
              </a:rPr>
              <a:t>Binary relationship </a:t>
            </a:r>
            <a:r>
              <a:rPr lang="en-US"/>
              <a:t>(i.e. the most common degree for relationships) is generally referred to as having a multiplicity of:</a:t>
            </a:r>
            <a:endParaRPr/>
          </a:p>
          <a:p>
            <a:pPr marL="685800" lvl="1" indent="-228600" algn="l" rtl="0">
              <a:lnSpc>
                <a:spcPct val="90000"/>
              </a:lnSpc>
              <a:spcBef>
                <a:spcPts val="500"/>
              </a:spcBef>
              <a:spcAft>
                <a:spcPts val="0"/>
              </a:spcAft>
              <a:buClr>
                <a:srgbClr val="0070C0"/>
              </a:buClr>
              <a:buSzPts val="2400"/>
              <a:buChar char="•"/>
            </a:pPr>
            <a:r>
              <a:rPr lang="en-US" b="1">
                <a:solidFill>
                  <a:srgbClr val="0070C0"/>
                </a:solidFill>
              </a:rPr>
              <a:t>one-to-one (1:1), or </a:t>
            </a:r>
            <a:endParaRPr/>
          </a:p>
          <a:p>
            <a:pPr marL="685800" lvl="1" indent="-228600" algn="l" rtl="0">
              <a:lnSpc>
                <a:spcPct val="90000"/>
              </a:lnSpc>
              <a:spcBef>
                <a:spcPts val="500"/>
              </a:spcBef>
              <a:spcAft>
                <a:spcPts val="0"/>
              </a:spcAft>
              <a:buClr>
                <a:srgbClr val="0070C0"/>
              </a:buClr>
              <a:buSzPts val="2400"/>
              <a:buChar char="•"/>
            </a:pPr>
            <a:r>
              <a:rPr lang="en-US" b="1">
                <a:solidFill>
                  <a:srgbClr val="0070C0"/>
                </a:solidFill>
              </a:rPr>
              <a:t>one-to-many (1:*), or</a:t>
            </a:r>
            <a:endParaRPr/>
          </a:p>
          <a:p>
            <a:pPr marL="685800" lvl="1" indent="-228600" algn="l" rtl="0">
              <a:lnSpc>
                <a:spcPct val="90000"/>
              </a:lnSpc>
              <a:spcBef>
                <a:spcPts val="500"/>
              </a:spcBef>
              <a:spcAft>
                <a:spcPts val="0"/>
              </a:spcAft>
              <a:buClr>
                <a:srgbClr val="0070C0"/>
              </a:buClr>
              <a:buSzPts val="2400"/>
              <a:buChar char="•"/>
            </a:pPr>
            <a:r>
              <a:rPr lang="en-US" b="1">
                <a:solidFill>
                  <a:srgbClr val="0070C0"/>
                </a:solidFill>
              </a:rPr>
              <a:t>many-to-many (*:*)</a:t>
            </a:r>
            <a:endParaRPr/>
          </a:p>
          <a:p>
            <a:pPr marL="228600" lvl="0" indent="-228600" algn="l" rtl="0">
              <a:lnSpc>
                <a:spcPct val="90000"/>
              </a:lnSpc>
              <a:spcBef>
                <a:spcPts val="1000"/>
              </a:spcBef>
              <a:spcAft>
                <a:spcPts val="0"/>
              </a:spcAft>
              <a:buClr>
                <a:schemeClr val="dk1"/>
              </a:buClr>
              <a:buSzPts val="2800"/>
              <a:buChar char="•"/>
            </a:pPr>
            <a:r>
              <a:rPr lang="en-US"/>
              <a:t>How to determine multiplicity:</a:t>
            </a:r>
            <a:endParaRPr/>
          </a:p>
          <a:p>
            <a:pPr marL="685800" lvl="1" indent="-228600" algn="l" rtl="0">
              <a:lnSpc>
                <a:spcPct val="90000"/>
              </a:lnSpc>
              <a:spcBef>
                <a:spcPts val="500"/>
              </a:spcBef>
              <a:spcAft>
                <a:spcPts val="0"/>
              </a:spcAft>
              <a:buClr>
                <a:schemeClr val="dk1"/>
              </a:buClr>
              <a:buSzPts val="2400"/>
              <a:buChar char="•"/>
            </a:pPr>
            <a:r>
              <a:rPr lang="en-US"/>
              <a:t>Produce a semantic net with sample occurrences that can best represent the relationship of entities</a:t>
            </a:r>
            <a:endParaRPr/>
          </a:p>
          <a:p>
            <a:pPr marL="685800" lvl="1" indent="-228600" algn="l" rtl="0">
              <a:lnSpc>
                <a:spcPct val="90000"/>
              </a:lnSpc>
              <a:spcBef>
                <a:spcPts val="500"/>
              </a:spcBef>
              <a:spcAft>
                <a:spcPts val="0"/>
              </a:spcAft>
              <a:buClr>
                <a:schemeClr val="dk1"/>
              </a:buClr>
              <a:buSzPts val="2400"/>
              <a:buChar char="•"/>
            </a:pPr>
            <a:r>
              <a:rPr lang="en-US"/>
              <a:t>Analyze the semantic net</a:t>
            </a:r>
            <a:endParaRPr/>
          </a:p>
          <a:p>
            <a:pPr marL="228600" lvl="0" indent="-50800" algn="l" rtl="0">
              <a:lnSpc>
                <a:spcPct val="90000"/>
              </a:lnSpc>
              <a:spcBef>
                <a:spcPts val="1000"/>
              </a:spcBef>
              <a:spcAft>
                <a:spcPts val="0"/>
              </a:spcAft>
              <a:buClr>
                <a:schemeClr val="dk1"/>
              </a:buClr>
              <a:buSzPts val="2800"/>
              <a:buNone/>
            </a:pPr>
            <a:endParaRPr/>
          </a:p>
        </p:txBody>
      </p:sp>
      <p:sp>
        <p:nvSpPr>
          <p:cNvPr id="625" name="Google Shape;625;p4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4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Semantic Net: Staff </a:t>
            </a:r>
            <a:r>
              <a:rPr lang="en-US" i="1">
                <a:solidFill>
                  <a:srgbClr val="0070C0"/>
                </a:solidFill>
              </a:rPr>
              <a:t>manages</a:t>
            </a:r>
            <a:r>
              <a:rPr lang="en-US"/>
              <a:t> Branch</a:t>
            </a:r>
            <a:endParaRPr/>
          </a:p>
        </p:txBody>
      </p:sp>
      <p:pic>
        <p:nvPicPr>
          <p:cNvPr id="631" name="Google Shape;631;p44"/>
          <p:cNvPicPr preferRelativeResize="0">
            <a:picLocks noGrp="1"/>
          </p:cNvPicPr>
          <p:nvPr>
            <p:ph type="body" idx="1"/>
          </p:nvPr>
        </p:nvPicPr>
        <p:blipFill rotWithShape="1">
          <a:blip r:embed="rId3">
            <a:alphaModFix/>
          </a:blip>
          <a:srcRect/>
          <a:stretch/>
        </p:blipFill>
        <p:spPr>
          <a:xfrm>
            <a:off x="628650" y="1825625"/>
            <a:ext cx="7793507" cy="3716557"/>
          </a:xfrm>
          <a:prstGeom prst="rect">
            <a:avLst/>
          </a:prstGeom>
          <a:noFill/>
          <a:ln>
            <a:noFill/>
          </a:ln>
        </p:spPr>
      </p:pic>
      <p:sp>
        <p:nvSpPr>
          <p:cNvPr id="632" name="Google Shape;632;p4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4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ERD: Staff </a:t>
            </a:r>
            <a:r>
              <a:rPr lang="en-US" i="1">
                <a:solidFill>
                  <a:srgbClr val="0070C0"/>
                </a:solidFill>
              </a:rPr>
              <a:t>manages</a:t>
            </a:r>
            <a:r>
              <a:rPr lang="en-US"/>
              <a:t> Branch</a:t>
            </a:r>
            <a:endParaRPr/>
          </a:p>
        </p:txBody>
      </p:sp>
      <p:pic>
        <p:nvPicPr>
          <p:cNvPr id="638" name="Google Shape;638;p45"/>
          <p:cNvPicPr preferRelativeResize="0">
            <a:picLocks noGrp="1"/>
          </p:cNvPicPr>
          <p:nvPr>
            <p:ph type="body" idx="1"/>
          </p:nvPr>
        </p:nvPicPr>
        <p:blipFill rotWithShape="1">
          <a:blip r:embed="rId3">
            <a:alphaModFix/>
          </a:blip>
          <a:srcRect/>
          <a:stretch/>
        </p:blipFill>
        <p:spPr>
          <a:xfrm>
            <a:off x="782705" y="1675057"/>
            <a:ext cx="7578589" cy="3574806"/>
          </a:xfrm>
          <a:prstGeom prst="rect">
            <a:avLst/>
          </a:prstGeom>
          <a:noFill/>
          <a:ln>
            <a:noFill/>
          </a:ln>
        </p:spPr>
      </p:pic>
      <p:sp>
        <p:nvSpPr>
          <p:cNvPr id="639" name="Google Shape;639;p4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sp>
        <p:nvSpPr>
          <p:cNvPr id="640" name="Google Shape;640;p45"/>
          <p:cNvSpPr txBox="1"/>
          <p:nvPr/>
        </p:nvSpPr>
        <p:spPr>
          <a:xfrm>
            <a:off x="495300" y="5373932"/>
            <a:ext cx="82169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FF0000"/>
              </a:buClr>
              <a:buSzPts val="2000"/>
              <a:buFont typeface="Arial"/>
              <a:buNone/>
            </a:pPr>
            <a:r>
              <a:rPr lang="en-US" sz="2000" b="1" i="1">
                <a:solidFill>
                  <a:srgbClr val="FF0000"/>
                </a:solidFill>
                <a:latin typeface="Calibri"/>
                <a:ea typeface="Calibri"/>
                <a:cs typeface="Calibri"/>
                <a:sym typeface="Calibri"/>
              </a:rPr>
              <a:t>Multiplicity of Manages relationship is one-to-one (1:1) 🡪 shown through the maximum range value on the multiplicities at both ends of relationship   </a:t>
            </a:r>
            <a:endParaRPr/>
          </a:p>
        </p:txBody>
      </p:sp>
      <p:cxnSp>
        <p:nvCxnSpPr>
          <p:cNvPr id="641" name="Google Shape;641;p45"/>
          <p:cNvCxnSpPr/>
          <p:nvPr/>
        </p:nvCxnSpPr>
        <p:spPr>
          <a:xfrm rot="-5400000">
            <a:off x="2209800" y="4192832"/>
            <a:ext cx="1600200" cy="762000"/>
          </a:xfrm>
          <a:prstGeom prst="straightConnector1">
            <a:avLst/>
          </a:prstGeom>
          <a:noFill/>
          <a:ln w="28575" cap="flat" cmpd="sng">
            <a:solidFill>
              <a:srgbClr val="FF0000"/>
            </a:solidFill>
            <a:prstDash val="solid"/>
            <a:round/>
            <a:headEnd type="none" w="sm" len="sm"/>
            <a:tailEnd type="stealth" w="med" len="med"/>
          </a:ln>
        </p:spPr>
      </p:cxnSp>
      <p:cxnSp>
        <p:nvCxnSpPr>
          <p:cNvPr id="642" name="Google Shape;642;p45"/>
          <p:cNvCxnSpPr/>
          <p:nvPr/>
        </p:nvCxnSpPr>
        <p:spPr>
          <a:xfrm rot="5400000" flipH="1">
            <a:off x="5410200" y="4345232"/>
            <a:ext cx="1524000" cy="381000"/>
          </a:xfrm>
          <a:prstGeom prst="straightConnector1">
            <a:avLst/>
          </a:prstGeom>
          <a:noFill/>
          <a:ln w="28575" cap="flat" cmpd="sng">
            <a:solidFill>
              <a:srgbClr val="FF0000"/>
            </a:solidFill>
            <a:prstDash val="solid"/>
            <a:round/>
            <a:headEnd type="none" w="sm" len="sm"/>
            <a:tailEnd type="stealth" w="med" len="med"/>
          </a:ln>
        </p:spPr>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46"/>
          <p:cNvSpPr txBox="1">
            <a:spLocks noGrp="1"/>
          </p:cNvSpPr>
          <p:nvPr>
            <p:ph type="title"/>
          </p:nvPr>
        </p:nvSpPr>
        <p:spPr>
          <a:xfrm>
            <a:off x="628650" y="582613"/>
            <a:ext cx="8058150" cy="9271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Semantic Net: Staff </a:t>
            </a:r>
            <a:r>
              <a:rPr lang="en-US" i="1">
                <a:solidFill>
                  <a:srgbClr val="0070C0"/>
                </a:solidFill>
              </a:rPr>
              <a:t>oversees</a:t>
            </a:r>
            <a:r>
              <a:rPr lang="en-US"/>
              <a:t> PropertyForRent</a:t>
            </a:r>
            <a:endParaRPr/>
          </a:p>
        </p:txBody>
      </p:sp>
      <p:pic>
        <p:nvPicPr>
          <p:cNvPr id="648" name="Google Shape;648;p46"/>
          <p:cNvPicPr preferRelativeResize="0">
            <a:picLocks noGrp="1"/>
          </p:cNvPicPr>
          <p:nvPr>
            <p:ph type="body" idx="1"/>
          </p:nvPr>
        </p:nvPicPr>
        <p:blipFill rotWithShape="1">
          <a:blip r:embed="rId3">
            <a:alphaModFix/>
          </a:blip>
          <a:srcRect/>
          <a:stretch/>
        </p:blipFill>
        <p:spPr>
          <a:xfrm>
            <a:off x="786044" y="1825625"/>
            <a:ext cx="7571912" cy="3807528"/>
          </a:xfrm>
          <a:prstGeom prst="rect">
            <a:avLst/>
          </a:prstGeom>
          <a:noFill/>
          <a:ln>
            <a:noFill/>
          </a:ln>
        </p:spPr>
      </p:pic>
      <p:sp>
        <p:nvSpPr>
          <p:cNvPr id="649" name="Google Shape;649;p4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654" name="Google Shape;654;p4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ERD: Staff </a:t>
            </a:r>
            <a:r>
              <a:rPr lang="en-US" i="1">
                <a:solidFill>
                  <a:srgbClr val="0070C0"/>
                </a:solidFill>
              </a:rPr>
              <a:t>oversees</a:t>
            </a:r>
            <a:r>
              <a:rPr lang="en-US"/>
              <a:t> PropertyForRent</a:t>
            </a:r>
            <a:endParaRPr/>
          </a:p>
        </p:txBody>
      </p:sp>
      <p:pic>
        <p:nvPicPr>
          <p:cNvPr id="655" name="Google Shape;655;p47"/>
          <p:cNvPicPr preferRelativeResize="0">
            <a:picLocks noGrp="1"/>
          </p:cNvPicPr>
          <p:nvPr>
            <p:ph type="body" idx="1"/>
          </p:nvPr>
        </p:nvPicPr>
        <p:blipFill rotWithShape="1">
          <a:blip r:embed="rId3">
            <a:alphaModFix/>
          </a:blip>
          <a:srcRect/>
          <a:stretch/>
        </p:blipFill>
        <p:spPr>
          <a:xfrm>
            <a:off x="732889" y="2172238"/>
            <a:ext cx="7678222" cy="3658111"/>
          </a:xfrm>
          <a:prstGeom prst="rect">
            <a:avLst/>
          </a:prstGeom>
          <a:noFill/>
          <a:ln>
            <a:noFill/>
          </a:ln>
        </p:spPr>
      </p:pic>
      <p:sp>
        <p:nvSpPr>
          <p:cNvPr id="656" name="Google Shape;656;p4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sp>
        <p:nvSpPr>
          <p:cNvPr id="657" name="Google Shape;657;p47"/>
          <p:cNvSpPr txBox="1"/>
          <p:nvPr/>
        </p:nvSpPr>
        <p:spPr>
          <a:xfrm>
            <a:off x="2209800" y="5715000"/>
            <a:ext cx="5800725" cy="461963"/>
          </a:xfrm>
          <a:prstGeom prst="rect">
            <a:avLst/>
          </a:prstGeom>
          <a:noFill/>
          <a:ln w="9525" cap="flat" cmpd="sng">
            <a:solidFill>
              <a:srgbClr val="FF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FF0000"/>
              </a:buClr>
              <a:buSzPts val="2400"/>
              <a:buFont typeface="Arial"/>
              <a:buNone/>
            </a:pPr>
            <a:r>
              <a:rPr lang="en-US" sz="2400" b="1" i="1">
                <a:solidFill>
                  <a:srgbClr val="FF0000"/>
                </a:solidFill>
                <a:latin typeface="Calibri"/>
                <a:ea typeface="Calibri"/>
                <a:cs typeface="Calibri"/>
                <a:sym typeface="Calibri"/>
              </a:rPr>
              <a:t>Oversees is a one-to-many (1:*) relationship</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4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Semantic Net: Newspaper </a:t>
            </a:r>
            <a:r>
              <a:rPr lang="en-US" i="1">
                <a:solidFill>
                  <a:srgbClr val="0070C0"/>
                </a:solidFill>
              </a:rPr>
              <a:t>Advertises</a:t>
            </a:r>
            <a:r>
              <a:rPr lang="en-US"/>
              <a:t> PropertyForRent</a:t>
            </a:r>
            <a:endParaRPr/>
          </a:p>
        </p:txBody>
      </p:sp>
      <p:pic>
        <p:nvPicPr>
          <p:cNvPr id="663" name="Google Shape;663;p48"/>
          <p:cNvPicPr preferRelativeResize="0">
            <a:picLocks noGrp="1"/>
          </p:cNvPicPr>
          <p:nvPr>
            <p:ph type="body" idx="1"/>
          </p:nvPr>
        </p:nvPicPr>
        <p:blipFill rotWithShape="1">
          <a:blip r:embed="rId3">
            <a:alphaModFix/>
          </a:blip>
          <a:srcRect/>
          <a:stretch/>
        </p:blipFill>
        <p:spPr>
          <a:xfrm>
            <a:off x="1023442" y="1876922"/>
            <a:ext cx="7097115" cy="4248743"/>
          </a:xfrm>
          <a:prstGeom prst="rect">
            <a:avLst/>
          </a:prstGeom>
          <a:noFill/>
          <a:ln>
            <a:noFill/>
          </a:ln>
        </p:spPr>
      </p:pic>
      <p:sp>
        <p:nvSpPr>
          <p:cNvPr id="664" name="Google Shape;664;p4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49"/>
          <p:cNvSpPr txBox="1">
            <a:spLocks noGrp="1"/>
          </p:cNvSpPr>
          <p:nvPr>
            <p:ph type="title"/>
          </p:nvPr>
        </p:nvSpPr>
        <p:spPr>
          <a:xfrm>
            <a:off x="628650" y="582613"/>
            <a:ext cx="8020050" cy="9271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ERD: Newspaper </a:t>
            </a:r>
            <a:r>
              <a:rPr lang="en-US" i="1">
                <a:solidFill>
                  <a:srgbClr val="0070C0"/>
                </a:solidFill>
              </a:rPr>
              <a:t>Advertises</a:t>
            </a:r>
            <a:r>
              <a:rPr lang="en-US"/>
              <a:t> PropertyForRent</a:t>
            </a:r>
            <a:endParaRPr/>
          </a:p>
        </p:txBody>
      </p:sp>
      <p:pic>
        <p:nvPicPr>
          <p:cNvPr id="670" name="Google Shape;670;p49"/>
          <p:cNvPicPr preferRelativeResize="0">
            <a:picLocks noGrp="1"/>
          </p:cNvPicPr>
          <p:nvPr>
            <p:ph type="body" idx="1"/>
          </p:nvPr>
        </p:nvPicPr>
        <p:blipFill rotWithShape="1">
          <a:blip r:embed="rId3">
            <a:alphaModFix/>
          </a:blip>
          <a:srcRect/>
          <a:stretch/>
        </p:blipFill>
        <p:spPr>
          <a:xfrm>
            <a:off x="1022230" y="1647824"/>
            <a:ext cx="7099539" cy="3317875"/>
          </a:xfrm>
          <a:prstGeom prst="rect">
            <a:avLst/>
          </a:prstGeom>
          <a:noFill/>
          <a:ln>
            <a:noFill/>
          </a:ln>
        </p:spPr>
      </p:pic>
      <p:sp>
        <p:nvSpPr>
          <p:cNvPr id="671" name="Google Shape;671;p4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sp>
        <p:nvSpPr>
          <p:cNvPr id="672" name="Google Shape;672;p49"/>
          <p:cNvSpPr txBox="1"/>
          <p:nvPr/>
        </p:nvSpPr>
        <p:spPr>
          <a:xfrm>
            <a:off x="1514475" y="5210176"/>
            <a:ext cx="6248400" cy="461963"/>
          </a:xfrm>
          <a:prstGeom prst="rect">
            <a:avLst/>
          </a:prstGeom>
          <a:noFill/>
          <a:ln w="9525" cap="flat" cmpd="sng">
            <a:solidFill>
              <a:srgbClr val="FF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rgbClr val="FF0000"/>
              </a:buClr>
              <a:buSzPts val="2400"/>
              <a:buFont typeface="Arial"/>
              <a:buNone/>
            </a:pPr>
            <a:r>
              <a:rPr lang="en-US" sz="2400" b="1" i="1">
                <a:solidFill>
                  <a:srgbClr val="FF0000"/>
                </a:solidFill>
                <a:latin typeface="Calibri"/>
                <a:ea typeface="Calibri"/>
                <a:cs typeface="Calibri"/>
                <a:sym typeface="Calibri"/>
              </a:rPr>
              <a:t>Advertises is a many-to-many (*:*) relationship</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5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Structural Constraint (Complex Relationship)</a:t>
            </a:r>
            <a:endParaRPr/>
          </a:p>
        </p:txBody>
      </p:sp>
      <p:sp>
        <p:nvSpPr>
          <p:cNvPr id="678" name="Google Shape;678;p50"/>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70C0"/>
              </a:buClr>
              <a:buSzPts val="2800"/>
              <a:buChar char="•"/>
            </a:pPr>
            <a:r>
              <a:rPr lang="en-US" b="1">
                <a:solidFill>
                  <a:srgbClr val="0070C0"/>
                </a:solidFill>
              </a:rPr>
              <a:t>Multiplicity for Complex Relationships </a:t>
            </a:r>
            <a:endParaRPr/>
          </a:p>
          <a:p>
            <a:pPr marL="685800" lvl="1" indent="-228600" algn="l" rtl="0">
              <a:lnSpc>
                <a:spcPct val="90000"/>
              </a:lnSpc>
              <a:spcBef>
                <a:spcPts val="500"/>
              </a:spcBef>
              <a:spcAft>
                <a:spcPts val="0"/>
              </a:spcAft>
              <a:buClr>
                <a:schemeClr val="dk1"/>
              </a:buClr>
              <a:buSzPts val="2400"/>
              <a:buChar char="•"/>
            </a:pPr>
            <a:r>
              <a:rPr lang="en-US"/>
              <a:t>Complex relationship – relationship higher than binary</a:t>
            </a:r>
            <a:endParaRPr/>
          </a:p>
          <a:p>
            <a:pPr marL="685800" lvl="1" indent="-228600" algn="l" rtl="0">
              <a:lnSpc>
                <a:spcPct val="90000"/>
              </a:lnSpc>
              <a:spcBef>
                <a:spcPts val="500"/>
              </a:spcBef>
              <a:spcAft>
                <a:spcPts val="0"/>
              </a:spcAft>
              <a:buClr>
                <a:schemeClr val="dk1"/>
              </a:buClr>
              <a:buSzPts val="2400"/>
              <a:buChar char="•"/>
            </a:pPr>
            <a:r>
              <a:rPr lang="en-US"/>
              <a:t>Number (or range) of possible occurrences of an entity type in an </a:t>
            </a:r>
            <a:r>
              <a:rPr lang="en-US" i="1"/>
              <a:t>n</a:t>
            </a:r>
            <a:r>
              <a:rPr lang="en-US"/>
              <a:t>-ary relationship when other (</a:t>
            </a:r>
            <a:r>
              <a:rPr lang="en-US" i="1"/>
              <a:t>n</a:t>
            </a:r>
            <a:r>
              <a:rPr lang="en-US"/>
              <a:t>-1) values are fixed. </a:t>
            </a:r>
            <a:endParaRPr/>
          </a:p>
          <a:p>
            <a:pPr marL="228600" lvl="0" indent="-50800" algn="l" rtl="0">
              <a:lnSpc>
                <a:spcPct val="90000"/>
              </a:lnSpc>
              <a:spcBef>
                <a:spcPts val="1000"/>
              </a:spcBef>
              <a:spcAft>
                <a:spcPts val="0"/>
              </a:spcAft>
              <a:buClr>
                <a:schemeClr val="dk1"/>
              </a:buClr>
              <a:buSzPts val="2800"/>
              <a:buNone/>
            </a:pPr>
            <a:endParaRPr/>
          </a:p>
        </p:txBody>
      </p:sp>
      <p:sp>
        <p:nvSpPr>
          <p:cNvPr id="679" name="Google Shape;679;p5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p5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libri"/>
              <a:buNone/>
            </a:pPr>
            <a:r>
              <a:rPr lang="en-US" sz="2400"/>
              <a:t>Semantic Net: Ternary </a:t>
            </a:r>
            <a:r>
              <a:rPr lang="en-US" sz="2400">
                <a:solidFill>
                  <a:srgbClr val="0070C0"/>
                </a:solidFill>
              </a:rPr>
              <a:t>Registers</a:t>
            </a:r>
            <a:r>
              <a:rPr lang="en-US" sz="2400"/>
              <a:t> Relationship with Values for Staff and Branch Entities Fixed</a:t>
            </a:r>
            <a:endParaRPr/>
          </a:p>
        </p:txBody>
      </p:sp>
      <p:pic>
        <p:nvPicPr>
          <p:cNvPr id="685" name="Google Shape;685;p51"/>
          <p:cNvPicPr preferRelativeResize="0">
            <a:picLocks noGrp="1"/>
          </p:cNvPicPr>
          <p:nvPr>
            <p:ph type="body" idx="1"/>
          </p:nvPr>
        </p:nvPicPr>
        <p:blipFill rotWithShape="1">
          <a:blip r:embed="rId3">
            <a:alphaModFix/>
          </a:blip>
          <a:srcRect/>
          <a:stretch/>
        </p:blipFill>
        <p:spPr>
          <a:xfrm>
            <a:off x="966284" y="2196054"/>
            <a:ext cx="7211431" cy="3610479"/>
          </a:xfrm>
          <a:prstGeom prst="rect">
            <a:avLst/>
          </a:prstGeom>
          <a:noFill/>
          <a:ln>
            <a:noFill/>
          </a:ln>
        </p:spPr>
      </p:pic>
      <p:sp>
        <p:nvSpPr>
          <p:cNvPr id="686" name="Google Shape;686;p5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5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Multiplicity of Ternary Registers Relationship</a:t>
            </a:r>
            <a:endParaRPr/>
          </a:p>
        </p:txBody>
      </p:sp>
      <p:pic>
        <p:nvPicPr>
          <p:cNvPr id="692" name="Google Shape;692;p52"/>
          <p:cNvPicPr preferRelativeResize="0">
            <a:picLocks noGrp="1"/>
          </p:cNvPicPr>
          <p:nvPr>
            <p:ph type="body" idx="1"/>
          </p:nvPr>
        </p:nvPicPr>
        <p:blipFill rotWithShape="1">
          <a:blip r:embed="rId3">
            <a:alphaModFix/>
          </a:blip>
          <a:srcRect/>
          <a:stretch/>
        </p:blipFill>
        <p:spPr>
          <a:xfrm>
            <a:off x="694784" y="2515186"/>
            <a:ext cx="7754432" cy="2972215"/>
          </a:xfrm>
          <a:prstGeom prst="rect">
            <a:avLst/>
          </a:prstGeom>
          <a:noFill/>
          <a:ln>
            <a:noFill/>
          </a:ln>
        </p:spPr>
      </p:pic>
      <p:sp>
        <p:nvSpPr>
          <p:cNvPr id="693" name="Google Shape;693;p5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sp>
        <p:nvSpPr>
          <p:cNvPr id="694" name="Google Shape;694;p52"/>
          <p:cNvSpPr txBox="1"/>
          <p:nvPr/>
        </p:nvSpPr>
        <p:spPr>
          <a:xfrm>
            <a:off x="1371600" y="5410200"/>
            <a:ext cx="6324600" cy="4619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CC3300"/>
              </a:buClr>
              <a:buSzPts val="2400"/>
              <a:buFont typeface="Arial"/>
              <a:buNone/>
            </a:pPr>
            <a:r>
              <a:rPr lang="en-US" sz="2400" b="1" i="1">
                <a:solidFill>
                  <a:srgbClr val="CC3300"/>
                </a:solidFill>
                <a:latin typeface="Calibri"/>
                <a:ea typeface="Calibri"/>
                <a:cs typeface="Calibri"/>
                <a:sym typeface="Calibri"/>
              </a:rPr>
              <a:t>Staff of a branch registers zero client or more</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5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Summary of Multiplicity Constraints</a:t>
            </a:r>
            <a:endParaRPr/>
          </a:p>
        </p:txBody>
      </p:sp>
      <p:pic>
        <p:nvPicPr>
          <p:cNvPr id="700" name="Google Shape;700;p53"/>
          <p:cNvPicPr preferRelativeResize="0">
            <a:picLocks noGrp="1"/>
          </p:cNvPicPr>
          <p:nvPr>
            <p:ph type="body" idx="1"/>
          </p:nvPr>
        </p:nvPicPr>
        <p:blipFill rotWithShape="1">
          <a:blip r:embed="rId3">
            <a:alphaModFix/>
          </a:blip>
          <a:srcRect/>
          <a:stretch/>
        </p:blipFill>
        <p:spPr>
          <a:xfrm>
            <a:off x="258161" y="2062876"/>
            <a:ext cx="8575873" cy="4215609"/>
          </a:xfrm>
          <a:prstGeom prst="rect">
            <a:avLst/>
          </a:prstGeom>
          <a:noFill/>
          <a:ln>
            <a:noFill/>
          </a:ln>
        </p:spPr>
      </p:pic>
      <p:sp>
        <p:nvSpPr>
          <p:cNvPr id="701" name="Google Shape;701;p5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p5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Constraints (Cardinality &amp; Participation)</a:t>
            </a:r>
            <a:endParaRPr/>
          </a:p>
        </p:txBody>
      </p:sp>
      <p:sp>
        <p:nvSpPr>
          <p:cNvPr id="707" name="Google Shape;707;p54"/>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From multiplicity we can identify two type of restrictions on relationships: </a:t>
            </a:r>
            <a:r>
              <a:rPr lang="en-US" b="1" u="sng">
                <a:solidFill>
                  <a:srgbClr val="0070C0"/>
                </a:solidFill>
              </a:rPr>
              <a:t>cardinality</a:t>
            </a:r>
            <a:r>
              <a:rPr lang="en-US"/>
              <a:t> and </a:t>
            </a:r>
            <a:r>
              <a:rPr lang="en-US" b="1" u="sng">
                <a:solidFill>
                  <a:srgbClr val="0070C0"/>
                </a:solidFill>
              </a:rPr>
              <a:t>participation</a:t>
            </a:r>
            <a:r>
              <a:rPr lang="en-US"/>
              <a:t>.</a:t>
            </a:r>
            <a:endParaRPr/>
          </a:p>
          <a:p>
            <a:pPr marL="228600" lvl="0" indent="-228600" algn="l" rtl="0">
              <a:lnSpc>
                <a:spcPct val="90000"/>
              </a:lnSpc>
              <a:spcBef>
                <a:spcPts val="1000"/>
              </a:spcBef>
              <a:spcAft>
                <a:spcPts val="0"/>
              </a:spcAft>
              <a:buClr>
                <a:srgbClr val="0070C0"/>
              </a:buClr>
              <a:buSzPts val="2800"/>
              <a:buChar char="•"/>
            </a:pPr>
            <a:r>
              <a:rPr lang="en-US" b="1">
                <a:solidFill>
                  <a:srgbClr val="0070C0"/>
                </a:solidFill>
              </a:rPr>
              <a:t>Cardinality</a:t>
            </a:r>
            <a:r>
              <a:rPr lang="en-US"/>
              <a:t> </a:t>
            </a:r>
            <a:endParaRPr/>
          </a:p>
          <a:p>
            <a:pPr marL="685800" lvl="1" indent="-228600" algn="l" rtl="0">
              <a:lnSpc>
                <a:spcPct val="90000"/>
              </a:lnSpc>
              <a:spcBef>
                <a:spcPts val="500"/>
              </a:spcBef>
              <a:spcAft>
                <a:spcPts val="0"/>
              </a:spcAft>
              <a:buClr>
                <a:schemeClr val="dk1"/>
              </a:buClr>
              <a:buSzPts val="2400"/>
              <a:buChar char="•"/>
            </a:pPr>
            <a:r>
              <a:rPr lang="en-US"/>
              <a:t>Describes maximum number of possible relationship occurrences for an entity participating in each relationship type. </a:t>
            </a:r>
            <a:endParaRPr/>
          </a:p>
          <a:p>
            <a:pPr marL="685800" lvl="1" indent="-228600" algn="l" rtl="0">
              <a:lnSpc>
                <a:spcPct val="90000"/>
              </a:lnSpc>
              <a:spcBef>
                <a:spcPts val="500"/>
              </a:spcBef>
              <a:spcAft>
                <a:spcPts val="0"/>
              </a:spcAft>
              <a:buClr>
                <a:schemeClr val="dk1"/>
              </a:buClr>
              <a:buSzPts val="2400"/>
              <a:buChar char="•"/>
            </a:pPr>
            <a:r>
              <a:rPr lang="en-US"/>
              <a:t>Appears as the maximum values for the multiplicity ranges on either side of the relationship</a:t>
            </a:r>
            <a:endParaRPr/>
          </a:p>
          <a:p>
            <a:pPr marL="228600" lvl="0" indent="-50800" algn="l" rtl="0">
              <a:lnSpc>
                <a:spcPct val="90000"/>
              </a:lnSpc>
              <a:spcBef>
                <a:spcPts val="1000"/>
              </a:spcBef>
              <a:spcAft>
                <a:spcPts val="0"/>
              </a:spcAft>
              <a:buClr>
                <a:schemeClr val="dk1"/>
              </a:buClr>
              <a:buSzPts val="2800"/>
              <a:buNone/>
            </a:pPr>
            <a:endParaRPr/>
          </a:p>
        </p:txBody>
      </p:sp>
      <p:sp>
        <p:nvSpPr>
          <p:cNvPr id="708" name="Google Shape;708;p5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5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Constraints (Cardinality &amp; Participation)</a:t>
            </a:r>
            <a:endParaRPr/>
          </a:p>
        </p:txBody>
      </p:sp>
      <p:sp>
        <p:nvSpPr>
          <p:cNvPr id="714" name="Google Shape;714;p55"/>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70C0"/>
              </a:buClr>
              <a:buSzPts val="2800"/>
              <a:buChar char="•"/>
            </a:pPr>
            <a:r>
              <a:rPr lang="en-US" b="1">
                <a:solidFill>
                  <a:srgbClr val="0070C0"/>
                </a:solidFill>
              </a:rPr>
              <a:t>Participation (mandatory/optional)</a:t>
            </a:r>
            <a:endParaRPr/>
          </a:p>
          <a:p>
            <a:pPr marL="685800" lvl="1" indent="-228600" algn="l" rtl="0">
              <a:lnSpc>
                <a:spcPct val="90000"/>
              </a:lnSpc>
              <a:spcBef>
                <a:spcPts val="500"/>
              </a:spcBef>
              <a:spcAft>
                <a:spcPts val="0"/>
              </a:spcAft>
              <a:buClr>
                <a:schemeClr val="dk1"/>
              </a:buClr>
              <a:buSzPts val="2400"/>
              <a:buChar char="•"/>
            </a:pPr>
            <a:r>
              <a:rPr lang="en-US"/>
              <a:t>determines whether </a:t>
            </a:r>
            <a:r>
              <a:rPr lang="en-US" b="1">
                <a:solidFill>
                  <a:srgbClr val="C00000"/>
                </a:solidFill>
              </a:rPr>
              <a:t>all</a:t>
            </a:r>
            <a:r>
              <a:rPr lang="en-US"/>
              <a:t> or </a:t>
            </a:r>
            <a:r>
              <a:rPr lang="en-US" b="1">
                <a:solidFill>
                  <a:srgbClr val="C00000"/>
                </a:solidFill>
              </a:rPr>
              <a:t>only some</a:t>
            </a:r>
            <a:r>
              <a:rPr lang="en-US" b="1"/>
              <a:t> </a:t>
            </a:r>
            <a:r>
              <a:rPr lang="en-US"/>
              <a:t>entity occurrences are involved (participate) in a relationship.</a:t>
            </a:r>
            <a:endParaRPr/>
          </a:p>
          <a:p>
            <a:pPr marL="685800" lvl="1" indent="-228600" algn="l" rtl="0">
              <a:lnSpc>
                <a:spcPct val="90000"/>
              </a:lnSpc>
              <a:spcBef>
                <a:spcPts val="500"/>
              </a:spcBef>
              <a:spcAft>
                <a:spcPts val="0"/>
              </a:spcAft>
              <a:buClr>
                <a:schemeClr val="dk1"/>
              </a:buClr>
              <a:buSzPts val="2400"/>
              <a:buChar char="•"/>
            </a:pPr>
            <a:r>
              <a:rPr lang="en-US">
                <a:highlight>
                  <a:srgbClr val="FFFF00"/>
                </a:highlight>
              </a:rPr>
              <a:t>All</a:t>
            </a:r>
            <a:r>
              <a:rPr lang="en-US"/>
              <a:t> is </a:t>
            </a:r>
            <a:r>
              <a:rPr lang="en-US" b="1">
                <a:solidFill>
                  <a:srgbClr val="C00000"/>
                </a:solidFill>
              </a:rPr>
              <a:t>mandatory</a:t>
            </a:r>
            <a:r>
              <a:rPr lang="en-US"/>
              <a:t> (minimum value </a:t>
            </a:r>
            <a:r>
              <a:rPr lang="en-US" b="1"/>
              <a:t>1</a:t>
            </a:r>
            <a:r>
              <a:rPr lang="en-US"/>
              <a:t>) ;  </a:t>
            </a:r>
            <a:endParaRPr/>
          </a:p>
          <a:p>
            <a:pPr marL="685800" lvl="1" indent="-228600" algn="l" rtl="0">
              <a:lnSpc>
                <a:spcPct val="90000"/>
              </a:lnSpc>
              <a:spcBef>
                <a:spcPts val="500"/>
              </a:spcBef>
              <a:spcAft>
                <a:spcPts val="0"/>
              </a:spcAft>
              <a:buClr>
                <a:schemeClr val="dk1"/>
              </a:buClr>
              <a:buSzPts val="2400"/>
              <a:buChar char="•"/>
            </a:pPr>
            <a:r>
              <a:rPr lang="en-US">
                <a:highlight>
                  <a:srgbClr val="FFFF00"/>
                </a:highlight>
              </a:rPr>
              <a:t>only some</a:t>
            </a:r>
            <a:r>
              <a:rPr lang="en-US"/>
              <a:t> is </a:t>
            </a:r>
            <a:r>
              <a:rPr lang="en-US" b="1">
                <a:solidFill>
                  <a:srgbClr val="C00000"/>
                </a:solidFill>
              </a:rPr>
              <a:t>optional</a:t>
            </a:r>
            <a:r>
              <a:rPr lang="en-US"/>
              <a:t> (minimum value </a:t>
            </a:r>
            <a:r>
              <a:rPr lang="en-US" b="1"/>
              <a:t>0</a:t>
            </a:r>
            <a:r>
              <a:rPr lang="en-US"/>
              <a:t>)</a:t>
            </a:r>
            <a:endParaRPr/>
          </a:p>
          <a:p>
            <a:pPr marL="685800" lvl="1" indent="-228600" algn="l" rtl="0">
              <a:lnSpc>
                <a:spcPct val="90000"/>
              </a:lnSpc>
              <a:spcBef>
                <a:spcPts val="500"/>
              </a:spcBef>
              <a:spcAft>
                <a:spcPts val="0"/>
              </a:spcAft>
              <a:buClr>
                <a:schemeClr val="dk1"/>
              </a:buClr>
              <a:buSzPts val="2400"/>
              <a:buChar char="•"/>
            </a:pPr>
            <a:r>
              <a:rPr lang="en-US"/>
              <a:t>How to determine an entity’s participation on a diagram?</a:t>
            </a:r>
            <a:endParaRPr/>
          </a:p>
          <a:p>
            <a:pPr marL="1143000" lvl="2" indent="-228600" algn="l" rtl="0">
              <a:lnSpc>
                <a:spcPct val="90000"/>
              </a:lnSpc>
              <a:spcBef>
                <a:spcPts val="500"/>
              </a:spcBef>
              <a:spcAft>
                <a:spcPts val="0"/>
              </a:spcAft>
              <a:buClr>
                <a:schemeClr val="dk1"/>
              </a:buClr>
              <a:buSzPts val="2000"/>
              <a:buChar char="•"/>
            </a:pPr>
            <a:r>
              <a:rPr lang="en-US"/>
              <a:t>Look at the minimum value of a range at one entity.  </a:t>
            </a:r>
            <a:endParaRPr/>
          </a:p>
          <a:p>
            <a:pPr marL="1143000" lvl="2" indent="-228600" algn="l" rtl="0">
              <a:lnSpc>
                <a:spcPct val="90000"/>
              </a:lnSpc>
              <a:spcBef>
                <a:spcPts val="500"/>
              </a:spcBef>
              <a:spcAft>
                <a:spcPts val="0"/>
              </a:spcAft>
              <a:buClr>
                <a:schemeClr val="dk1"/>
              </a:buClr>
              <a:buSzPts val="2000"/>
              <a:buChar char="•"/>
            </a:pPr>
            <a:r>
              <a:rPr lang="en-US"/>
              <a:t>If value is 0, then the </a:t>
            </a:r>
            <a:r>
              <a:rPr lang="en-US" u="sng"/>
              <a:t>opposite entity </a:t>
            </a:r>
            <a:r>
              <a:rPr lang="en-US"/>
              <a:t>(in that relationship) has an </a:t>
            </a:r>
            <a:r>
              <a:rPr lang="en-US" b="1">
                <a:solidFill>
                  <a:srgbClr val="C00000"/>
                </a:solidFill>
              </a:rPr>
              <a:t>optional participation</a:t>
            </a:r>
            <a:endParaRPr/>
          </a:p>
          <a:p>
            <a:pPr marL="1143000" lvl="2" indent="-228600" algn="l" rtl="0">
              <a:lnSpc>
                <a:spcPct val="90000"/>
              </a:lnSpc>
              <a:spcBef>
                <a:spcPts val="500"/>
              </a:spcBef>
              <a:spcAft>
                <a:spcPts val="0"/>
              </a:spcAft>
              <a:buClr>
                <a:schemeClr val="dk1"/>
              </a:buClr>
              <a:buSzPts val="2000"/>
              <a:buChar char="•"/>
            </a:pPr>
            <a:r>
              <a:rPr lang="en-US"/>
              <a:t>If value is 1, then the </a:t>
            </a:r>
            <a:r>
              <a:rPr lang="en-US" u="sng"/>
              <a:t>opposite entity</a:t>
            </a:r>
            <a:r>
              <a:rPr lang="en-US"/>
              <a:t> (in that relationship) has a </a:t>
            </a:r>
            <a:r>
              <a:rPr lang="en-US" b="1">
                <a:solidFill>
                  <a:srgbClr val="C00000"/>
                </a:solidFill>
              </a:rPr>
              <a:t>mandatory participation</a:t>
            </a:r>
            <a:endParaRPr/>
          </a:p>
          <a:p>
            <a:pPr marL="228600" lvl="0" indent="-50800" algn="l" rtl="0">
              <a:lnSpc>
                <a:spcPct val="90000"/>
              </a:lnSpc>
              <a:spcBef>
                <a:spcPts val="1000"/>
              </a:spcBef>
              <a:spcAft>
                <a:spcPts val="0"/>
              </a:spcAft>
              <a:buClr>
                <a:schemeClr val="dk1"/>
              </a:buClr>
              <a:buSzPts val="2800"/>
              <a:buNone/>
            </a:pPr>
            <a:endParaRPr/>
          </a:p>
        </p:txBody>
      </p:sp>
      <p:sp>
        <p:nvSpPr>
          <p:cNvPr id="715" name="Google Shape;715;p5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56"/>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Multiplicity as Cardinality and Participation Constraints</a:t>
            </a:r>
            <a:endParaRPr/>
          </a:p>
        </p:txBody>
      </p:sp>
      <p:pic>
        <p:nvPicPr>
          <p:cNvPr id="721" name="Google Shape;721;p56"/>
          <p:cNvPicPr preferRelativeResize="0">
            <a:picLocks noGrp="1"/>
          </p:cNvPicPr>
          <p:nvPr>
            <p:ph type="body" idx="1"/>
          </p:nvPr>
        </p:nvPicPr>
        <p:blipFill rotWithShape="1">
          <a:blip r:embed="rId3">
            <a:alphaModFix/>
          </a:blip>
          <a:srcRect/>
          <a:stretch/>
        </p:blipFill>
        <p:spPr>
          <a:xfrm>
            <a:off x="1709063" y="1825625"/>
            <a:ext cx="5725873" cy="4351338"/>
          </a:xfrm>
          <a:prstGeom prst="rect">
            <a:avLst/>
          </a:prstGeom>
          <a:noFill/>
          <a:ln>
            <a:noFill/>
          </a:ln>
        </p:spPr>
      </p:pic>
      <p:sp>
        <p:nvSpPr>
          <p:cNvPr id="722" name="Google Shape;722;p5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5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Practice 4: Problem 1</a:t>
            </a:r>
            <a:endParaRPr/>
          </a:p>
        </p:txBody>
      </p:sp>
      <p:sp>
        <p:nvSpPr>
          <p:cNvPr id="728" name="Google Shape;728;p5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Complete the ERD for the problem by:</a:t>
            </a:r>
            <a:endParaRPr/>
          </a:p>
          <a:p>
            <a:pPr marL="685800" lvl="1" indent="-228600" algn="l" rtl="0">
              <a:lnSpc>
                <a:spcPct val="90000"/>
              </a:lnSpc>
              <a:spcBef>
                <a:spcPts val="500"/>
              </a:spcBef>
              <a:spcAft>
                <a:spcPts val="0"/>
              </a:spcAft>
              <a:buClr>
                <a:schemeClr val="dk1"/>
              </a:buClr>
              <a:buSzPts val="2400"/>
              <a:buChar char="•"/>
            </a:pPr>
            <a:r>
              <a:rPr lang="en-US"/>
              <a:t>Determine whether the entities are strong entity or weak entity;</a:t>
            </a:r>
            <a:endParaRPr/>
          </a:p>
          <a:p>
            <a:pPr marL="685800" lvl="1" indent="-228600" algn="l" rtl="0">
              <a:lnSpc>
                <a:spcPct val="90000"/>
              </a:lnSpc>
              <a:spcBef>
                <a:spcPts val="500"/>
              </a:spcBef>
              <a:spcAft>
                <a:spcPts val="0"/>
              </a:spcAft>
              <a:buClr>
                <a:schemeClr val="dk1"/>
              </a:buClr>
              <a:buSzPts val="2400"/>
              <a:buChar char="•"/>
            </a:pPr>
            <a:r>
              <a:rPr lang="en-US"/>
              <a:t>Determine the multiplicity and structural constraints (cardinality and participation) for each relationship in the diagram</a:t>
            </a:r>
            <a:endParaRPr/>
          </a:p>
          <a:p>
            <a:pPr marL="228600" lvl="0" indent="-50800" algn="l" rtl="0">
              <a:lnSpc>
                <a:spcPct val="90000"/>
              </a:lnSpc>
              <a:spcBef>
                <a:spcPts val="1000"/>
              </a:spcBef>
              <a:spcAft>
                <a:spcPts val="0"/>
              </a:spcAft>
              <a:buClr>
                <a:schemeClr val="dk1"/>
              </a:buClr>
              <a:buSzPts val="2800"/>
              <a:buNone/>
            </a:pPr>
            <a:endParaRPr/>
          </a:p>
        </p:txBody>
      </p:sp>
      <p:sp>
        <p:nvSpPr>
          <p:cNvPr id="729" name="Google Shape;729;p5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5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Structural Constraints (cont)</a:t>
            </a:r>
            <a:endParaRPr/>
          </a:p>
        </p:txBody>
      </p:sp>
      <p:sp>
        <p:nvSpPr>
          <p:cNvPr id="735" name="Google Shape;735;p5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Why need to understand and able to differentiate between the different type of structural constraints in data model (ERD)?</a:t>
            </a:r>
            <a:endParaRPr/>
          </a:p>
          <a:p>
            <a:pPr marL="685800" lvl="1" indent="-228600" algn="l" rtl="0">
              <a:lnSpc>
                <a:spcPct val="90000"/>
              </a:lnSpc>
              <a:spcBef>
                <a:spcPts val="500"/>
              </a:spcBef>
              <a:spcAft>
                <a:spcPts val="0"/>
              </a:spcAft>
              <a:buClr>
                <a:schemeClr val="dk1"/>
              </a:buClr>
              <a:buSzPts val="2400"/>
              <a:buChar char="•"/>
            </a:pPr>
            <a:r>
              <a:rPr lang="en-US"/>
              <a:t>Relational schemas will be created from entities-relationship in ERD</a:t>
            </a:r>
            <a:endParaRPr/>
          </a:p>
          <a:p>
            <a:pPr marL="685800" lvl="1" indent="-228600" algn="l" rtl="0">
              <a:lnSpc>
                <a:spcPct val="90000"/>
              </a:lnSpc>
              <a:spcBef>
                <a:spcPts val="500"/>
              </a:spcBef>
              <a:spcAft>
                <a:spcPts val="0"/>
              </a:spcAft>
              <a:buClr>
                <a:schemeClr val="dk1"/>
              </a:buClr>
              <a:buSzPts val="2400"/>
              <a:buChar char="•"/>
            </a:pPr>
            <a:r>
              <a:rPr lang="en-US"/>
              <a:t>Different type of constraints will affect the schemas created (will be discussed in logical database design topic)</a:t>
            </a:r>
            <a:endParaRPr/>
          </a:p>
          <a:p>
            <a:pPr marL="228600" lvl="0" indent="-50800" algn="l" rtl="0">
              <a:lnSpc>
                <a:spcPct val="90000"/>
              </a:lnSpc>
              <a:spcBef>
                <a:spcPts val="1000"/>
              </a:spcBef>
              <a:spcAft>
                <a:spcPts val="0"/>
              </a:spcAft>
              <a:buClr>
                <a:schemeClr val="dk1"/>
              </a:buClr>
              <a:buSzPts val="2800"/>
              <a:buNone/>
            </a:pPr>
            <a:endParaRPr/>
          </a:p>
        </p:txBody>
      </p:sp>
      <p:sp>
        <p:nvSpPr>
          <p:cNvPr id="736" name="Google Shape;736;p5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5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Calibri"/>
              <a:buNone/>
            </a:pPr>
            <a:r>
              <a:rPr lang="en-US"/>
              <a:t>Problem 2: Produce ERD to represent the following situation</a:t>
            </a:r>
            <a:endParaRPr/>
          </a:p>
        </p:txBody>
      </p:sp>
      <p:sp>
        <p:nvSpPr>
          <p:cNvPr id="742" name="Google Shape;742;p59"/>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000"/>
              <a:buChar char="•"/>
            </a:pPr>
            <a:r>
              <a:rPr lang="en-US" sz="2000"/>
              <a:t>Model the USA-type geography, where the following is of interest:</a:t>
            </a:r>
            <a:endParaRPr/>
          </a:p>
          <a:p>
            <a:pPr marL="685800" lvl="1" indent="-228600" algn="l" rtl="0">
              <a:lnSpc>
                <a:spcPct val="90000"/>
              </a:lnSpc>
              <a:spcBef>
                <a:spcPts val="500"/>
              </a:spcBef>
              <a:spcAft>
                <a:spcPts val="0"/>
              </a:spcAft>
              <a:buClr>
                <a:schemeClr val="dk1"/>
              </a:buClr>
              <a:buSzPts val="1800"/>
              <a:buChar char="•"/>
            </a:pPr>
            <a:r>
              <a:rPr lang="en-US" sz="1800"/>
              <a:t>States of a country including their name, population, area and date established.</a:t>
            </a:r>
            <a:endParaRPr/>
          </a:p>
          <a:p>
            <a:pPr marL="685800" lvl="1" indent="-228600" algn="l" rtl="0">
              <a:lnSpc>
                <a:spcPct val="90000"/>
              </a:lnSpc>
              <a:spcBef>
                <a:spcPts val="500"/>
              </a:spcBef>
              <a:spcAft>
                <a:spcPts val="0"/>
              </a:spcAft>
              <a:buClr>
                <a:schemeClr val="dk1"/>
              </a:buClr>
              <a:buSzPts val="1800"/>
              <a:buChar char="•"/>
            </a:pPr>
            <a:r>
              <a:rPr lang="en-US" sz="1800"/>
              <a:t>Cities including their name, population, date established and founder's name.</a:t>
            </a:r>
            <a:endParaRPr/>
          </a:p>
          <a:p>
            <a:pPr marL="685800" lvl="1" indent="-228600" algn="l" rtl="0">
              <a:lnSpc>
                <a:spcPct val="90000"/>
              </a:lnSpc>
              <a:spcBef>
                <a:spcPts val="500"/>
              </a:spcBef>
              <a:spcAft>
                <a:spcPts val="0"/>
              </a:spcAft>
              <a:buClr>
                <a:schemeClr val="dk1"/>
              </a:buClr>
              <a:buSzPts val="1800"/>
              <a:buChar char="•"/>
            </a:pPr>
            <a:r>
              <a:rPr lang="en-US" sz="1800"/>
              <a:t>Rivers including their name and length.</a:t>
            </a:r>
            <a:endParaRPr/>
          </a:p>
          <a:p>
            <a:pPr marL="685800" lvl="1" indent="-228600" algn="l" rtl="0">
              <a:lnSpc>
                <a:spcPct val="90000"/>
              </a:lnSpc>
              <a:spcBef>
                <a:spcPts val="500"/>
              </a:spcBef>
              <a:spcAft>
                <a:spcPts val="0"/>
              </a:spcAft>
              <a:buClr>
                <a:schemeClr val="dk1"/>
              </a:buClr>
              <a:buSzPts val="1800"/>
              <a:buChar char="•"/>
            </a:pPr>
            <a:r>
              <a:rPr lang="en-US" sz="1800"/>
              <a:t>The capital city of each state, including the date declared.</a:t>
            </a:r>
            <a:endParaRPr/>
          </a:p>
          <a:p>
            <a:pPr marL="685800" lvl="1" indent="-228600" algn="l" rtl="0">
              <a:lnSpc>
                <a:spcPct val="90000"/>
              </a:lnSpc>
              <a:spcBef>
                <a:spcPts val="500"/>
              </a:spcBef>
              <a:spcAft>
                <a:spcPts val="0"/>
              </a:spcAft>
              <a:buClr>
                <a:schemeClr val="dk1"/>
              </a:buClr>
              <a:buSzPts val="1800"/>
              <a:buChar char="•"/>
            </a:pPr>
            <a:r>
              <a:rPr lang="en-US" sz="1800"/>
              <a:t>The source of each river, i.e. the state in which it begins (which may be none)</a:t>
            </a:r>
            <a:endParaRPr/>
          </a:p>
          <a:p>
            <a:pPr marL="685800" lvl="1" indent="-228600" algn="l" rtl="0">
              <a:lnSpc>
                <a:spcPct val="90000"/>
              </a:lnSpc>
              <a:spcBef>
                <a:spcPts val="500"/>
              </a:spcBef>
              <a:spcAft>
                <a:spcPts val="0"/>
              </a:spcAft>
              <a:buClr>
                <a:schemeClr val="dk1"/>
              </a:buClr>
              <a:buSzPts val="1800"/>
              <a:buChar char="•"/>
            </a:pPr>
            <a:r>
              <a:rPr lang="en-US" sz="1800"/>
              <a:t>The fact that cities may be located on particular rivers.</a:t>
            </a:r>
            <a:endParaRPr/>
          </a:p>
          <a:p>
            <a:pPr marL="685800" lvl="1" indent="-228600" algn="l" rtl="0">
              <a:lnSpc>
                <a:spcPct val="90000"/>
              </a:lnSpc>
              <a:spcBef>
                <a:spcPts val="500"/>
              </a:spcBef>
              <a:spcAft>
                <a:spcPts val="0"/>
              </a:spcAft>
              <a:buClr>
                <a:schemeClr val="dk1"/>
              </a:buClr>
              <a:buSzPts val="1800"/>
              <a:buChar char="•"/>
            </a:pPr>
            <a:r>
              <a:rPr lang="en-US" sz="1800"/>
              <a:t>The fact that cities are located in states.</a:t>
            </a:r>
            <a:endParaRPr/>
          </a:p>
          <a:p>
            <a:pPr marL="685800" lvl="1" indent="-228600" algn="l" rtl="0">
              <a:lnSpc>
                <a:spcPct val="90000"/>
              </a:lnSpc>
              <a:spcBef>
                <a:spcPts val="500"/>
              </a:spcBef>
              <a:spcAft>
                <a:spcPts val="0"/>
              </a:spcAft>
              <a:buClr>
                <a:schemeClr val="dk1"/>
              </a:buClr>
              <a:buSzPts val="1800"/>
              <a:buChar char="•"/>
            </a:pPr>
            <a:r>
              <a:rPr lang="en-US" sz="1800"/>
              <a:t>The length of each river within each state.</a:t>
            </a:r>
            <a:endParaRPr/>
          </a:p>
          <a:p>
            <a:pPr marL="685800" lvl="1" indent="-228600" algn="l" rtl="0">
              <a:lnSpc>
                <a:spcPct val="90000"/>
              </a:lnSpc>
              <a:spcBef>
                <a:spcPts val="500"/>
              </a:spcBef>
              <a:spcAft>
                <a:spcPts val="0"/>
              </a:spcAft>
              <a:buClr>
                <a:schemeClr val="dk1"/>
              </a:buClr>
              <a:buSzPts val="1800"/>
              <a:buChar char="•"/>
            </a:pPr>
            <a:r>
              <a:rPr lang="en-US" sz="1800"/>
              <a:t>Information about states that adjoin each another, and the length of their common border.</a:t>
            </a:r>
            <a:endParaRPr/>
          </a:p>
          <a:p>
            <a:pPr marL="685800" lvl="1" indent="-228600" algn="l" rtl="0">
              <a:lnSpc>
                <a:spcPct val="90000"/>
              </a:lnSpc>
              <a:spcBef>
                <a:spcPts val="500"/>
              </a:spcBef>
              <a:spcAft>
                <a:spcPts val="0"/>
              </a:spcAft>
              <a:buClr>
                <a:schemeClr val="dk1"/>
              </a:buClr>
              <a:buSzPts val="1800"/>
              <a:buChar char="•"/>
            </a:pPr>
            <a:r>
              <a:rPr lang="en-US" sz="1800"/>
              <a:t>Assume that the names of states and rivers are unique. City names are only unique within a state.</a:t>
            </a:r>
            <a:endParaRPr/>
          </a:p>
        </p:txBody>
      </p:sp>
      <p:sp>
        <p:nvSpPr>
          <p:cNvPr id="743" name="Google Shape;743;p5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59</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p6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Calibri"/>
              <a:buNone/>
            </a:pPr>
            <a:r>
              <a:rPr lang="en-US" dirty="0"/>
              <a:t>Problem 3: Produce ERD to represent the following situation</a:t>
            </a:r>
            <a:endParaRPr dirty="0"/>
          </a:p>
        </p:txBody>
      </p:sp>
      <p:sp>
        <p:nvSpPr>
          <p:cNvPr id="749" name="Google Shape;749;p60"/>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800"/>
              <a:buChar char="•"/>
            </a:pPr>
            <a:r>
              <a:rPr lang="en-US" sz="1800"/>
              <a:t>Consider the following set of requirements for a university database that is used to keep track of students' transcripts.</a:t>
            </a:r>
            <a:endParaRPr/>
          </a:p>
          <a:p>
            <a:pPr marL="685800" lvl="1" indent="-228600" algn="l" rtl="0">
              <a:lnSpc>
                <a:spcPct val="90000"/>
              </a:lnSpc>
              <a:spcBef>
                <a:spcPts val="500"/>
              </a:spcBef>
              <a:spcAft>
                <a:spcPts val="0"/>
              </a:spcAft>
              <a:buClr>
                <a:schemeClr val="dk1"/>
              </a:buClr>
              <a:buSzPts val="1600"/>
              <a:buChar char="•"/>
            </a:pPr>
            <a:r>
              <a:rPr lang="en-US" sz="1600"/>
              <a:t>The university keeps track of each student's name, student number, current address, permanent address and phone, birthdate, gender, year of study (1st, 2nd, 3rd, 4th ), major department, minor department (if any), and degree program (B.A., B.Sc., ..., Ph.D.). Some user applications need to refer to the city, county, and post code of the student's permanent address and to the student's last name.</a:t>
            </a:r>
            <a:endParaRPr/>
          </a:p>
          <a:p>
            <a:pPr marL="685800" lvl="1" indent="-228600" algn="l" rtl="0">
              <a:lnSpc>
                <a:spcPct val="90000"/>
              </a:lnSpc>
              <a:spcBef>
                <a:spcPts val="500"/>
              </a:spcBef>
              <a:spcAft>
                <a:spcPts val="0"/>
              </a:spcAft>
              <a:buClr>
                <a:schemeClr val="dk1"/>
              </a:buClr>
              <a:buSzPts val="1600"/>
              <a:buChar char="•"/>
            </a:pPr>
            <a:r>
              <a:rPr lang="en-US" sz="1600"/>
              <a:t>Each department is described by name, department code, office number and office phones. Both name and code have unique values for each department.</a:t>
            </a:r>
            <a:endParaRPr/>
          </a:p>
          <a:p>
            <a:pPr marL="685800" lvl="1" indent="-228600" algn="l" rtl="0">
              <a:lnSpc>
                <a:spcPct val="90000"/>
              </a:lnSpc>
              <a:spcBef>
                <a:spcPts val="500"/>
              </a:spcBef>
              <a:spcAft>
                <a:spcPts val="0"/>
              </a:spcAft>
              <a:buClr>
                <a:schemeClr val="dk1"/>
              </a:buClr>
              <a:buSzPts val="1600"/>
              <a:buChar char="•"/>
            </a:pPr>
            <a:r>
              <a:rPr lang="en-US" sz="1600"/>
              <a:t>Each course has a course name, description, code number, number of semester hours and offering department. The value of the code number is unique for each course.</a:t>
            </a:r>
            <a:endParaRPr/>
          </a:p>
          <a:p>
            <a:pPr marL="685800" lvl="1" indent="-228600" algn="l" rtl="0">
              <a:lnSpc>
                <a:spcPct val="90000"/>
              </a:lnSpc>
              <a:spcBef>
                <a:spcPts val="500"/>
              </a:spcBef>
              <a:spcAft>
                <a:spcPts val="0"/>
              </a:spcAft>
              <a:buClr>
                <a:schemeClr val="dk1"/>
              </a:buClr>
              <a:buSzPts val="1600"/>
              <a:buChar char="•"/>
            </a:pPr>
            <a:r>
              <a:rPr lang="en-US" sz="1600"/>
              <a:t>Each module has an instructor, semester, year, course and module number. The module number distinguishes different modules of the same course that are taught during the same semester/year; its values are 1, 2, 3, ..., up to the number of taught during each semester.</a:t>
            </a:r>
            <a:endParaRPr/>
          </a:p>
          <a:p>
            <a:pPr marL="685800" lvl="1" indent="-228600" algn="l" rtl="0">
              <a:lnSpc>
                <a:spcPct val="90000"/>
              </a:lnSpc>
              <a:spcBef>
                <a:spcPts val="500"/>
              </a:spcBef>
              <a:spcAft>
                <a:spcPts val="0"/>
              </a:spcAft>
              <a:buClr>
                <a:schemeClr val="dk1"/>
              </a:buClr>
              <a:buSzPts val="1600"/>
              <a:buChar char="•"/>
            </a:pPr>
            <a:r>
              <a:rPr lang="en-US" sz="1600"/>
              <a:t>A grade report has a student, module and grade. modules</a:t>
            </a:r>
            <a:endParaRPr/>
          </a:p>
          <a:p>
            <a:pPr marL="228600" lvl="0" indent="-114300" algn="l" rtl="0">
              <a:lnSpc>
                <a:spcPct val="90000"/>
              </a:lnSpc>
              <a:spcBef>
                <a:spcPts val="1000"/>
              </a:spcBef>
              <a:spcAft>
                <a:spcPts val="0"/>
              </a:spcAft>
              <a:buClr>
                <a:schemeClr val="dk1"/>
              </a:buClr>
              <a:buSzPts val="1800"/>
              <a:buNone/>
            </a:pPr>
            <a:endParaRPr sz="1800"/>
          </a:p>
        </p:txBody>
      </p:sp>
      <p:sp>
        <p:nvSpPr>
          <p:cNvPr id="750" name="Google Shape;750;p6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60</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6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Calibri"/>
              <a:buNone/>
            </a:pPr>
            <a:endParaRPr/>
          </a:p>
        </p:txBody>
      </p:sp>
      <p:sp>
        <p:nvSpPr>
          <p:cNvPr id="756" name="Google Shape;756;p6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61</a:t>
            </a:fld>
            <a:endParaRPr/>
          </a:p>
        </p:txBody>
      </p:sp>
      <p:pic>
        <p:nvPicPr>
          <p:cNvPr id="757" name="Google Shape;757;p61"/>
          <p:cNvPicPr preferRelativeResize="0"/>
          <p:nvPr/>
        </p:nvPicPr>
        <p:blipFill rotWithShape="1">
          <a:blip r:embed="rId3">
            <a:alphaModFix/>
          </a:blip>
          <a:srcRect/>
          <a:stretch/>
        </p:blipFill>
        <p:spPr>
          <a:xfrm>
            <a:off x="4031392" y="3429000"/>
            <a:ext cx="3995252" cy="300669"/>
          </a:xfrm>
          <a:prstGeom prst="rect">
            <a:avLst/>
          </a:prstGeom>
          <a:noFill/>
          <a:ln>
            <a:noFill/>
          </a:ln>
        </p:spPr>
      </p:pic>
      <p:pic>
        <p:nvPicPr>
          <p:cNvPr id="758" name="Google Shape;758;p61"/>
          <p:cNvPicPr preferRelativeResize="0"/>
          <p:nvPr/>
        </p:nvPicPr>
        <p:blipFill rotWithShape="1">
          <a:blip r:embed="rId4">
            <a:alphaModFix/>
          </a:blip>
          <a:srcRect/>
          <a:stretch/>
        </p:blipFill>
        <p:spPr>
          <a:xfrm>
            <a:off x="3618817" y="3028051"/>
            <a:ext cx="3995252" cy="300669"/>
          </a:xfrm>
          <a:prstGeom prst="rect">
            <a:avLst/>
          </a:prstGeom>
          <a:noFill/>
          <a:ln>
            <a:noFill/>
          </a:ln>
        </p:spPr>
      </p:pic>
      <p:pic>
        <p:nvPicPr>
          <p:cNvPr id="759" name="Google Shape;759;p61"/>
          <p:cNvPicPr preferRelativeResize="0"/>
          <p:nvPr/>
        </p:nvPicPr>
        <p:blipFill rotWithShape="1">
          <a:blip r:embed="rId5">
            <a:alphaModFix/>
          </a:blip>
          <a:srcRect/>
          <a:stretch/>
        </p:blipFill>
        <p:spPr>
          <a:xfrm>
            <a:off x="979173" y="2870567"/>
            <a:ext cx="2709212" cy="916306"/>
          </a:xfrm>
          <a:prstGeom prst="rect">
            <a:avLst/>
          </a:prstGeom>
          <a:noFill/>
          <a:ln>
            <a:noFill/>
          </a:ln>
        </p:spPr>
      </p:pic>
    </p:spTree>
  </p:cSld>
  <p:clrMapOvr>
    <a:masterClrMapping/>
  </p:clrMapOvr>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2284</Words>
  <Application>Microsoft Macintosh PowerPoint</Application>
  <PresentationFormat>On-screen Show (4:3)</PresentationFormat>
  <Paragraphs>348</Paragraphs>
  <Slides>61</Slides>
  <Notes>61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61</vt:i4>
      </vt:variant>
    </vt:vector>
  </HeadingPairs>
  <TitlesOfParts>
    <vt:vector size="68" baseType="lpstr">
      <vt:lpstr>Calibri</vt:lpstr>
      <vt:lpstr>Verdana</vt:lpstr>
      <vt:lpstr>Helvetica Neue</vt:lpstr>
      <vt:lpstr>Arial</vt:lpstr>
      <vt:lpstr>Times New Roman</vt:lpstr>
      <vt:lpstr>Office 2013 - 2022 Theme</vt:lpstr>
      <vt:lpstr>Awe.Document</vt:lpstr>
      <vt:lpstr>PowerPoint Presentation</vt:lpstr>
      <vt:lpstr>LECTURE LEARNING OUTCOME</vt:lpstr>
      <vt:lpstr>Entity Relationship Modeling</vt:lpstr>
      <vt:lpstr>Goals of Entity Relationship Modeling</vt:lpstr>
      <vt:lpstr>ER Diagram of Branch View of DreamHome</vt:lpstr>
      <vt:lpstr>ER Modelling Notations</vt:lpstr>
      <vt:lpstr>Concepts of the ER Model</vt:lpstr>
      <vt:lpstr>Entity Types</vt:lpstr>
      <vt:lpstr>Example of Entities and Instances</vt:lpstr>
      <vt:lpstr>Examples of Entity Types</vt:lpstr>
      <vt:lpstr>Entities and Sets</vt:lpstr>
      <vt:lpstr>Entity Representation in Diagram</vt:lpstr>
      <vt:lpstr>Remarks on creating Entities</vt:lpstr>
      <vt:lpstr>Relationship</vt:lpstr>
      <vt:lpstr>Relationship Examples</vt:lpstr>
      <vt:lpstr>Semantic Net of Has Relationship Type</vt:lpstr>
      <vt:lpstr>Relationship Has Between Staff and Branch</vt:lpstr>
      <vt:lpstr>Employees have Jobs</vt:lpstr>
      <vt:lpstr>Employees Have Jobs</vt:lpstr>
      <vt:lpstr>Relationship Types</vt:lpstr>
      <vt:lpstr>Example a binary relationship called: POwns</vt:lpstr>
      <vt:lpstr>Example of a ternary relationship called: Registers</vt:lpstr>
      <vt:lpstr>Example of a quaternary relationship called: Arranges</vt:lpstr>
      <vt:lpstr>Relationship Types</vt:lpstr>
      <vt:lpstr>Example of recursive relationship called: Supervises with role names</vt:lpstr>
      <vt:lpstr>Entities associated through two distinct Relationships with Role Names</vt:lpstr>
      <vt:lpstr>Practice 1 (Problem 1): Identify all entities and relationship between entities.</vt:lpstr>
      <vt:lpstr>Part 2</vt:lpstr>
      <vt:lpstr>Attributes</vt:lpstr>
      <vt:lpstr>Attribute examples</vt:lpstr>
      <vt:lpstr>Attribute (Simple vs Composite)</vt:lpstr>
      <vt:lpstr>Attribute (Single-valued vs Multi-valued)</vt:lpstr>
      <vt:lpstr>Attribute (Derived)</vt:lpstr>
      <vt:lpstr>Practice 2 (Problem 1)</vt:lpstr>
      <vt:lpstr>Attribute: Keys</vt:lpstr>
      <vt:lpstr>ER Diagram of Staff and Branch Entities and their Attributes</vt:lpstr>
      <vt:lpstr>Practice 3 (Problem 1)</vt:lpstr>
      <vt:lpstr>Entity Type</vt:lpstr>
      <vt:lpstr>Strong vs Weak Entity</vt:lpstr>
      <vt:lpstr>Relationship with Attributes</vt:lpstr>
      <vt:lpstr>Part 3</vt:lpstr>
      <vt:lpstr>Structural Constraints</vt:lpstr>
      <vt:lpstr>Structural Constraint (Binary Relationship)</vt:lpstr>
      <vt:lpstr>Semantic Net: Staff manages Branch</vt:lpstr>
      <vt:lpstr>ERD: Staff manages Branch</vt:lpstr>
      <vt:lpstr>Semantic Net: Staff oversees PropertyForRent</vt:lpstr>
      <vt:lpstr>ERD: Staff oversees PropertyForRent</vt:lpstr>
      <vt:lpstr>Semantic Net: Newspaper Advertises PropertyForRent</vt:lpstr>
      <vt:lpstr>ERD: Newspaper Advertises PropertyForRent</vt:lpstr>
      <vt:lpstr>Structural Constraint (Complex Relationship)</vt:lpstr>
      <vt:lpstr>Semantic Net: Ternary Registers Relationship with Values for Staff and Branch Entities Fixed</vt:lpstr>
      <vt:lpstr>Multiplicity of Ternary Registers Relationship</vt:lpstr>
      <vt:lpstr>Summary of Multiplicity Constraints</vt:lpstr>
      <vt:lpstr>Constraints (Cardinality &amp; Participation)</vt:lpstr>
      <vt:lpstr>Constraints (Cardinality &amp; Participation)</vt:lpstr>
      <vt:lpstr>Multiplicity as Cardinality and Participation Constraints</vt:lpstr>
      <vt:lpstr>Practice 4: Problem 1</vt:lpstr>
      <vt:lpstr>Structural Constraints (cont)</vt:lpstr>
      <vt:lpstr>Problem 2: Produce ERD to represent the following situation</vt:lpstr>
      <vt:lpstr>Problem 3: Produce ERD to represent the following situation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NUR AMALINA BINTI HAMIDI</dc:creator>
  <cp:lastModifiedBy>HASLINA BINTI HASHIM</cp:lastModifiedBy>
  <cp:revision>1</cp:revision>
  <dcterms:created xsi:type="dcterms:W3CDTF">2023-12-31T03:09:43Z</dcterms:created>
  <dcterms:modified xsi:type="dcterms:W3CDTF">2024-11-03T01:56:36Z</dcterms:modified>
</cp:coreProperties>
</file>