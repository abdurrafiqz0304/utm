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15" r:id="rId2"/>
    <p:sldId id="260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2" r:id="rId12"/>
    <p:sldId id="351" r:id="rId13"/>
    <p:sldId id="353" r:id="rId14"/>
    <p:sldId id="354" r:id="rId15"/>
    <p:sldId id="313" r:id="rId16"/>
  </p:sldIdLst>
  <p:sldSz cx="9144000" cy="6858000" type="screen4x3"/>
  <p:notesSz cx="6858000" cy="9945688"/>
  <p:embeddedFontLst>
    <p:embeddedFont>
      <p:font typeface="Cambria Math" panose="02040503050406030204" pitchFamily="18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SimSun-ExtB" panose="02010609060101010101" pitchFamily="49" charset="-122"/>
      <p:regular r:id="rId24"/>
    </p:embeddedFont>
    <p:embeddedFont>
      <p:font typeface="Tahoma" panose="020B0604030504040204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hEVrst4BOKj/vpGjIRIw10KX65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2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0A224-A2BF-47B2-B871-B3B38D886DCC}" v="8" dt="2024-09-30T06:26:03.838"/>
  </p1510:revLst>
</p1510:revInfo>
</file>

<file path=ppt/tableStyles.xml><?xml version="1.0" encoding="utf-8"?>
<a:tblStyleLst xmlns:a="http://schemas.openxmlformats.org/drawingml/2006/main" def="{533CCBDD-E0BC-4259-A1C9-309ED4B31BAB}">
  <a:tblStyle styleId="{533CCBDD-E0BC-4259-A1C9-309ED4B3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50" Type="http://customschemas.google.com/relationships/presentationmetadata" Target="metadata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C27356-B77E-B3EA-4564-32D8B50BB0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44C-24EE-E83F-D054-B6F280842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CEA71-2553-45C1-9F9C-4DD7B686CF17}" type="datetimeFigureOut">
              <a:rPr lang="en-GB" smtClean="0"/>
              <a:t>17/10/2025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831AA-27A6-26B4-65E2-78CDB9500D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3EE7-132D-4103-82C7-18BB075F8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08974-8880-4108-9A0C-14145334710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901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0625" y="1243013"/>
            <a:ext cx="447675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1027" y="-211028"/>
            <a:ext cx="6880030" cy="7302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44320" y="1"/>
            <a:ext cx="9055360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/>
        </p:nvSpPr>
        <p:spPr>
          <a:xfrm rot="5400000">
            <a:off x="4429545" y="2165578"/>
            <a:ext cx="28490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/>
        </p:nvSpPr>
        <p:spPr>
          <a:xfrm>
            <a:off x="4109523" y="6595122"/>
            <a:ext cx="1032976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25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825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25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/>
        </p:nvGrpSpPr>
        <p:grpSpPr>
          <a:xfrm>
            <a:off x="0" y="0"/>
            <a:ext cx="3242592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594748" y="-1062392"/>
            <a:ext cx="180381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832572" y="2842942"/>
            <a:ext cx="7046892" cy="136101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12409" y="3743463"/>
            <a:ext cx="1560526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320140" y="6145600"/>
            <a:ext cx="419100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4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/>
        </p:nvSpPr>
        <p:spPr>
          <a:xfrm>
            <a:off x="0" y="1"/>
            <a:ext cx="9144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5334000" y="-35081"/>
            <a:ext cx="368808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8451197" y="349094"/>
            <a:ext cx="1507527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4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/>
        </p:nvSpPr>
        <p:spPr>
          <a:xfrm>
            <a:off x="0" y="-2"/>
            <a:ext cx="9172575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1157288" y="-1157288"/>
            <a:ext cx="6858000" cy="91725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/>
        </p:nvGrpSpPr>
        <p:grpSpPr>
          <a:xfrm>
            <a:off x="0" y="6438899"/>
            <a:ext cx="3319088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047752"/>
            <a:ext cx="7886700" cy="1500187"/>
          </a:xfrm>
        </p:spPr>
        <p:txBody>
          <a:bodyPr anchor="t"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814638"/>
            <a:ext cx="7886700" cy="3357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/>
        </p:nvGrpSpPr>
        <p:grpSpPr>
          <a:xfrm>
            <a:off x="0" y="0"/>
            <a:ext cx="1601261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039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1381125"/>
          </a:xfrm>
        </p:spPr>
        <p:txBody>
          <a:bodyPr anchor="t">
            <a:normAutofit/>
          </a:bodyPr>
          <a:lstStyle>
            <a:lvl1pPr algn="l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01119"/>
            <a:ext cx="6858000" cy="3461751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/>
        </p:nvGrpSpPr>
        <p:grpSpPr>
          <a:xfrm>
            <a:off x="0" y="336866"/>
            <a:ext cx="62865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33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/>
        </p:nvSpPr>
        <p:spPr>
          <a:xfrm>
            <a:off x="2920816" y="21432"/>
            <a:ext cx="3345126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/>
        </p:nvSpPr>
        <p:spPr>
          <a:xfrm>
            <a:off x="-1" y="6808663"/>
            <a:ext cx="9186760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68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/>
        </p:nvSpPr>
        <p:spPr>
          <a:xfrm>
            <a:off x="-28575" y="1690688"/>
            <a:ext cx="9172575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07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/>
        </p:nvSpPr>
        <p:spPr>
          <a:xfrm>
            <a:off x="5074" y="342266"/>
            <a:ext cx="770222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7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5073" y="1271"/>
            <a:ext cx="9055360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/>
        </p:nvGrpSpPr>
        <p:grpSpPr>
          <a:xfrm flipH="1">
            <a:off x="6672360" y="6438900"/>
            <a:ext cx="247164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31" y="2766219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1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3534946" y="1270"/>
            <a:ext cx="5334040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/>
        </p:nvSpPr>
        <p:spPr>
          <a:xfrm>
            <a:off x="-28574" y="0"/>
            <a:ext cx="3573066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828977" cy="1600200"/>
          </a:xfrm>
        </p:spPr>
        <p:txBody>
          <a:bodyPr anchor="b">
            <a:normAutofit/>
          </a:bodyPr>
          <a:lstStyle>
            <a:lvl1pPr>
              <a:defRPr sz="21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8289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/>
        </p:nvSpPr>
        <p:spPr>
          <a:xfrm rot="5400000">
            <a:off x="135965" y="3406639"/>
            <a:ext cx="6858000" cy="44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849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038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/>
        </p:nvSpPr>
        <p:spPr>
          <a:xfrm>
            <a:off x="-28575" y="0"/>
            <a:ext cx="9172575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/>
        </p:nvGrpSpPr>
        <p:grpSpPr>
          <a:xfrm>
            <a:off x="5385090" y="6473575"/>
            <a:ext cx="375891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65" y="283590"/>
            <a:ext cx="1103119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/>
        </p:nvGrpSpPr>
        <p:grpSpPr>
          <a:xfrm>
            <a:off x="-44162" y="0"/>
            <a:ext cx="1598115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165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/>
        </p:nvSpPr>
        <p:spPr>
          <a:xfrm rot="5400000">
            <a:off x="4549140" y="2285174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05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5074" y="1270"/>
            <a:ext cx="5334040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159" y="283591"/>
            <a:ext cx="1101125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/>
        </p:nvGrpSpPr>
        <p:grpSpPr>
          <a:xfrm>
            <a:off x="8936250" y="4900066"/>
            <a:ext cx="219291" cy="1456285"/>
            <a:chOff x="-22867" y="4982614"/>
            <a:chExt cx="292388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4" y="5562781"/>
              <a:ext cx="137730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25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825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/>
        </p:nvSpPr>
        <p:spPr>
          <a:xfrm rot="5400000">
            <a:off x="4554215" y="-4562095"/>
            <a:ext cx="4571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781052"/>
            <a:ext cx="78867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44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/>
        </p:nvCxnSpPr>
        <p:spPr>
          <a:xfrm>
            <a:off x="-9525" y="101600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89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295775" y="3216670"/>
            <a:ext cx="6258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</a:t>
            </a:r>
          </a:p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RELATIONAL ALGEBRA TO SQL</a:t>
            </a:r>
          </a:p>
          <a:p>
            <a:endParaRPr lang="en-MY" sz="2400" spc="225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MY" sz="2400" spc="2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Week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248727" y="2524173"/>
            <a:ext cx="8222726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62" y="1306887"/>
            <a:ext cx="1687055" cy="56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837" y="6381373"/>
            <a:ext cx="1602578" cy="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1EC198D-DEA3-E035-476E-CB32CCA018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6612" y="378799"/>
            <a:ext cx="4350775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&amp; II</a:t>
            </a:r>
            <a:endParaRPr b="1" spc="-9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20D439-B73E-29AF-7129-4ADD13CDD09C}"/>
              </a:ext>
            </a:extLst>
          </p:cNvPr>
          <p:cNvSpPr txBox="1"/>
          <p:nvPr/>
        </p:nvSpPr>
        <p:spPr>
          <a:xfrm>
            <a:off x="3613354" y="1369952"/>
            <a:ext cx="5324169" cy="395435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250825" algn="just">
              <a:lnSpc>
                <a:spcPts val="2590"/>
              </a:lnSpc>
              <a:spcBef>
                <a:spcPts val="425"/>
              </a:spcBef>
            </a:pPr>
            <a:r>
              <a:rPr sz="2800" spc="-20" dirty="0">
                <a:cs typeface="Times New Roman"/>
              </a:rPr>
              <a:t>Fundamental</a:t>
            </a:r>
            <a:r>
              <a:rPr sz="2800" spc="-65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operations</a:t>
            </a:r>
            <a:r>
              <a:rPr sz="2800" spc="-7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to</a:t>
            </a:r>
            <a:r>
              <a:rPr sz="2800" spc="-60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retrieve </a:t>
            </a:r>
            <a:r>
              <a:rPr sz="2800" dirty="0">
                <a:cs typeface="Times New Roman"/>
              </a:rPr>
              <a:t>and</a:t>
            </a:r>
            <a:r>
              <a:rPr sz="2800" spc="-90" dirty="0">
                <a:cs typeface="Times New Roman"/>
              </a:rPr>
              <a:t> </a:t>
            </a:r>
            <a:r>
              <a:rPr sz="2800" spc="-25" dirty="0">
                <a:cs typeface="Times New Roman"/>
              </a:rPr>
              <a:t>manipulate</a:t>
            </a:r>
            <a:r>
              <a:rPr sz="2800" spc="-105" dirty="0">
                <a:cs typeface="Times New Roman"/>
              </a:rPr>
              <a:t> </a:t>
            </a:r>
            <a:r>
              <a:rPr sz="2800" spc="-20" dirty="0">
                <a:cs typeface="Times New Roman"/>
              </a:rPr>
              <a:t>tuples</a:t>
            </a:r>
            <a:r>
              <a:rPr sz="2800" spc="-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in</a:t>
            </a:r>
            <a:r>
              <a:rPr sz="2800" spc="-9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</a:t>
            </a:r>
            <a:r>
              <a:rPr sz="2800" spc="-85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relation.</a:t>
            </a:r>
            <a:endParaRPr sz="2800" dirty="0">
              <a:cs typeface="Times New Roman"/>
            </a:endParaRPr>
          </a:p>
          <a:p>
            <a:pPr marL="355600" marR="5080" indent="-342900" algn="just">
              <a:lnSpc>
                <a:spcPts val="2160"/>
              </a:lnSpc>
              <a:spcBef>
                <a:spcPts val="25"/>
              </a:spcBef>
            </a:pPr>
            <a:endParaRPr lang="en-US" sz="2400" spc="-90" dirty="0">
              <a:cs typeface="Times New Roman"/>
            </a:endParaRPr>
          </a:p>
          <a:p>
            <a:pPr marL="355600" marR="5080" indent="-342900" algn="just">
              <a:lnSpc>
                <a:spcPts val="2160"/>
              </a:lnSpc>
              <a:spcBef>
                <a:spcPts val="25"/>
              </a:spcBef>
              <a:buFont typeface="Arial" panose="020B0604020202020204" pitchFamily="34" charset="0"/>
              <a:buChar char="•"/>
            </a:pPr>
            <a:r>
              <a:rPr sz="2400" spc="-90" dirty="0">
                <a:cs typeface="Times New Roman"/>
              </a:rPr>
              <a:t>Based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set</a:t>
            </a:r>
            <a:r>
              <a:rPr sz="2400" spc="-55" dirty="0">
                <a:cs typeface="Times New Roman"/>
              </a:rPr>
              <a:t> </a:t>
            </a:r>
            <a:r>
              <a:rPr sz="2400" spc="-40" dirty="0">
                <a:cs typeface="Times New Roman"/>
              </a:rPr>
              <a:t>algebra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(unordered</a:t>
            </a:r>
            <a:r>
              <a:rPr sz="2400" spc="-75" dirty="0">
                <a:cs typeface="Times New Roman"/>
              </a:rPr>
              <a:t> </a:t>
            </a:r>
            <a:r>
              <a:rPr sz="2400" spc="-35" dirty="0">
                <a:cs typeface="Times New Roman"/>
              </a:rPr>
              <a:t>lists</a:t>
            </a:r>
            <a:r>
              <a:rPr sz="2400" spc="-8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with </a:t>
            </a:r>
            <a:r>
              <a:rPr sz="2400" dirty="0">
                <a:cs typeface="Times New Roman"/>
              </a:rPr>
              <a:t>no</a:t>
            </a:r>
            <a:r>
              <a:rPr lang="en-US" sz="2400" spc="-1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duplicates).</a:t>
            </a:r>
            <a:endParaRPr sz="2400" dirty="0"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40"/>
              </a:spcBef>
            </a:pPr>
            <a:endParaRPr sz="2400" dirty="0">
              <a:cs typeface="Times New Roman"/>
            </a:endParaRPr>
          </a:p>
          <a:p>
            <a:pPr marL="12700" marR="297815" algn="just">
              <a:lnSpc>
                <a:spcPct val="90000"/>
              </a:lnSpc>
            </a:pPr>
            <a:r>
              <a:rPr sz="2800" spc="-80" dirty="0">
                <a:cs typeface="Times New Roman"/>
              </a:rPr>
              <a:t>Each</a:t>
            </a:r>
            <a:r>
              <a:rPr sz="2800" spc="-6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operator</a:t>
            </a:r>
            <a:r>
              <a:rPr sz="2800" spc="-45" dirty="0">
                <a:cs typeface="Times New Roman"/>
              </a:rPr>
              <a:t> </a:t>
            </a:r>
            <a:r>
              <a:rPr sz="2800" spc="-30" dirty="0">
                <a:cs typeface="Times New Roman"/>
              </a:rPr>
              <a:t>takes</a:t>
            </a:r>
            <a:r>
              <a:rPr sz="2800" spc="-4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one</a:t>
            </a:r>
            <a:r>
              <a:rPr sz="2800" spc="-3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or</a:t>
            </a:r>
            <a:r>
              <a:rPr sz="2800" spc="-45" dirty="0">
                <a:cs typeface="Times New Roman"/>
              </a:rPr>
              <a:t> </a:t>
            </a:r>
            <a:r>
              <a:rPr sz="2800" spc="-20" dirty="0">
                <a:cs typeface="Times New Roman"/>
              </a:rPr>
              <a:t>more relations</a:t>
            </a:r>
            <a:r>
              <a:rPr sz="2800" spc="-90" dirty="0">
                <a:cs typeface="Times New Roman"/>
              </a:rPr>
              <a:t> as</a:t>
            </a:r>
            <a:r>
              <a:rPr sz="2800" spc="-7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its</a:t>
            </a:r>
            <a:r>
              <a:rPr sz="2800" spc="-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inputs</a:t>
            </a:r>
            <a:r>
              <a:rPr sz="2800" spc="-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and</a:t>
            </a:r>
            <a:r>
              <a:rPr sz="2800" spc="-7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outputs</a:t>
            </a:r>
            <a:r>
              <a:rPr sz="2800" spc="-80" dirty="0">
                <a:cs typeface="Times New Roman"/>
              </a:rPr>
              <a:t> </a:t>
            </a:r>
            <a:r>
              <a:rPr sz="2800" spc="-50" dirty="0">
                <a:cs typeface="Times New Roman"/>
              </a:rPr>
              <a:t>a </a:t>
            </a:r>
            <a:r>
              <a:rPr sz="2800" dirty="0">
                <a:cs typeface="Times New Roman"/>
              </a:rPr>
              <a:t>new</a:t>
            </a:r>
            <a:r>
              <a:rPr sz="2800" spc="-55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relation.</a:t>
            </a:r>
            <a:endParaRPr sz="2800" dirty="0">
              <a:cs typeface="Times New Roman"/>
            </a:endParaRPr>
          </a:p>
          <a:p>
            <a:pPr marL="12700" algn="just">
              <a:lnSpc>
                <a:spcPts val="2070"/>
              </a:lnSpc>
            </a:pPr>
            <a:endParaRPr lang="en-US" sz="2400" spc="80" dirty="0">
              <a:cs typeface="Times New Roman"/>
            </a:endParaRPr>
          </a:p>
          <a:p>
            <a:pPr marL="355600" indent="-342900" algn="just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sz="2400" spc="80" dirty="0">
                <a:cs typeface="Times New Roman"/>
              </a:rPr>
              <a:t>We</a:t>
            </a:r>
            <a:r>
              <a:rPr sz="2400" spc="-6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can</a:t>
            </a:r>
            <a:r>
              <a:rPr sz="2400" spc="-50" dirty="0">
                <a:cs typeface="Times New Roman"/>
              </a:rPr>
              <a:t> </a:t>
            </a:r>
            <a:r>
              <a:rPr sz="2400" spc="-95" dirty="0">
                <a:cs typeface="Times New Roman"/>
              </a:rPr>
              <a:t>“chain”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operators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together</a:t>
            </a:r>
            <a:r>
              <a:rPr sz="2400" spc="-6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to</a:t>
            </a:r>
            <a:endParaRPr sz="2400" dirty="0">
              <a:cs typeface="Times New Roman"/>
            </a:endParaRPr>
          </a:p>
          <a:p>
            <a:pPr marL="355600" algn="just">
              <a:lnSpc>
                <a:spcPts val="2280"/>
              </a:lnSpc>
            </a:pPr>
            <a:r>
              <a:rPr sz="2400" spc="-25" dirty="0">
                <a:cs typeface="Times New Roman"/>
              </a:rPr>
              <a:t>create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more</a:t>
            </a:r>
            <a:r>
              <a:rPr sz="2400" spc="-35" dirty="0">
                <a:cs typeface="Times New Roman"/>
              </a:rPr>
              <a:t> </a:t>
            </a:r>
            <a:r>
              <a:rPr sz="2400" spc="-55" dirty="0">
                <a:cs typeface="Times New Roman"/>
              </a:rPr>
              <a:t>complex</a:t>
            </a:r>
            <a:r>
              <a:rPr sz="2400" spc="-2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operations.</a:t>
            </a:r>
            <a:endParaRPr sz="2400" dirty="0">
              <a:cs typeface="Times New Roman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ADFF05B4-9174-1B73-8E6E-B58486CF6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587759"/>
              </p:ext>
            </p:extLst>
          </p:nvPr>
        </p:nvGraphicFramePr>
        <p:xfrm>
          <a:off x="626828" y="1508496"/>
          <a:ext cx="2285365" cy="3197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865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A12B50"/>
                          </a:solidFill>
                          <a:latin typeface="Calibri"/>
                          <a:cs typeface="Calibri"/>
                        </a:rPr>
                        <a:t>σ</a:t>
                      </a:r>
                      <a:endParaRPr sz="2400" dirty="0">
                        <a:solidFill>
                          <a:srgbClr val="A12B5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850"/>
                        </a:lnSpc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Select</a:t>
                      </a:r>
                      <a:endParaRPr sz="24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A12B50"/>
                          </a:solidFill>
                          <a:latin typeface="Tahoma"/>
                          <a:cs typeface="Tahoma"/>
                        </a:rPr>
                        <a:t>π</a:t>
                      </a:r>
                      <a:endParaRPr sz="2400" dirty="0">
                        <a:solidFill>
                          <a:srgbClr val="A12B5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Projection</a:t>
                      </a:r>
                      <a:endParaRPr sz="24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spc="-50" dirty="0">
                          <a:solidFill>
                            <a:srgbClr val="A12B50"/>
                          </a:solidFill>
                          <a:latin typeface="Cambria Math"/>
                          <a:cs typeface="Cambria Math"/>
                        </a:rPr>
                        <a:t>∪</a:t>
                      </a:r>
                      <a:endParaRPr sz="2400" dirty="0">
                        <a:solidFill>
                          <a:srgbClr val="A12B50"/>
                        </a:solidFill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Union</a:t>
                      </a:r>
                      <a:endParaRPr sz="24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spc="-50" dirty="0">
                          <a:solidFill>
                            <a:srgbClr val="A12B50"/>
                          </a:solidFill>
                          <a:latin typeface="Cambria Math"/>
                          <a:cs typeface="Cambria Math"/>
                        </a:rPr>
                        <a:t>∩</a:t>
                      </a:r>
                      <a:endParaRPr sz="2400" dirty="0">
                        <a:solidFill>
                          <a:srgbClr val="A12B50"/>
                        </a:solidFill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Intersection</a:t>
                      </a:r>
                      <a:endParaRPr sz="24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2400" b="1" spc="-50" dirty="0">
                          <a:solidFill>
                            <a:srgbClr val="A12B50"/>
                          </a:solidFill>
                          <a:latin typeface="Arial"/>
                          <a:cs typeface="Arial"/>
                        </a:rPr>
                        <a:t>–</a:t>
                      </a:r>
                      <a:endParaRPr sz="2400" dirty="0">
                        <a:solidFill>
                          <a:srgbClr val="A12B5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Difference</a:t>
                      </a:r>
                      <a:endParaRPr sz="24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</a:pPr>
                      <a:r>
                        <a:rPr sz="2400" b="1" spc="90" dirty="0">
                          <a:solidFill>
                            <a:srgbClr val="A12B50"/>
                          </a:solidFill>
                          <a:latin typeface="Arial"/>
                          <a:cs typeface="Arial"/>
                        </a:rPr>
                        <a:t>×</a:t>
                      </a:r>
                      <a:endParaRPr sz="2400" dirty="0">
                        <a:solidFill>
                          <a:srgbClr val="A12B5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Product</a:t>
                      </a:r>
                      <a:endParaRPr sz="24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spc="-50" dirty="0">
                          <a:solidFill>
                            <a:srgbClr val="A12B50"/>
                          </a:solidFill>
                          <a:latin typeface="Cambria Math"/>
                          <a:cs typeface="Cambria Math"/>
                        </a:rPr>
                        <a:t>⋈</a:t>
                      </a:r>
                      <a:endParaRPr sz="2400" dirty="0">
                        <a:solidFill>
                          <a:srgbClr val="A12B50"/>
                        </a:solidFill>
                        <a:latin typeface="Cambria Math"/>
                        <a:cs typeface="Cambria Math"/>
                      </a:endParaRPr>
                    </a:p>
                  </a:txBody>
                  <a:tcPr marL="0" marR="0" marT="12065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sz="2400" spc="-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Join</a:t>
                      </a:r>
                      <a:endParaRPr sz="24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000000">
                        <a:alpha val="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654A-CA6D-874B-3DA4-E33B30DA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10311"/>
            <a:ext cx="2057400" cy="365125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04BA8B0-9C03-CF70-70F9-FCFAE0F3DB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6006" y="431059"/>
            <a:ext cx="5451988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I: SELECTION</a:t>
            </a:r>
            <a:endParaRPr b="1" spc="-95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27777AB-006B-475A-9650-22F37C0F9740}"/>
              </a:ext>
            </a:extLst>
          </p:cNvPr>
          <p:cNvSpPr txBox="1"/>
          <p:nvPr/>
        </p:nvSpPr>
        <p:spPr>
          <a:xfrm>
            <a:off x="447040" y="1050003"/>
            <a:ext cx="8249920" cy="130420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425"/>
              </a:spcBef>
            </a:pPr>
            <a:r>
              <a:rPr sz="2000" spc="-30" dirty="0">
                <a:cs typeface="Times New Roman"/>
              </a:rPr>
              <a:t>Choose</a:t>
            </a:r>
            <a:r>
              <a:rPr sz="2000" spc="-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10" dirty="0">
                <a:cs typeface="Times New Roman"/>
              </a:rPr>
              <a:t> </a:t>
            </a:r>
            <a:r>
              <a:rPr sz="2000" spc="-25" dirty="0">
                <a:cs typeface="Times New Roman"/>
              </a:rPr>
              <a:t>subset</a:t>
            </a:r>
            <a:r>
              <a:rPr sz="2000" spc="-9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of</a:t>
            </a:r>
            <a:r>
              <a:rPr sz="2000" spc="-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105" dirty="0">
                <a:cs typeface="Times New Roman"/>
              </a:rPr>
              <a:t> </a:t>
            </a:r>
            <a:r>
              <a:rPr sz="2000" spc="-20" dirty="0">
                <a:cs typeface="Times New Roman"/>
              </a:rPr>
              <a:t>tuples</a:t>
            </a:r>
            <a:r>
              <a:rPr sz="2000" spc="-9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from</a:t>
            </a:r>
            <a:r>
              <a:rPr sz="2000" spc="-110" dirty="0">
                <a:cs typeface="Times New Roman"/>
              </a:rPr>
              <a:t> </a:t>
            </a:r>
            <a:r>
              <a:rPr sz="2000" spc="-50" dirty="0">
                <a:cs typeface="Times New Roman"/>
              </a:rPr>
              <a:t>a </a:t>
            </a:r>
            <a:r>
              <a:rPr sz="2000" spc="-10" dirty="0">
                <a:cs typeface="Times New Roman"/>
              </a:rPr>
              <a:t>relation</a:t>
            </a:r>
            <a:r>
              <a:rPr sz="2000" spc="-4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that</a:t>
            </a:r>
            <a:r>
              <a:rPr sz="2000" spc="-45" dirty="0">
                <a:cs typeface="Times New Roman"/>
              </a:rPr>
              <a:t> </a:t>
            </a:r>
            <a:r>
              <a:rPr sz="2000" spc="-70" dirty="0">
                <a:cs typeface="Times New Roman"/>
              </a:rPr>
              <a:t>satisfies</a:t>
            </a:r>
            <a:r>
              <a:rPr sz="2000" spc="-6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3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selection predicate.</a:t>
            </a:r>
            <a:endParaRPr sz="2000" dirty="0">
              <a:cs typeface="Times New Roman"/>
            </a:endParaRPr>
          </a:p>
          <a:p>
            <a:pPr marL="355600" marR="252095" indent="-342900">
              <a:lnSpc>
                <a:spcPct val="150000"/>
              </a:lnSpc>
              <a:spcBef>
                <a:spcPts val="30"/>
              </a:spcBef>
              <a:buFont typeface="Arial" panose="020B0604020202020204" pitchFamily="34" charset="0"/>
              <a:buChar char="•"/>
            </a:pPr>
            <a:r>
              <a:rPr spc="-30" dirty="0">
                <a:cs typeface="Times New Roman"/>
              </a:rPr>
              <a:t>Predicate</a:t>
            </a:r>
            <a:r>
              <a:rPr spc="-75" dirty="0">
                <a:cs typeface="Times New Roman"/>
              </a:rPr>
              <a:t> </a:t>
            </a:r>
            <a:r>
              <a:rPr spc="-45" dirty="0">
                <a:cs typeface="Times New Roman"/>
              </a:rPr>
              <a:t>acts </a:t>
            </a:r>
            <a:r>
              <a:rPr spc="-75" dirty="0">
                <a:cs typeface="Times New Roman"/>
              </a:rPr>
              <a:t>as</a:t>
            </a:r>
            <a:r>
              <a:rPr spc="-60" dirty="0">
                <a:cs typeface="Times New Roman"/>
              </a:rPr>
              <a:t> </a:t>
            </a:r>
            <a:r>
              <a:rPr dirty="0">
                <a:cs typeface="Times New Roman"/>
              </a:rPr>
              <a:t>a</a:t>
            </a:r>
            <a:r>
              <a:rPr spc="-40" dirty="0">
                <a:cs typeface="Times New Roman"/>
              </a:rPr>
              <a:t> </a:t>
            </a:r>
            <a:r>
              <a:rPr spc="-20" dirty="0">
                <a:cs typeface="Times New Roman"/>
              </a:rPr>
              <a:t>filter</a:t>
            </a:r>
            <a:r>
              <a:rPr spc="-60" dirty="0">
                <a:cs typeface="Times New Roman"/>
              </a:rPr>
              <a:t> </a:t>
            </a:r>
            <a:r>
              <a:rPr dirty="0">
                <a:cs typeface="Times New Roman"/>
              </a:rPr>
              <a:t>to</a:t>
            </a:r>
            <a:r>
              <a:rPr spc="-45" dirty="0">
                <a:cs typeface="Times New Roman"/>
              </a:rPr>
              <a:t> </a:t>
            </a:r>
            <a:r>
              <a:rPr dirty="0">
                <a:cs typeface="Times New Roman"/>
              </a:rPr>
              <a:t>retain</a:t>
            </a:r>
            <a:r>
              <a:rPr spc="-65" dirty="0">
                <a:cs typeface="Times New Roman"/>
              </a:rPr>
              <a:t> </a:t>
            </a:r>
            <a:r>
              <a:rPr spc="-20" dirty="0">
                <a:cs typeface="Times New Roman"/>
              </a:rPr>
              <a:t>only tuples</a:t>
            </a:r>
            <a:r>
              <a:rPr spc="-35" dirty="0">
                <a:cs typeface="Times New Roman"/>
              </a:rPr>
              <a:t> </a:t>
            </a:r>
            <a:r>
              <a:rPr dirty="0">
                <a:cs typeface="Times New Roman"/>
              </a:rPr>
              <a:t>that</a:t>
            </a:r>
            <a:r>
              <a:rPr spc="-35" dirty="0">
                <a:cs typeface="Times New Roman"/>
              </a:rPr>
              <a:t> </a:t>
            </a:r>
            <a:r>
              <a:rPr spc="-65" dirty="0">
                <a:cs typeface="Times New Roman"/>
              </a:rPr>
              <a:t>fulfill</a:t>
            </a:r>
            <a:r>
              <a:rPr spc="-60" dirty="0">
                <a:cs typeface="Times New Roman"/>
              </a:rPr>
              <a:t> </a:t>
            </a:r>
            <a:r>
              <a:rPr dirty="0">
                <a:cs typeface="Times New Roman"/>
              </a:rPr>
              <a:t>its</a:t>
            </a:r>
            <a:r>
              <a:rPr spc="-35" dirty="0">
                <a:cs typeface="Times New Roman"/>
              </a:rPr>
              <a:t> </a:t>
            </a:r>
            <a:r>
              <a:rPr spc="-10" dirty="0">
                <a:cs typeface="Times New Roman"/>
              </a:rPr>
              <a:t>qualifying requirement.</a:t>
            </a:r>
            <a:endParaRPr dirty="0">
              <a:cs typeface="Times New Roman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cs typeface="Times New Roman"/>
              </a:rPr>
              <a:t>Can</a:t>
            </a:r>
            <a:r>
              <a:rPr spc="-60" dirty="0">
                <a:cs typeface="Times New Roman"/>
              </a:rPr>
              <a:t> </a:t>
            </a:r>
            <a:r>
              <a:rPr spc="-20" dirty="0">
                <a:cs typeface="Times New Roman"/>
              </a:rPr>
              <a:t>combine</a:t>
            </a:r>
            <a:r>
              <a:rPr spc="-70" dirty="0">
                <a:cs typeface="Times New Roman"/>
              </a:rPr>
              <a:t> </a:t>
            </a:r>
            <a:r>
              <a:rPr spc="-20" dirty="0">
                <a:cs typeface="Times New Roman"/>
              </a:rPr>
              <a:t>multiple</a:t>
            </a:r>
            <a:r>
              <a:rPr spc="-70" dirty="0">
                <a:cs typeface="Times New Roman"/>
              </a:rPr>
              <a:t> </a:t>
            </a:r>
            <a:r>
              <a:rPr spc="-30" dirty="0">
                <a:cs typeface="Times New Roman"/>
              </a:rPr>
              <a:t>predicates</a:t>
            </a:r>
            <a:r>
              <a:rPr spc="-75" dirty="0">
                <a:cs typeface="Times New Roman"/>
              </a:rPr>
              <a:t> </a:t>
            </a:r>
            <a:r>
              <a:rPr spc="-10" dirty="0">
                <a:cs typeface="Times New Roman"/>
              </a:rPr>
              <a:t>usin</a:t>
            </a:r>
            <a:r>
              <a:rPr lang="en-US" spc="-10" dirty="0">
                <a:cs typeface="Times New Roman"/>
              </a:rPr>
              <a:t>g </a:t>
            </a:r>
            <a:r>
              <a:rPr spc="-20" dirty="0">
                <a:cs typeface="Times New Roman"/>
              </a:rPr>
              <a:t>conjunctions</a:t>
            </a:r>
            <a:r>
              <a:rPr spc="-55" dirty="0">
                <a:cs typeface="Times New Roman"/>
              </a:rPr>
              <a:t> </a:t>
            </a:r>
            <a:r>
              <a:rPr spc="275" dirty="0">
                <a:cs typeface="Times New Roman"/>
              </a:rPr>
              <a:t>/</a:t>
            </a:r>
            <a:r>
              <a:rPr spc="-40" dirty="0">
                <a:cs typeface="Times New Roman"/>
              </a:rPr>
              <a:t> </a:t>
            </a:r>
            <a:r>
              <a:rPr spc="-10" dirty="0">
                <a:cs typeface="Times New Roman"/>
              </a:rPr>
              <a:t>disjunctions.</a:t>
            </a:r>
            <a:endParaRPr dirty="0">
              <a:cs typeface="Times New Roman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7CD63E12-407E-281B-50B8-881DF656C288}"/>
              </a:ext>
            </a:extLst>
          </p:cNvPr>
          <p:cNvSpPr txBox="1"/>
          <p:nvPr/>
        </p:nvSpPr>
        <p:spPr>
          <a:xfrm>
            <a:off x="1126109" y="2638559"/>
            <a:ext cx="2633345" cy="341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400" spc="-25" dirty="0">
                <a:cs typeface="Times New Roman"/>
              </a:rPr>
              <a:t>Syntax:</a:t>
            </a:r>
            <a:r>
              <a:rPr sz="2400" spc="-105" dirty="0">
                <a:cs typeface="Times New Roman"/>
              </a:rPr>
              <a:t> </a:t>
            </a:r>
            <a:r>
              <a:rPr sz="2400" b="1" spc="-10" dirty="0">
                <a:solidFill>
                  <a:srgbClr val="A12B50"/>
                </a:solidFill>
                <a:latin typeface="Courier New"/>
                <a:cs typeface="Courier New"/>
              </a:rPr>
              <a:t>σ</a:t>
            </a:r>
            <a:r>
              <a:rPr sz="2400" b="1" spc="-15" baseline="-20833" dirty="0">
                <a:solidFill>
                  <a:srgbClr val="A12B50"/>
                </a:solidFill>
                <a:latin typeface="Arial"/>
                <a:cs typeface="Arial"/>
              </a:rPr>
              <a:t>predicate</a:t>
            </a:r>
            <a:r>
              <a:rPr sz="2400" b="1" spc="-10" dirty="0">
                <a:solidFill>
                  <a:srgbClr val="A12B50"/>
                </a:solidFill>
                <a:latin typeface="Arial"/>
                <a:cs typeface="Arial"/>
              </a:rPr>
              <a:t>(R)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0218B8B8-E5B6-B87A-89B8-AFF8A4ABB9C3}"/>
              </a:ext>
            </a:extLst>
          </p:cNvPr>
          <p:cNvSpPr txBox="1"/>
          <p:nvPr/>
        </p:nvSpPr>
        <p:spPr>
          <a:xfrm>
            <a:off x="4133850" y="508668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C30037"/>
                </a:solidFill>
                <a:latin typeface="Courier New"/>
                <a:cs typeface="Courier New"/>
              </a:rPr>
              <a:t>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4BD8E69E-3EF8-89CE-0C4F-91D552E49284}"/>
              </a:ext>
            </a:extLst>
          </p:cNvPr>
          <p:cNvSpPr txBox="1"/>
          <p:nvPr/>
        </p:nvSpPr>
        <p:spPr>
          <a:xfrm>
            <a:off x="4271009" y="5219277"/>
            <a:ext cx="14859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12B50"/>
                </a:solidFill>
                <a:latin typeface="Arial"/>
                <a:cs typeface="Arial"/>
              </a:rPr>
              <a:t>a_id='a2'</a:t>
            </a:r>
            <a:r>
              <a:rPr sz="1200" dirty="0">
                <a:solidFill>
                  <a:srgbClr val="A12B50"/>
                </a:solidFill>
                <a:latin typeface="Cambria Math"/>
                <a:cs typeface="Cambria Math"/>
              </a:rPr>
              <a:t>∧</a:t>
            </a:r>
            <a:r>
              <a:rPr sz="1200" spc="215" dirty="0">
                <a:solidFill>
                  <a:srgbClr val="A12B50"/>
                </a:solidFill>
                <a:latin typeface="Cambria Math"/>
                <a:cs typeface="Cambria Math"/>
              </a:rPr>
              <a:t>  </a:t>
            </a:r>
            <a:r>
              <a:rPr sz="1200" b="1" spc="-45" dirty="0">
                <a:solidFill>
                  <a:srgbClr val="A12B50"/>
                </a:solidFill>
                <a:latin typeface="Arial"/>
                <a:cs typeface="Arial"/>
              </a:rPr>
              <a:t>b_id&gt;102</a:t>
            </a:r>
            <a:endParaRPr sz="12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976326A0-AFD0-592F-07AF-76306097AC4D}"/>
              </a:ext>
            </a:extLst>
          </p:cNvPr>
          <p:cNvSpPr txBox="1"/>
          <p:nvPr/>
        </p:nvSpPr>
        <p:spPr>
          <a:xfrm>
            <a:off x="5731256" y="5086688"/>
            <a:ext cx="36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A12B50"/>
                </a:solidFill>
                <a:latin typeface="Arial"/>
                <a:cs typeface="Arial"/>
              </a:rPr>
              <a:t>(R)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481C7640-C77E-AC3F-955C-16818EFE4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76165"/>
              </p:ext>
            </p:extLst>
          </p:nvPr>
        </p:nvGraphicFramePr>
        <p:xfrm>
          <a:off x="3902329" y="3754332"/>
          <a:ext cx="1097280" cy="1254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8">
            <a:extLst>
              <a:ext uri="{FF2B5EF4-FFF2-40B4-BE49-F238E27FC236}">
                <a16:creationId xmlns:a16="http://schemas.microsoft.com/office/drawing/2014/main" id="{F3927F8A-F445-D6D5-59C7-C9E3E93C26D8}"/>
              </a:ext>
            </a:extLst>
          </p:cNvPr>
          <p:cNvSpPr txBox="1"/>
          <p:nvPr/>
        </p:nvSpPr>
        <p:spPr>
          <a:xfrm>
            <a:off x="3759454" y="3457786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61EB37C9-B533-F19F-E945-FE76149AE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85456"/>
              </p:ext>
            </p:extLst>
          </p:nvPr>
        </p:nvGraphicFramePr>
        <p:xfrm>
          <a:off x="4561585" y="5418159"/>
          <a:ext cx="1097280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0">
            <a:extLst>
              <a:ext uri="{FF2B5EF4-FFF2-40B4-BE49-F238E27FC236}">
                <a16:creationId xmlns:a16="http://schemas.microsoft.com/office/drawing/2014/main" id="{512CBD11-4464-2993-5805-998AE918127F}"/>
              </a:ext>
            </a:extLst>
          </p:cNvPr>
          <p:cNvSpPr txBox="1"/>
          <p:nvPr/>
        </p:nvSpPr>
        <p:spPr>
          <a:xfrm>
            <a:off x="2545334" y="5121741"/>
            <a:ext cx="1242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spc="-15" baseline="13888" dirty="0">
                <a:solidFill>
                  <a:srgbClr val="A12B50"/>
                </a:solidFill>
                <a:latin typeface="Courier New"/>
                <a:cs typeface="Courier New"/>
              </a:rPr>
              <a:t>σ</a:t>
            </a:r>
            <a:r>
              <a:rPr sz="1200" b="1" spc="-10" dirty="0">
                <a:solidFill>
                  <a:srgbClr val="A12B50"/>
                </a:solidFill>
                <a:latin typeface="Arial"/>
                <a:cs typeface="Arial"/>
              </a:rPr>
              <a:t>a_id='a2'</a:t>
            </a:r>
            <a:r>
              <a:rPr sz="2700" b="1" spc="-15" baseline="13888" dirty="0">
                <a:solidFill>
                  <a:srgbClr val="A12B50"/>
                </a:solidFill>
                <a:latin typeface="Arial"/>
                <a:cs typeface="Arial"/>
              </a:rPr>
              <a:t>(R)</a:t>
            </a:r>
            <a:endParaRPr sz="2700" baseline="13888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6" name="object 11">
            <a:extLst>
              <a:ext uri="{FF2B5EF4-FFF2-40B4-BE49-F238E27FC236}">
                <a16:creationId xmlns:a16="http://schemas.microsoft.com/office/drawing/2014/main" id="{BD8260DA-7F13-BFC2-97B1-322D8250F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233022"/>
              </p:ext>
            </p:extLst>
          </p:nvPr>
        </p:nvGraphicFramePr>
        <p:xfrm>
          <a:off x="2611246" y="5396822"/>
          <a:ext cx="1097280" cy="755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object 18">
            <a:extLst>
              <a:ext uri="{FF2B5EF4-FFF2-40B4-BE49-F238E27FC236}">
                <a16:creationId xmlns:a16="http://schemas.microsoft.com/office/drawing/2014/main" id="{8A5E2046-8B70-179B-EE58-5A287633516E}"/>
              </a:ext>
            </a:extLst>
          </p:cNvPr>
          <p:cNvSpPr txBox="1"/>
          <p:nvPr/>
        </p:nvSpPr>
        <p:spPr>
          <a:xfrm>
            <a:off x="5110225" y="2586782"/>
            <a:ext cx="3455035" cy="78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b="1" dirty="0">
                <a:latin typeface="Arial"/>
                <a:cs typeface="Arial"/>
              </a:rPr>
              <a:t>SELECT </a:t>
            </a:r>
            <a:r>
              <a:rPr dirty="0">
                <a:latin typeface="SimSun-ExtB"/>
                <a:cs typeface="SimSun-ExtB"/>
              </a:rPr>
              <a:t>* </a:t>
            </a:r>
            <a:r>
              <a:rPr b="1" dirty="0">
                <a:latin typeface="Arial"/>
                <a:cs typeface="Arial"/>
              </a:rPr>
              <a:t>FROM </a:t>
            </a:r>
            <a:r>
              <a:rPr spc="-50" dirty="0">
                <a:latin typeface="SimSun-ExtB"/>
                <a:cs typeface="SimSun-ExtB"/>
              </a:rPr>
              <a:t>R</a:t>
            </a:r>
            <a:endParaRPr dirty="0">
              <a:latin typeface="SimSun-ExtB"/>
              <a:cs typeface="SimSun-ExtB"/>
            </a:endParaRPr>
          </a:p>
          <a:p>
            <a:pPr marL="127000">
              <a:lnSpc>
                <a:spcPts val="2055"/>
              </a:lnSpc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WHERE</a:t>
            </a:r>
            <a:r>
              <a:rPr sz="1800" b="1" spc="40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12B50"/>
                </a:solidFill>
                <a:latin typeface="SimSun-ExtB"/>
                <a:cs typeface="SimSun-ExtB"/>
              </a:rPr>
              <a:t>a_id='a2'</a:t>
            </a:r>
            <a:r>
              <a:rPr sz="1800" spc="5" dirty="0">
                <a:solidFill>
                  <a:srgbClr val="A12B50"/>
                </a:solidFill>
                <a:latin typeface="SimSun-ExtB"/>
                <a:cs typeface="SimSun-ExtB"/>
              </a:rPr>
              <a:t>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AND</a:t>
            </a:r>
            <a:r>
              <a:rPr sz="1800" b="1" spc="405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A12B50"/>
                </a:solidFill>
                <a:latin typeface="SimSun-ExtB"/>
                <a:cs typeface="SimSun-ExtB"/>
              </a:rPr>
              <a:t>b_id&gt;102;</a:t>
            </a:r>
            <a:endParaRPr sz="1800" dirty="0">
              <a:solidFill>
                <a:srgbClr val="A12B50"/>
              </a:solidFill>
              <a:latin typeface="SimSun-ExtB"/>
              <a:cs typeface="SimSun-ExtB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B9577FD-6075-337F-0362-FEB378B6550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62048" y="3683332"/>
            <a:ext cx="1978053" cy="1093839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03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46B52-1322-14ED-EA46-D5681A04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D4037241-0235-4DB2-5D41-4AE9C337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6177" y="431059"/>
            <a:ext cx="5911646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: PROJECTION</a:t>
            </a:r>
            <a:endParaRPr b="1" spc="-95" dirty="0"/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06CB7382-F68D-CD6C-527B-0A012B3C7AD6}"/>
              </a:ext>
            </a:extLst>
          </p:cNvPr>
          <p:cNvSpPr txBox="1"/>
          <p:nvPr/>
        </p:nvSpPr>
        <p:spPr>
          <a:xfrm>
            <a:off x="379238" y="1065003"/>
            <a:ext cx="8764762" cy="19524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7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9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with</a:t>
            </a:r>
            <a:r>
              <a:rPr sz="2400" spc="-9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tuples</a:t>
            </a:r>
            <a:r>
              <a:rPr sz="2400" spc="-8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that contains</a:t>
            </a:r>
            <a:r>
              <a:rPr sz="2400" spc="-60" dirty="0">
                <a:cs typeface="Times New Roman"/>
              </a:rPr>
              <a:t> </a:t>
            </a:r>
            <a:r>
              <a:rPr sz="2400" spc="-40" dirty="0">
                <a:cs typeface="Times New Roman"/>
              </a:rPr>
              <a:t>only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65" dirty="0">
                <a:cs typeface="Times New Roman"/>
              </a:rPr>
              <a:t> </a:t>
            </a:r>
            <a:r>
              <a:rPr sz="2400" spc="-60" dirty="0">
                <a:cs typeface="Times New Roman"/>
              </a:rPr>
              <a:t>specified</a:t>
            </a:r>
            <a:r>
              <a:rPr sz="2400" spc="-7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attributes.</a:t>
            </a:r>
            <a:endParaRPr lang="en-US" sz="2400" spc="-10" dirty="0"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</a:pPr>
            <a:endParaRPr sz="2400" dirty="0">
              <a:cs typeface="Times New Roman"/>
            </a:endParaRPr>
          </a:p>
          <a:p>
            <a:pPr marL="355600" indent="-342900">
              <a:lnSpc>
                <a:spcPts val="2035"/>
              </a:lnSpc>
              <a:buFont typeface="Arial" panose="020B0604020202020204" pitchFamily="34" charset="0"/>
              <a:buChar char="•"/>
            </a:pPr>
            <a:r>
              <a:rPr sz="2000" spc="-20" dirty="0">
                <a:cs typeface="Times New Roman"/>
              </a:rPr>
              <a:t>Rearrange</a:t>
            </a:r>
            <a:r>
              <a:rPr sz="2000" spc="-90" dirty="0">
                <a:cs typeface="Times New Roman"/>
              </a:rPr>
              <a:t> </a:t>
            </a:r>
            <a:r>
              <a:rPr sz="2000" spc="-35" dirty="0">
                <a:cs typeface="Times New Roman"/>
              </a:rPr>
              <a:t>attributes’</a:t>
            </a:r>
            <a:r>
              <a:rPr sz="2000" spc="-4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ordering.</a:t>
            </a:r>
            <a:endParaRPr sz="2000" dirty="0">
              <a:cs typeface="Times New Roman"/>
            </a:endParaRPr>
          </a:p>
          <a:p>
            <a:pPr marL="355600" indent="-342900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sz="2000" spc="-30" dirty="0">
                <a:cs typeface="Times New Roman"/>
              </a:rPr>
              <a:t>Remove</a:t>
            </a:r>
            <a:r>
              <a:rPr sz="2000" spc="-7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unwanted</a:t>
            </a:r>
            <a:r>
              <a:rPr sz="2000" spc="-7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attributes.</a:t>
            </a:r>
            <a:endParaRPr sz="2000" dirty="0">
              <a:cs typeface="Times New Roman"/>
            </a:endParaRPr>
          </a:p>
          <a:p>
            <a:pPr marL="355600" marR="558165" indent="-342900">
              <a:lnSpc>
                <a:spcPts val="2160"/>
              </a:lnSpc>
              <a:spcBef>
                <a:spcPts val="155"/>
              </a:spcBef>
              <a:buFont typeface="Arial" panose="020B0604020202020204" pitchFamily="34" charset="0"/>
              <a:buChar char="•"/>
            </a:pPr>
            <a:r>
              <a:rPr sz="2000" spc="-20" dirty="0">
                <a:cs typeface="Times New Roman"/>
              </a:rPr>
              <a:t>Manipulate</a:t>
            </a:r>
            <a:r>
              <a:rPr sz="2000" spc="-60" dirty="0">
                <a:cs typeface="Times New Roman"/>
              </a:rPr>
              <a:t> </a:t>
            </a:r>
            <a:r>
              <a:rPr sz="2000" spc="-50" dirty="0">
                <a:cs typeface="Times New Roman"/>
              </a:rPr>
              <a:t>values</a:t>
            </a:r>
            <a:r>
              <a:rPr sz="2000" spc="-4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to</a:t>
            </a:r>
            <a:r>
              <a:rPr sz="2000" spc="-40" dirty="0">
                <a:cs typeface="Times New Roman"/>
              </a:rPr>
              <a:t> </a:t>
            </a:r>
            <a:r>
              <a:rPr sz="2000" spc="-25" dirty="0">
                <a:cs typeface="Times New Roman"/>
              </a:rPr>
              <a:t>create</a:t>
            </a:r>
            <a:r>
              <a:rPr sz="2000" spc="-6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derived attributes.</a:t>
            </a:r>
            <a:endParaRPr sz="2000" dirty="0">
              <a:cs typeface="Times New Roman"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19023C75-75F3-63B9-EA9C-C24101F32F4A}"/>
              </a:ext>
            </a:extLst>
          </p:cNvPr>
          <p:cNvSpPr txBox="1"/>
          <p:nvPr/>
        </p:nvSpPr>
        <p:spPr>
          <a:xfrm>
            <a:off x="608862" y="3893442"/>
            <a:ext cx="2786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Syntax: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45" dirty="0">
                <a:solidFill>
                  <a:srgbClr val="A12B50"/>
                </a:solidFill>
                <a:latin typeface="Courier New"/>
                <a:cs typeface="Courier New"/>
              </a:rPr>
              <a:t>Π</a:t>
            </a:r>
            <a:r>
              <a:rPr sz="2400" b="1" spc="-67" baseline="-20833" dirty="0">
                <a:solidFill>
                  <a:srgbClr val="A12B50"/>
                </a:solidFill>
                <a:latin typeface="Arial"/>
                <a:cs typeface="Arial"/>
              </a:rPr>
              <a:t>A1,A2,…,An</a:t>
            </a:r>
            <a:r>
              <a:rPr sz="2400" b="1" spc="-45" dirty="0">
                <a:solidFill>
                  <a:srgbClr val="A12B50"/>
                </a:solidFill>
                <a:latin typeface="Arial"/>
                <a:cs typeface="Arial"/>
              </a:rPr>
              <a:t>(R)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9E904BF3-6290-402E-B799-6DEF863B9EBD}"/>
              </a:ext>
            </a:extLst>
          </p:cNvPr>
          <p:cNvSpPr txBox="1"/>
          <p:nvPr/>
        </p:nvSpPr>
        <p:spPr>
          <a:xfrm>
            <a:off x="4217981" y="4610609"/>
            <a:ext cx="2597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="1" baseline="13888" dirty="0">
                <a:solidFill>
                  <a:srgbClr val="A12B50"/>
                </a:solidFill>
                <a:latin typeface="Courier New"/>
                <a:cs typeface="Courier New"/>
              </a:rPr>
              <a:t>Π</a:t>
            </a:r>
            <a:r>
              <a:rPr sz="1200" b="1" dirty="0">
                <a:solidFill>
                  <a:srgbClr val="A12B50"/>
                </a:solidFill>
                <a:latin typeface="Arial"/>
                <a:cs typeface="Arial"/>
              </a:rPr>
              <a:t>b_id-</a:t>
            </a:r>
            <a:r>
              <a:rPr sz="1200" b="1" spc="40" dirty="0">
                <a:solidFill>
                  <a:srgbClr val="A12B50"/>
                </a:solidFill>
                <a:latin typeface="Arial"/>
                <a:cs typeface="Arial"/>
              </a:rPr>
              <a:t>100,a_id</a:t>
            </a:r>
            <a:r>
              <a:rPr sz="2700" b="1" spc="60" baseline="13888" dirty="0">
                <a:solidFill>
                  <a:srgbClr val="A12B50"/>
                </a:solidFill>
                <a:latin typeface="Arial"/>
                <a:cs typeface="Arial"/>
              </a:rPr>
              <a:t>(</a:t>
            </a:r>
            <a:r>
              <a:rPr sz="2700" b="1" spc="60" baseline="13888" dirty="0">
                <a:solidFill>
                  <a:srgbClr val="A12B50"/>
                </a:solidFill>
                <a:latin typeface="Courier New"/>
                <a:cs typeface="Courier New"/>
              </a:rPr>
              <a:t>σ</a:t>
            </a:r>
            <a:r>
              <a:rPr sz="1200" b="1" spc="40" dirty="0">
                <a:solidFill>
                  <a:srgbClr val="A12B50"/>
                </a:solidFill>
                <a:latin typeface="Arial"/>
                <a:cs typeface="Arial"/>
              </a:rPr>
              <a:t>a_id='a2'</a:t>
            </a:r>
            <a:r>
              <a:rPr sz="2700" b="1" spc="60" baseline="13888" dirty="0">
                <a:solidFill>
                  <a:srgbClr val="A12B50"/>
                </a:solidFill>
                <a:latin typeface="Arial"/>
                <a:cs typeface="Arial"/>
              </a:rPr>
              <a:t>(R))</a:t>
            </a:r>
            <a:endParaRPr sz="2700" baseline="13888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8550B87D-7994-FEE2-1887-CF222DC54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196839"/>
              </p:ext>
            </p:extLst>
          </p:nvPr>
        </p:nvGraphicFramePr>
        <p:xfrm>
          <a:off x="4944549" y="3167000"/>
          <a:ext cx="1097280" cy="1254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object 7">
            <a:extLst>
              <a:ext uri="{FF2B5EF4-FFF2-40B4-BE49-F238E27FC236}">
                <a16:creationId xmlns:a16="http://schemas.microsoft.com/office/drawing/2014/main" id="{70105FCB-D55F-68D9-9B1C-2DE093740045}"/>
              </a:ext>
            </a:extLst>
          </p:cNvPr>
          <p:cNvSpPr txBox="1"/>
          <p:nvPr/>
        </p:nvSpPr>
        <p:spPr>
          <a:xfrm>
            <a:off x="6193501" y="3129280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29" name="object 8">
            <a:extLst>
              <a:ext uri="{FF2B5EF4-FFF2-40B4-BE49-F238E27FC236}">
                <a16:creationId xmlns:a16="http://schemas.microsoft.com/office/drawing/2014/main" id="{A3D4B804-AB83-AB17-4830-97E7807FB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317892"/>
              </p:ext>
            </p:extLst>
          </p:nvPr>
        </p:nvGraphicFramePr>
        <p:xfrm>
          <a:off x="4807261" y="4897755"/>
          <a:ext cx="1403350" cy="755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b_id-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50" dirty="0">
                          <a:latin typeface="SimSun-ExtB"/>
                          <a:cs typeface="SimSun-ExtB"/>
                        </a:rPr>
                        <a:t>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50" dirty="0">
                          <a:latin typeface="SimSun-ExtB"/>
                          <a:cs typeface="SimSun-ExtB"/>
                        </a:rPr>
                        <a:t>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object 12">
            <a:extLst>
              <a:ext uri="{FF2B5EF4-FFF2-40B4-BE49-F238E27FC236}">
                <a16:creationId xmlns:a16="http://schemas.microsoft.com/office/drawing/2014/main" id="{CC756D56-D899-E743-A7C6-30A4A7016827}"/>
              </a:ext>
            </a:extLst>
          </p:cNvPr>
          <p:cNvSpPr txBox="1"/>
          <p:nvPr/>
        </p:nvSpPr>
        <p:spPr>
          <a:xfrm>
            <a:off x="624004" y="4559009"/>
            <a:ext cx="3112135" cy="820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spc="-150" dirty="0">
                <a:latin typeface="Arial"/>
                <a:cs typeface="Arial"/>
              </a:rPr>
              <a:t>SELECT </a:t>
            </a:r>
            <a:r>
              <a:rPr sz="1800" dirty="0">
                <a:solidFill>
                  <a:srgbClr val="A12B50"/>
                </a:solidFill>
                <a:latin typeface="SimSun-ExtB"/>
                <a:cs typeface="SimSun-ExtB"/>
              </a:rPr>
              <a:t>b_id-100,</a:t>
            </a:r>
            <a:r>
              <a:rPr sz="1800" spc="5" dirty="0">
                <a:solidFill>
                  <a:srgbClr val="A12B50"/>
                </a:solidFill>
                <a:latin typeface="SimSun-ExtB"/>
                <a:cs typeface="SimSun-ExtB"/>
              </a:rPr>
              <a:t> </a:t>
            </a:r>
            <a:r>
              <a:rPr sz="1800" spc="-20" dirty="0">
                <a:solidFill>
                  <a:srgbClr val="A12B50"/>
                </a:solidFill>
                <a:latin typeface="SimSun-ExtB"/>
                <a:cs typeface="SimSun-ExtB"/>
              </a:rPr>
              <a:t>a_id</a:t>
            </a:r>
            <a:endParaRPr sz="1800" dirty="0">
              <a:solidFill>
                <a:srgbClr val="A12B50"/>
              </a:solidFill>
              <a:latin typeface="SimSun-ExtB"/>
              <a:cs typeface="SimSun-ExtB"/>
            </a:endParaRPr>
          </a:p>
          <a:p>
            <a:pPr marL="241300">
              <a:lnSpc>
                <a:spcPts val="2050"/>
              </a:lnSpc>
            </a:pPr>
            <a:r>
              <a:rPr sz="1800" b="1" dirty="0">
                <a:latin typeface="Arial"/>
                <a:cs typeface="Arial"/>
              </a:rPr>
              <a:t>FROM </a:t>
            </a:r>
            <a:r>
              <a:rPr sz="1800" dirty="0">
                <a:latin typeface="SimSun-ExtB"/>
                <a:cs typeface="SimSun-ExtB"/>
              </a:rPr>
              <a:t>R</a:t>
            </a:r>
            <a:r>
              <a:rPr sz="1800" spc="5" dirty="0">
                <a:latin typeface="SimSun-ExtB"/>
                <a:cs typeface="SimSun-ExtB"/>
              </a:rPr>
              <a:t>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dirty="0">
                <a:latin typeface="SimSun-ExtB"/>
                <a:cs typeface="SimSun-ExtB"/>
              </a:rPr>
              <a:t>a_id</a:t>
            </a:r>
            <a:r>
              <a:rPr sz="1800" spc="5" dirty="0">
                <a:latin typeface="SimSun-ExtB"/>
                <a:cs typeface="SimSun-ExtB"/>
              </a:rPr>
              <a:t> </a:t>
            </a:r>
            <a:r>
              <a:rPr sz="1800" dirty="0">
                <a:latin typeface="SimSun-ExtB"/>
                <a:cs typeface="SimSun-ExtB"/>
              </a:rPr>
              <a:t>=</a:t>
            </a:r>
            <a:r>
              <a:rPr sz="1800" spc="5" dirty="0">
                <a:latin typeface="SimSun-ExtB"/>
                <a:cs typeface="SimSun-ExtB"/>
              </a:rPr>
              <a:t> </a:t>
            </a:r>
            <a:r>
              <a:rPr sz="1800" spc="-10" dirty="0">
                <a:latin typeface="SimSun-ExtB"/>
                <a:cs typeface="SimSun-ExtB"/>
              </a:rPr>
              <a:t>'a2';</a:t>
            </a:r>
            <a:endParaRPr sz="1800" dirty="0">
              <a:latin typeface="SimSun-ExtB"/>
              <a:cs typeface="SimSun-ExtB"/>
            </a:endParaRPr>
          </a:p>
        </p:txBody>
      </p:sp>
    </p:spTree>
    <p:extLst>
      <p:ext uri="{BB962C8B-B14F-4D97-AF65-F5344CB8AC3E}">
        <p14:creationId xmlns:p14="http://schemas.microsoft.com/office/powerpoint/2010/main" val="269640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1CE64-C00A-8184-0CFE-84F3A10E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DBA62F9-824F-7A54-4A0D-91A72D807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6177" y="431059"/>
            <a:ext cx="5911646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: UNION</a:t>
            </a:r>
            <a:endParaRPr b="1" spc="-95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A28EB5B-C32E-AA4C-A581-F7E8446B426F}"/>
              </a:ext>
            </a:extLst>
          </p:cNvPr>
          <p:cNvSpPr txBox="1"/>
          <p:nvPr/>
        </p:nvSpPr>
        <p:spPr>
          <a:xfrm>
            <a:off x="435118" y="1202735"/>
            <a:ext cx="8273763" cy="72135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20" dirty="0">
                <a:cs typeface="Times New Roman"/>
              </a:rPr>
              <a:t>tuples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5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appear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either</a:t>
            </a:r>
            <a:r>
              <a:rPr sz="2400" spc="-50" dirty="0">
                <a:cs typeface="Times New Roman"/>
              </a:rPr>
              <a:t> </a:t>
            </a:r>
            <a:r>
              <a:rPr sz="2400" spc="-45" dirty="0">
                <a:cs typeface="Times New Roman"/>
              </a:rPr>
              <a:t>only</a:t>
            </a:r>
            <a:r>
              <a:rPr sz="2400" spc="-5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one </a:t>
            </a:r>
            <a:r>
              <a:rPr sz="2400" dirty="0">
                <a:cs typeface="Times New Roman"/>
              </a:rPr>
              <a:t>or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both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1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relations.</a:t>
            </a:r>
            <a:endParaRPr lang="en-MY" sz="2400" spc="-10" dirty="0">
              <a:cs typeface="Times New Roman"/>
            </a:endParaRP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0113C206-60EF-579C-4F72-609EC965E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598095"/>
              </p:ext>
            </p:extLst>
          </p:nvPr>
        </p:nvGraphicFramePr>
        <p:xfrm>
          <a:off x="4959858" y="2650674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5">
            <a:extLst>
              <a:ext uri="{FF2B5EF4-FFF2-40B4-BE49-F238E27FC236}">
                <a16:creationId xmlns:a16="http://schemas.microsoft.com/office/drawing/2014/main" id="{B289AB61-787F-B15F-7C82-065E335226B9}"/>
              </a:ext>
            </a:extLst>
          </p:cNvPr>
          <p:cNvSpPr txBox="1"/>
          <p:nvPr/>
        </p:nvSpPr>
        <p:spPr>
          <a:xfrm>
            <a:off x="4852670" y="2354128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F6B5526F-AD12-6934-0987-98F543C5171A}"/>
              </a:ext>
            </a:extLst>
          </p:cNvPr>
          <p:cNvSpPr txBox="1"/>
          <p:nvPr/>
        </p:nvSpPr>
        <p:spPr>
          <a:xfrm>
            <a:off x="6626861" y="2354128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S(a_id,b_id)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4952255F-AA91-0CDF-3528-DA46E13A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506646"/>
              </p:ext>
            </p:extLst>
          </p:nvPr>
        </p:nvGraphicFramePr>
        <p:xfrm>
          <a:off x="6769609" y="2650674"/>
          <a:ext cx="997875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F4FC8BC6-49F1-EF98-E036-1F96438B176D}"/>
              </a:ext>
            </a:extLst>
          </p:cNvPr>
          <p:cNvSpPr txBox="1"/>
          <p:nvPr/>
        </p:nvSpPr>
        <p:spPr>
          <a:xfrm>
            <a:off x="5988050" y="3915924"/>
            <a:ext cx="863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1800" b="1" spc="33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12B50"/>
                </a:solidFill>
                <a:latin typeface="Cambria Math"/>
                <a:cs typeface="Cambria Math"/>
              </a:rPr>
              <a:t>∪</a:t>
            </a:r>
            <a:r>
              <a:rPr sz="1800" spc="420" dirty="0">
                <a:solidFill>
                  <a:srgbClr val="A12B50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F62A65E3-8E85-FA81-7478-52D950A30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98668"/>
              </p:ext>
            </p:extLst>
          </p:nvPr>
        </p:nvGraphicFramePr>
        <p:xfrm>
          <a:off x="5864734" y="4213917"/>
          <a:ext cx="1097280" cy="150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object 13">
            <a:extLst>
              <a:ext uri="{FF2B5EF4-FFF2-40B4-BE49-F238E27FC236}">
                <a16:creationId xmlns:a16="http://schemas.microsoft.com/office/drawing/2014/main" id="{58FA7363-1B2F-F48D-7045-A1AC6A56C45F}"/>
              </a:ext>
            </a:extLst>
          </p:cNvPr>
          <p:cNvSpPr txBox="1"/>
          <p:nvPr/>
        </p:nvSpPr>
        <p:spPr>
          <a:xfrm>
            <a:off x="998055" y="4066101"/>
            <a:ext cx="2546683" cy="795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R)</a:t>
            </a:r>
          </a:p>
          <a:p>
            <a:pPr algn="ctr">
              <a:lnSpc>
                <a:spcPts val="1945"/>
              </a:lnSpc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UNION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  <a:p>
            <a:pPr algn="ctr">
              <a:lnSpc>
                <a:spcPts val="2055"/>
              </a:lnSpc>
            </a:pPr>
            <a:r>
              <a:rPr sz="1800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S</a:t>
            </a:r>
            <a:r>
              <a:rPr sz="1800" spc="-25" dirty="0">
                <a:latin typeface="SimSun-ExtB"/>
                <a:cs typeface="SimSun-ExtB"/>
              </a:rPr>
              <a:t>);</a:t>
            </a:r>
            <a:endParaRPr sz="1800" dirty="0">
              <a:latin typeface="SimSun-ExtB"/>
              <a:cs typeface="SimSun-ExtB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E2702AA-13AD-23AD-63EF-5A138844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109"/>
          <a:stretch>
            <a:fillRect/>
          </a:stretch>
        </p:blipFill>
        <p:spPr>
          <a:xfrm>
            <a:off x="781025" y="3105902"/>
            <a:ext cx="3186734" cy="5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6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141B2-913B-5A33-095E-BFD2BF24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4B16868-F944-9E9C-3EF3-0E701024A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8695" y="408222"/>
            <a:ext cx="6426610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: INTERSECTION</a:t>
            </a:r>
            <a:endParaRPr b="1" spc="-95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51D5BA5-1A90-8DB1-FBA8-2D83197FA4CE}"/>
              </a:ext>
            </a:extLst>
          </p:cNvPr>
          <p:cNvSpPr txBox="1"/>
          <p:nvPr/>
        </p:nvSpPr>
        <p:spPr>
          <a:xfrm>
            <a:off x="575269" y="1174859"/>
            <a:ext cx="8362254" cy="175753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only </a:t>
            </a:r>
            <a:r>
              <a:rPr sz="2400" dirty="0">
                <a:cs typeface="Times New Roman"/>
              </a:rPr>
              <a:t>the</a:t>
            </a:r>
            <a:r>
              <a:rPr sz="2400" spc="-5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tuples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appear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both</a:t>
            </a:r>
            <a:r>
              <a:rPr sz="2400" spc="-5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of</a:t>
            </a:r>
            <a:r>
              <a:rPr sz="2400" spc="-4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the </a:t>
            </a:r>
            <a:r>
              <a:rPr sz="2400" dirty="0">
                <a:cs typeface="Times New Roman"/>
              </a:rPr>
              <a:t>input</a:t>
            </a:r>
            <a:r>
              <a:rPr sz="2400" spc="3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relations.</a:t>
            </a:r>
            <a:endParaRPr lang="en-US" sz="2400" spc="-10" dirty="0">
              <a:cs typeface="Times New Roman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</a:pP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1525905" algn="l"/>
                <a:tab pos="188087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Syntax:</a:t>
            </a:r>
            <a:r>
              <a:rPr sz="2400" b="1" spc="-90" dirty="0">
                <a:solidFill>
                  <a:srgbClr val="A12B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spc="-50" dirty="0">
                <a:solidFill>
                  <a:srgbClr val="A12B50"/>
                </a:solidFill>
                <a:latin typeface="Cambria Math"/>
                <a:cs typeface="Cambria Math"/>
              </a:rPr>
              <a:t>∩</a:t>
            </a:r>
            <a:r>
              <a:rPr sz="2400" dirty="0">
                <a:solidFill>
                  <a:srgbClr val="A12B50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06F0B97-64A9-70BF-8FF0-6A34D69B79FC}"/>
              </a:ext>
            </a:extLst>
          </p:cNvPr>
          <p:cNvSpPr txBox="1"/>
          <p:nvPr/>
        </p:nvSpPr>
        <p:spPr>
          <a:xfrm>
            <a:off x="5126858" y="3860582"/>
            <a:ext cx="863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1800" b="1" spc="33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12B50"/>
                </a:solidFill>
                <a:latin typeface="Cambria Math"/>
                <a:cs typeface="Cambria Math"/>
              </a:rPr>
              <a:t>∩</a:t>
            </a:r>
            <a:r>
              <a:rPr sz="1800" spc="420" dirty="0">
                <a:solidFill>
                  <a:srgbClr val="A12B50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180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0E3604CD-1E81-9ACA-974A-97AD9C1E5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947591"/>
              </p:ext>
            </p:extLst>
          </p:nvPr>
        </p:nvGraphicFramePr>
        <p:xfrm>
          <a:off x="5003542" y="4158575"/>
          <a:ext cx="1097280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14">
            <a:extLst>
              <a:ext uri="{FF2B5EF4-FFF2-40B4-BE49-F238E27FC236}">
                <a16:creationId xmlns:a16="http://schemas.microsoft.com/office/drawing/2014/main" id="{C616084D-8B1F-C2A2-935F-A677D39D428A}"/>
              </a:ext>
            </a:extLst>
          </p:cNvPr>
          <p:cNvSpPr txBox="1"/>
          <p:nvPr/>
        </p:nvSpPr>
        <p:spPr>
          <a:xfrm>
            <a:off x="497103" y="3482273"/>
            <a:ext cx="2738481" cy="756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00"/>
              </a:lnSpc>
            </a:pPr>
            <a:r>
              <a:rPr sz="1800" spc="-204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R)</a:t>
            </a:r>
          </a:p>
          <a:p>
            <a:pPr algn="ctr">
              <a:lnSpc>
                <a:spcPts val="1945"/>
              </a:lnSpc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INTERSECT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  <a:p>
            <a:pPr algn="ctr">
              <a:lnSpc>
                <a:spcPts val="2055"/>
              </a:lnSpc>
            </a:pPr>
            <a:r>
              <a:rPr sz="1800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S);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29E45C9E-4F36-6119-D1C3-B92759890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70569"/>
              </p:ext>
            </p:extLst>
          </p:nvPr>
        </p:nvGraphicFramePr>
        <p:xfrm>
          <a:off x="4098666" y="2595332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2">
            <a:extLst>
              <a:ext uri="{FF2B5EF4-FFF2-40B4-BE49-F238E27FC236}">
                <a16:creationId xmlns:a16="http://schemas.microsoft.com/office/drawing/2014/main" id="{BAAC476C-FA3E-A706-9D79-5AA754257443}"/>
              </a:ext>
            </a:extLst>
          </p:cNvPr>
          <p:cNvSpPr txBox="1"/>
          <p:nvPr/>
        </p:nvSpPr>
        <p:spPr>
          <a:xfrm>
            <a:off x="3991478" y="2298786"/>
            <a:ext cx="317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255" algn="l"/>
              </a:tabLst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S(a_id,b_id)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3EDF4313-38CE-065A-1C3C-DCE2F8B36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82401"/>
              </p:ext>
            </p:extLst>
          </p:nvPr>
        </p:nvGraphicFramePr>
        <p:xfrm>
          <a:off x="5908417" y="2595332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58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96D6C-FA30-52D7-7BAC-2B90DC80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7024CED-3CAC-E256-E0AD-113649954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4062" y="434911"/>
            <a:ext cx="676090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: SET DIFFERENCE</a:t>
            </a:r>
            <a:endParaRPr b="1" spc="-95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4CEC490-E258-B847-BCA2-82D412D67055}"/>
              </a:ext>
            </a:extLst>
          </p:cNvPr>
          <p:cNvSpPr txBox="1"/>
          <p:nvPr/>
        </p:nvSpPr>
        <p:spPr>
          <a:xfrm>
            <a:off x="344129" y="1100895"/>
            <a:ext cx="8799871" cy="137281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only </a:t>
            </a:r>
            <a:r>
              <a:rPr sz="2400" dirty="0">
                <a:cs typeface="Times New Roman"/>
              </a:rPr>
              <a:t>the</a:t>
            </a:r>
            <a:r>
              <a:rPr sz="2400" spc="-5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tuples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5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appear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4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first</a:t>
            </a:r>
            <a:r>
              <a:rPr sz="2400" spc="-7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and </a:t>
            </a:r>
            <a:r>
              <a:rPr sz="2400" dirty="0">
                <a:cs typeface="Times New Roman"/>
              </a:rPr>
              <a:t>not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35" dirty="0">
                <a:cs typeface="Times New Roman"/>
              </a:rPr>
              <a:t> second</a:t>
            </a:r>
            <a:r>
              <a:rPr sz="2400" spc="-1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-3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relations.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1525905" algn="l"/>
                <a:tab pos="1830705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Syntax: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A12B50"/>
                </a:solidFill>
                <a:latin typeface="Arial"/>
                <a:cs typeface="Arial"/>
              </a:rPr>
              <a:t>–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A7492894-BDAB-9491-9652-DFCF826635D2}"/>
              </a:ext>
            </a:extLst>
          </p:cNvPr>
          <p:cNvSpPr txBox="1"/>
          <p:nvPr/>
        </p:nvSpPr>
        <p:spPr>
          <a:xfrm>
            <a:off x="5372811" y="3928161"/>
            <a:ext cx="825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4122F"/>
                </a:solidFill>
                <a:latin typeface="Arial"/>
                <a:cs typeface="Arial"/>
              </a:rPr>
              <a:t>(R</a:t>
            </a:r>
            <a:r>
              <a:rPr sz="1800" b="1" spc="285" dirty="0">
                <a:solidFill>
                  <a:srgbClr val="C4122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4122F"/>
                </a:solidFill>
                <a:latin typeface="Arial"/>
                <a:cs typeface="Arial"/>
              </a:rPr>
              <a:t>–</a:t>
            </a:r>
            <a:r>
              <a:rPr sz="1800" b="1" spc="285" dirty="0">
                <a:solidFill>
                  <a:srgbClr val="C4122F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C4122F"/>
                </a:solidFill>
                <a:latin typeface="Arial"/>
                <a:cs typeface="Arial"/>
              </a:rPr>
              <a:t>S)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F0D9D5E-BB2B-D426-5219-F7ADA0FE9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359735"/>
              </p:ext>
            </p:extLst>
          </p:nvPr>
        </p:nvGraphicFramePr>
        <p:xfrm>
          <a:off x="5229683" y="4224630"/>
          <a:ext cx="1097280" cy="7550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9">
            <a:extLst>
              <a:ext uri="{FF2B5EF4-FFF2-40B4-BE49-F238E27FC236}">
                <a16:creationId xmlns:a16="http://schemas.microsoft.com/office/drawing/2014/main" id="{72C0C58E-1ED6-6F9F-066E-1A4C6510F2EC}"/>
              </a:ext>
            </a:extLst>
          </p:cNvPr>
          <p:cNvSpPr txBox="1"/>
          <p:nvPr/>
        </p:nvSpPr>
        <p:spPr>
          <a:xfrm>
            <a:off x="450845" y="3133220"/>
            <a:ext cx="2410341" cy="795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R)</a:t>
            </a:r>
          </a:p>
          <a:p>
            <a:pPr algn="ctr">
              <a:lnSpc>
                <a:spcPts val="1945"/>
              </a:lnSpc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EXCEPT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  <a:p>
            <a:pPr algn="ctr">
              <a:lnSpc>
                <a:spcPts val="2055"/>
              </a:lnSpc>
            </a:pPr>
            <a:r>
              <a:rPr sz="1800" dirty="0">
                <a:latin typeface="SimSun-ExtB"/>
                <a:cs typeface="SimSun-ExtB"/>
              </a:rPr>
              <a:t>(</a:t>
            </a: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S);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A9A5B3D-A7AC-E049-4D2B-2938B23E4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975126"/>
              </p:ext>
            </p:extLst>
          </p:nvPr>
        </p:nvGraphicFramePr>
        <p:xfrm>
          <a:off x="4324807" y="2661387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3">
            <a:extLst>
              <a:ext uri="{FF2B5EF4-FFF2-40B4-BE49-F238E27FC236}">
                <a16:creationId xmlns:a16="http://schemas.microsoft.com/office/drawing/2014/main" id="{F6A9DA94-9289-BAE5-00B0-02FE9B82F6A9}"/>
              </a:ext>
            </a:extLst>
          </p:cNvPr>
          <p:cNvSpPr txBox="1"/>
          <p:nvPr/>
        </p:nvSpPr>
        <p:spPr>
          <a:xfrm>
            <a:off x="4217619" y="2364841"/>
            <a:ext cx="317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255" algn="l"/>
              </a:tabLst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S(a_id,b_id)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B34EB6ED-53B1-CD69-1C15-AB83CD80C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580748"/>
              </p:ext>
            </p:extLst>
          </p:nvPr>
        </p:nvGraphicFramePr>
        <p:xfrm>
          <a:off x="6134558" y="2661387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65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787C0-F5C2-DFD1-9FDD-57EBCD18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F86B9B4-F9B4-0902-554D-DCEBE08270AA}"/>
              </a:ext>
            </a:extLst>
          </p:cNvPr>
          <p:cNvSpPr txBox="1"/>
          <p:nvPr/>
        </p:nvSpPr>
        <p:spPr>
          <a:xfrm>
            <a:off x="528975" y="1249421"/>
            <a:ext cx="8509738" cy="137281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55" dirty="0">
                <a:cs typeface="Times New Roman"/>
              </a:rPr>
              <a:t>possible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combinations</a:t>
            </a:r>
            <a:r>
              <a:rPr sz="2400" spc="-114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110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tuples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from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 </a:t>
            </a:r>
            <a:r>
              <a:rPr sz="2400" spc="-10" dirty="0">
                <a:cs typeface="Times New Roman"/>
              </a:rPr>
              <a:t>relations.</a:t>
            </a:r>
            <a:endParaRPr sz="2400" dirty="0"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1519555" algn="l"/>
                <a:tab pos="1824355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Syntax:</a:t>
            </a:r>
            <a:r>
              <a:rPr sz="2400" b="1" spc="-105" dirty="0">
                <a:solidFill>
                  <a:srgbClr val="A12B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b="1" spc="-50" dirty="0">
                <a:solidFill>
                  <a:srgbClr val="A12B50"/>
                </a:solidFill>
                <a:latin typeface="Arial"/>
                <a:cs typeface="Arial"/>
              </a:rPr>
              <a:t>×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B065305B-546C-98FF-E406-0686EFEC2753}"/>
              </a:ext>
            </a:extLst>
          </p:cNvPr>
          <p:cNvSpPr txBox="1"/>
          <p:nvPr/>
        </p:nvSpPr>
        <p:spPr>
          <a:xfrm>
            <a:off x="6119039" y="3708498"/>
            <a:ext cx="825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1800" b="1" spc="254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×</a:t>
            </a:r>
            <a:r>
              <a:rPr sz="1800" b="1" spc="26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C220FC9-1509-414A-12DE-DD5E22B1C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728649"/>
              </p:ext>
            </p:extLst>
          </p:nvPr>
        </p:nvGraphicFramePr>
        <p:xfrm>
          <a:off x="5191432" y="4004535"/>
          <a:ext cx="2667000" cy="20618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09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R.a_id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R.b_id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S.a_id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S.b_id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20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200" dirty="0">
                        <a:latin typeface="SimSun-ExtB"/>
                        <a:cs typeface="SimSun-ExtB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object 11">
            <a:extLst>
              <a:ext uri="{FF2B5EF4-FFF2-40B4-BE49-F238E27FC236}">
                <a16:creationId xmlns:a16="http://schemas.microsoft.com/office/drawing/2014/main" id="{47E83692-FF1F-3514-CD7E-BB8447954055}"/>
              </a:ext>
            </a:extLst>
          </p:cNvPr>
          <p:cNvSpPr txBox="1"/>
          <p:nvPr/>
        </p:nvSpPr>
        <p:spPr>
          <a:xfrm>
            <a:off x="523958" y="3060816"/>
            <a:ext cx="3815440" cy="9079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 </a:t>
            </a:r>
            <a:r>
              <a:rPr sz="1800" b="1" dirty="0">
                <a:solidFill>
                  <a:srgbClr val="C4122F"/>
                </a:solidFill>
                <a:latin typeface="Arial"/>
                <a:cs typeface="Arial"/>
              </a:rPr>
              <a:t>CROSS JOIN </a:t>
            </a:r>
            <a:r>
              <a:rPr sz="1800" dirty="0">
                <a:latin typeface="SimSun-ExtB"/>
                <a:cs typeface="SimSun-ExtB"/>
              </a:rPr>
              <a:t>S;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800" dirty="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R, S;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7741DFC1-423C-133B-B576-26913DEDC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59808"/>
              </p:ext>
            </p:extLst>
          </p:nvPr>
        </p:nvGraphicFramePr>
        <p:xfrm>
          <a:off x="5071035" y="2609314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>
            <a:extLst>
              <a:ext uri="{FF2B5EF4-FFF2-40B4-BE49-F238E27FC236}">
                <a16:creationId xmlns:a16="http://schemas.microsoft.com/office/drawing/2014/main" id="{2963536E-EFFE-24F7-DCE5-4BB76514387B}"/>
              </a:ext>
            </a:extLst>
          </p:cNvPr>
          <p:cNvSpPr txBox="1"/>
          <p:nvPr/>
        </p:nvSpPr>
        <p:spPr>
          <a:xfrm>
            <a:off x="4963847" y="2312768"/>
            <a:ext cx="317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6255" algn="l"/>
              </a:tabLst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S(a_id,b_id)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53CCD3FB-0BF1-3C9A-9D70-3176A8A23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05792"/>
              </p:ext>
            </p:extLst>
          </p:nvPr>
        </p:nvGraphicFramePr>
        <p:xfrm>
          <a:off x="6880786" y="2609314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2">
            <a:extLst>
              <a:ext uri="{FF2B5EF4-FFF2-40B4-BE49-F238E27FC236}">
                <a16:creationId xmlns:a16="http://schemas.microsoft.com/office/drawing/2014/main" id="{9C2C8DD5-DBE5-1659-E66D-779EF66EE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 : CARTESIAN PRODUCT</a:t>
            </a:r>
            <a:endParaRPr b="1" spc="-95" dirty="0"/>
          </a:p>
        </p:txBody>
      </p:sp>
    </p:spTree>
    <p:extLst>
      <p:ext uri="{BB962C8B-B14F-4D97-AF65-F5344CB8AC3E}">
        <p14:creationId xmlns:p14="http://schemas.microsoft.com/office/powerpoint/2010/main" val="241938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4FB41-33F2-1900-02B6-FBD4FC34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1278DCB-F6CF-704D-DB1E-064CF09DA66E}"/>
              </a:ext>
            </a:extLst>
          </p:cNvPr>
          <p:cNvSpPr txBox="1"/>
          <p:nvPr/>
        </p:nvSpPr>
        <p:spPr>
          <a:xfrm>
            <a:off x="585101" y="1005036"/>
            <a:ext cx="8244266" cy="284911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20" dirty="0">
                <a:cs typeface="Times New Roman"/>
              </a:rPr>
              <a:t>tuples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  <a:r>
              <a:rPr sz="2400" spc="-1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0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combination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10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two tuples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(one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from</a:t>
            </a:r>
            <a:r>
              <a:rPr sz="2400" spc="-60" dirty="0">
                <a:cs typeface="Times New Roman"/>
              </a:rPr>
              <a:t> </a:t>
            </a:r>
            <a:r>
              <a:rPr sz="2400" spc="-55" dirty="0">
                <a:cs typeface="Times New Roman"/>
              </a:rPr>
              <a:t>each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relation) </a:t>
            </a:r>
            <a:r>
              <a:rPr sz="2400" dirty="0">
                <a:cs typeface="Times New Roman"/>
              </a:rPr>
              <a:t>with</a:t>
            </a:r>
            <a:r>
              <a:rPr sz="2400" spc="-9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common</a:t>
            </a:r>
            <a:r>
              <a:rPr sz="2400" spc="-60" dirty="0">
                <a:cs typeface="Times New Roman"/>
              </a:rPr>
              <a:t> </a:t>
            </a:r>
            <a:r>
              <a:rPr sz="2400" spc="-70" dirty="0">
                <a:cs typeface="Times New Roman"/>
              </a:rPr>
              <a:t>value(s)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for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one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or </a:t>
            </a:r>
            <a:r>
              <a:rPr sz="2400" dirty="0">
                <a:cs typeface="Times New Roman"/>
              </a:rPr>
              <a:t>more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attributes.</a:t>
            </a:r>
            <a:endParaRPr lang="en-US" sz="2400" spc="-10" dirty="0"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385"/>
              </a:spcBef>
            </a:pPr>
            <a:endParaRPr lang="en-MY" sz="2400" spc="-10" dirty="0">
              <a:solidFill>
                <a:srgbClr val="585858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385"/>
              </a:spcBef>
            </a:pPr>
            <a:endParaRPr lang="en-MY" sz="2400" spc="-10" dirty="0">
              <a:solidFill>
                <a:srgbClr val="585858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  <a:spcBef>
                <a:spcPts val="38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  <a:tabLst>
                <a:tab pos="1525905" algn="l"/>
                <a:tab pos="1925320" algn="l"/>
              </a:tabLst>
            </a:pPr>
            <a:r>
              <a:rPr sz="2400" b="1" spc="-20" dirty="0">
                <a:solidFill>
                  <a:srgbClr val="585858"/>
                </a:solidFill>
                <a:latin typeface="Times New Roman"/>
                <a:cs typeface="Times New Roman"/>
              </a:rPr>
              <a:t>Syntax:</a:t>
            </a:r>
            <a:r>
              <a:rPr sz="2400" b="1" spc="-90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30037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C30037"/>
                </a:solidFill>
                <a:latin typeface="Arial"/>
                <a:cs typeface="Arial"/>
              </a:rPr>
              <a:t>	</a:t>
            </a:r>
            <a:r>
              <a:rPr sz="2400" spc="-50" dirty="0">
                <a:solidFill>
                  <a:srgbClr val="C30037"/>
                </a:solidFill>
                <a:latin typeface="Cambria Math"/>
                <a:cs typeface="Cambria Math"/>
              </a:rPr>
              <a:t>⋈</a:t>
            </a:r>
            <a:r>
              <a:rPr sz="2400" dirty="0">
                <a:solidFill>
                  <a:srgbClr val="C30037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C30037"/>
                </a:solidFill>
                <a:latin typeface="Arial"/>
                <a:cs typeface="Arial"/>
              </a:rPr>
              <a:t>S)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3F98A981-5589-E8C1-67C8-D9E5AD6CA92C}"/>
              </a:ext>
            </a:extLst>
          </p:cNvPr>
          <p:cNvSpPr txBox="1"/>
          <p:nvPr/>
        </p:nvSpPr>
        <p:spPr>
          <a:xfrm>
            <a:off x="5503384" y="4404639"/>
            <a:ext cx="897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30037"/>
                </a:solidFill>
                <a:latin typeface="Arial"/>
                <a:cs typeface="Arial"/>
              </a:rPr>
              <a:t>(R</a:t>
            </a:r>
            <a:r>
              <a:rPr sz="1800" b="1" spc="340" dirty="0">
                <a:solidFill>
                  <a:srgbClr val="C300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30037"/>
                </a:solidFill>
                <a:latin typeface="Cambria Math"/>
                <a:cs typeface="Cambria Math"/>
              </a:rPr>
              <a:t>⋈</a:t>
            </a:r>
            <a:r>
              <a:rPr sz="1800" spc="420" dirty="0">
                <a:solidFill>
                  <a:srgbClr val="C30037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C30037"/>
                </a:solidFill>
                <a:latin typeface="Arial"/>
                <a:cs typeface="Arial"/>
              </a:rPr>
              <a:t>S)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DB1B193E-370E-E12C-41BB-2A9713283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757129"/>
              </p:ext>
            </p:extLst>
          </p:nvPr>
        </p:nvGraphicFramePr>
        <p:xfrm>
          <a:off x="5274023" y="4702199"/>
          <a:ext cx="1344927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FF2834FA-1CA3-BEFA-24BF-207F40F6F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913100"/>
              </p:ext>
            </p:extLst>
          </p:nvPr>
        </p:nvGraphicFramePr>
        <p:xfrm>
          <a:off x="4491956" y="3230778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E2C42827-D816-28EF-B944-37F5CDC48C3B}"/>
              </a:ext>
            </a:extLst>
          </p:cNvPr>
          <p:cNvSpPr txBox="1"/>
          <p:nvPr/>
        </p:nvSpPr>
        <p:spPr>
          <a:xfrm>
            <a:off x="4384768" y="2934232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30037"/>
                </a:solidFill>
                <a:latin typeface="Arial"/>
                <a:cs typeface="Arial"/>
              </a:rPr>
              <a:t>R(a_id,b_id)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C04BB37-F39E-38E5-9F74-21E95E9E6BA2}"/>
              </a:ext>
            </a:extLst>
          </p:cNvPr>
          <p:cNvSpPr txBox="1"/>
          <p:nvPr/>
        </p:nvSpPr>
        <p:spPr>
          <a:xfrm>
            <a:off x="5929723" y="2934232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C30037"/>
                </a:solidFill>
                <a:latin typeface="Arial"/>
                <a:cs typeface="Arial"/>
              </a:rPr>
              <a:t>S(a_id,b_id,val)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9FD6E008-8B93-5B32-400A-20D5C5909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36371"/>
              </p:ext>
            </p:extLst>
          </p:nvPr>
        </p:nvGraphicFramePr>
        <p:xfrm>
          <a:off x="6177500" y="3230778"/>
          <a:ext cx="1344927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YYY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ZZZ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2">
            <a:extLst>
              <a:ext uri="{FF2B5EF4-FFF2-40B4-BE49-F238E27FC236}">
                <a16:creationId xmlns:a16="http://schemas.microsoft.com/office/drawing/2014/main" id="{0284B4B9-5196-4877-F1DA-8B7515950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 : JOIN</a:t>
            </a:r>
            <a:endParaRPr b="1" spc="-95" dirty="0"/>
          </a:p>
        </p:txBody>
      </p:sp>
    </p:spTree>
    <p:extLst>
      <p:ext uri="{BB962C8B-B14F-4D97-AF65-F5344CB8AC3E}">
        <p14:creationId xmlns:p14="http://schemas.microsoft.com/office/powerpoint/2010/main" val="395742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B96C0-6682-A0AB-665D-5C3F8B1F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2EAC449-5C3B-EA6A-9D01-660C3A879906}"/>
              </a:ext>
            </a:extLst>
          </p:cNvPr>
          <p:cNvSpPr txBox="1"/>
          <p:nvPr/>
        </p:nvSpPr>
        <p:spPr>
          <a:xfrm>
            <a:off x="356045" y="1082157"/>
            <a:ext cx="8431910" cy="10465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20" dirty="0">
                <a:cs typeface="Times New Roman"/>
              </a:rPr>
              <a:t>tuples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  <a:r>
              <a:rPr sz="2400" spc="-1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0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combination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10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two tuples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(one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from</a:t>
            </a:r>
            <a:r>
              <a:rPr sz="2400" spc="-60" dirty="0">
                <a:cs typeface="Times New Roman"/>
              </a:rPr>
              <a:t> </a:t>
            </a:r>
            <a:r>
              <a:rPr sz="2400" spc="-55" dirty="0">
                <a:cs typeface="Times New Roman"/>
              </a:rPr>
              <a:t>each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relation) </a:t>
            </a:r>
            <a:r>
              <a:rPr sz="2400" dirty="0">
                <a:cs typeface="Times New Roman"/>
              </a:rPr>
              <a:t>with</a:t>
            </a:r>
            <a:r>
              <a:rPr sz="2400" spc="-9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common</a:t>
            </a:r>
            <a:r>
              <a:rPr sz="2400" spc="-60" dirty="0">
                <a:cs typeface="Times New Roman"/>
              </a:rPr>
              <a:t> </a:t>
            </a:r>
            <a:r>
              <a:rPr sz="2400" spc="-70" dirty="0">
                <a:cs typeface="Times New Roman"/>
              </a:rPr>
              <a:t>value(s)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for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one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or </a:t>
            </a:r>
            <a:r>
              <a:rPr sz="2400" dirty="0">
                <a:cs typeface="Times New Roman"/>
              </a:rPr>
              <a:t>more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attributes.</a:t>
            </a:r>
            <a:endParaRPr sz="2400" dirty="0">
              <a:cs typeface="Times New Roman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69931E44-5181-7304-D395-0514339C84B0}"/>
              </a:ext>
            </a:extLst>
          </p:cNvPr>
          <p:cNvSpPr txBox="1"/>
          <p:nvPr/>
        </p:nvSpPr>
        <p:spPr>
          <a:xfrm>
            <a:off x="535940" y="2910585"/>
            <a:ext cx="224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5905" algn="l"/>
                <a:tab pos="192532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Syntax</a:t>
            </a:r>
            <a:r>
              <a:rPr sz="2400" b="1" spc="-20" dirty="0">
                <a:solidFill>
                  <a:srgbClr val="A12B50"/>
                </a:solidFill>
                <a:latin typeface="Times New Roman"/>
                <a:cs typeface="Times New Roman"/>
              </a:rPr>
              <a:t>:</a:t>
            </a:r>
            <a:r>
              <a:rPr sz="2400" b="1" spc="-90" dirty="0">
                <a:solidFill>
                  <a:srgbClr val="A12B5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A12B50"/>
                </a:solidFill>
                <a:latin typeface="Arial"/>
                <a:cs typeface="Arial"/>
              </a:rPr>
              <a:t>	</a:t>
            </a:r>
            <a:r>
              <a:rPr sz="2400" spc="-50" dirty="0">
                <a:solidFill>
                  <a:srgbClr val="A12B50"/>
                </a:solidFill>
                <a:latin typeface="Cambria Math"/>
                <a:cs typeface="Cambria Math"/>
              </a:rPr>
              <a:t>⋈</a:t>
            </a:r>
            <a:r>
              <a:rPr sz="2400" dirty="0">
                <a:solidFill>
                  <a:srgbClr val="A12B50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24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B4F891C-637B-11D3-9F9A-4EF1AAAA3426}"/>
              </a:ext>
            </a:extLst>
          </p:cNvPr>
          <p:cNvSpPr txBox="1"/>
          <p:nvPr/>
        </p:nvSpPr>
        <p:spPr>
          <a:xfrm>
            <a:off x="6687311" y="4125722"/>
            <a:ext cx="897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1800" b="1" spc="34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12B50"/>
                </a:solidFill>
                <a:latin typeface="Cambria Math"/>
                <a:cs typeface="Cambria Math"/>
              </a:rPr>
              <a:t>⋈</a:t>
            </a:r>
            <a:r>
              <a:rPr sz="1800" spc="420" dirty="0">
                <a:solidFill>
                  <a:srgbClr val="A12B50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193ECED2-A784-55F1-A470-6D5EA7938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999034"/>
              </p:ext>
            </p:extLst>
          </p:nvPr>
        </p:nvGraphicFramePr>
        <p:xfrm>
          <a:off x="6457950" y="4423282"/>
          <a:ext cx="1344927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9AEB80D2-BFFD-554B-CF04-F39047DD6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061675"/>
              </p:ext>
            </p:extLst>
          </p:nvPr>
        </p:nvGraphicFramePr>
        <p:xfrm>
          <a:off x="2615122" y="4392484"/>
          <a:ext cx="3035299" cy="518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605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R.b_id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90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A0DFF83C-006E-7E8A-BA44-53901A451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000559"/>
              </p:ext>
            </p:extLst>
          </p:nvPr>
        </p:nvGraphicFramePr>
        <p:xfrm>
          <a:off x="5675883" y="2951861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3">
            <a:extLst>
              <a:ext uri="{FF2B5EF4-FFF2-40B4-BE49-F238E27FC236}">
                <a16:creationId xmlns:a16="http://schemas.microsoft.com/office/drawing/2014/main" id="{CEEC2984-CD53-276E-EDAB-3F97D7E4764C}"/>
              </a:ext>
            </a:extLst>
          </p:cNvPr>
          <p:cNvSpPr txBox="1"/>
          <p:nvPr/>
        </p:nvSpPr>
        <p:spPr>
          <a:xfrm>
            <a:off x="5568695" y="2655315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endParaRPr sz="180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9914FE8D-185B-CFA8-CEAB-3C29AE144C38}"/>
              </a:ext>
            </a:extLst>
          </p:cNvPr>
          <p:cNvSpPr txBox="1"/>
          <p:nvPr/>
        </p:nvSpPr>
        <p:spPr>
          <a:xfrm>
            <a:off x="7113650" y="2655315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A12B50"/>
                </a:solidFill>
                <a:latin typeface="Arial"/>
                <a:cs typeface="Arial"/>
              </a:rPr>
              <a:t>S(a_id,b_id,val)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41FC3244-655D-8767-718D-31EE1C4A1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01995"/>
              </p:ext>
            </p:extLst>
          </p:nvPr>
        </p:nvGraphicFramePr>
        <p:xfrm>
          <a:off x="7361427" y="2951861"/>
          <a:ext cx="1344927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YYY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ZZZ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2">
            <a:extLst>
              <a:ext uri="{FF2B5EF4-FFF2-40B4-BE49-F238E27FC236}">
                <a16:creationId xmlns:a16="http://schemas.microsoft.com/office/drawing/2014/main" id="{4219A5CA-DD37-2B6A-557F-43CC47312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 : JOIN</a:t>
            </a:r>
            <a:endParaRPr b="1" spc="-95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7DBAA549-B846-EB78-9F0C-26376747BD56}"/>
              </a:ext>
            </a:extLst>
          </p:cNvPr>
          <p:cNvSpPr/>
          <p:nvPr/>
        </p:nvSpPr>
        <p:spPr>
          <a:xfrm>
            <a:off x="5868097" y="4423282"/>
            <a:ext cx="399415" cy="457200"/>
          </a:xfrm>
          <a:custGeom>
            <a:avLst/>
            <a:gdLst/>
            <a:ahLst/>
            <a:cxnLst/>
            <a:rect l="l" t="t" r="r" b="b"/>
            <a:pathLst>
              <a:path w="399414" h="457200">
                <a:moveTo>
                  <a:pt x="199516" y="0"/>
                </a:moveTo>
                <a:lnTo>
                  <a:pt x="0" y="228600"/>
                </a:lnTo>
                <a:lnTo>
                  <a:pt x="199516" y="457200"/>
                </a:lnTo>
                <a:lnTo>
                  <a:pt x="199516" y="342900"/>
                </a:lnTo>
                <a:lnTo>
                  <a:pt x="398907" y="342900"/>
                </a:lnTo>
                <a:lnTo>
                  <a:pt x="398907" y="114300"/>
                </a:lnTo>
                <a:lnTo>
                  <a:pt x="199516" y="114300"/>
                </a:lnTo>
                <a:lnTo>
                  <a:pt x="19951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62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6129-E788-C3E2-3078-35163CC9A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A3FA6-C43A-32BB-AD2D-716BDFBB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E7D1A43-5A35-CE52-6BE9-79D19B4B67B1}"/>
              </a:ext>
            </a:extLst>
          </p:cNvPr>
          <p:cNvSpPr txBox="1"/>
          <p:nvPr/>
        </p:nvSpPr>
        <p:spPr>
          <a:xfrm>
            <a:off x="356045" y="1082157"/>
            <a:ext cx="8431910" cy="10465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20" dirty="0">
                <a:cs typeface="Times New Roman"/>
              </a:rPr>
              <a:t>tuples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  <a:r>
              <a:rPr sz="2400" spc="-1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0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combination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10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two tuples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(one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from</a:t>
            </a:r>
            <a:r>
              <a:rPr sz="2400" spc="-60" dirty="0">
                <a:cs typeface="Times New Roman"/>
              </a:rPr>
              <a:t> </a:t>
            </a:r>
            <a:r>
              <a:rPr sz="2400" spc="-55" dirty="0">
                <a:cs typeface="Times New Roman"/>
              </a:rPr>
              <a:t>each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relation) </a:t>
            </a:r>
            <a:r>
              <a:rPr sz="2400" dirty="0">
                <a:cs typeface="Times New Roman"/>
              </a:rPr>
              <a:t>with</a:t>
            </a:r>
            <a:r>
              <a:rPr sz="2400" spc="-9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common</a:t>
            </a:r>
            <a:r>
              <a:rPr sz="2400" spc="-60" dirty="0">
                <a:cs typeface="Times New Roman"/>
              </a:rPr>
              <a:t> </a:t>
            </a:r>
            <a:r>
              <a:rPr sz="2400" spc="-70" dirty="0">
                <a:cs typeface="Times New Roman"/>
              </a:rPr>
              <a:t>value(s)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for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one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or </a:t>
            </a:r>
            <a:r>
              <a:rPr sz="2400" dirty="0">
                <a:cs typeface="Times New Roman"/>
              </a:rPr>
              <a:t>more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attributes.</a:t>
            </a:r>
            <a:endParaRPr sz="2400" dirty="0">
              <a:cs typeface="Times New Roman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FADE369-1CD5-2D0C-EE0F-CFEB0DE850AF}"/>
              </a:ext>
            </a:extLst>
          </p:cNvPr>
          <p:cNvSpPr txBox="1"/>
          <p:nvPr/>
        </p:nvSpPr>
        <p:spPr>
          <a:xfrm>
            <a:off x="535940" y="2910585"/>
            <a:ext cx="2243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5905" algn="l"/>
                <a:tab pos="192532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Syntax: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30037"/>
                </a:solidFill>
                <a:latin typeface="Arial"/>
                <a:cs typeface="Arial"/>
              </a:rPr>
              <a:t>(R</a:t>
            </a:r>
            <a:r>
              <a:rPr sz="2400" b="1" dirty="0">
                <a:solidFill>
                  <a:srgbClr val="C30037"/>
                </a:solidFill>
                <a:latin typeface="Arial"/>
                <a:cs typeface="Arial"/>
              </a:rPr>
              <a:t>	</a:t>
            </a:r>
            <a:r>
              <a:rPr sz="2400" spc="-50" dirty="0">
                <a:solidFill>
                  <a:srgbClr val="C30037"/>
                </a:solidFill>
                <a:latin typeface="Cambria Math"/>
                <a:cs typeface="Cambria Math"/>
              </a:rPr>
              <a:t>⋈</a:t>
            </a:r>
            <a:r>
              <a:rPr sz="2400" dirty="0">
                <a:solidFill>
                  <a:srgbClr val="C30037"/>
                </a:solidFill>
                <a:latin typeface="Cambria Math"/>
                <a:cs typeface="Cambria Math"/>
              </a:rPr>
              <a:t>	</a:t>
            </a:r>
            <a:r>
              <a:rPr sz="2400" b="1" spc="-25" dirty="0">
                <a:solidFill>
                  <a:srgbClr val="C30037"/>
                </a:solidFill>
                <a:latin typeface="Arial"/>
                <a:cs typeface="Arial"/>
              </a:rPr>
              <a:t>S)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A6637267-C67F-3535-08B2-E679D108FA86}"/>
              </a:ext>
            </a:extLst>
          </p:cNvPr>
          <p:cNvGraphicFramePr>
            <a:graphicFrameLocks noGrp="1"/>
          </p:cNvGraphicFramePr>
          <p:nvPr/>
        </p:nvGraphicFramePr>
        <p:xfrm>
          <a:off x="5675883" y="2951861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3">
            <a:extLst>
              <a:ext uri="{FF2B5EF4-FFF2-40B4-BE49-F238E27FC236}">
                <a16:creationId xmlns:a16="http://schemas.microsoft.com/office/drawing/2014/main" id="{BCB4D3B5-8922-340E-FEB6-157A79117BE6}"/>
              </a:ext>
            </a:extLst>
          </p:cNvPr>
          <p:cNvSpPr txBox="1"/>
          <p:nvPr/>
        </p:nvSpPr>
        <p:spPr>
          <a:xfrm>
            <a:off x="5568695" y="2655315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30037"/>
                </a:solidFill>
                <a:latin typeface="Arial"/>
                <a:cs typeface="Arial"/>
              </a:rPr>
              <a:t>R(a_id,b_id)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CF2754B2-EBF5-1E26-AB94-5D0F2DB53787}"/>
              </a:ext>
            </a:extLst>
          </p:cNvPr>
          <p:cNvSpPr txBox="1"/>
          <p:nvPr/>
        </p:nvSpPr>
        <p:spPr>
          <a:xfrm>
            <a:off x="7113650" y="2655315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C30037"/>
                </a:solidFill>
                <a:latin typeface="Arial"/>
                <a:cs typeface="Arial"/>
              </a:rPr>
              <a:t>S(a_id,b_id,val)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D8DE4E41-6828-37E4-3999-368CF540D647}"/>
              </a:ext>
            </a:extLst>
          </p:cNvPr>
          <p:cNvGraphicFramePr>
            <a:graphicFrameLocks noGrp="1"/>
          </p:cNvGraphicFramePr>
          <p:nvPr/>
        </p:nvGraphicFramePr>
        <p:xfrm>
          <a:off x="7361427" y="2951861"/>
          <a:ext cx="1344927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YYY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ZZZ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2">
            <a:extLst>
              <a:ext uri="{FF2B5EF4-FFF2-40B4-BE49-F238E27FC236}">
                <a16:creationId xmlns:a16="http://schemas.microsoft.com/office/drawing/2014/main" id="{393E0DF7-F257-9F23-C44C-154E98AC7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 : JOIN</a:t>
            </a:r>
            <a:endParaRPr b="1" spc="-95"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9F9E01F4-2181-A939-606A-3CFB3EB0FC49}"/>
              </a:ext>
            </a:extLst>
          </p:cNvPr>
          <p:cNvSpPr/>
          <p:nvPr/>
        </p:nvSpPr>
        <p:spPr>
          <a:xfrm>
            <a:off x="5846495" y="4476545"/>
            <a:ext cx="399415" cy="457200"/>
          </a:xfrm>
          <a:custGeom>
            <a:avLst/>
            <a:gdLst/>
            <a:ahLst/>
            <a:cxnLst/>
            <a:rect l="l" t="t" r="r" b="b"/>
            <a:pathLst>
              <a:path w="399414" h="457200">
                <a:moveTo>
                  <a:pt x="199516" y="0"/>
                </a:moveTo>
                <a:lnTo>
                  <a:pt x="0" y="228600"/>
                </a:lnTo>
                <a:lnTo>
                  <a:pt x="199516" y="457200"/>
                </a:lnTo>
                <a:lnTo>
                  <a:pt x="199516" y="342900"/>
                </a:lnTo>
                <a:lnTo>
                  <a:pt x="398907" y="342900"/>
                </a:lnTo>
                <a:lnTo>
                  <a:pt x="398907" y="114300"/>
                </a:lnTo>
                <a:lnTo>
                  <a:pt x="199516" y="114300"/>
                </a:lnTo>
                <a:lnTo>
                  <a:pt x="19951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E3E7A51-D037-2609-C23C-8E341700E7E1}"/>
              </a:ext>
            </a:extLst>
          </p:cNvPr>
          <p:cNvSpPr txBox="1"/>
          <p:nvPr/>
        </p:nvSpPr>
        <p:spPr>
          <a:xfrm>
            <a:off x="6560298" y="4178985"/>
            <a:ext cx="897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30037"/>
                </a:solidFill>
                <a:latin typeface="Arial"/>
                <a:cs typeface="Arial"/>
              </a:rPr>
              <a:t>(R</a:t>
            </a:r>
            <a:r>
              <a:rPr sz="1800" b="1" spc="340" dirty="0">
                <a:solidFill>
                  <a:srgbClr val="C300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C30037"/>
                </a:solidFill>
                <a:latin typeface="Cambria Math"/>
                <a:cs typeface="Cambria Math"/>
              </a:rPr>
              <a:t>⋈</a:t>
            </a:r>
            <a:r>
              <a:rPr sz="1800" spc="420" dirty="0">
                <a:solidFill>
                  <a:srgbClr val="C30037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C30037"/>
                </a:solidFill>
                <a:latin typeface="Arial"/>
                <a:cs typeface="Arial"/>
              </a:rPr>
              <a:t>S)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C688BF28-525B-0FF7-8EC4-A1BD60FA7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60435"/>
              </p:ext>
            </p:extLst>
          </p:nvPr>
        </p:nvGraphicFramePr>
        <p:xfrm>
          <a:off x="6330937" y="4476545"/>
          <a:ext cx="1344927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7">
            <a:extLst>
              <a:ext uri="{FF2B5EF4-FFF2-40B4-BE49-F238E27FC236}">
                <a16:creationId xmlns:a16="http://schemas.microsoft.com/office/drawing/2014/main" id="{CE5BBBEF-9834-3BEF-1383-30506DDE5DFB}"/>
              </a:ext>
            </a:extLst>
          </p:cNvPr>
          <p:cNvGrpSpPr/>
          <p:nvPr/>
        </p:nvGrpSpPr>
        <p:grpSpPr>
          <a:xfrm>
            <a:off x="3997438" y="4476088"/>
            <a:ext cx="1214755" cy="513080"/>
            <a:chOff x="4189221" y="2774619"/>
            <a:chExt cx="1214755" cy="513080"/>
          </a:xfrm>
        </p:grpSpPr>
        <p:sp>
          <p:nvSpPr>
            <p:cNvPr id="17" name="object 8">
              <a:extLst>
                <a:ext uri="{FF2B5EF4-FFF2-40B4-BE49-F238E27FC236}">
                  <a16:creationId xmlns:a16="http://schemas.microsoft.com/office/drawing/2014/main" id="{C0E1BF9C-2698-9980-CE9C-D46FF11B13FD}"/>
                </a:ext>
              </a:extLst>
            </p:cNvPr>
            <p:cNvSpPr/>
            <p:nvPr/>
          </p:nvSpPr>
          <p:spPr>
            <a:xfrm>
              <a:off x="4189222" y="2774619"/>
              <a:ext cx="1214755" cy="256540"/>
            </a:xfrm>
            <a:custGeom>
              <a:avLst/>
              <a:gdLst/>
              <a:ahLst/>
              <a:cxnLst/>
              <a:rect l="l" t="t" r="r" b="b"/>
              <a:pathLst>
                <a:path w="1214754" h="256539">
                  <a:moveTo>
                    <a:pt x="1214628" y="0"/>
                  </a:moveTo>
                  <a:lnTo>
                    <a:pt x="607314" y="0"/>
                  </a:lnTo>
                  <a:lnTo>
                    <a:pt x="0" y="0"/>
                  </a:lnTo>
                  <a:lnTo>
                    <a:pt x="0" y="256489"/>
                  </a:lnTo>
                  <a:lnTo>
                    <a:pt x="607314" y="256489"/>
                  </a:lnTo>
                  <a:lnTo>
                    <a:pt x="1214628" y="256489"/>
                  </a:lnTo>
                  <a:lnTo>
                    <a:pt x="1214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9">
              <a:extLst>
                <a:ext uri="{FF2B5EF4-FFF2-40B4-BE49-F238E27FC236}">
                  <a16:creationId xmlns:a16="http://schemas.microsoft.com/office/drawing/2014/main" id="{6DA4CE56-366A-7CD2-0250-936B656AC1F7}"/>
                </a:ext>
              </a:extLst>
            </p:cNvPr>
            <p:cNvSpPr/>
            <p:nvPr/>
          </p:nvSpPr>
          <p:spPr>
            <a:xfrm>
              <a:off x="4189222" y="3031159"/>
              <a:ext cx="1214755" cy="256540"/>
            </a:xfrm>
            <a:custGeom>
              <a:avLst/>
              <a:gdLst/>
              <a:ahLst/>
              <a:cxnLst/>
              <a:rect l="l" t="t" r="r" b="b"/>
              <a:pathLst>
                <a:path w="1214754" h="256539">
                  <a:moveTo>
                    <a:pt x="1214628" y="0"/>
                  </a:moveTo>
                  <a:lnTo>
                    <a:pt x="607314" y="0"/>
                  </a:lnTo>
                  <a:lnTo>
                    <a:pt x="0" y="0"/>
                  </a:lnTo>
                  <a:lnTo>
                    <a:pt x="0" y="256489"/>
                  </a:lnTo>
                  <a:lnTo>
                    <a:pt x="607314" y="256489"/>
                  </a:lnTo>
                  <a:lnTo>
                    <a:pt x="1214628" y="256489"/>
                  </a:lnTo>
                  <a:lnTo>
                    <a:pt x="1214628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B585A653-B956-296A-2FBF-4C1D420E4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828655"/>
              </p:ext>
            </p:extLst>
          </p:nvPr>
        </p:nvGraphicFramePr>
        <p:xfrm>
          <a:off x="2776461" y="4469814"/>
          <a:ext cx="3035299" cy="512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7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R.b_id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S.val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11">
            <a:extLst>
              <a:ext uri="{FF2B5EF4-FFF2-40B4-BE49-F238E27FC236}">
                <a16:creationId xmlns:a16="http://schemas.microsoft.com/office/drawing/2014/main" id="{A61B5D64-37AE-73E4-D2FD-6F84F8D8CCAC}"/>
              </a:ext>
            </a:extLst>
          </p:cNvPr>
          <p:cNvSpPr/>
          <p:nvPr/>
        </p:nvSpPr>
        <p:spPr>
          <a:xfrm>
            <a:off x="4021567" y="4490263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440902" y="0"/>
                </a:moveTo>
                <a:lnTo>
                  <a:pt x="419264" y="4207"/>
                </a:lnTo>
                <a:lnTo>
                  <a:pt x="400234" y="16830"/>
                </a:lnTo>
                <a:lnTo>
                  <a:pt x="249206" y="167888"/>
                </a:lnTo>
                <a:lnTo>
                  <a:pt x="98160" y="16830"/>
                </a:lnTo>
                <a:lnTo>
                  <a:pt x="79135" y="4207"/>
                </a:lnTo>
                <a:lnTo>
                  <a:pt x="57500" y="0"/>
                </a:lnTo>
                <a:lnTo>
                  <a:pt x="35867" y="4207"/>
                </a:lnTo>
                <a:lnTo>
                  <a:pt x="16847" y="16830"/>
                </a:lnTo>
                <a:lnTo>
                  <a:pt x="4211" y="35864"/>
                </a:lnTo>
                <a:lnTo>
                  <a:pt x="0" y="57509"/>
                </a:lnTo>
                <a:lnTo>
                  <a:pt x="4211" y="79151"/>
                </a:lnTo>
                <a:lnTo>
                  <a:pt x="16847" y="98178"/>
                </a:lnTo>
                <a:lnTo>
                  <a:pt x="167868" y="249224"/>
                </a:lnTo>
                <a:lnTo>
                  <a:pt x="16855" y="400271"/>
                </a:lnTo>
                <a:lnTo>
                  <a:pt x="4220" y="419308"/>
                </a:lnTo>
                <a:lnTo>
                  <a:pt x="8" y="440954"/>
                </a:lnTo>
                <a:lnTo>
                  <a:pt x="4220" y="462597"/>
                </a:lnTo>
                <a:lnTo>
                  <a:pt x="35876" y="494258"/>
                </a:lnTo>
                <a:lnTo>
                  <a:pt x="57510" y="498466"/>
                </a:lnTo>
                <a:lnTo>
                  <a:pt x="68495" y="497413"/>
                </a:lnTo>
                <a:lnTo>
                  <a:pt x="79152" y="494255"/>
                </a:lnTo>
                <a:lnTo>
                  <a:pt x="89152" y="488991"/>
                </a:lnTo>
                <a:lnTo>
                  <a:pt x="98169" y="481625"/>
                </a:lnTo>
                <a:lnTo>
                  <a:pt x="249206" y="330572"/>
                </a:lnTo>
                <a:lnTo>
                  <a:pt x="400258" y="481626"/>
                </a:lnTo>
                <a:lnTo>
                  <a:pt x="409269" y="488996"/>
                </a:lnTo>
                <a:lnTo>
                  <a:pt x="419270" y="494259"/>
                </a:lnTo>
                <a:lnTo>
                  <a:pt x="429931" y="497416"/>
                </a:lnTo>
                <a:lnTo>
                  <a:pt x="440922" y="498467"/>
                </a:lnTo>
                <a:lnTo>
                  <a:pt x="451897" y="497414"/>
                </a:lnTo>
                <a:lnTo>
                  <a:pt x="494196" y="462593"/>
                </a:lnTo>
                <a:lnTo>
                  <a:pt x="498408" y="440949"/>
                </a:lnTo>
                <a:lnTo>
                  <a:pt x="494196" y="419304"/>
                </a:lnTo>
                <a:lnTo>
                  <a:pt x="481561" y="400272"/>
                </a:lnTo>
                <a:lnTo>
                  <a:pt x="330545" y="249236"/>
                </a:lnTo>
                <a:lnTo>
                  <a:pt x="481561" y="98178"/>
                </a:lnTo>
                <a:lnTo>
                  <a:pt x="494196" y="79151"/>
                </a:lnTo>
                <a:lnTo>
                  <a:pt x="498408" y="57509"/>
                </a:lnTo>
                <a:lnTo>
                  <a:pt x="494196" y="35864"/>
                </a:lnTo>
                <a:lnTo>
                  <a:pt x="481561" y="16830"/>
                </a:lnTo>
                <a:lnTo>
                  <a:pt x="462538" y="4207"/>
                </a:lnTo>
                <a:lnTo>
                  <a:pt x="4409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E98EB08D-390D-3934-D9B9-0A95502043F3}"/>
              </a:ext>
            </a:extLst>
          </p:cNvPr>
          <p:cNvSpPr/>
          <p:nvPr/>
        </p:nvSpPr>
        <p:spPr>
          <a:xfrm>
            <a:off x="4644376" y="4490263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440902" y="0"/>
                </a:moveTo>
                <a:lnTo>
                  <a:pt x="419264" y="4207"/>
                </a:lnTo>
                <a:lnTo>
                  <a:pt x="400234" y="16830"/>
                </a:lnTo>
                <a:lnTo>
                  <a:pt x="249206" y="167888"/>
                </a:lnTo>
                <a:lnTo>
                  <a:pt x="98160" y="16830"/>
                </a:lnTo>
                <a:lnTo>
                  <a:pt x="79135" y="4207"/>
                </a:lnTo>
                <a:lnTo>
                  <a:pt x="57500" y="0"/>
                </a:lnTo>
                <a:lnTo>
                  <a:pt x="35867" y="4207"/>
                </a:lnTo>
                <a:lnTo>
                  <a:pt x="16847" y="16830"/>
                </a:lnTo>
                <a:lnTo>
                  <a:pt x="4211" y="35864"/>
                </a:lnTo>
                <a:lnTo>
                  <a:pt x="0" y="57509"/>
                </a:lnTo>
                <a:lnTo>
                  <a:pt x="4211" y="79151"/>
                </a:lnTo>
                <a:lnTo>
                  <a:pt x="16847" y="98178"/>
                </a:lnTo>
                <a:lnTo>
                  <a:pt x="167868" y="249224"/>
                </a:lnTo>
                <a:lnTo>
                  <a:pt x="16855" y="400271"/>
                </a:lnTo>
                <a:lnTo>
                  <a:pt x="4220" y="419308"/>
                </a:lnTo>
                <a:lnTo>
                  <a:pt x="8" y="440954"/>
                </a:lnTo>
                <a:lnTo>
                  <a:pt x="4220" y="462597"/>
                </a:lnTo>
                <a:lnTo>
                  <a:pt x="35876" y="494258"/>
                </a:lnTo>
                <a:lnTo>
                  <a:pt x="57510" y="498466"/>
                </a:lnTo>
                <a:lnTo>
                  <a:pt x="68495" y="497413"/>
                </a:lnTo>
                <a:lnTo>
                  <a:pt x="79152" y="494255"/>
                </a:lnTo>
                <a:lnTo>
                  <a:pt x="89152" y="488991"/>
                </a:lnTo>
                <a:lnTo>
                  <a:pt x="98169" y="481625"/>
                </a:lnTo>
                <a:lnTo>
                  <a:pt x="249206" y="330572"/>
                </a:lnTo>
                <a:lnTo>
                  <a:pt x="400258" y="481626"/>
                </a:lnTo>
                <a:lnTo>
                  <a:pt x="409269" y="488996"/>
                </a:lnTo>
                <a:lnTo>
                  <a:pt x="419270" y="494259"/>
                </a:lnTo>
                <a:lnTo>
                  <a:pt x="429931" y="497416"/>
                </a:lnTo>
                <a:lnTo>
                  <a:pt x="440922" y="498467"/>
                </a:lnTo>
                <a:lnTo>
                  <a:pt x="451897" y="497414"/>
                </a:lnTo>
                <a:lnTo>
                  <a:pt x="494196" y="462593"/>
                </a:lnTo>
                <a:lnTo>
                  <a:pt x="498408" y="440949"/>
                </a:lnTo>
                <a:lnTo>
                  <a:pt x="494196" y="419304"/>
                </a:lnTo>
                <a:lnTo>
                  <a:pt x="481561" y="400272"/>
                </a:lnTo>
                <a:lnTo>
                  <a:pt x="330545" y="249236"/>
                </a:lnTo>
                <a:lnTo>
                  <a:pt x="481561" y="98178"/>
                </a:lnTo>
                <a:lnTo>
                  <a:pt x="494196" y="79151"/>
                </a:lnTo>
                <a:lnTo>
                  <a:pt x="498408" y="57509"/>
                </a:lnTo>
                <a:lnTo>
                  <a:pt x="494196" y="35864"/>
                </a:lnTo>
                <a:lnTo>
                  <a:pt x="481561" y="16830"/>
                </a:lnTo>
                <a:lnTo>
                  <a:pt x="462538" y="4207"/>
                </a:lnTo>
                <a:lnTo>
                  <a:pt x="4409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1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E7EF5-A017-F4A2-8340-5CAC7D60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2EBF1ED-7249-6596-4EE9-27386F36BF80}"/>
              </a:ext>
            </a:extLst>
          </p:cNvPr>
          <p:cNvSpPr txBox="1"/>
          <p:nvPr/>
        </p:nvSpPr>
        <p:spPr>
          <a:xfrm>
            <a:off x="356045" y="1082157"/>
            <a:ext cx="8431910" cy="104656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spc="-10" dirty="0">
                <a:cs typeface="Times New Roman"/>
              </a:rPr>
              <a:t>Generate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</a:t>
            </a:r>
            <a:r>
              <a:rPr sz="2400" spc="-7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6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contains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all </a:t>
            </a:r>
            <a:r>
              <a:rPr sz="2400" spc="-20" dirty="0">
                <a:cs typeface="Times New Roman"/>
              </a:rPr>
              <a:t>tuples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10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  <a:r>
              <a:rPr sz="2400" spc="-1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00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combination</a:t>
            </a:r>
            <a:r>
              <a:rPr sz="2400" spc="-9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of</a:t>
            </a:r>
            <a:r>
              <a:rPr sz="2400" spc="-105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two tuples</a:t>
            </a:r>
            <a:r>
              <a:rPr sz="2400" spc="-7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(one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from</a:t>
            </a:r>
            <a:r>
              <a:rPr sz="2400" spc="-60" dirty="0">
                <a:cs typeface="Times New Roman"/>
              </a:rPr>
              <a:t> </a:t>
            </a:r>
            <a:r>
              <a:rPr sz="2400" spc="-55" dirty="0">
                <a:cs typeface="Times New Roman"/>
              </a:rPr>
              <a:t>each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relation) </a:t>
            </a:r>
            <a:r>
              <a:rPr sz="2400" dirty="0">
                <a:cs typeface="Times New Roman"/>
              </a:rPr>
              <a:t>with</a:t>
            </a:r>
            <a:r>
              <a:rPr sz="2400" spc="-9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common</a:t>
            </a:r>
            <a:r>
              <a:rPr sz="2400" spc="-60" dirty="0">
                <a:cs typeface="Times New Roman"/>
              </a:rPr>
              <a:t> </a:t>
            </a:r>
            <a:r>
              <a:rPr sz="2400" spc="-70" dirty="0">
                <a:cs typeface="Times New Roman"/>
              </a:rPr>
              <a:t>value(s)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for</a:t>
            </a:r>
            <a:r>
              <a:rPr sz="2400" spc="-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one</a:t>
            </a:r>
            <a:r>
              <a:rPr sz="2400" spc="-60" dirty="0">
                <a:cs typeface="Times New Roman"/>
              </a:rPr>
              <a:t> </a:t>
            </a:r>
            <a:r>
              <a:rPr sz="2400" spc="-25" dirty="0">
                <a:cs typeface="Times New Roman"/>
              </a:rPr>
              <a:t>or </a:t>
            </a:r>
            <a:r>
              <a:rPr sz="2400" dirty="0">
                <a:cs typeface="Times New Roman"/>
              </a:rPr>
              <a:t>more</a:t>
            </a:r>
            <a:r>
              <a:rPr sz="2400" spc="-65" dirty="0">
                <a:cs typeface="Times New Roman"/>
              </a:rPr>
              <a:t> </a:t>
            </a:r>
            <a:r>
              <a:rPr sz="2400" spc="-10" dirty="0">
                <a:cs typeface="Times New Roman"/>
              </a:rPr>
              <a:t>attributes.</a:t>
            </a:r>
            <a:endParaRPr sz="2400" dirty="0">
              <a:cs typeface="Times New Roman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728B1D4-42AA-A1D1-0292-2E67E21C8E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 : JOIN</a:t>
            </a:r>
            <a:endParaRPr b="1" spc="-95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745A817-E96C-3579-73EE-9B3A824C6F15}"/>
              </a:ext>
            </a:extLst>
          </p:cNvPr>
          <p:cNvSpPr txBox="1"/>
          <p:nvPr/>
        </p:nvSpPr>
        <p:spPr>
          <a:xfrm>
            <a:off x="2359628" y="2750937"/>
            <a:ext cx="897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(R</a:t>
            </a:r>
            <a:r>
              <a:rPr sz="1800" b="1" spc="340" dirty="0">
                <a:solidFill>
                  <a:srgbClr val="A12B5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12B50"/>
                </a:solidFill>
                <a:latin typeface="Cambria Math"/>
                <a:cs typeface="Cambria Math"/>
              </a:rPr>
              <a:t>⋈</a:t>
            </a:r>
            <a:r>
              <a:rPr sz="1800" spc="420" dirty="0">
                <a:solidFill>
                  <a:srgbClr val="A12B50"/>
                </a:solidFill>
                <a:latin typeface="Cambria Math"/>
                <a:cs typeface="Cambria Math"/>
              </a:rPr>
              <a:t> </a:t>
            </a:r>
            <a:r>
              <a:rPr sz="1800" b="1" spc="-25" dirty="0">
                <a:solidFill>
                  <a:srgbClr val="A12B50"/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70186598-F448-5980-BB11-3D319F833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754285"/>
              </p:ext>
            </p:extLst>
          </p:nvPr>
        </p:nvGraphicFramePr>
        <p:xfrm>
          <a:off x="2130267" y="3048497"/>
          <a:ext cx="1344927" cy="505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1620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0EDDF498-7CF2-FAEE-BBBF-8C25069F2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083752"/>
              </p:ext>
            </p:extLst>
          </p:nvPr>
        </p:nvGraphicFramePr>
        <p:xfrm>
          <a:off x="3882356" y="2696591"/>
          <a:ext cx="1097280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101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a2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102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4">
            <a:extLst>
              <a:ext uri="{FF2B5EF4-FFF2-40B4-BE49-F238E27FC236}">
                <a16:creationId xmlns:a16="http://schemas.microsoft.com/office/drawing/2014/main" id="{61692F5E-5F76-A96C-BFAC-94E7191391F8}"/>
              </a:ext>
            </a:extLst>
          </p:cNvPr>
          <p:cNvSpPr txBox="1"/>
          <p:nvPr/>
        </p:nvSpPr>
        <p:spPr>
          <a:xfrm>
            <a:off x="3775168" y="2400045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A12B50"/>
                </a:solidFill>
                <a:latin typeface="Arial"/>
                <a:cs typeface="Arial"/>
              </a:rPr>
              <a:t>R(a_id,b_id)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3FAD3C48-9F94-5F86-B22B-16EA44F4594F}"/>
              </a:ext>
            </a:extLst>
          </p:cNvPr>
          <p:cNvSpPr txBox="1"/>
          <p:nvPr/>
        </p:nvSpPr>
        <p:spPr>
          <a:xfrm>
            <a:off x="5320123" y="2400045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A12B50"/>
                </a:solidFill>
                <a:latin typeface="Arial"/>
                <a:cs typeface="Arial"/>
              </a:rPr>
              <a:t>S(a_id,b_id,val)</a:t>
            </a:r>
            <a:endParaRPr sz="1800" dirty="0">
              <a:solidFill>
                <a:srgbClr val="A12B50"/>
              </a:solidFill>
              <a:latin typeface="Arial"/>
              <a:cs typeface="Arial"/>
            </a:endParaRPr>
          </a:p>
        </p:txBody>
      </p:sp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9361DD6B-B27E-75CE-8CDC-CDBF38FD1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37521"/>
              </p:ext>
            </p:extLst>
          </p:nvPr>
        </p:nvGraphicFramePr>
        <p:xfrm>
          <a:off x="5567900" y="2696591"/>
          <a:ext cx="1344927" cy="1004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103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XXX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104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YYY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a5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105</a:t>
                      </a:r>
                      <a:endParaRPr sz="140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SimSun-ExtB"/>
                          <a:cs typeface="SimSun-ExtB"/>
                        </a:rPr>
                        <a:t>ZZZ</a:t>
                      </a:r>
                      <a:endParaRPr sz="1400" dirty="0">
                        <a:latin typeface="SimSun-ExtB"/>
                        <a:cs typeface="SimSun-ExtB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20">
            <a:extLst>
              <a:ext uri="{FF2B5EF4-FFF2-40B4-BE49-F238E27FC236}">
                <a16:creationId xmlns:a16="http://schemas.microsoft.com/office/drawing/2014/main" id="{E06014E0-CC57-6498-765D-1873547C0A5C}"/>
              </a:ext>
            </a:extLst>
          </p:cNvPr>
          <p:cNvSpPr txBox="1"/>
          <p:nvPr/>
        </p:nvSpPr>
        <p:spPr>
          <a:xfrm>
            <a:off x="1434942" y="4013196"/>
            <a:ext cx="6101905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NATURAL JOIN </a:t>
            </a:r>
            <a:r>
              <a:rPr sz="1800" dirty="0">
                <a:latin typeface="SimSun-ExtB"/>
                <a:cs typeface="SimSun-ExtB"/>
              </a:rPr>
              <a:t>S;</a:t>
            </a:r>
          </a:p>
          <a:p>
            <a:pPr marL="250825">
              <a:lnSpc>
                <a:spcPct val="100000"/>
              </a:lnSpc>
              <a:spcBef>
                <a:spcPts val="1739"/>
              </a:spcBef>
            </a:pP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JOIN</a:t>
            </a:r>
            <a:r>
              <a:rPr sz="1800" b="1" dirty="0">
                <a:solidFill>
                  <a:srgbClr val="C4122F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SimSun-ExtB"/>
                <a:cs typeface="SimSun-ExtB"/>
              </a:rPr>
              <a:t>S</a:t>
            </a:r>
            <a:r>
              <a:rPr sz="1800" dirty="0">
                <a:solidFill>
                  <a:srgbClr val="585858"/>
                </a:solidFill>
                <a:latin typeface="SimSun-ExtB"/>
                <a:cs typeface="SimSun-ExtB"/>
              </a:rPr>
              <a:t>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USING</a:t>
            </a:r>
            <a:r>
              <a:rPr sz="1800" b="1" dirty="0">
                <a:solidFill>
                  <a:srgbClr val="C4122F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SimSun-ExtB"/>
                <a:cs typeface="SimSun-ExtB"/>
              </a:rPr>
              <a:t>(a_id, b_id);</a:t>
            </a:r>
          </a:p>
          <a:p>
            <a:pPr marL="12700">
              <a:lnSpc>
                <a:spcPts val="2050"/>
              </a:lnSpc>
              <a:spcBef>
                <a:spcPts val="1739"/>
              </a:spcBef>
            </a:pPr>
            <a:r>
              <a:rPr sz="1800" b="1" dirty="0">
                <a:latin typeface="Arial"/>
                <a:cs typeface="Arial"/>
              </a:rPr>
              <a:t>SELECT * FROM </a:t>
            </a:r>
            <a:r>
              <a:rPr sz="1800" dirty="0">
                <a:latin typeface="SimSun-ExtB"/>
                <a:cs typeface="SimSun-ExtB"/>
              </a:rPr>
              <a:t>R </a:t>
            </a: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JOIN </a:t>
            </a:r>
            <a:r>
              <a:rPr sz="1800" dirty="0">
                <a:latin typeface="SimSun-ExtB"/>
                <a:cs typeface="SimSun-ExtB"/>
              </a:rPr>
              <a:t>S</a:t>
            </a:r>
          </a:p>
          <a:p>
            <a:pPr marL="469900">
              <a:lnSpc>
                <a:spcPts val="2050"/>
              </a:lnSpc>
            </a:pPr>
            <a:r>
              <a:rPr sz="1800" b="1" dirty="0">
                <a:solidFill>
                  <a:srgbClr val="A12B50"/>
                </a:solidFill>
                <a:latin typeface="Arial"/>
                <a:cs typeface="Arial"/>
              </a:rPr>
              <a:t>ON </a:t>
            </a:r>
            <a:r>
              <a:rPr sz="1800" dirty="0">
                <a:latin typeface="SimSun-ExtB"/>
                <a:cs typeface="SimSun-ExtB"/>
              </a:rPr>
              <a:t>R.a_id = S.a_id </a:t>
            </a:r>
            <a:r>
              <a:rPr sz="1800" b="1" dirty="0">
                <a:latin typeface="Arial"/>
                <a:cs typeface="Arial"/>
              </a:rPr>
              <a:t>AND </a:t>
            </a:r>
            <a:r>
              <a:rPr sz="1800" dirty="0">
                <a:latin typeface="SimSun-ExtB"/>
                <a:cs typeface="SimSun-ExtB"/>
              </a:rPr>
              <a:t>R.b_id = S.b_id;</a:t>
            </a:r>
          </a:p>
        </p:txBody>
      </p:sp>
    </p:spTree>
    <p:extLst>
      <p:ext uri="{BB962C8B-B14F-4D97-AF65-F5344CB8AC3E}">
        <p14:creationId xmlns:p14="http://schemas.microsoft.com/office/powerpoint/2010/main" val="177560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E1477-AC77-F4EE-4813-A67D0140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800907F-D899-F460-F8D8-852DA1D00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III</a:t>
            </a:r>
            <a:endParaRPr b="1" spc="-9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E1C82-441C-5F97-674D-AC1BB9205FF8}"/>
              </a:ext>
            </a:extLst>
          </p:cNvPr>
          <p:cNvSpPr txBox="1"/>
          <p:nvPr/>
        </p:nvSpPr>
        <p:spPr>
          <a:xfrm>
            <a:off x="270388" y="995524"/>
            <a:ext cx="4591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latin typeface="Roboto" panose="02000000000000000000" pitchFamily="2" charset="0"/>
              </a:rPr>
              <a:t>AGGREGATION: </a:t>
            </a:r>
            <a:r>
              <a:rPr lang="en-MY" sz="2400" b="1" dirty="0">
                <a:solidFill>
                  <a:srgbClr val="A12B50"/>
                </a:solidFill>
                <a:latin typeface="Symbol" panose="05050102010706020507" pitchFamily="18" charset="2"/>
              </a:rPr>
              <a:t></a:t>
            </a:r>
            <a:r>
              <a:rPr lang="en-MY" sz="2400" b="1" dirty="0">
                <a:solidFill>
                  <a:srgbClr val="A12B50"/>
                </a:solidFill>
                <a:latin typeface="Roboto" panose="02000000000000000000" pitchFamily="2" charset="0"/>
              </a:rPr>
              <a:t>AL(R)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A14188-07F7-FEE8-EF37-8F18CA057485}"/>
              </a:ext>
            </a:extLst>
          </p:cNvPr>
          <p:cNvSpPr txBox="1"/>
          <p:nvPr/>
        </p:nvSpPr>
        <p:spPr>
          <a:xfrm>
            <a:off x="270388" y="1641876"/>
            <a:ext cx="8873612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</a:rPr>
              <a:t>Identify the attributes in AL that are not aggregate functions:</a:t>
            </a:r>
            <a:r>
              <a:rPr lang="en-US" b="0" i="0" dirty="0">
                <a:solidFill>
                  <a:srgbClr val="001D35"/>
                </a:solidFill>
                <a:effectLst/>
              </a:rPr>
              <a:t> These attributes will form the basis for grouping the data. They will be included in the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0" i="0" dirty="0">
                <a:solidFill>
                  <a:srgbClr val="001D35"/>
                </a:solidFill>
                <a:effectLst/>
              </a:rPr>
              <a:t> clause and the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GROUP BY </a:t>
            </a:r>
            <a:r>
              <a:rPr lang="en-US" b="0" i="0" dirty="0">
                <a:solidFill>
                  <a:srgbClr val="001D35"/>
                </a:solidFill>
                <a:effectLst/>
              </a:rPr>
              <a:t>clause.</a:t>
            </a:r>
          </a:p>
          <a:p>
            <a:pPr marL="285750" indent="-285750"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</a:rPr>
              <a:t>Identify the aggregate functions in AL:</a:t>
            </a:r>
            <a:r>
              <a:rPr lang="en-US" b="0" i="0" dirty="0">
                <a:solidFill>
                  <a:srgbClr val="001D35"/>
                </a:solidFill>
                <a:effectLst/>
              </a:rPr>
              <a:t> These will be applied to specific columns to produce a single summary value for each group. Common aggregate functions include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COUNT(), SUM(), AVG(), MIN(), </a:t>
            </a:r>
            <a:r>
              <a:rPr lang="en-US" b="0" i="0" dirty="0">
                <a:solidFill>
                  <a:srgbClr val="001D35"/>
                </a:solidFill>
                <a:effectLst/>
                <a:cs typeface="Courier New" panose="02070309020205020404" pitchFamily="49" charset="0"/>
              </a:rPr>
              <a:t>and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MAX().</a:t>
            </a:r>
          </a:p>
          <a:p>
            <a:pPr algn="l">
              <a:spcBef>
                <a:spcPts val="750"/>
              </a:spcBef>
              <a:spcAft>
                <a:spcPts val="600"/>
              </a:spcAft>
            </a:pPr>
            <a:r>
              <a:rPr lang="en-US" dirty="0">
                <a:solidFill>
                  <a:srgbClr val="001D35"/>
                </a:solidFill>
              </a:rPr>
              <a:t>Example: </a:t>
            </a:r>
          </a:p>
          <a:p>
            <a:pPr algn="l">
              <a:spcBef>
                <a:spcPts val="750"/>
              </a:spcBef>
              <a:spcAft>
                <a:spcPts val="600"/>
              </a:spcAft>
            </a:pPr>
            <a:endParaRPr lang="en-US" dirty="0">
              <a:solidFill>
                <a:srgbClr val="001D35"/>
              </a:solidFill>
            </a:endParaRPr>
          </a:p>
          <a:p>
            <a:pPr algn="l">
              <a:spcBef>
                <a:spcPts val="750"/>
              </a:spcBef>
              <a:spcAft>
                <a:spcPts val="600"/>
              </a:spcAft>
            </a:pPr>
            <a:endParaRPr lang="en-US" dirty="0">
              <a:solidFill>
                <a:srgbClr val="001D35"/>
              </a:solidFill>
            </a:endParaRPr>
          </a:p>
          <a:p>
            <a:pPr algn="l">
              <a:spcBef>
                <a:spcPts val="750"/>
              </a:spcBef>
              <a:spcAft>
                <a:spcPts val="600"/>
              </a:spcAft>
            </a:pPr>
            <a:endParaRPr lang="en-US" dirty="0">
              <a:solidFill>
                <a:srgbClr val="001D35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E8F8C-479C-C8CE-B2B6-4BE473CE58AB}"/>
              </a:ext>
            </a:extLst>
          </p:cNvPr>
          <p:cNvSpPr txBox="1"/>
          <p:nvPr/>
        </p:nvSpPr>
        <p:spPr>
          <a:xfrm>
            <a:off x="457199" y="5216124"/>
            <a:ext cx="4591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A12B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dirty="0">
                <a:cs typeface="Courier New" panose="02070309020205020404" pitchFamily="49" charset="0"/>
              </a:rPr>
              <a:t>Department, AVG(Salary)</a:t>
            </a:r>
            <a:r>
              <a:rPr lang="en-MY" b="1" dirty="0">
                <a:solidFill>
                  <a:srgbClr val="A12B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MY" dirty="0">
                <a:cs typeface="Courier New" panose="02070309020205020404" pitchFamily="49" charset="0"/>
              </a:rPr>
              <a:t>Employees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MY" b="1" dirty="0">
                <a:solidFill>
                  <a:srgbClr val="A12B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MY" dirty="0">
                <a:cs typeface="Courier New" panose="02070309020205020404" pitchFamily="49" charset="0"/>
              </a:rPr>
              <a:t>Department;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42506B-8C6F-EF22-9EF1-3C5BF9D2424E}"/>
              </a:ext>
            </a:extLst>
          </p:cNvPr>
          <p:cNvSpPr txBox="1"/>
          <p:nvPr/>
        </p:nvSpPr>
        <p:spPr>
          <a:xfrm>
            <a:off x="4707194" y="5248041"/>
            <a:ext cx="4591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dirty="0">
                <a:effectLst/>
                <a:latin typeface="Roboto" panose="02000000000000000000" pitchFamily="2" charset="0"/>
              </a:rPr>
              <a:t>GROUPING : </a:t>
            </a:r>
            <a:r>
              <a:rPr lang="en-MY" sz="2400" b="1" dirty="0">
                <a:solidFill>
                  <a:srgbClr val="A12B50"/>
                </a:solidFill>
                <a:effectLst/>
                <a:latin typeface="Roboto" panose="02000000000000000000" pitchFamily="2" charset="0"/>
              </a:rPr>
              <a:t>GA</a:t>
            </a:r>
            <a:r>
              <a:rPr lang="en-MY" sz="2400" b="1" dirty="0">
                <a:solidFill>
                  <a:srgbClr val="A12B50"/>
                </a:solidFill>
                <a:effectLst/>
                <a:latin typeface="Symbol" panose="05050102010706020507" pitchFamily="18" charset="2"/>
              </a:rPr>
              <a:t></a:t>
            </a:r>
            <a:r>
              <a:rPr lang="en-MY" sz="2400" b="1" dirty="0">
                <a:solidFill>
                  <a:srgbClr val="A12B50"/>
                </a:solidFill>
                <a:effectLst/>
                <a:latin typeface="Roboto" panose="02000000000000000000" pitchFamily="2" charset="0"/>
              </a:rPr>
              <a:t>AL(R)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2DA60-9F02-7B96-725A-F8751FCDD6CD}"/>
              </a:ext>
            </a:extLst>
          </p:cNvPr>
          <p:cNvSpPr txBox="1"/>
          <p:nvPr/>
        </p:nvSpPr>
        <p:spPr>
          <a:xfrm>
            <a:off x="457199" y="4293883"/>
            <a:ext cx="46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>
                <a:solidFill>
                  <a:srgbClr val="A12B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MIN</a:t>
            </a:r>
            <a:r>
              <a:rPr lang="en-MY" dirty="0"/>
              <a:t>(</a:t>
            </a:r>
            <a:r>
              <a:rPr lang="en-MY" dirty="0" err="1"/>
              <a:t>HireDate</a:t>
            </a:r>
            <a:r>
              <a:rPr lang="en-MY" dirty="0"/>
              <a:t>) </a:t>
            </a:r>
            <a:r>
              <a:rPr lang="en-MY" b="1" dirty="0">
                <a:solidFill>
                  <a:srgbClr val="A12B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MY" dirty="0"/>
              <a:t> Employees;</a:t>
            </a:r>
          </a:p>
        </p:txBody>
      </p:sp>
    </p:spTree>
    <p:extLst>
      <p:ext uri="{BB962C8B-B14F-4D97-AF65-F5344CB8AC3E}">
        <p14:creationId xmlns:p14="http://schemas.microsoft.com/office/powerpoint/2010/main" val="2737143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E3ABE-A9FC-E29C-6769-85F2FEBE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E471E-D3F7-B4E8-64E9-22ADEC38EF9F}"/>
              </a:ext>
            </a:extLst>
          </p:cNvPr>
          <p:cNvSpPr txBox="1"/>
          <p:nvPr/>
        </p:nvSpPr>
        <p:spPr>
          <a:xfrm>
            <a:off x="172064" y="810838"/>
            <a:ext cx="4591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400" b="1" spc="-10" dirty="0">
                <a:latin typeface="Arial"/>
                <a:cs typeface="Arial"/>
              </a:rPr>
              <a:t>DIVISION : </a:t>
            </a:r>
            <a:r>
              <a:rPr lang="en-MY" sz="2400" b="1" spc="-10" dirty="0">
                <a:solidFill>
                  <a:srgbClr val="A12B50"/>
                </a:solidFill>
                <a:latin typeface="Arial"/>
                <a:cs typeface="Arial"/>
              </a:rPr>
              <a:t>R÷S </a:t>
            </a:r>
            <a:endParaRPr lang="en-MY" sz="2400" b="1" dirty="0">
              <a:solidFill>
                <a:srgbClr val="A12B50"/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45E3AC2-E52F-0D0D-5361-DBD7057A8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255" y="335708"/>
            <a:ext cx="7136377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b="1" spc="-10" dirty="0"/>
              <a:t>RELATIONAL</a:t>
            </a:r>
            <a:r>
              <a:rPr lang="en-US" b="1" spc="-10" dirty="0"/>
              <a:t> </a:t>
            </a:r>
            <a:r>
              <a:rPr b="1" spc="-95" dirty="0"/>
              <a:t>ALGEBRA</a:t>
            </a:r>
            <a:r>
              <a:rPr lang="en-US" b="1" spc="-95" dirty="0"/>
              <a:t> III</a:t>
            </a:r>
            <a:endParaRPr b="1" spc="-9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AFD30-2F26-2E9F-23CB-3A1217EE1074}"/>
              </a:ext>
            </a:extLst>
          </p:cNvPr>
          <p:cNvSpPr txBox="1"/>
          <p:nvPr/>
        </p:nvSpPr>
        <p:spPr>
          <a:xfrm>
            <a:off x="172065" y="1285968"/>
            <a:ext cx="8799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</a:rPr>
              <a:t>Relational division (R ÷ S) in relational algebra, which identifies tuples in R that are associated with all tuples in S, does not have a direct, single operator equivalent in SQL. 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3B97A-09AD-E7F7-8D9E-738F7343E749}"/>
              </a:ext>
            </a:extLst>
          </p:cNvPr>
          <p:cNvSpPr txBox="1"/>
          <p:nvPr/>
        </p:nvSpPr>
        <p:spPr>
          <a:xfrm>
            <a:off x="172065" y="2023487"/>
            <a:ext cx="8343285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SQL does not have a direct division operator, but it can be implemented using combinations of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NOT EXISTS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,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EXCEPT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(or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MINUS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),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COUNT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, and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GROUP BY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Here's an example using the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NOT EXISTS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and </a:t>
            </a:r>
            <a:r>
              <a:rPr lang="en-US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EXCEPT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 approach, which is a common way to simulate relational division.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97EC5-83B2-D5CC-B6EF-F8E08CCC8F7A}"/>
              </a:ext>
            </a:extLst>
          </p:cNvPr>
          <p:cNvSpPr txBox="1"/>
          <p:nvPr/>
        </p:nvSpPr>
        <p:spPr>
          <a:xfrm>
            <a:off x="172064" y="3438175"/>
            <a:ext cx="7329949" cy="2909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DISTINCT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S.StudentID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S.StudentName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Students </a:t>
            </a: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NOT EXISTS </a:t>
            </a:r>
          </a:p>
          <a:p>
            <a:pPr>
              <a:lnSpc>
                <a:spcPct val="150000"/>
              </a:lnSpc>
            </a:pPr>
            <a:r>
              <a:rPr lang="en-MY" sz="1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Subquery 1: Find courses NOT taken by the current student   </a:t>
            </a:r>
          </a:p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C.CourseID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Courses AS C    </a:t>
            </a:r>
          </a:p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E.CourseID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Enrollments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E    </a:t>
            </a:r>
          </a:p>
          <a:p>
            <a:pPr>
              <a:lnSpc>
                <a:spcPct val="150000"/>
              </a:lnSpc>
            </a:pPr>
            <a:r>
              <a:rPr lang="en-MY" sz="1600" b="1" dirty="0">
                <a:solidFill>
                  <a:srgbClr val="A12B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E.StudentID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MY" sz="1600" dirty="0" err="1">
                <a:latin typeface="Arial" panose="020B0604020202020204" pitchFamily="34" charset="0"/>
                <a:cs typeface="Arial" panose="020B0604020202020204" pitchFamily="34" charset="0"/>
              </a:rPr>
              <a:t>S.StudentID</a:t>
            </a:r>
            <a:r>
              <a:rPr lang="en-MY" sz="16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4596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15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2" y="3429000"/>
            <a:ext cx="3995252" cy="30066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817" y="3028051"/>
            <a:ext cx="3995252" cy="30066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73" y="2870567"/>
            <a:ext cx="2709212" cy="9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 Slide Template DB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Slide Template DB</Template>
  <TotalTime>2308</TotalTime>
  <Words>1622</Words>
  <Application>Microsoft Office PowerPoint</Application>
  <PresentationFormat>On-screen Show (4:3)</PresentationFormat>
  <Paragraphs>435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Courier New</vt:lpstr>
      <vt:lpstr>Aptos</vt:lpstr>
      <vt:lpstr>Symbol</vt:lpstr>
      <vt:lpstr>Arial MT</vt:lpstr>
      <vt:lpstr>Roboto</vt:lpstr>
      <vt:lpstr>Arial</vt:lpstr>
      <vt:lpstr>Tahoma</vt:lpstr>
      <vt:lpstr>Google Sans</vt:lpstr>
      <vt:lpstr>Montserrat Semi</vt:lpstr>
      <vt:lpstr>Cambria Math</vt:lpstr>
      <vt:lpstr>Calibri</vt:lpstr>
      <vt:lpstr>SimSun-ExtB</vt:lpstr>
      <vt:lpstr>Times New Roman</vt:lpstr>
      <vt:lpstr>Lecture Slide Template DB</vt:lpstr>
      <vt:lpstr>PowerPoint Presentation</vt:lpstr>
      <vt:lpstr>RELATIONAL ALGEBRA I &amp; II</vt:lpstr>
      <vt:lpstr>RELATIONAL ALGEBRA I: SELECTION</vt:lpstr>
      <vt:lpstr>RELATIONAL ALGEBRA I : PROJECTION</vt:lpstr>
      <vt:lpstr>RELATIONAL ALGEBRA I : UNION</vt:lpstr>
      <vt:lpstr>RELATIONAL ALGEBRA I : INTERSECTION</vt:lpstr>
      <vt:lpstr>RELATIONAL ALGEBRA I : SET DIFFERENCE</vt:lpstr>
      <vt:lpstr>RELATIONAL ALGEBRA I : CARTESIAN PRODUCT</vt:lpstr>
      <vt:lpstr>RELATIONAL ALGEBRA II : JOIN</vt:lpstr>
      <vt:lpstr>RELATIONAL ALGEBRA II : JOIN</vt:lpstr>
      <vt:lpstr>RELATIONAL ALGEBRA II : JOIN</vt:lpstr>
      <vt:lpstr>RELATIONAL ALGEBRA II : JOIN</vt:lpstr>
      <vt:lpstr>RELATIONAL ALGEBRA III</vt:lpstr>
      <vt:lpstr>RELATIONAL ALGEBRA III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</dc:title>
  <dc:creator>acidfed</dc:creator>
  <cp:lastModifiedBy>SHAMINI A/P RAJA KUMARAN</cp:lastModifiedBy>
  <cp:revision>12</cp:revision>
  <cp:lastPrinted>2024-10-07T01:32:50Z</cp:lastPrinted>
  <dcterms:created xsi:type="dcterms:W3CDTF">2019-01-07T08:53:00Z</dcterms:created>
  <dcterms:modified xsi:type="dcterms:W3CDTF">2025-10-17T05:33:50Z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