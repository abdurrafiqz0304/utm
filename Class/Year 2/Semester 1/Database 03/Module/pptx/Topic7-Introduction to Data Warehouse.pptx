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  <p:sldId id="274" r:id="rId9"/>
    <p:sldId id="275" r:id="rId10"/>
    <p:sldId id="276" r:id="rId11"/>
    <p:sldId id="277" r:id="rId12"/>
    <p:sldId id="278" r:id="rId13"/>
    <p:sldId id="279" r:id="rId14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7D3C275-982B-465B-B821-EF4557266366}">
          <p14:sldIdLst>
            <p14:sldId id="256"/>
            <p14:sldId id="257"/>
            <p14:sldId id="258"/>
            <p14:sldId id="262"/>
            <p14:sldId id="261"/>
            <p14:sldId id="259"/>
            <p14:sldId id="260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0E3E"/>
    <a:srgbClr val="0070C0"/>
    <a:srgbClr val="4472C4"/>
    <a:srgbClr val="FFFFCC"/>
    <a:srgbClr val="FFC000"/>
    <a:srgbClr val="E2A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7" autoAdjust="0"/>
    <p:restoredTop sz="94660"/>
  </p:normalViewPr>
  <p:slideViewPr>
    <p:cSldViewPr snapToGrid="0">
      <p:cViewPr>
        <p:scale>
          <a:sx n="66" d="100"/>
          <a:sy n="66" d="100"/>
        </p:scale>
        <p:origin x="15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CB005FD-FC8B-4FF4-955B-7EA50B8B0663}" type="datetimeFigureOut">
              <a:rPr lang="en-MY"/>
              <a:t>27/12/2022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76A01-9653-4E88-A0A9-E9EA91B8AD2B}" type="slidenum">
              <a:rPr lang="en-MY"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000" b="1">
                <a:solidFill>
                  <a:srgbClr val="830E3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A369B-9ECB-4BA5-A7ED-66D4A320BBA2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02A6F-F68E-42AE-AE2F-753F71817D8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F2DB-3D68-4EFF-B92B-90C34555BE45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3C3AE-587C-4613-8B8D-C3E042519364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D5586-745C-4D1D-AC0D-50A29C310C58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25F1E-5143-418C-B16F-B53F6F71C758}" type="datetime1">
              <a:rPr lang="en-US" smtClean="0"/>
              <a:t>12/27/2022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69A2C-1C93-4A5E-AA86-D928C00BCD92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22398-17E0-4244-A94E-ADF718D8A94E}" type="datetime1">
              <a:rPr lang="en-US" smtClean="0"/>
              <a:t>12/27/2022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7D458-EF61-4B7E-AFE9-875D2476F532}" type="slidenum">
              <a:rPr lang="en-US"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1E0D5-DCD9-401B-AA7A-CABD4479E7C7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95FEE-A042-4E46-858D-E255F286AFAD}" type="slidenum">
              <a:rPr lang="en-US"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875F7-26A9-4C67-AEF6-380D2B41CE1C}" type="datetime1">
              <a:rPr lang="en-US" smtClean="0"/>
              <a:t>12/27/2022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C836-3674-4059-90D2-D86E3DE58AF5}" type="slidenum">
              <a:rPr lang="en-US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36C24-F00B-4A9D-AD82-7B4F1E8149E4}" type="datetime1">
              <a:rPr lang="en-US" smtClean="0"/>
              <a:t>12/27/2022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BA56-7896-42D5-8307-DADE9CA6683E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D51B1-BC3D-453F-92EF-867357DC9C48}" type="datetime1">
              <a:rPr lang="en-US" smtClean="0"/>
              <a:t>12/27/2022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12DB0-978D-4D16-877F-1B531896CD64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62EA1-A570-49FF-8DCB-54AE6FCBE245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4142B-9149-44AD-9D92-D86EB0C2BF77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04791-9505-4479-9CF4-9A1DFE11A5E4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EE60-E854-4E7C-BF7C-54A65C2A0E6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1457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963F593C-0803-424A-9ACA-A5865156ABAE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378DD1A9-E041-452A-A8AB-5B84301EF847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830E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MY" altLang="en-US" sz="3200"/>
              <a:t>Topic 7</a:t>
            </a:r>
            <a:br>
              <a:rPr lang="en-MY" altLang="en-US" sz="3200" dirty="0"/>
            </a:br>
            <a:r>
              <a:rPr lang="en-MY" altLang="en-US" sz="3200" dirty="0"/>
              <a:t>Introduction to Data Warehouse</a:t>
            </a:r>
          </a:p>
        </p:txBody>
      </p:sp>
      <p:sp>
        <p:nvSpPr>
          <p:cNvPr id="307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MY" altLang="en-US" dirty="0">
                <a:sym typeface="+mn-ea"/>
              </a:rPr>
              <a:t>SECD2523 Database</a:t>
            </a:r>
            <a:endParaRPr lang="en-MY" altLang="en-US" dirty="0"/>
          </a:p>
          <a:p>
            <a:pPr eaLnBrk="1" hangingPunct="1"/>
            <a:r>
              <a:rPr lang="en-MY" altLang="en-US" dirty="0">
                <a:sym typeface="+mn-ea"/>
              </a:rPr>
              <a:t>Semester </a:t>
            </a:r>
            <a:r>
              <a:rPr lang="en-MY" altLang="en-US">
                <a:sym typeface="+mn-ea"/>
              </a:rPr>
              <a:t>1 2022/2023</a:t>
            </a:r>
            <a:endParaRPr lang="en-MY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concepts and benefits associated with data warehousing.</a:t>
            </a:r>
          </a:p>
          <a:p>
            <a:r>
              <a:rPr lang="en-US" dirty="0"/>
              <a:t>How online transaction processing (OLTP) systems differ from a data warehouse.</a:t>
            </a:r>
          </a:p>
          <a:p>
            <a:r>
              <a:rPr lang="en-US" dirty="0"/>
              <a:t>The problems associated with data warehousing.</a:t>
            </a:r>
          </a:p>
          <a:p>
            <a:r>
              <a:rPr lang="en-US" dirty="0"/>
              <a:t>The architecture and main components of a data warehouse.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828263-E311-4630-A6B4-9E81EBE5AA4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Data Warehousing: Introduction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 Warehousing: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sz="2800" dirty="0"/>
              <a:t>Early definition:</a:t>
            </a:r>
          </a:p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0070C0"/>
                </a:solidFill>
              </a:rPr>
              <a:t>subject-oriented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0070C0"/>
                </a:solidFill>
              </a:rPr>
              <a:t>integrated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0070C0"/>
                </a:solidFill>
              </a:rPr>
              <a:t>time-variant</a:t>
            </a:r>
            <a:r>
              <a:rPr lang="en-US" sz="2800" dirty="0"/>
              <a:t>, and </a:t>
            </a:r>
            <a:r>
              <a:rPr lang="en-US" sz="2800" b="1" dirty="0">
                <a:solidFill>
                  <a:srgbClr val="0070C0"/>
                </a:solidFill>
              </a:rPr>
              <a:t>non-volatile</a:t>
            </a:r>
            <a:r>
              <a:rPr lang="en-US" sz="2800" dirty="0"/>
              <a:t> collection of data in support of management’s decision-making process (</a:t>
            </a:r>
            <a:r>
              <a:rPr lang="en-US" sz="2800" dirty="0" err="1"/>
              <a:t>Inmon</a:t>
            </a:r>
            <a:r>
              <a:rPr lang="en-US" sz="2800" dirty="0"/>
              <a:t>, 1993).</a:t>
            </a:r>
          </a:p>
          <a:p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1381C6-7919-4319-8172-225823D12BD1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Data Warehousing: Introduction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Data Warehousing: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consolidated/integrated view of corporate data drawn from disparate operational data sources and a range of end-user access tools capable of supporting simple to highly complex queries to support decision making.</a:t>
            </a:r>
            <a:endParaRPr lang="en-MY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9E9C88-C25D-4126-9581-9A50208BFAC4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Data Warehousing: Introduction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2002C9-4C8D-4DE1-A559-7A58CCE52D3B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Data Warehousing: Introduction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41" y="1291320"/>
            <a:ext cx="6698318" cy="48020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92012" y="6090721"/>
            <a:ext cx="43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The typical architecture of a data warehouse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Characteristics of data in DW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D3AFE0-AACE-4FD9-8B6F-A0E1B86D6F01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Data Warehousing: Introduction</a:t>
            </a:r>
            <a:endParaRPr lang="en-US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190493" y="2096812"/>
            <a:ext cx="2104700" cy="6227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Subject-oriented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2422629" y="2096812"/>
            <a:ext cx="2104700" cy="62273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Integrated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4654765" y="2096812"/>
            <a:ext cx="2104700" cy="6227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Time-variant</a:t>
            </a:r>
          </a:p>
        </p:txBody>
      </p:sp>
      <p:sp>
        <p:nvSpPr>
          <p:cNvPr id="10" name="Rectangle: Rounded Corners 9"/>
          <p:cNvSpPr/>
          <p:nvPr/>
        </p:nvSpPr>
        <p:spPr>
          <a:xfrm>
            <a:off x="6886901" y="2096812"/>
            <a:ext cx="2104700" cy="62273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Non-volatile</a:t>
            </a:r>
          </a:p>
        </p:txBody>
      </p:sp>
      <p:sp>
        <p:nvSpPr>
          <p:cNvPr id="11" name="Rectangle: Rounded Corners 10"/>
          <p:cNvSpPr/>
          <p:nvPr/>
        </p:nvSpPr>
        <p:spPr>
          <a:xfrm>
            <a:off x="190493" y="2845673"/>
            <a:ext cx="2104700" cy="3373827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warehouse is organized around the major </a:t>
            </a:r>
            <a:r>
              <a:rPr lang="en-GB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subjects of the enterprise </a:t>
            </a:r>
            <a:r>
              <a:rPr lang="en-GB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(e.g. customers, products, and sales) rather than the major application areas (e.g. customer invoicing, stock control, and product sales).</a:t>
            </a:r>
          </a:p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is reflected in the need to store </a:t>
            </a:r>
            <a:r>
              <a:rPr lang="en-GB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decision-support data </a:t>
            </a:r>
            <a:r>
              <a:rPr lang="en-GB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rather than application-oriented data.</a:t>
            </a:r>
          </a:p>
        </p:txBody>
      </p:sp>
      <p:sp>
        <p:nvSpPr>
          <p:cNvPr id="12" name="Rectangle: Rounded Corners 11"/>
          <p:cNvSpPr/>
          <p:nvPr/>
        </p:nvSpPr>
        <p:spPr>
          <a:xfrm>
            <a:off x="2422629" y="2845673"/>
            <a:ext cx="2104700" cy="3373827"/>
          </a:xfrm>
          <a:prstGeom prst="roundRect">
            <a:avLst>
              <a:gd name="adj" fmla="val 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data warehouse integrates corporate application-oriented data from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 source systems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which often includes data that is inconsistent.</a:t>
            </a:r>
          </a:p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integrated data source must be made consistent to present a unified view of the data to the users.</a:t>
            </a:r>
          </a:p>
        </p:txBody>
      </p:sp>
      <p:sp>
        <p:nvSpPr>
          <p:cNvPr id="13" name="Rectangle: Rounded Corners 12"/>
          <p:cNvSpPr/>
          <p:nvPr/>
        </p:nvSpPr>
        <p:spPr>
          <a:xfrm>
            <a:off x="4644259" y="2845673"/>
            <a:ext cx="2104700" cy="3373827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 the warehouse is only accurate and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 at some point 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time or over some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interval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Time-variance is also shown in the extended time that the data is held, the implicit or explicit association of time with all data, and the fact that the data represents a series of snapshots.</a:t>
            </a:r>
          </a:p>
        </p:txBody>
      </p:sp>
      <p:sp>
        <p:nvSpPr>
          <p:cNvPr id="14" name="Rectangle: Rounded Corners 13"/>
          <p:cNvSpPr/>
          <p:nvPr/>
        </p:nvSpPr>
        <p:spPr>
          <a:xfrm>
            <a:off x="6893476" y="2845673"/>
            <a:ext cx="2104700" cy="3373827"/>
          </a:xfrm>
          <a:prstGeom prst="roundRect">
            <a:avLst>
              <a:gd name="adj" fmla="val 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 the warehouse is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normally updated in real-time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(RT) but is refreshed from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operational systems 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a regular basis. (However, emerging trend is towards R T or near RT DWs)</a:t>
            </a:r>
          </a:p>
          <a:p>
            <a:pPr marL="180975" indent="-180975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data is always added as a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supplement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the database, rather than a replacement.</a:t>
            </a:r>
          </a:p>
        </p:txBody>
      </p:sp>
      <p:sp>
        <p:nvSpPr>
          <p:cNvPr id="15" name="Rectangle: Rounded Corners 14"/>
          <p:cNvSpPr/>
          <p:nvPr/>
        </p:nvSpPr>
        <p:spPr>
          <a:xfrm>
            <a:off x="190493" y="1324467"/>
            <a:ext cx="8801108" cy="62273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data held in a data warehouse is described as being </a:t>
            </a:r>
            <a:r>
              <a:rPr lang="en-US" b="1" dirty="0">
                <a:solidFill>
                  <a:srgbClr val="C00000"/>
                </a:solidFill>
              </a:rPr>
              <a:t>subject-oriented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integrated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time-variant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en-US" b="1" dirty="0">
                <a:solidFill>
                  <a:srgbClr val="C00000"/>
                </a:solidFill>
              </a:rPr>
              <a:t>nonvolatile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Inmon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1993).</a:t>
            </a:r>
            <a:endParaRPr lang="en-MY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Benefits of Data Warehousing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Successful implementation of data warehouse can bring major benefits to an organization: </a:t>
            </a:r>
          </a:p>
          <a:p>
            <a:r>
              <a:rPr lang="en-US" dirty="0"/>
              <a:t>Potential high returns on investment</a:t>
            </a:r>
          </a:p>
          <a:p>
            <a:r>
              <a:rPr lang="en-US" dirty="0"/>
              <a:t>Competitive advantage</a:t>
            </a:r>
          </a:p>
          <a:p>
            <a:r>
              <a:rPr lang="en-US" dirty="0"/>
              <a:t>Increased productivity of corporate decision-makers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6C7E13-66B0-46AE-8FEE-1D3200247EA1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Data Warehousing: Introduction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of Data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dirty="0"/>
              <a:t>Dimensionality Modeling</a:t>
            </a:r>
          </a:p>
          <a:p>
            <a:r>
              <a:rPr lang="en-US" dirty="0"/>
              <a:t>A logical design technique that aims to present the data in a standard, intuitive form that allows for high-performance </a:t>
            </a:r>
            <a:r>
              <a:rPr lang="en-MY" dirty="0"/>
              <a:t>access.</a:t>
            </a:r>
          </a:p>
          <a:p>
            <a:r>
              <a:rPr lang="en-MY" dirty="0"/>
              <a:t>Two types in general:</a:t>
            </a:r>
          </a:p>
          <a:p>
            <a:pPr lvl="1"/>
            <a:r>
              <a:rPr lang="en-MY" dirty="0"/>
              <a:t>Star schema</a:t>
            </a:r>
          </a:p>
          <a:p>
            <a:pPr lvl="1"/>
            <a:r>
              <a:rPr lang="en-MY" dirty="0"/>
              <a:t>Snowflake schema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6238"/>
            <a:ext cx="2270354" cy="4530725"/>
          </a:xfrm>
        </p:spPr>
        <p:txBody>
          <a:bodyPr/>
          <a:lstStyle/>
          <a:p>
            <a:r>
              <a:rPr lang="en-US" dirty="0"/>
              <a:t>A dimensional data model that has a fact table in the center, surrounded by </a:t>
            </a:r>
            <a:r>
              <a:rPr lang="en-US" b="1" dirty="0">
                <a:solidFill>
                  <a:srgbClr val="C00000"/>
                </a:solidFill>
              </a:rPr>
              <a:t>denormalized</a:t>
            </a:r>
            <a:r>
              <a:rPr lang="en-US" dirty="0"/>
              <a:t> dimension tables.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004" y="623017"/>
            <a:ext cx="6120706" cy="58698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Snowflake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6238"/>
            <a:ext cx="3174389" cy="4530725"/>
          </a:xfrm>
        </p:spPr>
        <p:txBody>
          <a:bodyPr/>
          <a:lstStyle/>
          <a:p>
            <a:r>
              <a:rPr lang="en-US" dirty="0"/>
              <a:t>A dimensional data model that has a fact table in the center, surrounded by </a:t>
            </a:r>
            <a:r>
              <a:rPr lang="en-US" b="1" dirty="0">
                <a:solidFill>
                  <a:srgbClr val="C00000"/>
                </a:solidFill>
              </a:rPr>
              <a:t>normalized</a:t>
            </a:r>
            <a:r>
              <a:rPr lang="en-US" dirty="0"/>
              <a:t> dimension tables.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039" y="1232798"/>
            <a:ext cx="5077534" cy="49441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Online Analytical Processing (OLAP)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Original definition - The dynamic synthesis, analysis, and consolidation of large volumes of multi-dimensional data, Codd (1993).</a:t>
            </a:r>
          </a:p>
          <a:p>
            <a:r>
              <a:rPr lang="en-US" sz="2200" dirty="0"/>
              <a:t>Describes a technology that is designed to optimize the storing and querying of large volumes of multi-dimensional data that is aggregated (summarized) to various levels of detail to support the analysis of this data.</a:t>
            </a:r>
          </a:p>
          <a:p>
            <a:r>
              <a:rPr lang="en-US" sz="2200" dirty="0"/>
              <a:t>Enables users to gain a deeper understanding and knowledge about various aspects of their corporate data through fast, consistent, interactive access to a wide variety of possible views of the data.</a:t>
            </a:r>
          </a:p>
          <a:p>
            <a:r>
              <a:rPr lang="en-US" sz="2200" dirty="0"/>
              <a:t>Allows users to view corporate data in such a way that it is a better model of the true dimensionality of the enterprise.</a:t>
            </a:r>
          </a:p>
          <a:p>
            <a:endParaRPr lang="en-MY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Examples of OLAP Applications in Various Functional Areas</a:t>
            </a:r>
            <a:endParaRPr lang="en-MY" sz="24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563724"/>
            <a:ext cx="7886700" cy="269575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Comparison of OLTP Systems and Data Warehousing</a:t>
            </a:r>
            <a:endParaRPr lang="en-MY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 DBMS built for online transaction processing (OLTP) is generally regarded as unsuitable for data warehousing, because each system is designed with a differing set of requirements in mind. </a:t>
            </a:r>
          </a:p>
          <a:p>
            <a:r>
              <a:rPr lang="en-US" sz="1800" dirty="0"/>
              <a:t>For example, OLTP systems are designed to maximize the transaction processing capacity, while data warehouses are designed to support </a:t>
            </a:r>
            <a:r>
              <a:rPr lang="en-US" sz="1800" i="1" dirty="0"/>
              <a:t>ad hoc </a:t>
            </a:r>
            <a:r>
              <a:rPr lang="en-US" sz="1800" dirty="0"/>
              <a:t>query processing.</a:t>
            </a:r>
            <a:endParaRPr lang="en-MY" sz="1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221" y="3205430"/>
            <a:ext cx="5489682" cy="3192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780</Words>
  <Application>Microsoft Office PowerPoint</Application>
  <PresentationFormat>On-screen Show (4:3)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Topic 7 Introduction to Data Warehouse</vt:lpstr>
      <vt:lpstr>Learning Objective</vt:lpstr>
      <vt:lpstr>Data Warehousing:</vt:lpstr>
      <vt:lpstr>Data Warehousing:</vt:lpstr>
      <vt:lpstr>Example </vt:lpstr>
      <vt:lpstr>Characteristics of data in DW</vt:lpstr>
      <vt:lpstr>Benefits of Data Warehousing</vt:lpstr>
      <vt:lpstr>Design of Data Warehouse</vt:lpstr>
      <vt:lpstr>Star Schema</vt:lpstr>
      <vt:lpstr>Snowflake schema</vt:lpstr>
      <vt:lpstr>Online Analytical Processing (OLAP)</vt:lpstr>
      <vt:lpstr>Examples of OLAP Applications in Various Functional Areas</vt:lpstr>
      <vt:lpstr>Comparison of OLTP Systems and Data Warehousing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izyan</cp:lastModifiedBy>
  <cp:revision>163</cp:revision>
  <dcterms:created xsi:type="dcterms:W3CDTF">2019-01-07T08:53:00Z</dcterms:created>
  <dcterms:modified xsi:type="dcterms:W3CDTF">2022-12-27T16:48:28Z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