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 id="2147483660" r:id="rId2"/>
  </p:sldMasterIdLst>
  <p:notesMasterIdLst>
    <p:notesMasterId r:id="rId31"/>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Lst>
  <p:sldSz cx="9144000" cy="6858000" type="screen4x3"/>
  <p:notesSz cx="6858000" cy="9144000"/>
  <p:embeddedFontLst>
    <p:embeddedFont>
      <p:font typeface="Helvetica Neue" panose="020B0604020202020204" charset="0"/>
      <p:regular r:id="rId32"/>
      <p:bold r:id="rId33"/>
      <p:italic r:id="rId34"/>
      <p:boldItalic r:id="rId35"/>
    </p:embeddedFont>
    <p:embeddedFont>
      <p:font typeface="Helvetica Neue Light" panose="020B0604020202020204" charset="0"/>
      <p:regular r:id="rId36"/>
      <p:bold r:id="rId37"/>
      <p:italic r:id="rId38"/>
      <p:boldItalic r:id="rId39"/>
    </p:embeddedFont>
    <p:embeddedFont>
      <p:font typeface="Libre Baskerville" panose="02000000000000000000" pitchFamily="2" charset="0"/>
      <p:regular r:id="rId40"/>
      <p:bold r:id="rId41"/>
      <p:italic r:id="rId42"/>
    </p:embeddedFont>
    <p:embeddedFont>
      <p:font typeface="Rockwell" panose="02060603020205020403" pitchFamily="18" charset="0"/>
      <p:regular r:id="rId43"/>
      <p:bold r:id="rId44"/>
      <p:italic r:id="rId45"/>
      <p:boldItalic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7" roundtripDataSignature="AMtx7minlteXd8StAIOwue042gFvXTgHt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E43E922-DCC8-490A-AD59-0495A787ED80}">
  <a:tblStyle styleId="{0E43E922-DCC8-490A-AD59-0495A787ED80}" styleName="Table_0">
    <a:wholeTbl>
      <a:tcTxStyle b="off" i="off">
        <a:font>
          <a:latin typeface="Calibri"/>
          <a:ea typeface="Calibri"/>
          <a:cs typeface="Calibri"/>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A926A02-2FB1-4511-9B2B-C98C6ABEBB26}" styleName="Table_1">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5260" autoAdjust="0"/>
  </p:normalViewPr>
  <p:slideViewPr>
    <p:cSldViewPr snapToGrid="0">
      <p:cViewPr>
        <p:scale>
          <a:sx n="80" d="100"/>
          <a:sy n="80" d="100"/>
        </p:scale>
        <p:origin x="1704" y="25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8.fntdata"/><Relationship Id="rId21" Type="http://schemas.openxmlformats.org/officeDocument/2006/relationships/slide" Target="slides/slide19.xml"/><Relationship Id="rId34" Type="http://schemas.openxmlformats.org/officeDocument/2006/relationships/font" Target="fonts/font3.fntdata"/><Relationship Id="rId42" Type="http://schemas.openxmlformats.org/officeDocument/2006/relationships/font" Target="fonts/font11.fntdata"/><Relationship Id="rId47" Type="http://customschemas.google.com/relationships/presentationmetadata" Target="metadata"/><Relationship Id="rId50"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font" Target="fonts/font9.fntdata"/><Relationship Id="rId45" Type="http://schemas.openxmlformats.org/officeDocument/2006/relationships/font" Target="fonts/font14.fntdata"/><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font" Target="fonts/font5.fntdata"/><Relationship Id="rId49"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notesMaster" Target="notesMasters/notesMaster1.xml"/><Relationship Id="rId44" Type="http://schemas.openxmlformats.org/officeDocument/2006/relationships/font" Target="fonts/font13.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font" Target="fonts/font4.fntdata"/><Relationship Id="rId43" Type="http://schemas.openxmlformats.org/officeDocument/2006/relationships/font" Target="fonts/font12.fntdata"/><Relationship Id="rId48"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font" Target="fonts/font2.fntdata"/><Relationship Id="rId38" Type="http://schemas.openxmlformats.org/officeDocument/2006/relationships/font" Target="fonts/font7.fntdata"/><Relationship Id="rId46" Type="http://schemas.openxmlformats.org/officeDocument/2006/relationships/font" Target="fonts/font15.fntdata"/><Relationship Id="rId20" Type="http://schemas.openxmlformats.org/officeDocument/2006/relationships/slide" Target="slides/slide18.xml"/><Relationship Id="rId41"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1" name="Google Shape;101;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 name="Google Shape;107;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108" name="Google Shape;108;p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 name="Google Shape;11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7" name="Google Shape;127;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9" name="Google Shape;149;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8" name="Google Shape;158;p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159" name="Google Shape;159;p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p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169" name="Google Shape;169;p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1" name="Google Shape;181;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3" name="Google Shape;193;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2" name="Google Shape;222;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1" name="Google Shape;231;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p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0" name="Google Shape;240;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p1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1" name="Google Shape;251;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p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3" name="Google Shape;263;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1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3" name="Google Shape;273;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p1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2" name="Google Shape;282;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p1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1" name="Google Shape;291;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p1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2" name="Google Shape;302;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2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2" name="Google Shape;312;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2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3" name="Google Shape;323;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p2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2" name="Google Shape;332;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5" name="Google Shape;345;p2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346" name="Google Shape;346;p2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p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5" name="Google Shape;355;p2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356" name="Google Shape;356;p2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t>24</a:t>
            </a:fld>
            <a:endParaRPr>
              <a:solidFill>
                <a:srgbClr val="000000"/>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p2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5" name="Google Shape;365;p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4" name="Google Shape;374;p2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375" name="Google Shape;375;p2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p2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4" name="Google Shape;384;p2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
        <p:cNvGrpSpPr/>
        <p:nvPr/>
      </p:nvGrpSpPr>
      <p:grpSpPr>
        <a:xfrm>
          <a:off x="0" y="0"/>
          <a:ext cx="0" cy="0"/>
          <a:chOff x="0" y="0"/>
          <a:chExt cx="0" cy="0"/>
        </a:xfrm>
      </p:grpSpPr>
      <p:sp>
        <p:nvSpPr>
          <p:cNvPr id="392" name="Google Shape;392;p2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3" name="Google Shape;393;p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9"/>
        <p:cNvGrpSpPr/>
        <p:nvPr/>
      </p:nvGrpSpPr>
      <p:grpSpPr>
        <a:xfrm>
          <a:off x="0" y="0"/>
          <a:ext cx="0" cy="0"/>
          <a:chOff x="0" y="0"/>
          <a:chExt cx="0" cy="0"/>
        </a:xfrm>
      </p:grpSpPr>
      <p:sp>
        <p:nvSpPr>
          <p:cNvPr id="20" name="Google Shape;20;p30"/>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30"/>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22" name="Google Shape;22;p30"/>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30"/>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30"/>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5"/>
        <p:cNvGrpSpPr/>
        <p:nvPr/>
      </p:nvGrpSpPr>
      <p:grpSpPr>
        <a:xfrm>
          <a:off x="0" y="0"/>
          <a:ext cx="0" cy="0"/>
          <a:chOff x="0" y="0"/>
          <a:chExt cx="0" cy="0"/>
        </a:xfrm>
      </p:grpSpPr>
      <p:sp>
        <p:nvSpPr>
          <p:cNvPr id="26" name="Google Shape;26;p3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3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8" name="Google Shape;28;p31"/>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31"/>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31"/>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3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32"/>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4" name="Google Shape;34;p32"/>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5" name="Google Shape;35;p32"/>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32"/>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32"/>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3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33"/>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1" name="Google Shape;41;p33"/>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2" name="Google Shape;42;p33"/>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33"/>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33"/>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33"/>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33"/>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3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9" name="Google Shape;49;p34"/>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34"/>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34"/>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2"/>
        <p:cNvGrpSpPr/>
        <p:nvPr/>
      </p:nvGrpSpPr>
      <p:grpSpPr>
        <a:xfrm>
          <a:off x="0" y="0"/>
          <a:ext cx="0" cy="0"/>
          <a:chOff x="0" y="0"/>
          <a:chExt cx="0" cy="0"/>
        </a:xfrm>
      </p:grpSpPr>
      <p:sp>
        <p:nvSpPr>
          <p:cNvPr id="53" name="Google Shape;53;p35"/>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4" name="Google Shape;54;p35"/>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5" name="Google Shape;55;p35"/>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6" name="Google Shape;56;p35"/>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35"/>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35"/>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9"/>
        <p:cNvGrpSpPr/>
        <p:nvPr/>
      </p:nvGrpSpPr>
      <p:grpSpPr>
        <a:xfrm>
          <a:off x="0" y="0"/>
          <a:ext cx="0" cy="0"/>
          <a:chOff x="0" y="0"/>
          <a:chExt cx="0" cy="0"/>
        </a:xfrm>
      </p:grpSpPr>
      <p:sp>
        <p:nvSpPr>
          <p:cNvPr id="60" name="Google Shape;60;p36"/>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1" name="Google Shape;61;p36"/>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62" name="Google Shape;62;p36"/>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36"/>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36"/>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5"/>
        <p:cNvGrpSpPr/>
        <p:nvPr/>
      </p:nvGrpSpPr>
      <p:grpSpPr>
        <a:xfrm>
          <a:off x="0" y="0"/>
          <a:ext cx="0" cy="0"/>
          <a:chOff x="0" y="0"/>
          <a:chExt cx="0" cy="0"/>
        </a:xfrm>
      </p:grpSpPr>
      <p:sp>
        <p:nvSpPr>
          <p:cNvPr id="66" name="Google Shape;66;p37"/>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7"/>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37"/>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9"/>
        <p:cNvGrpSpPr/>
        <p:nvPr/>
      </p:nvGrpSpPr>
      <p:grpSpPr>
        <a:xfrm>
          <a:off x="0" y="0"/>
          <a:ext cx="0" cy="0"/>
          <a:chOff x="0" y="0"/>
          <a:chExt cx="0" cy="0"/>
        </a:xfrm>
      </p:grpSpPr>
      <p:sp>
        <p:nvSpPr>
          <p:cNvPr id="70" name="Google Shape;70;p38"/>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1" name="Google Shape;71;p38"/>
          <p:cNvSpPr>
            <a:spLocks noGrp="1"/>
          </p:cNvSpPr>
          <p:nvPr>
            <p:ph type="pic" idx="2"/>
          </p:nvPr>
        </p:nvSpPr>
        <p:spPr>
          <a:xfrm>
            <a:off x="1792288" y="612775"/>
            <a:ext cx="5486400" cy="4114800"/>
          </a:xfrm>
          <a:prstGeom prst="rect">
            <a:avLst/>
          </a:prstGeom>
          <a:noFill/>
          <a:ln>
            <a:noFill/>
          </a:ln>
        </p:spPr>
      </p:sp>
      <p:sp>
        <p:nvSpPr>
          <p:cNvPr id="72" name="Google Shape;72;p38"/>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73" name="Google Shape;73;p38"/>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38"/>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38"/>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6"/>
        <p:cNvGrpSpPr/>
        <p:nvPr/>
      </p:nvGrpSpPr>
      <p:grpSpPr>
        <a:xfrm>
          <a:off x="0" y="0"/>
          <a:ext cx="0" cy="0"/>
          <a:chOff x="0" y="0"/>
          <a:chExt cx="0" cy="0"/>
        </a:xfrm>
      </p:grpSpPr>
      <p:sp>
        <p:nvSpPr>
          <p:cNvPr id="77" name="Google Shape;77;p3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8" name="Google Shape;78;p39"/>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9" name="Google Shape;79;p39"/>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39"/>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1" name="Google Shape;81;p39"/>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2"/>
        <p:cNvGrpSpPr/>
        <p:nvPr/>
      </p:nvGrpSpPr>
      <p:grpSpPr>
        <a:xfrm>
          <a:off x="0" y="0"/>
          <a:ext cx="0" cy="0"/>
          <a:chOff x="0" y="0"/>
          <a:chExt cx="0" cy="0"/>
        </a:xfrm>
      </p:grpSpPr>
      <p:sp>
        <p:nvSpPr>
          <p:cNvPr id="83" name="Google Shape;83;p40"/>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4" name="Google Shape;84;p40"/>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5" name="Google Shape;85;p40"/>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40"/>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40"/>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theme" Target="../theme/theme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pic>
        <p:nvPicPr>
          <p:cNvPr id="10" name="Google Shape;10;p29"/>
          <p:cNvPicPr preferRelativeResize="0"/>
          <p:nvPr/>
        </p:nvPicPr>
        <p:blipFill rotWithShape="1">
          <a:blip r:embed="rId13">
            <a:alphaModFix/>
          </a:blip>
          <a:srcRect/>
          <a:stretch/>
        </p:blipFill>
        <p:spPr>
          <a:xfrm>
            <a:off x="-747" y="6487366"/>
            <a:ext cx="9131300" cy="357187"/>
          </a:xfrm>
          <a:prstGeom prst="rect">
            <a:avLst/>
          </a:prstGeom>
          <a:noFill/>
          <a:ln>
            <a:noFill/>
          </a:ln>
        </p:spPr>
      </p:pic>
      <p:sp>
        <p:nvSpPr>
          <p:cNvPr id="11" name="Google Shape;11;p29"/>
          <p:cNvSpPr/>
          <p:nvPr/>
        </p:nvSpPr>
        <p:spPr>
          <a:xfrm>
            <a:off x="0" y="0"/>
            <a:ext cx="9144000" cy="1417638"/>
          </a:xfrm>
          <a:prstGeom prst="rect">
            <a:avLst/>
          </a:prstGeom>
          <a:solidFill>
            <a:srgbClr val="FFE1A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 name="Google Shape;12;p2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pic>
        <p:nvPicPr>
          <p:cNvPr id="13" name="Google Shape;13;p29" descr="header_UTM"/>
          <p:cNvPicPr preferRelativeResize="0"/>
          <p:nvPr/>
        </p:nvPicPr>
        <p:blipFill rotWithShape="1">
          <a:blip r:embed="rId14">
            <a:alphaModFix/>
          </a:blip>
          <a:srcRect/>
          <a:stretch/>
        </p:blipFill>
        <p:spPr>
          <a:xfrm>
            <a:off x="63500" y="106363"/>
            <a:ext cx="1195388" cy="395287"/>
          </a:xfrm>
          <a:prstGeom prst="rect">
            <a:avLst/>
          </a:prstGeom>
          <a:noFill/>
          <a:ln>
            <a:noFill/>
          </a:ln>
        </p:spPr>
      </p:pic>
      <p:pic>
        <p:nvPicPr>
          <p:cNvPr id="14" name="Google Shape;14;p29" descr="header_url"/>
          <p:cNvPicPr preferRelativeResize="0"/>
          <p:nvPr/>
        </p:nvPicPr>
        <p:blipFill rotWithShape="1">
          <a:blip r:embed="rId15">
            <a:alphaModFix/>
          </a:blip>
          <a:srcRect/>
          <a:stretch/>
        </p:blipFill>
        <p:spPr>
          <a:xfrm>
            <a:off x="0" y="1169894"/>
            <a:ext cx="2376488" cy="255588"/>
          </a:xfrm>
          <a:prstGeom prst="rect">
            <a:avLst/>
          </a:prstGeom>
          <a:noFill/>
          <a:ln>
            <a:noFill/>
          </a:ln>
        </p:spPr>
      </p:pic>
      <p:sp>
        <p:nvSpPr>
          <p:cNvPr id="15" name="Google Shape;15;p29"/>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6" name="Google Shape;16;p29"/>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000000"/>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7" name="Google Shape;17;p29"/>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000000"/>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8" name="Google Shape;18;p29"/>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000000"/>
                </a:solidFill>
                <a:latin typeface="Calibri"/>
                <a:ea typeface="Calibri"/>
                <a:cs typeface="Calibri"/>
                <a:sym typeface="Calibri"/>
              </a:defRPr>
            </a:lvl1pPr>
            <a:lvl2pPr marL="0" marR="0" lvl="1" indent="0" algn="r" rtl="0">
              <a:spcBef>
                <a:spcPts val="0"/>
              </a:spcBef>
              <a:buNone/>
              <a:defRPr sz="1200" b="0" i="0" u="none" strike="noStrike" cap="none">
                <a:solidFill>
                  <a:srgbClr val="000000"/>
                </a:solidFill>
                <a:latin typeface="Calibri"/>
                <a:ea typeface="Calibri"/>
                <a:cs typeface="Calibri"/>
                <a:sym typeface="Calibri"/>
              </a:defRPr>
            </a:lvl2pPr>
            <a:lvl3pPr marL="0" marR="0" lvl="2" indent="0" algn="r" rtl="0">
              <a:spcBef>
                <a:spcPts val="0"/>
              </a:spcBef>
              <a:buNone/>
              <a:defRPr sz="1200" b="0" i="0" u="none" strike="noStrike" cap="none">
                <a:solidFill>
                  <a:srgbClr val="000000"/>
                </a:solidFill>
                <a:latin typeface="Calibri"/>
                <a:ea typeface="Calibri"/>
                <a:cs typeface="Calibri"/>
                <a:sym typeface="Calibri"/>
              </a:defRPr>
            </a:lvl3pPr>
            <a:lvl4pPr marL="0" marR="0" lvl="3" indent="0" algn="r" rtl="0">
              <a:spcBef>
                <a:spcPts val="0"/>
              </a:spcBef>
              <a:buNone/>
              <a:defRPr sz="1200" b="0" i="0" u="none" strike="noStrike" cap="none">
                <a:solidFill>
                  <a:srgbClr val="000000"/>
                </a:solidFill>
                <a:latin typeface="Calibri"/>
                <a:ea typeface="Calibri"/>
                <a:cs typeface="Calibri"/>
                <a:sym typeface="Calibri"/>
              </a:defRPr>
            </a:lvl4pPr>
            <a:lvl5pPr marL="0" marR="0" lvl="4" indent="0" algn="r" rtl="0">
              <a:spcBef>
                <a:spcPts val="0"/>
              </a:spcBef>
              <a:buNone/>
              <a:defRPr sz="1200" b="0" i="0" u="none" strike="noStrike" cap="none">
                <a:solidFill>
                  <a:srgbClr val="000000"/>
                </a:solidFill>
                <a:latin typeface="Calibri"/>
                <a:ea typeface="Calibri"/>
                <a:cs typeface="Calibri"/>
                <a:sym typeface="Calibri"/>
              </a:defRPr>
            </a:lvl5pPr>
            <a:lvl6pPr marL="0" marR="0" lvl="5" indent="0" algn="r" rtl="0">
              <a:spcBef>
                <a:spcPts val="0"/>
              </a:spcBef>
              <a:buNone/>
              <a:defRPr sz="1200" b="0" i="0" u="none" strike="noStrike" cap="none">
                <a:solidFill>
                  <a:srgbClr val="000000"/>
                </a:solidFill>
                <a:latin typeface="Calibri"/>
                <a:ea typeface="Calibri"/>
                <a:cs typeface="Calibri"/>
                <a:sym typeface="Calibri"/>
              </a:defRPr>
            </a:lvl6pPr>
            <a:lvl7pPr marL="0" marR="0" lvl="6" indent="0" algn="r" rtl="0">
              <a:spcBef>
                <a:spcPts val="0"/>
              </a:spcBef>
              <a:buNone/>
              <a:defRPr sz="1200" b="0" i="0" u="none" strike="noStrike" cap="none">
                <a:solidFill>
                  <a:srgbClr val="000000"/>
                </a:solidFill>
                <a:latin typeface="Calibri"/>
                <a:ea typeface="Calibri"/>
                <a:cs typeface="Calibri"/>
                <a:sym typeface="Calibri"/>
              </a:defRPr>
            </a:lvl7pPr>
            <a:lvl8pPr marL="0" marR="0" lvl="7" indent="0" algn="r" rtl="0">
              <a:spcBef>
                <a:spcPts val="0"/>
              </a:spcBef>
              <a:buNone/>
              <a:defRPr sz="1200" b="0" i="0" u="none" strike="noStrike" cap="none">
                <a:solidFill>
                  <a:srgbClr val="000000"/>
                </a:solidFill>
                <a:latin typeface="Calibri"/>
                <a:ea typeface="Calibri"/>
                <a:cs typeface="Calibri"/>
                <a:sym typeface="Calibri"/>
              </a:defRPr>
            </a:lvl8pPr>
            <a:lvl9pPr marL="0" marR="0" lvl="8" indent="0" algn="r" rtl="0">
              <a:spcBef>
                <a:spcPts val="0"/>
              </a:spcBef>
              <a:buNone/>
              <a:defRPr sz="1200" b="0" i="0" u="none" strike="noStrike" cap="none">
                <a:solidFill>
                  <a:srgbClr val="00000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8"/>
        <p:cNvGrpSpPr/>
        <p:nvPr/>
      </p:nvGrpSpPr>
      <p:grpSpPr>
        <a:xfrm>
          <a:off x="0" y="0"/>
          <a:ext cx="0" cy="0"/>
          <a:chOff x="0" y="0"/>
          <a:chExt cx="0" cy="0"/>
        </a:xfrm>
      </p:grpSpPr>
      <p:sp>
        <p:nvSpPr>
          <p:cNvPr id="89" name="Google Shape;89;p41"/>
          <p:cNvSpPr txBo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marR="0" lvl="0" indent="-342900" algn="ctr" rtl="0">
              <a:lnSpc>
                <a:spcPct val="100000"/>
              </a:lnSpc>
              <a:spcBef>
                <a:spcPts val="0"/>
              </a:spcBef>
              <a:spcAft>
                <a:spcPts val="0"/>
              </a:spcAft>
              <a:buClr>
                <a:schemeClr val="dk1"/>
              </a:buClr>
              <a:buSzPts val="5400"/>
              <a:buFont typeface="Arial"/>
              <a:buNone/>
            </a:pPr>
            <a:endParaRPr sz="5400" b="0" i="0" u="none" strike="noStrike" cap="none">
              <a:solidFill>
                <a:schemeClr val="dk1"/>
              </a:solidFill>
              <a:latin typeface="Calibri"/>
              <a:ea typeface="Calibri"/>
              <a:cs typeface="Calibri"/>
              <a:sym typeface="Calibri"/>
            </a:endParaRPr>
          </a:p>
          <a:p>
            <a:pPr marL="342900" marR="0" lvl="0" indent="-342900" algn="ctr" rtl="0">
              <a:lnSpc>
                <a:spcPct val="100000"/>
              </a:lnSpc>
              <a:spcBef>
                <a:spcPts val="1080"/>
              </a:spcBef>
              <a:spcAft>
                <a:spcPts val="0"/>
              </a:spcAft>
              <a:buClr>
                <a:schemeClr val="dk1"/>
              </a:buClr>
              <a:buSzPts val="5400"/>
              <a:buFont typeface="Arial"/>
              <a:buNone/>
            </a:pPr>
            <a:r>
              <a:rPr lang="en-US" sz="5400" b="1" i="0" u="none" strike="noStrike" cap="none">
                <a:solidFill>
                  <a:schemeClr val="dk1"/>
                </a:solidFill>
                <a:latin typeface="Calibri"/>
                <a:ea typeface="Calibri"/>
                <a:cs typeface="Calibri"/>
                <a:sym typeface="Calibri"/>
              </a:rPr>
              <a:t>Terima Kasih</a:t>
            </a:r>
            <a:endParaRPr/>
          </a:p>
          <a:p>
            <a:pPr marL="342900" marR="0" lvl="0" indent="-342900" algn="ctr" rtl="0">
              <a:lnSpc>
                <a:spcPct val="100000"/>
              </a:lnSpc>
              <a:spcBef>
                <a:spcPts val="560"/>
              </a:spcBef>
              <a:spcAft>
                <a:spcPts val="0"/>
              </a:spcAft>
              <a:buClr>
                <a:srgbClr val="C00000"/>
              </a:buClr>
              <a:buSzPts val="2800"/>
              <a:buFont typeface="Arial"/>
              <a:buNone/>
            </a:pPr>
            <a:r>
              <a:rPr lang="en-US" sz="2800" b="0" i="0" u="none" strike="noStrike" cap="none">
                <a:solidFill>
                  <a:srgbClr val="C00000"/>
                </a:solidFill>
                <a:latin typeface="Calibri"/>
                <a:ea typeface="Calibri"/>
                <a:cs typeface="Calibri"/>
                <a:sym typeface="Calibri"/>
              </a:rPr>
              <a:t>atas keprihatinan anda</a:t>
            </a:r>
            <a:endParaRPr/>
          </a:p>
          <a:p>
            <a:pPr marL="342900" marR="0" lvl="0" indent="-342900" algn="ctr" rtl="0">
              <a:lnSpc>
                <a:spcPct val="100000"/>
              </a:lnSpc>
              <a:spcBef>
                <a:spcPts val="560"/>
              </a:spcBef>
              <a:spcAft>
                <a:spcPts val="0"/>
              </a:spcAft>
              <a:buClr>
                <a:schemeClr val="dk1"/>
              </a:buClr>
              <a:buSzPts val="2800"/>
              <a:buFont typeface="Arial"/>
              <a:buNone/>
            </a:pPr>
            <a:endParaRPr sz="2800" b="0" i="0" u="none" strike="noStrike" cap="none">
              <a:solidFill>
                <a:srgbClr val="C00000"/>
              </a:solidFill>
              <a:latin typeface="Calibri"/>
              <a:ea typeface="Calibri"/>
              <a:cs typeface="Calibri"/>
              <a:sym typeface="Calibri"/>
            </a:endParaRPr>
          </a:p>
          <a:p>
            <a:pPr marL="342900" marR="0" lvl="0" indent="-342900" algn="ctr" rtl="0">
              <a:lnSpc>
                <a:spcPct val="100000"/>
              </a:lnSpc>
              <a:spcBef>
                <a:spcPts val="720"/>
              </a:spcBef>
              <a:spcAft>
                <a:spcPts val="0"/>
              </a:spcAft>
              <a:buClr>
                <a:srgbClr val="002060"/>
              </a:buClr>
              <a:buSzPts val="3600"/>
              <a:buFont typeface="Arial"/>
              <a:buNone/>
            </a:pPr>
            <a:r>
              <a:rPr lang="en-US" sz="3600" b="1" i="0" u="none" strike="noStrike" cap="none">
                <a:solidFill>
                  <a:srgbClr val="002060"/>
                </a:solidFill>
                <a:latin typeface="Libre Baskerville"/>
                <a:ea typeface="Libre Baskerville"/>
                <a:cs typeface="Libre Baskerville"/>
                <a:sym typeface="Libre Baskerville"/>
              </a:rPr>
              <a:t>“I Care, You Care, We Care”</a:t>
            </a:r>
            <a:endParaRPr sz="3600" b="1" i="0" u="none" strike="noStrike" cap="none">
              <a:solidFill>
                <a:srgbClr val="002060"/>
              </a:solidFill>
              <a:latin typeface="Libre Baskerville"/>
              <a:ea typeface="Libre Baskerville"/>
              <a:cs typeface="Libre Baskerville"/>
              <a:sym typeface="Libre Baskerville"/>
            </a:endParaRPr>
          </a:p>
        </p:txBody>
      </p:sp>
      <p:pic>
        <p:nvPicPr>
          <p:cNvPr id="90" name="Google Shape;90;p41"/>
          <p:cNvPicPr preferRelativeResize="0"/>
          <p:nvPr/>
        </p:nvPicPr>
        <p:blipFill rotWithShape="1">
          <a:blip r:embed="rId2">
            <a:alphaModFix/>
          </a:blip>
          <a:srcRect/>
          <a:stretch/>
        </p:blipFill>
        <p:spPr>
          <a:xfrm>
            <a:off x="-747" y="6487366"/>
            <a:ext cx="9131300" cy="357187"/>
          </a:xfrm>
          <a:prstGeom prst="rect">
            <a:avLst/>
          </a:prstGeom>
          <a:noFill/>
          <a:ln>
            <a:noFill/>
          </a:ln>
        </p:spPr>
      </p:pic>
      <p:sp>
        <p:nvSpPr>
          <p:cNvPr id="91" name="Google Shape;91;p41"/>
          <p:cNvSpPr txBox="1">
            <a:spLocks noGrp="1"/>
          </p:cNvSpPr>
          <p:nvPr>
            <p:ph type="dt" idx="10"/>
          </p:nvPr>
        </p:nvSpPr>
        <p:spPr>
          <a:xfrm>
            <a:off x="0" y="6600451"/>
            <a:ext cx="1547664"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2" name="Google Shape;92;p41"/>
          <p:cNvSpPr txBox="1">
            <a:spLocks noGrp="1"/>
          </p:cNvSpPr>
          <p:nvPr>
            <p:ph type="sldNum" idx="12"/>
          </p:nvPr>
        </p:nvSpPr>
        <p:spPr>
          <a:xfrm>
            <a:off x="8316416" y="6600451"/>
            <a:ext cx="457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None/>
              <a:defRPr sz="1200">
                <a:solidFill>
                  <a:schemeClr val="dk1"/>
                </a:solidFill>
                <a:latin typeface="Calibri"/>
                <a:ea typeface="Calibri"/>
                <a:cs typeface="Calibri"/>
                <a:sym typeface="Calibri"/>
              </a:defRPr>
            </a:lvl1pPr>
            <a:lvl2pPr marL="0" marR="0" lvl="1" indent="0" algn="r" rtl="0">
              <a:spcBef>
                <a:spcPts val="0"/>
              </a:spcBef>
              <a:spcAft>
                <a:spcPts val="0"/>
              </a:spcAft>
              <a:buNone/>
              <a:defRPr sz="1200">
                <a:solidFill>
                  <a:schemeClr val="dk1"/>
                </a:solidFill>
                <a:latin typeface="Calibri"/>
                <a:ea typeface="Calibri"/>
                <a:cs typeface="Calibri"/>
                <a:sym typeface="Calibri"/>
              </a:defRPr>
            </a:lvl2pPr>
            <a:lvl3pPr marL="0" marR="0" lvl="2" indent="0" algn="r" rtl="0">
              <a:spcBef>
                <a:spcPts val="0"/>
              </a:spcBef>
              <a:spcAft>
                <a:spcPts val="0"/>
              </a:spcAft>
              <a:buNone/>
              <a:defRPr sz="1200">
                <a:solidFill>
                  <a:schemeClr val="dk1"/>
                </a:solidFill>
                <a:latin typeface="Calibri"/>
                <a:ea typeface="Calibri"/>
                <a:cs typeface="Calibri"/>
                <a:sym typeface="Calibri"/>
              </a:defRPr>
            </a:lvl3pPr>
            <a:lvl4pPr marL="0" marR="0" lvl="3" indent="0" algn="r" rtl="0">
              <a:spcBef>
                <a:spcPts val="0"/>
              </a:spcBef>
              <a:spcAft>
                <a:spcPts val="0"/>
              </a:spcAft>
              <a:buNone/>
              <a:defRPr sz="1200">
                <a:solidFill>
                  <a:schemeClr val="dk1"/>
                </a:solidFill>
                <a:latin typeface="Calibri"/>
                <a:ea typeface="Calibri"/>
                <a:cs typeface="Calibri"/>
                <a:sym typeface="Calibri"/>
              </a:defRPr>
            </a:lvl4pPr>
            <a:lvl5pPr marL="0" marR="0" lvl="4" indent="0" algn="r" rtl="0">
              <a:spcBef>
                <a:spcPts val="0"/>
              </a:spcBef>
              <a:spcAft>
                <a:spcPts val="0"/>
              </a:spcAft>
              <a:buNone/>
              <a:defRPr sz="1200">
                <a:solidFill>
                  <a:schemeClr val="dk1"/>
                </a:solidFill>
                <a:latin typeface="Calibri"/>
                <a:ea typeface="Calibri"/>
                <a:cs typeface="Calibri"/>
                <a:sym typeface="Calibri"/>
              </a:defRPr>
            </a:lvl5pPr>
            <a:lvl6pPr marL="0" marR="0" lvl="5" indent="0" algn="r" rtl="0">
              <a:spcBef>
                <a:spcPts val="0"/>
              </a:spcBef>
              <a:spcAft>
                <a:spcPts val="0"/>
              </a:spcAft>
              <a:buNone/>
              <a:defRPr sz="1200">
                <a:solidFill>
                  <a:schemeClr val="dk1"/>
                </a:solidFill>
                <a:latin typeface="Calibri"/>
                <a:ea typeface="Calibri"/>
                <a:cs typeface="Calibri"/>
                <a:sym typeface="Calibri"/>
              </a:defRPr>
            </a:lvl6pPr>
            <a:lvl7pPr marL="0" marR="0" lvl="6" indent="0" algn="r" rtl="0">
              <a:spcBef>
                <a:spcPts val="0"/>
              </a:spcBef>
              <a:spcAft>
                <a:spcPts val="0"/>
              </a:spcAft>
              <a:buNone/>
              <a:defRPr sz="1200">
                <a:solidFill>
                  <a:schemeClr val="dk1"/>
                </a:solidFill>
                <a:latin typeface="Calibri"/>
                <a:ea typeface="Calibri"/>
                <a:cs typeface="Calibri"/>
                <a:sym typeface="Calibri"/>
              </a:defRPr>
            </a:lvl7pPr>
            <a:lvl8pPr marL="0" marR="0" lvl="7" indent="0" algn="r" rtl="0">
              <a:spcBef>
                <a:spcPts val="0"/>
              </a:spcBef>
              <a:spcAft>
                <a:spcPts val="0"/>
              </a:spcAft>
              <a:buNone/>
              <a:defRPr sz="1200">
                <a:solidFill>
                  <a:schemeClr val="dk1"/>
                </a:solidFill>
                <a:latin typeface="Calibri"/>
                <a:ea typeface="Calibri"/>
                <a:cs typeface="Calibri"/>
                <a:sym typeface="Calibri"/>
              </a:defRPr>
            </a:lvl8pPr>
            <a:lvl9pPr marL="0" marR="0" lvl="8" indent="0" algn="r" rtl="0">
              <a:spcBef>
                <a:spcPts val="0"/>
              </a:spcBef>
              <a:spcAft>
                <a:spcPts val="0"/>
              </a:spcAft>
              <a:buNone/>
              <a:defRPr sz="1200">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93" name="Google Shape;93;p41"/>
          <p:cNvSpPr/>
          <p:nvPr/>
        </p:nvSpPr>
        <p:spPr>
          <a:xfrm>
            <a:off x="0" y="0"/>
            <a:ext cx="9144000" cy="1417638"/>
          </a:xfrm>
          <a:prstGeom prst="rect">
            <a:avLst/>
          </a:prstGeom>
          <a:solidFill>
            <a:srgbClr val="FFE1A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94" name="Google Shape;94;p41" descr="header_UTM"/>
          <p:cNvPicPr preferRelativeResize="0"/>
          <p:nvPr/>
        </p:nvPicPr>
        <p:blipFill rotWithShape="1">
          <a:blip r:embed="rId3">
            <a:alphaModFix/>
          </a:blip>
          <a:srcRect/>
          <a:stretch/>
        </p:blipFill>
        <p:spPr>
          <a:xfrm>
            <a:off x="63500" y="106363"/>
            <a:ext cx="1195388" cy="395287"/>
          </a:xfrm>
          <a:prstGeom prst="rect">
            <a:avLst/>
          </a:prstGeom>
          <a:noFill/>
          <a:ln>
            <a:noFill/>
          </a:ln>
        </p:spPr>
      </p:pic>
      <p:pic>
        <p:nvPicPr>
          <p:cNvPr id="95" name="Google Shape;95;p41" descr="header_url"/>
          <p:cNvPicPr preferRelativeResize="0"/>
          <p:nvPr/>
        </p:nvPicPr>
        <p:blipFill rotWithShape="1">
          <a:blip r:embed="rId4">
            <a:alphaModFix/>
          </a:blip>
          <a:srcRect/>
          <a:stretch/>
        </p:blipFill>
        <p:spPr>
          <a:xfrm>
            <a:off x="0" y="1009650"/>
            <a:ext cx="2376488" cy="388938"/>
          </a:xfrm>
          <a:prstGeom prst="rect">
            <a:avLst/>
          </a:prstGeom>
          <a:noFill/>
          <a:ln>
            <a:noFill/>
          </a:ln>
        </p:spPr>
      </p:pic>
      <p:pic>
        <p:nvPicPr>
          <p:cNvPr id="96" name="Google Shape;96;p41"/>
          <p:cNvPicPr preferRelativeResize="0"/>
          <p:nvPr/>
        </p:nvPicPr>
        <p:blipFill rotWithShape="1">
          <a:blip r:embed="rId5">
            <a:alphaModFix/>
          </a:blip>
          <a:srcRect/>
          <a:stretch/>
        </p:blipFill>
        <p:spPr>
          <a:xfrm>
            <a:off x="1873008" y="53788"/>
            <a:ext cx="580837" cy="438130"/>
          </a:xfrm>
          <a:prstGeom prst="rect">
            <a:avLst/>
          </a:prstGeom>
          <a:noFill/>
          <a:ln>
            <a:noFill/>
          </a:ln>
        </p:spPr>
      </p:pic>
      <p:pic>
        <p:nvPicPr>
          <p:cNvPr id="97" name="Google Shape;97;p41" descr="PNG_newlogo"/>
          <p:cNvPicPr preferRelativeResize="0"/>
          <p:nvPr/>
        </p:nvPicPr>
        <p:blipFill rotWithShape="1">
          <a:blip r:embed="rId6">
            <a:alphaModFix/>
          </a:blip>
          <a:srcRect/>
          <a:stretch/>
        </p:blipFill>
        <p:spPr>
          <a:xfrm>
            <a:off x="1354633" y="26894"/>
            <a:ext cx="504056" cy="477366"/>
          </a:xfrm>
          <a:prstGeom prst="rect">
            <a:avLst/>
          </a:prstGeom>
          <a:noFill/>
          <a:ln>
            <a:noFill/>
          </a:ln>
        </p:spPr>
      </p:pic>
      <p:sp>
        <p:nvSpPr>
          <p:cNvPr id="98" name="Google Shape;98;p41"/>
          <p:cNvSpPr txBox="1">
            <a:spLocks noGrp="1"/>
          </p:cNvSpPr>
          <p:nvPr>
            <p:ph type="ftr" idx="11"/>
          </p:nvPr>
        </p:nvSpPr>
        <p:spPr>
          <a:xfrm>
            <a:off x="2281520" y="6647328"/>
            <a:ext cx="4704928" cy="365125"/>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1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hyperlink" Target="http://cerescontrols.com/tutorials-3/" TargetMode="Externa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5.xml"/><Relationship Id="rId5" Type="http://schemas.openxmlformats.org/officeDocument/2006/relationships/hyperlink" Target="https://www.ft.com/content/7c32d086-bff4-11e9-b350-db00d509634e" TargetMode="External"/><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Module 1: Introduction to Software Engineering</a:t>
            </a:r>
            <a:endParaRPr/>
          </a:p>
        </p:txBody>
      </p:sp>
      <p:sp>
        <p:nvSpPr>
          <p:cNvPr id="104" name="Google Shape;104;p1"/>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lnSpcReduction="10000"/>
          </a:bodyPr>
          <a:lstStyle/>
          <a:p>
            <a:pPr marL="0" lvl="0" indent="0" algn="ctr" rtl="0">
              <a:spcBef>
                <a:spcPts val="0"/>
              </a:spcBef>
              <a:spcAft>
                <a:spcPts val="0"/>
              </a:spcAft>
              <a:buClr>
                <a:schemeClr val="dk2"/>
              </a:buClr>
              <a:buSzPts val="4000"/>
              <a:buNone/>
            </a:pPr>
            <a:r>
              <a:rPr lang="en-US" sz="4000">
                <a:solidFill>
                  <a:schemeClr val="dk2"/>
                </a:solidFill>
              </a:rPr>
              <a:t>Software Engineering</a:t>
            </a:r>
            <a:endParaRPr sz="4000"/>
          </a:p>
          <a:p>
            <a:pPr marL="0" lvl="0" indent="0" algn="ctr" rtl="0">
              <a:spcBef>
                <a:spcPts val="518"/>
              </a:spcBef>
              <a:spcAft>
                <a:spcPts val="0"/>
              </a:spcAft>
              <a:buClr>
                <a:srgbClr val="888888"/>
              </a:buClr>
              <a:buSzPts val="2800"/>
              <a:buNone/>
            </a:pPr>
            <a:r>
              <a:rPr lang="en-US" sz="2800"/>
              <a:t>Faculty of Computing</a:t>
            </a:r>
            <a:endParaRPr/>
          </a:p>
          <a:p>
            <a:pPr marL="0" lvl="0" indent="0" algn="ctr" rtl="0">
              <a:spcBef>
                <a:spcPts val="518"/>
              </a:spcBef>
              <a:spcAft>
                <a:spcPts val="0"/>
              </a:spcAft>
              <a:buClr>
                <a:srgbClr val="888888"/>
              </a:buClr>
              <a:buSzPts val="2800"/>
              <a:buNone/>
            </a:pPr>
            <a:r>
              <a:rPr lang="en-US" sz="2800"/>
              <a:t>Universiti Teknologi Malaysia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Outline</a:t>
            </a:r>
            <a:endParaRPr/>
          </a:p>
        </p:txBody>
      </p:sp>
      <p:sp>
        <p:nvSpPr>
          <p:cNvPr id="111" name="Google Shape;111;p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a:t>Software engineering definition</a:t>
            </a:r>
            <a:endParaRPr/>
          </a:p>
          <a:p>
            <a:pPr marL="342900" lvl="0" indent="-342900" algn="l" rtl="0">
              <a:spcBef>
                <a:spcPts val="640"/>
              </a:spcBef>
              <a:spcAft>
                <a:spcPts val="0"/>
              </a:spcAft>
              <a:buClr>
                <a:schemeClr val="dk1"/>
              </a:buClr>
              <a:buSzPts val="3200"/>
              <a:buChar char="•"/>
            </a:pPr>
            <a:r>
              <a:rPr lang="en-US"/>
              <a:t>Software engineering as a layered technology</a:t>
            </a:r>
            <a:endParaRPr/>
          </a:p>
          <a:p>
            <a:pPr marL="342900" lvl="0" indent="-342900" algn="l" rtl="0">
              <a:spcBef>
                <a:spcPts val="640"/>
              </a:spcBef>
              <a:spcAft>
                <a:spcPts val="0"/>
              </a:spcAft>
              <a:buClr>
                <a:schemeClr val="dk1"/>
              </a:buClr>
              <a:buSzPts val="3200"/>
              <a:buChar char="•"/>
            </a:pPr>
            <a:r>
              <a:rPr lang="en-US"/>
              <a:t>Types of software</a:t>
            </a:r>
            <a:endParaRPr/>
          </a:p>
          <a:p>
            <a:pPr marL="342900" lvl="0" indent="-342900" algn="l" rtl="0">
              <a:spcBef>
                <a:spcPts val="640"/>
              </a:spcBef>
              <a:spcAft>
                <a:spcPts val="0"/>
              </a:spcAft>
              <a:buClr>
                <a:schemeClr val="dk1"/>
              </a:buClr>
              <a:buSzPts val="3200"/>
              <a:buChar char="•"/>
            </a:pPr>
            <a:r>
              <a:rPr lang="en-US"/>
              <a:t>Inherent difficulties in software engineering</a:t>
            </a:r>
            <a:endParaRPr/>
          </a:p>
          <a:p>
            <a:pPr marL="342900" lvl="0" indent="-342900" algn="l" rtl="0">
              <a:spcBef>
                <a:spcPts val="640"/>
              </a:spcBef>
              <a:spcAft>
                <a:spcPts val="0"/>
              </a:spcAft>
              <a:buClr>
                <a:schemeClr val="dk1"/>
              </a:buClr>
              <a:buSzPts val="3200"/>
              <a:buChar char="•"/>
            </a:pPr>
            <a:r>
              <a:rPr lang="en-US"/>
              <a:t>Software engineering quality focus</a:t>
            </a:r>
            <a:endParaRPr/>
          </a:p>
          <a:p>
            <a:pPr marL="342900" lvl="0" indent="-342900" algn="l" rtl="0">
              <a:spcBef>
                <a:spcPts val="640"/>
              </a:spcBef>
              <a:spcAft>
                <a:spcPts val="0"/>
              </a:spcAft>
              <a:buClr>
                <a:schemeClr val="dk1"/>
              </a:buClr>
              <a:buSzPts val="3200"/>
              <a:buChar char="•"/>
            </a:pPr>
            <a:r>
              <a:rPr lang="en-US"/>
              <a:t>Documentation standard</a:t>
            </a:r>
            <a:endParaRPr/>
          </a:p>
          <a:p>
            <a:pPr marL="0" lvl="0" indent="0" algn="l" rtl="0">
              <a:spcBef>
                <a:spcPts val="640"/>
              </a:spcBef>
              <a:spcAft>
                <a:spcPts val="0"/>
              </a:spcAft>
              <a:buClr>
                <a:schemeClr val="dk1"/>
              </a:buClr>
              <a:buSzPts val="3200"/>
              <a:buNone/>
            </a:pPr>
            <a:r>
              <a:rPr lang="en-US"/>
              <a:t>	</a:t>
            </a:r>
            <a:endParaRPr/>
          </a:p>
          <a:p>
            <a:pPr marL="342900" lvl="0" indent="-139700" algn="l" rtl="0">
              <a:spcBef>
                <a:spcPts val="640"/>
              </a:spcBef>
              <a:spcAft>
                <a:spcPts val="0"/>
              </a:spcAft>
              <a:buClr>
                <a:schemeClr val="dk1"/>
              </a:buClr>
              <a:buSzPts val="3200"/>
              <a:buNone/>
            </a:pPr>
            <a:endParaRPr/>
          </a:p>
        </p:txBody>
      </p:sp>
      <p:sp>
        <p:nvSpPr>
          <p:cNvPr id="112" name="Google Shape;112;p2"/>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sp>
        <p:nvSpPr>
          <p:cNvPr id="113" name="Google Shape;113;p2"/>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Software Engineering</a:t>
            </a:r>
            <a:endParaRPr/>
          </a:p>
        </p:txBody>
      </p:sp>
      <p:sp>
        <p:nvSpPr>
          <p:cNvPr id="114" name="Google Shape;114;p2"/>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a:p>
        </p:txBody>
      </p:sp>
      <p:sp>
        <p:nvSpPr>
          <p:cNvPr id="115" name="Google Shape;115;p2"/>
          <p:cNvSpPr txBox="1"/>
          <p:nvPr/>
        </p:nvSpPr>
        <p:spPr>
          <a:xfrm>
            <a:off x="446315" y="5764087"/>
            <a:ext cx="8392886"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u="none" strike="noStrike" cap="none">
                <a:solidFill>
                  <a:srgbClr val="C00000"/>
                </a:solidFill>
                <a:latin typeface="Calibri"/>
                <a:ea typeface="Calibri"/>
                <a:cs typeface="Calibri"/>
                <a:sym typeface="Calibri"/>
              </a:rPr>
              <a:t>Note: The overall contents of the slide are based on the main reference that is Sommerville (2016) with other references specified directly in respective slides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Objectives</a:t>
            </a:r>
            <a:endParaRPr/>
          </a:p>
        </p:txBody>
      </p:sp>
      <p:sp>
        <p:nvSpPr>
          <p:cNvPr id="121" name="Google Shape;121;p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2800"/>
              <a:buNone/>
            </a:pPr>
            <a:r>
              <a:rPr lang="en-US" sz="2800"/>
              <a:t>The objectives of this module are:</a:t>
            </a:r>
            <a:endParaRPr sz="2800"/>
          </a:p>
          <a:p>
            <a:pPr marL="342900" lvl="0" indent="-342900" algn="l" rtl="0">
              <a:spcBef>
                <a:spcPts val="560"/>
              </a:spcBef>
              <a:spcAft>
                <a:spcPts val="0"/>
              </a:spcAft>
              <a:buClr>
                <a:schemeClr val="dk1"/>
              </a:buClr>
              <a:buSzPts val="2800"/>
              <a:buChar char="•"/>
            </a:pPr>
            <a:r>
              <a:rPr lang="en-US" sz="2800"/>
              <a:t>To understand the importance of software engineering in software development </a:t>
            </a:r>
            <a:endParaRPr/>
          </a:p>
          <a:p>
            <a:pPr marL="342900" lvl="0" indent="-342900" algn="l" rtl="0">
              <a:spcBef>
                <a:spcPts val="560"/>
              </a:spcBef>
              <a:spcAft>
                <a:spcPts val="0"/>
              </a:spcAft>
              <a:buClr>
                <a:schemeClr val="dk1"/>
              </a:buClr>
              <a:buSzPts val="2800"/>
              <a:buChar char="•"/>
            </a:pPr>
            <a:r>
              <a:rPr lang="en-US" sz="2800"/>
              <a:t>To understand the definition of software engineering</a:t>
            </a:r>
            <a:endParaRPr sz="2800"/>
          </a:p>
          <a:p>
            <a:pPr marL="342900" lvl="0" indent="-342900" algn="l" rtl="0">
              <a:spcBef>
                <a:spcPts val="560"/>
              </a:spcBef>
              <a:spcAft>
                <a:spcPts val="0"/>
              </a:spcAft>
              <a:buClr>
                <a:schemeClr val="dk1"/>
              </a:buClr>
              <a:buSzPts val="2800"/>
              <a:buChar char="•"/>
            </a:pPr>
            <a:r>
              <a:rPr lang="en-US" sz="2800"/>
              <a:t>To know the difference between Software Engineering and Computer Science, Software Engineering and Software Programming</a:t>
            </a:r>
            <a:endParaRPr sz="2800"/>
          </a:p>
          <a:p>
            <a:pPr marL="342900" lvl="0" indent="-342900" algn="l" rtl="0">
              <a:spcBef>
                <a:spcPts val="560"/>
              </a:spcBef>
              <a:spcAft>
                <a:spcPts val="0"/>
              </a:spcAft>
              <a:buClr>
                <a:schemeClr val="dk1"/>
              </a:buClr>
              <a:buSzPts val="2800"/>
              <a:buChar char="•"/>
            </a:pPr>
            <a:r>
              <a:rPr lang="en-US" sz="2800"/>
              <a:t>To understand the importance of software quality and documentation standard</a:t>
            </a:r>
            <a:endParaRPr sz="2800"/>
          </a:p>
          <a:p>
            <a:pPr marL="0" lvl="0" indent="0" algn="l" rtl="0">
              <a:spcBef>
                <a:spcPts val="560"/>
              </a:spcBef>
              <a:spcAft>
                <a:spcPts val="0"/>
              </a:spcAft>
              <a:buClr>
                <a:schemeClr val="dk1"/>
              </a:buClr>
              <a:buSzPts val="2800"/>
              <a:buNone/>
            </a:pPr>
            <a:endParaRPr sz="2800"/>
          </a:p>
        </p:txBody>
      </p:sp>
      <p:sp>
        <p:nvSpPr>
          <p:cNvPr id="122" name="Google Shape;122;p3"/>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sp>
        <p:nvSpPr>
          <p:cNvPr id="123" name="Google Shape;123;p3"/>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Software Engineering</a:t>
            </a:r>
            <a:endParaRPr/>
          </a:p>
        </p:txBody>
      </p:sp>
      <p:sp>
        <p:nvSpPr>
          <p:cNvPr id="124" name="Google Shape;124;p3"/>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pic>
        <p:nvPicPr>
          <p:cNvPr id="129" name="Google Shape;129;p4"/>
          <p:cNvPicPr preferRelativeResize="0"/>
          <p:nvPr/>
        </p:nvPicPr>
        <p:blipFill rotWithShape="1">
          <a:blip r:embed="rId3">
            <a:alphaModFix/>
          </a:blip>
          <a:srcRect/>
          <a:stretch/>
        </p:blipFill>
        <p:spPr>
          <a:xfrm>
            <a:off x="2362200" y="4120991"/>
            <a:ext cx="4191000" cy="2273618"/>
          </a:xfrm>
          <a:prstGeom prst="rect">
            <a:avLst/>
          </a:prstGeom>
          <a:noFill/>
          <a:ln>
            <a:noFill/>
          </a:ln>
        </p:spPr>
      </p:pic>
      <p:sp>
        <p:nvSpPr>
          <p:cNvPr id="130" name="Google Shape;130;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dk1"/>
              </a:buClr>
              <a:buSzPts val="4400"/>
              <a:buFont typeface="Calibri"/>
              <a:buNone/>
            </a:pPr>
            <a:r>
              <a:rPr lang="en-US"/>
              <a:t>The Importance of Software Engineering</a:t>
            </a:r>
            <a:endParaRPr/>
          </a:p>
        </p:txBody>
      </p:sp>
      <p:sp>
        <p:nvSpPr>
          <p:cNvPr id="131" name="Google Shape;131;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a:t>Software engineering is important because software is needed in almost every industry, business and transactions</a:t>
            </a:r>
            <a:endParaRPr/>
          </a:p>
          <a:p>
            <a:pPr marL="342900" lvl="0" indent="-342900" algn="l" rtl="0">
              <a:spcBef>
                <a:spcPts val="640"/>
              </a:spcBef>
              <a:spcAft>
                <a:spcPts val="0"/>
              </a:spcAft>
              <a:buClr>
                <a:schemeClr val="dk1"/>
              </a:buClr>
              <a:buSzPts val="3200"/>
              <a:buChar char="•"/>
            </a:pPr>
            <a:r>
              <a:rPr lang="en-US"/>
              <a:t>If an application fails; a fast, efficient, and effective fix needs to happen as soon as possible</a:t>
            </a:r>
            <a:endParaRPr/>
          </a:p>
        </p:txBody>
      </p:sp>
      <p:sp>
        <p:nvSpPr>
          <p:cNvPr id="132" name="Google Shape;132;p4"/>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sp>
        <p:nvSpPr>
          <p:cNvPr id="133" name="Google Shape;133;p4"/>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Software Engineering</a:t>
            </a:r>
            <a:endParaRPr/>
          </a:p>
        </p:txBody>
      </p:sp>
      <p:sp>
        <p:nvSpPr>
          <p:cNvPr id="134" name="Google Shape;134;p4"/>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Software Engineering Costs</a:t>
            </a:r>
            <a:endParaRPr/>
          </a:p>
        </p:txBody>
      </p:sp>
      <p:sp>
        <p:nvSpPr>
          <p:cNvPr id="140" name="Google Shape;140;p5"/>
          <p:cNvSpPr txBox="1">
            <a:spLocks noGrp="1"/>
          </p:cNvSpPr>
          <p:nvPr>
            <p:ph type="body" idx="1"/>
          </p:nvPr>
        </p:nvSpPr>
        <p:spPr>
          <a:xfrm>
            <a:off x="304800" y="1600200"/>
            <a:ext cx="8610600" cy="2307873"/>
          </a:xfrm>
          <a:prstGeom prst="rect">
            <a:avLst/>
          </a:prstGeom>
          <a:noFill/>
          <a:ln>
            <a:noFill/>
          </a:ln>
        </p:spPr>
        <p:txBody>
          <a:bodyPr spcFirstLastPara="1" wrap="square" lIns="91425" tIns="45700" rIns="91425" bIns="45700" anchor="t" anchorCtr="0">
            <a:normAutofit fontScale="92500" lnSpcReduction="10000"/>
          </a:bodyPr>
          <a:lstStyle/>
          <a:p>
            <a:pPr marL="342900" lvl="0" indent="-342900" algn="l" rtl="0">
              <a:spcBef>
                <a:spcPts val="0"/>
              </a:spcBef>
              <a:spcAft>
                <a:spcPts val="0"/>
              </a:spcAft>
              <a:buClr>
                <a:schemeClr val="dk1"/>
              </a:buClr>
              <a:buSzPct val="100000"/>
              <a:buChar char="•"/>
            </a:pPr>
            <a:r>
              <a:rPr lang="en-US" sz="2600"/>
              <a:t>Software costs are often greater than that of hardware</a:t>
            </a:r>
            <a:endParaRPr sz="2600">
              <a:solidFill>
                <a:srgbClr val="000000"/>
              </a:solidFill>
            </a:endParaRPr>
          </a:p>
          <a:p>
            <a:pPr marL="342900" lvl="0" indent="-342900" algn="l" rtl="0">
              <a:spcBef>
                <a:spcPts val="481"/>
              </a:spcBef>
              <a:spcAft>
                <a:spcPts val="0"/>
              </a:spcAft>
              <a:buClr>
                <a:srgbClr val="000000"/>
              </a:buClr>
              <a:buSzPct val="100000"/>
              <a:buChar char="•"/>
            </a:pPr>
            <a:r>
              <a:rPr lang="en-US" sz="2600">
                <a:solidFill>
                  <a:srgbClr val="000000"/>
                </a:solidFill>
              </a:rPr>
              <a:t>Software costs more to maintain than it does to develop</a:t>
            </a:r>
            <a:endParaRPr/>
          </a:p>
          <a:p>
            <a:pPr marL="342900" lvl="0" indent="-342900" algn="l" rtl="0">
              <a:spcBef>
                <a:spcPts val="481"/>
              </a:spcBef>
              <a:spcAft>
                <a:spcPts val="0"/>
              </a:spcAft>
              <a:buClr>
                <a:srgbClr val="000000"/>
              </a:buClr>
              <a:buSzPct val="100000"/>
              <a:buChar char="•"/>
            </a:pPr>
            <a:r>
              <a:rPr lang="en-US" sz="2600">
                <a:solidFill>
                  <a:srgbClr val="000000"/>
                </a:solidFill>
              </a:rPr>
              <a:t>For systems with a long life, </a:t>
            </a:r>
            <a:r>
              <a:rPr lang="en-US" sz="2600" b="1">
                <a:solidFill>
                  <a:srgbClr val="C00000"/>
                </a:solidFill>
              </a:rPr>
              <a:t>maintenance costs </a:t>
            </a:r>
            <a:r>
              <a:rPr lang="en-US" sz="2600">
                <a:solidFill>
                  <a:srgbClr val="000000"/>
                </a:solidFill>
              </a:rPr>
              <a:t>may be several times higher than development costs</a:t>
            </a:r>
            <a:endParaRPr sz="2600"/>
          </a:p>
          <a:p>
            <a:pPr marL="342900" lvl="0" indent="-342900" algn="l" rtl="0">
              <a:spcBef>
                <a:spcPts val="481"/>
              </a:spcBef>
              <a:spcAft>
                <a:spcPts val="0"/>
              </a:spcAft>
              <a:buClr>
                <a:schemeClr val="dk1"/>
              </a:buClr>
              <a:buSzPct val="100000"/>
              <a:buChar char="•"/>
            </a:pPr>
            <a:r>
              <a:rPr lang="en-US" sz="2600"/>
              <a:t>Therefore software engineering is concerned with </a:t>
            </a:r>
            <a:r>
              <a:rPr lang="en-US" sz="2600" b="1">
                <a:solidFill>
                  <a:srgbClr val="C00000"/>
                </a:solidFill>
              </a:rPr>
              <a:t>cost-effective </a:t>
            </a:r>
            <a:r>
              <a:rPr lang="en-US" sz="2600"/>
              <a:t>software development</a:t>
            </a:r>
            <a:endParaRPr/>
          </a:p>
        </p:txBody>
      </p:sp>
      <p:sp>
        <p:nvSpPr>
          <p:cNvPr id="141" name="Google Shape;141;p5"/>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sp>
        <p:nvSpPr>
          <p:cNvPr id="142" name="Google Shape;142;p5"/>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Software Engineering</a:t>
            </a:r>
            <a:endParaRPr/>
          </a:p>
        </p:txBody>
      </p:sp>
      <p:sp>
        <p:nvSpPr>
          <p:cNvPr id="143" name="Google Shape;143;p5"/>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a:t>
            </a:fld>
            <a:endParaRPr/>
          </a:p>
        </p:txBody>
      </p:sp>
      <p:pic>
        <p:nvPicPr>
          <p:cNvPr id="144" name="Google Shape;144;p5"/>
          <p:cNvPicPr preferRelativeResize="0"/>
          <p:nvPr/>
        </p:nvPicPr>
        <p:blipFill rotWithShape="1">
          <a:blip r:embed="rId3">
            <a:alphaModFix/>
          </a:blip>
          <a:srcRect/>
          <a:stretch/>
        </p:blipFill>
        <p:spPr>
          <a:xfrm>
            <a:off x="211358" y="3845687"/>
            <a:ext cx="3792979" cy="2292908"/>
          </a:xfrm>
          <a:prstGeom prst="rect">
            <a:avLst/>
          </a:prstGeom>
          <a:noFill/>
          <a:ln>
            <a:noFill/>
          </a:ln>
        </p:spPr>
      </p:pic>
      <p:sp>
        <p:nvSpPr>
          <p:cNvPr id="145" name="Google Shape;145;p5"/>
          <p:cNvSpPr txBox="1"/>
          <p:nvPr/>
        </p:nvSpPr>
        <p:spPr>
          <a:xfrm>
            <a:off x="-16042" y="6076208"/>
            <a:ext cx="504080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Image source: </a:t>
            </a:r>
            <a:r>
              <a:rPr lang="en-US" sz="1800" u="sng">
                <a:solidFill>
                  <a:schemeClr val="dk1"/>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http://cerescontrols.com/tutorials-3/</a:t>
            </a:r>
            <a:endParaRPr sz="1800">
              <a:solidFill>
                <a:schemeClr val="dk1"/>
              </a:solidFill>
              <a:latin typeface="Calibri"/>
              <a:ea typeface="Calibri"/>
              <a:cs typeface="Calibri"/>
              <a:sym typeface="Calibri"/>
            </a:endParaRPr>
          </a:p>
        </p:txBody>
      </p:sp>
      <p:pic>
        <p:nvPicPr>
          <p:cNvPr id="146" name="Google Shape;146;p5"/>
          <p:cNvPicPr preferRelativeResize="0"/>
          <p:nvPr/>
        </p:nvPicPr>
        <p:blipFill rotWithShape="1">
          <a:blip r:embed="rId5">
            <a:alphaModFix/>
          </a:blip>
          <a:srcRect/>
          <a:stretch/>
        </p:blipFill>
        <p:spPr>
          <a:xfrm>
            <a:off x="4457699" y="3879998"/>
            <a:ext cx="4463118" cy="2292907"/>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Software Engineering in Software Development</a:t>
            </a:r>
            <a:endParaRPr/>
          </a:p>
        </p:txBody>
      </p:sp>
      <p:sp>
        <p:nvSpPr>
          <p:cNvPr id="152" name="Google Shape;152;p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2800"/>
              <a:buChar char="•"/>
            </a:pPr>
            <a:r>
              <a:rPr lang="en-US" sz="2800"/>
              <a:t>Software engineering is concerned with </a:t>
            </a:r>
            <a:r>
              <a:rPr lang="en-US" sz="2800" b="1">
                <a:solidFill>
                  <a:srgbClr val="C00000"/>
                </a:solidFill>
              </a:rPr>
              <a:t>theories</a:t>
            </a:r>
            <a:r>
              <a:rPr lang="en-US" sz="2800"/>
              <a:t>, </a:t>
            </a:r>
            <a:r>
              <a:rPr lang="en-US" sz="2800" b="1">
                <a:solidFill>
                  <a:srgbClr val="C00000"/>
                </a:solidFill>
              </a:rPr>
              <a:t>methods</a:t>
            </a:r>
            <a:r>
              <a:rPr lang="en-US" sz="2800"/>
              <a:t> and </a:t>
            </a:r>
            <a:r>
              <a:rPr lang="en-US" sz="2800" b="1">
                <a:solidFill>
                  <a:srgbClr val="C00000"/>
                </a:solidFill>
              </a:rPr>
              <a:t>tools</a:t>
            </a:r>
            <a:r>
              <a:rPr lang="en-US" sz="2800"/>
              <a:t> for professional software development</a:t>
            </a:r>
            <a:endParaRPr/>
          </a:p>
          <a:p>
            <a:pPr marL="342900" lvl="0" indent="-342900" algn="l" rtl="0">
              <a:spcBef>
                <a:spcPts val="560"/>
              </a:spcBef>
              <a:spcAft>
                <a:spcPts val="0"/>
              </a:spcAft>
              <a:buClr>
                <a:schemeClr val="dk1"/>
              </a:buClr>
              <a:buSzPts val="2800"/>
              <a:buChar char="•"/>
            </a:pPr>
            <a:r>
              <a:rPr lang="en-US" sz="2800"/>
              <a:t>Software engineers should adopt a </a:t>
            </a:r>
            <a:r>
              <a:rPr lang="en-US" sz="2800" b="1">
                <a:solidFill>
                  <a:srgbClr val="C00000"/>
                </a:solidFill>
              </a:rPr>
              <a:t>systematic</a:t>
            </a:r>
            <a:r>
              <a:rPr lang="en-US" sz="2800"/>
              <a:t> and </a:t>
            </a:r>
            <a:r>
              <a:rPr lang="en-US" sz="2800" b="1">
                <a:solidFill>
                  <a:srgbClr val="C00000"/>
                </a:solidFill>
              </a:rPr>
              <a:t>organised approach </a:t>
            </a:r>
            <a:r>
              <a:rPr lang="en-US" sz="2800"/>
              <a:t>to their work and use appropriate tools and techniques depending on the problem to be solved, the development constraints and the resources available</a:t>
            </a:r>
            <a:endParaRPr/>
          </a:p>
          <a:p>
            <a:pPr marL="342900" lvl="0" indent="-165100" algn="l" rtl="0">
              <a:spcBef>
                <a:spcPts val="560"/>
              </a:spcBef>
              <a:spcAft>
                <a:spcPts val="0"/>
              </a:spcAft>
              <a:buClr>
                <a:schemeClr val="dk1"/>
              </a:buClr>
              <a:buSzPts val="2800"/>
              <a:buNone/>
            </a:pPr>
            <a:endParaRPr sz="2800"/>
          </a:p>
        </p:txBody>
      </p:sp>
      <p:sp>
        <p:nvSpPr>
          <p:cNvPr id="153" name="Google Shape;153;p6"/>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sp>
        <p:nvSpPr>
          <p:cNvPr id="154" name="Google Shape;154;p6"/>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Software Engineering</a:t>
            </a:r>
            <a:endParaRPr/>
          </a:p>
        </p:txBody>
      </p:sp>
      <p:sp>
        <p:nvSpPr>
          <p:cNvPr id="155" name="Google Shape;155;p6"/>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Software Engineering Definition</a:t>
            </a:r>
            <a:endParaRPr/>
          </a:p>
        </p:txBody>
      </p:sp>
      <p:sp>
        <p:nvSpPr>
          <p:cNvPr id="162" name="Google Shape;162;p7"/>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lnSpcReduction="10000"/>
          </a:bodyPr>
          <a:lstStyle/>
          <a:p>
            <a:pPr marL="342900" lvl="0" indent="-342900" algn="l" rtl="0">
              <a:spcBef>
                <a:spcPts val="0"/>
              </a:spcBef>
              <a:spcAft>
                <a:spcPts val="0"/>
              </a:spcAft>
              <a:buClr>
                <a:schemeClr val="dk1"/>
              </a:buClr>
              <a:buSzPts val="3200"/>
              <a:buChar char="•"/>
            </a:pPr>
            <a:r>
              <a:rPr lang="en-US"/>
              <a:t>Software engineering is an </a:t>
            </a:r>
            <a:r>
              <a:rPr lang="en-US" b="1">
                <a:solidFill>
                  <a:srgbClr val="C00000"/>
                </a:solidFill>
              </a:rPr>
              <a:t>engineering discipline</a:t>
            </a:r>
            <a:r>
              <a:rPr lang="en-US"/>
              <a:t> that is concerned with all aspects of </a:t>
            </a:r>
            <a:r>
              <a:rPr lang="en-US" b="1">
                <a:solidFill>
                  <a:srgbClr val="C00000"/>
                </a:solidFill>
              </a:rPr>
              <a:t>software production</a:t>
            </a:r>
            <a:r>
              <a:rPr lang="en-US"/>
              <a:t>.</a:t>
            </a:r>
            <a:endParaRPr/>
          </a:p>
          <a:p>
            <a:pPr marL="342900" lvl="0" indent="-139700" algn="l" rtl="0">
              <a:spcBef>
                <a:spcPts val="640"/>
              </a:spcBef>
              <a:spcAft>
                <a:spcPts val="0"/>
              </a:spcAft>
              <a:buClr>
                <a:schemeClr val="dk1"/>
              </a:buClr>
              <a:buSzPts val="3200"/>
              <a:buNone/>
            </a:pPr>
            <a:endParaRPr/>
          </a:p>
          <a:p>
            <a:pPr marL="342900" lvl="0" indent="-342900" algn="l" rtl="0">
              <a:spcBef>
                <a:spcPts val="640"/>
              </a:spcBef>
              <a:spcAft>
                <a:spcPts val="0"/>
              </a:spcAft>
              <a:buClr>
                <a:schemeClr val="dk1"/>
              </a:buClr>
              <a:buSzPts val="3200"/>
              <a:buChar char="•"/>
            </a:pPr>
            <a:r>
              <a:rPr lang="en-US"/>
              <a:t>“The application of a systematic, disciplines, quantifiable approach to the development, operation, and maintenance of software; that is the application of engineering to software.” (IEEE, 1993)</a:t>
            </a:r>
            <a:endParaRPr/>
          </a:p>
          <a:p>
            <a:pPr marL="342900" lvl="0" indent="-139700" algn="l" rtl="0">
              <a:spcBef>
                <a:spcPts val="640"/>
              </a:spcBef>
              <a:spcAft>
                <a:spcPts val="0"/>
              </a:spcAft>
              <a:buClr>
                <a:schemeClr val="dk1"/>
              </a:buClr>
              <a:buSzPts val="3200"/>
              <a:buNone/>
            </a:pPr>
            <a:endParaRPr/>
          </a:p>
          <a:p>
            <a:pPr marL="342900" lvl="0" indent="-139700" algn="l" rtl="0">
              <a:spcBef>
                <a:spcPts val="640"/>
              </a:spcBef>
              <a:spcAft>
                <a:spcPts val="0"/>
              </a:spcAft>
              <a:buClr>
                <a:schemeClr val="dk1"/>
              </a:buClr>
              <a:buSzPts val="3200"/>
              <a:buNone/>
            </a:pPr>
            <a:endParaRPr/>
          </a:p>
          <a:p>
            <a:pPr marL="0" lvl="0" indent="0" algn="l" rtl="0">
              <a:spcBef>
                <a:spcPts val="640"/>
              </a:spcBef>
              <a:spcAft>
                <a:spcPts val="0"/>
              </a:spcAft>
              <a:buClr>
                <a:schemeClr val="dk1"/>
              </a:buClr>
              <a:buSzPts val="3200"/>
              <a:buNone/>
            </a:pPr>
            <a:endParaRPr/>
          </a:p>
        </p:txBody>
      </p:sp>
      <p:sp>
        <p:nvSpPr>
          <p:cNvPr id="163" name="Google Shape;163;p7"/>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sp>
        <p:nvSpPr>
          <p:cNvPr id="164" name="Google Shape;164;p7"/>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Software Engineering</a:t>
            </a:r>
            <a:endParaRPr/>
          </a:p>
        </p:txBody>
      </p:sp>
      <p:sp>
        <p:nvSpPr>
          <p:cNvPr id="165" name="Google Shape;165;p7"/>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Software Engineering as a Layered Technology</a:t>
            </a:r>
            <a:endParaRPr/>
          </a:p>
        </p:txBody>
      </p:sp>
      <p:pic>
        <p:nvPicPr>
          <p:cNvPr id="172" name="Google Shape;172;p8"/>
          <p:cNvPicPr preferRelativeResize="0">
            <a:picLocks noGrp="1"/>
          </p:cNvPicPr>
          <p:nvPr>
            <p:ph type="body" idx="1"/>
          </p:nvPr>
        </p:nvPicPr>
        <p:blipFill rotWithShape="1">
          <a:blip r:embed="rId3">
            <a:alphaModFix/>
          </a:blip>
          <a:srcRect/>
          <a:stretch/>
        </p:blipFill>
        <p:spPr>
          <a:xfrm>
            <a:off x="152400" y="1978741"/>
            <a:ext cx="3666203" cy="3076992"/>
          </a:xfrm>
          <a:prstGeom prst="rect">
            <a:avLst/>
          </a:prstGeom>
          <a:noFill/>
          <a:ln>
            <a:noFill/>
          </a:ln>
        </p:spPr>
      </p:pic>
      <p:sp>
        <p:nvSpPr>
          <p:cNvPr id="173" name="Google Shape;173;p8"/>
          <p:cNvSpPr txBox="1">
            <a:spLocks noGrp="1"/>
          </p:cNvSpPr>
          <p:nvPr>
            <p:ph type="body" idx="2"/>
          </p:nvPr>
        </p:nvSpPr>
        <p:spPr>
          <a:xfrm>
            <a:off x="3657600" y="1491114"/>
            <a:ext cx="5257800" cy="4452486"/>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Clr>
                <a:srgbClr val="366092"/>
              </a:buClr>
              <a:buSzPts val="2000"/>
              <a:buChar char="•"/>
            </a:pPr>
            <a:r>
              <a:rPr lang="en-US" sz="2000" b="1">
                <a:solidFill>
                  <a:srgbClr val="366092"/>
                </a:solidFill>
              </a:rPr>
              <a:t>Quality Focus: </a:t>
            </a:r>
            <a:r>
              <a:rPr lang="en-US" sz="2000"/>
              <a:t>The bedrock that supports software engineering is quality focus where it ensures continuous process improvement culture.</a:t>
            </a:r>
            <a:endParaRPr/>
          </a:p>
          <a:p>
            <a:pPr marL="342900" lvl="0" indent="-342900" algn="l" rtl="0">
              <a:spcBef>
                <a:spcPts val="400"/>
              </a:spcBef>
              <a:spcAft>
                <a:spcPts val="0"/>
              </a:spcAft>
              <a:buClr>
                <a:srgbClr val="366092"/>
              </a:buClr>
              <a:buSzPts val="2000"/>
              <a:buChar char="•"/>
            </a:pPr>
            <a:r>
              <a:rPr lang="en-US" sz="2000" b="1">
                <a:solidFill>
                  <a:srgbClr val="366092"/>
                </a:solidFill>
              </a:rPr>
              <a:t>Process:</a:t>
            </a:r>
            <a:r>
              <a:rPr lang="en-US" sz="2000"/>
              <a:t>Foundation for software engineering which enables rational and timely development of computer software</a:t>
            </a:r>
            <a:endParaRPr/>
          </a:p>
          <a:p>
            <a:pPr marL="342900" lvl="0" indent="-342900" algn="l" rtl="0">
              <a:spcBef>
                <a:spcPts val="400"/>
              </a:spcBef>
              <a:spcAft>
                <a:spcPts val="0"/>
              </a:spcAft>
              <a:buClr>
                <a:srgbClr val="366092"/>
              </a:buClr>
              <a:buSzPts val="2000"/>
              <a:buChar char="•"/>
            </a:pPr>
            <a:r>
              <a:rPr lang="en-US" sz="2000" b="1">
                <a:solidFill>
                  <a:srgbClr val="366092"/>
                </a:solidFill>
              </a:rPr>
              <a:t>Methods:</a:t>
            </a:r>
            <a:r>
              <a:rPr lang="en-US" sz="2000"/>
              <a:t> provide technical how to’s for building software. Involve different tasks including requirements analysis, design, program construction, testing and support. Methods also include modeling activities</a:t>
            </a:r>
            <a:endParaRPr/>
          </a:p>
          <a:p>
            <a:pPr marL="342900" lvl="0" indent="-342900" algn="l" rtl="0">
              <a:spcBef>
                <a:spcPts val="400"/>
              </a:spcBef>
              <a:spcAft>
                <a:spcPts val="0"/>
              </a:spcAft>
              <a:buClr>
                <a:srgbClr val="366092"/>
              </a:buClr>
              <a:buSzPts val="2000"/>
              <a:buChar char="•"/>
            </a:pPr>
            <a:r>
              <a:rPr lang="en-US" sz="2000" b="1">
                <a:solidFill>
                  <a:srgbClr val="366092"/>
                </a:solidFill>
              </a:rPr>
              <a:t>Tools: </a:t>
            </a:r>
            <a:r>
              <a:rPr lang="en-US" sz="2000"/>
              <a:t>provide automated or semi-automated support for the process and methods</a:t>
            </a:r>
            <a:endParaRPr/>
          </a:p>
          <a:p>
            <a:pPr marL="342900" lvl="0" indent="-215900" algn="l" rtl="0">
              <a:spcBef>
                <a:spcPts val="400"/>
              </a:spcBef>
              <a:spcAft>
                <a:spcPts val="0"/>
              </a:spcAft>
              <a:buClr>
                <a:schemeClr val="dk1"/>
              </a:buClr>
              <a:buSzPts val="2000"/>
              <a:buNone/>
            </a:pPr>
            <a:endParaRPr sz="2000"/>
          </a:p>
        </p:txBody>
      </p:sp>
      <p:sp>
        <p:nvSpPr>
          <p:cNvPr id="174" name="Google Shape;174;p8"/>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sp>
        <p:nvSpPr>
          <p:cNvPr id="175" name="Google Shape;175;p8"/>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Software Engineering</a:t>
            </a:r>
            <a:endParaRPr/>
          </a:p>
        </p:txBody>
      </p:sp>
      <p:sp>
        <p:nvSpPr>
          <p:cNvPr id="176" name="Google Shape;176;p8"/>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a:t>
            </a:fld>
            <a:endParaRPr/>
          </a:p>
        </p:txBody>
      </p:sp>
      <p:sp>
        <p:nvSpPr>
          <p:cNvPr id="177" name="Google Shape;177;p8"/>
          <p:cNvSpPr/>
          <p:nvPr/>
        </p:nvSpPr>
        <p:spPr>
          <a:xfrm>
            <a:off x="38100" y="5685186"/>
            <a:ext cx="8915400" cy="86177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a:solidFill>
                  <a:srgbClr val="C00000"/>
                </a:solidFill>
                <a:latin typeface="Calibri"/>
                <a:ea typeface="Calibri"/>
                <a:cs typeface="Calibri"/>
                <a:sym typeface="Calibri"/>
              </a:rPr>
              <a:t>Source:</a:t>
            </a:r>
            <a:endParaRPr/>
          </a:p>
          <a:p>
            <a:pPr marL="0" marR="0" lvl="0" indent="0" algn="l" rtl="0">
              <a:spcBef>
                <a:spcPts val="0"/>
              </a:spcBef>
              <a:spcAft>
                <a:spcPts val="0"/>
              </a:spcAft>
              <a:buNone/>
            </a:pPr>
            <a:r>
              <a:rPr lang="en-US" sz="1600" i="1">
                <a:solidFill>
                  <a:srgbClr val="C00000"/>
                </a:solidFill>
                <a:latin typeface="Calibri"/>
                <a:ea typeface="Calibri"/>
                <a:cs typeface="Calibri"/>
                <a:sym typeface="Calibri"/>
              </a:rPr>
              <a:t>Agarwal, U. (2019).  Software Engineering, Kataria and Sons. </a:t>
            </a:r>
            <a:endParaRPr sz="1600">
              <a:solidFill>
                <a:srgbClr val="C00000"/>
              </a:solidFill>
              <a:latin typeface="Calibri"/>
              <a:ea typeface="Calibri"/>
              <a:cs typeface="Calibri"/>
              <a:sym typeface="Calibri"/>
            </a:endParaRPr>
          </a:p>
          <a:p>
            <a:pPr marL="0" marR="0" lvl="0" indent="0" algn="l" rtl="0">
              <a:spcBef>
                <a:spcPts val="0"/>
              </a:spcBef>
              <a:spcAft>
                <a:spcPts val="0"/>
              </a:spcAft>
              <a:buNone/>
            </a:pPr>
            <a:r>
              <a:rPr lang="en-US" sz="1600" i="1">
                <a:solidFill>
                  <a:srgbClr val="C00000"/>
                </a:solidFill>
                <a:latin typeface="Calibri"/>
                <a:ea typeface="Calibri"/>
                <a:cs typeface="Calibri"/>
                <a:sym typeface="Calibri"/>
              </a:rPr>
              <a:t>https://www.geeksforgeeks.org/layered-technology-in-software-engineering/</a:t>
            </a:r>
            <a:endParaRPr/>
          </a:p>
        </p:txBody>
      </p:sp>
      <p:sp>
        <p:nvSpPr>
          <p:cNvPr id="178" name="Google Shape;178;p8"/>
          <p:cNvSpPr txBox="1"/>
          <p:nvPr/>
        </p:nvSpPr>
        <p:spPr>
          <a:xfrm>
            <a:off x="152400" y="5136248"/>
            <a:ext cx="3666203" cy="523220"/>
          </a:xfrm>
          <a:prstGeom prst="rect">
            <a:avLst/>
          </a:prstGeom>
          <a:solidFill>
            <a:schemeClr val="lt1"/>
          </a:solidFill>
          <a:ln w="9525" cap="flat" cmpd="sng">
            <a:solidFill>
              <a:srgbClr val="FF0000"/>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chemeClr val="dk1"/>
                </a:solidFill>
                <a:latin typeface="Calibri"/>
                <a:ea typeface="Calibri"/>
                <a:cs typeface="Calibri"/>
                <a:sym typeface="Calibri"/>
              </a:rPr>
              <a:t>Note: The layered technology will be the focus in this lecture and throughout the semester</a:t>
            </a:r>
            <a:endParaRPr sz="140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Software Products and </a:t>
            </a:r>
            <a:br>
              <a:rPr lang="en-US"/>
            </a:br>
            <a:r>
              <a:rPr lang="en-US"/>
              <a:t>Product Specification</a:t>
            </a:r>
            <a:endParaRPr/>
          </a:p>
        </p:txBody>
      </p:sp>
      <p:sp>
        <p:nvSpPr>
          <p:cNvPr id="184" name="Google Shape;184;p9"/>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1"/>
              </a:buClr>
              <a:buSzPts val="2400"/>
              <a:buNone/>
            </a:pPr>
            <a:r>
              <a:rPr lang="en-US"/>
              <a:t>Generic Products</a:t>
            </a:r>
            <a:endParaRPr/>
          </a:p>
        </p:txBody>
      </p:sp>
      <p:sp>
        <p:nvSpPr>
          <p:cNvPr id="185" name="Google Shape;185;p9"/>
          <p:cNvSpPr txBox="1">
            <a:spLocks noGrp="1"/>
          </p:cNvSpPr>
          <p:nvPr>
            <p:ph type="body" idx="2"/>
          </p:nvPr>
        </p:nvSpPr>
        <p:spPr>
          <a:xfrm>
            <a:off x="457200" y="2262653"/>
            <a:ext cx="4040188" cy="4225925"/>
          </a:xfrm>
          <a:prstGeom prst="rect">
            <a:avLst/>
          </a:prstGeom>
          <a:noFill/>
          <a:ln>
            <a:noFill/>
          </a:ln>
        </p:spPr>
        <p:txBody>
          <a:bodyPr spcFirstLastPara="1" wrap="square" lIns="91425" tIns="45700" rIns="91425" bIns="45700" anchor="t" anchorCtr="0">
            <a:normAutofit fontScale="92500" lnSpcReduction="10000"/>
          </a:bodyPr>
          <a:lstStyle/>
          <a:p>
            <a:pPr marL="342900" lvl="0" indent="-342900" algn="l" rtl="0">
              <a:lnSpc>
                <a:spcPct val="80000"/>
              </a:lnSpc>
              <a:spcBef>
                <a:spcPts val="0"/>
              </a:spcBef>
              <a:spcAft>
                <a:spcPts val="0"/>
              </a:spcAft>
              <a:buClr>
                <a:schemeClr val="dk1"/>
              </a:buClr>
              <a:buSzPct val="100000"/>
              <a:buChar char="•"/>
            </a:pPr>
            <a:r>
              <a:rPr lang="en-US"/>
              <a:t>Stand-alone systems that are marketed and sold to any customer who wishes to buy them.</a:t>
            </a:r>
            <a:endParaRPr/>
          </a:p>
          <a:p>
            <a:pPr marL="342900" lvl="0" indent="-342900" algn="l" rtl="0">
              <a:lnSpc>
                <a:spcPct val="80000"/>
              </a:lnSpc>
              <a:spcBef>
                <a:spcPts val="444"/>
              </a:spcBef>
              <a:spcAft>
                <a:spcPts val="0"/>
              </a:spcAft>
              <a:buClr>
                <a:schemeClr val="dk1"/>
              </a:buClr>
              <a:buSzPct val="100000"/>
              <a:buChar char="•"/>
            </a:pPr>
            <a:r>
              <a:rPr lang="en-US"/>
              <a:t>Examples – PC software such as graphics programs, project management tools; CAD software; software for specific markets such as appointments systems for dentists.</a:t>
            </a:r>
            <a:endParaRPr/>
          </a:p>
          <a:p>
            <a:pPr marL="342900" lvl="0" indent="-342900" algn="l" rtl="0">
              <a:lnSpc>
                <a:spcPct val="80000"/>
              </a:lnSpc>
              <a:spcBef>
                <a:spcPts val="444"/>
              </a:spcBef>
              <a:spcAft>
                <a:spcPts val="0"/>
              </a:spcAft>
              <a:buClr>
                <a:schemeClr val="dk1"/>
              </a:buClr>
              <a:buSzPct val="100000"/>
              <a:buChar char="•"/>
            </a:pPr>
            <a:r>
              <a:rPr lang="en-US"/>
              <a:t>The specification of what the software should do is owned by the software developer and decisions on software change are made by the developer.</a:t>
            </a:r>
            <a:endParaRPr/>
          </a:p>
          <a:p>
            <a:pPr marL="742950" lvl="1" indent="-156527" algn="l" rtl="0">
              <a:lnSpc>
                <a:spcPct val="80000"/>
              </a:lnSpc>
              <a:spcBef>
                <a:spcPts val="407"/>
              </a:spcBef>
              <a:spcAft>
                <a:spcPts val="0"/>
              </a:spcAft>
              <a:buClr>
                <a:schemeClr val="dk1"/>
              </a:buClr>
              <a:buSzPct val="100000"/>
              <a:buNone/>
            </a:pPr>
            <a:endParaRPr sz="2200"/>
          </a:p>
          <a:p>
            <a:pPr marL="457200" lvl="1" indent="0" algn="l" rtl="0">
              <a:lnSpc>
                <a:spcPct val="80000"/>
              </a:lnSpc>
              <a:spcBef>
                <a:spcPts val="407"/>
              </a:spcBef>
              <a:spcAft>
                <a:spcPts val="0"/>
              </a:spcAft>
              <a:buClr>
                <a:schemeClr val="dk1"/>
              </a:buClr>
              <a:buSzPct val="100000"/>
              <a:buNone/>
            </a:pPr>
            <a:endParaRPr sz="2200"/>
          </a:p>
          <a:p>
            <a:pPr marL="0" lvl="0" indent="0" algn="l" rtl="0">
              <a:spcBef>
                <a:spcPts val="407"/>
              </a:spcBef>
              <a:spcAft>
                <a:spcPts val="0"/>
              </a:spcAft>
              <a:buClr>
                <a:schemeClr val="dk1"/>
              </a:buClr>
              <a:buSzPct val="100000"/>
              <a:buNone/>
            </a:pPr>
            <a:endParaRPr sz="2200"/>
          </a:p>
        </p:txBody>
      </p:sp>
      <p:sp>
        <p:nvSpPr>
          <p:cNvPr id="186" name="Google Shape;186;p9"/>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p>
            <a:pPr marL="0" lvl="0" indent="0" algn="l" rtl="0">
              <a:spcBef>
                <a:spcPts val="0"/>
              </a:spcBef>
              <a:spcAft>
                <a:spcPts val="0"/>
              </a:spcAft>
              <a:buClr>
                <a:schemeClr val="dk1"/>
              </a:buClr>
              <a:buSzPts val="2400"/>
              <a:buNone/>
            </a:pPr>
            <a:r>
              <a:rPr lang="en-US"/>
              <a:t>Customized Products</a:t>
            </a:r>
            <a:endParaRPr/>
          </a:p>
        </p:txBody>
      </p:sp>
      <p:sp>
        <p:nvSpPr>
          <p:cNvPr id="187" name="Google Shape;187;p9"/>
          <p:cNvSpPr txBox="1">
            <a:spLocks noGrp="1"/>
          </p:cNvSpPr>
          <p:nvPr>
            <p:ph type="body" idx="4"/>
          </p:nvPr>
        </p:nvSpPr>
        <p:spPr>
          <a:xfrm>
            <a:off x="4645025" y="2262653"/>
            <a:ext cx="4041775" cy="4149725"/>
          </a:xfrm>
          <a:prstGeom prst="rect">
            <a:avLst/>
          </a:prstGeom>
          <a:noFill/>
          <a:ln>
            <a:noFill/>
          </a:ln>
        </p:spPr>
        <p:txBody>
          <a:bodyPr spcFirstLastPara="1" wrap="square" lIns="91425" tIns="45700" rIns="91425" bIns="45700" anchor="t" anchorCtr="0">
            <a:noAutofit/>
          </a:bodyPr>
          <a:lstStyle/>
          <a:p>
            <a:pPr marL="342900" lvl="0" indent="-342900" algn="l" rtl="0">
              <a:lnSpc>
                <a:spcPct val="80000"/>
              </a:lnSpc>
              <a:spcBef>
                <a:spcPts val="0"/>
              </a:spcBef>
              <a:spcAft>
                <a:spcPts val="0"/>
              </a:spcAft>
              <a:buClr>
                <a:schemeClr val="dk1"/>
              </a:buClr>
              <a:buSzPts val="2200"/>
              <a:buChar char="•"/>
            </a:pPr>
            <a:r>
              <a:rPr lang="en-US" sz="2200"/>
              <a:t>Software that is commissioned by a specific customer to meet their own needs. </a:t>
            </a:r>
            <a:endParaRPr/>
          </a:p>
          <a:p>
            <a:pPr marL="342900" lvl="0" indent="-342900" algn="l" rtl="0">
              <a:lnSpc>
                <a:spcPct val="80000"/>
              </a:lnSpc>
              <a:spcBef>
                <a:spcPts val="440"/>
              </a:spcBef>
              <a:spcAft>
                <a:spcPts val="0"/>
              </a:spcAft>
              <a:buClr>
                <a:schemeClr val="dk1"/>
              </a:buClr>
              <a:buSzPts val="2200"/>
              <a:buChar char="•"/>
            </a:pPr>
            <a:r>
              <a:rPr lang="en-US" sz="2200"/>
              <a:t>Examples – embedded control systems, air traffic control software, traffic monitoring systems.</a:t>
            </a:r>
            <a:endParaRPr/>
          </a:p>
          <a:p>
            <a:pPr marL="342900" lvl="0" indent="-342900" algn="l" rtl="0">
              <a:lnSpc>
                <a:spcPct val="80000"/>
              </a:lnSpc>
              <a:spcBef>
                <a:spcPts val="440"/>
              </a:spcBef>
              <a:spcAft>
                <a:spcPts val="0"/>
              </a:spcAft>
              <a:buClr>
                <a:schemeClr val="dk1"/>
              </a:buClr>
              <a:buSzPts val="2200"/>
              <a:buChar char="•"/>
            </a:pPr>
            <a:r>
              <a:rPr lang="en-US" sz="2200"/>
              <a:t>The specification of what the software should do is owned by the customer for the software and they make decisions on software changes that are required.</a:t>
            </a:r>
            <a:endParaRPr/>
          </a:p>
          <a:p>
            <a:pPr marL="342900" lvl="1" indent="-203200" algn="l" rtl="0">
              <a:spcBef>
                <a:spcPts val="440"/>
              </a:spcBef>
              <a:spcAft>
                <a:spcPts val="0"/>
              </a:spcAft>
              <a:buClr>
                <a:schemeClr val="dk1"/>
              </a:buClr>
              <a:buSzPts val="2200"/>
              <a:buFont typeface="Calibri"/>
              <a:buNone/>
            </a:pPr>
            <a:endParaRPr sz="2200"/>
          </a:p>
          <a:p>
            <a:pPr marL="342900" lvl="0" indent="-203200" algn="l" rtl="0">
              <a:spcBef>
                <a:spcPts val="440"/>
              </a:spcBef>
              <a:spcAft>
                <a:spcPts val="0"/>
              </a:spcAft>
              <a:buClr>
                <a:schemeClr val="dk1"/>
              </a:buClr>
              <a:buSzPts val="2200"/>
              <a:buNone/>
            </a:pPr>
            <a:endParaRPr sz="2200"/>
          </a:p>
        </p:txBody>
      </p:sp>
      <p:sp>
        <p:nvSpPr>
          <p:cNvPr id="188" name="Google Shape;188;p9"/>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sp>
        <p:nvSpPr>
          <p:cNvPr id="189" name="Google Shape;189;p9"/>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Software Engineering</a:t>
            </a:r>
            <a:endParaRPr/>
          </a:p>
        </p:txBody>
      </p:sp>
      <p:sp>
        <p:nvSpPr>
          <p:cNvPr id="190" name="Google Shape;190;p9"/>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10"/>
          <p:cNvSpPr txBox="1">
            <a:spLocks noGrp="1"/>
          </p:cNvSpPr>
          <p:nvPr>
            <p:ph type="title"/>
          </p:nvPr>
        </p:nvSpPr>
        <p:spPr>
          <a:xfrm>
            <a:off x="538881" y="152400"/>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Software Engineering Diversity: </a:t>
            </a:r>
            <a:br>
              <a:rPr lang="en-US"/>
            </a:br>
            <a:r>
              <a:rPr lang="en-US"/>
              <a:t>Types of Software</a:t>
            </a:r>
            <a:endParaRPr/>
          </a:p>
        </p:txBody>
      </p:sp>
      <p:sp>
        <p:nvSpPr>
          <p:cNvPr id="196" name="Google Shape;196;p10"/>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sp>
        <p:nvSpPr>
          <p:cNvPr id="197" name="Google Shape;197;p10"/>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Software Engineering</a:t>
            </a:r>
            <a:endParaRPr/>
          </a:p>
        </p:txBody>
      </p:sp>
      <p:sp>
        <p:nvSpPr>
          <p:cNvPr id="198" name="Google Shape;198;p10"/>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a:t>
            </a:fld>
            <a:endParaRPr/>
          </a:p>
        </p:txBody>
      </p:sp>
      <p:grpSp>
        <p:nvGrpSpPr>
          <p:cNvPr id="199" name="Google Shape;199;p10"/>
          <p:cNvGrpSpPr/>
          <p:nvPr/>
        </p:nvGrpSpPr>
        <p:grpSpPr>
          <a:xfrm>
            <a:off x="2049794" y="1575475"/>
            <a:ext cx="4325944" cy="4268788"/>
            <a:chOff x="2049794" y="1575475"/>
            <a:chExt cx="4325944" cy="4268788"/>
          </a:xfrm>
        </p:grpSpPr>
        <p:sp>
          <p:nvSpPr>
            <p:cNvPr id="200" name="Google Shape;200;p10"/>
            <p:cNvSpPr txBox="1"/>
            <p:nvPr/>
          </p:nvSpPr>
          <p:spPr>
            <a:xfrm>
              <a:off x="3624661" y="3390191"/>
              <a:ext cx="1180644" cy="646331"/>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a:solidFill>
                    <a:srgbClr val="FF0000"/>
                  </a:solidFill>
                  <a:latin typeface="Helvetica Neue Light"/>
                  <a:ea typeface="Helvetica Neue Light"/>
                  <a:cs typeface="Helvetica Neue Light"/>
                  <a:sym typeface="Helvetica Neue Light"/>
                </a:rPr>
                <a:t>Types of </a:t>
              </a:r>
              <a:endParaRPr/>
            </a:p>
            <a:p>
              <a:pPr marL="0" marR="0" lvl="0" indent="0" algn="ctr" rtl="0">
                <a:spcBef>
                  <a:spcPts val="0"/>
                </a:spcBef>
                <a:spcAft>
                  <a:spcPts val="0"/>
                </a:spcAft>
                <a:buNone/>
              </a:pPr>
              <a:r>
                <a:rPr lang="en-US" sz="1800" b="1">
                  <a:solidFill>
                    <a:srgbClr val="FF0000"/>
                  </a:solidFill>
                  <a:latin typeface="Helvetica Neue Light"/>
                  <a:ea typeface="Helvetica Neue Light"/>
                  <a:cs typeface="Helvetica Neue Light"/>
                  <a:sym typeface="Helvetica Neue Light"/>
                </a:rPr>
                <a:t>Software</a:t>
              </a:r>
              <a:endParaRPr sz="1800" b="1">
                <a:solidFill>
                  <a:srgbClr val="000000"/>
                </a:solidFill>
                <a:latin typeface="Helvetica Neue Light"/>
                <a:ea typeface="Helvetica Neue Light"/>
                <a:cs typeface="Helvetica Neue Light"/>
                <a:sym typeface="Helvetica Neue Light"/>
              </a:endParaRPr>
            </a:p>
          </p:txBody>
        </p:sp>
        <p:sp>
          <p:nvSpPr>
            <p:cNvPr id="201" name="Google Shape;201;p10"/>
            <p:cNvSpPr/>
            <p:nvPr/>
          </p:nvSpPr>
          <p:spPr>
            <a:xfrm>
              <a:off x="2706856" y="1575475"/>
              <a:ext cx="1682750" cy="1465263"/>
            </a:xfrm>
            <a:custGeom>
              <a:avLst/>
              <a:gdLst/>
              <a:ahLst/>
              <a:cxnLst/>
              <a:rect l="l" t="t" r="r" b="b"/>
              <a:pathLst>
                <a:path w="930" h="809" extrusionOk="0">
                  <a:moveTo>
                    <a:pt x="834" y="203"/>
                  </a:moveTo>
                  <a:cubicBezTo>
                    <a:pt x="834" y="0"/>
                    <a:pt x="834" y="0"/>
                    <a:pt x="834" y="0"/>
                  </a:cubicBezTo>
                  <a:cubicBezTo>
                    <a:pt x="508" y="0"/>
                    <a:pt x="214" y="132"/>
                    <a:pt x="0" y="345"/>
                  </a:cubicBezTo>
                  <a:cubicBezTo>
                    <a:pt x="464" y="809"/>
                    <a:pt x="464" y="809"/>
                    <a:pt x="464" y="809"/>
                  </a:cubicBezTo>
                  <a:cubicBezTo>
                    <a:pt x="559" y="714"/>
                    <a:pt x="689" y="656"/>
                    <a:pt x="834" y="656"/>
                  </a:cubicBezTo>
                  <a:cubicBezTo>
                    <a:pt x="834" y="404"/>
                    <a:pt x="834" y="404"/>
                    <a:pt x="834" y="404"/>
                  </a:cubicBezTo>
                  <a:cubicBezTo>
                    <a:pt x="930" y="307"/>
                    <a:pt x="930" y="307"/>
                    <a:pt x="930" y="307"/>
                  </a:cubicBezTo>
                  <a:lnTo>
                    <a:pt x="834" y="203"/>
                  </a:lnTo>
                  <a:close/>
                </a:path>
              </a:pathLst>
            </a:custGeom>
            <a:solidFill>
              <a:srgbClr val="558ED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Rockwell"/>
                <a:ea typeface="Rockwell"/>
                <a:cs typeface="Rockwell"/>
                <a:sym typeface="Rockwell"/>
              </a:endParaRPr>
            </a:p>
          </p:txBody>
        </p:sp>
        <p:sp>
          <p:nvSpPr>
            <p:cNvPr id="202" name="Google Shape;202;p10"/>
            <p:cNvSpPr/>
            <p:nvPr/>
          </p:nvSpPr>
          <p:spPr>
            <a:xfrm>
              <a:off x="2081381" y="2200950"/>
              <a:ext cx="1465263" cy="1508125"/>
            </a:xfrm>
            <a:custGeom>
              <a:avLst/>
              <a:gdLst/>
              <a:ahLst/>
              <a:cxnLst/>
              <a:rect l="l" t="t" r="r" b="b"/>
              <a:pathLst>
                <a:path w="809" h="834" extrusionOk="0">
                  <a:moveTo>
                    <a:pt x="0" y="834"/>
                  </a:moveTo>
                  <a:cubicBezTo>
                    <a:pt x="656" y="834"/>
                    <a:pt x="656" y="834"/>
                    <a:pt x="656" y="834"/>
                  </a:cubicBezTo>
                  <a:cubicBezTo>
                    <a:pt x="656" y="700"/>
                    <a:pt x="707" y="566"/>
                    <a:pt x="809" y="464"/>
                  </a:cubicBezTo>
                  <a:cubicBezTo>
                    <a:pt x="631" y="286"/>
                    <a:pt x="631" y="286"/>
                    <a:pt x="631" y="286"/>
                  </a:cubicBezTo>
                  <a:cubicBezTo>
                    <a:pt x="626" y="145"/>
                    <a:pt x="626" y="145"/>
                    <a:pt x="626" y="145"/>
                  </a:cubicBezTo>
                  <a:cubicBezTo>
                    <a:pt x="489" y="144"/>
                    <a:pt x="489" y="144"/>
                    <a:pt x="489" y="144"/>
                  </a:cubicBezTo>
                  <a:cubicBezTo>
                    <a:pt x="345" y="0"/>
                    <a:pt x="345" y="0"/>
                    <a:pt x="345" y="0"/>
                  </a:cubicBezTo>
                  <a:cubicBezTo>
                    <a:pt x="115" y="230"/>
                    <a:pt x="0" y="532"/>
                    <a:pt x="0" y="834"/>
                  </a:cubicBezTo>
                </a:path>
              </a:pathLst>
            </a:custGeom>
            <a:solidFill>
              <a:srgbClr val="FF99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Rockwell"/>
                <a:ea typeface="Rockwell"/>
                <a:cs typeface="Rockwell"/>
                <a:sym typeface="Rockwell"/>
              </a:endParaRPr>
            </a:p>
          </p:txBody>
        </p:sp>
        <p:sp>
          <p:nvSpPr>
            <p:cNvPr id="203" name="Google Shape;203;p10"/>
            <p:cNvSpPr/>
            <p:nvPr/>
          </p:nvSpPr>
          <p:spPr>
            <a:xfrm>
              <a:off x="2081381" y="3536038"/>
              <a:ext cx="1465263" cy="1682750"/>
            </a:xfrm>
            <a:custGeom>
              <a:avLst/>
              <a:gdLst/>
              <a:ahLst/>
              <a:cxnLst/>
              <a:rect l="l" t="t" r="r" b="b"/>
              <a:pathLst>
                <a:path w="809" h="930" extrusionOk="0">
                  <a:moveTo>
                    <a:pt x="345" y="930"/>
                  </a:moveTo>
                  <a:cubicBezTo>
                    <a:pt x="809" y="466"/>
                    <a:pt x="809" y="466"/>
                    <a:pt x="809" y="466"/>
                  </a:cubicBezTo>
                  <a:cubicBezTo>
                    <a:pt x="714" y="371"/>
                    <a:pt x="656" y="240"/>
                    <a:pt x="656" y="96"/>
                  </a:cubicBezTo>
                  <a:cubicBezTo>
                    <a:pt x="404" y="96"/>
                    <a:pt x="404" y="96"/>
                    <a:pt x="404" y="96"/>
                  </a:cubicBezTo>
                  <a:cubicBezTo>
                    <a:pt x="301" y="0"/>
                    <a:pt x="301" y="0"/>
                    <a:pt x="301" y="0"/>
                  </a:cubicBezTo>
                  <a:cubicBezTo>
                    <a:pt x="204" y="96"/>
                    <a:pt x="204" y="96"/>
                    <a:pt x="204" y="96"/>
                  </a:cubicBezTo>
                  <a:cubicBezTo>
                    <a:pt x="0" y="96"/>
                    <a:pt x="0" y="96"/>
                    <a:pt x="0" y="96"/>
                  </a:cubicBezTo>
                  <a:cubicBezTo>
                    <a:pt x="0" y="421"/>
                    <a:pt x="132" y="716"/>
                    <a:pt x="345" y="930"/>
                  </a:cubicBezTo>
                </a:path>
              </a:pathLst>
            </a:custGeom>
            <a:solidFill>
              <a:srgbClr val="CC33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Rockwell"/>
                <a:ea typeface="Rockwell"/>
                <a:cs typeface="Rockwell"/>
                <a:sym typeface="Rockwell"/>
              </a:endParaRPr>
            </a:p>
          </p:txBody>
        </p:sp>
        <p:sp>
          <p:nvSpPr>
            <p:cNvPr id="204" name="Google Shape;204;p10"/>
            <p:cNvSpPr/>
            <p:nvPr/>
          </p:nvSpPr>
          <p:spPr>
            <a:xfrm>
              <a:off x="2706856" y="4379000"/>
              <a:ext cx="1508125" cy="1465263"/>
            </a:xfrm>
            <a:custGeom>
              <a:avLst/>
              <a:gdLst/>
              <a:ahLst/>
              <a:cxnLst/>
              <a:rect l="l" t="t" r="r" b="b"/>
              <a:pathLst>
                <a:path w="834" h="809" extrusionOk="0">
                  <a:moveTo>
                    <a:pt x="834" y="809"/>
                  </a:moveTo>
                  <a:cubicBezTo>
                    <a:pt x="834" y="153"/>
                    <a:pt x="834" y="153"/>
                    <a:pt x="834" y="153"/>
                  </a:cubicBezTo>
                  <a:cubicBezTo>
                    <a:pt x="700" y="153"/>
                    <a:pt x="566" y="102"/>
                    <a:pt x="464" y="0"/>
                  </a:cubicBezTo>
                  <a:cubicBezTo>
                    <a:pt x="286" y="177"/>
                    <a:pt x="286" y="177"/>
                    <a:pt x="286" y="177"/>
                  </a:cubicBezTo>
                  <a:cubicBezTo>
                    <a:pt x="146" y="183"/>
                    <a:pt x="146" y="183"/>
                    <a:pt x="146" y="183"/>
                  </a:cubicBezTo>
                  <a:cubicBezTo>
                    <a:pt x="144" y="320"/>
                    <a:pt x="144" y="320"/>
                    <a:pt x="144" y="320"/>
                  </a:cubicBezTo>
                  <a:cubicBezTo>
                    <a:pt x="0" y="464"/>
                    <a:pt x="0" y="464"/>
                    <a:pt x="0" y="464"/>
                  </a:cubicBezTo>
                  <a:cubicBezTo>
                    <a:pt x="230" y="694"/>
                    <a:pt x="532" y="809"/>
                    <a:pt x="834" y="809"/>
                  </a:cubicBezTo>
                </a:path>
              </a:pathLst>
            </a:custGeom>
            <a:solidFill>
              <a:srgbClr val="0099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Rockwell"/>
                <a:ea typeface="Rockwell"/>
                <a:cs typeface="Rockwell"/>
                <a:sym typeface="Rockwell"/>
              </a:endParaRPr>
            </a:p>
          </p:txBody>
        </p:sp>
        <p:sp>
          <p:nvSpPr>
            <p:cNvPr id="205" name="Google Shape;205;p10"/>
            <p:cNvSpPr/>
            <p:nvPr/>
          </p:nvSpPr>
          <p:spPr>
            <a:xfrm>
              <a:off x="4041944" y="4379000"/>
              <a:ext cx="1682750" cy="1465263"/>
            </a:xfrm>
            <a:custGeom>
              <a:avLst/>
              <a:gdLst/>
              <a:ahLst/>
              <a:cxnLst/>
              <a:rect l="l" t="t" r="r" b="b"/>
              <a:pathLst>
                <a:path w="930" h="809" extrusionOk="0">
                  <a:moveTo>
                    <a:pt x="930" y="464"/>
                  </a:moveTo>
                  <a:cubicBezTo>
                    <a:pt x="466" y="0"/>
                    <a:pt x="466" y="0"/>
                    <a:pt x="466" y="0"/>
                  </a:cubicBezTo>
                  <a:cubicBezTo>
                    <a:pt x="371" y="94"/>
                    <a:pt x="240" y="153"/>
                    <a:pt x="96" y="153"/>
                  </a:cubicBezTo>
                  <a:cubicBezTo>
                    <a:pt x="96" y="404"/>
                    <a:pt x="96" y="404"/>
                    <a:pt x="96" y="404"/>
                  </a:cubicBezTo>
                  <a:cubicBezTo>
                    <a:pt x="0" y="508"/>
                    <a:pt x="0" y="508"/>
                    <a:pt x="0" y="508"/>
                  </a:cubicBezTo>
                  <a:cubicBezTo>
                    <a:pt x="96" y="605"/>
                    <a:pt x="96" y="605"/>
                    <a:pt x="96" y="605"/>
                  </a:cubicBezTo>
                  <a:cubicBezTo>
                    <a:pt x="96" y="809"/>
                    <a:pt x="96" y="809"/>
                    <a:pt x="96" y="809"/>
                  </a:cubicBezTo>
                  <a:cubicBezTo>
                    <a:pt x="422" y="809"/>
                    <a:pt x="716" y="677"/>
                    <a:pt x="930" y="464"/>
                  </a:cubicBezTo>
                </a:path>
              </a:pathLst>
            </a:custGeom>
            <a:solidFill>
              <a:srgbClr val="FF99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Rockwell"/>
                <a:ea typeface="Rockwell"/>
                <a:cs typeface="Rockwell"/>
                <a:sym typeface="Rockwell"/>
              </a:endParaRPr>
            </a:p>
          </p:txBody>
        </p:sp>
        <p:sp>
          <p:nvSpPr>
            <p:cNvPr id="206" name="Google Shape;206;p10"/>
            <p:cNvSpPr/>
            <p:nvPr/>
          </p:nvSpPr>
          <p:spPr>
            <a:xfrm>
              <a:off x="4884906" y="3709075"/>
              <a:ext cx="1465263" cy="1509713"/>
            </a:xfrm>
            <a:custGeom>
              <a:avLst/>
              <a:gdLst/>
              <a:ahLst/>
              <a:cxnLst/>
              <a:rect l="l" t="t" r="r" b="b"/>
              <a:pathLst>
                <a:path w="809" h="834" extrusionOk="0">
                  <a:moveTo>
                    <a:pt x="320" y="690"/>
                  </a:moveTo>
                  <a:cubicBezTo>
                    <a:pt x="464" y="834"/>
                    <a:pt x="464" y="834"/>
                    <a:pt x="464" y="834"/>
                  </a:cubicBezTo>
                  <a:cubicBezTo>
                    <a:pt x="464" y="834"/>
                    <a:pt x="464" y="834"/>
                    <a:pt x="464" y="834"/>
                  </a:cubicBezTo>
                  <a:cubicBezTo>
                    <a:pt x="694" y="603"/>
                    <a:pt x="809" y="302"/>
                    <a:pt x="809" y="0"/>
                  </a:cubicBezTo>
                  <a:cubicBezTo>
                    <a:pt x="153" y="0"/>
                    <a:pt x="153" y="0"/>
                    <a:pt x="153" y="0"/>
                  </a:cubicBezTo>
                  <a:cubicBezTo>
                    <a:pt x="153" y="134"/>
                    <a:pt x="102" y="268"/>
                    <a:pt x="0" y="370"/>
                  </a:cubicBezTo>
                  <a:cubicBezTo>
                    <a:pt x="0" y="370"/>
                    <a:pt x="0" y="370"/>
                    <a:pt x="0" y="370"/>
                  </a:cubicBezTo>
                  <a:cubicBezTo>
                    <a:pt x="178" y="547"/>
                    <a:pt x="178" y="547"/>
                    <a:pt x="178" y="547"/>
                  </a:cubicBezTo>
                  <a:cubicBezTo>
                    <a:pt x="179" y="684"/>
                    <a:pt x="179" y="684"/>
                    <a:pt x="179" y="684"/>
                  </a:cubicBezTo>
                  <a:lnTo>
                    <a:pt x="320" y="690"/>
                  </a:lnTo>
                  <a:close/>
                </a:path>
              </a:pathLst>
            </a:custGeom>
            <a:solidFill>
              <a:srgbClr val="CC33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Rockwell"/>
                <a:ea typeface="Rockwell"/>
                <a:cs typeface="Rockwell"/>
                <a:sym typeface="Rockwell"/>
              </a:endParaRPr>
            </a:p>
          </p:txBody>
        </p:sp>
        <p:sp>
          <p:nvSpPr>
            <p:cNvPr id="207" name="Google Shape;207;p10"/>
            <p:cNvSpPr/>
            <p:nvPr/>
          </p:nvSpPr>
          <p:spPr>
            <a:xfrm>
              <a:off x="4884906" y="2200950"/>
              <a:ext cx="1465263" cy="1681163"/>
            </a:xfrm>
            <a:custGeom>
              <a:avLst/>
              <a:gdLst/>
              <a:ahLst/>
              <a:cxnLst/>
              <a:rect l="l" t="t" r="r" b="b"/>
              <a:pathLst>
                <a:path w="809" h="929" extrusionOk="0">
                  <a:moveTo>
                    <a:pt x="605" y="834"/>
                  </a:moveTo>
                  <a:cubicBezTo>
                    <a:pt x="809" y="834"/>
                    <a:pt x="809" y="834"/>
                    <a:pt x="809" y="834"/>
                  </a:cubicBezTo>
                  <a:cubicBezTo>
                    <a:pt x="809" y="834"/>
                    <a:pt x="809" y="834"/>
                    <a:pt x="809" y="834"/>
                  </a:cubicBezTo>
                  <a:cubicBezTo>
                    <a:pt x="809" y="508"/>
                    <a:pt x="677" y="214"/>
                    <a:pt x="464" y="0"/>
                  </a:cubicBezTo>
                  <a:cubicBezTo>
                    <a:pt x="0" y="464"/>
                    <a:pt x="0" y="464"/>
                    <a:pt x="0" y="464"/>
                  </a:cubicBezTo>
                  <a:cubicBezTo>
                    <a:pt x="95" y="559"/>
                    <a:pt x="153" y="689"/>
                    <a:pt x="153" y="834"/>
                  </a:cubicBezTo>
                  <a:cubicBezTo>
                    <a:pt x="153" y="834"/>
                    <a:pt x="153" y="834"/>
                    <a:pt x="153" y="834"/>
                  </a:cubicBezTo>
                  <a:cubicBezTo>
                    <a:pt x="404" y="834"/>
                    <a:pt x="404" y="834"/>
                    <a:pt x="404" y="834"/>
                  </a:cubicBezTo>
                  <a:cubicBezTo>
                    <a:pt x="502" y="929"/>
                    <a:pt x="502" y="929"/>
                    <a:pt x="502" y="929"/>
                  </a:cubicBezTo>
                  <a:lnTo>
                    <a:pt x="605" y="834"/>
                  </a:lnTo>
                  <a:close/>
                </a:path>
              </a:pathLst>
            </a:custGeom>
            <a:solidFill>
              <a:srgbClr val="0099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Rockwell"/>
                <a:ea typeface="Rockwell"/>
                <a:cs typeface="Rockwell"/>
                <a:sym typeface="Rockwell"/>
              </a:endParaRPr>
            </a:p>
          </p:txBody>
        </p:sp>
        <p:grpSp>
          <p:nvGrpSpPr>
            <p:cNvPr id="208" name="Google Shape;208;p10"/>
            <p:cNvGrpSpPr/>
            <p:nvPr/>
          </p:nvGrpSpPr>
          <p:grpSpPr>
            <a:xfrm>
              <a:off x="4214981" y="1575475"/>
              <a:ext cx="1509713" cy="1465263"/>
              <a:chOff x="2481262" y="1034256"/>
              <a:chExt cx="1509713" cy="1465263"/>
            </a:xfrm>
          </p:grpSpPr>
          <p:sp>
            <p:nvSpPr>
              <p:cNvPr id="209" name="Google Shape;209;p10"/>
              <p:cNvSpPr/>
              <p:nvPr/>
            </p:nvSpPr>
            <p:spPr>
              <a:xfrm>
                <a:off x="2481262" y="1034256"/>
                <a:ext cx="1509713" cy="1465263"/>
              </a:xfrm>
              <a:custGeom>
                <a:avLst/>
                <a:gdLst/>
                <a:ahLst/>
                <a:cxnLst/>
                <a:rect l="l" t="t" r="r" b="b"/>
                <a:pathLst>
                  <a:path w="834" h="809" extrusionOk="0">
                    <a:moveTo>
                      <a:pt x="690" y="489"/>
                    </a:moveTo>
                    <a:cubicBezTo>
                      <a:pt x="834" y="345"/>
                      <a:pt x="834" y="345"/>
                      <a:pt x="834" y="345"/>
                    </a:cubicBezTo>
                    <a:cubicBezTo>
                      <a:pt x="834" y="345"/>
                      <a:pt x="834" y="345"/>
                      <a:pt x="834" y="345"/>
                    </a:cubicBezTo>
                    <a:cubicBezTo>
                      <a:pt x="603" y="115"/>
                      <a:pt x="302" y="0"/>
                      <a:pt x="0" y="0"/>
                    </a:cubicBezTo>
                    <a:cubicBezTo>
                      <a:pt x="0" y="656"/>
                      <a:pt x="0" y="656"/>
                      <a:pt x="0" y="656"/>
                    </a:cubicBezTo>
                    <a:cubicBezTo>
                      <a:pt x="134" y="656"/>
                      <a:pt x="268" y="707"/>
                      <a:pt x="370" y="809"/>
                    </a:cubicBezTo>
                    <a:cubicBezTo>
                      <a:pt x="370" y="809"/>
                      <a:pt x="370" y="809"/>
                      <a:pt x="370" y="809"/>
                    </a:cubicBezTo>
                    <a:cubicBezTo>
                      <a:pt x="548" y="631"/>
                      <a:pt x="548" y="631"/>
                      <a:pt x="548" y="631"/>
                    </a:cubicBezTo>
                    <a:cubicBezTo>
                      <a:pt x="684" y="630"/>
                      <a:pt x="684" y="630"/>
                      <a:pt x="684" y="630"/>
                    </a:cubicBezTo>
                    <a:lnTo>
                      <a:pt x="690" y="489"/>
                    </a:lnTo>
                    <a:close/>
                  </a:path>
                </a:pathLst>
              </a:custGeom>
              <a:solidFill>
                <a:srgbClr val="FF99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Rockwell"/>
                  <a:ea typeface="Rockwell"/>
                  <a:cs typeface="Rockwell"/>
                  <a:sym typeface="Rockwell"/>
                </a:endParaRPr>
              </a:p>
            </p:txBody>
          </p:sp>
          <p:sp>
            <p:nvSpPr>
              <p:cNvPr id="210" name="Google Shape;210;p10"/>
              <p:cNvSpPr/>
              <p:nvPr/>
            </p:nvSpPr>
            <p:spPr>
              <a:xfrm>
                <a:off x="3471862" y="1918494"/>
                <a:ext cx="257175" cy="255588"/>
              </a:xfrm>
              <a:custGeom>
                <a:avLst/>
                <a:gdLst/>
                <a:ahLst/>
                <a:cxnLst/>
                <a:rect l="l" t="t" r="r" b="b"/>
                <a:pathLst>
                  <a:path w="162" h="161" extrusionOk="0">
                    <a:moveTo>
                      <a:pt x="162" y="0"/>
                    </a:moveTo>
                    <a:lnTo>
                      <a:pt x="155" y="160"/>
                    </a:lnTo>
                    <a:lnTo>
                      <a:pt x="0" y="161"/>
                    </a:lnTo>
                    <a:lnTo>
                      <a:pt x="162" y="0"/>
                    </a:lnTo>
                    <a:close/>
                  </a:path>
                </a:pathLst>
              </a:custGeom>
              <a:solidFill>
                <a:srgbClr val="FF99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Rockwell"/>
                  <a:ea typeface="Rockwell"/>
                  <a:cs typeface="Rockwell"/>
                  <a:sym typeface="Rockwell"/>
                </a:endParaRPr>
              </a:p>
            </p:txBody>
          </p:sp>
        </p:grpSp>
        <p:sp>
          <p:nvSpPr>
            <p:cNvPr id="211" name="Google Shape;211;p10"/>
            <p:cNvSpPr txBox="1"/>
            <p:nvPr/>
          </p:nvSpPr>
          <p:spPr>
            <a:xfrm>
              <a:off x="2895600" y="1903761"/>
              <a:ext cx="1302088"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400">
                  <a:solidFill>
                    <a:srgbClr val="FFFFFF"/>
                  </a:solidFill>
                  <a:latin typeface="Helvetica Neue Light"/>
                  <a:ea typeface="Helvetica Neue Light"/>
                  <a:cs typeface="Helvetica Neue Light"/>
                  <a:sym typeface="Helvetica Neue Light"/>
                </a:rPr>
                <a:t>System Software</a:t>
              </a:r>
              <a:endParaRPr/>
            </a:p>
          </p:txBody>
        </p:sp>
        <p:sp>
          <p:nvSpPr>
            <p:cNvPr id="212" name="Google Shape;212;p10"/>
            <p:cNvSpPr txBox="1"/>
            <p:nvPr/>
          </p:nvSpPr>
          <p:spPr>
            <a:xfrm>
              <a:off x="4330434" y="2047061"/>
              <a:ext cx="1302088"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400">
                  <a:solidFill>
                    <a:srgbClr val="FFFFFF"/>
                  </a:solidFill>
                  <a:latin typeface="Helvetica Neue Light"/>
                  <a:ea typeface="Helvetica Neue Light"/>
                  <a:cs typeface="Helvetica Neue Light"/>
                  <a:sym typeface="Helvetica Neue Light"/>
                </a:rPr>
                <a:t>Real Time Software</a:t>
              </a:r>
              <a:endParaRPr/>
            </a:p>
          </p:txBody>
        </p:sp>
        <p:sp>
          <p:nvSpPr>
            <p:cNvPr id="213" name="Google Shape;213;p10"/>
            <p:cNvSpPr txBox="1"/>
            <p:nvPr/>
          </p:nvSpPr>
          <p:spPr>
            <a:xfrm>
              <a:off x="5073650" y="2937463"/>
              <a:ext cx="1302088"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400">
                  <a:solidFill>
                    <a:srgbClr val="FFFFFF"/>
                  </a:solidFill>
                  <a:latin typeface="Helvetica Neue Light"/>
                  <a:ea typeface="Helvetica Neue Light"/>
                  <a:cs typeface="Helvetica Neue Light"/>
                  <a:sym typeface="Helvetica Neue Light"/>
                </a:rPr>
                <a:t>Embedded Software</a:t>
              </a:r>
              <a:endParaRPr/>
            </a:p>
          </p:txBody>
        </p:sp>
        <p:sp>
          <p:nvSpPr>
            <p:cNvPr id="214" name="Google Shape;214;p10"/>
            <p:cNvSpPr txBox="1"/>
            <p:nvPr/>
          </p:nvSpPr>
          <p:spPr>
            <a:xfrm>
              <a:off x="4981478" y="4050616"/>
              <a:ext cx="1302088"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400">
                  <a:solidFill>
                    <a:srgbClr val="FFFFFF"/>
                  </a:solidFill>
                  <a:latin typeface="Helvetica Neue Light"/>
                  <a:ea typeface="Helvetica Neue Light"/>
                  <a:cs typeface="Helvetica Neue Light"/>
                  <a:sym typeface="Helvetica Neue Light"/>
                </a:rPr>
                <a:t>Business Software</a:t>
              </a:r>
              <a:endParaRPr/>
            </a:p>
          </p:txBody>
        </p:sp>
        <p:sp>
          <p:nvSpPr>
            <p:cNvPr id="215" name="Google Shape;215;p10"/>
            <p:cNvSpPr txBox="1"/>
            <p:nvPr/>
          </p:nvSpPr>
          <p:spPr>
            <a:xfrm>
              <a:off x="2113132" y="2829741"/>
              <a:ext cx="1302088" cy="73866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400">
                  <a:solidFill>
                    <a:srgbClr val="FFFFFF"/>
                  </a:solidFill>
                  <a:latin typeface="Helvetica Neue Light"/>
                  <a:ea typeface="Helvetica Neue Light"/>
                  <a:cs typeface="Helvetica Neue Light"/>
                  <a:sym typeface="Helvetica Neue Light"/>
                </a:rPr>
                <a:t>Systems for modeling and simulation</a:t>
              </a:r>
              <a:endParaRPr/>
            </a:p>
          </p:txBody>
        </p:sp>
        <p:sp>
          <p:nvSpPr>
            <p:cNvPr id="216" name="Google Shape;216;p10"/>
            <p:cNvSpPr txBox="1"/>
            <p:nvPr/>
          </p:nvSpPr>
          <p:spPr>
            <a:xfrm>
              <a:off x="2049794" y="3906031"/>
              <a:ext cx="1302088" cy="95410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400">
                  <a:solidFill>
                    <a:srgbClr val="FFFFFF"/>
                  </a:solidFill>
                  <a:latin typeface="Helvetica Neue Light"/>
                  <a:ea typeface="Helvetica Neue Light"/>
                  <a:cs typeface="Helvetica Neue Light"/>
                  <a:sym typeface="Helvetica Neue Light"/>
                </a:rPr>
                <a:t>Interactive Transaction Based Software</a:t>
              </a:r>
              <a:endParaRPr/>
            </a:p>
          </p:txBody>
        </p:sp>
        <p:sp>
          <p:nvSpPr>
            <p:cNvPr id="217" name="Google Shape;217;p10"/>
            <p:cNvSpPr txBox="1"/>
            <p:nvPr/>
          </p:nvSpPr>
          <p:spPr>
            <a:xfrm>
              <a:off x="2659936" y="4987955"/>
              <a:ext cx="1673563" cy="46166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200">
                  <a:solidFill>
                    <a:srgbClr val="FFFFFF"/>
                  </a:solidFill>
                  <a:latin typeface="Helvetica Neue Light"/>
                  <a:ea typeface="Helvetica Neue Light"/>
                  <a:cs typeface="Helvetica Neue Light"/>
                  <a:sym typeface="Helvetica Neue Light"/>
                </a:rPr>
                <a:t>Artificial Intelligence  Software</a:t>
              </a:r>
              <a:endParaRPr/>
            </a:p>
          </p:txBody>
        </p:sp>
        <p:sp>
          <p:nvSpPr>
            <p:cNvPr id="218" name="Google Shape;218;p10"/>
            <p:cNvSpPr txBox="1"/>
            <p:nvPr/>
          </p:nvSpPr>
          <p:spPr>
            <a:xfrm>
              <a:off x="4214981" y="4849456"/>
              <a:ext cx="1302088" cy="52322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400">
                  <a:solidFill>
                    <a:srgbClr val="FFFFFF"/>
                  </a:solidFill>
                  <a:latin typeface="Helvetica Neue Light"/>
                  <a:ea typeface="Helvetica Neue Light"/>
                  <a:cs typeface="Helvetica Neue Light"/>
                  <a:sym typeface="Helvetica Neue Light"/>
                </a:rPr>
                <a:t>Stand alone application</a:t>
              </a:r>
              <a:endParaRPr/>
            </a:p>
          </p:txBody>
        </p:sp>
      </p:grpSp>
      <p:sp>
        <p:nvSpPr>
          <p:cNvPr id="219" name="Google Shape;219;p10"/>
          <p:cNvSpPr txBox="1"/>
          <p:nvPr/>
        </p:nvSpPr>
        <p:spPr>
          <a:xfrm>
            <a:off x="242085" y="5867400"/>
            <a:ext cx="87630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i="1">
                <a:solidFill>
                  <a:srgbClr val="C00000"/>
                </a:solidFill>
                <a:latin typeface="Calibri"/>
                <a:ea typeface="Calibri"/>
                <a:cs typeface="Calibri"/>
                <a:sym typeface="Calibri"/>
              </a:rPr>
              <a:t>Sources: Agarwal, U. (2019).  Software Engineering, Kataria and Sons.</a:t>
            </a:r>
            <a:endParaRPr/>
          </a:p>
          <a:p>
            <a:pPr marL="0" marR="0" lvl="0" indent="0" algn="l" rtl="0">
              <a:spcBef>
                <a:spcPts val="0"/>
              </a:spcBef>
              <a:spcAft>
                <a:spcPts val="0"/>
              </a:spcAft>
              <a:buNone/>
            </a:pPr>
            <a:r>
              <a:rPr lang="en-US" sz="1800" i="1">
                <a:solidFill>
                  <a:srgbClr val="C00000"/>
                </a:solidFill>
                <a:latin typeface="Calibri"/>
                <a:ea typeface="Calibri"/>
                <a:cs typeface="Calibri"/>
                <a:sym typeface="Calibri"/>
              </a:rPr>
              <a:t>               Sommerville, I. (2016). Software Engineering 10</a:t>
            </a:r>
            <a:r>
              <a:rPr lang="en-US" sz="1800" i="1" baseline="30000">
                <a:solidFill>
                  <a:srgbClr val="C00000"/>
                </a:solidFill>
                <a:latin typeface="Calibri"/>
                <a:ea typeface="Calibri"/>
                <a:cs typeface="Calibri"/>
                <a:sym typeface="Calibri"/>
              </a:rPr>
              <a:t>th</a:t>
            </a:r>
            <a:r>
              <a:rPr lang="en-US" sz="1800" i="1">
                <a:solidFill>
                  <a:srgbClr val="C00000"/>
                </a:solidFill>
                <a:latin typeface="Calibri"/>
                <a:ea typeface="Calibri"/>
                <a:cs typeface="Calibri"/>
                <a:sym typeface="Calibri"/>
              </a:rPr>
              <a:t> edition, Pearson. </a:t>
            </a:r>
            <a:endParaRPr sz="1800">
              <a:solidFill>
                <a:srgbClr val="C00000"/>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Different Types of Software…</a:t>
            </a:r>
            <a:endParaRPr/>
          </a:p>
        </p:txBody>
      </p:sp>
      <p:sp>
        <p:nvSpPr>
          <p:cNvPr id="225" name="Google Shape;225;p1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Clr>
                <a:schemeClr val="dk1"/>
              </a:buClr>
              <a:buSzPts val="2000"/>
              <a:buChar char="•"/>
            </a:pPr>
            <a:r>
              <a:rPr lang="en-US" sz="2000" b="1"/>
              <a:t>System software</a:t>
            </a:r>
            <a:endParaRPr/>
          </a:p>
          <a:p>
            <a:pPr marL="711200" lvl="1" indent="-261937" algn="l" rtl="0">
              <a:lnSpc>
                <a:spcPct val="90000"/>
              </a:lnSpc>
              <a:spcBef>
                <a:spcPts val="400"/>
              </a:spcBef>
              <a:spcAft>
                <a:spcPts val="0"/>
              </a:spcAft>
              <a:buClr>
                <a:schemeClr val="dk1"/>
              </a:buClr>
              <a:buSzPts val="2000"/>
              <a:buChar char="–"/>
            </a:pPr>
            <a:r>
              <a:rPr lang="en-US" sz="2000"/>
              <a:t>To manage resources and provide clean interfaces to OS services</a:t>
            </a:r>
            <a:endParaRPr/>
          </a:p>
          <a:p>
            <a:pPr marL="342900" lvl="0" indent="-342900" algn="l" rtl="0">
              <a:lnSpc>
                <a:spcPct val="90000"/>
              </a:lnSpc>
              <a:spcBef>
                <a:spcPts val="400"/>
              </a:spcBef>
              <a:spcAft>
                <a:spcPts val="0"/>
              </a:spcAft>
              <a:buClr>
                <a:schemeClr val="dk1"/>
              </a:buClr>
              <a:buSzPts val="2000"/>
              <a:buChar char="•"/>
            </a:pPr>
            <a:r>
              <a:rPr lang="en-US" sz="2000" b="1"/>
              <a:t>Real-time software</a:t>
            </a:r>
            <a:endParaRPr/>
          </a:p>
          <a:p>
            <a:pPr marL="742950" lvl="1" indent="-285750" algn="l" rtl="0">
              <a:lnSpc>
                <a:spcPct val="90000"/>
              </a:lnSpc>
              <a:spcBef>
                <a:spcPts val="400"/>
              </a:spcBef>
              <a:spcAft>
                <a:spcPts val="0"/>
              </a:spcAft>
              <a:buClr>
                <a:schemeClr val="dk1"/>
              </a:buClr>
              <a:buSzPts val="2000"/>
              <a:buChar char="–"/>
            </a:pPr>
            <a:r>
              <a:rPr lang="en-US" sz="2000"/>
              <a:t>monitors, analyzes, and controls real-world events as they occur in real-time; design efforts for this type of software is to guarantee the tasks complete within deadlines</a:t>
            </a:r>
            <a:endParaRPr/>
          </a:p>
          <a:p>
            <a:pPr marL="742950" lvl="1" indent="-285750" algn="l" rtl="0">
              <a:lnSpc>
                <a:spcPct val="90000"/>
              </a:lnSpc>
              <a:spcBef>
                <a:spcPts val="400"/>
              </a:spcBef>
              <a:spcAft>
                <a:spcPts val="0"/>
              </a:spcAft>
              <a:buClr>
                <a:schemeClr val="dk1"/>
              </a:buClr>
              <a:buSzPts val="2000"/>
              <a:buChar char="–"/>
            </a:pPr>
            <a:r>
              <a:rPr lang="en-US" sz="2000"/>
              <a:t>Response time typically ranges from 1 millisecond to 1 second</a:t>
            </a:r>
            <a:endParaRPr/>
          </a:p>
          <a:p>
            <a:pPr marL="342900" lvl="0" indent="-342900" algn="l" rtl="0">
              <a:lnSpc>
                <a:spcPct val="90000"/>
              </a:lnSpc>
              <a:spcBef>
                <a:spcPts val="400"/>
              </a:spcBef>
              <a:spcAft>
                <a:spcPts val="0"/>
              </a:spcAft>
              <a:buClr>
                <a:schemeClr val="dk1"/>
              </a:buClr>
              <a:buSzPts val="2000"/>
              <a:buChar char="•"/>
            </a:pPr>
            <a:r>
              <a:rPr lang="en-US" sz="2000" b="1"/>
              <a:t>Business software</a:t>
            </a:r>
            <a:endParaRPr sz="2000"/>
          </a:p>
          <a:p>
            <a:pPr marL="796925" lvl="3" indent="-339725" algn="l" rtl="0">
              <a:lnSpc>
                <a:spcPct val="90000"/>
              </a:lnSpc>
              <a:spcBef>
                <a:spcPts val="400"/>
              </a:spcBef>
              <a:spcAft>
                <a:spcPts val="0"/>
              </a:spcAft>
              <a:buClr>
                <a:schemeClr val="dk1"/>
              </a:buClr>
              <a:buSzPts val="2000"/>
              <a:buChar char="–"/>
            </a:pPr>
            <a:r>
              <a:rPr lang="en-US"/>
              <a:t>Management information system (MIS) that accesses one or more databases containing business information (e.g. payroll, inventory)</a:t>
            </a:r>
            <a:endParaRPr/>
          </a:p>
          <a:p>
            <a:pPr marL="342900" lvl="0" indent="-342900" algn="l" rtl="0">
              <a:lnSpc>
                <a:spcPct val="90000"/>
              </a:lnSpc>
              <a:spcBef>
                <a:spcPts val="400"/>
              </a:spcBef>
              <a:spcAft>
                <a:spcPts val="0"/>
              </a:spcAft>
              <a:buClr>
                <a:schemeClr val="dk1"/>
              </a:buClr>
              <a:buSzPts val="2000"/>
              <a:buChar char="•"/>
            </a:pPr>
            <a:r>
              <a:rPr lang="en-US" sz="2000" b="1"/>
              <a:t>Embedded software</a:t>
            </a:r>
            <a:endParaRPr/>
          </a:p>
          <a:p>
            <a:pPr marL="742950" lvl="1" indent="-285750" algn="l" rtl="0">
              <a:lnSpc>
                <a:spcPct val="90000"/>
              </a:lnSpc>
              <a:spcBef>
                <a:spcPts val="400"/>
              </a:spcBef>
              <a:spcAft>
                <a:spcPts val="0"/>
              </a:spcAft>
              <a:buClr>
                <a:schemeClr val="dk1"/>
              </a:buClr>
              <a:buSzPts val="2000"/>
              <a:buChar char="–"/>
            </a:pPr>
            <a:r>
              <a:rPr lang="en-US" sz="2000"/>
              <a:t>Runs on specific devices such as microwave ovens, washing machines, automobiles</a:t>
            </a:r>
            <a:endParaRPr/>
          </a:p>
          <a:p>
            <a:pPr marL="742950" lvl="1" indent="-285750" algn="l" rtl="0">
              <a:lnSpc>
                <a:spcPct val="90000"/>
              </a:lnSpc>
              <a:spcBef>
                <a:spcPts val="400"/>
              </a:spcBef>
              <a:spcAft>
                <a:spcPts val="0"/>
              </a:spcAft>
              <a:buClr>
                <a:schemeClr val="dk1"/>
              </a:buClr>
              <a:buSzPts val="2000"/>
              <a:buChar char="–"/>
            </a:pPr>
            <a:r>
              <a:rPr lang="en-US" sz="2000"/>
              <a:t>software resides in read only memory and used to control products and systems for the consumer and industrial market</a:t>
            </a:r>
            <a:endParaRPr/>
          </a:p>
          <a:p>
            <a:pPr marL="914400" lvl="3" indent="0" algn="l" rtl="0">
              <a:lnSpc>
                <a:spcPct val="90000"/>
              </a:lnSpc>
              <a:spcBef>
                <a:spcPts val="400"/>
              </a:spcBef>
              <a:spcAft>
                <a:spcPts val="0"/>
              </a:spcAft>
              <a:buClr>
                <a:schemeClr val="dk1"/>
              </a:buClr>
              <a:buSzPts val="2000"/>
              <a:buNone/>
            </a:pPr>
            <a:endParaRPr/>
          </a:p>
          <a:p>
            <a:pPr marL="342900" lvl="0" indent="-215900" algn="l" rtl="0">
              <a:lnSpc>
                <a:spcPct val="90000"/>
              </a:lnSpc>
              <a:spcBef>
                <a:spcPts val="400"/>
              </a:spcBef>
              <a:spcAft>
                <a:spcPts val="0"/>
              </a:spcAft>
              <a:buClr>
                <a:schemeClr val="dk1"/>
              </a:buClr>
              <a:buSzPts val="2000"/>
              <a:buNone/>
            </a:pPr>
            <a:endParaRPr sz="2000"/>
          </a:p>
          <a:p>
            <a:pPr marL="342900" lvl="0" indent="-215900" algn="l" rtl="0">
              <a:lnSpc>
                <a:spcPct val="90000"/>
              </a:lnSpc>
              <a:spcBef>
                <a:spcPts val="400"/>
              </a:spcBef>
              <a:spcAft>
                <a:spcPts val="0"/>
              </a:spcAft>
              <a:buClr>
                <a:schemeClr val="dk1"/>
              </a:buClr>
              <a:buSzPts val="2000"/>
              <a:buNone/>
            </a:pPr>
            <a:endParaRPr sz="2000"/>
          </a:p>
          <a:p>
            <a:pPr marL="0" lvl="0" indent="0" algn="l" rtl="0">
              <a:spcBef>
                <a:spcPts val="400"/>
              </a:spcBef>
              <a:spcAft>
                <a:spcPts val="0"/>
              </a:spcAft>
              <a:buClr>
                <a:schemeClr val="dk1"/>
              </a:buClr>
              <a:buSzPts val="2000"/>
              <a:buNone/>
            </a:pPr>
            <a:endParaRPr sz="2000"/>
          </a:p>
        </p:txBody>
      </p:sp>
      <p:sp>
        <p:nvSpPr>
          <p:cNvPr id="226" name="Google Shape;226;p11"/>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sp>
        <p:nvSpPr>
          <p:cNvPr id="227" name="Google Shape;227;p11"/>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Software Engineering</a:t>
            </a:r>
            <a:endParaRPr/>
          </a:p>
        </p:txBody>
      </p:sp>
      <p:sp>
        <p:nvSpPr>
          <p:cNvPr id="228" name="Google Shape;228;p11"/>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1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Different Types of Software</a:t>
            </a:r>
            <a:endParaRPr/>
          </a:p>
        </p:txBody>
      </p:sp>
      <p:sp>
        <p:nvSpPr>
          <p:cNvPr id="234" name="Google Shape;234;p12"/>
          <p:cNvSpPr txBox="1">
            <a:spLocks noGrp="1"/>
          </p:cNvSpPr>
          <p:nvPr>
            <p:ph type="body" idx="1"/>
          </p:nvPr>
        </p:nvSpPr>
        <p:spPr>
          <a:xfrm>
            <a:off x="457200" y="1439678"/>
            <a:ext cx="8229600" cy="5120433"/>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Clr>
                <a:schemeClr val="dk1"/>
              </a:buClr>
              <a:buSzPts val="2000"/>
              <a:buChar char="•"/>
            </a:pPr>
            <a:r>
              <a:rPr lang="en-US" sz="2000" b="1"/>
              <a:t>System for modeling and simulation</a:t>
            </a:r>
            <a:endParaRPr/>
          </a:p>
          <a:p>
            <a:pPr marL="914400" lvl="2" indent="0" algn="l" rtl="0">
              <a:lnSpc>
                <a:spcPct val="90000"/>
              </a:lnSpc>
              <a:spcBef>
                <a:spcPts val="400"/>
              </a:spcBef>
              <a:spcAft>
                <a:spcPts val="0"/>
              </a:spcAft>
              <a:buClr>
                <a:schemeClr val="dk1"/>
              </a:buClr>
              <a:buSzPts val="2000"/>
              <a:buNone/>
            </a:pPr>
            <a:r>
              <a:rPr lang="en-US" sz="2000"/>
              <a:t>These are systems developed by scientist and engineers to model physical processes or situations, which often computationally intensive and require high-performance parallel systems for execution</a:t>
            </a:r>
            <a:endParaRPr/>
          </a:p>
          <a:p>
            <a:pPr marL="342900" lvl="0" indent="-342900" algn="l" rtl="0">
              <a:lnSpc>
                <a:spcPct val="90000"/>
              </a:lnSpc>
              <a:spcBef>
                <a:spcPts val="400"/>
              </a:spcBef>
              <a:spcAft>
                <a:spcPts val="0"/>
              </a:spcAft>
              <a:buClr>
                <a:schemeClr val="dk1"/>
              </a:buClr>
              <a:buSzPts val="2000"/>
              <a:buChar char="•"/>
            </a:pPr>
            <a:r>
              <a:rPr lang="en-US" sz="2000" b="1"/>
              <a:t>Stand alone application</a:t>
            </a:r>
            <a:endParaRPr/>
          </a:p>
          <a:p>
            <a:pPr marL="800100" lvl="2" indent="0" algn="l" rtl="0">
              <a:lnSpc>
                <a:spcPct val="90000"/>
              </a:lnSpc>
              <a:spcBef>
                <a:spcPts val="400"/>
              </a:spcBef>
              <a:spcAft>
                <a:spcPts val="0"/>
              </a:spcAft>
              <a:buClr>
                <a:schemeClr val="dk1"/>
              </a:buClr>
              <a:buSzPts val="2000"/>
              <a:buNone/>
            </a:pPr>
            <a:r>
              <a:rPr lang="en-US" sz="2000"/>
              <a:t>Word processing, spreadsheets, computer graphics, multimedia, entertainment, personal and business financial applications, etc.</a:t>
            </a:r>
            <a:endParaRPr/>
          </a:p>
          <a:p>
            <a:pPr marL="342900" lvl="0" indent="-342900" algn="l" rtl="0">
              <a:lnSpc>
                <a:spcPct val="90000"/>
              </a:lnSpc>
              <a:spcBef>
                <a:spcPts val="400"/>
              </a:spcBef>
              <a:spcAft>
                <a:spcPts val="0"/>
              </a:spcAft>
              <a:buClr>
                <a:schemeClr val="dk1"/>
              </a:buClr>
              <a:buSzPts val="2000"/>
              <a:buChar char="•"/>
            </a:pPr>
            <a:r>
              <a:rPr lang="en-US" sz="2000" b="1"/>
              <a:t>Interactive transaction-based software </a:t>
            </a:r>
            <a:endParaRPr/>
          </a:p>
          <a:p>
            <a:pPr marL="857250" lvl="3" indent="0" algn="l" rtl="0">
              <a:lnSpc>
                <a:spcPct val="90000"/>
              </a:lnSpc>
              <a:spcBef>
                <a:spcPts val="400"/>
              </a:spcBef>
              <a:spcAft>
                <a:spcPts val="0"/>
              </a:spcAft>
              <a:buClr>
                <a:schemeClr val="dk1"/>
              </a:buClr>
              <a:buSzPts val="2000"/>
              <a:buNone/>
            </a:pPr>
            <a:r>
              <a:rPr lang="en-US"/>
              <a:t>Applications that execute on a remote computer/server and accessed by users from their own devices that include web applications such as e-commerce that nowadays can be accessed as mobile applications</a:t>
            </a:r>
            <a:endParaRPr/>
          </a:p>
          <a:p>
            <a:pPr marL="342900" lvl="0" indent="-342900" algn="l" rtl="0">
              <a:lnSpc>
                <a:spcPct val="90000"/>
              </a:lnSpc>
              <a:spcBef>
                <a:spcPts val="400"/>
              </a:spcBef>
              <a:spcAft>
                <a:spcPts val="0"/>
              </a:spcAft>
              <a:buClr>
                <a:schemeClr val="dk1"/>
              </a:buClr>
              <a:buSzPts val="2000"/>
              <a:buChar char="•"/>
            </a:pPr>
            <a:r>
              <a:rPr lang="en-US" sz="2000" b="1"/>
              <a:t>Artificial intelligence software </a:t>
            </a:r>
            <a:endParaRPr/>
          </a:p>
          <a:p>
            <a:pPr marL="742950" lvl="1" indent="-285750" algn="l" rtl="0">
              <a:lnSpc>
                <a:spcPct val="90000"/>
              </a:lnSpc>
              <a:spcBef>
                <a:spcPts val="400"/>
              </a:spcBef>
              <a:spcAft>
                <a:spcPts val="0"/>
              </a:spcAft>
              <a:buClr>
                <a:schemeClr val="dk1"/>
              </a:buClr>
              <a:buSzPts val="2000"/>
              <a:buChar char="–"/>
            </a:pPr>
            <a:r>
              <a:rPr lang="en-US" sz="2000"/>
              <a:t>Uses non-numerical algorithms to solve complex problems</a:t>
            </a:r>
            <a:endParaRPr/>
          </a:p>
          <a:p>
            <a:pPr marL="742950" lvl="1" indent="-285750" algn="l" rtl="0">
              <a:lnSpc>
                <a:spcPct val="90000"/>
              </a:lnSpc>
              <a:spcBef>
                <a:spcPts val="400"/>
              </a:spcBef>
              <a:spcAft>
                <a:spcPts val="0"/>
              </a:spcAft>
              <a:buClr>
                <a:schemeClr val="dk1"/>
              </a:buClr>
              <a:buSzPts val="2000"/>
              <a:buChar char="–"/>
            </a:pPr>
            <a:r>
              <a:rPr lang="en-US" sz="2000"/>
              <a:t>Applications: robotics, expert systems, pattern recognition, adaptive control, game playing</a:t>
            </a:r>
            <a:endParaRPr/>
          </a:p>
          <a:p>
            <a:pPr marL="342900" lvl="0" indent="-215900" algn="l" rtl="0">
              <a:lnSpc>
                <a:spcPct val="90000"/>
              </a:lnSpc>
              <a:spcBef>
                <a:spcPts val="400"/>
              </a:spcBef>
              <a:spcAft>
                <a:spcPts val="0"/>
              </a:spcAft>
              <a:buClr>
                <a:schemeClr val="dk1"/>
              </a:buClr>
              <a:buSzPts val="2000"/>
              <a:buNone/>
            </a:pPr>
            <a:endParaRPr sz="2000"/>
          </a:p>
          <a:p>
            <a:pPr marL="0" lvl="0" indent="0" algn="l" rtl="0">
              <a:spcBef>
                <a:spcPts val="400"/>
              </a:spcBef>
              <a:spcAft>
                <a:spcPts val="0"/>
              </a:spcAft>
              <a:buClr>
                <a:schemeClr val="dk1"/>
              </a:buClr>
              <a:buSzPts val="2000"/>
              <a:buNone/>
            </a:pPr>
            <a:endParaRPr sz="2000"/>
          </a:p>
        </p:txBody>
      </p:sp>
      <p:sp>
        <p:nvSpPr>
          <p:cNvPr id="235" name="Google Shape;235;p12"/>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sp>
        <p:nvSpPr>
          <p:cNvPr id="236" name="Google Shape;236;p12"/>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Software Engineering</a:t>
            </a:r>
            <a:endParaRPr/>
          </a:p>
        </p:txBody>
      </p:sp>
      <p:sp>
        <p:nvSpPr>
          <p:cNvPr id="237" name="Google Shape;237;p12"/>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1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Inherent Difficulties</a:t>
            </a:r>
            <a:endParaRPr/>
          </a:p>
        </p:txBody>
      </p:sp>
      <p:sp>
        <p:nvSpPr>
          <p:cNvPr id="243" name="Google Shape;243;p13"/>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sp>
        <p:nvSpPr>
          <p:cNvPr id="244" name="Google Shape;244;p13"/>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Software Engineering</a:t>
            </a:r>
            <a:endParaRPr/>
          </a:p>
        </p:txBody>
      </p:sp>
      <p:sp>
        <p:nvSpPr>
          <p:cNvPr id="245" name="Google Shape;245;p13"/>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13</a:t>
            </a:fld>
            <a:endParaRPr/>
          </a:p>
        </p:txBody>
      </p:sp>
      <p:sp>
        <p:nvSpPr>
          <p:cNvPr id="246" name="Google Shape;246;p13"/>
          <p:cNvSpPr txBox="1">
            <a:spLocks noGrp="1"/>
          </p:cNvSpPr>
          <p:nvPr>
            <p:ph type="body" idx="1"/>
          </p:nvPr>
        </p:nvSpPr>
        <p:spPr>
          <a:xfrm>
            <a:off x="457200" y="1600201"/>
            <a:ext cx="8229600" cy="2032848"/>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a:t>Software inherent difficulties include:</a:t>
            </a:r>
            <a:endParaRPr/>
          </a:p>
          <a:p>
            <a:pPr marL="742950" lvl="1" indent="-285750" algn="l" rtl="0">
              <a:spcBef>
                <a:spcPts val="560"/>
              </a:spcBef>
              <a:spcAft>
                <a:spcPts val="0"/>
              </a:spcAft>
              <a:buClr>
                <a:schemeClr val="dk1"/>
              </a:buClr>
              <a:buSzPts val="2800"/>
              <a:buChar char="–"/>
            </a:pPr>
            <a:r>
              <a:rPr lang="en-US"/>
              <a:t>Software complexity</a:t>
            </a:r>
            <a:endParaRPr/>
          </a:p>
          <a:p>
            <a:pPr marL="742950" lvl="1" indent="-285750" algn="l" rtl="0">
              <a:spcBef>
                <a:spcPts val="560"/>
              </a:spcBef>
              <a:spcAft>
                <a:spcPts val="0"/>
              </a:spcAft>
              <a:buClr>
                <a:schemeClr val="dk1"/>
              </a:buClr>
              <a:buSzPts val="2800"/>
              <a:buChar char="–"/>
            </a:pPr>
            <a:r>
              <a:rPr lang="en-US"/>
              <a:t>Software changeability</a:t>
            </a:r>
            <a:endParaRPr/>
          </a:p>
          <a:p>
            <a:pPr marL="742950" lvl="1" indent="-107950" algn="l" rtl="0">
              <a:spcBef>
                <a:spcPts val="560"/>
              </a:spcBef>
              <a:spcAft>
                <a:spcPts val="0"/>
              </a:spcAft>
              <a:buClr>
                <a:schemeClr val="dk1"/>
              </a:buClr>
              <a:buSzPts val="2800"/>
              <a:buNone/>
            </a:pPr>
            <a:endParaRPr/>
          </a:p>
        </p:txBody>
      </p:sp>
      <p:pic>
        <p:nvPicPr>
          <p:cNvPr id="247" name="Google Shape;247;p13"/>
          <p:cNvPicPr preferRelativeResize="0"/>
          <p:nvPr/>
        </p:nvPicPr>
        <p:blipFill rotWithShape="1">
          <a:blip r:embed="rId3">
            <a:alphaModFix/>
          </a:blip>
          <a:srcRect/>
          <a:stretch/>
        </p:blipFill>
        <p:spPr>
          <a:xfrm>
            <a:off x="2469777" y="3429000"/>
            <a:ext cx="4192189" cy="2902509"/>
          </a:xfrm>
          <a:prstGeom prst="rect">
            <a:avLst/>
          </a:prstGeom>
          <a:noFill/>
          <a:ln>
            <a:noFill/>
          </a:ln>
        </p:spPr>
      </p:pic>
      <p:sp>
        <p:nvSpPr>
          <p:cNvPr id="248" name="Google Shape;248;p13"/>
          <p:cNvSpPr txBox="1"/>
          <p:nvPr/>
        </p:nvSpPr>
        <p:spPr>
          <a:xfrm>
            <a:off x="2590800" y="5921975"/>
            <a:ext cx="144360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pautasso.info</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1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Software Complexity…</a:t>
            </a:r>
            <a:endParaRPr/>
          </a:p>
        </p:txBody>
      </p:sp>
      <p:sp>
        <p:nvSpPr>
          <p:cNvPr id="254" name="Google Shape;254;p14"/>
          <p:cNvSpPr txBox="1">
            <a:spLocks noGrp="1"/>
          </p:cNvSpPr>
          <p:nvPr>
            <p:ph type="body" idx="1"/>
          </p:nvPr>
        </p:nvSpPr>
        <p:spPr>
          <a:xfrm>
            <a:off x="439994" y="2133600"/>
            <a:ext cx="4038600" cy="4039659"/>
          </a:xfrm>
          <a:prstGeom prst="rect">
            <a:avLst/>
          </a:prstGeom>
          <a:noFill/>
          <a:ln>
            <a:noFill/>
          </a:ln>
        </p:spPr>
        <p:txBody>
          <a:bodyPr spcFirstLastPara="1" wrap="square" lIns="91425" tIns="45700" rIns="91425" bIns="45700" anchor="t" anchorCtr="0">
            <a:normAutofit fontScale="77500" lnSpcReduction="20000"/>
          </a:bodyPr>
          <a:lstStyle/>
          <a:p>
            <a:pPr marL="0" lvl="0" indent="0" algn="l" rtl="0">
              <a:spcBef>
                <a:spcPts val="0"/>
              </a:spcBef>
              <a:spcAft>
                <a:spcPts val="0"/>
              </a:spcAft>
              <a:buClr>
                <a:srgbClr val="C00000"/>
              </a:buClr>
              <a:buSzPct val="100000"/>
              <a:buNone/>
            </a:pPr>
            <a:r>
              <a:rPr lang="en-US" sz="2600">
                <a:solidFill>
                  <a:srgbClr val="C00000"/>
                </a:solidFill>
              </a:rPr>
              <a:t>No one really understands a large software product as a whole</a:t>
            </a:r>
            <a:endParaRPr/>
          </a:p>
          <a:p>
            <a:pPr marL="342900" lvl="0" indent="-342900" algn="l" rtl="0">
              <a:spcBef>
                <a:spcPts val="465"/>
              </a:spcBef>
              <a:spcAft>
                <a:spcPts val="0"/>
              </a:spcAft>
              <a:buClr>
                <a:schemeClr val="dk1"/>
              </a:buClr>
              <a:buSzPct val="100000"/>
              <a:buChar char="•"/>
            </a:pPr>
            <a:r>
              <a:rPr lang="en-US" sz="3000"/>
              <a:t>faults in specifications are made simply  because of a lack of understanding of all aspects of the product</a:t>
            </a:r>
            <a:endParaRPr/>
          </a:p>
          <a:p>
            <a:pPr marL="342900" lvl="0" indent="-342900" algn="l" rtl="0">
              <a:spcBef>
                <a:spcPts val="465"/>
              </a:spcBef>
              <a:spcAft>
                <a:spcPts val="0"/>
              </a:spcAft>
              <a:buClr>
                <a:schemeClr val="dk1"/>
              </a:buClr>
              <a:buSzPct val="100000"/>
              <a:buChar char="•"/>
            </a:pPr>
            <a:r>
              <a:rPr lang="en-US" sz="3000"/>
              <a:t>no matter how trivial, the various pieces of the product will interact</a:t>
            </a:r>
            <a:endParaRPr/>
          </a:p>
          <a:p>
            <a:pPr marL="342900" lvl="0" indent="-342900" algn="l" rtl="0">
              <a:spcBef>
                <a:spcPts val="465"/>
              </a:spcBef>
              <a:spcAft>
                <a:spcPts val="0"/>
              </a:spcAft>
              <a:buClr>
                <a:schemeClr val="dk1"/>
              </a:buClr>
              <a:buSzPct val="100000"/>
              <a:buChar char="•"/>
            </a:pPr>
            <a:r>
              <a:rPr lang="en-US" sz="3000"/>
              <a:t>difficulty due to invisible nature of relationships and imperfect model of reality</a:t>
            </a:r>
            <a:endParaRPr/>
          </a:p>
          <a:p>
            <a:pPr marL="457200" lvl="1" indent="0" algn="l" rtl="0">
              <a:spcBef>
                <a:spcPts val="279"/>
              </a:spcBef>
              <a:spcAft>
                <a:spcPts val="0"/>
              </a:spcAft>
              <a:buClr>
                <a:schemeClr val="dk1"/>
              </a:buClr>
              <a:buSzPct val="100000"/>
              <a:buNone/>
            </a:pPr>
            <a:endParaRPr sz="1800"/>
          </a:p>
          <a:p>
            <a:pPr marL="457200" lvl="1" indent="0" algn="l" rtl="0">
              <a:spcBef>
                <a:spcPts val="279"/>
              </a:spcBef>
              <a:spcAft>
                <a:spcPts val="0"/>
              </a:spcAft>
              <a:buClr>
                <a:schemeClr val="dk1"/>
              </a:buClr>
              <a:buSzPct val="100000"/>
              <a:buNone/>
            </a:pPr>
            <a:endParaRPr sz="1800"/>
          </a:p>
          <a:p>
            <a:pPr marL="0" lvl="0" indent="0" algn="l" rtl="0">
              <a:spcBef>
                <a:spcPts val="310"/>
              </a:spcBef>
              <a:spcAft>
                <a:spcPts val="0"/>
              </a:spcAft>
              <a:buClr>
                <a:schemeClr val="dk1"/>
              </a:buClr>
              <a:buSzPct val="100000"/>
              <a:buNone/>
            </a:pPr>
            <a:endParaRPr sz="2000"/>
          </a:p>
        </p:txBody>
      </p:sp>
      <p:sp>
        <p:nvSpPr>
          <p:cNvPr id="255" name="Google Shape;255;p14"/>
          <p:cNvSpPr txBox="1">
            <a:spLocks noGrp="1"/>
          </p:cNvSpPr>
          <p:nvPr>
            <p:ph type="body" idx="2"/>
          </p:nvPr>
        </p:nvSpPr>
        <p:spPr>
          <a:xfrm>
            <a:off x="4630994" y="2133600"/>
            <a:ext cx="4038600" cy="4039659"/>
          </a:xfrm>
          <a:prstGeom prst="rect">
            <a:avLst/>
          </a:prstGeom>
          <a:noFill/>
          <a:ln>
            <a:noFill/>
          </a:ln>
        </p:spPr>
        <p:txBody>
          <a:bodyPr spcFirstLastPara="1" wrap="square" lIns="91425" tIns="45700" rIns="91425" bIns="45700" anchor="t" anchorCtr="0">
            <a:normAutofit fontScale="77500" lnSpcReduction="20000"/>
          </a:bodyPr>
          <a:lstStyle/>
          <a:p>
            <a:pPr marL="0" lvl="0" indent="0" algn="l" rtl="0">
              <a:spcBef>
                <a:spcPts val="0"/>
              </a:spcBef>
              <a:spcAft>
                <a:spcPts val="0"/>
              </a:spcAft>
              <a:buClr>
                <a:srgbClr val="C00000"/>
              </a:buClr>
              <a:buSzPct val="100000"/>
              <a:buNone/>
            </a:pPr>
            <a:r>
              <a:rPr lang="en-US" sz="2600">
                <a:solidFill>
                  <a:srgbClr val="C00000"/>
                </a:solidFill>
              </a:rPr>
              <a:t>No silver bullet</a:t>
            </a:r>
            <a:endParaRPr/>
          </a:p>
          <a:p>
            <a:pPr marL="342900" lvl="0" indent="-342900" algn="l" rtl="0">
              <a:spcBef>
                <a:spcPts val="434"/>
              </a:spcBef>
              <a:spcAft>
                <a:spcPts val="0"/>
              </a:spcAft>
              <a:buClr>
                <a:schemeClr val="dk1"/>
              </a:buClr>
              <a:buSzPct val="100000"/>
              <a:buChar char="•"/>
            </a:pPr>
            <a:r>
              <a:rPr lang="en-US"/>
              <a:t>There are many different types of software system and there is no universal set of software techniques that is applicable to all of these</a:t>
            </a:r>
            <a:endParaRPr/>
          </a:p>
          <a:p>
            <a:pPr marL="342900" lvl="0" indent="-342900" algn="l" rtl="0">
              <a:spcBef>
                <a:spcPts val="434"/>
              </a:spcBef>
              <a:spcAft>
                <a:spcPts val="0"/>
              </a:spcAft>
              <a:buClr>
                <a:schemeClr val="dk1"/>
              </a:buClr>
              <a:buSzPct val="100000"/>
              <a:buChar char="•"/>
            </a:pPr>
            <a:r>
              <a:rPr lang="en-US"/>
              <a:t>The software engineering methods and tools used depend on the type of application being developed, the requirements of the customer and the background of the development team</a:t>
            </a:r>
            <a:endParaRPr/>
          </a:p>
          <a:p>
            <a:pPr marL="342900" lvl="0" indent="-244475" algn="l" rtl="0">
              <a:spcBef>
                <a:spcPts val="310"/>
              </a:spcBef>
              <a:spcAft>
                <a:spcPts val="0"/>
              </a:spcAft>
              <a:buClr>
                <a:schemeClr val="dk1"/>
              </a:buClr>
              <a:buSzPct val="100000"/>
              <a:buNone/>
            </a:pPr>
            <a:endParaRPr sz="2000"/>
          </a:p>
        </p:txBody>
      </p:sp>
      <p:sp>
        <p:nvSpPr>
          <p:cNvPr id="256" name="Google Shape;256;p14"/>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sp>
        <p:nvSpPr>
          <p:cNvPr id="257" name="Google Shape;257;p14"/>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Software Engineering</a:t>
            </a:r>
            <a:endParaRPr/>
          </a:p>
        </p:txBody>
      </p:sp>
      <p:sp>
        <p:nvSpPr>
          <p:cNvPr id="258" name="Google Shape;258;p14"/>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14</a:t>
            </a:fld>
            <a:endParaRPr/>
          </a:p>
        </p:txBody>
      </p:sp>
      <p:sp>
        <p:nvSpPr>
          <p:cNvPr id="259" name="Google Shape;259;p14"/>
          <p:cNvSpPr txBox="1"/>
          <p:nvPr/>
        </p:nvSpPr>
        <p:spPr>
          <a:xfrm>
            <a:off x="-8467" y="6173259"/>
            <a:ext cx="3124200" cy="584775"/>
          </a:xfrm>
          <a:prstGeom prst="rect">
            <a:avLst/>
          </a:prstGeom>
          <a:noFill/>
          <a:ln>
            <a:noFill/>
          </a:ln>
        </p:spPr>
        <p:txBody>
          <a:bodyPr spcFirstLastPara="1" wrap="square" lIns="91425" tIns="45700" rIns="91425" bIns="45700" anchor="t" anchorCtr="0">
            <a:spAutoFit/>
          </a:bodyPr>
          <a:lstStyle/>
          <a:p>
            <a:pPr marL="0" marR="0" lvl="2" indent="0" algn="l" rtl="0">
              <a:spcBef>
                <a:spcPts val="0"/>
              </a:spcBef>
              <a:spcAft>
                <a:spcPts val="0"/>
              </a:spcAft>
              <a:buNone/>
            </a:pPr>
            <a:r>
              <a:rPr lang="en-US" sz="1400" b="1" i="1" u="none" strike="noStrike" cap="none">
                <a:solidFill>
                  <a:srgbClr val="4C4C4C"/>
                </a:solidFill>
                <a:latin typeface="Helvetica Neue"/>
                <a:ea typeface="Helvetica Neue"/>
                <a:cs typeface="Helvetica Neue"/>
                <a:sym typeface="Helvetica Neue"/>
              </a:rPr>
              <a:t>©2009 J. L. Díaz-Herrera</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60" name="Google Shape;260;p14"/>
          <p:cNvSpPr txBox="1"/>
          <p:nvPr/>
        </p:nvSpPr>
        <p:spPr>
          <a:xfrm>
            <a:off x="248408" y="1567934"/>
            <a:ext cx="2574103"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dk1"/>
                </a:solidFill>
                <a:latin typeface="Calibri"/>
                <a:ea typeface="Calibri"/>
                <a:cs typeface="Calibri"/>
                <a:sym typeface="Calibri"/>
              </a:rPr>
              <a:t>Why is it complex?</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1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dk1"/>
              </a:buClr>
              <a:buSzPts val="4400"/>
              <a:buFont typeface="Calibri"/>
              <a:buNone/>
            </a:pPr>
            <a:r>
              <a:rPr lang="en-US"/>
              <a:t>Software Complexity…</a:t>
            </a:r>
            <a:endParaRPr/>
          </a:p>
        </p:txBody>
      </p:sp>
      <p:sp>
        <p:nvSpPr>
          <p:cNvPr id="266" name="Google Shape;266;p15"/>
          <p:cNvSpPr txBox="1">
            <a:spLocks noGrp="1"/>
          </p:cNvSpPr>
          <p:nvPr>
            <p:ph type="body" idx="1"/>
          </p:nvPr>
        </p:nvSpPr>
        <p:spPr>
          <a:xfrm>
            <a:off x="457200" y="1796287"/>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Clr>
                <a:schemeClr val="dk1"/>
              </a:buClr>
              <a:buSzPts val="2400"/>
              <a:buChar char="•"/>
            </a:pPr>
            <a:r>
              <a:rPr lang="en-US" sz="2400" b="1"/>
              <a:t>Application domain</a:t>
            </a:r>
            <a:endParaRPr/>
          </a:p>
          <a:p>
            <a:pPr marL="742950" lvl="1" indent="-285750" algn="l" rtl="0">
              <a:lnSpc>
                <a:spcPct val="90000"/>
              </a:lnSpc>
              <a:spcBef>
                <a:spcPts val="480"/>
              </a:spcBef>
              <a:spcAft>
                <a:spcPts val="0"/>
              </a:spcAft>
              <a:buClr>
                <a:schemeClr val="dk1"/>
              </a:buClr>
              <a:buSzPts val="2400"/>
              <a:buChar char="–"/>
            </a:pPr>
            <a:r>
              <a:rPr lang="en-US" sz="2400"/>
              <a:t>The problems are often very </a:t>
            </a:r>
            <a:r>
              <a:rPr lang="en-US" sz="2400" b="1">
                <a:solidFill>
                  <a:srgbClr val="C00000"/>
                </a:solidFill>
              </a:rPr>
              <a:t>complex</a:t>
            </a:r>
            <a:endParaRPr sz="2400">
              <a:solidFill>
                <a:srgbClr val="C00000"/>
              </a:solidFill>
            </a:endParaRPr>
          </a:p>
          <a:p>
            <a:pPr marL="742950" lvl="1" indent="-285750" algn="l" rtl="0">
              <a:lnSpc>
                <a:spcPct val="90000"/>
              </a:lnSpc>
              <a:spcBef>
                <a:spcPts val="480"/>
              </a:spcBef>
              <a:spcAft>
                <a:spcPts val="0"/>
              </a:spcAft>
              <a:buClr>
                <a:schemeClr val="dk1"/>
              </a:buClr>
              <a:buSzPts val="2400"/>
              <a:buChar char="–"/>
            </a:pPr>
            <a:r>
              <a:rPr lang="en-US" sz="2400"/>
              <a:t>The developers are </a:t>
            </a:r>
            <a:r>
              <a:rPr lang="en-US" sz="2400" b="1">
                <a:solidFill>
                  <a:srgbClr val="C00000"/>
                </a:solidFill>
              </a:rPr>
              <a:t>not domain experts</a:t>
            </a:r>
            <a:endParaRPr sz="2400">
              <a:solidFill>
                <a:srgbClr val="C00000"/>
              </a:solidFill>
            </a:endParaRPr>
          </a:p>
          <a:p>
            <a:pPr marL="342900" lvl="0" indent="-342900" algn="l" rtl="0">
              <a:lnSpc>
                <a:spcPct val="90000"/>
              </a:lnSpc>
              <a:spcBef>
                <a:spcPts val="480"/>
              </a:spcBef>
              <a:spcAft>
                <a:spcPts val="0"/>
              </a:spcAft>
              <a:buClr>
                <a:schemeClr val="dk1"/>
              </a:buClr>
              <a:buSzPts val="2400"/>
              <a:buChar char="•"/>
            </a:pPr>
            <a:r>
              <a:rPr lang="en-US" sz="2400" b="1"/>
              <a:t>Communication among stakeholders (clients, developers)</a:t>
            </a:r>
            <a:endParaRPr/>
          </a:p>
          <a:p>
            <a:pPr marL="742950" lvl="1" indent="-285750" algn="l" rtl="0">
              <a:lnSpc>
                <a:spcPct val="90000"/>
              </a:lnSpc>
              <a:spcBef>
                <a:spcPts val="480"/>
              </a:spcBef>
              <a:spcAft>
                <a:spcPts val="0"/>
              </a:spcAft>
              <a:buClr>
                <a:schemeClr val="dk1"/>
              </a:buClr>
              <a:buSzPts val="2400"/>
              <a:buChar char="–"/>
            </a:pPr>
            <a:r>
              <a:rPr lang="en-US" sz="2400"/>
              <a:t>The stakeholders use </a:t>
            </a:r>
            <a:r>
              <a:rPr lang="en-US" sz="2400" b="1">
                <a:solidFill>
                  <a:srgbClr val="C00000"/>
                </a:solidFill>
              </a:rPr>
              <a:t>different vocabulary</a:t>
            </a:r>
            <a:r>
              <a:rPr lang="en-US" sz="2400"/>
              <a:t>:</a:t>
            </a:r>
            <a:endParaRPr/>
          </a:p>
          <a:p>
            <a:pPr marL="1143000" lvl="2" indent="-228600" algn="l" rtl="0">
              <a:lnSpc>
                <a:spcPct val="90000"/>
              </a:lnSpc>
              <a:spcBef>
                <a:spcPts val="480"/>
              </a:spcBef>
              <a:spcAft>
                <a:spcPts val="0"/>
              </a:spcAft>
              <a:buClr>
                <a:schemeClr val="dk1"/>
              </a:buClr>
              <a:buSzPts val="2400"/>
              <a:buChar char="•"/>
            </a:pPr>
            <a:r>
              <a:rPr lang="en-US"/>
              <a:t>domain experts &lt;=&gt; developers &lt;=&gt; developers</a:t>
            </a:r>
            <a:endParaRPr/>
          </a:p>
          <a:p>
            <a:pPr marL="742950" lvl="1" indent="-285750" algn="l" rtl="0">
              <a:lnSpc>
                <a:spcPct val="90000"/>
              </a:lnSpc>
              <a:spcBef>
                <a:spcPts val="480"/>
              </a:spcBef>
              <a:spcAft>
                <a:spcPts val="0"/>
              </a:spcAft>
              <a:buClr>
                <a:schemeClr val="dk1"/>
              </a:buClr>
              <a:buSzPts val="2400"/>
              <a:buChar char="–"/>
            </a:pPr>
            <a:r>
              <a:rPr lang="en-US" sz="2400"/>
              <a:t>Human languages are inherently </a:t>
            </a:r>
            <a:r>
              <a:rPr lang="en-US" sz="2400" b="1">
                <a:solidFill>
                  <a:srgbClr val="C00000"/>
                </a:solidFill>
              </a:rPr>
              <a:t>ambiguous</a:t>
            </a:r>
            <a:endParaRPr sz="2400"/>
          </a:p>
          <a:p>
            <a:pPr marL="742950" lvl="1" indent="-285750" algn="l" rtl="0">
              <a:lnSpc>
                <a:spcPct val="90000"/>
              </a:lnSpc>
              <a:spcBef>
                <a:spcPts val="480"/>
              </a:spcBef>
              <a:spcAft>
                <a:spcPts val="0"/>
              </a:spcAft>
              <a:buClr>
                <a:schemeClr val="dk1"/>
              </a:buClr>
              <a:buSzPts val="2400"/>
              <a:buChar char="–"/>
            </a:pPr>
            <a:r>
              <a:rPr lang="en-US" sz="2400"/>
              <a:t>The stakeholders have </a:t>
            </a:r>
            <a:r>
              <a:rPr lang="en-US" sz="2400" b="1">
                <a:solidFill>
                  <a:srgbClr val="C00000"/>
                </a:solidFill>
              </a:rPr>
              <a:t>different background knowledge</a:t>
            </a:r>
            <a:endParaRPr sz="2400"/>
          </a:p>
          <a:p>
            <a:pPr marL="342900" lvl="0" indent="-342900" algn="l" rtl="0">
              <a:lnSpc>
                <a:spcPct val="90000"/>
              </a:lnSpc>
              <a:spcBef>
                <a:spcPts val="480"/>
              </a:spcBef>
              <a:spcAft>
                <a:spcPts val="0"/>
              </a:spcAft>
              <a:buClr>
                <a:schemeClr val="dk1"/>
              </a:buClr>
              <a:buSzPts val="2400"/>
              <a:buChar char="•"/>
            </a:pPr>
            <a:r>
              <a:rPr lang="en-US" sz="2400" b="1"/>
              <a:t>Management of large software development projects</a:t>
            </a:r>
            <a:endParaRPr/>
          </a:p>
          <a:p>
            <a:pPr marL="742950" lvl="1" indent="-285750" algn="l" rtl="0">
              <a:lnSpc>
                <a:spcPct val="90000"/>
              </a:lnSpc>
              <a:spcBef>
                <a:spcPts val="480"/>
              </a:spcBef>
              <a:spcAft>
                <a:spcPts val="0"/>
              </a:spcAft>
              <a:buClr>
                <a:schemeClr val="dk1"/>
              </a:buClr>
              <a:buSzPts val="2400"/>
              <a:buChar char="–"/>
            </a:pPr>
            <a:r>
              <a:rPr lang="en-US" sz="2400"/>
              <a:t>Need to divide the project into pieces and reassemble the pieces</a:t>
            </a:r>
            <a:endParaRPr/>
          </a:p>
          <a:p>
            <a:pPr marL="742950" lvl="1" indent="-285750" algn="l" rtl="0">
              <a:lnSpc>
                <a:spcPct val="90000"/>
              </a:lnSpc>
              <a:spcBef>
                <a:spcPts val="480"/>
              </a:spcBef>
              <a:spcAft>
                <a:spcPts val="0"/>
              </a:spcAft>
              <a:buClr>
                <a:schemeClr val="dk1"/>
              </a:buClr>
              <a:buSzPts val="2400"/>
              <a:buChar char="–"/>
            </a:pPr>
            <a:r>
              <a:rPr lang="en-US" sz="2400"/>
              <a:t>Need to coordinate many people</a:t>
            </a:r>
            <a:endParaRPr/>
          </a:p>
          <a:p>
            <a:pPr marL="342900" lvl="0" indent="-342900" algn="l" rtl="0">
              <a:lnSpc>
                <a:spcPct val="90000"/>
              </a:lnSpc>
              <a:spcBef>
                <a:spcPts val="480"/>
              </a:spcBef>
              <a:spcAft>
                <a:spcPts val="0"/>
              </a:spcAft>
              <a:buClr>
                <a:schemeClr val="dk1"/>
              </a:buClr>
              <a:buSzPts val="2400"/>
              <a:buNone/>
            </a:pPr>
            <a:r>
              <a:rPr lang="en-US" sz="2400"/>
              <a:t> </a:t>
            </a:r>
            <a:endParaRPr/>
          </a:p>
          <a:p>
            <a:pPr marL="342900" lvl="0" indent="-190500" algn="l" rtl="0">
              <a:lnSpc>
                <a:spcPct val="90000"/>
              </a:lnSpc>
              <a:spcBef>
                <a:spcPts val="480"/>
              </a:spcBef>
              <a:spcAft>
                <a:spcPts val="0"/>
              </a:spcAft>
              <a:buClr>
                <a:schemeClr val="dk1"/>
              </a:buClr>
              <a:buSzPts val="2400"/>
              <a:buNone/>
            </a:pPr>
            <a:endParaRPr sz="2400"/>
          </a:p>
          <a:p>
            <a:pPr marL="0" lvl="0" indent="0" algn="l" rtl="0">
              <a:spcBef>
                <a:spcPts val="480"/>
              </a:spcBef>
              <a:spcAft>
                <a:spcPts val="0"/>
              </a:spcAft>
              <a:buClr>
                <a:schemeClr val="dk1"/>
              </a:buClr>
              <a:buSzPts val="2400"/>
              <a:buNone/>
            </a:pPr>
            <a:endParaRPr sz="2400"/>
          </a:p>
        </p:txBody>
      </p:sp>
      <p:sp>
        <p:nvSpPr>
          <p:cNvPr id="267" name="Google Shape;267;p15"/>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sp>
        <p:nvSpPr>
          <p:cNvPr id="268" name="Google Shape;268;p15"/>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Software Engineering</a:t>
            </a:r>
            <a:endParaRPr/>
          </a:p>
        </p:txBody>
      </p:sp>
      <p:sp>
        <p:nvSpPr>
          <p:cNvPr id="269" name="Google Shape;269;p15"/>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15</a:t>
            </a:fld>
            <a:endParaRPr/>
          </a:p>
        </p:txBody>
      </p:sp>
      <p:sp>
        <p:nvSpPr>
          <p:cNvPr id="270" name="Google Shape;270;p15"/>
          <p:cNvSpPr txBox="1"/>
          <p:nvPr/>
        </p:nvSpPr>
        <p:spPr>
          <a:xfrm>
            <a:off x="248408" y="1359203"/>
            <a:ext cx="3791102"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chemeClr val="dk1"/>
                </a:solidFill>
                <a:latin typeface="Calibri"/>
                <a:ea typeface="Calibri"/>
                <a:cs typeface="Calibri"/>
                <a:sym typeface="Calibri"/>
              </a:rPr>
              <a:t>The complexity comes from:</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1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Software Complexity…</a:t>
            </a:r>
            <a:endParaRPr/>
          </a:p>
        </p:txBody>
      </p:sp>
      <p:sp>
        <p:nvSpPr>
          <p:cNvPr id="276" name="Google Shape;276;p1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lnSpcReduction="10000"/>
          </a:bodyPr>
          <a:lstStyle/>
          <a:p>
            <a:pPr marL="342900" lvl="0" indent="-342900" algn="l" rtl="0">
              <a:lnSpc>
                <a:spcPct val="90000"/>
              </a:lnSpc>
              <a:spcBef>
                <a:spcPts val="0"/>
              </a:spcBef>
              <a:spcAft>
                <a:spcPts val="0"/>
              </a:spcAft>
              <a:buClr>
                <a:schemeClr val="dk1"/>
              </a:buClr>
              <a:buSzPts val="3000"/>
              <a:buChar char="•"/>
            </a:pPr>
            <a:r>
              <a:rPr lang="en-US" sz="3000"/>
              <a:t>Software complexity leads to software quality problems:</a:t>
            </a:r>
            <a:endParaRPr/>
          </a:p>
          <a:p>
            <a:pPr marL="742950" lvl="1" indent="-285750" algn="l" rtl="0">
              <a:lnSpc>
                <a:spcPct val="90000"/>
              </a:lnSpc>
              <a:spcBef>
                <a:spcPts val="520"/>
              </a:spcBef>
              <a:spcAft>
                <a:spcPts val="0"/>
              </a:spcAft>
              <a:buClr>
                <a:schemeClr val="dk1"/>
              </a:buClr>
              <a:buSzPts val="2600"/>
              <a:buChar char="–"/>
            </a:pPr>
            <a:r>
              <a:rPr lang="en-US" sz="2600"/>
              <a:t>Unreliable 🡺 e.g. ARIANE 5 rocket</a:t>
            </a:r>
            <a:endParaRPr/>
          </a:p>
          <a:p>
            <a:pPr marL="742950" lvl="1" indent="-285750" algn="l" rtl="0">
              <a:lnSpc>
                <a:spcPct val="90000"/>
              </a:lnSpc>
              <a:spcBef>
                <a:spcPts val="520"/>
              </a:spcBef>
              <a:spcAft>
                <a:spcPts val="0"/>
              </a:spcAft>
              <a:buClr>
                <a:schemeClr val="dk1"/>
              </a:buClr>
              <a:buSzPts val="2600"/>
              <a:buChar char="–"/>
            </a:pPr>
            <a:r>
              <a:rPr lang="en-US" sz="2600"/>
              <a:t>Unsafe 🡺 e.g. London Ambulance</a:t>
            </a:r>
            <a:endParaRPr/>
          </a:p>
          <a:p>
            <a:pPr marL="742950" lvl="1" indent="-285750" algn="l" rtl="0">
              <a:lnSpc>
                <a:spcPct val="90000"/>
              </a:lnSpc>
              <a:spcBef>
                <a:spcPts val="520"/>
              </a:spcBef>
              <a:spcAft>
                <a:spcPts val="0"/>
              </a:spcAft>
              <a:buClr>
                <a:schemeClr val="dk1"/>
              </a:buClr>
              <a:buSzPts val="2600"/>
              <a:buChar char="–"/>
            </a:pPr>
            <a:r>
              <a:rPr lang="en-US" sz="2600"/>
              <a:t>Abandoned 🡺 e.g. London Stock Exchange</a:t>
            </a:r>
            <a:endParaRPr/>
          </a:p>
          <a:p>
            <a:pPr marL="742950" lvl="1" indent="-285750" algn="l" rtl="0">
              <a:lnSpc>
                <a:spcPct val="90000"/>
              </a:lnSpc>
              <a:spcBef>
                <a:spcPts val="520"/>
              </a:spcBef>
              <a:spcAft>
                <a:spcPts val="0"/>
              </a:spcAft>
              <a:buClr>
                <a:schemeClr val="dk1"/>
              </a:buClr>
              <a:buSzPts val="2600"/>
              <a:buChar char="–"/>
            </a:pPr>
            <a:r>
              <a:rPr lang="en-US" sz="2600"/>
              <a:t>Inflexible 🡺 hard to change/maintain</a:t>
            </a:r>
            <a:endParaRPr/>
          </a:p>
          <a:p>
            <a:pPr marL="342900" lvl="0" indent="-342900" algn="l" rtl="0">
              <a:lnSpc>
                <a:spcPct val="90000"/>
              </a:lnSpc>
              <a:spcBef>
                <a:spcPts val="600"/>
              </a:spcBef>
              <a:spcAft>
                <a:spcPts val="0"/>
              </a:spcAft>
              <a:buClr>
                <a:schemeClr val="dk1"/>
              </a:buClr>
              <a:buSzPts val="3000"/>
              <a:buChar char="•"/>
            </a:pPr>
            <a:r>
              <a:rPr lang="en-US" sz="3000"/>
              <a:t>Software project management problems</a:t>
            </a:r>
            <a:endParaRPr/>
          </a:p>
          <a:p>
            <a:pPr marL="342900" lvl="0" indent="-342900" algn="l" rtl="0">
              <a:lnSpc>
                <a:spcPct val="90000"/>
              </a:lnSpc>
              <a:spcBef>
                <a:spcPts val="600"/>
              </a:spcBef>
              <a:spcAft>
                <a:spcPts val="0"/>
              </a:spcAft>
              <a:buClr>
                <a:schemeClr val="dk1"/>
              </a:buClr>
              <a:buSzPts val="3000"/>
              <a:buChar char="•"/>
            </a:pPr>
            <a:r>
              <a:rPr lang="en-US" sz="3000"/>
              <a:t>Often over schedule and over budget by an order of magnitude</a:t>
            </a:r>
            <a:endParaRPr/>
          </a:p>
          <a:p>
            <a:pPr marL="342900" lvl="0" indent="-342900" algn="l" rtl="0">
              <a:lnSpc>
                <a:spcPct val="90000"/>
              </a:lnSpc>
              <a:spcBef>
                <a:spcPts val="600"/>
              </a:spcBef>
              <a:spcAft>
                <a:spcPts val="0"/>
              </a:spcAft>
              <a:buClr>
                <a:schemeClr val="dk1"/>
              </a:buClr>
              <a:buSzPts val="3000"/>
              <a:buChar char="•"/>
            </a:pPr>
            <a:r>
              <a:rPr lang="en-US" sz="3000"/>
              <a:t>Software engineer productivity problems</a:t>
            </a:r>
            <a:endParaRPr/>
          </a:p>
          <a:p>
            <a:pPr marL="342900" lvl="0" indent="-139700" algn="l" rtl="0">
              <a:spcBef>
                <a:spcPts val="640"/>
              </a:spcBef>
              <a:spcAft>
                <a:spcPts val="0"/>
              </a:spcAft>
              <a:buClr>
                <a:schemeClr val="dk1"/>
              </a:buClr>
              <a:buSzPts val="3200"/>
              <a:buNone/>
            </a:pPr>
            <a:endParaRPr/>
          </a:p>
        </p:txBody>
      </p:sp>
      <p:sp>
        <p:nvSpPr>
          <p:cNvPr id="277" name="Google Shape;277;p16"/>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sp>
        <p:nvSpPr>
          <p:cNvPr id="278" name="Google Shape;278;p16"/>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Software Engineering</a:t>
            </a:r>
            <a:endParaRPr/>
          </a:p>
        </p:txBody>
      </p:sp>
      <p:sp>
        <p:nvSpPr>
          <p:cNvPr id="279" name="Google Shape;279;p16"/>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16</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1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Software Complexity…</a:t>
            </a:r>
            <a:endParaRPr/>
          </a:p>
        </p:txBody>
      </p:sp>
      <p:sp>
        <p:nvSpPr>
          <p:cNvPr id="285" name="Google Shape;285;p17"/>
          <p:cNvSpPr txBox="1">
            <a:spLocks noGrp="1"/>
          </p:cNvSpPr>
          <p:nvPr>
            <p:ph type="body" idx="1"/>
          </p:nvPr>
        </p:nvSpPr>
        <p:spPr>
          <a:xfrm>
            <a:off x="457200" y="1439678"/>
            <a:ext cx="8229600" cy="4686485"/>
          </a:xfrm>
          <a:prstGeom prst="rect">
            <a:avLst/>
          </a:prstGeom>
          <a:noFill/>
          <a:ln>
            <a:noFill/>
          </a:ln>
        </p:spPr>
        <p:txBody>
          <a:bodyPr spcFirstLastPara="1" wrap="square" lIns="91425" tIns="45700" rIns="91425" bIns="45700" anchor="t" anchorCtr="0">
            <a:noAutofit/>
          </a:bodyPr>
          <a:lstStyle/>
          <a:p>
            <a:pPr marL="342900" lvl="0" indent="-342900" algn="l" rtl="0">
              <a:lnSpc>
                <a:spcPct val="80000"/>
              </a:lnSpc>
              <a:spcBef>
                <a:spcPts val="0"/>
              </a:spcBef>
              <a:spcAft>
                <a:spcPts val="0"/>
              </a:spcAft>
              <a:buClr>
                <a:schemeClr val="dk1"/>
              </a:buClr>
              <a:buSzPts val="2400"/>
              <a:buChar char="•"/>
            </a:pPr>
            <a:r>
              <a:rPr lang="en-US" sz="2400" b="1"/>
              <a:t>Ariane 5 rocket:</a:t>
            </a:r>
            <a:endParaRPr/>
          </a:p>
          <a:p>
            <a:pPr marL="742950" lvl="1" indent="-285750" algn="l" rtl="0">
              <a:lnSpc>
                <a:spcPct val="80000"/>
              </a:lnSpc>
              <a:spcBef>
                <a:spcPts val="480"/>
              </a:spcBef>
              <a:spcAft>
                <a:spcPts val="0"/>
              </a:spcAft>
              <a:buClr>
                <a:schemeClr val="dk1"/>
              </a:buClr>
              <a:buSzPts val="2400"/>
              <a:buChar char="–"/>
            </a:pPr>
            <a:r>
              <a:rPr lang="en-US" sz="2400"/>
              <a:t>Its maiden flight on June 4, 1996 ended in the launcher being exploded because of a chain of software failures </a:t>
            </a:r>
            <a:endParaRPr/>
          </a:p>
          <a:p>
            <a:pPr marL="342900" lvl="0" indent="-342900" algn="l" rtl="0">
              <a:lnSpc>
                <a:spcPct val="80000"/>
              </a:lnSpc>
              <a:spcBef>
                <a:spcPts val="480"/>
              </a:spcBef>
              <a:spcAft>
                <a:spcPts val="0"/>
              </a:spcAft>
              <a:buClr>
                <a:schemeClr val="dk1"/>
              </a:buClr>
              <a:buSzPts val="2400"/>
              <a:buChar char="•"/>
            </a:pPr>
            <a:r>
              <a:rPr lang="en-US" sz="2400" b="1"/>
              <a:t>London Ambulance:</a:t>
            </a:r>
            <a:endParaRPr/>
          </a:p>
          <a:p>
            <a:pPr marL="742950" lvl="1" indent="-285750" algn="l" rtl="0">
              <a:lnSpc>
                <a:spcPct val="80000"/>
              </a:lnSpc>
              <a:spcBef>
                <a:spcPts val="480"/>
              </a:spcBef>
              <a:spcAft>
                <a:spcPts val="0"/>
              </a:spcAft>
              <a:buClr>
                <a:schemeClr val="dk1"/>
              </a:buClr>
              <a:buSzPts val="2400"/>
              <a:buChar char="–"/>
            </a:pPr>
            <a:r>
              <a:rPr lang="en-US" sz="2400"/>
              <a:t>Because of a succession of software engineering failures the system was introduced that failed twice in the autumn of 1992</a:t>
            </a:r>
            <a:endParaRPr/>
          </a:p>
          <a:p>
            <a:pPr marL="742950" lvl="1" indent="-285750" algn="l" rtl="0">
              <a:lnSpc>
                <a:spcPct val="80000"/>
              </a:lnSpc>
              <a:spcBef>
                <a:spcPts val="480"/>
              </a:spcBef>
              <a:spcAft>
                <a:spcPts val="0"/>
              </a:spcAft>
              <a:buClr>
                <a:schemeClr val="dk1"/>
              </a:buClr>
              <a:buSzPts val="2400"/>
              <a:buChar char="–"/>
            </a:pPr>
            <a:r>
              <a:rPr lang="en-US" sz="2400"/>
              <a:t>Although the monetary costed at “only” about £9m, was small by comparison with other examples, it is believed that PEOPLE DIED due to the ambulance do not come as promptly as they would </a:t>
            </a:r>
            <a:endParaRPr/>
          </a:p>
          <a:p>
            <a:pPr marL="342900" lvl="0" indent="-342900" algn="l" rtl="0">
              <a:lnSpc>
                <a:spcPct val="80000"/>
              </a:lnSpc>
              <a:spcBef>
                <a:spcPts val="480"/>
              </a:spcBef>
              <a:spcAft>
                <a:spcPts val="0"/>
              </a:spcAft>
              <a:buClr>
                <a:schemeClr val="dk1"/>
              </a:buClr>
              <a:buSzPts val="2400"/>
              <a:buChar char="•"/>
            </a:pPr>
            <a:r>
              <a:rPr lang="en-US" sz="2400" b="1"/>
              <a:t>London Stock Exchange (LSE):</a:t>
            </a:r>
            <a:endParaRPr/>
          </a:p>
          <a:p>
            <a:pPr marL="742950" lvl="1" indent="-285750" algn="l" rtl="0">
              <a:lnSpc>
                <a:spcPct val="80000"/>
              </a:lnSpc>
              <a:spcBef>
                <a:spcPts val="480"/>
              </a:spcBef>
              <a:spcAft>
                <a:spcPts val="0"/>
              </a:spcAft>
              <a:buClr>
                <a:schemeClr val="dk1"/>
              </a:buClr>
              <a:buSzPts val="2400"/>
              <a:buChar char="–"/>
            </a:pPr>
            <a:r>
              <a:rPr lang="en-US" sz="2400"/>
              <a:t>The estimated loss to customers was around £450m and the damage to the reputation of the LSE was incalculable</a:t>
            </a:r>
            <a:endParaRPr/>
          </a:p>
        </p:txBody>
      </p:sp>
      <p:sp>
        <p:nvSpPr>
          <p:cNvPr id="286" name="Google Shape;286;p17"/>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sp>
        <p:nvSpPr>
          <p:cNvPr id="287" name="Google Shape;287;p17"/>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Software Engineering</a:t>
            </a:r>
            <a:endParaRPr/>
          </a:p>
        </p:txBody>
      </p:sp>
      <p:sp>
        <p:nvSpPr>
          <p:cNvPr id="288" name="Google Shape;288;p17"/>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p1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Clr>
                <a:schemeClr val="dk1"/>
              </a:buClr>
              <a:buSzPts val="4400"/>
              <a:buFont typeface="Calibri"/>
              <a:buNone/>
            </a:pPr>
            <a:r>
              <a:rPr lang="en-US"/>
              <a:t>LSE Example</a:t>
            </a:r>
            <a:endParaRPr/>
          </a:p>
        </p:txBody>
      </p:sp>
      <p:sp>
        <p:nvSpPr>
          <p:cNvPr id="294" name="Google Shape;294;p18"/>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sp>
        <p:nvSpPr>
          <p:cNvPr id="295" name="Google Shape;295;p18"/>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Software Engineering</a:t>
            </a:r>
            <a:endParaRPr/>
          </a:p>
        </p:txBody>
      </p:sp>
      <p:sp>
        <p:nvSpPr>
          <p:cNvPr id="296" name="Google Shape;296;p18"/>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18</a:t>
            </a:fld>
            <a:endParaRPr/>
          </a:p>
        </p:txBody>
      </p:sp>
      <p:pic>
        <p:nvPicPr>
          <p:cNvPr id="297" name="Google Shape;297;p18"/>
          <p:cNvPicPr preferRelativeResize="0"/>
          <p:nvPr/>
        </p:nvPicPr>
        <p:blipFill rotWithShape="1">
          <a:blip r:embed="rId3">
            <a:alphaModFix/>
          </a:blip>
          <a:srcRect/>
          <a:stretch/>
        </p:blipFill>
        <p:spPr>
          <a:xfrm>
            <a:off x="495899" y="108284"/>
            <a:ext cx="4286053" cy="6172201"/>
          </a:xfrm>
          <a:prstGeom prst="rect">
            <a:avLst/>
          </a:prstGeom>
          <a:noFill/>
          <a:ln w="9525" cap="flat" cmpd="sng">
            <a:solidFill>
              <a:schemeClr val="accent1"/>
            </a:solidFill>
            <a:prstDash val="solid"/>
            <a:round/>
            <a:headEnd type="none" w="sm" len="sm"/>
            <a:tailEnd type="none" w="sm" len="sm"/>
          </a:ln>
        </p:spPr>
      </p:pic>
      <p:pic>
        <p:nvPicPr>
          <p:cNvPr id="298" name="Google Shape;298;p18"/>
          <p:cNvPicPr preferRelativeResize="0"/>
          <p:nvPr/>
        </p:nvPicPr>
        <p:blipFill rotWithShape="1">
          <a:blip r:embed="rId4">
            <a:alphaModFix/>
          </a:blip>
          <a:srcRect/>
          <a:stretch/>
        </p:blipFill>
        <p:spPr>
          <a:xfrm>
            <a:off x="4953000" y="2317866"/>
            <a:ext cx="4042322" cy="1753035"/>
          </a:xfrm>
          <a:prstGeom prst="rect">
            <a:avLst/>
          </a:prstGeom>
          <a:noFill/>
          <a:ln w="9525" cap="flat" cmpd="sng">
            <a:solidFill>
              <a:schemeClr val="accent1"/>
            </a:solidFill>
            <a:prstDash val="solid"/>
            <a:round/>
            <a:headEnd type="none" w="sm" len="sm"/>
            <a:tailEnd type="none" w="sm" len="sm"/>
          </a:ln>
        </p:spPr>
      </p:pic>
      <p:sp>
        <p:nvSpPr>
          <p:cNvPr id="299" name="Google Shape;299;p18"/>
          <p:cNvSpPr txBox="1"/>
          <p:nvPr/>
        </p:nvSpPr>
        <p:spPr>
          <a:xfrm>
            <a:off x="5105401" y="4648200"/>
            <a:ext cx="3733800" cy="92333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Source: Financial Times</a:t>
            </a:r>
            <a:endParaRPr/>
          </a:p>
          <a:p>
            <a:pPr marL="0" marR="0" lvl="0" indent="0" algn="l" rtl="0">
              <a:spcBef>
                <a:spcPts val="0"/>
              </a:spcBef>
              <a:spcAft>
                <a:spcPts val="0"/>
              </a:spcAft>
              <a:buNone/>
            </a:pPr>
            <a:r>
              <a:rPr lang="en-US" sz="1800" u="sng">
                <a:solidFill>
                  <a:schemeClr val="dk1"/>
                </a:solidFill>
                <a:latin typeface="Calibri"/>
                <a:ea typeface="Calibri"/>
                <a:cs typeface="Calibri"/>
                <a:sym typeface="Calibri"/>
                <a:hlinkClick r:id="rId5">
                  <a:extLst>
                    <a:ext uri="{A12FA001-AC4F-418D-AE19-62706E023703}">
                      <ahyp:hlinkClr xmlns:ahyp="http://schemas.microsoft.com/office/drawing/2018/hyperlinkcolor" val="tx"/>
                    </a:ext>
                  </a:extLst>
                </a:hlinkClick>
              </a:rPr>
              <a:t>https://www.ft.com/content/7c32d086-bff4-11e9-b350-db00d509634e</a:t>
            </a:r>
            <a:endParaRPr sz="18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sp>
        <p:nvSpPr>
          <p:cNvPr id="304" name="Google Shape;304;p1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Software Changeability</a:t>
            </a:r>
            <a:endParaRPr/>
          </a:p>
        </p:txBody>
      </p:sp>
      <p:sp>
        <p:nvSpPr>
          <p:cNvPr id="305" name="Google Shape;305;p19"/>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a:t>Major changes to software will always and frequently be demanded</a:t>
            </a:r>
            <a:endParaRPr/>
          </a:p>
          <a:p>
            <a:pPr marL="742950" lvl="1" indent="-285750" algn="l" rtl="0">
              <a:spcBef>
                <a:spcPts val="560"/>
              </a:spcBef>
              <a:spcAft>
                <a:spcPts val="0"/>
              </a:spcAft>
              <a:buClr>
                <a:schemeClr val="dk1"/>
              </a:buClr>
              <a:buSzPts val="2800"/>
              <a:buChar char="–"/>
            </a:pPr>
            <a:r>
              <a:rPr lang="en-US"/>
              <a:t>successful software is required to provide more functionality</a:t>
            </a:r>
            <a:endParaRPr/>
          </a:p>
          <a:p>
            <a:pPr marL="742950" lvl="1" indent="-285750" algn="l" rtl="0">
              <a:spcBef>
                <a:spcPts val="560"/>
              </a:spcBef>
              <a:spcAft>
                <a:spcPts val="0"/>
              </a:spcAft>
              <a:buClr>
                <a:schemeClr val="dk1"/>
              </a:buClr>
              <a:buSzPts val="2800"/>
              <a:buChar char="–"/>
            </a:pPr>
            <a:r>
              <a:rPr lang="en-US"/>
              <a:t>software survives hardware</a:t>
            </a:r>
            <a:endParaRPr/>
          </a:p>
          <a:p>
            <a:pPr marL="342900" lvl="0" indent="-342900" algn="l" rtl="0">
              <a:spcBef>
                <a:spcPts val="640"/>
              </a:spcBef>
              <a:spcAft>
                <a:spcPts val="0"/>
              </a:spcAft>
              <a:buClr>
                <a:schemeClr val="dk1"/>
              </a:buClr>
              <a:buSzPts val="3200"/>
              <a:buChar char="•"/>
            </a:pPr>
            <a:r>
              <a:rPr lang="en-US"/>
              <a:t>Changing software (“maintenance”)</a:t>
            </a:r>
            <a:endParaRPr/>
          </a:p>
          <a:p>
            <a:pPr marL="742950" lvl="1" indent="-285750" algn="l" rtl="0">
              <a:spcBef>
                <a:spcPts val="560"/>
              </a:spcBef>
              <a:spcAft>
                <a:spcPts val="0"/>
              </a:spcAft>
              <a:buClr>
                <a:schemeClr val="dk1"/>
              </a:buClr>
              <a:buSzPts val="2800"/>
              <a:buChar char="–"/>
            </a:pPr>
            <a:r>
              <a:rPr lang="en-US"/>
              <a:t>is difficult due to dynamic nature of relationships between its interacting parts</a:t>
            </a:r>
            <a:endParaRPr/>
          </a:p>
          <a:p>
            <a:pPr marL="0" lvl="0" indent="0" algn="l" rtl="0">
              <a:spcBef>
                <a:spcPts val="640"/>
              </a:spcBef>
              <a:spcAft>
                <a:spcPts val="0"/>
              </a:spcAft>
              <a:buClr>
                <a:schemeClr val="dk1"/>
              </a:buClr>
              <a:buSzPts val="3200"/>
              <a:buNone/>
            </a:pPr>
            <a:endParaRPr/>
          </a:p>
        </p:txBody>
      </p:sp>
      <p:sp>
        <p:nvSpPr>
          <p:cNvPr id="306" name="Google Shape;306;p19"/>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sp>
        <p:nvSpPr>
          <p:cNvPr id="307" name="Google Shape;307;p19"/>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Software Engineering</a:t>
            </a:r>
            <a:endParaRPr/>
          </a:p>
        </p:txBody>
      </p:sp>
      <p:sp>
        <p:nvSpPr>
          <p:cNvPr id="308" name="Google Shape;308;p19"/>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19</a:t>
            </a:fld>
            <a:endParaRPr/>
          </a:p>
        </p:txBody>
      </p:sp>
      <p:sp>
        <p:nvSpPr>
          <p:cNvPr id="309" name="Google Shape;309;p19"/>
          <p:cNvSpPr txBox="1"/>
          <p:nvPr/>
        </p:nvSpPr>
        <p:spPr>
          <a:xfrm>
            <a:off x="152400" y="6126163"/>
            <a:ext cx="3276600" cy="307777"/>
          </a:xfrm>
          <a:prstGeom prst="rect">
            <a:avLst/>
          </a:prstGeom>
          <a:noFill/>
          <a:ln>
            <a:noFill/>
          </a:ln>
        </p:spPr>
        <p:txBody>
          <a:bodyPr spcFirstLastPara="1" wrap="square" lIns="91425" tIns="45700" rIns="91425" bIns="45700" anchor="t" anchorCtr="0">
            <a:spAutoFit/>
          </a:bodyPr>
          <a:lstStyle/>
          <a:p>
            <a:pPr marL="0" marR="0" lvl="2" indent="0" algn="l" rtl="0">
              <a:spcBef>
                <a:spcPts val="0"/>
              </a:spcBef>
              <a:spcAft>
                <a:spcPts val="0"/>
              </a:spcAft>
              <a:buNone/>
            </a:pPr>
            <a:r>
              <a:rPr lang="en-US" sz="1400" b="1" i="1" u="none" strike="noStrike" cap="none">
                <a:solidFill>
                  <a:srgbClr val="4C4C4C"/>
                </a:solidFill>
                <a:latin typeface="Helvetica Neue"/>
                <a:ea typeface="Helvetica Neue"/>
                <a:cs typeface="Helvetica Neue"/>
                <a:sym typeface="Helvetica Neue"/>
              </a:rPr>
              <a:t>©2009 J. L. Díaz-Herrera</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20"/>
          <p:cNvSpPr txBox="1">
            <a:spLocks noGrp="1"/>
          </p:cNvSpPr>
          <p:nvPr>
            <p:ph type="body" idx="2"/>
          </p:nvPr>
        </p:nvSpPr>
        <p:spPr>
          <a:xfrm>
            <a:off x="282678" y="1541352"/>
            <a:ext cx="4060722" cy="4584811"/>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chemeClr val="dk1"/>
              </a:buClr>
              <a:buSzPts val="2000"/>
              <a:buNone/>
            </a:pPr>
            <a:r>
              <a:rPr lang="en-US" sz="2000" u="sng"/>
              <a:t>Computer science</a:t>
            </a:r>
            <a:endParaRPr/>
          </a:p>
          <a:p>
            <a:pPr marL="0" lvl="0" indent="0" algn="l" rtl="0">
              <a:spcBef>
                <a:spcPts val="400"/>
              </a:spcBef>
              <a:spcAft>
                <a:spcPts val="0"/>
              </a:spcAft>
              <a:buClr>
                <a:schemeClr val="dk1"/>
              </a:buClr>
              <a:buSzPts val="2000"/>
              <a:buNone/>
            </a:pPr>
            <a:r>
              <a:rPr lang="en-US" sz="2000"/>
              <a:t>- The study of computation &amp; information processing, both in hardware and software</a:t>
            </a:r>
            <a:endParaRPr/>
          </a:p>
          <a:p>
            <a:pPr marL="0" lvl="0" indent="0" algn="l" rtl="0">
              <a:spcBef>
                <a:spcPts val="400"/>
              </a:spcBef>
              <a:spcAft>
                <a:spcPts val="0"/>
              </a:spcAft>
              <a:buClr>
                <a:schemeClr val="dk1"/>
              </a:buClr>
              <a:buSzPts val="2000"/>
              <a:buNone/>
            </a:pPr>
            <a:r>
              <a:rPr lang="en-US" sz="2000"/>
              <a:t>- The discipline concerned with developing large applications</a:t>
            </a:r>
            <a:endParaRPr/>
          </a:p>
          <a:p>
            <a:pPr marL="0" lvl="0" indent="0" algn="l" rtl="0">
              <a:spcBef>
                <a:spcPts val="400"/>
              </a:spcBef>
              <a:spcAft>
                <a:spcPts val="0"/>
              </a:spcAft>
              <a:buClr>
                <a:schemeClr val="dk1"/>
              </a:buClr>
              <a:buSzPts val="2000"/>
              <a:buNone/>
            </a:pPr>
            <a:endParaRPr sz="2000"/>
          </a:p>
          <a:p>
            <a:pPr marL="0" lvl="0" indent="0" algn="l" rtl="0">
              <a:spcBef>
                <a:spcPts val="400"/>
              </a:spcBef>
              <a:spcAft>
                <a:spcPts val="0"/>
              </a:spcAft>
              <a:buClr>
                <a:schemeClr val="dk1"/>
              </a:buClr>
              <a:buSzPts val="2000"/>
              <a:buNone/>
            </a:pPr>
            <a:r>
              <a:rPr lang="en-US" sz="2000" u="sng"/>
              <a:t>Software engineering </a:t>
            </a:r>
            <a:endParaRPr/>
          </a:p>
          <a:p>
            <a:pPr marL="0" lvl="0" indent="0" algn="l" rtl="0">
              <a:spcBef>
                <a:spcPts val="400"/>
              </a:spcBef>
              <a:spcAft>
                <a:spcPts val="0"/>
              </a:spcAft>
              <a:buClr>
                <a:schemeClr val="dk1"/>
              </a:buClr>
              <a:buSzPts val="2000"/>
              <a:buNone/>
            </a:pPr>
            <a:r>
              <a:rPr lang="en-US" sz="2000"/>
              <a:t>- Covers not only the technical aspects of building software systems, but also management issues, such as directing programming teams, scheduling, and budgeting</a:t>
            </a:r>
            <a:endParaRPr/>
          </a:p>
          <a:p>
            <a:pPr marL="0" lvl="0" indent="0" algn="l" rtl="0">
              <a:spcBef>
                <a:spcPts val="400"/>
              </a:spcBef>
              <a:spcAft>
                <a:spcPts val="0"/>
              </a:spcAft>
              <a:buClr>
                <a:schemeClr val="dk1"/>
              </a:buClr>
              <a:buSzPts val="2000"/>
              <a:buNone/>
            </a:pPr>
            <a:endParaRPr sz="2000"/>
          </a:p>
        </p:txBody>
      </p:sp>
      <p:sp>
        <p:nvSpPr>
          <p:cNvPr id="315" name="Google Shape;315;p20"/>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sp>
        <p:nvSpPr>
          <p:cNvPr id="316" name="Google Shape;316;p20"/>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Software Engineering</a:t>
            </a:r>
            <a:endParaRPr/>
          </a:p>
        </p:txBody>
      </p:sp>
      <p:sp>
        <p:nvSpPr>
          <p:cNvPr id="317" name="Google Shape;317;p20"/>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20</a:t>
            </a:fld>
            <a:endParaRPr/>
          </a:p>
        </p:txBody>
      </p:sp>
      <p:sp>
        <p:nvSpPr>
          <p:cNvPr id="318" name="Google Shape;318;p20"/>
          <p:cNvSpPr txBox="1"/>
          <p:nvPr/>
        </p:nvSpPr>
        <p:spPr>
          <a:xfrm>
            <a:off x="282678" y="5975866"/>
            <a:ext cx="8763000"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i="1">
                <a:solidFill>
                  <a:srgbClr val="C00000"/>
                </a:solidFill>
                <a:latin typeface="Calibri"/>
                <a:ea typeface="Calibri"/>
                <a:cs typeface="Calibri"/>
                <a:sym typeface="Calibri"/>
              </a:rPr>
              <a:t>Source : Agarwal, U. (2012).  Software Engineering, Kataria and Sons. </a:t>
            </a:r>
            <a:endParaRPr sz="1800">
              <a:solidFill>
                <a:srgbClr val="C00000"/>
              </a:solidFill>
              <a:latin typeface="Calibri"/>
              <a:ea typeface="Calibri"/>
              <a:cs typeface="Calibri"/>
              <a:sym typeface="Calibri"/>
            </a:endParaRPr>
          </a:p>
        </p:txBody>
      </p:sp>
      <p:pic>
        <p:nvPicPr>
          <p:cNvPr id="319" name="Google Shape;319;p20"/>
          <p:cNvPicPr preferRelativeResize="0">
            <a:picLocks noGrp="1"/>
          </p:cNvPicPr>
          <p:nvPr>
            <p:ph type="body" idx="1"/>
          </p:nvPr>
        </p:nvPicPr>
        <p:blipFill rotWithShape="1">
          <a:blip r:embed="rId3">
            <a:alphaModFix/>
          </a:blip>
          <a:srcRect/>
          <a:stretch/>
        </p:blipFill>
        <p:spPr>
          <a:xfrm>
            <a:off x="4191000" y="1541352"/>
            <a:ext cx="4724400" cy="4434514"/>
          </a:xfrm>
          <a:prstGeom prst="rect">
            <a:avLst/>
          </a:prstGeom>
          <a:noFill/>
          <a:ln>
            <a:noFill/>
          </a:ln>
        </p:spPr>
      </p:pic>
      <p:sp>
        <p:nvSpPr>
          <p:cNvPr id="320" name="Google Shape;320;p20"/>
          <p:cNvSpPr/>
          <p:nvPr/>
        </p:nvSpPr>
        <p:spPr>
          <a:xfrm>
            <a:off x="282678" y="-93512"/>
            <a:ext cx="8480322" cy="132343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000">
                <a:solidFill>
                  <a:srgbClr val="000000"/>
                </a:solidFill>
                <a:latin typeface="Calibri"/>
                <a:ea typeface="Calibri"/>
                <a:cs typeface="Calibri"/>
                <a:sym typeface="Calibri"/>
              </a:rPr>
              <a:t>Computer Science vs. </a:t>
            </a:r>
            <a:endParaRPr/>
          </a:p>
          <a:p>
            <a:pPr marL="0" marR="0" lvl="0" indent="0" algn="ctr" rtl="0">
              <a:spcBef>
                <a:spcPts val="0"/>
              </a:spcBef>
              <a:spcAft>
                <a:spcPts val="0"/>
              </a:spcAft>
              <a:buNone/>
            </a:pPr>
            <a:r>
              <a:rPr lang="en-US" sz="4000">
                <a:solidFill>
                  <a:srgbClr val="000000"/>
                </a:solidFill>
                <a:latin typeface="Calibri"/>
                <a:ea typeface="Calibri"/>
                <a:cs typeface="Calibri"/>
                <a:sym typeface="Calibri"/>
              </a:rPr>
              <a:t>Software Engineering</a:t>
            </a:r>
            <a:endParaRPr sz="160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5" name="Google Shape;325;p2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dk1"/>
              </a:buClr>
              <a:buSzPts val="4400"/>
              <a:buFont typeface="Calibri"/>
              <a:buNone/>
            </a:pPr>
            <a:r>
              <a:rPr lang="en-US"/>
              <a:t>Software Engineering vs. </a:t>
            </a:r>
            <a:br>
              <a:rPr lang="en-US"/>
            </a:br>
            <a:r>
              <a:rPr lang="en-US"/>
              <a:t>Software Programming</a:t>
            </a:r>
            <a:endParaRPr/>
          </a:p>
        </p:txBody>
      </p:sp>
      <p:sp>
        <p:nvSpPr>
          <p:cNvPr id="326" name="Google Shape;326;p21"/>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sp>
        <p:nvSpPr>
          <p:cNvPr id="327" name="Google Shape;327;p21"/>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Software Engineering</a:t>
            </a:r>
            <a:endParaRPr/>
          </a:p>
        </p:txBody>
      </p:sp>
      <p:sp>
        <p:nvSpPr>
          <p:cNvPr id="328" name="Google Shape;328;p21"/>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21</a:t>
            </a:fld>
            <a:endParaRPr/>
          </a:p>
        </p:txBody>
      </p:sp>
      <p:graphicFrame>
        <p:nvGraphicFramePr>
          <p:cNvPr id="329" name="Google Shape;329;p21"/>
          <p:cNvGraphicFramePr/>
          <p:nvPr/>
        </p:nvGraphicFramePr>
        <p:xfrm>
          <a:off x="457200" y="1600200"/>
          <a:ext cx="8229600" cy="4236300"/>
        </p:xfrm>
        <a:graphic>
          <a:graphicData uri="http://schemas.openxmlformats.org/drawingml/2006/table">
            <a:tbl>
              <a:tblPr firstRow="1" firstCol="1" bandRow="1">
                <a:noFill/>
                <a:tableStyleId>{0E43E922-DCC8-490A-AD59-0495A787ED80}</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533400">
                <a:tc>
                  <a:txBody>
                    <a:bodyPr/>
                    <a:lstStyle/>
                    <a:p>
                      <a:pPr marL="0" marR="0" lvl="0" indent="0" algn="ctr" rtl="0">
                        <a:lnSpc>
                          <a:spcPct val="100000"/>
                        </a:lnSpc>
                        <a:spcBef>
                          <a:spcPts val="0"/>
                        </a:spcBef>
                        <a:spcAft>
                          <a:spcPts val="0"/>
                        </a:spcAft>
                        <a:buClr>
                          <a:schemeClr val="dk1"/>
                        </a:buClr>
                        <a:buSzPts val="2000"/>
                        <a:buFont typeface="Arial"/>
                        <a:buNone/>
                      </a:pPr>
                      <a:r>
                        <a:rPr lang="en-US" sz="2000" b="1" u="none" strike="noStrike" cap="none">
                          <a:latin typeface="Arial"/>
                          <a:ea typeface="Arial"/>
                          <a:cs typeface="Arial"/>
                          <a:sym typeface="Arial"/>
                        </a:rPr>
                        <a:t>Software Programming</a:t>
                      </a:r>
                      <a:endParaRPr/>
                    </a:p>
                  </a:txBody>
                  <a:tcPr marL="91450" marR="91450" marT="45725" marB="45725"/>
                </a:tc>
                <a:tc>
                  <a:txBody>
                    <a:bodyPr/>
                    <a:lstStyle/>
                    <a:p>
                      <a:pPr marL="0" marR="0" lvl="0" indent="0" algn="ctr" rtl="0">
                        <a:lnSpc>
                          <a:spcPct val="100000"/>
                        </a:lnSpc>
                        <a:spcBef>
                          <a:spcPts val="0"/>
                        </a:spcBef>
                        <a:spcAft>
                          <a:spcPts val="0"/>
                        </a:spcAft>
                        <a:buClr>
                          <a:schemeClr val="dk1"/>
                        </a:buClr>
                        <a:buSzPts val="2000"/>
                        <a:buFont typeface="Arial"/>
                        <a:buNone/>
                      </a:pPr>
                      <a:r>
                        <a:rPr lang="en-US" sz="2000" b="1" i="0" u="none" strike="noStrike" cap="none">
                          <a:solidFill>
                            <a:schemeClr val="dk1"/>
                          </a:solidFill>
                          <a:latin typeface="Arial"/>
                          <a:ea typeface="Arial"/>
                          <a:cs typeface="Arial"/>
                          <a:sym typeface="Arial"/>
                        </a:rPr>
                        <a:t>Software Engineering</a:t>
                      </a:r>
                      <a:endParaRPr/>
                    </a:p>
                  </a:txBody>
                  <a:tcPr marL="91450" marR="91450" marT="45725" marB="45725"/>
                </a:tc>
                <a:extLst>
                  <a:ext uri="{0D108BD9-81ED-4DB2-BD59-A6C34878D82A}">
                    <a16:rowId xmlns:a16="http://schemas.microsoft.com/office/drawing/2014/main" val="10000"/>
                  </a:ext>
                </a:extLst>
              </a:tr>
              <a:tr h="869050">
                <a:tc>
                  <a:txBody>
                    <a:bodyPr/>
                    <a:lstStyle/>
                    <a:p>
                      <a:pPr marL="0" marR="0" lvl="0" indent="0" algn="l" rtl="0">
                        <a:spcBef>
                          <a:spcPts val="0"/>
                        </a:spcBef>
                        <a:spcAft>
                          <a:spcPts val="0"/>
                        </a:spcAft>
                        <a:buNone/>
                      </a:pPr>
                      <a:r>
                        <a:rPr lang="en-US" sz="2000" u="none" strike="noStrike" cap="none">
                          <a:latin typeface="Arial"/>
                          <a:ea typeface="Arial"/>
                          <a:cs typeface="Arial"/>
                          <a:sym typeface="Arial"/>
                        </a:rPr>
                        <a:t>Single developer</a:t>
                      </a:r>
                      <a:endParaRPr sz="2000">
                        <a:latin typeface="Arial"/>
                        <a:ea typeface="Arial"/>
                        <a:cs typeface="Arial"/>
                        <a:sym typeface="Arial"/>
                      </a:endParaRPr>
                    </a:p>
                  </a:txBody>
                  <a:tcPr marL="91450" marR="91450" marT="45725" marB="45725"/>
                </a:tc>
                <a:tc>
                  <a:txBody>
                    <a:bodyPr/>
                    <a:lstStyle/>
                    <a:p>
                      <a:pPr marL="0" marR="0" lvl="0" indent="0" algn="l" rtl="0">
                        <a:spcBef>
                          <a:spcPts val="0"/>
                        </a:spcBef>
                        <a:spcAft>
                          <a:spcPts val="0"/>
                        </a:spcAft>
                        <a:buNone/>
                      </a:pPr>
                      <a:r>
                        <a:rPr lang="en-US" sz="2000">
                          <a:latin typeface="Arial"/>
                          <a:ea typeface="Arial"/>
                          <a:cs typeface="Arial"/>
                          <a:sym typeface="Arial"/>
                        </a:rPr>
                        <a:t>Teams of developers with multiple roles</a:t>
                      </a:r>
                      <a:endParaRPr sz="2000">
                        <a:latin typeface="Arial"/>
                        <a:ea typeface="Arial"/>
                        <a:cs typeface="Arial"/>
                        <a:sym typeface="Arial"/>
                      </a:endParaRPr>
                    </a:p>
                  </a:txBody>
                  <a:tcPr marL="91450" marR="91450" marT="45725" marB="45725"/>
                </a:tc>
                <a:extLst>
                  <a:ext uri="{0D108BD9-81ED-4DB2-BD59-A6C34878D82A}">
                    <a16:rowId xmlns:a16="http://schemas.microsoft.com/office/drawing/2014/main" val="10001"/>
                  </a:ext>
                </a:extLst>
              </a:tr>
              <a:tr h="491200">
                <a:tc>
                  <a:txBody>
                    <a:bodyPr/>
                    <a:lstStyle/>
                    <a:p>
                      <a:pPr marL="0" marR="0" lvl="0" indent="0" algn="l" rtl="0">
                        <a:spcBef>
                          <a:spcPts val="0"/>
                        </a:spcBef>
                        <a:spcAft>
                          <a:spcPts val="0"/>
                        </a:spcAft>
                        <a:buNone/>
                      </a:pPr>
                      <a:r>
                        <a:rPr lang="en-US" sz="2000">
                          <a:latin typeface="Arial"/>
                          <a:ea typeface="Arial"/>
                          <a:cs typeface="Arial"/>
                          <a:sym typeface="Arial"/>
                        </a:rPr>
                        <a:t>“Toy” applications</a:t>
                      </a:r>
                      <a:endParaRPr/>
                    </a:p>
                  </a:txBody>
                  <a:tcPr marL="91450" marR="91450" marT="45725" marB="45725"/>
                </a:tc>
                <a:tc>
                  <a:txBody>
                    <a:bodyPr/>
                    <a:lstStyle/>
                    <a:p>
                      <a:pPr marL="0" marR="0" lvl="0" indent="0" algn="l" rtl="0">
                        <a:spcBef>
                          <a:spcPts val="0"/>
                        </a:spcBef>
                        <a:spcAft>
                          <a:spcPts val="0"/>
                        </a:spcAft>
                        <a:buNone/>
                      </a:pPr>
                      <a:r>
                        <a:rPr lang="en-US" sz="2000">
                          <a:latin typeface="Arial"/>
                          <a:ea typeface="Arial"/>
                          <a:cs typeface="Arial"/>
                          <a:sym typeface="Arial"/>
                        </a:rPr>
                        <a:t>Complex systems</a:t>
                      </a:r>
                      <a:endParaRPr sz="2000">
                        <a:latin typeface="Arial"/>
                        <a:ea typeface="Arial"/>
                        <a:cs typeface="Arial"/>
                        <a:sym typeface="Arial"/>
                      </a:endParaRPr>
                    </a:p>
                  </a:txBody>
                  <a:tcPr marL="91450" marR="91450" marT="45725" marB="45725"/>
                </a:tc>
                <a:extLst>
                  <a:ext uri="{0D108BD9-81ED-4DB2-BD59-A6C34878D82A}">
                    <a16:rowId xmlns:a16="http://schemas.microsoft.com/office/drawing/2014/main" val="10002"/>
                  </a:ext>
                </a:extLst>
              </a:tr>
              <a:tr h="491200">
                <a:tc>
                  <a:txBody>
                    <a:bodyPr/>
                    <a:lstStyle/>
                    <a:p>
                      <a:pPr marL="0" marR="0" lvl="0" indent="0" algn="l" rtl="0">
                        <a:spcBef>
                          <a:spcPts val="0"/>
                        </a:spcBef>
                        <a:spcAft>
                          <a:spcPts val="0"/>
                        </a:spcAft>
                        <a:buNone/>
                      </a:pPr>
                      <a:r>
                        <a:rPr lang="en-US" sz="2000">
                          <a:latin typeface="Arial"/>
                          <a:ea typeface="Arial"/>
                          <a:cs typeface="Arial"/>
                          <a:sym typeface="Arial"/>
                        </a:rPr>
                        <a:t>Short lifespan</a:t>
                      </a:r>
                      <a:endParaRPr/>
                    </a:p>
                  </a:txBody>
                  <a:tcPr marL="91450" marR="91450" marT="45725" marB="45725"/>
                </a:tc>
                <a:tc>
                  <a:txBody>
                    <a:bodyPr/>
                    <a:lstStyle/>
                    <a:p>
                      <a:pPr marL="0" marR="0" lvl="0" indent="0" algn="l" rtl="0">
                        <a:spcBef>
                          <a:spcPts val="0"/>
                        </a:spcBef>
                        <a:spcAft>
                          <a:spcPts val="0"/>
                        </a:spcAft>
                        <a:buNone/>
                      </a:pPr>
                      <a:r>
                        <a:rPr lang="en-US" sz="2000">
                          <a:latin typeface="Arial"/>
                          <a:ea typeface="Arial"/>
                          <a:cs typeface="Arial"/>
                          <a:sym typeface="Arial"/>
                        </a:rPr>
                        <a:t>Indefinite lifespan</a:t>
                      </a:r>
                      <a:endParaRPr/>
                    </a:p>
                  </a:txBody>
                  <a:tcPr marL="91450" marR="91450" marT="45725" marB="45725"/>
                </a:tc>
                <a:extLst>
                  <a:ext uri="{0D108BD9-81ED-4DB2-BD59-A6C34878D82A}">
                    <a16:rowId xmlns:a16="http://schemas.microsoft.com/office/drawing/2014/main" val="10003"/>
                  </a:ext>
                </a:extLst>
              </a:tr>
              <a:tr h="491200">
                <a:tc>
                  <a:txBody>
                    <a:bodyPr/>
                    <a:lstStyle/>
                    <a:p>
                      <a:pPr marL="0" marR="0" lvl="0" indent="0" algn="l" rtl="0">
                        <a:spcBef>
                          <a:spcPts val="0"/>
                        </a:spcBef>
                        <a:spcAft>
                          <a:spcPts val="0"/>
                        </a:spcAft>
                        <a:buNone/>
                      </a:pPr>
                      <a:r>
                        <a:rPr lang="en-US" sz="2000">
                          <a:latin typeface="Arial"/>
                          <a:ea typeface="Arial"/>
                          <a:cs typeface="Arial"/>
                          <a:sym typeface="Arial"/>
                        </a:rPr>
                        <a:t>One-of-a-kind systems</a:t>
                      </a:r>
                      <a:endParaRPr/>
                    </a:p>
                  </a:txBody>
                  <a:tcPr marL="91450" marR="91450" marT="45725" marB="45725"/>
                </a:tc>
                <a:tc>
                  <a:txBody>
                    <a:bodyPr/>
                    <a:lstStyle/>
                    <a:p>
                      <a:pPr marL="0" marR="0" lvl="0" indent="0" algn="l" rtl="0">
                        <a:spcBef>
                          <a:spcPts val="0"/>
                        </a:spcBef>
                        <a:spcAft>
                          <a:spcPts val="0"/>
                        </a:spcAft>
                        <a:buNone/>
                      </a:pPr>
                      <a:r>
                        <a:rPr lang="en-US" sz="2000">
                          <a:latin typeface="Arial"/>
                          <a:ea typeface="Arial"/>
                          <a:cs typeface="Arial"/>
                          <a:sym typeface="Arial"/>
                        </a:rPr>
                        <a:t>System families</a:t>
                      </a:r>
                      <a:endParaRPr/>
                    </a:p>
                  </a:txBody>
                  <a:tcPr marL="91450" marR="91450" marT="45725" marB="45725"/>
                </a:tc>
                <a:extLst>
                  <a:ext uri="{0D108BD9-81ED-4DB2-BD59-A6C34878D82A}">
                    <a16:rowId xmlns:a16="http://schemas.microsoft.com/office/drawing/2014/main" val="10004"/>
                  </a:ext>
                </a:extLst>
              </a:tr>
              <a:tr h="491200">
                <a:tc>
                  <a:txBody>
                    <a:bodyPr/>
                    <a:lstStyle/>
                    <a:p>
                      <a:pPr marL="0" marR="0" lvl="0" indent="0" algn="l" rtl="0">
                        <a:spcBef>
                          <a:spcPts val="0"/>
                        </a:spcBef>
                        <a:spcAft>
                          <a:spcPts val="0"/>
                        </a:spcAft>
                        <a:buNone/>
                      </a:pPr>
                      <a:r>
                        <a:rPr lang="en-US" sz="2000">
                          <a:latin typeface="Arial"/>
                          <a:ea typeface="Arial"/>
                          <a:cs typeface="Arial"/>
                          <a:sym typeface="Arial"/>
                        </a:rPr>
                        <a:t>Built from scratch</a:t>
                      </a:r>
                      <a:endParaRPr/>
                    </a:p>
                  </a:txBody>
                  <a:tcPr marL="91450" marR="91450" marT="45725" marB="45725"/>
                </a:tc>
                <a:tc>
                  <a:txBody>
                    <a:bodyPr/>
                    <a:lstStyle/>
                    <a:p>
                      <a:pPr marL="0" marR="0" lvl="0" indent="0" algn="l" rtl="0">
                        <a:spcBef>
                          <a:spcPts val="0"/>
                        </a:spcBef>
                        <a:spcAft>
                          <a:spcPts val="0"/>
                        </a:spcAft>
                        <a:buNone/>
                      </a:pPr>
                      <a:r>
                        <a:rPr lang="en-US" sz="2000">
                          <a:latin typeface="Arial"/>
                          <a:ea typeface="Arial"/>
                          <a:cs typeface="Arial"/>
                          <a:sym typeface="Arial"/>
                        </a:rPr>
                        <a:t>May be reused to reduce costs</a:t>
                      </a:r>
                      <a:endParaRPr/>
                    </a:p>
                  </a:txBody>
                  <a:tcPr marL="91450" marR="91450" marT="45725" marB="45725"/>
                </a:tc>
                <a:extLst>
                  <a:ext uri="{0D108BD9-81ED-4DB2-BD59-A6C34878D82A}">
                    <a16:rowId xmlns:a16="http://schemas.microsoft.com/office/drawing/2014/main" val="10005"/>
                  </a:ext>
                </a:extLst>
              </a:tr>
              <a:tr h="869050">
                <a:tc>
                  <a:txBody>
                    <a:bodyPr/>
                    <a:lstStyle/>
                    <a:p>
                      <a:pPr marL="0" marR="0" lvl="0" indent="0" algn="l" rtl="0">
                        <a:spcBef>
                          <a:spcPts val="0"/>
                        </a:spcBef>
                        <a:spcAft>
                          <a:spcPts val="0"/>
                        </a:spcAft>
                        <a:buNone/>
                      </a:pPr>
                      <a:r>
                        <a:rPr lang="en-US" sz="2000">
                          <a:latin typeface="Arial"/>
                          <a:ea typeface="Arial"/>
                          <a:cs typeface="Arial"/>
                          <a:sym typeface="Arial"/>
                        </a:rPr>
                        <a:t>Minimal maintenance </a:t>
                      </a:r>
                      <a:endParaRPr/>
                    </a:p>
                  </a:txBody>
                  <a:tcPr marL="91450" marR="91450" marT="45725" marB="45725"/>
                </a:tc>
                <a:tc>
                  <a:txBody>
                    <a:bodyPr/>
                    <a:lstStyle/>
                    <a:p>
                      <a:pPr marL="0" marR="0" lvl="0" indent="0" algn="l" rtl="0">
                        <a:spcBef>
                          <a:spcPts val="0"/>
                        </a:spcBef>
                        <a:spcAft>
                          <a:spcPts val="0"/>
                        </a:spcAft>
                        <a:buNone/>
                      </a:pPr>
                      <a:r>
                        <a:rPr lang="en-US" sz="2000">
                          <a:latin typeface="Arial"/>
                          <a:ea typeface="Arial"/>
                          <a:cs typeface="Arial"/>
                          <a:sym typeface="Arial"/>
                        </a:rPr>
                        <a:t>Maintenance accounts for over 60% of overall development costs</a:t>
                      </a:r>
                      <a:endParaRPr sz="2000">
                        <a:latin typeface="Arial"/>
                        <a:ea typeface="Arial"/>
                        <a:cs typeface="Arial"/>
                        <a:sym typeface="Arial"/>
                      </a:endParaRPr>
                    </a:p>
                  </a:txBody>
                  <a:tcPr marL="91450" marR="91450" marT="45725" marB="45725"/>
                </a:tc>
                <a:extLst>
                  <a:ext uri="{0D108BD9-81ED-4DB2-BD59-A6C34878D82A}">
                    <a16:rowId xmlns:a16="http://schemas.microsoft.com/office/drawing/2014/main" val="10006"/>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2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Quality Focus</a:t>
            </a:r>
            <a:endParaRPr/>
          </a:p>
        </p:txBody>
      </p:sp>
      <p:sp>
        <p:nvSpPr>
          <p:cNvPr id="335" name="Google Shape;335;p2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lnSpcReduction="10000"/>
          </a:bodyPr>
          <a:lstStyle/>
          <a:p>
            <a:pPr marL="342900" lvl="0" indent="-342900" algn="l" rtl="0">
              <a:lnSpc>
                <a:spcPct val="80000"/>
              </a:lnSpc>
              <a:spcBef>
                <a:spcPts val="0"/>
              </a:spcBef>
              <a:spcAft>
                <a:spcPts val="0"/>
              </a:spcAft>
              <a:buClr>
                <a:schemeClr val="dk1"/>
              </a:buClr>
              <a:buSzPts val="2200"/>
              <a:buChar char="•"/>
            </a:pPr>
            <a:r>
              <a:rPr lang="en-US" sz="2200" u="sng"/>
              <a:t>External qualities</a:t>
            </a:r>
            <a:r>
              <a:rPr lang="en-US" sz="2200"/>
              <a:t> are visible to the </a:t>
            </a:r>
            <a:r>
              <a:rPr lang="en-US" sz="2200" u="sng"/>
              <a:t>user</a:t>
            </a:r>
            <a:endParaRPr/>
          </a:p>
          <a:p>
            <a:pPr marL="742950" lvl="1" indent="-285750" algn="l" rtl="0">
              <a:lnSpc>
                <a:spcPct val="80000"/>
              </a:lnSpc>
              <a:spcBef>
                <a:spcPts val="900"/>
              </a:spcBef>
              <a:spcAft>
                <a:spcPts val="0"/>
              </a:spcAft>
              <a:buClr>
                <a:schemeClr val="dk1"/>
              </a:buClr>
              <a:buSzPts val="2200"/>
              <a:buChar char="–"/>
            </a:pPr>
            <a:r>
              <a:rPr lang="en-US" sz="2200"/>
              <a:t>reliability, efficiency, usability</a:t>
            </a:r>
            <a:endParaRPr/>
          </a:p>
          <a:p>
            <a:pPr marL="342900" lvl="0" indent="-342900" algn="l" rtl="0">
              <a:lnSpc>
                <a:spcPct val="80000"/>
              </a:lnSpc>
              <a:spcBef>
                <a:spcPts val="600"/>
              </a:spcBef>
              <a:spcAft>
                <a:spcPts val="0"/>
              </a:spcAft>
              <a:buClr>
                <a:schemeClr val="dk1"/>
              </a:buClr>
              <a:buSzPts val="2200"/>
              <a:buChar char="•"/>
            </a:pPr>
            <a:r>
              <a:rPr lang="en-US" sz="2200" u="sng"/>
              <a:t>Internal qualities</a:t>
            </a:r>
            <a:r>
              <a:rPr lang="en-US" sz="2200"/>
              <a:t> are the concern of </a:t>
            </a:r>
            <a:r>
              <a:rPr lang="en-US" sz="2200" u="sng"/>
              <a:t>developers</a:t>
            </a:r>
            <a:endParaRPr/>
          </a:p>
          <a:p>
            <a:pPr marL="742950" lvl="1" indent="-285750" algn="l" rtl="0">
              <a:lnSpc>
                <a:spcPct val="80000"/>
              </a:lnSpc>
              <a:spcBef>
                <a:spcPts val="900"/>
              </a:spcBef>
              <a:spcAft>
                <a:spcPts val="0"/>
              </a:spcAft>
              <a:buClr>
                <a:schemeClr val="dk1"/>
              </a:buClr>
              <a:buSzPts val="2200"/>
              <a:buChar char="–"/>
            </a:pPr>
            <a:r>
              <a:rPr lang="en-US" sz="2200"/>
              <a:t>they help developers achieve external qualities</a:t>
            </a:r>
            <a:endParaRPr/>
          </a:p>
          <a:p>
            <a:pPr marL="742950" lvl="1" indent="-285750" algn="l" rtl="0">
              <a:lnSpc>
                <a:spcPct val="80000"/>
              </a:lnSpc>
              <a:spcBef>
                <a:spcPts val="900"/>
              </a:spcBef>
              <a:spcAft>
                <a:spcPts val="0"/>
              </a:spcAft>
              <a:buClr>
                <a:schemeClr val="dk1"/>
              </a:buClr>
              <a:buSzPts val="2200"/>
              <a:buChar char="–"/>
            </a:pPr>
            <a:r>
              <a:rPr lang="en-US" sz="2200"/>
              <a:t>verifiability, maintainability, extensibility, evolvability, adaptability</a:t>
            </a:r>
            <a:endParaRPr/>
          </a:p>
          <a:p>
            <a:pPr marL="342900" lvl="0" indent="-342900" algn="l" rtl="0">
              <a:lnSpc>
                <a:spcPct val="80000"/>
              </a:lnSpc>
              <a:spcBef>
                <a:spcPts val="900"/>
              </a:spcBef>
              <a:spcAft>
                <a:spcPts val="0"/>
              </a:spcAft>
              <a:buClr>
                <a:schemeClr val="dk1"/>
              </a:buClr>
              <a:buSzPts val="2000"/>
              <a:buNone/>
            </a:pPr>
            <a:endParaRPr sz="2000" b="1" u="sng"/>
          </a:p>
          <a:p>
            <a:pPr marL="342900" lvl="0" indent="-342900" algn="l" rtl="0">
              <a:lnSpc>
                <a:spcPct val="80000"/>
              </a:lnSpc>
              <a:spcBef>
                <a:spcPts val="900"/>
              </a:spcBef>
              <a:spcAft>
                <a:spcPts val="0"/>
              </a:spcAft>
              <a:buClr>
                <a:schemeClr val="dk1"/>
              </a:buClr>
              <a:buSzPts val="2000"/>
              <a:buNone/>
            </a:pPr>
            <a:r>
              <a:rPr lang="en-US" sz="2000" b="1" u="sng"/>
              <a:t>Product vs. Process Qualities:</a:t>
            </a:r>
            <a:endParaRPr/>
          </a:p>
          <a:p>
            <a:pPr marL="342900" lvl="0" indent="-342900" algn="l" rtl="0">
              <a:lnSpc>
                <a:spcPct val="120000"/>
              </a:lnSpc>
              <a:spcBef>
                <a:spcPts val="440"/>
              </a:spcBef>
              <a:spcAft>
                <a:spcPts val="0"/>
              </a:spcAft>
              <a:buClr>
                <a:schemeClr val="dk1"/>
              </a:buClr>
              <a:buSzPts val="2000"/>
              <a:buChar char="•"/>
            </a:pPr>
            <a:r>
              <a:rPr lang="en-US" sz="2000"/>
              <a:t> </a:t>
            </a:r>
            <a:r>
              <a:rPr lang="en-US" sz="2200"/>
              <a:t>Product qualities concern the developed artifacts</a:t>
            </a:r>
            <a:endParaRPr/>
          </a:p>
          <a:p>
            <a:pPr marL="742950" lvl="1" indent="-285750" algn="l" rtl="0">
              <a:lnSpc>
                <a:spcPct val="80000"/>
              </a:lnSpc>
              <a:spcBef>
                <a:spcPts val="900"/>
              </a:spcBef>
              <a:spcAft>
                <a:spcPts val="0"/>
              </a:spcAft>
              <a:buClr>
                <a:schemeClr val="dk1"/>
              </a:buClr>
              <a:buSzPts val="2200"/>
              <a:buChar char="–"/>
            </a:pPr>
            <a:r>
              <a:rPr lang="en-US" sz="2200"/>
              <a:t>maintainability, understandability, performance</a:t>
            </a:r>
            <a:endParaRPr/>
          </a:p>
          <a:p>
            <a:pPr marL="342900" lvl="0" indent="-342900" algn="l" rtl="0">
              <a:lnSpc>
                <a:spcPct val="80000"/>
              </a:lnSpc>
              <a:spcBef>
                <a:spcPts val="600"/>
              </a:spcBef>
              <a:spcAft>
                <a:spcPts val="0"/>
              </a:spcAft>
              <a:buClr>
                <a:schemeClr val="dk1"/>
              </a:buClr>
              <a:buSzPts val="2200"/>
              <a:buChar char="•"/>
            </a:pPr>
            <a:r>
              <a:rPr lang="en-US" sz="2200"/>
              <a:t> Process qualities deal with the development activity </a:t>
            </a:r>
            <a:endParaRPr/>
          </a:p>
          <a:p>
            <a:pPr marL="342900" lvl="0" indent="-342900" algn="l" rtl="0">
              <a:lnSpc>
                <a:spcPct val="80000"/>
              </a:lnSpc>
              <a:spcBef>
                <a:spcPts val="600"/>
              </a:spcBef>
              <a:spcAft>
                <a:spcPts val="0"/>
              </a:spcAft>
              <a:buClr>
                <a:schemeClr val="dk1"/>
              </a:buClr>
              <a:buSzPts val="2200"/>
              <a:buChar char="•"/>
            </a:pPr>
            <a:r>
              <a:rPr lang="en-US" sz="2200"/>
              <a:t> Products are developed through process</a:t>
            </a:r>
            <a:endParaRPr/>
          </a:p>
          <a:p>
            <a:pPr marL="742950" lvl="1" indent="-285750" algn="l" rtl="0">
              <a:lnSpc>
                <a:spcPct val="80000"/>
              </a:lnSpc>
              <a:spcBef>
                <a:spcPts val="900"/>
              </a:spcBef>
              <a:spcAft>
                <a:spcPts val="0"/>
              </a:spcAft>
              <a:buClr>
                <a:schemeClr val="dk1"/>
              </a:buClr>
              <a:buSzPts val="2200"/>
              <a:buChar char="–"/>
            </a:pPr>
            <a:r>
              <a:rPr lang="en-US" sz="2200"/>
              <a:t>maintainability, productivity, timeliness</a:t>
            </a:r>
            <a:endParaRPr/>
          </a:p>
          <a:p>
            <a:pPr marL="0" lvl="0" indent="0" algn="l" rtl="0">
              <a:spcBef>
                <a:spcPts val="640"/>
              </a:spcBef>
              <a:spcAft>
                <a:spcPts val="0"/>
              </a:spcAft>
              <a:buClr>
                <a:schemeClr val="dk1"/>
              </a:buClr>
              <a:buSzPts val="3200"/>
              <a:buNone/>
            </a:pPr>
            <a:endParaRPr/>
          </a:p>
        </p:txBody>
      </p:sp>
      <p:sp>
        <p:nvSpPr>
          <p:cNvPr id="336" name="Google Shape;336;p22"/>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sp>
        <p:nvSpPr>
          <p:cNvPr id="337" name="Google Shape;337;p22"/>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Software Engineering</a:t>
            </a:r>
            <a:endParaRPr/>
          </a:p>
        </p:txBody>
      </p:sp>
      <p:sp>
        <p:nvSpPr>
          <p:cNvPr id="338" name="Google Shape;338;p22"/>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22</a:t>
            </a:fld>
            <a:endParaRPr/>
          </a:p>
        </p:txBody>
      </p:sp>
      <p:sp>
        <p:nvSpPr>
          <p:cNvPr id="339" name="Google Shape;339;p22"/>
          <p:cNvSpPr/>
          <p:nvPr/>
        </p:nvSpPr>
        <p:spPr>
          <a:xfrm>
            <a:off x="5532341" y="1464491"/>
            <a:ext cx="1280836" cy="451366"/>
          </a:xfrm>
          <a:prstGeom prst="wedgeRectCallout">
            <a:avLst>
              <a:gd name="adj1" fmla="val -47817"/>
              <a:gd name="adj2" fmla="val 91071"/>
            </a:avLst>
          </a:pr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0" name="Google Shape;340;p22"/>
          <p:cNvSpPr txBox="1"/>
          <p:nvPr/>
        </p:nvSpPr>
        <p:spPr>
          <a:xfrm>
            <a:off x="5684741" y="1546525"/>
            <a:ext cx="97603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Product </a:t>
            </a:r>
            <a:endParaRPr/>
          </a:p>
        </p:txBody>
      </p:sp>
      <p:sp>
        <p:nvSpPr>
          <p:cNvPr id="341" name="Google Shape;341;p22"/>
          <p:cNvSpPr/>
          <p:nvPr/>
        </p:nvSpPr>
        <p:spPr>
          <a:xfrm>
            <a:off x="7162800" y="2209800"/>
            <a:ext cx="1280836" cy="451366"/>
          </a:xfrm>
          <a:prstGeom prst="wedgeRectCallout">
            <a:avLst>
              <a:gd name="adj1" fmla="val -47817"/>
              <a:gd name="adj2" fmla="val 91071"/>
            </a:avLst>
          </a:pr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42" name="Google Shape;342;p22"/>
          <p:cNvSpPr txBox="1"/>
          <p:nvPr/>
        </p:nvSpPr>
        <p:spPr>
          <a:xfrm>
            <a:off x="7328024" y="2291834"/>
            <a:ext cx="950388"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Process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2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dk1"/>
              </a:buClr>
              <a:buSzPts val="4400"/>
              <a:buFont typeface="Calibri"/>
              <a:buNone/>
            </a:pPr>
            <a:r>
              <a:rPr lang="en-US"/>
              <a:t>Quality Focus: Example of Software Quality…</a:t>
            </a:r>
            <a:endParaRPr/>
          </a:p>
        </p:txBody>
      </p:sp>
      <p:graphicFrame>
        <p:nvGraphicFramePr>
          <p:cNvPr id="349" name="Google Shape;349;p23"/>
          <p:cNvGraphicFramePr/>
          <p:nvPr/>
        </p:nvGraphicFramePr>
        <p:xfrm>
          <a:off x="457200" y="1600200"/>
          <a:ext cx="8305800" cy="4466005"/>
        </p:xfrm>
        <a:graphic>
          <a:graphicData uri="http://schemas.openxmlformats.org/drawingml/2006/table">
            <a:tbl>
              <a:tblPr firstRow="1" bandRow="1">
                <a:noFill/>
                <a:tableStyleId>{2A926A02-2FB1-4511-9B2B-C98C6ABEBB26}</a:tableStyleId>
              </a:tblPr>
              <a:tblGrid>
                <a:gridCol w="1691925">
                  <a:extLst>
                    <a:ext uri="{9D8B030D-6E8A-4147-A177-3AD203B41FA5}">
                      <a16:colId xmlns:a16="http://schemas.microsoft.com/office/drawing/2014/main" val="20000"/>
                    </a:ext>
                  </a:extLst>
                </a:gridCol>
                <a:gridCol w="6613875">
                  <a:extLst>
                    <a:ext uri="{9D8B030D-6E8A-4147-A177-3AD203B41FA5}">
                      <a16:colId xmlns:a16="http://schemas.microsoft.com/office/drawing/2014/main" val="20001"/>
                    </a:ext>
                  </a:extLst>
                </a:gridCol>
              </a:tblGrid>
              <a:tr h="370850">
                <a:tc>
                  <a:txBody>
                    <a:bodyPr/>
                    <a:lstStyle/>
                    <a:p>
                      <a:pPr marL="0" marR="0" lvl="0" indent="0" algn="ctr" rtl="0">
                        <a:spcBef>
                          <a:spcPts val="0"/>
                        </a:spcBef>
                        <a:spcAft>
                          <a:spcPts val="0"/>
                        </a:spcAft>
                        <a:buNone/>
                      </a:pPr>
                      <a:r>
                        <a:rPr lang="en-US" sz="1800">
                          <a:latin typeface="Arial"/>
                          <a:ea typeface="Arial"/>
                          <a:cs typeface="Arial"/>
                          <a:sym typeface="Arial"/>
                        </a:rPr>
                        <a:t>Product characteristic</a:t>
                      </a:r>
                      <a:endParaRPr/>
                    </a:p>
                  </a:txBody>
                  <a:tcPr marL="91450" marR="91450" marT="45725" marB="45725"/>
                </a:tc>
                <a:tc>
                  <a:txBody>
                    <a:bodyPr/>
                    <a:lstStyle/>
                    <a:p>
                      <a:pPr marL="0" marR="0" lvl="0" indent="0" algn="ctr" rtl="0">
                        <a:spcBef>
                          <a:spcPts val="0"/>
                        </a:spcBef>
                        <a:spcAft>
                          <a:spcPts val="0"/>
                        </a:spcAft>
                        <a:buNone/>
                      </a:pPr>
                      <a:r>
                        <a:rPr lang="en-US" sz="1800">
                          <a:latin typeface="Arial"/>
                          <a:ea typeface="Arial"/>
                          <a:cs typeface="Arial"/>
                          <a:sym typeface="Arial"/>
                        </a:rPr>
                        <a:t>Description </a:t>
                      </a:r>
                      <a:endParaRPr sz="1800">
                        <a:latin typeface="Arial"/>
                        <a:ea typeface="Arial"/>
                        <a:cs typeface="Arial"/>
                        <a:sym typeface="Arial"/>
                      </a:endParaRPr>
                    </a:p>
                  </a:txBody>
                  <a:tcPr marL="91450" marR="91450" marT="45725" marB="45725"/>
                </a:tc>
                <a:extLst>
                  <a:ext uri="{0D108BD9-81ED-4DB2-BD59-A6C34878D82A}">
                    <a16:rowId xmlns:a16="http://schemas.microsoft.com/office/drawing/2014/main" val="10000"/>
                  </a:ext>
                </a:extLst>
              </a:tr>
              <a:tr h="370850">
                <a:tc>
                  <a:txBody>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Maintainability</a:t>
                      </a:r>
                      <a:endParaRPr sz="1800">
                        <a:latin typeface="Arial"/>
                        <a:ea typeface="Arial"/>
                        <a:cs typeface="Arial"/>
                        <a:sym typeface="Arial"/>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Software should be written in such a way so that it can </a:t>
                      </a:r>
                      <a:r>
                        <a:rPr lang="en-US" sz="1800" b="1" i="0" u="none" strike="noStrike" cap="none">
                          <a:solidFill>
                            <a:srgbClr val="C00000"/>
                          </a:solidFill>
                          <a:latin typeface="Arial"/>
                          <a:ea typeface="Arial"/>
                          <a:cs typeface="Arial"/>
                          <a:sym typeface="Arial"/>
                        </a:rPr>
                        <a:t>evolve</a:t>
                      </a:r>
                      <a:r>
                        <a:rPr lang="en-US" sz="1800" b="0" i="0" u="none" strike="noStrike" cap="none">
                          <a:solidFill>
                            <a:srgbClr val="000000"/>
                          </a:solidFill>
                          <a:latin typeface="Arial"/>
                          <a:ea typeface="Arial"/>
                          <a:cs typeface="Arial"/>
                          <a:sym typeface="Arial"/>
                        </a:rPr>
                        <a:t> to meet the </a:t>
                      </a:r>
                      <a:r>
                        <a:rPr lang="en-US" sz="1800" b="1" i="0" u="none" strike="noStrike" cap="none">
                          <a:solidFill>
                            <a:srgbClr val="C00000"/>
                          </a:solidFill>
                          <a:latin typeface="Arial"/>
                          <a:ea typeface="Arial"/>
                          <a:cs typeface="Arial"/>
                          <a:sym typeface="Arial"/>
                        </a:rPr>
                        <a:t>changing</a:t>
                      </a:r>
                      <a:r>
                        <a:rPr lang="en-US" sz="1800" b="0" i="0" u="none" strike="noStrike" cap="none">
                          <a:solidFill>
                            <a:srgbClr val="000000"/>
                          </a:solidFill>
                          <a:latin typeface="Arial"/>
                          <a:ea typeface="Arial"/>
                          <a:cs typeface="Arial"/>
                          <a:sym typeface="Arial"/>
                        </a:rPr>
                        <a:t> needs of customers. This is a critical attribute because software change is an inevitable requirement of a changing business environment.</a:t>
                      </a:r>
                      <a:endParaRPr sz="1800" b="0" i="0" u="none" strike="noStrike" cap="none">
                        <a:solidFill>
                          <a:srgbClr val="000000"/>
                        </a:solidFill>
                        <a:latin typeface="Arial"/>
                        <a:ea typeface="Arial"/>
                        <a:cs typeface="Arial"/>
                        <a:sym typeface="Arial"/>
                      </a:endParaRPr>
                    </a:p>
                  </a:txBody>
                  <a:tcPr marL="91450" marR="91450" marT="45725" marB="45725"/>
                </a:tc>
                <a:extLst>
                  <a:ext uri="{0D108BD9-81ED-4DB2-BD59-A6C34878D82A}">
                    <a16:rowId xmlns:a16="http://schemas.microsoft.com/office/drawing/2014/main" val="10001"/>
                  </a:ext>
                </a:extLst>
              </a:tr>
              <a:tr h="370850">
                <a:tc>
                  <a:txBody>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Verifiability</a:t>
                      </a:r>
                      <a:endParaRPr/>
                    </a:p>
                  </a:txBody>
                  <a:tcPr marL="91450" marR="91450" marT="45725" marB="45725"/>
                </a:tc>
                <a:tc>
                  <a:txBody>
                    <a:bodyPr/>
                    <a:lstStyle/>
                    <a:p>
                      <a:pPr marL="0" marR="0" lvl="1" indent="0" algn="l" rtl="0">
                        <a:lnSpc>
                          <a:spcPct val="80000"/>
                        </a:lnSpc>
                        <a:spcBef>
                          <a:spcPts val="0"/>
                        </a:spcBef>
                        <a:spcAft>
                          <a:spcPts val="0"/>
                        </a:spcAft>
                        <a:buNone/>
                      </a:pPr>
                      <a:r>
                        <a:rPr lang="en-US" sz="1800" u="none" strike="noStrike" cap="none">
                          <a:latin typeface="Arial"/>
                          <a:ea typeface="Arial"/>
                          <a:cs typeface="Arial"/>
                          <a:sym typeface="Arial"/>
                        </a:rPr>
                        <a:t>Its properties can be verified easily performed by formal analysis or testing  internal quality</a:t>
                      </a:r>
                      <a:endParaRPr/>
                    </a:p>
                  </a:txBody>
                  <a:tcPr marL="91450" marR="91450" marT="45725" marB="45725"/>
                </a:tc>
                <a:extLst>
                  <a:ext uri="{0D108BD9-81ED-4DB2-BD59-A6C34878D82A}">
                    <a16:rowId xmlns:a16="http://schemas.microsoft.com/office/drawing/2014/main" val="10002"/>
                  </a:ext>
                </a:extLst>
              </a:tr>
              <a:tr h="370850">
                <a:tc>
                  <a:txBody>
                    <a:bodyPr/>
                    <a:lstStyle/>
                    <a:p>
                      <a:pPr marL="0" marR="0" lvl="0" indent="0" algn="just"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Efficiency</a:t>
                      </a:r>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Software should not make wasteful use of system resources such as memory and processor cycles. Efficiency therefore includes </a:t>
                      </a:r>
                      <a:r>
                        <a:rPr lang="en-US" sz="1800" b="1" i="0" u="none" strike="noStrike" cap="none">
                          <a:solidFill>
                            <a:srgbClr val="C00000"/>
                          </a:solidFill>
                          <a:latin typeface="Arial"/>
                          <a:ea typeface="Arial"/>
                          <a:cs typeface="Arial"/>
                          <a:sym typeface="Arial"/>
                        </a:rPr>
                        <a:t>responsiveness</a:t>
                      </a:r>
                      <a:r>
                        <a:rPr lang="en-US" sz="1800" b="0" i="0" u="none" strike="noStrike" cap="none">
                          <a:solidFill>
                            <a:srgbClr val="000000"/>
                          </a:solidFill>
                          <a:latin typeface="Arial"/>
                          <a:ea typeface="Arial"/>
                          <a:cs typeface="Arial"/>
                          <a:sym typeface="Arial"/>
                        </a:rPr>
                        <a:t>, processing time, memory utilisation, etc.</a:t>
                      </a:r>
                      <a:endParaRPr sz="1800" b="0" i="0" u="none" strike="noStrike" cap="none">
                        <a:solidFill>
                          <a:srgbClr val="000000"/>
                        </a:solidFill>
                        <a:latin typeface="Arial"/>
                        <a:ea typeface="Arial"/>
                        <a:cs typeface="Arial"/>
                        <a:sym typeface="Arial"/>
                      </a:endParaRPr>
                    </a:p>
                  </a:txBody>
                  <a:tcPr marL="91450" marR="91450" marT="45725" marB="45725"/>
                </a:tc>
                <a:extLst>
                  <a:ext uri="{0D108BD9-81ED-4DB2-BD59-A6C34878D82A}">
                    <a16:rowId xmlns:a16="http://schemas.microsoft.com/office/drawing/2014/main" val="10003"/>
                  </a:ext>
                </a:extLst>
              </a:tr>
              <a:tr h="370850">
                <a:tc>
                  <a:txBody>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Acceptability</a:t>
                      </a:r>
                      <a:endParaRPr sz="1800">
                        <a:latin typeface="Arial"/>
                        <a:ea typeface="Arial"/>
                        <a:cs typeface="Arial"/>
                        <a:sym typeface="Arial"/>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Software must be acceptable to the type of users for which it is designed. This means that it must be </a:t>
                      </a:r>
                      <a:r>
                        <a:rPr lang="en-US" sz="1800" b="1" i="0" u="none" strike="noStrike" cap="none">
                          <a:solidFill>
                            <a:srgbClr val="C00000"/>
                          </a:solidFill>
                          <a:latin typeface="Arial"/>
                          <a:ea typeface="Arial"/>
                          <a:cs typeface="Arial"/>
                          <a:sym typeface="Arial"/>
                        </a:rPr>
                        <a:t>understandable, usable </a:t>
                      </a:r>
                      <a:r>
                        <a:rPr lang="en-US" sz="1800" b="0" i="0" u="none" strike="noStrike" cap="none">
                          <a:solidFill>
                            <a:srgbClr val="000000"/>
                          </a:solidFill>
                          <a:latin typeface="Arial"/>
                          <a:ea typeface="Arial"/>
                          <a:cs typeface="Arial"/>
                          <a:sym typeface="Arial"/>
                        </a:rPr>
                        <a:t>and </a:t>
                      </a:r>
                      <a:r>
                        <a:rPr lang="en-US" sz="1800" b="1" i="0" u="none" strike="noStrike" cap="none">
                          <a:solidFill>
                            <a:srgbClr val="C00000"/>
                          </a:solidFill>
                          <a:latin typeface="Arial"/>
                          <a:ea typeface="Arial"/>
                          <a:cs typeface="Arial"/>
                          <a:sym typeface="Arial"/>
                        </a:rPr>
                        <a:t>compatible</a:t>
                      </a:r>
                      <a:r>
                        <a:rPr lang="en-US" sz="1800" b="0" i="0" u="none" strike="noStrike" cap="none">
                          <a:solidFill>
                            <a:srgbClr val="000000"/>
                          </a:solidFill>
                          <a:latin typeface="Arial"/>
                          <a:ea typeface="Arial"/>
                          <a:cs typeface="Arial"/>
                          <a:sym typeface="Arial"/>
                        </a:rPr>
                        <a:t> with other systems that they use. </a:t>
                      </a:r>
                      <a:endParaRPr sz="1800" b="0" i="0" u="none" strike="noStrike" cap="none">
                        <a:solidFill>
                          <a:srgbClr val="000000"/>
                        </a:solidFill>
                        <a:latin typeface="Arial"/>
                        <a:ea typeface="Arial"/>
                        <a:cs typeface="Arial"/>
                        <a:sym typeface="Arial"/>
                      </a:endParaRPr>
                    </a:p>
                  </a:txBody>
                  <a:tcPr marL="91450" marR="91450" marT="45725" marB="45725"/>
                </a:tc>
                <a:extLst>
                  <a:ext uri="{0D108BD9-81ED-4DB2-BD59-A6C34878D82A}">
                    <a16:rowId xmlns:a16="http://schemas.microsoft.com/office/drawing/2014/main" val="10004"/>
                  </a:ext>
                </a:extLst>
              </a:tr>
            </a:tbl>
          </a:graphicData>
        </a:graphic>
      </p:graphicFrame>
      <p:sp>
        <p:nvSpPr>
          <p:cNvPr id="350" name="Google Shape;350;p23"/>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sp>
        <p:nvSpPr>
          <p:cNvPr id="351" name="Google Shape;351;p23"/>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Software Engineering</a:t>
            </a:r>
            <a:endParaRPr/>
          </a:p>
        </p:txBody>
      </p:sp>
      <p:sp>
        <p:nvSpPr>
          <p:cNvPr id="352" name="Google Shape;352;p23"/>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23</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sp>
        <p:nvSpPr>
          <p:cNvPr id="358" name="Google Shape;358;p2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dk1"/>
              </a:buClr>
              <a:buSzPts val="4400"/>
              <a:buFont typeface="Calibri"/>
              <a:buNone/>
            </a:pPr>
            <a:r>
              <a:rPr lang="en-US"/>
              <a:t>Quality Focus: Example of Software Quality</a:t>
            </a:r>
            <a:endParaRPr/>
          </a:p>
        </p:txBody>
      </p:sp>
      <p:graphicFrame>
        <p:nvGraphicFramePr>
          <p:cNvPr id="359" name="Google Shape;359;p24"/>
          <p:cNvGraphicFramePr/>
          <p:nvPr/>
        </p:nvGraphicFramePr>
        <p:xfrm>
          <a:off x="333828" y="1507487"/>
          <a:ext cx="8505375" cy="4867716"/>
        </p:xfrm>
        <a:graphic>
          <a:graphicData uri="http://schemas.openxmlformats.org/drawingml/2006/table">
            <a:tbl>
              <a:tblPr firstRow="1" bandRow="1">
                <a:noFill/>
                <a:tableStyleId>{2A926A02-2FB1-4511-9B2B-C98C6ABEBB26}</a:tableStyleId>
              </a:tblPr>
              <a:tblGrid>
                <a:gridCol w="1701075">
                  <a:extLst>
                    <a:ext uri="{9D8B030D-6E8A-4147-A177-3AD203B41FA5}">
                      <a16:colId xmlns:a16="http://schemas.microsoft.com/office/drawing/2014/main" val="20000"/>
                    </a:ext>
                  </a:extLst>
                </a:gridCol>
                <a:gridCol w="6804300">
                  <a:extLst>
                    <a:ext uri="{9D8B030D-6E8A-4147-A177-3AD203B41FA5}">
                      <a16:colId xmlns:a16="http://schemas.microsoft.com/office/drawing/2014/main" val="20001"/>
                    </a:ext>
                  </a:extLst>
                </a:gridCol>
              </a:tblGrid>
              <a:tr h="509600">
                <a:tc>
                  <a:txBody>
                    <a:bodyPr/>
                    <a:lstStyle/>
                    <a:p>
                      <a:pPr marL="0" marR="0" lvl="0" indent="0" algn="ctr" rtl="0">
                        <a:spcBef>
                          <a:spcPts val="0"/>
                        </a:spcBef>
                        <a:spcAft>
                          <a:spcPts val="0"/>
                        </a:spcAft>
                        <a:buNone/>
                      </a:pPr>
                      <a:r>
                        <a:rPr lang="en-US" sz="1600">
                          <a:latin typeface="Arial"/>
                          <a:ea typeface="Arial"/>
                          <a:cs typeface="Arial"/>
                          <a:sym typeface="Arial"/>
                        </a:rPr>
                        <a:t>Product characteristic</a:t>
                      </a:r>
                      <a:endParaRPr/>
                    </a:p>
                  </a:txBody>
                  <a:tcPr marL="91450" marR="91450" marT="45725" marB="45725"/>
                </a:tc>
                <a:tc>
                  <a:txBody>
                    <a:bodyPr/>
                    <a:lstStyle/>
                    <a:p>
                      <a:pPr marL="0" marR="0" lvl="0" indent="0" algn="ctr" rtl="0">
                        <a:spcBef>
                          <a:spcPts val="0"/>
                        </a:spcBef>
                        <a:spcAft>
                          <a:spcPts val="0"/>
                        </a:spcAft>
                        <a:buNone/>
                      </a:pPr>
                      <a:r>
                        <a:rPr lang="en-US" sz="1600">
                          <a:latin typeface="Arial"/>
                          <a:ea typeface="Arial"/>
                          <a:cs typeface="Arial"/>
                          <a:sym typeface="Arial"/>
                        </a:rPr>
                        <a:t>Description </a:t>
                      </a:r>
                      <a:endParaRPr sz="1600">
                        <a:latin typeface="Arial"/>
                        <a:ea typeface="Arial"/>
                        <a:cs typeface="Arial"/>
                        <a:sym typeface="Arial"/>
                      </a:endParaRPr>
                    </a:p>
                  </a:txBody>
                  <a:tcPr marL="91450" marR="91450" marT="45725" marB="45725"/>
                </a:tc>
                <a:extLst>
                  <a:ext uri="{0D108BD9-81ED-4DB2-BD59-A6C34878D82A}">
                    <a16:rowId xmlns:a16="http://schemas.microsoft.com/office/drawing/2014/main" val="10000"/>
                  </a:ext>
                </a:extLst>
              </a:tr>
              <a:tr h="719450">
                <a:tc>
                  <a:txBody>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Usability</a:t>
                      </a:r>
                      <a:endParaRPr sz="1600">
                        <a:latin typeface="Arial"/>
                        <a:ea typeface="Arial"/>
                        <a:cs typeface="Arial"/>
                        <a:sym typeface="Arial"/>
                      </a:endParaRPr>
                    </a:p>
                  </a:txBody>
                  <a:tcPr marL="91450" marR="91450" marT="45725" marB="45725"/>
                </a:tc>
                <a:tc>
                  <a:txBody>
                    <a:bodyPr/>
                    <a:lstStyle/>
                    <a:p>
                      <a:pPr marL="0" marR="0" lvl="0" indent="0" algn="l" rtl="0">
                        <a:spcBef>
                          <a:spcPts val="0"/>
                        </a:spcBef>
                        <a:spcAft>
                          <a:spcPts val="0"/>
                        </a:spcAft>
                        <a:buNone/>
                      </a:pPr>
                      <a:r>
                        <a:rPr lang="en-US" sz="1600">
                          <a:latin typeface="Arial"/>
                          <a:ea typeface="Arial"/>
                          <a:cs typeface="Arial"/>
                          <a:sym typeface="Arial"/>
                        </a:rPr>
                        <a:t>The higher the usability of software, the easier it is for users to work with it. There are several aspects of usability, including </a:t>
                      </a:r>
                      <a:r>
                        <a:rPr lang="en-US" sz="1600" b="1">
                          <a:solidFill>
                            <a:srgbClr val="C00000"/>
                          </a:solidFill>
                          <a:latin typeface="Arial"/>
                          <a:ea typeface="Arial"/>
                          <a:cs typeface="Arial"/>
                          <a:sym typeface="Arial"/>
                        </a:rPr>
                        <a:t>learnability</a:t>
                      </a:r>
                      <a:r>
                        <a:rPr lang="en-US" sz="1600">
                          <a:latin typeface="Arial"/>
                          <a:ea typeface="Arial"/>
                          <a:cs typeface="Arial"/>
                          <a:sym typeface="Arial"/>
                        </a:rPr>
                        <a:t> for novices, </a:t>
                      </a:r>
                      <a:r>
                        <a:rPr lang="en-US" sz="1600" b="1">
                          <a:solidFill>
                            <a:srgbClr val="C00000"/>
                          </a:solidFill>
                          <a:latin typeface="Arial"/>
                          <a:ea typeface="Arial"/>
                          <a:cs typeface="Arial"/>
                          <a:sym typeface="Arial"/>
                        </a:rPr>
                        <a:t>efficiency</a:t>
                      </a:r>
                      <a:r>
                        <a:rPr lang="en-US" sz="1600">
                          <a:latin typeface="Arial"/>
                          <a:ea typeface="Arial"/>
                          <a:cs typeface="Arial"/>
                          <a:sym typeface="Arial"/>
                        </a:rPr>
                        <a:t> of use for experts and </a:t>
                      </a:r>
                      <a:r>
                        <a:rPr lang="en-US" sz="1600" b="1">
                          <a:solidFill>
                            <a:srgbClr val="C00000"/>
                          </a:solidFill>
                          <a:latin typeface="Arial"/>
                          <a:ea typeface="Arial"/>
                          <a:cs typeface="Arial"/>
                          <a:sym typeface="Arial"/>
                        </a:rPr>
                        <a:t>handling of errors</a:t>
                      </a:r>
                      <a:r>
                        <a:rPr lang="en-US" sz="1600">
                          <a:latin typeface="Arial"/>
                          <a:ea typeface="Arial"/>
                          <a:cs typeface="Arial"/>
                          <a:sym typeface="Arial"/>
                        </a:rPr>
                        <a:t>.</a:t>
                      </a:r>
                      <a:endParaRPr sz="1600">
                        <a:latin typeface="Arial"/>
                        <a:ea typeface="Arial"/>
                        <a:cs typeface="Arial"/>
                        <a:sym typeface="Arial"/>
                      </a:endParaRPr>
                    </a:p>
                  </a:txBody>
                  <a:tcPr marL="91450" marR="91450" marT="45725" marB="45725"/>
                </a:tc>
                <a:extLst>
                  <a:ext uri="{0D108BD9-81ED-4DB2-BD59-A6C34878D82A}">
                    <a16:rowId xmlns:a16="http://schemas.microsoft.com/office/drawing/2014/main" val="10001"/>
                  </a:ext>
                </a:extLst>
              </a:tr>
              <a:tr h="719450">
                <a:tc>
                  <a:txBody>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Reliability</a:t>
                      </a:r>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Software is more reliable if it has </a:t>
                      </a:r>
                      <a:r>
                        <a:rPr lang="en-US" sz="1600" b="1" i="0" u="none" strike="noStrike" cap="none">
                          <a:solidFill>
                            <a:srgbClr val="C00000"/>
                          </a:solidFill>
                          <a:latin typeface="Arial"/>
                          <a:ea typeface="Arial"/>
                          <a:cs typeface="Arial"/>
                          <a:sym typeface="Arial"/>
                        </a:rPr>
                        <a:t>fewer failures</a:t>
                      </a:r>
                      <a:r>
                        <a:rPr lang="en-US" sz="1600" b="0" i="0" u="none" strike="noStrike" cap="none">
                          <a:solidFill>
                            <a:srgbClr val="000000"/>
                          </a:solidFill>
                          <a:latin typeface="Arial"/>
                          <a:ea typeface="Arial"/>
                          <a:cs typeface="Arial"/>
                          <a:sym typeface="Arial"/>
                        </a:rPr>
                        <a:t>. Since software engineers do not deliberately plan for their software to fail, reliability depends on the number and types of mistakes they make.</a:t>
                      </a:r>
                      <a:endParaRPr sz="1600" b="0" i="0" u="none" strike="noStrike" cap="none">
                        <a:solidFill>
                          <a:srgbClr val="000000"/>
                        </a:solidFill>
                        <a:latin typeface="Arial"/>
                        <a:ea typeface="Arial"/>
                        <a:cs typeface="Arial"/>
                        <a:sym typeface="Arial"/>
                      </a:endParaRPr>
                    </a:p>
                  </a:txBody>
                  <a:tcPr marL="91450" marR="91450" marT="45725" marB="45725"/>
                </a:tc>
                <a:extLst>
                  <a:ext uri="{0D108BD9-81ED-4DB2-BD59-A6C34878D82A}">
                    <a16:rowId xmlns:a16="http://schemas.microsoft.com/office/drawing/2014/main" val="10002"/>
                  </a:ext>
                </a:extLst>
              </a:tr>
              <a:tr h="719450">
                <a:tc>
                  <a:txBody>
                    <a:bodyPr/>
                    <a:lstStyle/>
                    <a:p>
                      <a:pPr marL="0" marR="0" lvl="0" indent="0" algn="just"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Reusability</a:t>
                      </a:r>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A software component is reusable if it can be used in several different  systems with </a:t>
                      </a:r>
                      <a:r>
                        <a:rPr lang="en-US" sz="1600" b="1" i="0" u="none" strike="noStrike" cap="none">
                          <a:solidFill>
                            <a:srgbClr val="C00000"/>
                          </a:solidFill>
                          <a:latin typeface="Arial"/>
                          <a:ea typeface="Arial"/>
                          <a:cs typeface="Arial"/>
                          <a:sym typeface="Arial"/>
                        </a:rPr>
                        <a:t>little or no modification</a:t>
                      </a:r>
                      <a:r>
                        <a:rPr lang="en-US" sz="1600" b="0" i="0" u="none" strike="noStrike" cap="none">
                          <a:solidFill>
                            <a:srgbClr val="000000"/>
                          </a:solidFill>
                          <a:latin typeface="Arial"/>
                          <a:ea typeface="Arial"/>
                          <a:cs typeface="Arial"/>
                          <a:sym typeface="Arial"/>
                        </a:rPr>
                        <a:t>. High reusability can reduce the long term costs faced by the development team.</a:t>
                      </a:r>
                      <a:endParaRPr sz="1600" b="0" i="0" u="none" strike="noStrike" cap="none">
                        <a:solidFill>
                          <a:srgbClr val="000000"/>
                        </a:solidFill>
                        <a:latin typeface="Arial"/>
                        <a:ea typeface="Arial"/>
                        <a:cs typeface="Arial"/>
                        <a:sym typeface="Arial"/>
                      </a:endParaRPr>
                    </a:p>
                  </a:txBody>
                  <a:tcPr marL="91450" marR="91450" marT="45725" marB="45725"/>
                </a:tc>
                <a:extLst>
                  <a:ext uri="{0D108BD9-81ED-4DB2-BD59-A6C34878D82A}">
                    <a16:rowId xmlns:a16="http://schemas.microsoft.com/office/drawing/2014/main" val="10003"/>
                  </a:ext>
                </a:extLst>
              </a:tr>
              <a:tr h="794375">
                <a:tc>
                  <a:txBody>
                    <a:bodyPr/>
                    <a:lstStyle/>
                    <a:p>
                      <a:pPr marL="0" marR="0" lvl="0" indent="0" algn="just"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Correctness</a:t>
                      </a:r>
                      <a:endParaRPr/>
                    </a:p>
                  </a:txBody>
                  <a:tcPr marL="91450" marR="91450" marT="45725" marB="45725"/>
                </a:tc>
                <a:tc>
                  <a:txBody>
                    <a:bodyPr/>
                    <a:lstStyle/>
                    <a:p>
                      <a:pPr marL="58738" marR="0" lvl="1" indent="0" algn="l" rtl="0">
                        <a:spcBef>
                          <a:spcPts val="0"/>
                        </a:spcBef>
                        <a:spcAft>
                          <a:spcPts val="0"/>
                        </a:spcAft>
                        <a:buNone/>
                      </a:pPr>
                      <a:r>
                        <a:rPr lang="en-US" sz="1600" b="1" u="none" strike="noStrike" cap="none">
                          <a:solidFill>
                            <a:srgbClr val="C00000"/>
                          </a:solidFill>
                          <a:latin typeface="Arial"/>
                          <a:ea typeface="Arial"/>
                          <a:cs typeface="Arial"/>
                          <a:sym typeface="Arial"/>
                        </a:rPr>
                        <a:t>Ideal quality</a:t>
                      </a:r>
                      <a:r>
                        <a:rPr lang="en-US" sz="1600" u="none" strike="noStrike" cap="none">
                          <a:latin typeface="Arial"/>
                          <a:ea typeface="Arial"/>
                          <a:cs typeface="Arial"/>
                          <a:sym typeface="Arial"/>
                        </a:rPr>
                        <a:t>: established with respect to the requirements specification</a:t>
                      </a:r>
                      <a:endParaRPr sz="1600" u="none" strike="noStrike" cap="none">
                        <a:latin typeface="Arial"/>
                        <a:ea typeface="Arial"/>
                        <a:cs typeface="Arial"/>
                        <a:sym typeface="Arial"/>
                      </a:endParaRPr>
                    </a:p>
                    <a:p>
                      <a:pPr marL="58738" marR="0" lvl="1" indent="0" algn="l" rtl="0">
                        <a:spcBef>
                          <a:spcPts val="600"/>
                        </a:spcBef>
                        <a:spcAft>
                          <a:spcPts val="0"/>
                        </a:spcAft>
                        <a:buNone/>
                      </a:pPr>
                      <a:r>
                        <a:rPr lang="en-US" sz="1600" b="1" u="none" strike="noStrike" cap="none">
                          <a:solidFill>
                            <a:srgbClr val="C00000"/>
                          </a:solidFill>
                          <a:latin typeface="Arial"/>
                          <a:ea typeface="Arial"/>
                          <a:cs typeface="Arial"/>
                          <a:sym typeface="Arial"/>
                        </a:rPr>
                        <a:t>Absolute software quality</a:t>
                      </a:r>
                      <a:r>
                        <a:rPr lang="en-US" sz="1600" u="none" strike="noStrike" cap="none">
                          <a:solidFill>
                            <a:schemeClr val="dk1"/>
                          </a:solidFill>
                          <a:latin typeface="Arial"/>
                          <a:ea typeface="Arial"/>
                          <a:cs typeface="Arial"/>
                          <a:sym typeface="Arial"/>
                        </a:rPr>
                        <a:t>: any deviation from the requirements makes the software incorrect, regardless of how minor or serious is the consequence of the deviation</a:t>
                      </a:r>
                      <a:endParaRPr sz="1600" u="none" strike="noStrike" cap="none">
                        <a:latin typeface="Arial"/>
                        <a:ea typeface="Arial"/>
                        <a:cs typeface="Arial"/>
                        <a:sym typeface="Arial"/>
                      </a:endParaRPr>
                    </a:p>
                  </a:txBody>
                  <a:tcPr marL="91450" marR="91450" marT="45725" marB="45725"/>
                </a:tc>
                <a:extLst>
                  <a:ext uri="{0D108BD9-81ED-4DB2-BD59-A6C34878D82A}">
                    <a16:rowId xmlns:a16="http://schemas.microsoft.com/office/drawing/2014/main" val="10004"/>
                  </a:ext>
                </a:extLst>
              </a:tr>
              <a:tr h="593550">
                <a:tc>
                  <a:txBody>
                    <a:bodyPr/>
                    <a:lstStyle/>
                    <a:p>
                      <a:pPr marL="0" marR="0" lvl="0" indent="0" algn="just"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Arial"/>
                          <a:ea typeface="Arial"/>
                          <a:cs typeface="Arial"/>
                          <a:sym typeface="Arial"/>
                        </a:rPr>
                        <a:t>Robustness</a:t>
                      </a:r>
                      <a:endParaRPr/>
                    </a:p>
                  </a:txBody>
                  <a:tcPr marL="91450" marR="91450" marT="45725" marB="45725"/>
                </a:tc>
                <a:tc>
                  <a:txBody>
                    <a:bodyPr/>
                    <a:lstStyle/>
                    <a:p>
                      <a:pPr marL="58738" marR="0" lvl="1" indent="0" algn="l" rtl="0">
                        <a:lnSpc>
                          <a:spcPct val="80000"/>
                        </a:lnSpc>
                        <a:spcBef>
                          <a:spcPts val="0"/>
                        </a:spcBef>
                        <a:spcAft>
                          <a:spcPts val="0"/>
                        </a:spcAft>
                        <a:buNone/>
                      </a:pPr>
                      <a:r>
                        <a:rPr lang="en-US" sz="1600" u="none" strike="noStrike" cap="none">
                          <a:latin typeface="Arial"/>
                          <a:ea typeface="Arial"/>
                          <a:cs typeface="Arial"/>
                          <a:sym typeface="Arial"/>
                        </a:rPr>
                        <a:t>“Reasonable” behavior in unforeseen circumstances; subjective;  a specified requirement is an issue of correctness; an unspecified requirement is an issue of robustness </a:t>
                      </a:r>
                      <a:endParaRPr sz="1600" u="none" strike="noStrike" cap="none">
                        <a:latin typeface="Arial"/>
                        <a:ea typeface="Arial"/>
                        <a:cs typeface="Arial"/>
                        <a:sym typeface="Arial"/>
                      </a:endParaRPr>
                    </a:p>
                  </a:txBody>
                  <a:tcPr marL="91450" marR="91450" marT="45725" marB="45725"/>
                </a:tc>
                <a:extLst>
                  <a:ext uri="{0D108BD9-81ED-4DB2-BD59-A6C34878D82A}">
                    <a16:rowId xmlns:a16="http://schemas.microsoft.com/office/drawing/2014/main" val="10005"/>
                  </a:ext>
                </a:extLst>
              </a:tr>
            </a:tbl>
          </a:graphicData>
        </a:graphic>
      </p:graphicFrame>
      <p:sp>
        <p:nvSpPr>
          <p:cNvPr id="360" name="Google Shape;360;p24"/>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sp>
        <p:nvSpPr>
          <p:cNvPr id="361" name="Google Shape;361;p24"/>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Software Engineering</a:t>
            </a:r>
            <a:endParaRPr/>
          </a:p>
        </p:txBody>
      </p:sp>
      <p:sp>
        <p:nvSpPr>
          <p:cNvPr id="362" name="Google Shape;362;p24"/>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24</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67" name="Google Shape;367;p2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Quality Priority</a:t>
            </a:r>
            <a:endParaRPr/>
          </a:p>
        </p:txBody>
      </p:sp>
      <p:sp>
        <p:nvSpPr>
          <p:cNvPr id="368" name="Google Shape;368;p2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Clr>
                <a:schemeClr val="dk1"/>
              </a:buClr>
              <a:buSzPts val="2200"/>
              <a:buChar char="•"/>
            </a:pPr>
            <a:r>
              <a:rPr lang="en-US" sz="2200"/>
              <a:t>All the quality are important. However  the importance of each quality differs from different application area and it can be costly where improving one quality can be an expense in cost to other quality.</a:t>
            </a:r>
            <a:endParaRPr/>
          </a:p>
          <a:p>
            <a:pPr marL="342900" lvl="0" indent="-342900" algn="l" rtl="0">
              <a:lnSpc>
                <a:spcPct val="90000"/>
              </a:lnSpc>
              <a:spcBef>
                <a:spcPts val="440"/>
              </a:spcBef>
              <a:spcAft>
                <a:spcPts val="0"/>
              </a:spcAft>
              <a:buClr>
                <a:schemeClr val="dk1"/>
              </a:buClr>
              <a:buSzPts val="2200"/>
              <a:buChar char="•"/>
            </a:pPr>
            <a:r>
              <a:rPr lang="en-US" sz="2200"/>
              <a:t> </a:t>
            </a:r>
            <a:r>
              <a:rPr lang="en-US" sz="2200" b="1"/>
              <a:t>Depends on the application area</a:t>
            </a:r>
            <a:r>
              <a:rPr lang="en-US" sz="2200"/>
              <a:t>:-</a:t>
            </a:r>
            <a:endParaRPr/>
          </a:p>
          <a:p>
            <a:pPr marL="742950" lvl="1" indent="-285750" algn="l" rtl="0">
              <a:lnSpc>
                <a:spcPct val="90000"/>
              </a:lnSpc>
              <a:spcBef>
                <a:spcPts val="400"/>
              </a:spcBef>
              <a:spcAft>
                <a:spcPts val="0"/>
              </a:spcAft>
              <a:buClr>
                <a:schemeClr val="dk1"/>
              </a:buClr>
              <a:buSzPts val="2000"/>
              <a:buChar char="–"/>
            </a:pPr>
            <a:r>
              <a:rPr lang="en-US" sz="2000"/>
              <a:t>Information systems (library cataloguing, personnel system)</a:t>
            </a:r>
            <a:endParaRPr/>
          </a:p>
          <a:p>
            <a:pPr marL="742950" lvl="1" indent="-285750" algn="l" rtl="0">
              <a:lnSpc>
                <a:spcPct val="90000"/>
              </a:lnSpc>
              <a:spcBef>
                <a:spcPts val="400"/>
              </a:spcBef>
              <a:spcAft>
                <a:spcPts val="0"/>
              </a:spcAft>
              <a:buClr>
                <a:schemeClr val="dk1"/>
              </a:buClr>
              <a:buSzPts val="2000"/>
              <a:buChar char="–"/>
            </a:pPr>
            <a:r>
              <a:rPr lang="en-US" sz="2000"/>
              <a:t>Safety critical system (Nuclear power plant )</a:t>
            </a:r>
            <a:endParaRPr/>
          </a:p>
          <a:p>
            <a:pPr marL="742950" lvl="1" indent="-285750" algn="l" rtl="0">
              <a:lnSpc>
                <a:spcPct val="90000"/>
              </a:lnSpc>
              <a:spcBef>
                <a:spcPts val="400"/>
              </a:spcBef>
              <a:spcAft>
                <a:spcPts val="0"/>
              </a:spcAft>
              <a:buClr>
                <a:schemeClr val="dk1"/>
              </a:buClr>
              <a:buSzPts val="2000"/>
              <a:buChar char="–"/>
            </a:pPr>
            <a:r>
              <a:rPr lang="en-US" sz="2000"/>
              <a:t>Distributed systems (banking system)</a:t>
            </a:r>
            <a:endParaRPr/>
          </a:p>
          <a:p>
            <a:pPr marL="742950" lvl="1" indent="-285750" algn="l" rtl="0">
              <a:lnSpc>
                <a:spcPct val="90000"/>
              </a:lnSpc>
              <a:spcBef>
                <a:spcPts val="400"/>
              </a:spcBef>
              <a:spcAft>
                <a:spcPts val="0"/>
              </a:spcAft>
              <a:buClr>
                <a:schemeClr val="dk1"/>
              </a:buClr>
              <a:buSzPts val="2000"/>
              <a:buChar char="–"/>
            </a:pPr>
            <a:r>
              <a:rPr lang="en-US" sz="2000"/>
              <a:t>Embedded systems (vending machine, patient monitoring system  )</a:t>
            </a:r>
            <a:endParaRPr/>
          </a:p>
          <a:p>
            <a:pPr marL="342900" lvl="0" indent="-342900" algn="l" rtl="0">
              <a:lnSpc>
                <a:spcPct val="90000"/>
              </a:lnSpc>
              <a:spcBef>
                <a:spcPts val="440"/>
              </a:spcBef>
              <a:spcAft>
                <a:spcPts val="0"/>
              </a:spcAft>
              <a:buClr>
                <a:schemeClr val="dk1"/>
              </a:buClr>
              <a:buSzPts val="2200"/>
              <a:buChar char="•"/>
            </a:pPr>
            <a:r>
              <a:rPr lang="en-US" sz="2200" b="1"/>
              <a:t>Influenced by cost </a:t>
            </a:r>
            <a:endParaRPr/>
          </a:p>
          <a:p>
            <a:pPr marL="742950" lvl="1" indent="-285750" algn="l" rtl="0">
              <a:lnSpc>
                <a:spcPct val="90000"/>
              </a:lnSpc>
              <a:spcBef>
                <a:spcPts val="400"/>
              </a:spcBef>
              <a:spcAft>
                <a:spcPts val="0"/>
              </a:spcAft>
              <a:buClr>
                <a:schemeClr val="dk1"/>
              </a:buClr>
              <a:buSzPts val="2000"/>
              <a:buChar char="–"/>
            </a:pPr>
            <a:r>
              <a:rPr lang="en-US" sz="2000"/>
              <a:t>Efficiency vs. Cost: Improving efficiency may make the design less easy to be understood which make it costly to be maintained.</a:t>
            </a:r>
            <a:endParaRPr sz="2000"/>
          </a:p>
          <a:p>
            <a:pPr marL="742950" lvl="1" indent="-285750" algn="l" rtl="0">
              <a:lnSpc>
                <a:spcPct val="90000"/>
              </a:lnSpc>
              <a:spcBef>
                <a:spcPts val="400"/>
              </a:spcBef>
              <a:spcAft>
                <a:spcPts val="0"/>
              </a:spcAft>
              <a:buClr>
                <a:schemeClr val="dk1"/>
              </a:buClr>
              <a:buSzPts val="2000"/>
              <a:buChar char="–"/>
            </a:pPr>
            <a:r>
              <a:rPr lang="en-US" sz="2000"/>
              <a:t>Reliability vs. Cost: High reliability entails repeatedly checking for errors, adding redundant computations which make efficiency cannot be achieved.</a:t>
            </a:r>
            <a:endParaRPr/>
          </a:p>
          <a:p>
            <a:pPr marL="742950" lvl="1" indent="-146050" algn="l" rtl="0">
              <a:lnSpc>
                <a:spcPct val="90000"/>
              </a:lnSpc>
              <a:spcBef>
                <a:spcPts val="440"/>
              </a:spcBef>
              <a:spcAft>
                <a:spcPts val="0"/>
              </a:spcAft>
              <a:buClr>
                <a:schemeClr val="dk1"/>
              </a:buClr>
              <a:buSzPts val="2200"/>
              <a:buNone/>
            </a:pPr>
            <a:endParaRPr sz="2200"/>
          </a:p>
          <a:p>
            <a:pPr marL="0" lvl="0" indent="0" algn="l" rtl="0">
              <a:spcBef>
                <a:spcPts val="440"/>
              </a:spcBef>
              <a:spcAft>
                <a:spcPts val="0"/>
              </a:spcAft>
              <a:buClr>
                <a:schemeClr val="dk1"/>
              </a:buClr>
              <a:buSzPts val="2200"/>
              <a:buNone/>
            </a:pPr>
            <a:endParaRPr sz="2200"/>
          </a:p>
        </p:txBody>
      </p:sp>
      <p:sp>
        <p:nvSpPr>
          <p:cNvPr id="369" name="Google Shape;369;p25"/>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sp>
        <p:nvSpPr>
          <p:cNvPr id="370" name="Google Shape;370;p25"/>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Software Engineering</a:t>
            </a:r>
            <a:endParaRPr/>
          </a:p>
        </p:txBody>
      </p:sp>
      <p:sp>
        <p:nvSpPr>
          <p:cNvPr id="371" name="Google Shape;371;p25"/>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25</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76"/>
        <p:cNvGrpSpPr/>
        <p:nvPr/>
      </p:nvGrpSpPr>
      <p:grpSpPr>
        <a:xfrm>
          <a:off x="0" y="0"/>
          <a:ext cx="0" cy="0"/>
          <a:chOff x="0" y="0"/>
          <a:chExt cx="0" cy="0"/>
        </a:xfrm>
      </p:grpSpPr>
      <p:sp>
        <p:nvSpPr>
          <p:cNvPr id="377" name="Google Shape;377;p2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Software Standard and Document</a:t>
            </a:r>
            <a:endParaRPr/>
          </a:p>
        </p:txBody>
      </p:sp>
      <p:sp>
        <p:nvSpPr>
          <p:cNvPr id="378" name="Google Shape;378;p2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92500" lnSpcReduction="20000"/>
          </a:bodyPr>
          <a:lstStyle/>
          <a:p>
            <a:pPr marL="342900" lvl="0" indent="-342900" algn="l" rtl="0">
              <a:spcBef>
                <a:spcPts val="0"/>
              </a:spcBef>
              <a:spcAft>
                <a:spcPts val="0"/>
              </a:spcAft>
              <a:buClr>
                <a:schemeClr val="dk1"/>
              </a:buClr>
              <a:buSzPct val="100000"/>
              <a:buChar char="•"/>
            </a:pPr>
            <a:r>
              <a:rPr lang="en-US"/>
              <a:t>Standard contributes to software quality mainly in producing documents for each Software Development Life Cycle (SDLC)</a:t>
            </a:r>
            <a:endParaRPr/>
          </a:p>
          <a:p>
            <a:pPr marL="342900" lvl="0" indent="-342900" algn="l" rtl="0">
              <a:spcBef>
                <a:spcPts val="592"/>
              </a:spcBef>
              <a:spcAft>
                <a:spcPts val="0"/>
              </a:spcAft>
              <a:buClr>
                <a:schemeClr val="dk1"/>
              </a:buClr>
              <a:buSzPct val="100000"/>
              <a:buChar char="•"/>
            </a:pPr>
            <a:r>
              <a:rPr lang="en-US"/>
              <a:t>Example of document standards by IEEE:</a:t>
            </a:r>
            <a:endParaRPr/>
          </a:p>
          <a:p>
            <a:pPr marL="742950" lvl="1" indent="-285750" algn="l" rtl="0">
              <a:spcBef>
                <a:spcPts val="518"/>
              </a:spcBef>
              <a:spcAft>
                <a:spcPts val="0"/>
              </a:spcAft>
              <a:buClr>
                <a:schemeClr val="dk1"/>
              </a:buClr>
              <a:buSzPct val="100000"/>
              <a:buChar char="–"/>
            </a:pPr>
            <a:r>
              <a:rPr lang="en-US"/>
              <a:t>IEEE-Std830-1998-Software Requirements Specifications</a:t>
            </a:r>
            <a:endParaRPr/>
          </a:p>
          <a:p>
            <a:pPr marL="742950" lvl="1" indent="-285750" algn="l" rtl="0">
              <a:spcBef>
                <a:spcPts val="518"/>
              </a:spcBef>
              <a:spcAft>
                <a:spcPts val="0"/>
              </a:spcAft>
              <a:buClr>
                <a:schemeClr val="dk1"/>
              </a:buClr>
              <a:buSzPct val="100000"/>
              <a:buChar char="–"/>
            </a:pPr>
            <a:r>
              <a:rPr lang="en-US"/>
              <a:t>IEEE-Std1016-2009-Software Design Desriptions</a:t>
            </a:r>
            <a:endParaRPr/>
          </a:p>
          <a:p>
            <a:pPr marL="742950" lvl="1" indent="-285750" algn="l" rtl="0">
              <a:spcBef>
                <a:spcPts val="518"/>
              </a:spcBef>
              <a:spcAft>
                <a:spcPts val="0"/>
              </a:spcAft>
              <a:buClr>
                <a:schemeClr val="dk1"/>
              </a:buClr>
              <a:buSzPct val="100000"/>
              <a:buChar char="–"/>
            </a:pPr>
            <a:r>
              <a:rPr lang="en-US"/>
              <a:t>IEEE 829 - Standard for Test Documentation Overview-Test Plan Outline</a:t>
            </a:r>
            <a:endParaRPr/>
          </a:p>
          <a:p>
            <a:pPr marL="742950" lvl="1" indent="-285750" algn="l" rtl="0">
              <a:spcBef>
                <a:spcPts val="518"/>
              </a:spcBef>
              <a:spcAft>
                <a:spcPts val="0"/>
              </a:spcAft>
              <a:buClr>
                <a:schemeClr val="dk1"/>
              </a:buClr>
              <a:buSzPct val="100000"/>
              <a:buChar char="–"/>
            </a:pPr>
            <a:r>
              <a:rPr lang="en-US"/>
              <a:t>IEEE Std829-2008-Software and System Test Documentation</a:t>
            </a:r>
            <a:endParaRPr/>
          </a:p>
          <a:p>
            <a:pPr marL="342900" lvl="0" indent="-154940" algn="l" rtl="0">
              <a:spcBef>
                <a:spcPts val="592"/>
              </a:spcBef>
              <a:spcAft>
                <a:spcPts val="0"/>
              </a:spcAft>
              <a:buClr>
                <a:schemeClr val="dk1"/>
              </a:buClr>
              <a:buSzPct val="100000"/>
              <a:buNone/>
            </a:pPr>
            <a:endParaRPr/>
          </a:p>
        </p:txBody>
      </p:sp>
      <p:sp>
        <p:nvSpPr>
          <p:cNvPr id="379" name="Google Shape;379;p26"/>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sp>
        <p:nvSpPr>
          <p:cNvPr id="380" name="Google Shape;380;p26"/>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Software Engineering</a:t>
            </a:r>
            <a:endParaRPr/>
          </a:p>
        </p:txBody>
      </p:sp>
      <p:sp>
        <p:nvSpPr>
          <p:cNvPr id="381" name="Google Shape;381;p26"/>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26</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6" name="Google Shape;386;p2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Example: IEEE Standards</a:t>
            </a:r>
            <a:endParaRPr/>
          </a:p>
        </p:txBody>
      </p:sp>
      <p:pic>
        <p:nvPicPr>
          <p:cNvPr id="387" name="Google Shape;387;p27"/>
          <p:cNvPicPr preferRelativeResize="0">
            <a:picLocks noGrp="1"/>
          </p:cNvPicPr>
          <p:nvPr>
            <p:ph type="body" idx="1"/>
          </p:nvPr>
        </p:nvPicPr>
        <p:blipFill rotWithShape="1">
          <a:blip r:embed="rId3">
            <a:alphaModFix/>
          </a:blip>
          <a:srcRect/>
          <a:stretch/>
        </p:blipFill>
        <p:spPr>
          <a:xfrm>
            <a:off x="457200" y="1807332"/>
            <a:ext cx="8229600" cy="4111699"/>
          </a:xfrm>
          <a:prstGeom prst="rect">
            <a:avLst/>
          </a:prstGeom>
          <a:noFill/>
          <a:ln w="9525" cap="flat" cmpd="sng">
            <a:solidFill>
              <a:schemeClr val="dk1"/>
            </a:solidFill>
            <a:prstDash val="solid"/>
            <a:round/>
            <a:headEnd type="none" w="sm" len="sm"/>
            <a:tailEnd type="none" w="sm" len="sm"/>
          </a:ln>
        </p:spPr>
      </p:pic>
      <p:sp>
        <p:nvSpPr>
          <p:cNvPr id="388" name="Google Shape;388;p27"/>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2021</a:t>
            </a:r>
            <a:endParaRPr/>
          </a:p>
        </p:txBody>
      </p:sp>
      <p:sp>
        <p:nvSpPr>
          <p:cNvPr id="389" name="Google Shape;389;p27"/>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Software Engineering</a:t>
            </a:r>
            <a:endParaRPr/>
          </a:p>
        </p:txBody>
      </p:sp>
      <p:sp>
        <p:nvSpPr>
          <p:cNvPr id="390" name="Google Shape;390;p27"/>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27</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94"/>
        <p:cNvGrpSpPr/>
        <p:nvPr/>
      </p:nvGrpSpPr>
      <p:grpSpPr>
        <a:xfrm>
          <a:off x="0" y="0"/>
          <a:ext cx="0" cy="0"/>
          <a:chOff x="0" y="0"/>
          <a:chExt cx="0" cy="0"/>
        </a:xfrm>
      </p:grpSpPr>
      <p:sp>
        <p:nvSpPr>
          <p:cNvPr id="395" name="Google Shape;395;p2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b="1">
                <a:latin typeface="Calibri"/>
                <a:ea typeface="Calibri"/>
                <a:cs typeface="Calibri"/>
                <a:sym typeface="Calibri"/>
              </a:rPr>
              <a:t>The expectation</a:t>
            </a:r>
            <a:endParaRPr/>
          </a:p>
        </p:txBody>
      </p:sp>
      <p:pic>
        <p:nvPicPr>
          <p:cNvPr id="396" name="Google Shape;396;p28" descr="Guest Post: Begin With the End in Mind"/>
          <p:cNvPicPr preferRelativeResize="0"/>
          <p:nvPr/>
        </p:nvPicPr>
        <p:blipFill rotWithShape="1">
          <a:blip r:embed="rId3">
            <a:alphaModFix/>
          </a:blip>
          <a:srcRect/>
          <a:stretch/>
        </p:blipFill>
        <p:spPr>
          <a:xfrm>
            <a:off x="457200" y="1849786"/>
            <a:ext cx="4038600" cy="4026791"/>
          </a:xfrm>
          <a:prstGeom prst="rect">
            <a:avLst/>
          </a:prstGeom>
          <a:noFill/>
          <a:ln>
            <a:noFill/>
          </a:ln>
        </p:spPr>
      </p:pic>
      <p:sp>
        <p:nvSpPr>
          <p:cNvPr id="397" name="Google Shape;397;p28"/>
          <p:cNvSpPr txBox="1"/>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p>
            <a:pPr marL="0" marR="0" lvl="0" indent="0" algn="l" rtl="0">
              <a:spcBef>
                <a:spcPts val="0"/>
              </a:spcBef>
              <a:spcAft>
                <a:spcPts val="0"/>
              </a:spcAft>
              <a:buNone/>
            </a:pPr>
            <a:r>
              <a:rPr lang="en-US" sz="2800">
                <a:solidFill>
                  <a:schemeClr val="dk1"/>
                </a:solidFill>
                <a:latin typeface="Calibri"/>
                <a:ea typeface="Calibri"/>
                <a:cs typeface="Calibri"/>
                <a:sym typeface="Calibri"/>
              </a:rPr>
              <a:t>The student is able to deliver:</a:t>
            </a:r>
            <a:endParaRPr/>
          </a:p>
          <a:p>
            <a:pPr marL="342900" marR="0" lvl="0" indent="-342900" algn="l" rtl="0">
              <a:spcBef>
                <a:spcPts val="560"/>
              </a:spcBef>
              <a:spcAft>
                <a:spcPts val="0"/>
              </a:spcAft>
              <a:buClr>
                <a:schemeClr val="dk1"/>
              </a:buClr>
              <a:buSzPts val="2800"/>
              <a:buFont typeface="Arial"/>
              <a:buAutoNum type="alphaLcParenR"/>
            </a:pPr>
            <a:r>
              <a:rPr lang="en-US" sz="2800">
                <a:solidFill>
                  <a:schemeClr val="dk1"/>
                </a:solidFill>
                <a:latin typeface="Calibri"/>
                <a:ea typeface="Calibri"/>
                <a:cs typeface="Calibri"/>
                <a:sym typeface="Calibri"/>
              </a:rPr>
              <a:t>Proposal</a:t>
            </a:r>
            <a:endParaRPr/>
          </a:p>
          <a:p>
            <a:pPr marL="342900" marR="0" lvl="0" indent="-342900" algn="l" rtl="0">
              <a:spcBef>
                <a:spcPts val="560"/>
              </a:spcBef>
              <a:spcAft>
                <a:spcPts val="0"/>
              </a:spcAft>
              <a:buClr>
                <a:schemeClr val="dk1"/>
              </a:buClr>
              <a:buSzPts val="2800"/>
              <a:buFont typeface="Arial"/>
              <a:buAutoNum type="alphaLcParenR"/>
            </a:pPr>
            <a:r>
              <a:rPr lang="en-US" sz="2800">
                <a:solidFill>
                  <a:schemeClr val="dk1"/>
                </a:solidFill>
                <a:latin typeface="Calibri"/>
                <a:ea typeface="Calibri"/>
                <a:cs typeface="Calibri"/>
                <a:sym typeface="Calibri"/>
              </a:rPr>
              <a:t>Software Requirements Specification</a:t>
            </a:r>
            <a:endParaRPr/>
          </a:p>
          <a:p>
            <a:pPr marL="342900" marR="0" lvl="0" indent="-342900" algn="l" rtl="0">
              <a:spcBef>
                <a:spcPts val="560"/>
              </a:spcBef>
              <a:spcAft>
                <a:spcPts val="0"/>
              </a:spcAft>
              <a:buClr>
                <a:schemeClr val="dk1"/>
              </a:buClr>
              <a:buSzPts val="2800"/>
              <a:buFont typeface="Arial"/>
              <a:buAutoNum type="alphaLcParenR"/>
            </a:pPr>
            <a:r>
              <a:rPr lang="en-US" sz="2800">
                <a:solidFill>
                  <a:schemeClr val="dk1"/>
                </a:solidFill>
                <a:latin typeface="Calibri"/>
                <a:ea typeface="Calibri"/>
                <a:cs typeface="Calibri"/>
                <a:sym typeface="Calibri"/>
              </a:rPr>
              <a:t>Software Design Document</a:t>
            </a:r>
            <a:endParaRPr/>
          </a:p>
          <a:p>
            <a:pPr marL="342900" marR="0" lvl="0" indent="-342900" algn="l" rtl="0">
              <a:spcBef>
                <a:spcPts val="560"/>
              </a:spcBef>
              <a:spcAft>
                <a:spcPts val="0"/>
              </a:spcAft>
              <a:buClr>
                <a:schemeClr val="dk1"/>
              </a:buClr>
              <a:buSzPts val="2800"/>
              <a:buFont typeface="Arial"/>
              <a:buAutoNum type="alphaLcParenR"/>
            </a:pPr>
            <a:r>
              <a:rPr lang="en-US" sz="2800">
                <a:solidFill>
                  <a:schemeClr val="dk1"/>
                </a:solidFill>
                <a:latin typeface="Calibri"/>
                <a:ea typeface="Calibri"/>
                <a:cs typeface="Calibri"/>
                <a:sym typeface="Calibri"/>
              </a:rPr>
              <a:t>Software Testing Document</a:t>
            </a:r>
            <a:endParaRPr/>
          </a:p>
          <a:p>
            <a:pPr marL="342900" marR="0" lvl="0" indent="-165100" algn="l" rtl="0">
              <a:spcBef>
                <a:spcPts val="560"/>
              </a:spcBef>
              <a:spcAft>
                <a:spcPts val="0"/>
              </a:spcAft>
              <a:buClr>
                <a:schemeClr val="dk1"/>
              </a:buClr>
              <a:buSzPts val="2800"/>
              <a:buFont typeface="Arial"/>
              <a:buNone/>
            </a:pPr>
            <a:endParaRPr sz="2800">
              <a:solidFill>
                <a:schemeClr val="dk1"/>
              </a:solidFill>
              <a:latin typeface="Calibri"/>
              <a:ea typeface="Calibri"/>
              <a:cs typeface="Calibri"/>
              <a:sym typeface="Calibri"/>
            </a:endParaRPr>
          </a:p>
        </p:txBody>
      </p:sp>
      <p:sp>
        <p:nvSpPr>
          <p:cNvPr id="398" name="Google Shape;398;p28"/>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None/>
            </a:pPr>
            <a:r>
              <a:rPr lang="en-US">
                <a:latin typeface="Calibri"/>
                <a:ea typeface="Calibri"/>
                <a:cs typeface="Calibri"/>
                <a:sym typeface="Calibri"/>
              </a:rPr>
              <a:t>2021</a:t>
            </a:r>
            <a:endParaRPr/>
          </a:p>
        </p:txBody>
      </p:sp>
      <p:sp>
        <p:nvSpPr>
          <p:cNvPr id="399" name="Google Shape;399;p28"/>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None/>
            </a:pPr>
            <a:r>
              <a:rPr lang="en-US">
                <a:latin typeface="Calibri"/>
                <a:ea typeface="Calibri"/>
                <a:cs typeface="Calibri"/>
                <a:sym typeface="Calibri"/>
              </a:rPr>
              <a:t>Software Engineering</a:t>
            </a:r>
            <a:endParaRPr/>
          </a:p>
        </p:txBody>
      </p:sp>
      <p:sp>
        <p:nvSpPr>
          <p:cNvPr id="400" name="Google Shape;400;p28"/>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rmAutofit/>
          </a:bodyPr>
          <a:lstStyle/>
          <a:p>
            <a:pPr marL="0" lvl="0" indent="0" algn="r" rtl="0">
              <a:spcBef>
                <a:spcPts val="0"/>
              </a:spcBef>
              <a:spcAft>
                <a:spcPts val="0"/>
              </a:spcAft>
              <a:buNone/>
            </a:pPr>
            <a:fld id="{00000000-1234-1234-1234-123412341234}" type="slidenum">
              <a:rPr lang="en-US"/>
              <a:t>28</a:t>
            </a:fld>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2181</Words>
  <Application>Microsoft Office PowerPoint</Application>
  <PresentationFormat>On-screen Show (4:3)</PresentationFormat>
  <Paragraphs>323</Paragraphs>
  <Slides>28</Slides>
  <Notes>28</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28</vt:i4>
      </vt:variant>
    </vt:vector>
  </HeadingPairs>
  <TitlesOfParts>
    <vt:vector size="36" baseType="lpstr">
      <vt:lpstr>Rockwell</vt:lpstr>
      <vt:lpstr>Helvetica Neue Light</vt:lpstr>
      <vt:lpstr>Libre Baskerville</vt:lpstr>
      <vt:lpstr>Calibri</vt:lpstr>
      <vt:lpstr>Helvetica Neue</vt:lpstr>
      <vt:lpstr>Arial</vt:lpstr>
      <vt:lpstr>Office Theme</vt:lpstr>
      <vt:lpstr>Custom Design</vt:lpstr>
      <vt:lpstr>Module 1: Introduction to Software Engineering</vt:lpstr>
      <vt:lpstr>Outline</vt:lpstr>
      <vt:lpstr>Objectives</vt:lpstr>
      <vt:lpstr>The Importance of Software Engineering</vt:lpstr>
      <vt:lpstr>Software Engineering Costs</vt:lpstr>
      <vt:lpstr>Software Engineering in Software Development</vt:lpstr>
      <vt:lpstr>Software Engineering Definition</vt:lpstr>
      <vt:lpstr>Software Engineering as a Layered Technology</vt:lpstr>
      <vt:lpstr>Software Products and  Product Specification</vt:lpstr>
      <vt:lpstr>Software Engineering Diversity:  Types of Software</vt:lpstr>
      <vt:lpstr>Different Types of Software…</vt:lpstr>
      <vt:lpstr>Different Types of Software</vt:lpstr>
      <vt:lpstr>Inherent Difficulties</vt:lpstr>
      <vt:lpstr>Software Complexity…</vt:lpstr>
      <vt:lpstr>Software Complexity…</vt:lpstr>
      <vt:lpstr>Software Complexity…</vt:lpstr>
      <vt:lpstr>Software Complexity…</vt:lpstr>
      <vt:lpstr>LSE Example</vt:lpstr>
      <vt:lpstr>Software Changeability</vt:lpstr>
      <vt:lpstr>PowerPoint Presentation</vt:lpstr>
      <vt:lpstr>Software Engineering vs.  Software Programming</vt:lpstr>
      <vt:lpstr>Quality Focus</vt:lpstr>
      <vt:lpstr>Quality Focus: Example of Software Quality…</vt:lpstr>
      <vt:lpstr>Quality Focus: Example of Software Quality</vt:lpstr>
      <vt:lpstr>Quality Priority</vt:lpstr>
      <vt:lpstr>Software Standard and Document</vt:lpstr>
      <vt:lpstr>Example: IEEE Standards</vt:lpstr>
      <vt:lpstr>The expectation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Rohayanti Hassan</dc:creator>
  <cp:lastModifiedBy>ALIF RIDZUAN BIN KHAIRUDDIN</cp:lastModifiedBy>
  <cp:revision>1</cp:revision>
  <dcterms:created xsi:type="dcterms:W3CDTF">2023-03-16T03:34:04Z</dcterms:created>
  <dcterms:modified xsi:type="dcterms:W3CDTF">2025-09-30T02:50:36Z</dcterms:modified>
</cp:coreProperties>
</file>