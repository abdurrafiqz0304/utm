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0" r:id="rId2"/>
  </p:sldMasterIdLst>
  <p:notesMasterIdLst>
    <p:notesMasterId r:id="rId9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4" r:id="rId50"/>
    <p:sldId id="314" r:id="rId51"/>
    <p:sldId id="315" r:id="rId52"/>
    <p:sldId id="305" r:id="rId53"/>
    <p:sldId id="347" r:id="rId54"/>
    <p:sldId id="307" r:id="rId55"/>
    <p:sldId id="303" r:id="rId56"/>
    <p:sldId id="308" r:id="rId57"/>
    <p:sldId id="310" r:id="rId58"/>
    <p:sldId id="309" r:id="rId59"/>
    <p:sldId id="311" r:id="rId60"/>
    <p:sldId id="312" r:id="rId61"/>
    <p:sldId id="348" r:id="rId62"/>
    <p:sldId id="349" r:id="rId63"/>
    <p:sldId id="316" r:id="rId64"/>
    <p:sldId id="318" r:id="rId65"/>
    <p:sldId id="319" r:id="rId66"/>
    <p:sldId id="320" r:id="rId67"/>
    <p:sldId id="321" r:id="rId68"/>
    <p:sldId id="350" r:id="rId69"/>
    <p:sldId id="323" r:id="rId70"/>
    <p:sldId id="324" r:id="rId71"/>
    <p:sldId id="325" r:id="rId72"/>
    <p:sldId id="351" r:id="rId73"/>
    <p:sldId id="326" r:id="rId74"/>
    <p:sldId id="352" r:id="rId75"/>
    <p:sldId id="328" r:id="rId76"/>
    <p:sldId id="353" r:id="rId77"/>
    <p:sldId id="354"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Lst>
  <p:sldSz cx="9144000" cy="6858000" type="screen4x3"/>
  <p:notesSz cx="6858000" cy="9144000"/>
  <p:embeddedFontLst>
    <p:embeddedFont>
      <p:font typeface="Libre Baskerville" panose="02000000000000000000" pitchFamily="2" charset="0"/>
      <p:regular r:id="rId97"/>
      <p:bold r:id="rId98"/>
      <p:italic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5" roundtripDataSignature="AMtx7mhew7KW3ixpdIez8K1SJzqjP3sQ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B5DACF-B459-4AA4-BB75-76B3FD634052}">
  <a:tblStyle styleId="{D1B5DACF-B459-4AA4-BB75-76B3FD634052}"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022971B-4E90-4A09-A3A9-448BFAE1A703}"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7A5634C-A861-4563-950B-0DBFB26540DB}"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430E3DEA-DF4F-4E09-8577-3AAA1515900B}"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fill>
          <a:solidFill>
            <a:schemeClr val="dk1">
              <a:alpha val="20000"/>
            </a:schemeClr>
          </a:solidFill>
        </a:fill>
      </a:tcStyle>
    </a:band1H>
    <a:band2H>
      <a:tcTxStyle/>
      <a:tcStyle>
        <a:tcBdr/>
      </a:tcStyle>
    </a:band2H>
    <a:band1V>
      <a:tcTxStyle/>
      <a:tcStyle>
        <a:tcBdr/>
        <a:fill>
          <a:solidFill>
            <a:schemeClr val="dk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dk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839BC303-3D24-4851-8452-9D54AC629936}" styleName="Table_4">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E8F1F5"/>
          </a:solidFill>
        </a:fill>
      </a:tcStyle>
    </a:wholeTbl>
    <a:band1H>
      <a:tcTxStyle/>
      <a:tcStyle>
        <a:tcBdr/>
        <a:fill>
          <a:solidFill>
            <a:srgbClr val="CEE2EA"/>
          </a:solidFill>
        </a:fill>
      </a:tcStyle>
    </a:band1H>
    <a:band2H>
      <a:tcTxStyle/>
      <a:tcStyle>
        <a:tcBdr/>
      </a:tcStyle>
    </a:band2H>
    <a:band1V>
      <a:tcTxStyle/>
      <a:tcStyle>
        <a:tcBdr/>
        <a:fill>
          <a:solidFill>
            <a:srgbClr val="CEE2E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5"/>
              </a:solidFill>
              <a:prstDash val="solid"/>
              <a:round/>
              <a:headEnd type="none" w="sm" len="sm"/>
              <a:tailEnd type="none" w="sm" len="sm"/>
            </a:ln>
          </a:top>
        </a:tcBdr>
        <a:fill>
          <a:solidFill>
            <a:srgbClr val="E8F1F5"/>
          </a:solidFill>
        </a:fill>
      </a:tcStyle>
    </a:lastRow>
    <a:seCell>
      <a:tcTxStyle/>
      <a:tcStyle>
        <a:tcBdr/>
      </a:tcStyle>
    </a:seCell>
    <a:swCell>
      <a:tcTxStyle/>
      <a:tcStyle>
        <a:tcBdr/>
      </a:tcStyle>
    </a:swCell>
    <a:firstRow>
      <a:tcTxStyle b="on" i="off"/>
      <a:tcStyle>
        <a:tcBdr/>
        <a:fill>
          <a:solidFill>
            <a:srgbClr val="E8F1F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4660"/>
  </p:normalViewPr>
  <p:slideViewPr>
    <p:cSldViewPr snapToGrid="0">
      <p:cViewPr varScale="1">
        <p:scale>
          <a:sx n="107" d="100"/>
          <a:sy n="107" d="100"/>
        </p:scale>
        <p:origin x="1860"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viewProps" Target="viewProp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8"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ableStyles" Target="tableStyle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1.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5" Type="http://customschemas.google.com/relationships/presentationmetadata" Target="meta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font" Target="fonts/font2.fntdata"/><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8" name="Google Shape;108;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4" name="Google Shape;18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64770" algn="l" rtl="0">
              <a:lnSpc>
                <a:spcPct val="80000"/>
              </a:lnSpc>
              <a:spcBef>
                <a:spcPts val="0"/>
              </a:spcBef>
              <a:spcAft>
                <a:spcPts val="0"/>
              </a:spcAft>
              <a:buClr>
                <a:srgbClr val="374151"/>
              </a:buClr>
              <a:buSzPts val="1020"/>
              <a:buFont typeface="Calibri"/>
              <a:buAutoNum type="arabicPeriod"/>
            </a:pPr>
            <a:r>
              <a:rPr lang="en-US" sz="1020" b="0" i="0">
                <a:solidFill>
                  <a:srgbClr val="374151"/>
                </a:solidFill>
                <a:latin typeface="Arial"/>
                <a:ea typeface="Arial"/>
                <a:cs typeface="Arial"/>
                <a:sym typeface="Arial"/>
              </a:rPr>
              <a:t>Requirements Verification: Verify that the documented requirements are clear, complete, and consistent. This involves reviewing the requirements specifications, identifying any ambiguities or contradictions, and ensuring that the requirements are feasible and traceable.</a:t>
            </a:r>
            <a:endParaRPr/>
          </a:p>
          <a:p>
            <a:pPr marL="0" lvl="0" indent="-64770" algn="l" rtl="0">
              <a:lnSpc>
                <a:spcPct val="80000"/>
              </a:lnSpc>
              <a:spcBef>
                <a:spcPts val="0"/>
              </a:spcBef>
              <a:spcAft>
                <a:spcPts val="0"/>
              </a:spcAft>
              <a:buClr>
                <a:srgbClr val="374151"/>
              </a:buClr>
              <a:buSzPts val="1020"/>
              <a:buFont typeface="Calibri"/>
              <a:buAutoNum type="arabicPeriod"/>
            </a:pPr>
            <a:r>
              <a:rPr lang="en-US" sz="1020" b="0" i="0">
                <a:solidFill>
                  <a:srgbClr val="374151"/>
                </a:solidFill>
                <a:latin typeface="Arial"/>
                <a:ea typeface="Arial"/>
                <a:cs typeface="Arial"/>
                <a:sym typeface="Arial"/>
              </a:rPr>
              <a:t>Design Verification: Verify that the software design correctly implements the specified requirements. This involves reviewing the design documents, checking for any design errors or omissions, and confirming that the design satisfies the functional and non-functional requirements.</a:t>
            </a:r>
            <a:endParaRPr/>
          </a:p>
          <a:p>
            <a:pPr marL="0" lvl="0" indent="-64770" algn="l" rtl="0">
              <a:lnSpc>
                <a:spcPct val="80000"/>
              </a:lnSpc>
              <a:spcBef>
                <a:spcPts val="0"/>
              </a:spcBef>
              <a:spcAft>
                <a:spcPts val="0"/>
              </a:spcAft>
              <a:buClr>
                <a:srgbClr val="374151"/>
              </a:buClr>
              <a:buSzPts val="1020"/>
              <a:buFont typeface="Calibri"/>
              <a:buAutoNum type="arabicPeriod"/>
            </a:pPr>
            <a:r>
              <a:rPr lang="en-US" sz="1020" b="0" i="0">
                <a:solidFill>
                  <a:srgbClr val="374151"/>
                </a:solidFill>
                <a:latin typeface="Arial"/>
                <a:ea typeface="Arial"/>
                <a:cs typeface="Arial"/>
                <a:sym typeface="Arial"/>
              </a:rPr>
              <a:t>Code Verification: Verify that the software code is implemented correctly according to the design and meets the specified requirements. This involves reviewing the code for syntax errors, logic flaws, and adherence to coding standards. Static code analysis tools can also be used for automated code verification.</a:t>
            </a:r>
            <a:endParaRPr/>
          </a:p>
          <a:p>
            <a:pPr marL="0" lvl="0" indent="-64770" algn="l" rtl="0">
              <a:lnSpc>
                <a:spcPct val="80000"/>
              </a:lnSpc>
              <a:spcBef>
                <a:spcPts val="0"/>
              </a:spcBef>
              <a:spcAft>
                <a:spcPts val="0"/>
              </a:spcAft>
              <a:buClr>
                <a:srgbClr val="374151"/>
              </a:buClr>
              <a:buSzPts val="1020"/>
              <a:buFont typeface="Calibri"/>
              <a:buAutoNum type="arabicPeriod"/>
            </a:pPr>
            <a:r>
              <a:rPr lang="en-US" sz="1020" b="0" i="0">
                <a:solidFill>
                  <a:srgbClr val="374151"/>
                </a:solidFill>
                <a:latin typeface="Arial"/>
                <a:ea typeface="Arial"/>
                <a:cs typeface="Arial"/>
                <a:sym typeface="Arial"/>
              </a:rPr>
              <a:t>Unit Testing Verification: Verify that the unit tests are designed and executed effectively to validate the behavior of individual software components. This involves reviewing the unit test cases, ensuring they cover different code paths and edge cases, and confirming that the unit tests provide adequate code coverage.</a:t>
            </a:r>
            <a:endParaRPr/>
          </a:p>
          <a:p>
            <a:pPr marL="0" lvl="0" indent="-64770" algn="l" rtl="0">
              <a:lnSpc>
                <a:spcPct val="80000"/>
              </a:lnSpc>
              <a:spcBef>
                <a:spcPts val="0"/>
              </a:spcBef>
              <a:spcAft>
                <a:spcPts val="0"/>
              </a:spcAft>
              <a:buClr>
                <a:srgbClr val="374151"/>
              </a:buClr>
              <a:buSzPts val="1020"/>
              <a:buFont typeface="Calibri"/>
              <a:buAutoNum type="arabicPeriod"/>
            </a:pPr>
            <a:r>
              <a:rPr lang="en-US" sz="1020" b="0" i="0">
                <a:solidFill>
                  <a:srgbClr val="374151"/>
                </a:solidFill>
                <a:latin typeface="Arial"/>
                <a:ea typeface="Arial"/>
                <a:cs typeface="Arial"/>
                <a:sym typeface="Arial"/>
              </a:rPr>
              <a:t>Integration Testing Verification: Verify that the integration tests are conducted to ensure the correct interaction and communication between different software components/modules. This involves reviewing the integration test plan, checking for test coverage of integration scenarios, and ensuring that the integration tests pass successfully.</a:t>
            </a:r>
            <a:endParaRPr/>
          </a:p>
          <a:p>
            <a:pPr marL="0" lvl="0" indent="-64770" algn="l" rtl="0">
              <a:lnSpc>
                <a:spcPct val="80000"/>
              </a:lnSpc>
              <a:spcBef>
                <a:spcPts val="0"/>
              </a:spcBef>
              <a:spcAft>
                <a:spcPts val="0"/>
              </a:spcAft>
              <a:buClr>
                <a:srgbClr val="374151"/>
              </a:buClr>
              <a:buSzPts val="1020"/>
              <a:buFont typeface="Calibri"/>
              <a:buAutoNum type="arabicPeriod"/>
            </a:pPr>
            <a:r>
              <a:rPr lang="en-US" sz="1020" b="0" i="0">
                <a:solidFill>
                  <a:srgbClr val="374151"/>
                </a:solidFill>
                <a:latin typeface="Arial"/>
                <a:ea typeface="Arial"/>
                <a:cs typeface="Arial"/>
                <a:sym typeface="Arial"/>
              </a:rPr>
              <a:t>System Testing Verification: Verify that the system tests are designed and executed to validate the behavior of the software as a whole. This involves reviewing the system test plan, checking for test coverage of end-to-end scenarios, and ensuring that the system tests cover the functional and non-functional requirements.</a:t>
            </a:r>
            <a:endParaRPr/>
          </a:p>
          <a:p>
            <a:pPr marL="0" lvl="0" indent="-64770" algn="l" rtl="0">
              <a:lnSpc>
                <a:spcPct val="80000"/>
              </a:lnSpc>
              <a:spcBef>
                <a:spcPts val="0"/>
              </a:spcBef>
              <a:spcAft>
                <a:spcPts val="0"/>
              </a:spcAft>
              <a:buClr>
                <a:srgbClr val="374151"/>
              </a:buClr>
              <a:buSzPts val="1020"/>
              <a:buFont typeface="Calibri"/>
              <a:buAutoNum type="arabicPeriod"/>
            </a:pPr>
            <a:r>
              <a:rPr lang="en-US" sz="1020" b="0" i="0">
                <a:solidFill>
                  <a:srgbClr val="374151"/>
                </a:solidFill>
                <a:latin typeface="Arial"/>
                <a:ea typeface="Arial"/>
                <a:cs typeface="Arial"/>
                <a:sym typeface="Arial"/>
              </a:rPr>
              <a:t>Regression Testing Verification: Verify that regression tests are conducted after modifications or updates to the software to ensure that existing functionality is not negatively affected. This involves reviewing the regression test suite, ensuring that it covers the impacted areas, and confirming that the tests are executed and passed successfully.</a:t>
            </a:r>
            <a:endParaRPr/>
          </a:p>
          <a:p>
            <a:pPr marL="0" lvl="0" indent="-64770" algn="l" rtl="0">
              <a:lnSpc>
                <a:spcPct val="80000"/>
              </a:lnSpc>
              <a:spcBef>
                <a:spcPts val="0"/>
              </a:spcBef>
              <a:spcAft>
                <a:spcPts val="0"/>
              </a:spcAft>
              <a:buClr>
                <a:srgbClr val="374151"/>
              </a:buClr>
              <a:buSzPts val="1020"/>
              <a:buFont typeface="Calibri"/>
              <a:buAutoNum type="arabicPeriod"/>
            </a:pPr>
            <a:r>
              <a:rPr lang="en-US" sz="1020" b="0" i="0">
                <a:solidFill>
                  <a:srgbClr val="374151"/>
                </a:solidFill>
                <a:latin typeface="Arial"/>
                <a:ea typeface="Arial"/>
                <a:cs typeface="Arial"/>
                <a:sym typeface="Arial"/>
              </a:rPr>
              <a:t>Documentation Verification: Verify that the documentation related to the software, such as user manuals or technical specifications, is accurate, up to date, and complete. This involves reviewing the documentation, checking for any discrepancies or missing information, and ensuring that it aligns with the software implementation.</a:t>
            </a:r>
            <a:endParaRPr/>
          </a:p>
          <a:p>
            <a:pPr marL="0" lvl="0" indent="0" algn="l" rtl="0">
              <a:lnSpc>
                <a:spcPct val="80000"/>
              </a:lnSpc>
              <a:spcBef>
                <a:spcPts val="0"/>
              </a:spcBef>
              <a:spcAft>
                <a:spcPts val="0"/>
              </a:spcAft>
              <a:buNone/>
            </a:pPr>
            <a:endParaRPr sz="1020"/>
          </a:p>
        </p:txBody>
      </p:sp>
      <p:sp>
        <p:nvSpPr>
          <p:cNvPr id="241" name="Google Shape;24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lnSpcReduction="10000"/>
          </a:bodyPr>
          <a:lstStyle/>
          <a:p>
            <a:pPr marL="0" lvl="0" indent="-70485" algn="l" rtl="0">
              <a:lnSpc>
                <a:spcPct val="80000"/>
              </a:lnSpc>
              <a:spcBef>
                <a:spcPts val="0"/>
              </a:spcBef>
              <a:spcAft>
                <a:spcPts val="0"/>
              </a:spcAft>
              <a:buClr>
                <a:srgbClr val="374151"/>
              </a:buClr>
              <a:buSzPts val="1110"/>
              <a:buFont typeface="Calibri"/>
              <a:buAutoNum type="arabicPeriod"/>
            </a:pPr>
            <a:r>
              <a:rPr lang="en-US" sz="1110" b="0" i="0">
                <a:solidFill>
                  <a:srgbClr val="374151"/>
                </a:solidFill>
                <a:latin typeface="Arial"/>
                <a:ea typeface="Arial"/>
                <a:cs typeface="Arial"/>
                <a:sym typeface="Arial"/>
              </a:rPr>
              <a:t>Requirements Validation: Ensure that the requirements documented for the software accurately reflect the needs and expectations of the stakeholders. This involves reviewing the requirements specifications, identifying any inconsistencies or ambiguities, and confirming that the requirements are feasible and aligned with the project goals.</a:t>
            </a:r>
            <a:endParaRPr/>
          </a:p>
          <a:p>
            <a:pPr marL="0" lvl="0" indent="-70485" algn="l" rtl="0">
              <a:lnSpc>
                <a:spcPct val="80000"/>
              </a:lnSpc>
              <a:spcBef>
                <a:spcPts val="0"/>
              </a:spcBef>
              <a:spcAft>
                <a:spcPts val="0"/>
              </a:spcAft>
              <a:buClr>
                <a:srgbClr val="374151"/>
              </a:buClr>
              <a:buSzPts val="1110"/>
              <a:buFont typeface="Calibri"/>
              <a:buAutoNum type="arabicPeriod"/>
            </a:pPr>
            <a:r>
              <a:rPr lang="en-US" sz="1110" b="0" i="0">
                <a:solidFill>
                  <a:srgbClr val="374151"/>
                </a:solidFill>
                <a:latin typeface="Arial"/>
                <a:ea typeface="Arial"/>
                <a:cs typeface="Arial"/>
                <a:sym typeface="Arial"/>
              </a:rPr>
              <a:t>Design Validation: Verify that the software design meets the specified requirements and is capable of providing the desired functionality. This involves reviewing the design documents, checking for any design flaws, assessing whether the design is modular and maintainable, and validating that the design aligns with industry best practices and architectural principles.</a:t>
            </a:r>
            <a:endParaRPr/>
          </a:p>
          <a:p>
            <a:pPr marL="0" lvl="0" indent="-70485" algn="l" rtl="0">
              <a:lnSpc>
                <a:spcPct val="80000"/>
              </a:lnSpc>
              <a:spcBef>
                <a:spcPts val="0"/>
              </a:spcBef>
              <a:spcAft>
                <a:spcPts val="0"/>
              </a:spcAft>
              <a:buClr>
                <a:srgbClr val="374151"/>
              </a:buClr>
              <a:buSzPts val="1110"/>
              <a:buFont typeface="Calibri"/>
              <a:buAutoNum type="arabicPeriod"/>
            </a:pPr>
            <a:r>
              <a:rPr lang="en-US" sz="1110" b="0" i="0">
                <a:solidFill>
                  <a:srgbClr val="374151"/>
                </a:solidFill>
                <a:latin typeface="Arial"/>
                <a:ea typeface="Arial"/>
                <a:cs typeface="Arial"/>
                <a:sym typeface="Arial"/>
              </a:rPr>
              <a:t>Test Data Validation: Validate the test data used during the software testing process. This includes reviewing the test data sets, ensuring that they cover all relevant scenarios, and verifying that the test data adequately represents the expected usage patterns and input variations.</a:t>
            </a:r>
            <a:endParaRPr/>
          </a:p>
          <a:p>
            <a:pPr marL="0" lvl="0" indent="-70485" algn="l" rtl="0">
              <a:lnSpc>
                <a:spcPct val="80000"/>
              </a:lnSpc>
              <a:spcBef>
                <a:spcPts val="0"/>
              </a:spcBef>
              <a:spcAft>
                <a:spcPts val="0"/>
              </a:spcAft>
              <a:buClr>
                <a:srgbClr val="374151"/>
              </a:buClr>
              <a:buSzPts val="1110"/>
              <a:buFont typeface="Calibri"/>
              <a:buAutoNum type="arabicPeriod"/>
            </a:pPr>
            <a:r>
              <a:rPr lang="en-US" sz="1110" b="0" i="0">
                <a:solidFill>
                  <a:srgbClr val="374151"/>
                </a:solidFill>
                <a:latin typeface="Arial"/>
                <a:ea typeface="Arial"/>
                <a:cs typeface="Arial"/>
                <a:sym typeface="Arial"/>
              </a:rPr>
              <a:t>Functional Validation: Validate that the software functions as intended and meets the specified functional requirements. This involves reviewing the software code, examining the software behavior through simulations or prototypes, and confirming that the software performs the expected operations accurately and reliably.</a:t>
            </a:r>
            <a:endParaRPr/>
          </a:p>
          <a:p>
            <a:pPr marL="0" lvl="0" indent="-70485" algn="l" rtl="0">
              <a:lnSpc>
                <a:spcPct val="80000"/>
              </a:lnSpc>
              <a:spcBef>
                <a:spcPts val="0"/>
              </a:spcBef>
              <a:spcAft>
                <a:spcPts val="0"/>
              </a:spcAft>
              <a:buClr>
                <a:srgbClr val="374151"/>
              </a:buClr>
              <a:buSzPts val="1110"/>
              <a:buFont typeface="Calibri"/>
              <a:buAutoNum type="arabicPeriod"/>
            </a:pPr>
            <a:r>
              <a:rPr lang="en-US" sz="1110" b="0" i="0">
                <a:solidFill>
                  <a:srgbClr val="374151"/>
                </a:solidFill>
                <a:latin typeface="Arial"/>
                <a:ea typeface="Arial"/>
                <a:cs typeface="Arial"/>
                <a:sym typeface="Arial"/>
              </a:rPr>
              <a:t>Performance Validation: Validate that the software performs efficiently and effectively under expected load and stress conditions. This includes reviewing performance requirements, analyzing performance test results, and ensuring that the software meets the specified performance benchmarks.</a:t>
            </a:r>
            <a:endParaRPr/>
          </a:p>
          <a:p>
            <a:pPr marL="0" lvl="0" indent="-70485" algn="l" rtl="0">
              <a:lnSpc>
                <a:spcPct val="80000"/>
              </a:lnSpc>
              <a:spcBef>
                <a:spcPts val="0"/>
              </a:spcBef>
              <a:spcAft>
                <a:spcPts val="0"/>
              </a:spcAft>
              <a:buClr>
                <a:srgbClr val="374151"/>
              </a:buClr>
              <a:buSzPts val="1110"/>
              <a:buFont typeface="Calibri"/>
              <a:buAutoNum type="arabicPeriod"/>
            </a:pPr>
            <a:r>
              <a:rPr lang="en-US" sz="1110" b="0" i="0">
                <a:solidFill>
                  <a:srgbClr val="374151"/>
                </a:solidFill>
                <a:latin typeface="Arial"/>
                <a:ea typeface="Arial"/>
                <a:cs typeface="Arial"/>
                <a:sym typeface="Arial"/>
              </a:rPr>
              <a:t>User Acceptance Validation: Validate that the software meets the needs and expectations of the end-users or stakeholders. This involves involving end-users in the inspection process, gathering feedback, and conducting usability testing to ensure that the software is user-friendly, intuitive, and provides a satisfactory user experience.</a:t>
            </a:r>
            <a:endParaRPr/>
          </a:p>
          <a:p>
            <a:pPr marL="0" lvl="0" indent="-70485" algn="l" rtl="0">
              <a:lnSpc>
                <a:spcPct val="80000"/>
              </a:lnSpc>
              <a:spcBef>
                <a:spcPts val="0"/>
              </a:spcBef>
              <a:spcAft>
                <a:spcPts val="0"/>
              </a:spcAft>
              <a:buClr>
                <a:srgbClr val="374151"/>
              </a:buClr>
              <a:buSzPts val="1110"/>
              <a:buFont typeface="Calibri"/>
              <a:buAutoNum type="arabicPeriod"/>
            </a:pPr>
            <a:r>
              <a:rPr lang="en-US" sz="1110" b="0" i="0">
                <a:solidFill>
                  <a:srgbClr val="374151"/>
                </a:solidFill>
                <a:latin typeface="Arial"/>
                <a:ea typeface="Arial"/>
                <a:cs typeface="Arial"/>
                <a:sym typeface="Arial"/>
              </a:rPr>
              <a:t>Compliance Validation: Validate that the software complies with relevant industry standards, regulations, and legal requirements. This involves reviewing the software against applicable standards, performing compliance audits, and ensuring that the software meets all necessary regulatory criteria.</a:t>
            </a:r>
            <a:endParaRPr/>
          </a:p>
          <a:p>
            <a:pPr marL="0" lvl="0" indent="0" algn="l" rtl="0">
              <a:lnSpc>
                <a:spcPct val="80000"/>
              </a:lnSpc>
              <a:spcBef>
                <a:spcPts val="0"/>
              </a:spcBef>
              <a:spcAft>
                <a:spcPts val="0"/>
              </a:spcAft>
              <a:buNone/>
            </a:pPr>
            <a:endParaRPr sz="1110"/>
          </a:p>
        </p:txBody>
      </p:sp>
      <p:sp>
        <p:nvSpPr>
          <p:cNvPr id="269" name="Google Shape;269;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1" name="Google Shape;651;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7" name="Google Shape;667;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5" name="Google Shape;675;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3" name="Google Shape;683;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1" name="Google Shape;691;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6" name="Google Shape;756;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3" name="Google Shape;773;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1" name="Google Shape;781;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7" name="Google Shape;1097;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04206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5" name="Google Shape;1105;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72852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9" name="Google Shape;869;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9" name="Google Shape;949;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9" name="Google Shape;789;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76" name="Google Shape;976;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5" name="Google Shape;995;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85" name="Google Shape;985;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3" name="Google Shape;100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3" name="Google Shape;1013;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a:extLst>
            <a:ext uri="{FF2B5EF4-FFF2-40B4-BE49-F238E27FC236}">
              <a16:creationId xmlns:a16="http://schemas.microsoft.com/office/drawing/2014/main" id="{F0A9AF66-8279-967A-C2B5-74777E891702}"/>
            </a:ext>
          </a:extLst>
        </p:cNvPr>
        <p:cNvGrpSpPr/>
        <p:nvPr/>
      </p:nvGrpSpPr>
      <p:grpSpPr>
        <a:xfrm>
          <a:off x="0" y="0"/>
          <a:ext cx="0" cy="0"/>
          <a:chOff x="0" y="0"/>
          <a:chExt cx="0" cy="0"/>
        </a:xfrm>
      </p:grpSpPr>
      <p:sp>
        <p:nvSpPr>
          <p:cNvPr id="788" name="Google Shape;788;p48:notes">
            <a:extLst>
              <a:ext uri="{FF2B5EF4-FFF2-40B4-BE49-F238E27FC236}">
                <a16:creationId xmlns:a16="http://schemas.microsoft.com/office/drawing/2014/main" id="{D0E0C857-536D-4370-A494-C1B3951FC00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9" name="Google Shape;789;p48:notes">
            <a:extLst>
              <a:ext uri="{FF2B5EF4-FFF2-40B4-BE49-F238E27FC236}">
                <a16:creationId xmlns:a16="http://schemas.microsoft.com/office/drawing/2014/main" id="{073CD424-1D1B-9D5C-0234-ED9449132A2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30081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a:extLst>
            <a:ext uri="{FF2B5EF4-FFF2-40B4-BE49-F238E27FC236}">
              <a16:creationId xmlns:a16="http://schemas.microsoft.com/office/drawing/2014/main" id="{0E9CDB69-4489-CB3F-FB19-E005510C4618}"/>
            </a:ext>
          </a:extLst>
        </p:cNvPr>
        <p:cNvGrpSpPr/>
        <p:nvPr/>
      </p:nvGrpSpPr>
      <p:grpSpPr>
        <a:xfrm>
          <a:off x="0" y="0"/>
          <a:ext cx="0" cy="0"/>
          <a:chOff x="0" y="0"/>
          <a:chExt cx="0" cy="0"/>
        </a:xfrm>
      </p:grpSpPr>
      <p:sp>
        <p:nvSpPr>
          <p:cNvPr id="796" name="Google Shape;796;p49:notes">
            <a:extLst>
              <a:ext uri="{FF2B5EF4-FFF2-40B4-BE49-F238E27FC236}">
                <a16:creationId xmlns:a16="http://schemas.microsoft.com/office/drawing/2014/main" id="{41E225EA-255F-F4C3-25B1-D21D9FBE156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49:notes">
            <a:extLst>
              <a:ext uri="{FF2B5EF4-FFF2-40B4-BE49-F238E27FC236}">
                <a16:creationId xmlns:a16="http://schemas.microsoft.com/office/drawing/2014/main" id="{45D559E8-ADD6-3912-485E-DC3C07D6B4F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39586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4" name="Google Shape;1114;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4" name="Google Shape;1194;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2" name="Google Shape;1202;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1" name="Google Shape;1211;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p:cNvGrpSpPr/>
        <p:nvPr/>
      </p:nvGrpSpPr>
      <p:grpSpPr>
        <a:xfrm>
          <a:off x="0" y="0"/>
          <a:ext cx="0" cy="0"/>
          <a:chOff x="0" y="0"/>
          <a:chExt cx="0" cy="0"/>
        </a:xfrm>
      </p:grpSpPr>
      <p:sp>
        <p:nvSpPr>
          <p:cNvPr id="1218" name="Google Shape;1218;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9" name="Google Shape;1219;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a:extLst>
            <a:ext uri="{FF2B5EF4-FFF2-40B4-BE49-F238E27FC236}">
              <a16:creationId xmlns:a16="http://schemas.microsoft.com/office/drawing/2014/main" id="{185E5F9B-152A-4DFA-564E-9A61E0FCE917}"/>
            </a:ext>
          </a:extLst>
        </p:cNvPr>
        <p:cNvGrpSpPr/>
        <p:nvPr/>
      </p:nvGrpSpPr>
      <p:grpSpPr>
        <a:xfrm>
          <a:off x="0" y="0"/>
          <a:ext cx="0" cy="0"/>
          <a:chOff x="0" y="0"/>
          <a:chExt cx="0" cy="0"/>
        </a:xfrm>
      </p:grpSpPr>
      <p:sp>
        <p:nvSpPr>
          <p:cNvPr id="796" name="Google Shape;796;p49:notes">
            <a:extLst>
              <a:ext uri="{FF2B5EF4-FFF2-40B4-BE49-F238E27FC236}">
                <a16:creationId xmlns:a16="http://schemas.microsoft.com/office/drawing/2014/main" id="{5B7C3F6A-611C-736F-C9B3-D86FF8559B7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49:notes">
            <a:extLst>
              <a:ext uri="{FF2B5EF4-FFF2-40B4-BE49-F238E27FC236}">
                <a16:creationId xmlns:a16="http://schemas.microsoft.com/office/drawing/2014/main" id="{B94E0C8E-870C-1A21-5BF7-CCF144F1EF7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32355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0" name="Google Shape;1300;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8" name="Google Shape;1308;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5"/>
        <p:cNvGrpSpPr/>
        <p:nvPr/>
      </p:nvGrpSpPr>
      <p:grpSpPr>
        <a:xfrm>
          <a:off x="0" y="0"/>
          <a:ext cx="0" cy="0"/>
          <a:chOff x="0" y="0"/>
          <a:chExt cx="0" cy="0"/>
        </a:xfrm>
      </p:grpSpPr>
      <p:sp>
        <p:nvSpPr>
          <p:cNvPr id="1316" name="Google Shape;1316;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7" name="Google Shape;1317;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a:extLst>
            <a:ext uri="{FF2B5EF4-FFF2-40B4-BE49-F238E27FC236}">
              <a16:creationId xmlns:a16="http://schemas.microsoft.com/office/drawing/2014/main" id="{3497A4CC-3651-5161-F309-72020350F739}"/>
            </a:ext>
          </a:extLst>
        </p:cNvPr>
        <p:cNvGrpSpPr/>
        <p:nvPr/>
      </p:nvGrpSpPr>
      <p:grpSpPr>
        <a:xfrm>
          <a:off x="0" y="0"/>
          <a:ext cx="0" cy="0"/>
          <a:chOff x="0" y="0"/>
          <a:chExt cx="0" cy="0"/>
        </a:xfrm>
      </p:grpSpPr>
      <p:sp>
        <p:nvSpPr>
          <p:cNvPr id="796" name="Google Shape;796;p49:notes">
            <a:extLst>
              <a:ext uri="{FF2B5EF4-FFF2-40B4-BE49-F238E27FC236}">
                <a16:creationId xmlns:a16="http://schemas.microsoft.com/office/drawing/2014/main" id="{F9ADB93A-7D00-D127-15A3-DD9741C5F20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49:notes">
            <a:extLst>
              <a:ext uri="{FF2B5EF4-FFF2-40B4-BE49-F238E27FC236}">
                <a16:creationId xmlns:a16="http://schemas.microsoft.com/office/drawing/2014/main" id="{36472413-C871-C22E-2A67-921A6D91D5D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903008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6" name="Google Shape;1326;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a:extLst>
            <a:ext uri="{FF2B5EF4-FFF2-40B4-BE49-F238E27FC236}">
              <a16:creationId xmlns:a16="http://schemas.microsoft.com/office/drawing/2014/main" id="{EB1F3E72-C150-9CD1-3200-37A897C5132A}"/>
            </a:ext>
          </a:extLst>
        </p:cNvPr>
        <p:cNvGrpSpPr/>
        <p:nvPr/>
      </p:nvGrpSpPr>
      <p:grpSpPr>
        <a:xfrm>
          <a:off x="0" y="0"/>
          <a:ext cx="0" cy="0"/>
          <a:chOff x="0" y="0"/>
          <a:chExt cx="0" cy="0"/>
        </a:xfrm>
      </p:grpSpPr>
      <p:sp>
        <p:nvSpPr>
          <p:cNvPr id="796" name="Google Shape;796;p49:notes">
            <a:extLst>
              <a:ext uri="{FF2B5EF4-FFF2-40B4-BE49-F238E27FC236}">
                <a16:creationId xmlns:a16="http://schemas.microsoft.com/office/drawing/2014/main" id="{4396C5CB-4B4C-01F7-D31C-E050B11A7DF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49:notes">
            <a:extLst>
              <a:ext uri="{FF2B5EF4-FFF2-40B4-BE49-F238E27FC236}">
                <a16:creationId xmlns:a16="http://schemas.microsoft.com/office/drawing/2014/main" id="{3F3B7521-385A-61D2-1CD9-AA75B0FF2E4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40913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6" name="Google Shape;1406;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a:extLst>
            <a:ext uri="{FF2B5EF4-FFF2-40B4-BE49-F238E27FC236}">
              <a16:creationId xmlns:a16="http://schemas.microsoft.com/office/drawing/2014/main" id="{40B43AC0-14C9-4EE5-8A62-8B0D00DC59B3}"/>
            </a:ext>
          </a:extLst>
        </p:cNvPr>
        <p:cNvGrpSpPr/>
        <p:nvPr/>
      </p:nvGrpSpPr>
      <p:grpSpPr>
        <a:xfrm>
          <a:off x="0" y="0"/>
          <a:ext cx="0" cy="0"/>
          <a:chOff x="0" y="0"/>
          <a:chExt cx="0" cy="0"/>
        </a:xfrm>
      </p:grpSpPr>
      <p:sp>
        <p:nvSpPr>
          <p:cNvPr id="796" name="Google Shape;796;p49:notes">
            <a:extLst>
              <a:ext uri="{FF2B5EF4-FFF2-40B4-BE49-F238E27FC236}">
                <a16:creationId xmlns:a16="http://schemas.microsoft.com/office/drawing/2014/main" id="{02162AA9-EBE7-5A1E-9793-7938125D638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49:notes">
            <a:extLst>
              <a:ext uri="{FF2B5EF4-FFF2-40B4-BE49-F238E27FC236}">
                <a16:creationId xmlns:a16="http://schemas.microsoft.com/office/drawing/2014/main" id="{7CA73B68-E99D-996E-157B-E28948CFCA8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47386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4"/>
        <p:cNvGrpSpPr/>
        <p:nvPr/>
      </p:nvGrpSpPr>
      <p:grpSpPr>
        <a:xfrm>
          <a:off x="0" y="0"/>
          <a:ext cx="0" cy="0"/>
          <a:chOff x="0" y="0"/>
          <a:chExt cx="0" cy="0"/>
        </a:xfrm>
      </p:grpSpPr>
      <p:sp>
        <p:nvSpPr>
          <p:cNvPr id="1485" name="Google Shape;1485;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6" name="Google Shape;1486;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4" name="Google Shape;1494;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3" name="Google Shape;1503;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3" name="Google Shape;1513;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p:cNvGrpSpPr/>
        <p:nvPr/>
      </p:nvGrpSpPr>
      <p:grpSpPr>
        <a:xfrm>
          <a:off x="0" y="0"/>
          <a:ext cx="0" cy="0"/>
          <a:chOff x="0" y="0"/>
          <a:chExt cx="0" cy="0"/>
        </a:xfrm>
      </p:grpSpPr>
      <p:sp>
        <p:nvSpPr>
          <p:cNvPr id="1522" name="Google Shape;1522;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3" name="Google Shape;1523;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3" name="Google Shape;1533;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3" name="Google Shape;1543;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3" name="Google Shape;1553;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3" name="Google Shape;1563;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0"/>
        <p:cNvGrpSpPr/>
        <p:nvPr/>
      </p:nvGrpSpPr>
      <p:grpSpPr>
        <a:xfrm>
          <a:off x="0" y="0"/>
          <a:ext cx="0" cy="0"/>
          <a:chOff x="0" y="0"/>
          <a:chExt cx="0" cy="0"/>
        </a:xfrm>
      </p:grpSpPr>
      <p:sp>
        <p:nvSpPr>
          <p:cNvPr id="1571" name="Google Shape;1571;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2" name="Google Shape;1572;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9" name="Google Shape;1599;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7"/>
        <p:cNvGrpSpPr/>
        <p:nvPr/>
      </p:nvGrpSpPr>
      <p:grpSpPr>
        <a:xfrm>
          <a:off x="0" y="0"/>
          <a:ext cx="0" cy="0"/>
          <a:chOff x="0" y="0"/>
          <a:chExt cx="0" cy="0"/>
        </a:xfrm>
      </p:grpSpPr>
      <p:sp>
        <p:nvSpPr>
          <p:cNvPr id="1608" name="Google Shape;1608;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9" name="Google Shape;1609;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7" name="Google Shape;1617;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9"/>
        <p:cNvGrpSpPr/>
        <p:nvPr/>
      </p:nvGrpSpPr>
      <p:grpSpPr>
        <a:xfrm>
          <a:off x="0" y="0"/>
          <a:ext cx="0" cy="0"/>
          <a:chOff x="0" y="0"/>
          <a:chExt cx="0" cy="0"/>
        </a:xfrm>
      </p:grpSpPr>
      <p:sp>
        <p:nvSpPr>
          <p:cNvPr id="1630" name="Google Shape;1630;p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1" name="Google Shape;1631;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8"/>
        <p:cNvGrpSpPr/>
        <p:nvPr/>
      </p:nvGrpSpPr>
      <p:grpSpPr>
        <a:xfrm>
          <a:off x="0" y="0"/>
          <a:ext cx="0" cy="0"/>
          <a:chOff x="0" y="0"/>
          <a:chExt cx="0" cy="0"/>
        </a:xfrm>
      </p:grpSpPr>
      <p:sp>
        <p:nvSpPr>
          <p:cNvPr id="1639" name="Google Shape;1639;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0" name="Google Shape;1640;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8" name="Google Shape;1648;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49" name="Google Shape;1649;p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92</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6"/>
        <p:cNvGrpSpPr/>
        <p:nvPr/>
      </p:nvGrpSpPr>
      <p:grpSpPr>
        <a:xfrm>
          <a:off x="0" y="0"/>
          <a:ext cx="0" cy="0"/>
          <a:chOff x="0" y="0"/>
          <a:chExt cx="0" cy="0"/>
        </a:xfrm>
      </p:grpSpPr>
      <p:sp>
        <p:nvSpPr>
          <p:cNvPr id="1667" name="Google Shape;1667;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8" name="Google Shape;1668;p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69" name="Google Shape;1669;p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93</a:t>
            </a:fld>
            <a:endParaRPr/>
          </a:p>
        </p:txBody>
      </p:sp>
    </p:spTree>
    <p:extLst>
      <p:ext uri="{BB962C8B-B14F-4D97-AF65-F5344CB8AC3E}">
        <p14:creationId xmlns:p14="http://schemas.microsoft.com/office/powerpoint/2010/main" val="3845133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9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9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9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9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9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9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9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9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9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4" name="Google Shape;34;p9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5" name="Google Shape;35;p9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9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9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9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9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1" name="Google Shape;41;p9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9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0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0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0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0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0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0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0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0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0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0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0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0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0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0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0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5" name="Google Shape;65;p10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10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10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04"/>
          <p:cNvSpPr>
            <a:spLocks noGrp="1"/>
          </p:cNvSpPr>
          <p:nvPr>
            <p:ph type="pic" idx="2"/>
          </p:nvPr>
        </p:nvSpPr>
        <p:spPr>
          <a:xfrm>
            <a:off x="1792288" y="612775"/>
            <a:ext cx="5486400" cy="4114800"/>
          </a:xfrm>
          <a:prstGeom prst="rect">
            <a:avLst/>
          </a:prstGeom>
          <a:noFill/>
          <a:ln>
            <a:noFill/>
          </a:ln>
        </p:spPr>
      </p:sp>
      <p:sp>
        <p:nvSpPr>
          <p:cNvPr id="72" name="Google Shape;72;p10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3" name="Google Shape;73;p10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10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0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10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10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0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10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0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0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95"/>
          <p:cNvPicPr preferRelativeResize="0"/>
          <p:nvPr/>
        </p:nvPicPr>
        <p:blipFill rotWithShape="1">
          <a:blip r:embed="rId13">
            <a:alphaModFix/>
          </a:blip>
          <a:srcRect/>
          <a:stretch/>
        </p:blipFill>
        <p:spPr>
          <a:xfrm>
            <a:off x="-747" y="6487366"/>
            <a:ext cx="9131300" cy="357187"/>
          </a:xfrm>
          <a:prstGeom prst="rect">
            <a:avLst/>
          </a:prstGeom>
          <a:noFill/>
          <a:ln>
            <a:noFill/>
          </a:ln>
        </p:spPr>
      </p:pic>
      <p:sp>
        <p:nvSpPr>
          <p:cNvPr id="11" name="Google Shape;11;p95"/>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2;p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3" name="Google Shape;13;p95" descr="header_UTM"/>
          <p:cNvPicPr preferRelativeResize="0"/>
          <p:nvPr/>
        </p:nvPicPr>
        <p:blipFill rotWithShape="1">
          <a:blip r:embed="rId14">
            <a:alphaModFix/>
          </a:blip>
          <a:srcRect/>
          <a:stretch/>
        </p:blipFill>
        <p:spPr>
          <a:xfrm>
            <a:off x="63500" y="106363"/>
            <a:ext cx="1195388" cy="395287"/>
          </a:xfrm>
          <a:prstGeom prst="rect">
            <a:avLst/>
          </a:prstGeom>
          <a:noFill/>
          <a:ln>
            <a:noFill/>
          </a:ln>
        </p:spPr>
      </p:pic>
      <p:pic>
        <p:nvPicPr>
          <p:cNvPr id="14" name="Google Shape;14;p95" descr="header_url"/>
          <p:cNvPicPr preferRelativeResize="0"/>
          <p:nvPr/>
        </p:nvPicPr>
        <p:blipFill rotWithShape="1">
          <a:blip r:embed="rId15">
            <a:alphaModFix/>
          </a:blip>
          <a:srcRect/>
          <a:stretch/>
        </p:blipFill>
        <p:spPr>
          <a:xfrm>
            <a:off x="0" y="1169894"/>
            <a:ext cx="2376488" cy="255588"/>
          </a:xfrm>
          <a:prstGeom prst="rect">
            <a:avLst/>
          </a:prstGeom>
          <a:noFill/>
          <a:ln>
            <a:noFill/>
          </a:ln>
        </p:spPr>
      </p:pic>
      <p:sp>
        <p:nvSpPr>
          <p:cNvPr id="15" name="Google Shape;15;p9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9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9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9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000000"/>
                </a:solidFill>
                <a:latin typeface="Calibri"/>
                <a:ea typeface="Calibri"/>
                <a:cs typeface="Calibri"/>
                <a:sym typeface="Calibri"/>
              </a:defRPr>
            </a:lvl1pPr>
            <a:lvl2pPr marL="0" marR="0" lvl="1" indent="0" algn="r" rtl="0">
              <a:spcBef>
                <a:spcPts val="0"/>
              </a:spcBef>
              <a:buNone/>
              <a:defRPr sz="1200" b="0" i="0" u="none" strike="noStrike" cap="none">
                <a:solidFill>
                  <a:srgbClr val="000000"/>
                </a:solidFill>
                <a:latin typeface="Calibri"/>
                <a:ea typeface="Calibri"/>
                <a:cs typeface="Calibri"/>
                <a:sym typeface="Calibri"/>
              </a:defRPr>
            </a:lvl2pPr>
            <a:lvl3pPr marL="0" marR="0" lvl="2" indent="0" algn="r" rtl="0">
              <a:spcBef>
                <a:spcPts val="0"/>
              </a:spcBef>
              <a:buNone/>
              <a:defRPr sz="1200" b="0" i="0" u="none" strike="noStrike" cap="none">
                <a:solidFill>
                  <a:srgbClr val="000000"/>
                </a:solidFill>
                <a:latin typeface="Calibri"/>
                <a:ea typeface="Calibri"/>
                <a:cs typeface="Calibri"/>
                <a:sym typeface="Calibri"/>
              </a:defRPr>
            </a:lvl3pPr>
            <a:lvl4pPr marL="0" marR="0" lvl="3" indent="0" algn="r" rtl="0">
              <a:spcBef>
                <a:spcPts val="0"/>
              </a:spcBef>
              <a:buNone/>
              <a:defRPr sz="1200" b="0" i="0" u="none" strike="noStrike" cap="none">
                <a:solidFill>
                  <a:srgbClr val="000000"/>
                </a:solidFill>
                <a:latin typeface="Calibri"/>
                <a:ea typeface="Calibri"/>
                <a:cs typeface="Calibri"/>
                <a:sym typeface="Calibri"/>
              </a:defRPr>
            </a:lvl4pPr>
            <a:lvl5pPr marL="0" marR="0" lvl="4" indent="0" algn="r" rtl="0">
              <a:spcBef>
                <a:spcPts val="0"/>
              </a:spcBef>
              <a:buNone/>
              <a:defRPr sz="1200" b="0" i="0" u="none" strike="noStrike" cap="none">
                <a:solidFill>
                  <a:srgbClr val="000000"/>
                </a:solidFill>
                <a:latin typeface="Calibri"/>
                <a:ea typeface="Calibri"/>
                <a:cs typeface="Calibri"/>
                <a:sym typeface="Calibri"/>
              </a:defRPr>
            </a:lvl5pPr>
            <a:lvl6pPr marL="0" marR="0" lvl="5" indent="0" algn="r" rtl="0">
              <a:spcBef>
                <a:spcPts val="0"/>
              </a:spcBef>
              <a:buNone/>
              <a:defRPr sz="1200" b="0" i="0" u="none" strike="noStrike" cap="none">
                <a:solidFill>
                  <a:srgbClr val="000000"/>
                </a:solidFill>
                <a:latin typeface="Calibri"/>
                <a:ea typeface="Calibri"/>
                <a:cs typeface="Calibri"/>
                <a:sym typeface="Calibri"/>
              </a:defRPr>
            </a:lvl6pPr>
            <a:lvl7pPr marL="0" marR="0" lvl="6" indent="0" algn="r" rtl="0">
              <a:spcBef>
                <a:spcPts val="0"/>
              </a:spcBef>
              <a:buNone/>
              <a:defRPr sz="1200" b="0" i="0" u="none" strike="noStrike" cap="none">
                <a:solidFill>
                  <a:srgbClr val="000000"/>
                </a:solidFill>
                <a:latin typeface="Calibri"/>
                <a:ea typeface="Calibri"/>
                <a:cs typeface="Calibri"/>
                <a:sym typeface="Calibri"/>
              </a:defRPr>
            </a:lvl7pPr>
            <a:lvl8pPr marL="0" marR="0" lvl="7" indent="0" algn="r" rtl="0">
              <a:spcBef>
                <a:spcPts val="0"/>
              </a:spcBef>
              <a:buNone/>
              <a:defRPr sz="1200" b="0" i="0" u="none" strike="noStrike" cap="none">
                <a:solidFill>
                  <a:srgbClr val="000000"/>
                </a:solidFill>
                <a:latin typeface="Calibri"/>
                <a:ea typeface="Calibri"/>
                <a:cs typeface="Calibri"/>
                <a:sym typeface="Calibri"/>
              </a:defRPr>
            </a:lvl8pPr>
            <a:lvl9pPr marL="0" marR="0" lvl="8" indent="0" algn="r" rtl="0">
              <a:spcBef>
                <a:spcPts val="0"/>
              </a:spcBef>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07"/>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chemeClr val="dk1"/>
              </a:buClr>
              <a:buSzPts val="5400"/>
              <a:buFont typeface="Arial"/>
              <a:buNone/>
            </a:pPr>
            <a:endParaRPr sz="5400" b="0" i="0" u="none" strike="noStrike" cap="none">
              <a:solidFill>
                <a:schemeClr val="dk1"/>
              </a:solidFill>
              <a:latin typeface="Calibri"/>
              <a:ea typeface="Calibri"/>
              <a:cs typeface="Calibri"/>
              <a:sym typeface="Calibri"/>
            </a:endParaRPr>
          </a:p>
          <a:p>
            <a:pPr marL="342900" marR="0" lvl="0" indent="-342900" algn="ctr" rtl="0">
              <a:lnSpc>
                <a:spcPct val="100000"/>
              </a:lnSpc>
              <a:spcBef>
                <a:spcPts val="1080"/>
              </a:spcBef>
              <a:spcAft>
                <a:spcPts val="0"/>
              </a:spcAft>
              <a:buClr>
                <a:schemeClr val="dk1"/>
              </a:buClr>
              <a:buSzPts val="5400"/>
              <a:buFont typeface="Arial"/>
              <a:buNone/>
            </a:pPr>
            <a:r>
              <a:rPr lang="en-US" sz="5400" b="1" i="0" u="none" strike="noStrike" cap="none">
                <a:solidFill>
                  <a:schemeClr val="dk1"/>
                </a:solidFill>
                <a:latin typeface="Calibri"/>
                <a:ea typeface="Calibri"/>
                <a:cs typeface="Calibri"/>
                <a:sym typeface="Calibri"/>
              </a:rPr>
              <a:t>Terima Kasih</a:t>
            </a:r>
            <a:endParaRPr/>
          </a:p>
          <a:p>
            <a:pPr marL="342900" marR="0" lvl="0" indent="-342900" algn="ctr" rtl="0">
              <a:lnSpc>
                <a:spcPct val="100000"/>
              </a:lnSpc>
              <a:spcBef>
                <a:spcPts val="560"/>
              </a:spcBef>
              <a:spcAft>
                <a:spcPts val="0"/>
              </a:spcAft>
              <a:buClr>
                <a:srgbClr val="C00000"/>
              </a:buClr>
              <a:buSzPts val="2800"/>
              <a:buFont typeface="Arial"/>
              <a:buNone/>
            </a:pPr>
            <a:r>
              <a:rPr lang="en-US" sz="2800" b="0" i="0" u="none" strike="noStrike" cap="none">
                <a:solidFill>
                  <a:srgbClr val="C00000"/>
                </a:solidFill>
                <a:latin typeface="Calibri"/>
                <a:ea typeface="Calibri"/>
                <a:cs typeface="Calibri"/>
                <a:sym typeface="Calibri"/>
              </a:rPr>
              <a:t>atas keprihatinan anda</a:t>
            </a:r>
            <a:endParaRPr/>
          </a:p>
          <a:p>
            <a:pPr marL="342900" marR="0" lvl="0" indent="-342900" algn="ctr" rtl="0">
              <a:lnSpc>
                <a:spcPct val="100000"/>
              </a:lnSpc>
              <a:spcBef>
                <a:spcPts val="560"/>
              </a:spcBef>
              <a:spcAft>
                <a:spcPts val="0"/>
              </a:spcAft>
              <a:buClr>
                <a:schemeClr val="dk1"/>
              </a:buClr>
              <a:buSzPts val="2800"/>
              <a:buFont typeface="Arial"/>
              <a:buNone/>
            </a:pPr>
            <a:endParaRPr sz="2800" b="0" i="0" u="none" strike="noStrike" cap="none">
              <a:solidFill>
                <a:srgbClr val="C00000"/>
              </a:solidFill>
              <a:latin typeface="Calibri"/>
              <a:ea typeface="Calibri"/>
              <a:cs typeface="Calibri"/>
              <a:sym typeface="Calibri"/>
            </a:endParaRPr>
          </a:p>
          <a:p>
            <a:pPr marL="342900" marR="0" lvl="0" indent="-342900" algn="ctr" rtl="0">
              <a:lnSpc>
                <a:spcPct val="100000"/>
              </a:lnSpc>
              <a:spcBef>
                <a:spcPts val="720"/>
              </a:spcBef>
              <a:spcAft>
                <a:spcPts val="0"/>
              </a:spcAft>
              <a:buClr>
                <a:srgbClr val="002060"/>
              </a:buClr>
              <a:buSzPts val="3600"/>
              <a:buFont typeface="Arial"/>
              <a:buNone/>
            </a:pPr>
            <a:r>
              <a:rPr lang="en-US" sz="3600" b="1" i="0" u="none" strike="noStrike" cap="none">
                <a:solidFill>
                  <a:srgbClr val="002060"/>
                </a:solidFill>
                <a:latin typeface="Libre Baskerville"/>
                <a:ea typeface="Libre Baskerville"/>
                <a:cs typeface="Libre Baskerville"/>
                <a:sym typeface="Libre Baskerville"/>
              </a:rPr>
              <a:t>“I Care, You Care, We Care”</a:t>
            </a:r>
            <a:endParaRPr sz="3600" b="1" i="0" u="none" strike="noStrike" cap="none">
              <a:solidFill>
                <a:srgbClr val="002060"/>
              </a:solidFill>
              <a:latin typeface="Libre Baskerville"/>
              <a:ea typeface="Libre Baskerville"/>
              <a:cs typeface="Libre Baskerville"/>
              <a:sym typeface="Libre Baskerville"/>
            </a:endParaRPr>
          </a:p>
        </p:txBody>
      </p:sp>
      <p:pic>
        <p:nvPicPr>
          <p:cNvPr id="90" name="Google Shape;90;p107"/>
          <p:cNvPicPr preferRelativeResize="0"/>
          <p:nvPr/>
        </p:nvPicPr>
        <p:blipFill rotWithShape="1">
          <a:blip r:embed="rId2">
            <a:alphaModFix/>
          </a:blip>
          <a:srcRect/>
          <a:stretch/>
        </p:blipFill>
        <p:spPr>
          <a:xfrm>
            <a:off x="-747" y="6487366"/>
            <a:ext cx="9131300" cy="357187"/>
          </a:xfrm>
          <a:prstGeom prst="rect">
            <a:avLst/>
          </a:prstGeom>
          <a:noFill/>
          <a:ln>
            <a:noFill/>
          </a:ln>
        </p:spPr>
      </p:pic>
      <p:sp>
        <p:nvSpPr>
          <p:cNvPr id="91" name="Google Shape;91;p107"/>
          <p:cNvSpPr txBox="1">
            <a:spLocks noGrp="1"/>
          </p:cNvSpPr>
          <p:nvPr>
            <p:ph type="dt" idx="10"/>
          </p:nvPr>
        </p:nvSpPr>
        <p:spPr>
          <a:xfrm>
            <a:off x="0" y="6600451"/>
            <a:ext cx="1547664"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107"/>
          <p:cNvSpPr txBox="1">
            <a:spLocks noGrp="1"/>
          </p:cNvSpPr>
          <p:nvPr>
            <p:ph type="sldNum" idx="12"/>
          </p:nvPr>
        </p:nvSpPr>
        <p:spPr>
          <a:xfrm>
            <a:off x="8316416" y="6600451"/>
            <a:ext cx="457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a:solidFill>
                  <a:schemeClr val="dk1"/>
                </a:solidFill>
                <a:latin typeface="Calibri"/>
                <a:ea typeface="Calibri"/>
                <a:cs typeface="Calibri"/>
                <a:sym typeface="Calibri"/>
              </a:defRPr>
            </a:lvl1pPr>
            <a:lvl2pPr marL="0" marR="0" lvl="1" indent="0" algn="r" rtl="0">
              <a:spcBef>
                <a:spcPts val="0"/>
              </a:spcBef>
              <a:spcAft>
                <a:spcPts val="0"/>
              </a:spcAft>
              <a:buNone/>
              <a:defRPr sz="1200">
                <a:solidFill>
                  <a:schemeClr val="dk1"/>
                </a:solidFill>
                <a:latin typeface="Calibri"/>
                <a:ea typeface="Calibri"/>
                <a:cs typeface="Calibri"/>
                <a:sym typeface="Calibri"/>
              </a:defRPr>
            </a:lvl2pPr>
            <a:lvl3pPr marL="0" marR="0" lvl="2" indent="0" algn="r" rtl="0">
              <a:spcBef>
                <a:spcPts val="0"/>
              </a:spcBef>
              <a:spcAft>
                <a:spcPts val="0"/>
              </a:spcAft>
              <a:buNone/>
              <a:defRPr sz="1200">
                <a:solidFill>
                  <a:schemeClr val="dk1"/>
                </a:solidFill>
                <a:latin typeface="Calibri"/>
                <a:ea typeface="Calibri"/>
                <a:cs typeface="Calibri"/>
                <a:sym typeface="Calibri"/>
              </a:defRPr>
            </a:lvl3pPr>
            <a:lvl4pPr marL="0" marR="0" lvl="3" indent="0" algn="r" rtl="0">
              <a:spcBef>
                <a:spcPts val="0"/>
              </a:spcBef>
              <a:spcAft>
                <a:spcPts val="0"/>
              </a:spcAft>
              <a:buNone/>
              <a:defRPr sz="1200">
                <a:solidFill>
                  <a:schemeClr val="dk1"/>
                </a:solidFill>
                <a:latin typeface="Calibri"/>
                <a:ea typeface="Calibri"/>
                <a:cs typeface="Calibri"/>
                <a:sym typeface="Calibri"/>
              </a:defRPr>
            </a:lvl4pPr>
            <a:lvl5pPr marL="0" marR="0" lvl="4" indent="0" algn="r" rtl="0">
              <a:spcBef>
                <a:spcPts val="0"/>
              </a:spcBef>
              <a:spcAft>
                <a:spcPts val="0"/>
              </a:spcAft>
              <a:buNone/>
              <a:defRPr sz="1200">
                <a:solidFill>
                  <a:schemeClr val="dk1"/>
                </a:solidFill>
                <a:latin typeface="Calibri"/>
                <a:ea typeface="Calibri"/>
                <a:cs typeface="Calibri"/>
                <a:sym typeface="Calibri"/>
              </a:defRPr>
            </a:lvl5pPr>
            <a:lvl6pPr marL="0" marR="0" lvl="5" indent="0" algn="r" rtl="0">
              <a:spcBef>
                <a:spcPts val="0"/>
              </a:spcBef>
              <a:spcAft>
                <a:spcPts val="0"/>
              </a:spcAft>
              <a:buNone/>
              <a:defRPr sz="1200">
                <a:solidFill>
                  <a:schemeClr val="dk1"/>
                </a:solidFill>
                <a:latin typeface="Calibri"/>
                <a:ea typeface="Calibri"/>
                <a:cs typeface="Calibri"/>
                <a:sym typeface="Calibri"/>
              </a:defRPr>
            </a:lvl6pPr>
            <a:lvl7pPr marL="0" marR="0" lvl="6" indent="0" algn="r" rtl="0">
              <a:spcBef>
                <a:spcPts val="0"/>
              </a:spcBef>
              <a:spcAft>
                <a:spcPts val="0"/>
              </a:spcAft>
              <a:buNone/>
              <a:defRPr sz="1200">
                <a:solidFill>
                  <a:schemeClr val="dk1"/>
                </a:solidFill>
                <a:latin typeface="Calibri"/>
                <a:ea typeface="Calibri"/>
                <a:cs typeface="Calibri"/>
                <a:sym typeface="Calibri"/>
              </a:defRPr>
            </a:lvl7pPr>
            <a:lvl8pPr marL="0" marR="0" lvl="7" indent="0" algn="r" rtl="0">
              <a:spcBef>
                <a:spcPts val="0"/>
              </a:spcBef>
              <a:spcAft>
                <a:spcPts val="0"/>
              </a:spcAft>
              <a:buNone/>
              <a:defRPr sz="1200">
                <a:solidFill>
                  <a:schemeClr val="dk1"/>
                </a:solidFill>
                <a:latin typeface="Calibri"/>
                <a:ea typeface="Calibri"/>
                <a:cs typeface="Calibri"/>
                <a:sym typeface="Calibri"/>
              </a:defRPr>
            </a:lvl8pPr>
            <a:lvl9pPr marL="0" marR="0" lvl="8" indent="0" algn="r" rtl="0">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107"/>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4" name="Google Shape;94;p107" descr="header_UTM"/>
          <p:cNvPicPr preferRelativeResize="0"/>
          <p:nvPr/>
        </p:nvPicPr>
        <p:blipFill rotWithShape="1">
          <a:blip r:embed="rId3">
            <a:alphaModFix/>
          </a:blip>
          <a:srcRect/>
          <a:stretch/>
        </p:blipFill>
        <p:spPr>
          <a:xfrm>
            <a:off x="63500" y="106363"/>
            <a:ext cx="1195388" cy="395287"/>
          </a:xfrm>
          <a:prstGeom prst="rect">
            <a:avLst/>
          </a:prstGeom>
          <a:noFill/>
          <a:ln>
            <a:noFill/>
          </a:ln>
        </p:spPr>
      </p:pic>
      <p:pic>
        <p:nvPicPr>
          <p:cNvPr id="95" name="Google Shape;95;p107" descr="header_url"/>
          <p:cNvPicPr preferRelativeResize="0"/>
          <p:nvPr/>
        </p:nvPicPr>
        <p:blipFill rotWithShape="1">
          <a:blip r:embed="rId4">
            <a:alphaModFix/>
          </a:blip>
          <a:srcRect/>
          <a:stretch/>
        </p:blipFill>
        <p:spPr>
          <a:xfrm>
            <a:off x="0" y="1009650"/>
            <a:ext cx="2376488" cy="388938"/>
          </a:xfrm>
          <a:prstGeom prst="rect">
            <a:avLst/>
          </a:prstGeom>
          <a:noFill/>
          <a:ln>
            <a:noFill/>
          </a:ln>
        </p:spPr>
      </p:pic>
      <p:pic>
        <p:nvPicPr>
          <p:cNvPr id="96" name="Google Shape;96;p107"/>
          <p:cNvPicPr preferRelativeResize="0"/>
          <p:nvPr/>
        </p:nvPicPr>
        <p:blipFill rotWithShape="1">
          <a:blip r:embed="rId5">
            <a:alphaModFix/>
          </a:blip>
          <a:srcRect/>
          <a:stretch/>
        </p:blipFill>
        <p:spPr>
          <a:xfrm>
            <a:off x="1873008" y="53788"/>
            <a:ext cx="580837" cy="438130"/>
          </a:xfrm>
          <a:prstGeom prst="rect">
            <a:avLst/>
          </a:prstGeom>
          <a:noFill/>
          <a:ln>
            <a:noFill/>
          </a:ln>
        </p:spPr>
      </p:pic>
      <p:pic>
        <p:nvPicPr>
          <p:cNvPr id="97" name="Google Shape;97;p107" descr="PNG_newlogo"/>
          <p:cNvPicPr preferRelativeResize="0"/>
          <p:nvPr/>
        </p:nvPicPr>
        <p:blipFill rotWithShape="1">
          <a:blip r:embed="rId6">
            <a:alphaModFix/>
          </a:blip>
          <a:srcRect/>
          <a:stretch/>
        </p:blipFill>
        <p:spPr>
          <a:xfrm>
            <a:off x="1354633" y="26894"/>
            <a:ext cx="504056" cy="477366"/>
          </a:xfrm>
          <a:prstGeom prst="rect">
            <a:avLst/>
          </a:prstGeom>
          <a:noFill/>
          <a:ln>
            <a:noFill/>
          </a:ln>
        </p:spPr>
      </p:pic>
      <p:sp>
        <p:nvSpPr>
          <p:cNvPr id="98" name="Google Shape;98;p107"/>
          <p:cNvSpPr txBox="1">
            <a:spLocks noGrp="1"/>
          </p:cNvSpPr>
          <p:nvPr>
            <p:ph type="ftr" idx="11"/>
          </p:nvPr>
        </p:nvSpPr>
        <p:spPr>
          <a:xfrm>
            <a:off x="2281520" y="6647328"/>
            <a:ext cx="4704928"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1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Module 8: </a:t>
            </a:r>
            <a:br>
              <a:rPr lang="en-US" b="1"/>
            </a:br>
            <a:r>
              <a:rPr lang="en-US"/>
              <a:t>Software Verification, Validation</a:t>
            </a:r>
            <a:br>
              <a:rPr lang="en-US"/>
            </a:br>
            <a:r>
              <a:rPr lang="en-US"/>
              <a:t> and Testing</a:t>
            </a:r>
            <a:endParaRPr/>
          </a:p>
        </p:txBody>
      </p:sp>
      <p:sp>
        <p:nvSpPr>
          <p:cNvPr id="104" name="Google Shape;104;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2"/>
              </a:buClr>
              <a:buSzPts val="4000"/>
              <a:buNone/>
            </a:pPr>
            <a:r>
              <a:rPr lang="en-US" sz="4000">
                <a:solidFill>
                  <a:schemeClr val="dk2"/>
                </a:solidFill>
              </a:rPr>
              <a:t>Software Engineering</a:t>
            </a:r>
            <a:endParaRPr/>
          </a:p>
          <a:p>
            <a:pPr marL="0" lvl="0" indent="0" algn="ctr" rtl="0">
              <a:spcBef>
                <a:spcPts val="560"/>
              </a:spcBef>
              <a:spcAft>
                <a:spcPts val="0"/>
              </a:spcAft>
              <a:buClr>
                <a:srgbClr val="888888"/>
              </a:buClr>
              <a:buSzPts val="2800"/>
              <a:buNone/>
            </a:pPr>
            <a:r>
              <a:rPr lang="en-US" sz="2800"/>
              <a:t>Faculty of Computing</a:t>
            </a:r>
            <a:endParaRPr/>
          </a:p>
          <a:p>
            <a:pPr marL="0" lvl="0" indent="0" algn="ctr" rtl="0">
              <a:spcBef>
                <a:spcPts val="560"/>
              </a:spcBef>
              <a:spcAft>
                <a:spcPts val="0"/>
              </a:spcAft>
              <a:buClr>
                <a:srgbClr val="888888"/>
              </a:buClr>
              <a:buSzPts val="2800"/>
              <a:buNone/>
            </a:pPr>
            <a:r>
              <a:rPr lang="en-US" sz="2800"/>
              <a:t>Universiti Teknologi Malaysia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Recap on SDLC Phases &amp; Artefacts</a:t>
            </a:r>
            <a:endParaRPr/>
          </a:p>
        </p:txBody>
      </p:sp>
      <p:sp>
        <p:nvSpPr>
          <p:cNvPr id="111" name="Google Shape;111;p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112" name="Google Shape;112;p2"/>
          <p:cNvGrpSpPr/>
          <p:nvPr/>
        </p:nvGrpSpPr>
        <p:grpSpPr>
          <a:xfrm>
            <a:off x="629995" y="1420735"/>
            <a:ext cx="2702408" cy="5069042"/>
            <a:chOff x="172795" y="3097"/>
            <a:chExt cx="2702408" cy="5069042"/>
          </a:xfrm>
        </p:grpSpPr>
        <p:sp>
          <p:nvSpPr>
            <p:cNvPr id="113" name="Google Shape;113;p2"/>
            <p:cNvSpPr/>
            <p:nvPr/>
          </p:nvSpPr>
          <p:spPr>
            <a:xfrm>
              <a:off x="172795" y="3097"/>
              <a:ext cx="2702408" cy="506904"/>
            </a:xfrm>
            <a:prstGeom prst="roundRect">
              <a:avLst>
                <a:gd name="adj" fmla="val 10000"/>
              </a:avLst>
            </a:prstGeom>
            <a:solidFill>
              <a:srgbClr val="F2DADA"/>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 name="Google Shape;114;p2"/>
            <p:cNvSpPr txBox="1"/>
            <p:nvPr/>
          </p:nvSpPr>
          <p:spPr>
            <a:xfrm>
              <a:off x="187642" y="17944"/>
              <a:ext cx="2672714" cy="47721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Domain Analysis </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 Business Process</a:t>
              </a:r>
              <a:endParaRPr>
                <a:solidFill>
                  <a:schemeClr val="dk1"/>
                </a:solidFill>
              </a:endParaRPr>
            </a:p>
          </p:txBody>
        </p:sp>
        <p:sp>
          <p:nvSpPr>
            <p:cNvPr id="115" name="Google Shape;115;p2"/>
            <p:cNvSpPr/>
            <p:nvPr/>
          </p:nvSpPr>
          <p:spPr>
            <a:xfrm rot="5400000">
              <a:off x="1428955" y="522673"/>
              <a:ext cx="190089" cy="228106"/>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 name="Google Shape;116;p2"/>
            <p:cNvSpPr txBox="1"/>
            <p:nvPr/>
          </p:nvSpPr>
          <p:spPr>
            <a:xfrm>
              <a:off x="1455568" y="541682"/>
              <a:ext cx="136864" cy="13306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17" name="Google Shape;117;p2"/>
            <p:cNvSpPr/>
            <p:nvPr/>
          </p:nvSpPr>
          <p:spPr>
            <a:xfrm>
              <a:off x="172795" y="763453"/>
              <a:ext cx="2702408" cy="506904"/>
            </a:xfrm>
            <a:prstGeom prst="roundRect">
              <a:avLst>
                <a:gd name="adj" fmla="val 10000"/>
              </a:avLst>
            </a:prstGeom>
            <a:solidFill>
              <a:srgbClr val="F2DADA"/>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8" name="Google Shape;118;p2"/>
            <p:cNvSpPr txBox="1"/>
            <p:nvPr/>
          </p:nvSpPr>
          <p:spPr>
            <a:xfrm>
              <a:off x="187642" y="778300"/>
              <a:ext cx="2672714" cy="47721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Requirement</a:t>
              </a:r>
              <a:endParaRPr>
                <a:solidFill>
                  <a:schemeClr val="dk1"/>
                </a:solidFill>
              </a:endParaRPr>
            </a:p>
          </p:txBody>
        </p:sp>
        <p:sp>
          <p:nvSpPr>
            <p:cNvPr id="119" name="Google Shape;119;p2"/>
            <p:cNvSpPr/>
            <p:nvPr/>
          </p:nvSpPr>
          <p:spPr>
            <a:xfrm rot="5400000">
              <a:off x="1428955" y="1283030"/>
              <a:ext cx="190089" cy="228106"/>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0" name="Google Shape;120;p2"/>
            <p:cNvSpPr txBox="1"/>
            <p:nvPr/>
          </p:nvSpPr>
          <p:spPr>
            <a:xfrm>
              <a:off x="1455568" y="1302039"/>
              <a:ext cx="136864" cy="13306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21" name="Google Shape;121;p2"/>
            <p:cNvSpPr/>
            <p:nvPr/>
          </p:nvSpPr>
          <p:spPr>
            <a:xfrm>
              <a:off x="172795" y="1523809"/>
              <a:ext cx="2702408" cy="506904"/>
            </a:xfrm>
            <a:prstGeom prst="roundRect">
              <a:avLst>
                <a:gd name="adj" fmla="val 10000"/>
              </a:avLst>
            </a:prstGeom>
            <a:solidFill>
              <a:srgbClr val="F2DADA"/>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 name="Google Shape;122;p2"/>
            <p:cNvSpPr txBox="1"/>
            <p:nvPr/>
          </p:nvSpPr>
          <p:spPr>
            <a:xfrm>
              <a:off x="187642" y="1538656"/>
              <a:ext cx="2672714" cy="47721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Analysis</a:t>
              </a:r>
              <a:endParaRPr>
                <a:solidFill>
                  <a:schemeClr val="dk1"/>
                </a:solidFill>
              </a:endParaRPr>
            </a:p>
          </p:txBody>
        </p:sp>
        <p:sp>
          <p:nvSpPr>
            <p:cNvPr id="123" name="Google Shape;123;p2"/>
            <p:cNvSpPr/>
            <p:nvPr/>
          </p:nvSpPr>
          <p:spPr>
            <a:xfrm rot="5400000">
              <a:off x="1428955" y="2043386"/>
              <a:ext cx="190089" cy="228106"/>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 name="Google Shape;124;p2"/>
            <p:cNvSpPr txBox="1"/>
            <p:nvPr/>
          </p:nvSpPr>
          <p:spPr>
            <a:xfrm>
              <a:off x="1455568" y="2062395"/>
              <a:ext cx="136864" cy="13306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25" name="Google Shape;125;p2"/>
            <p:cNvSpPr/>
            <p:nvPr/>
          </p:nvSpPr>
          <p:spPr>
            <a:xfrm>
              <a:off x="172795" y="2284166"/>
              <a:ext cx="2702408" cy="506904"/>
            </a:xfrm>
            <a:prstGeom prst="roundRect">
              <a:avLst>
                <a:gd name="adj" fmla="val 10000"/>
              </a:avLst>
            </a:prstGeom>
            <a:solidFill>
              <a:srgbClr val="F2DADA"/>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 name="Google Shape;126;p2"/>
            <p:cNvSpPr txBox="1"/>
            <p:nvPr/>
          </p:nvSpPr>
          <p:spPr>
            <a:xfrm>
              <a:off x="187642" y="2299013"/>
              <a:ext cx="2672714" cy="47721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Design</a:t>
              </a:r>
              <a:endParaRPr>
                <a:solidFill>
                  <a:schemeClr val="dk1"/>
                </a:solidFill>
              </a:endParaRPr>
            </a:p>
          </p:txBody>
        </p:sp>
        <p:sp>
          <p:nvSpPr>
            <p:cNvPr id="127" name="Google Shape;127;p2"/>
            <p:cNvSpPr/>
            <p:nvPr/>
          </p:nvSpPr>
          <p:spPr>
            <a:xfrm rot="5400000">
              <a:off x="1428955" y="2803743"/>
              <a:ext cx="190089" cy="228106"/>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 name="Google Shape;128;p2"/>
            <p:cNvSpPr txBox="1"/>
            <p:nvPr/>
          </p:nvSpPr>
          <p:spPr>
            <a:xfrm>
              <a:off x="1455568" y="2822752"/>
              <a:ext cx="136864" cy="13306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29" name="Google Shape;129;p2"/>
            <p:cNvSpPr/>
            <p:nvPr/>
          </p:nvSpPr>
          <p:spPr>
            <a:xfrm>
              <a:off x="172795" y="3044522"/>
              <a:ext cx="2702408" cy="506904"/>
            </a:xfrm>
            <a:prstGeom prst="roundRect">
              <a:avLst>
                <a:gd name="adj" fmla="val 10000"/>
              </a:avLst>
            </a:prstGeom>
            <a:solidFill>
              <a:schemeClr val="lt1"/>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 name="Google Shape;130;p2"/>
            <p:cNvSpPr txBox="1"/>
            <p:nvPr/>
          </p:nvSpPr>
          <p:spPr>
            <a:xfrm>
              <a:off x="187642" y="3059369"/>
              <a:ext cx="2672714" cy="47721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Implementation</a:t>
              </a:r>
              <a:endParaRPr>
                <a:solidFill>
                  <a:schemeClr val="dk1"/>
                </a:solidFill>
              </a:endParaRPr>
            </a:p>
          </p:txBody>
        </p:sp>
        <p:sp>
          <p:nvSpPr>
            <p:cNvPr id="131" name="Google Shape;131;p2"/>
            <p:cNvSpPr/>
            <p:nvPr/>
          </p:nvSpPr>
          <p:spPr>
            <a:xfrm rot="5400000">
              <a:off x="1428955" y="3564099"/>
              <a:ext cx="190089" cy="228106"/>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 name="Google Shape;132;p2"/>
            <p:cNvSpPr txBox="1"/>
            <p:nvPr/>
          </p:nvSpPr>
          <p:spPr>
            <a:xfrm>
              <a:off x="1455568" y="3583108"/>
              <a:ext cx="136864" cy="13306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900"/>
                <a:buFont typeface="Calibri"/>
                <a:buNone/>
              </a:pPr>
              <a:endParaRPr sz="900" b="0" i="0" u="none" strike="noStrike" cap="none">
                <a:solidFill>
                  <a:schemeClr val="dk1"/>
                </a:solidFill>
                <a:latin typeface="Calibri"/>
                <a:ea typeface="Calibri"/>
                <a:cs typeface="Calibri"/>
                <a:sym typeface="Calibri"/>
              </a:endParaRPr>
            </a:p>
          </p:txBody>
        </p:sp>
        <p:sp>
          <p:nvSpPr>
            <p:cNvPr id="133" name="Google Shape;133;p2"/>
            <p:cNvSpPr/>
            <p:nvPr/>
          </p:nvSpPr>
          <p:spPr>
            <a:xfrm>
              <a:off x="172795" y="3804879"/>
              <a:ext cx="2702408" cy="506904"/>
            </a:xfrm>
            <a:prstGeom prst="roundRect">
              <a:avLst>
                <a:gd name="adj" fmla="val 10000"/>
              </a:avLst>
            </a:prstGeom>
            <a:solidFill>
              <a:srgbClr val="FFFF00"/>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 name="Google Shape;134;p2"/>
            <p:cNvSpPr txBox="1"/>
            <p:nvPr/>
          </p:nvSpPr>
          <p:spPr>
            <a:xfrm>
              <a:off x="187642" y="3819726"/>
              <a:ext cx="2672714" cy="47721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Testing &amp; Deployment</a:t>
              </a:r>
              <a:endParaRPr>
                <a:solidFill>
                  <a:schemeClr val="dk1"/>
                </a:solidFill>
              </a:endParaRPr>
            </a:p>
          </p:txBody>
        </p:sp>
        <p:sp>
          <p:nvSpPr>
            <p:cNvPr id="135" name="Google Shape;135;p2"/>
            <p:cNvSpPr/>
            <p:nvPr/>
          </p:nvSpPr>
          <p:spPr>
            <a:xfrm rot="5400000">
              <a:off x="1428955" y="4324456"/>
              <a:ext cx="190089" cy="228106"/>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6" name="Google Shape;136;p2"/>
            <p:cNvSpPr txBox="1"/>
            <p:nvPr/>
          </p:nvSpPr>
          <p:spPr>
            <a:xfrm>
              <a:off x="1455568" y="4343465"/>
              <a:ext cx="136864" cy="13306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900"/>
                <a:buFont typeface="Calibri"/>
                <a:buNone/>
              </a:pPr>
              <a:endParaRPr sz="900" b="0" i="0" u="none" strike="noStrike" cap="none">
                <a:solidFill>
                  <a:schemeClr val="dk1"/>
                </a:solidFill>
                <a:latin typeface="Calibri"/>
                <a:ea typeface="Calibri"/>
                <a:cs typeface="Calibri"/>
                <a:sym typeface="Calibri"/>
              </a:endParaRPr>
            </a:p>
          </p:txBody>
        </p:sp>
        <p:sp>
          <p:nvSpPr>
            <p:cNvPr id="137" name="Google Shape;137;p2"/>
            <p:cNvSpPr/>
            <p:nvPr/>
          </p:nvSpPr>
          <p:spPr>
            <a:xfrm>
              <a:off x="172795" y="4565235"/>
              <a:ext cx="2702408" cy="506904"/>
            </a:xfrm>
            <a:prstGeom prst="roundRect">
              <a:avLst>
                <a:gd name="adj" fmla="val 10000"/>
              </a:avLst>
            </a:prstGeom>
            <a:solidFill>
              <a:schemeClr val="lt1"/>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8" name="Google Shape;138;p2"/>
            <p:cNvSpPr txBox="1"/>
            <p:nvPr/>
          </p:nvSpPr>
          <p:spPr>
            <a:xfrm>
              <a:off x="187642" y="4580082"/>
              <a:ext cx="2672714" cy="47721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Maintenance &amp; Evolution</a:t>
              </a:r>
              <a:endParaRPr>
                <a:solidFill>
                  <a:schemeClr val="dk1"/>
                </a:solidFill>
              </a:endParaRPr>
            </a:p>
          </p:txBody>
        </p:sp>
      </p:grpSp>
      <p:grpSp>
        <p:nvGrpSpPr>
          <p:cNvPr id="139" name="Google Shape;139;p2"/>
          <p:cNvGrpSpPr/>
          <p:nvPr/>
        </p:nvGrpSpPr>
        <p:grpSpPr>
          <a:xfrm>
            <a:off x="5590702" y="1330551"/>
            <a:ext cx="2441736" cy="5070790"/>
            <a:chOff x="332902" y="0"/>
            <a:chExt cx="2441736" cy="5070790"/>
          </a:xfrm>
        </p:grpSpPr>
        <p:sp>
          <p:nvSpPr>
            <p:cNvPr id="140" name="Google Shape;140;p2"/>
            <p:cNvSpPr/>
            <p:nvPr/>
          </p:nvSpPr>
          <p:spPr>
            <a:xfrm>
              <a:off x="332902" y="0"/>
              <a:ext cx="2441736" cy="458008"/>
            </a:xfrm>
            <a:prstGeom prst="roundRect">
              <a:avLst>
                <a:gd name="adj" fmla="val 10000"/>
              </a:avLst>
            </a:prstGeom>
            <a:solidFill>
              <a:srgbClr val="F2DADA"/>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 name="Google Shape;141;p2"/>
            <p:cNvSpPr txBox="1"/>
            <p:nvPr/>
          </p:nvSpPr>
          <p:spPr>
            <a:xfrm>
              <a:off x="346317" y="13415"/>
              <a:ext cx="2414906" cy="431178"/>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Domain Model (Class Diagram)</a:t>
              </a:r>
              <a:endParaRPr>
                <a:solidFill>
                  <a:schemeClr val="dk1"/>
                </a:solidFill>
              </a:endParaRPr>
            </a:p>
          </p:txBody>
        </p:sp>
        <p:sp>
          <p:nvSpPr>
            <p:cNvPr id="142" name="Google Shape;142;p2"/>
            <p:cNvSpPr/>
            <p:nvPr/>
          </p:nvSpPr>
          <p:spPr>
            <a:xfrm rot="5524269">
              <a:off x="1453666" y="471681"/>
              <a:ext cx="175201" cy="206103"/>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 name="Google Shape;143;p2"/>
            <p:cNvSpPr txBox="1"/>
            <p:nvPr/>
          </p:nvSpPr>
          <p:spPr>
            <a:xfrm rot="124269">
              <a:off x="1480386" y="487149"/>
              <a:ext cx="123661" cy="122641"/>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44" name="Google Shape;144;p2"/>
            <p:cNvSpPr/>
            <p:nvPr/>
          </p:nvSpPr>
          <p:spPr>
            <a:xfrm>
              <a:off x="332911" y="691458"/>
              <a:ext cx="2382176" cy="721505"/>
            </a:xfrm>
            <a:prstGeom prst="roundRect">
              <a:avLst>
                <a:gd name="adj" fmla="val 10000"/>
              </a:avLst>
            </a:prstGeom>
            <a:solidFill>
              <a:srgbClr val="F2DADA"/>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5" name="Google Shape;145;p2"/>
            <p:cNvSpPr txBox="1"/>
            <p:nvPr/>
          </p:nvSpPr>
          <p:spPr>
            <a:xfrm>
              <a:off x="354043" y="712590"/>
              <a:ext cx="2339912" cy="679241"/>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 Functional &amp; Non-Functional Requirements </a:t>
              </a:r>
              <a:br>
                <a:rPr lang="en-US" sz="1200" b="0" i="0" u="none" strike="noStrike" cap="none">
                  <a:solidFill>
                    <a:schemeClr val="dk1"/>
                  </a:solidFill>
                  <a:latin typeface="Times New Roman"/>
                  <a:ea typeface="Times New Roman"/>
                  <a:cs typeface="Times New Roman"/>
                  <a:sym typeface="Times New Roman"/>
                </a:rPr>
              </a:br>
              <a:r>
                <a:rPr lang="en-US" sz="1200" b="0" i="0" u="none" strike="noStrike" cap="none">
                  <a:solidFill>
                    <a:schemeClr val="dk1"/>
                  </a:solidFill>
                  <a:latin typeface="Times New Roman"/>
                  <a:ea typeface="Times New Roman"/>
                  <a:cs typeface="Times New Roman"/>
                  <a:sym typeface="Times New Roman"/>
                </a:rPr>
                <a:t>2) Use Case Diagram</a:t>
              </a:r>
              <a:endParaRPr>
                <a:solidFill>
                  <a:schemeClr val="dk1"/>
                </a:solidFill>
              </a:endParaRPr>
            </a:p>
          </p:txBody>
        </p:sp>
        <p:sp>
          <p:nvSpPr>
            <p:cNvPr id="146" name="Google Shape;146;p2"/>
            <p:cNvSpPr/>
            <p:nvPr/>
          </p:nvSpPr>
          <p:spPr>
            <a:xfrm rot="5400000">
              <a:off x="1438123" y="1424414"/>
              <a:ext cx="171753" cy="206103"/>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7" name="Google Shape;147;p2"/>
            <p:cNvSpPr txBox="1"/>
            <p:nvPr/>
          </p:nvSpPr>
          <p:spPr>
            <a:xfrm>
              <a:off x="1462169" y="1441589"/>
              <a:ext cx="123661" cy="12022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48" name="Google Shape;148;p2"/>
            <p:cNvSpPr/>
            <p:nvPr/>
          </p:nvSpPr>
          <p:spPr>
            <a:xfrm>
              <a:off x="332911" y="1641968"/>
              <a:ext cx="2382176" cy="680770"/>
            </a:xfrm>
            <a:prstGeom prst="roundRect">
              <a:avLst>
                <a:gd name="adj" fmla="val 10000"/>
              </a:avLst>
            </a:prstGeom>
            <a:solidFill>
              <a:srgbClr val="F2DADA"/>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 name="Google Shape;149;p2"/>
            <p:cNvSpPr txBox="1"/>
            <p:nvPr/>
          </p:nvSpPr>
          <p:spPr>
            <a:xfrm>
              <a:off x="352850" y="1661907"/>
              <a:ext cx="2342298" cy="640892"/>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 Sequence Diagram </a:t>
              </a:r>
              <a:br>
                <a:rPr lang="en-US" sz="1200" b="0" i="0" u="none" strike="noStrike" cap="none">
                  <a:solidFill>
                    <a:schemeClr val="dk1"/>
                  </a:solidFill>
                  <a:latin typeface="Times New Roman"/>
                  <a:ea typeface="Times New Roman"/>
                  <a:cs typeface="Times New Roman"/>
                  <a:sym typeface="Times New Roman"/>
                </a:rPr>
              </a:br>
              <a:r>
                <a:rPr lang="en-US" sz="1200" b="0" i="0" u="none" strike="noStrike" cap="none">
                  <a:solidFill>
                    <a:schemeClr val="dk1"/>
                  </a:solidFill>
                  <a:latin typeface="Times New Roman"/>
                  <a:ea typeface="Times New Roman"/>
                  <a:cs typeface="Times New Roman"/>
                  <a:sym typeface="Times New Roman"/>
                </a:rPr>
                <a:t>2) Activity Diagram</a:t>
              </a:r>
              <a:endParaRPr>
                <a:solidFill>
                  <a:schemeClr val="dk1"/>
                </a:solidFill>
              </a:endParaRPr>
            </a:p>
            <a:p>
              <a:pPr marL="0" marR="0" lvl="0" indent="0" algn="l" rtl="0">
                <a:lnSpc>
                  <a:spcPct val="90000"/>
                </a:lnSpc>
                <a:spcBef>
                  <a:spcPts val="0"/>
                </a:spcBef>
                <a:spcAft>
                  <a:spcPts val="0"/>
                </a:spcAft>
                <a:buClr>
                  <a:schemeClr val="lt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3) State Chart Diagram</a:t>
              </a:r>
              <a:endParaRPr>
                <a:solidFill>
                  <a:schemeClr val="dk1"/>
                </a:solidFill>
              </a:endParaRPr>
            </a:p>
          </p:txBody>
        </p:sp>
        <p:sp>
          <p:nvSpPr>
            <p:cNvPr id="150" name="Google Shape;150;p2"/>
            <p:cNvSpPr/>
            <p:nvPr/>
          </p:nvSpPr>
          <p:spPr>
            <a:xfrm rot="5400000">
              <a:off x="1438123" y="2334189"/>
              <a:ext cx="171753" cy="206103"/>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1" name="Google Shape;151;p2"/>
            <p:cNvSpPr txBox="1"/>
            <p:nvPr/>
          </p:nvSpPr>
          <p:spPr>
            <a:xfrm>
              <a:off x="1462169" y="2351364"/>
              <a:ext cx="123661" cy="12022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52" name="Google Shape;152;p2"/>
            <p:cNvSpPr/>
            <p:nvPr/>
          </p:nvSpPr>
          <p:spPr>
            <a:xfrm>
              <a:off x="332911" y="2551743"/>
              <a:ext cx="2382176" cy="458008"/>
            </a:xfrm>
            <a:prstGeom prst="roundRect">
              <a:avLst>
                <a:gd name="adj" fmla="val 10000"/>
              </a:avLst>
            </a:prstGeom>
            <a:solidFill>
              <a:schemeClr val="lt1"/>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3" name="Google Shape;153;p2"/>
            <p:cNvSpPr txBox="1"/>
            <p:nvPr/>
          </p:nvSpPr>
          <p:spPr>
            <a:xfrm>
              <a:off x="346326" y="2565158"/>
              <a:ext cx="2355346" cy="431178"/>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 Class Diagram (refined) </a:t>
              </a:r>
              <a:br>
                <a:rPr lang="en-US" sz="1200" b="0" i="0" u="none" strike="noStrike" cap="none">
                  <a:solidFill>
                    <a:schemeClr val="dk1"/>
                  </a:solidFill>
                  <a:latin typeface="Times New Roman"/>
                  <a:ea typeface="Times New Roman"/>
                  <a:cs typeface="Times New Roman"/>
                  <a:sym typeface="Times New Roman"/>
                </a:rPr>
              </a:br>
              <a:r>
                <a:rPr lang="en-US" sz="1200" b="0" i="0" u="none" strike="noStrike" cap="none">
                  <a:solidFill>
                    <a:schemeClr val="dk1"/>
                  </a:solidFill>
                  <a:latin typeface="Times New Roman"/>
                  <a:ea typeface="Times New Roman"/>
                  <a:cs typeface="Times New Roman"/>
                  <a:sym typeface="Times New Roman"/>
                </a:rPr>
                <a:t>2) Sequence Diagram (refined)</a:t>
              </a:r>
              <a:endParaRPr sz="1200" b="0" i="0" u="none" strike="noStrike" cap="none">
                <a:solidFill>
                  <a:schemeClr val="dk1"/>
                </a:solidFill>
                <a:latin typeface="Times New Roman"/>
                <a:ea typeface="Times New Roman"/>
                <a:cs typeface="Times New Roman"/>
                <a:sym typeface="Times New Roman"/>
              </a:endParaRPr>
            </a:p>
          </p:txBody>
        </p:sp>
        <p:sp>
          <p:nvSpPr>
            <p:cNvPr id="154" name="Google Shape;154;p2"/>
            <p:cNvSpPr/>
            <p:nvPr/>
          </p:nvSpPr>
          <p:spPr>
            <a:xfrm rot="5400000">
              <a:off x="1438123" y="3021202"/>
              <a:ext cx="171753" cy="206103"/>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 name="Google Shape;155;p2"/>
            <p:cNvSpPr txBox="1"/>
            <p:nvPr/>
          </p:nvSpPr>
          <p:spPr>
            <a:xfrm>
              <a:off x="1462169" y="3038377"/>
              <a:ext cx="123661" cy="12022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56" name="Google Shape;156;p2"/>
            <p:cNvSpPr/>
            <p:nvPr/>
          </p:nvSpPr>
          <p:spPr>
            <a:xfrm>
              <a:off x="332911" y="3238756"/>
              <a:ext cx="2382176" cy="458008"/>
            </a:xfrm>
            <a:prstGeom prst="roundRect">
              <a:avLst>
                <a:gd name="adj" fmla="val 10000"/>
              </a:avLst>
            </a:prstGeom>
            <a:solidFill>
              <a:schemeClr val="lt1"/>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 name="Google Shape;157;p2"/>
            <p:cNvSpPr txBox="1"/>
            <p:nvPr/>
          </p:nvSpPr>
          <p:spPr>
            <a:xfrm>
              <a:off x="346326" y="3252171"/>
              <a:ext cx="2355346" cy="431178"/>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 Application Source Code</a:t>
              </a:r>
              <a:br>
                <a:rPr lang="en-US" sz="1200" b="0" i="0" u="none" strike="noStrike" cap="none">
                  <a:solidFill>
                    <a:schemeClr val="dk1"/>
                  </a:solidFill>
                  <a:latin typeface="Times New Roman"/>
                  <a:ea typeface="Times New Roman"/>
                  <a:cs typeface="Times New Roman"/>
                  <a:sym typeface="Times New Roman"/>
                </a:rPr>
              </a:br>
              <a:r>
                <a:rPr lang="en-US" sz="1200" b="0" i="0" u="none" strike="noStrike" cap="none">
                  <a:solidFill>
                    <a:schemeClr val="dk1"/>
                  </a:solidFill>
                  <a:latin typeface="Times New Roman"/>
                  <a:ea typeface="Times New Roman"/>
                  <a:cs typeface="Times New Roman"/>
                  <a:sym typeface="Times New Roman"/>
                </a:rPr>
                <a:t>2) User Manual Documentation</a:t>
              </a:r>
              <a:endParaRPr>
                <a:solidFill>
                  <a:schemeClr val="dk1"/>
                </a:solidFill>
              </a:endParaRPr>
            </a:p>
          </p:txBody>
        </p:sp>
        <p:sp>
          <p:nvSpPr>
            <p:cNvPr id="158" name="Google Shape;158;p2"/>
            <p:cNvSpPr/>
            <p:nvPr/>
          </p:nvSpPr>
          <p:spPr>
            <a:xfrm rot="5400000">
              <a:off x="1438123" y="3708215"/>
              <a:ext cx="171753" cy="206103"/>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9" name="Google Shape;159;p2"/>
            <p:cNvSpPr txBox="1"/>
            <p:nvPr/>
          </p:nvSpPr>
          <p:spPr>
            <a:xfrm>
              <a:off x="1462169" y="3725390"/>
              <a:ext cx="123661" cy="12022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60" name="Google Shape;160;p2"/>
            <p:cNvSpPr/>
            <p:nvPr/>
          </p:nvSpPr>
          <p:spPr>
            <a:xfrm>
              <a:off x="332911" y="3925769"/>
              <a:ext cx="2382176" cy="458008"/>
            </a:xfrm>
            <a:prstGeom prst="roundRect">
              <a:avLst>
                <a:gd name="adj" fmla="val 10000"/>
              </a:avLst>
            </a:prstGeom>
            <a:solidFill>
              <a:srgbClr val="FFFF00"/>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1" name="Google Shape;161;p2"/>
            <p:cNvSpPr txBox="1"/>
            <p:nvPr/>
          </p:nvSpPr>
          <p:spPr>
            <a:xfrm>
              <a:off x="346326" y="3939184"/>
              <a:ext cx="2355346" cy="431178"/>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 Test Cases </a:t>
              </a:r>
              <a:br>
                <a:rPr lang="en-US" sz="1200" b="0" i="0" u="none" strike="noStrike" cap="none">
                  <a:solidFill>
                    <a:schemeClr val="dk1"/>
                  </a:solidFill>
                  <a:latin typeface="Times New Roman"/>
                  <a:ea typeface="Times New Roman"/>
                  <a:cs typeface="Times New Roman"/>
                  <a:sym typeface="Times New Roman"/>
                </a:rPr>
              </a:br>
              <a:r>
                <a:rPr lang="en-US" sz="1200" b="0" i="0" u="none" strike="noStrike" cap="none">
                  <a:solidFill>
                    <a:schemeClr val="dk1"/>
                  </a:solidFill>
                  <a:latin typeface="Times New Roman"/>
                  <a:ea typeface="Times New Roman"/>
                  <a:cs typeface="Times New Roman"/>
                  <a:sym typeface="Times New Roman"/>
                </a:rPr>
                <a:t>2) Prototype / Release / Versions</a:t>
              </a:r>
              <a:endParaRPr>
                <a:solidFill>
                  <a:schemeClr val="dk1"/>
                </a:solidFill>
              </a:endParaRPr>
            </a:p>
          </p:txBody>
        </p:sp>
        <p:sp>
          <p:nvSpPr>
            <p:cNvPr id="162" name="Google Shape;162;p2"/>
            <p:cNvSpPr/>
            <p:nvPr/>
          </p:nvSpPr>
          <p:spPr>
            <a:xfrm rot="5400000">
              <a:off x="1438123" y="4395228"/>
              <a:ext cx="171753" cy="206103"/>
            </a:xfrm>
            <a:prstGeom prst="rightArrow">
              <a:avLst>
                <a:gd name="adj1" fmla="val 60000"/>
                <a:gd name="adj2" fmla="val 50000"/>
              </a:avLst>
            </a:prstGeom>
            <a:solidFill>
              <a:srgbClr val="DBB0AF"/>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 name="Google Shape;163;p2"/>
            <p:cNvSpPr txBox="1"/>
            <p:nvPr/>
          </p:nvSpPr>
          <p:spPr>
            <a:xfrm>
              <a:off x="1462169" y="4412403"/>
              <a:ext cx="123661" cy="12022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64" name="Google Shape;164;p2"/>
            <p:cNvSpPr/>
            <p:nvPr/>
          </p:nvSpPr>
          <p:spPr>
            <a:xfrm>
              <a:off x="332911" y="4612782"/>
              <a:ext cx="2382176" cy="458008"/>
            </a:xfrm>
            <a:prstGeom prst="roundRect">
              <a:avLst>
                <a:gd name="adj" fmla="val 10000"/>
              </a:avLst>
            </a:prstGeom>
            <a:solidFill>
              <a:schemeClr val="lt1"/>
            </a:solidFill>
            <a:ln w="38100" cap="flat" cmpd="sng">
              <a:solidFill>
                <a:srgbClr val="AD464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5" name="Google Shape;165;p2"/>
            <p:cNvSpPr txBox="1"/>
            <p:nvPr/>
          </p:nvSpPr>
          <p:spPr>
            <a:xfrm>
              <a:off x="346326" y="4626197"/>
              <a:ext cx="2355346" cy="431178"/>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 Change Request Form</a:t>
              </a:r>
              <a:endParaRPr>
                <a:solidFill>
                  <a:schemeClr val="dk1"/>
                </a:solidFill>
              </a:endParaRPr>
            </a:p>
          </p:txBody>
        </p:sp>
      </p:grpSp>
      <p:sp>
        <p:nvSpPr>
          <p:cNvPr id="166" name="Google Shape;166;p2"/>
          <p:cNvSpPr/>
          <p:nvPr/>
        </p:nvSpPr>
        <p:spPr>
          <a:xfrm>
            <a:off x="3693210" y="1447801"/>
            <a:ext cx="1371600" cy="457200"/>
          </a:xfrm>
          <a:custGeom>
            <a:avLst/>
            <a:gdLst/>
            <a:ahLst/>
            <a:cxnLst/>
            <a:rect l="l" t="t" r="r" b="b"/>
            <a:pathLst>
              <a:path w="1371600" h="457200" extrusionOk="0">
                <a:moveTo>
                  <a:pt x="0" y="84950"/>
                </a:moveTo>
                <a:lnTo>
                  <a:pt x="14288" y="84950"/>
                </a:lnTo>
                <a:lnTo>
                  <a:pt x="14288" y="372250"/>
                </a:lnTo>
                <a:lnTo>
                  <a:pt x="0" y="372250"/>
                </a:lnTo>
                <a:lnTo>
                  <a:pt x="0" y="84950"/>
                </a:lnTo>
                <a:close/>
                <a:moveTo>
                  <a:pt x="28575" y="84950"/>
                </a:moveTo>
                <a:lnTo>
                  <a:pt x="57150" y="84950"/>
                </a:lnTo>
                <a:lnTo>
                  <a:pt x="57150" y="372250"/>
                </a:lnTo>
                <a:lnTo>
                  <a:pt x="28575" y="372250"/>
                </a:lnTo>
                <a:lnTo>
                  <a:pt x="28575" y="84950"/>
                </a:lnTo>
                <a:close/>
                <a:moveTo>
                  <a:pt x="71438" y="84950"/>
                </a:moveTo>
                <a:lnTo>
                  <a:pt x="1156547" y="84950"/>
                </a:lnTo>
                <a:lnTo>
                  <a:pt x="1156547" y="0"/>
                </a:lnTo>
                <a:lnTo>
                  <a:pt x="1371600" y="228600"/>
                </a:lnTo>
                <a:lnTo>
                  <a:pt x="1156547" y="457200"/>
                </a:lnTo>
                <a:lnTo>
                  <a:pt x="1156547" y="372250"/>
                </a:lnTo>
                <a:lnTo>
                  <a:pt x="71438" y="372250"/>
                </a:lnTo>
                <a:lnTo>
                  <a:pt x="71438" y="84950"/>
                </a:lnTo>
                <a:close/>
              </a:path>
            </a:pathLst>
          </a:custGeom>
          <a:gradFill>
            <a:gsLst>
              <a:gs pos="0">
                <a:srgbClr val="FFE5E5"/>
              </a:gs>
              <a:gs pos="64999">
                <a:srgbClr val="FFBEBD"/>
              </a:gs>
              <a:gs pos="100000">
                <a:srgbClr val="FFA2A1"/>
              </a:gs>
            </a:gsLst>
            <a:lin ang="5400000" scaled="0"/>
          </a:gradFill>
          <a:ln w="9525" cap="flat" cmpd="sng">
            <a:solidFill>
              <a:srgbClr val="BE4B48"/>
            </a:solidFill>
            <a:prstDash val="solid"/>
            <a:round/>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2"/>
          <p:cNvSpPr/>
          <p:nvPr/>
        </p:nvSpPr>
        <p:spPr>
          <a:xfrm>
            <a:off x="3657600" y="2179755"/>
            <a:ext cx="1371600" cy="457200"/>
          </a:xfrm>
          <a:custGeom>
            <a:avLst/>
            <a:gdLst/>
            <a:ahLst/>
            <a:cxnLst/>
            <a:rect l="l" t="t" r="r" b="b"/>
            <a:pathLst>
              <a:path w="1371600" h="457200" extrusionOk="0">
                <a:moveTo>
                  <a:pt x="0" y="84950"/>
                </a:moveTo>
                <a:lnTo>
                  <a:pt x="14288" y="84950"/>
                </a:lnTo>
                <a:lnTo>
                  <a:pt x="14288" y="372250"/>
                </a:lnTo>
                <a:lnTo>
                  <a:pt x="0" y="372250"/>
                </a:lnTo>
                <a:lnTo>
                  <a:pt x="0" y="84950"/>
                </a:lnTo>
                <a:close/>
                <a:moveTo>
                  <a:pt x="28575" y="84950"/>
                </a:moveTo>
                <a:lnTo>
                  <a:pt x="57150" y="84950"/>
                </a:lnTo>
                <a:lnTo>
                  <a:pt x="57150" y="372250"/>
                </a:lnTo>
                <a:lnTo>
                  <a:pt x="28575" y="372250"/>
                </a:lnTo>
                <a:lnTo>
                  <a:pt x="28575" y="84950"/>
                </a:lnTo>
                <a:close/>
                <a:moveTo>
                  <a:pt x="71438" y="84950"/>
                </a:moveTo>
                <a:lnTo>
                  <a:pt x="1156547" y="84950"/>
                </a:lnTo>
                <a:lnTo>
                  <a:pt x="1156547" y="0"/>
                </a:lnTo>
                <a:lnTo>
                  <a:pt x="1371600" y="228600"/>
                </a:lnTo>
                <a:lnTo>
                  <a:pt x="1156547" y="457200"/>
                </a:lnTo>
                <a:lnTo>
                  <a:pt x="1156547" y="372250"/>
                </a:lnTo>
                <a:lnTo>
                  <a:pt x="71438" y="372250"/>
                </a:lnTo>
                <a:lnTo>
                  <a:pt x="71438" y="84950"/>
                </a:lnTo>
                <a:close/>
              </a:path>
            </a:pathLst>
          </a:custGeom>
          <a:gradFill>
            <a:gsLst>
              <a:gs pos="0">
                <a:srgbClr val="FFE5E5"/>
              </a:gs>
              <a:gs pos="64999">
                <a:srgbClr val="FFBEBD"/>
              </a:gs>
              <a:gs pos="100000">
                <a:srgbClr val="FFA2A1"/>
              </a:gs>
            </a:gsLst>
            <a:lin ang="5400000" scaled="0"/>
          </a:gradFill>
          <a:ln w="9525" cap="flat" cmpd="sng">
            <a:solidFill>
              <a:srgbClr val="BE4B48"/>
            </a:solidFill>
            <a:prstDash val="solid"/>
            <a:round/>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2"/>
          <p:cNvSpPr/>
          <p:nvPr/>
        </p:nvSpPr>
        <p:spPr>
          <a:xfrm>
            <a:off x="3718610" y="2929322"/>
            <a:ext cx="1371600" cy="457200"/>
          </a:xfrm>
          <a:custGeom>
            <a:avLst/>
            <a:gdLst/>
            <a:ahLst/>
            <a:cxnLst/>
            <a:rect l="l" t="t" r="r" b="b"/>
            <a:pathLst>
              <a:path w="1371600" h="457200" extrusionOk="0">
                <a:moveTo>
                  <a:pt x="0" y="84950"/>
                </a:moveTo>
                <a:lnTo>
                  <a:pt x="14288" y="84950"/>
                </a:lnTo>
                <a:lnTo>
                  <a:pt x="14288" y="372250"/>
                </a:lnTo>
                <a:lnTo>
                  <a:pt x="0" y="372250"/>
                </a:lnTo>
                <a:lnTo>
                  <a:pt x="0" y="84950"/>
                </a:lnTo>
                <a:close/>
                <a:moveTo>
                  <a:pt x="28575" y="84950"/>
                </a:moveTo>
                <a:lnTo>
                  <a:pt x="57150" y="84950"/>
                </a:lnTo>
                <a:lnTo>
                  <a:pt x="57150" y="372250"/>
                </a:lnTo>
                <a:lnTo>
                  <a:pt x="28575" y="372250"/>
                </a:lnTo>
                <a:lnTo>
                  <a:pt x="28575" y="84950"/>
                </a:lnTo>
                <a:close/>
                <a:moveTo>
                  <a:pt x="71438" y="84950"/>
                </a:moveTo>
                <a:lnTo>
                  <a:pt x="1156547" y="84950"/>
                </a:lnTo>
                <a:lnTo>
                  <a:pt x="1156547" y="0"/>
                </a:lnTo>
                <a:lnTo>
                  <a:pt x="1371600" y="228600"/>
                </a:lnTo>
                <a:lnTo>
                  <a:pt x="1156547" y="457200"/>
                </a:lnTo>
                <a:lnTo>
                  <a:pt x="1156547" y="372250"/>
                </a:lnTo>
                <a:lnTo>
                  <a:pt x="71438" y="372250"/>
                </a:lnTo>
                <a:lnTo>
                  <a:pt x="71438" y="84950"/>
                </a:lnTo>
                <a:close/>
              </a:path>
            </a:pathLst>
          </a:custGeom>
          <a:gradFill>
            <a:gsLst>
              <a:gs pos="0">
                <a:srgbClr val="FFE5E5"/>
              </a:gs>
              <a:gs pos="64999">
                <a:srgbClr val="FFBEBD"/>
              </a:gs>
              <a:gs pos="100000">
                <a:srgbClr val="FFA2A1"/>
              </a:gs>
            </a:gsLst>
            <a:lin ang="5400000" scaled="0"/>
          </a:gradFill>
          <a:ln w="9525" cap="flat" cmpd="sng">
            <a:solidFill>
              <a:srgbClr val="BE4B48"/>
            </a:solidFill>
            <a:prstDash val="solid"/>
            <a:round/>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2"/>
          <p:cNvSpPr/>
          <p:nvPr/>
        </p:nvSpPr>
        <p:spPr>
          <a:xfrm>
            <a:off x="3733800" y="3607991"/>
            <a:ext cx="1371600" cy="457200"/>
          </a:xfrm>
          <a:custGeom>
            <a:avLst/>
            <a:gdLst/>
            <a:ahLst/>
            <a:cxnLst/>
            <a:rect l="l" t="t" r="r" b="b"/>
            <a:pathLst>
              <a:path w="1371600" h="457200" extrusionOk="0">
                <a:moveTo>
                  <a:pt x="0" y="84950"/>
                </a:moveTo>
                <a:lnTo>
                  <a:pt x="14288" y="84950"/>
                </a:lnTo>
                <a:lnTo>
                  <a:pt x="14288" y="372250"/>
                </a:lnTo>
                <a:lnTo>
                  <a:pt x="0" y="372250"/>
                </a:lnTo>
                <a:lnTo>
                  <a:pt x="0" y="84950"/>
                </a:lnTo>
                <a:close/>
                <a:moveTo>
                  <a:pt x="28575" y="84950"/>
                </a:moveTo>
                <a:lnTo>
                  <a:pt x="57150" y="84950"/>
                </a:lnTo>
                <a:lnTo>
                  <a:pt x="57150" y="372250"/>
                </a:lnTo>
                <a:lnTo>
                  <a:pt x="28575" y="372250"/>
                </a:lnTo>
                <a:lnTo>
                  <a:pt x="28575" y="84950"/>
                </a:lnTo>
                <a:close/>
                <a:moveTo>
                  <a:pt x="71438" y="84950"/>
                </a:moveTo>
                <a:lnTo>
                  <a:pt x="1156547" y="84950"/>
                </a:lnTo>
                <a:lnTo>
                  <a:pt x="1156547" y="0"/>
                </a:lnTo>
                <a:lnTo>
                  <a:pt x="1371600" y="228600"/>
                </a:lnTo>
                <a:lnTo>
                  <a:pt x="1156547" y="457200"/>
                </a:lnTo>
                <a:lnTo>
                  <a:pt x="1156547" y="372250"/>
                </a:lnTo>
                <a:lnTo>
                  <a:pt x="71438" y="372250"/>
                </a:lnTo>
                <a:lnTo>
                  <a:pt x="71438" y="84950"/>
                </a:lnTo>
                <a:close/>
              </a:path>
            </a:pathLst>
          </a:custGeom>
          <a:gradFill>
            <a:gsLst>
              <a:gs pos="0">
                <a:srgbClr val="FFE5E5"/>
              </a:gs>
              <a:gs pos="64999">
                <a:srgbClr val="FFBEBD"/>
              </a:gs>
              <a:gs pos="100000">
                <a:srgbClr val="FFA2A1"/>
              </a:gs>
            </a:gsLst>
            <a:lin ang="5400000" scaled="0"/>
          </a:gradFill>
          <a:ln w="9525" cap="flat" cmpd="sng">
            <a:solidFill>
              <a:srgbClr val="BE4B48"/>
            </a:solidFill>
            <a:prstDash val="solid"/>
            <a:round/>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2"/>
          <p:cNvSpPr/>
          <p:nvPr/>
        </p:nvSpPr>
        <p:spPr>
          <a:xfrm>
            <a:off x="3733800" y="4442633"/>
            <a:ext cx="1371600" cy="457200"/>
          </a:xfrm>
          <a:custGeom>
            <a:avLst/>
            <a:gdLst/>
            <a:ahLst/>
            <a:cxnLst/>
            <a:rect l="l" t="t" r="r" b="b"/>
            <a:pathLst>
              <a:path w="1371600" h="457200" extrusionOk="0">
                <a:moveTo>
                  <a:pt x="0" y="84950"/>
                </a:moveTo>
                <a:lnTo>
                  <a:pt x="14288" y="84950"/>
                </a:lnTo>
                <a:lnTo>
                  <a:pt x="14288" y="372250"/>
                </a:lnTo>
                <a:lnTo>
                  <a:pt x="0" y="372250"/>
                </a:lnTo>
                <a:lnTo>
                  <a:pt x="0" y="84950"/>
                </a:lnTo>
                <a:close/>
                <a:moveTo>
                  <a:pt x="28575" y="84950"/>
                </a:moveTo>
                <a:lnTo>
                  <a:pt x="57150" y="84950"/>
                </a:lnTo>
                <a:lnTo>
                  <a:pt x="57150" y="372250"/>
                </a:lnTo>
                <a:lnTo>
                  <a:pt x="28575" y="372250"/>
                </a:lnTo>
                <a:lnTo>
                  <a:pt x="28575" y="84950"/>
                </a:lnTo>
                <a:close/>
                <a:moveTo>
                  <a:pt x="71438" y="84950"/>
                </a:moveTo>
                <a:lnTo>
                  <a:pt x="1156547" y="84950"/>
                </a:lnTo>
                <a:lnTo>
                  <a:pt x="1156547" y="0"/>
                </a:lnTo>
                <a:lnTo>
                  <a:pt x="1371600" y="228600"/>
                </a:lnTo>
                <a:lnTo>
                  <a:pt x="1156547" y="457200"/>
                </a:lnTo>
                <a:lnTo>
                  <a:pt x="1156547" y="372250"/>
                </a:lnTo>
                <a:lnTo>
                  <a:pt x="71438" y="372250"/>
                </a:lnTo>
                <a:lnTo>
                  <a:pt x="71438" y="84950"/>
                </a:lnTo>
                <a:close/>
              </a:path>
            </a:pathLst>
          </a:custGeom>
          <a:gradFill>
            <a:gsLst>
              <a:gs pos="0">
                <a:srgbClr val="FFE5E5"/>
              </a:gs>
              <a:gs pos="64999">
                <a:srgbClr val="FFBEBD"/>
              </a:gs>
              <a:gs pos="100000">
                <a:srgbClr val="FFA2A1"/>
              </a:gs>
            </a:gsLst>
            <a:lin ang="5400000" scaled="0"/>
          </a:gradFill>
          <a:ln w="9525" cap="flat" cmpd="sng">
            <a:solidFill>
              <a:srgbClr val="BE4B48"/>
            </a:solidFill>
            <a:prstDash val="solid"/>
            <a:round/>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2"/>
          <p:cNvSpPr/>
          <p:nvPr/>
        </p:nvSpPr>
        <p:spPr>
          <a:xfrm>
            <a:off x="3733800" y="5227403"/>
            <a:ext cx="1371600" cy="457200"/>
          </a:xfrm>
          <a:custGeom>
            <a:avLst/>
            <a:gdLst/>
            <a:ahLst/>
            <a:cxnLst/>
            <a:rect l="l" t="t" r="r" b="b"/>
            <a:pathLst>
              <a:path w="1371600" h="457200" extrusionOk="0">
                <a:moveTo>
                  <a:pt x="0" y="84950"/>
                </a:moveTo>
                <a:lnTo>
                  <a:pt x="14288" y="84950"/>
                </a:lnTo>
                <a:lnTo>
                  <a:pt x="14288" y="372250"/>
                </a:lnTo>
                <a:lnTo>
                  <a:pt x="0" y="372250"/>
                </a:lnTo>
                <a:lnTo>
                  <a:pt x="0" y="84950"/>
                </a:lnTo>
                <a:close/>
                <a:moveTo>
                  <a:pt x="28575" y="84950"/>
                </a:moveTo>
                <a:lnTo>
                  <a:pt x="57150" y="84950"/>
                </a:lnTo>
                <a:lnTo>
                  <a:pt x="57150" y="372250"/>
                </a:lnTo>
                <a:lnTo>
                  <a:pt x="28575" y="372250"/>
                </a:lnTo>
                <a:lnTo>
                  <a:pt x="28575" y="84950"/>
                </a:lnTo>
                <a:close/>
                <a:moveTo>
                  <a:pt x="71438" y="84950"/>
                </a:moveTo>
                <a:lnTo>
                  <a:pt x="1156547" y="84950"/>
                </a:lnTo>
                <a:lnTo>
                  <a:pt x="1156547" y="0"/>
                </a:lnTo>
                <a:lnTo>
                  <a:pt x="1371600" y="228600"/>
                </a:lnTo>
                <a:lnTo>
                  <a:pt x="1156547" y="457200"/>
                </a:lnTo>
                <a:lnTo>
                  <a:pt x="1156547" y="372250"/>
                </a:lnTo>
                <a:lnTo>
                  <a:pt x="71438" y="372250"/>
                </a:lnTo>
                <a:lnTo>
                  <a:pt x="71438" y="84950"/>
                </a:lnTo>
                <a:close/>
              </a:path>
            </a:pathLst>
          </a:custGeom>
          <a:gradFill>
            <a:gsLst>
              <a:gs pos="0">
                <a:srgbClr val="FFE5E5"/>
              </a:gs>
              <a:gs pos="64999">
                <a:srgbClr val="FFBEBD"/>
              </a:gs>
              <a:gs pos="100000">
                <a:srgbClr val="FFA2A1"/>
              </a:gs>
            </a:gsLst>
            <a:lin ang="5400000" scaled="0"/>
          </a:gradFill>
          <a:ln w="9525" cap="flat" cmpd="sng">
            <a:solidFill>
              <a:srgbClr val="BE4B48"/>
            </a:solidFill>
            <a:prstDash val="solid"/>
            <a:round/>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2"/>
          <p:cNvSpPr/>
          <p:nvPr/>
        </p:nvSpPr>
        <p:spPr>
          <a:xfrm>
            <a:off x="3733800" y="5996547"/>
            <a:ext cx="1371600" cy="457200"/>
          </a:xfrm>
          <a:custGeom>
            <a:avLst/>
            <a:gdLst/>
            <a:ahLst/>
            <a:cxnLst/>
            <a:rect l="l" t="t" r="r" b="b"/>
            <a:pathLst>
              <a:path w="1371600" h="457200" extrusionOk="0">
                <a:moveTo>
                  <a:pt x="0" y="84950"/>
                </a:moveTo>
                <a:lnTo>
                  <a:pt x="14288" y="84950"/>
                </a:lnTo>
                <a:lnTo>
                  <a:pt x="14288" y="372250"/>
                </a:lnTo>
                <a:lnTo>
                  <a:pt x="0" y="372250"/>
                </a:lnTo>
                <a:lnTo>
                  <a:pt x="0" y="84950"/>
                </a:lnTo>
                <a:close/>
                <a:moveTo>
                  <a:pt x="28575" y="84950"/>
                </a:moveTo>
                <a:lnTo>
                  <a:pt x="57150" y="84950"/>
                </a:lnTo>
                <a:lnTo>
                  <a:pt x="57150" y="372250"/>
                </a:lnTo>
                <a:lnTo>
                  <a:pt x="28575" y="372250"/>
                </a:lnTo>
                <a:lnTo>
                  <a:pt x="28575" y="84950"/>
                </a:lnTo>
                <a:close/>
                <a:moveTo>
                  <a:pt x="71438" y="84950"/>
                </a:moveTo>
                <a:lnTo>
                  <a:pt x="1156547" y="84950"/>
                </a:lnTo>
                <a:lnTo>
                  <a:pt x="1156547" y="0"/>
                </a:lnTo>
                <a:lnTo>
                  <a:pt x="1371600" y="228600"/>
                </a:lnTo>
                <a:lnTo>
                  <a:pt x="1156547" y="457200"/>
                </a:lnTo>
                <a:lnTo>
                  <a:pt x="1156547" y="372250"/>
                </a:lnTo>
                <a:lnTo>
                  <a:pt x="71438" y="372250"/>
                </a:lnTo>
                <a:lnTo>
                  <a:pt x="71438" y="84950"/>
                </a:lnTo>
                <a:close/>
              </a:path>
            </a:pathLst>
          </a:custGeom>
          <a:gradFill>
            <a:gsLst>
              <a:gs pos="0">
                <a:srgbClr val="FFE5E5"/>
              </a:gs>
              <a:gs pos="64999">
                <a:srgbClr val="FFBEBD"/>
              </a:gs>
              <a:gs pos="100000">
                <a:srgbClr val="FFA2A1"/>
              </a:gs>
            </a:gsLst>
            <a:lin ang="5400000" scaled="0"/>
          </a:gradFill>
          <a:ln w="9525" cap="flat" cmpd="sng">
            <a:solidFill>
              <a:srgbClr val="BE4B48"/>
            </a:solidFill>
            <a:prstDash val="solid"/>
            <a:round/>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73" name="Google Shape;173;p2"/>
          <p:cNvCxnSpPr/>
          <p:nvPr/>
        </p:nvCxnSpPr>
        <p:spPr>
          <a:xfrm>
            <a:off x="0" y="4386942"/>
            <a:ext cx="9144000" cy="0"/>
          </a:xfrm>
          <a:prstGeom prst="straightConnector1">
            <a:avLst/>
          </a:prstGeom>
          <a:noFill/>
          <a:ln w="38100" cap="flat" cmpd="sng">
            <a:solidFill>
              <a:schemeClr val="dk1"/>
            </a:solidFill>
            <a:prstDash val="solid"/>
            <a:round/>
            <a:headEnd type="none" w="med" len="med"/>
            <a:tailEnd type="none" w="med" len="med"/>
          </a:ln>
          <a:effectLst>
            <a:outerShdw dist="23000" dir="5400000" rotWithShape="0">
              <a:srgbClr val="808080">
                <a:alpha val="34901"/>
              </a:srgbClr>
            </a:outerShdw>
          </a:effectLst>
        </p:spPr>
      </p:cxnSp>
      <p:sp>
        <p:nvSpPr>
          <p:cNvPr id="174" name="Google Shape;174;p2"/>
          <p:cNvSpPr/>
          <p:nvPr/>
        </p:nvSpPr>
        <p:spPr>
          <a:xfrm>
            <a:off x="8187266" y="2058938"/>
            <a:ext cx="270933" cy="1592500"/>
          </a:xfrm>
          <a:prstGeom prst="rightBrace">
            <a:avLst>
              <a:gd name="adj1" fmla="val 8333"/>
              <a:gd name="adj2" fmla="val 53367"/>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2"/>
          <p:cNvSpPr txBox="1"/>
          <p:nvPr/>
        </p:nvSpPr>
        <p:spPr>
          <a:xfrm>
            <a:off x="8415867" y="2748302"/>
            <a:ext cx="609600" cy="3079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chemeClr val="dk1"/>
                </a:solidFill>
                <a:latin typeface="Calibri"/>
                <a:ea typeface="Calibri"/>
                <a:cs typeface="Calibri"/>
                <a:sym typeface="Calibri"/>
              </a:rPr>
              <a:t>SRS</a:t>
            </a:r>
            <a:endParaRPr/>
          </a:p>
        </p:txBody>
      </p:sp>
      <p:sp>
        <p:nvSpPr>
          <p:cNvPr id="176" name="Google Shape;176;p2"/>
          <p:cNvSpPr/>
          <p:nvPr/>
        </p:nvSpPr>
        <p:spPr>
          <a:xfrm>
            <a:off x="8187267" y="3727176"/>
            <a:ext cx="228600" cy="606425"/>
          </a:xfrm>
          <a:prstGeom prst="rightBrace">
            <a:avLst>
              <a:gd name="adj1" fmla="val 8333"/>
              <a:gd name="adj2" fmla="val 53367"/>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2"/>
          <p:cNvSpPr txBox="1"/>
          <p:nvPr/>
        </p:nvSpPr>
        <p:spPr>
          <a:xfrm>
            <a:off x="8382000" y="3887117"/>
            <a:ext cx="609600" cy="3079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chemeClr val="dk1"/>
                </a:solidFill>
                <a:latin typeface="Calibri"/>
                <a:ea typeface="Calibri"/>
                <a:cs typeface="Calibri"/>
                <a:sym typeface="Calibri"/>
              </a:rPr>
              <a:t>SDD</a:t>
            </a:r>
            <a:endParaRPr/>
          </a:p>
        </p:txBody>
      </p:sp>
      <p:sp>
        <p:nvSpPr>
          <p:cNvPr id="178" name="Google Shape;178;p2"/>
          <p:cNvSpPr/>
          <p:nvPr/>
        </p:nvSpPr>
        <p:spPr>
          <a:xfrm>
            <a:off x="8180011" y="5214888"/>
            <a:ext cx="228600" cy="606425"/>
          </a:xfrm>
          <a:prstGeom prst="rightBrace">
            <a:avLst>
              <a:gd name="adj1" fmla="val 8333"/>
              <a:gd name="adj2" fmla="val 53367"/>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2"/>
          <p:cNvSpPr txBox="1"/>
          <p:nvPr/>
        </p:nvSpPr>
        <p:spPr>
          <a:xfrm>
            <a:off x="8374744" y="5374829"/>
            <a:ext cx="609600" cy="3079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chemeClr val="dk1"/>
                </a:solidFill>
                <a:latin typeface="Calibri"/>
                <a:ea typeface="Calibri"/>
                <a:cs typeface="Calibri"/>
                <a:sym typeface="Calibri"/>
              </a:rPr>
              <a:t>STD</a:t>
            </a:r>
            <a:endParaRPr sz="1400" b="1" i="0" u="none" strike="noStrike" cap="none">
              <a:solidFill>
                <a:schemeClr val="dk1"/>
              </a:solidFill>
              <a:latin typeface="Calibri"/>
              <a:ea typeface="Calibri"/>
              <a:cs typeface="Calibri"/>
              <a:sym typeface="Calibri"/>
            </a:endParaRPr>
          </a:p>
        </p:txBody>
      </p:sp>
      <p:sp>
        <p:nvSpPr>
          <p:cNvPr id="180" name="Google Shape;180;p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Outline</a:t>
            </a:r>
            <a:endParaRPr/>
          </a:p>
        </p:txBody>
      </p:sp>
      <p:sp>
        <p:nvSpPr>
          <p:cNvPr id="187" name="Google Shape;187;p3"/>
          <p:cNvSpPr txBox="1">
            <a:spLocks noGrp="1"/>
          </p:cNvSpPr>
          <p:nvPr>
            <p:ph type="body" idx="1"/>
          </p:nvPr>
        </p:nvSpPr>
        <p:spPr>
          <a:xfrm>
            <a:off x="457200" y="1600200"/>
            <a:ext cx="8229600" cy="4876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800"/>
              <a:buChar char="•"/>
            </a:pPr>
            <a:r>
              <a:rPr lang="en-US" sz="2800" dirty="0"/>
              <a:t>Verification and Validation (V&amp;V): Definition, goal, techniques and purposes</a:t>
            </a:r>
            <a:endParaRPr dirty="0"/>
          </a:p>
          <a:p>
            <a:pPr marL="342900" lvl="0" indent="-342900" algn="just" rtl="0">
              <a:lnSpc>
                <a:spcPct val="80000"/>
              </a:lnSpc>
              <a:spcBef>
                <a:spcPts val="560"/>
              </a:spcBef>
              <a:spcAft>
                <a:spcPts val="0"/>
              </a:spcAft>
              <a:buClr>
                <a:schemeClr val="dk1"/>
              </a:buClr>
              <a:buSzPts val="2800"/>
              <a:buChar char="•"/>
            </a:pPr>
            <a:r>
              <a:rPr lang="en-US" sz="2800" dirty="0"/>
              <a:t>Inspection vs. testing: Complement to each other</a:t>
            </a:r>
            <a:endParaRPr dirty="0"/>
          </a:p>
          <a:p>
            <a:pPr marL="342900" lvl="0" indent="-342900" algn="just" rtl="0">
              <a:lnSpc>
                <a:spcPct val="80000"/>
              </a:lnSpc>
              <a:spcBef>
                <a:spcPts val="560"/>
              </a:spcBef>
              <a:spcAft>
                <a:spcPts val="0"/>
              </a:spcAft>
              <a:buClr>
                <a:schemeClr val="dk1"/>
              </a:buClr>
              <a:buSzPts val="2800"/>
              <a:buChar char="•"/>
            </a:pPr>
            <a:r>
              <a:rPr lang="en-US" sz="2800" dirty="0"/>
              <a:t>Software testing:</a:t>
            </a:r>
            <a:endParaRPr dirty="0"/>
          </a:p>
          <a:p>
            <a:pPr marL="742950" lvl="1" indent="-285750" algn="just" rtl="0">
              <a:lnSpc>
                <a:spcPct val="80000"/>
              </a:lnSpc>
              <a:spcBef>
                <a:spcPts val="560"/>
              </a:spcBef>
              <a:spcAft>
                <a:spcPts val="0"/>
              </a:spcAft>
              <a:buClr>
                <a:schemeClr val="dk1"/>
              </a:buClr>
              <a:buSzPts val="2800"/>
              <a:buChar char="–"/>
            </a:pPr>
            <a:r>
              <a:rPr lang="en-US" dirty="0"/>
              <a:t>Definition, goal, techniques and purposes</a:t>
            </a:r>
            <a:endParaRPr dirty="0"/>
          </a:p>
          <a:p>
            <a:pPr marL="742950" lvl="1" indent="-285750" algn="just" rtl="0">
              <a:lnSpc>
                <a:spcPct val="80000"/>
              </a:lnSpc>
              <a:spcBef>
                <a:spcPts val="560"/>
              </a:spcBef>
              <a:spcAft>
                <a:spcPts val="0"/>
              </a:spcAft>
              <a:buClr>
                <a:schemeClr val="dk1"/>
              </a:buClr>
              <a:buSzPts val="2800"/>
              <a:buChar char="–"/>
            </a:pPr>
            <a:r>
              <a:rPr lang="en-US" dirty="0"/>
              <a:t>Stages: development, release, user/customer</a:t>
            </a:r>
            <a:endParaRPr dirty="0"/>
          </a:p>
          <a:p>
            <a:pPr marL="742950" lvl="1" indent="-285750" algn="just" rtl="0">
              <a:lnSpc>
                <a:spcPct val="80000"/>
              </a:lnSpc>
              <a:spcBef>
                <a:spcPts val="560"/>
              </a:spcBef>
              <a:spcAft>
                <a:spcPts val="0"/>
              </a:spcAft>
              <a:buClr>
                <a:schemeClr val="dk1"/>
              </a:buClr>
              <a:buSzPts val="2800"/>
              <a:buChar char="–"/>
            </a:pPr>
            <a:r>
              <a:rPr lang="en-US" dirty="0"/>
              <a:t>Process: test cases, test data, test results, test reports</a:t>
            </a:r>
            <a:endParaRPr dirty="0"/>
          </a:p>
          <a:p>
            <a:pPr marL="742950" lvl="1" indent="-285750" algn="just" rtl="0">
              <a:lnSpc>
                <a:spcPct val="80000"/>
              </a:lnSpc>
              <a:spcBef>
                <a:spcPts val="560"/>
              </a:spcBef>
              <a:spcAft>
                <a:spcPts val="0"/>
              </a:spcAft>
              <a:buClr>
                <a:schemeClr val="dk1"/>
              </a:buClr>
              <a:buSzPts val="2800"/>
              <a:buChar char="–"/>
            </a:pPr>
            <a:r>
              <a:rPr lang="en-US" dirty="0"/>
              <a:t>Focus in designing </a:t>
            </a:r>
            <a:r>
              <a:rPr lang="en-US" b="1" dirty="0">
                <a:solidFill>
                  <a:srgbClr val="C00000"/>
                </a:solidFill>
              </a:rPr>
              <a:t>test cases </a:t>
            </a:r>
            <a:r>
              <a:rPr lang="en-US" dirty="0"/>
              <a:t>to perform testing</a:t>
            </a:r>
            <a:endParaRPr sz="2800" dirty="0"/>
          </a:p>
        </p:txBody>
      </p:sp>
      <p:sp>
        <p:nvSpPr>
          <p:cNvPr id="188" name="Google Shape;188;p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89" name="Google Shape;189;p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Objectives</a:t>
            </a:r>
            <a:endParaRPr/>
          </a:p>
        </p:txBody>
      </p:sp>
      <p:sp>
        <p:nvSpPr>
          <p:cNvPr id="195" name="Google Shape;195;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To discuss V&amp;V differences and techniques</a:t>
            </a:r>
            <a:endParaRPr/>
          </a:p>
          <a:p>
            <a:pPr marL="342900" lvl="0" indent="-342900" algn="l" rtl="0">
              <a:spcBef>
                <a:spcPts val="640"/>
              </a:spcBef>
              <a:spcAft>
                <a:spcPts val="0"/>
              </a:spcAft>
              <a:buClr>
                <a:schemeClr val="dk1"/>
              </a:buClr>
              <a:buSzPts val="3200"/>
              <a:buChar char="•"/>
            </a:pPr>
            <a:r>
              <a:rPr lang="en-US"/>
              <a:t>To describe different types of testing and its definition</a:t>
            </a:r>
            <a:endParaRPr/>
          </a:p>
          <a:p>
            <a:pPr marL="342900" lvl="0" indent="-342900" algn="l" rtl="0">
              <a:spcBef>
                <a:spcPts val="640"/>
              </a:spcBef>
              <a:spcAft>
                <a:spcPts val="0"/>
              </a:spcAft>
              <a:buClr>
                <a:schemeClr val="dk1"/>
              </a:buClr>
              <a:buSzPts val="3200"/>
              <a:buChar char="•"/>
            </a:pPr>
            <a:r>
              <a:rPr lang="en-US"/>
              <a:t>To learn three strategies for generating system test cases</a:t>
            </a:r>
            <a:endParaRPr/>
          </a:p>
          <a:p>
            <a:pPr marL="514350" lvl="0" indent="-31115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endParaRPr/>
          </a:p>
        </p:txBody>
      </p:sp>
      <p:sp>
        <p:nvSpPr>
          <p:cNvPr id="196" name="Google Shape;196;p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97" name="Google Shape;197;p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Verification vs. Validation </a:t>
            </a:r>
            <a:br>
              <a:rPr lang="en-US"/>
            </a:br>
            <a:r>
              <a:rPr lang="en-US"/>
              <a:t>(Boehm, 1979)</a:t>
            </a:r>
            <a:endParaRPr/>
          </a:p>
        </p:txBody>
      </p:sp>
      <p:sp>
        <p:nvSpPr>
          <p:cNvPr id="203" name="Google Shape;203;p5"/>
          <p:cNvSpPr txBox="1">
            <a:spLocks noGrp="1"/>
          </p:cNvSpPr>
          <p:nvPr>
            <p:ph type="body" idx="1"/>
          </p:nvPr>
        </p:nvSpPr>
        <p:spPr>
          <a:xfrm>
            <a:off x="457200" y="1600200"/>
            <a:ext cx="8610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3200"/>
              <a:buChar char="•"/>
            </a:pPr>
            <a:r>
              <a:rPr lang="en-US"/>
              <a:t>Verification: </a:t>
            </a:r>
            <a:br>
              <a:rPr lang="en-US"/>
            </a:br>
            <a:r>
              <a:rPr lang="en-US"/>
              <a:t>	</a:t>
            </a:r>
            <a:r>
              <a:rPr lang="en-US" i="1"/>
              <a:t>“Are we building the </a:t>
            </a:r>
            <a:r>
              <a:rPr lang="en-US" i="1">
                <a:solidFill>
                  <a:srgbClr val="C00000"/>
                </a:solidFill>
              </a:rPr>
              <a:t>product right</a:t>
            </a:r>
            <a:r>
              <a:rPr lang="en-US" i="1"/>
              <a:t>”</a:t>
            </a:r>
            <a:endParaRPr/>
          </a:p>
          <a:p>
            <a:pPr marL="742950" lvl="1" indent="-285750" algn="l" rtl="0">
              <a:lnSpc>
                <a:spcPct val="90000"/>
              </a:lnSpc>
              <a:spcBef>
                <a:spcPts val="640"/>
              </a:spcBef>
              <a:spcAft>
                <a:spcPts val="0"/>
              </a:spcAft>
              <a:buClr>
                <a:schemeClr val="dk1"/>
              </a:buClr>
              <a:buSzPts val="3200"/>
              <a:buChar char="–"/>
            </a:pPr>
            <a:r>
              <a:rPr lang="en-US" sz="3200"/>
              <a:t>The software should </a:t>
            </a:r>
            <a:r>
              <a:rPr lang="en-US" sz="3200" b="1">
                <a:solidFill>
                  <a:srgbClr val="C00000"/>
                </a:solidFill>
              </a:rPr>
              <a:t>conform</a:t>
            </a:r>
            <a:r>
              <a:rPr lang="en-US" sz="3200"/>
              <a:t> to </a:t>
            </a:r>
            <a:r>
              <a:rPr lang="en-US" sz="3200" b="1">
                <a:solidFill>
                  <a:srgbClr val="C00000"/>
                </a:solidFill>
              </a:rPr>
              <a:t>its specification</a:t>
            </a:r>
            <a:endParaRPr sz="3200">
              <a:solidFill>
                <a:srgbClr val="C00000"/>
              </a:solidFill>
            </a:endParaRPr>
          </a:p>
          <a:p>
            <a:pPr marL="342900" lvl="0" indent="-342900" algn="l" rtl="0">
              <a:lnSpc>
                <a:spcPct val="90000"/>
              </a:lnSpc>
              <a:spcBef>
                <a:spcPts val="640"/>
              </a:spcBef>
              <a:spcAft>
                <a:spcPts val="0"/>
              </a:spcAft>
              <a:buClr>
                <a:schemeClr val="dk1"/>
              </a:buClr>
              <a:buSzPts val="3200"/>
              <a:buChar char="•"/>
            </a:pPr>
            <a:r>
              <a:rPr lang="en-US"/>
              <a:t>Validation:</a:t>
            </a:r>
            <a:br>
              <a:rPr lang="en-US"/>
            </a:br>
            <a:r>
              <a:rPr lang="en-US"/>
              <a:t>	 </a:t>
            </a:r>
            <a:r>
              <a:rPr lang="en-US" i="1"/>
              <a:t>“Are we building the </a:t>
            </a:r>
            <a:r>
              <a:rPr lang="en-US" i="1">
                <a:solidFill>
                  <a:srgbClr val="C00000"/>
                </a:solidFill>
              </a:rPr>
              <a:t>right product</a:t>
            </a:r>
            <a:r>
              <a:rPr lang="en-US" i="1"/>
              <a:t>”</a:t>
            </a:r>
            <a:endParaRPr i="1"/>
          </a:p>
          <a:p>
            <a:pPr marL="742950" lvl="1" indent="-285750" algn="l" rtl="0">
              <a:lnSpc>
                <a:spcPct val="90000"/>
              </a:lnSpc>
              <a:spcBef>
                <a:spcPts val="640"/>
              </a:spcBef>
              <a:spcAft>
                <a:spcPts val="0"/>
              </a:spcAft>
              <a:buClr>
                <a:schemeClr val="dk1"/>
              </a:buClr>
              <a:buSzPts val="3200"/>
              <a:buChar char="–"/>
            </a:pPr>
            <a:r>
              <a:rPr lang="en-US" sz="3200"/>
              <a:t>The software should </a:t>
            </a:r>
            <a:r>
              <a:rPr lang="en-US" sz="3200" b="1">
                <a:solidFill>
                  <a:srgbClr val="C00000"/>
                </a:solidFill>
              </a:rPr>
              <a:t>do</a:t>
            </a:r>
            <a:r>
              <a:rPr lang="en-US" sz="3200">
                <a:solidFill>
                  <a:srgbClr val="C00000"/>
                </a:solidFill>
              </a:rPr>
              <a:t> </a:t>
            </a:r>
            <a:r>
              <a:rPr lang="en-US" sz="3200" b="1">
                <a:solidFill>
                  <a:srgbClr val="C00000"/>
                </a:solidFill>
              </a:rPr>
              <a:t>what the user really requires</a:t>
            </a:r>
            <a:endParaRPr sz="3200"/>
          </a:p>
          <a:p>
            <a:pPr marL="342900" lvl="0" indent="-139700" algn="l" rtl="0">
              <a:spcBef>
                <a:spcPts val="640"/>
              </a:spcBef>
              <a:spcAft>
                <a:spcPts val="0"/>
              </a:spcAft>
              <a:buClr>
                <a:schemeClr val="dk1"/>
              </a:buClr>
              <a:buSzPts val="3200"/>
              <a:buNone/>
            </a:pPr>
            <a:endParaRPr/>
          </a:p>
        </p:txBody>
      </p:sp>
      <p:sp>
        <p:nvSpPr>
          <p:cNvPr id="204" name="Google Shape;204;p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05" name="Google Shape;205;p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11" name="Google Shape;211;p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212" name="Google Shape;212;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Verification vs. Validation </a:t>
            </a:r>
            <a:endParaRPr/>
          </a:p>
        </p:txBody>
      </p:sp>
      <p:graphicFrame>
        <p:nvGraphicFramePr>
          <p:cNvPr id="213" name="Google Shape;213;p6"/>
          <p:cNvGraphicFramePr/>
          <p:nvPr/>
        </p:nvGraphicFramePr>
        <p:xfrm>
          <a:off x="150540" y="1600200"/>
          <a:ext cx="3000000" cy="3000000"/>
        </p:xfrm>
        <a:graphic>
          <a:graphicData uri="http://schemas.openxmlformats.org/drawingml/2006/table">
            <a:tbl>
              <a:tblPr firstRow="1" bandRow="1">
                <a:noFill/>
                <a:tableStyleId>{D1B5DACF-B459-4AA4-BB75-76B3FD634052}</a:tableStyleId>
              </a:tblPr>
              <a:tblGrid>
                <a:gridCol w="4420525">
                  <a:extLst>
                    <a:ext uri="{9D8B030D-6E8A-4147-A177-3AD203B41FA5}">
                      <a16:colId xmlns:a16="http://schemas.microsoft.com/office/drawing/2014/main" val="20000"/>
                    </a:ext>
                  </a:extLst>
                </a:gridCol>
                <a:gridCol w="4420525">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Verification</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Validation</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The verifying process includes checking documents, design, code, and program</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It is a dynamic mechanism of testing and validating the actual product</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It does </a:t>
                      </a:r>
                      <a:r>
                        <a:rPr lang="en-US" sz="1800" b="1" i="1">
                          <a:solidFill>
                            <a:schemeClr val="dk1"/>
                          </a:solidFill>
                          <a:latin typeface="Calibri"/>
                          <a:ea typeface="Calibri"/>
                          <a:cs typeface="Calibri"/>
                          <a:sym typeface="Calibri"/>
                        </a:rPr>
                        <a:t>not</a:t>
                      </a:r>
                      <a:r>
                        <a:rPr lang="en-US" sz="1800" b="0" i="0">
                          <a:solidFill>
                            <a:schemeClr val="dk1"/>
                          </a:solidFill>
                          <a:latin typeface="Calibri"/>
                          <a:ea typeface="Calibri"/>
                          <a:cs typeface="Calibri"/>
                          <a:sym typeface="Calibri"/>
                        </a:rPr>
                        <a:t> involve executing the code</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It always involves executing the code</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Verification uses methods like reviews, walkthroughs, inspections, prototyping etc.</a:t>
                      </a:r>
                      <a:endParaRPr sz="1800"/>
                    </a:p>
                  </a:txBody>
                  <a:tcPr marL="91450" marR="91450" marT="45725" marB="45725"/>
                </a:tc>
                <a:tc>
                  <a:txBody>
                    <a:bodyPr/>
                    <a:lstStyle/>
                    <a:p>
                      <a:pPr marL="0" marR="0" lvl="0" indent="0" algn="l" rtl="0">
                        <a:spcBef>
                          <a:spcPts val="0"/>
                        </a:spcBef>
                        <a:spcAft>
                          <a:spcPts val="0"/>
                        </a:spcAft>
                        <a:buNone/>
                      </a:pPr>
                      <a:r>
                        <a:rPr lang="en-US" sz="1800" b="0" i="0" u="none">
                          <a:solidFill>
                            <a:schemeClr val="dk1"/>
                          </a:solidFill>
                          <a:latin typeface="Calibri"/>
                          <a:ea typeface="Calibri"/>
                          <a:cs typeface="Calibri"/>
                          <a:sym typeface="Calibri"/>
                        </a:rPr>
                        <a:t>It uses methods like Black Box Testing, </a:t>
                      </a:r>
                      <a:r>
                        <a:rPr lang="en-US" sz="1800" b="0" i="0" u="none" strike="noStrike">
                          <a:solidFill>
                            <a:schemeClr val="dk1"/>
                          </a:solidFill>
                          <a:latin typeface="Calibri"/>
                          <a:ea typeface="Calibri"/>
                          <a:cs typeface="Calibri"/>
                          <a:sym typeface="Calibri"/>
                        </a:rPr>
                        <a:t>White Box Testing</a:t>
                      </a:r>
                      <a:r>
                        <a:rPr lang="en-US" sz="1800" b="0" i="0" u="none">
                          <a:solidFill>
                            <a:schemeClr val="dk1"/>
                          </a:solidFill>
                          <a:latin typeface="Calibri"/>
                          <a:ea typeface="Calibri"/>
                          <a:cs typeface="Calibri"/>
                          <a:sym typeface="Calibri"/>
                        </a:rPr>
                        <a:t>, and non-functional testing, </a:t>
                      </a:r>
                      <a:r>
                        <a:rPr lang="en-US" sz="1800" b="0" i="0">
                          <a:solidFill>
                            <a:schemeClr val="dk1"/>
                          </a:solidFill>
                          <a:latin typeface="Calibri"/>
                          <a:ea typeface="Calibri"/>
                          <a:cs typeface="Calibri"/>
                          <a:sym typeface="Calibri"/>
                        </a:rPr>
                        <a:t>prototyping etc.</a:t>
                      </a:r>
                      <a:endParaRPr sz="1800" u="none">
                        <a:solidFill>
                          <a:schemeClr val="dk1"/>
                        </a:solidFill>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Whether the software conforms to specification is checked</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It checks whether the software meets the requirements and expectations of a customer</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Target is application and software architecture, specification, complete design, high level, and database design etc.</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Target is an actual product</a:t>
                      </a: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It comes before validation</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It comes after verification</a:t>
                      </a:r>
                      <a:endParaRPr sz="180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V&amp;V Goal</a:t>
            </a:r>
            <a:endParaRPr/>
          </a:p>
        </p:txBody>
      </p:sp>
      <p:sp>
        <p:nvSpPr>
          <p:cNvPr id="219" name="Google Shape;219;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Char char="•"/>
            </a:pPr>
            <a:r>
              <a:rPr lang="en-US" sz="2800"/>
              <a:t>V&amp;V should establish confidence that the software is </a:t>
            </a:r>
            <a:r>
              <a:rPr lang="en-US" sz="2800" b="1">
                <a:solidFill>
                  <a:srgbClr val="C00000"/>
                </a:solidFill>
              </a:rPr>
              <a:t>fit for purpose</a:t>
            </a:r>
            <a:endParaRPr sz="2800" b="1"/>
          </a:p>
          <a:p>
            <a:pPr marL="342900" lvl="0" indent="-342900" algn="just" rtl="0">
              <a:lnSpc>
                <a:spcPct val="90000"/>
              </a:lnSpc>
              <a:spcBef>
                <a:spcPts val="560"/>
              </a:spcBef>
              <a:spcAft>
                <a:spcPts val="0"/>
              </a:spcAft>
              <a:buClr>
                <a:schemeClr val="dk1"/>
              </a:buClr>
              <a:buSzPts val="2800"/>
              <a:buChar char="•"/>
            </a:pPr>
            <a:r>
              <a:rPr lang="en-US" sz="2800"/>
              <a:t>This does </a:t>
            </a:r>
            <a:r>
              <a:rPr lang="en-US" sz="2800" b="1">
                <a:solidFill>
                  <a:srgbClr val="C00000"/>
                </a:solidFill>
              </a:rPr>
              <a:t>NOT</a:t>
            </a:r>
            <a:r>
              <a:rPr lang="en-US" sz="2800"/>
              <a:t> mean completely free of defects</a:t>
            </a:r>
            <a:endParaRPr/>
          </a:p>
          <a:p>
            <a:pPr marL="342900" lvl="0" indent="-342900" algn="just" rtl="0">
              <a:lnSpc>
                <a:spcPct val="90000"/>
              </a:lnSpc>
              <a:spcBef>
                <a:spcPts val="560"/>
              </a:spcBef>
              <a:spcAft>
                <a:spcPts val="0"/>
              </a:spcAft>
              <a:buClr>
                <a:schemeClr val="dk1"/>
              </a:buClr>
              <a:buSzPts val="2800"/>
              <a:buChar char="•"/>
            </a:pPr>
            <a:r>
              <a:rPr lang="en-US" sz="2800"/>
              <a:t>It must be </a:t>
            </a:r>
            <a:r>
              <a:rPr lang="en-US" sz="2800" b="1">
                <a:solidFill>
                  <a:srgbClr val="C00000"/>
                </a:solidFill>
              </a:rPr>
              <a:t>good enough </a:t>
            </a:r>
            <a:r>
              <a:rPr lang="en-US" sz="2800"/>
              <a:t>for its intended use and the type of use will determine the </a:t>
            </a:r>
            <a:r>
              <a:rPr lang="en-US" sz="2800" b="1">
                <a:solidFill>
                  <a:srgbClr val="C00000"/>
                </a:solidFill>
              </a:rPr>
              <a:t>degree of confidence</a:t>
            </a:r>
            <a:r>
              <a:rPr lang="en-US" sz="2800"/>
              <a:t> that is needed</a:t>
            </a:r>
            <a:endParaRPr/>
          </a:p>
          <a:p>
            <a:pPr marL="342900" lvl="0" indent="-342900" algn="just" rtl="0">
              <a:lnSpc>
                <a:spcPct val="90000"/>
              </a:lnSpc>
              <a:spcBef>
                <a:spcPts val="560"/>
              </a:spcBef>
              <a:spcAft>
                <a:spcPts val="0"/>
              </a:spcAft>
              <a:buClr>
                <a:schemeClr val="dk1"/>
              </a:buClr>
              <a:buSzPts val="2800"/>
              <a:buNone/>
            </a:pPr>
            <a:endParaRPr sz="2800"/>
          </a:p>
          <a:p>
            <a:pPr marL="342900" lvl="0" indent="-165100" algn="just" rtl="0">
              <a:spcBef>
                <a:spcPts val="560"/>
              </a:spcBef>
              <a:spcAft>
                <a:spcPts val="0"/>
              </a:spcAft>
              <a:buClr>
                <a:schemeClr val="dk1"/>
              </a:buClr>
              <a:buSzPts val="2800"/>
              <a:buNone/>
            </a:pPr>
            <a:endParaRPr sz="2800"/>
          </a:p>
        </p:txBody>
      </p:sp>
      <p:sp>
        <p:nvSpPr>
          <p:cNvPr id="220" name="Google Shape;220;p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21" name="Google Shape;221;p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V&amp;V: Degree-of-Confidence Category</a:t>
            </a:r>
            <a:endParaRPr/>
          </a:p>
        </p:txBody>
      </p:sp>
      <p:sp>
        <p:nvSpPr>
          <p:cNvPr id="227" name="Google Shape;227;p8"/>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rmAutofit/>
          </a:bodyPr>
          <a:lstStyle/>
          <a:p>
            <a:pPr marL="514350" lvl="0" indent="-457200" algn="l" rtl="0">
              <a:lnSpc>
                <a:spcPct val="90000"/>
              </a:lnSpc>
              <a:spcBef>
                <a:spcPts val="0"/>
              </a:spcBef>
              <a:spcAft>
                <a:spcPts val="0"/>
              </a:spcAft>
              <a:buClr>
                <a:schemeClr val="dk1"/>
              </a:buClr>
              <a:buSzPts val="2400"/>
              <a:buChar char="•"/>
            </a:pPr>
            <a:r>
              <a:rPr lang="en-US" sz="2400" b="1"/>
              <a:t>Software function/purpose</a:t>
            </a:r>
            <a:endParaRPr/>
          </a:p>
          <a:p>
            <a:pPr marL="742950" lvl="1" indent="-285750" algn="l" rtl="0">
              <a:lnSpc>
                <a:spcPct val="90000"/>
              </a:lnSpc>
              <a:spcBef>
                <a:spcPts val="480"/>
              </a:spcBef>
              <a:spcAft>
                <a:spcPts val="0"/>
              </a:spcAft>
              <a:buClr>
                <a:schemeClr val="dk1"/>
              </a:buClr>
              <a:buSzPts val="2400"/>
              <a:buChar char="–"/>
            </a:pPr>
            <a:r>
              <a:rPr lang="en-US" sz="2400"/>
              <a:t>The level of confidence depends on </a:t>
            </a:r>
            <a:r>
              <a:rPr lang="en-US" sz="2400" b="1">
                <a:solidFill>
                  <a:srgbClr val="C00000"/>
                </a:solidFill>
              </a:rPr>
              <a:t>how critical the software</a:t>
            </a:r>
            <a:r>
              <a:rPr lang="en-US" sz="2400" b="1"/>
              <a:t> </a:t>
            </a:r>
            <a:r>
              <a:rPr lang="en-US" sz="2400"/>
              <a:t>is to an organisation e.g. safety-critical system</a:t>
            </a:r>
            <a:endParaRPr/>
          </a:p>
          <a:p>
            <a:pPr marL="514350" lvl="0" indent="-457200" algn="l" rtl="0">
              <a:lnSpc>
                <a:spcPct val="90000"/>
              </a:lnSpc>
              <a:spcBef>
                <a:spcPts val="480"/>
              </a:spcBef>
              <a:spcAft>
                <a:spcPts val="0"/>
              </a:spcAft>
              <a:buClr>
                <a:schemeClr val="dk1"/>
              </a:buClr>
              <a:buSzPts val="2400"/>
              <a:buChar char="•"/>
            </a:pPr>
            <a:r>
              <a:rPr lang="en-US" sz="2400" b="1"/>
              <a:t>User expectations</a:t>
            </a:r>
            <a:endParaRPr/>
          </a:p>
          <a:p>
            <a:pPr marL="742950" lvl="1" indent="-285750" algn="l" rtl="0">
              <a:lnSpc>
                <a:spcPct val="90000"/>
              </a:lnSpc>
              <a:spcBef>
                <a:spcPts val="480"/>
              </a:spcBef>
              <a:spcAft>
                <a:spcPts val="0"/>
              </a:spcAft>
              <a:buClr>
                <a:schemeClr val="dk1"/>
              </a:buClr>
              <a:buSzPts val="2400"/>
              <a:buChar char="–"/>
            </a:pPr>
            <a:r>
              <a:rPr lang="en-US" sz="2400"/>
              <a:t>Users may have </a:t>
            </a:r>
            <a:r>
              <a:rPr lang="en-US" sz="2400" b="1">
                <a:solidFill>
                  <a:srgbClr val="C00000"/>
                </a:solidFill>
              </a:rPr>
              <a:t>low expectations </a:t>
            </a:r>
            <a:r>
              <a:rPr lang="en-US" sz="2400"/>
              <a:t>of certain kinds of software (user previous experience, unreliable software especially newly installed software)</a:t>
            </a:r>
            <a:endParaRPr/>
          </a:p>
          <a:p>
            <a:pPr marL="514350" lvl="0" indent="-457200" algn="l" rtl="0">
              <a:lnSpc>
                <a:spcPct val="90000"/>
              </a:lnSpc>
              <a:spcBef>
                <a:spcPts val="480"/>
              </a:spcBef>
              <a:spcAft>
                <a:spcPts val="0"/>
              </a:spcAft>
              <a:buClr>
                <a:schemeClr val="dk1"/>
              </a:buClr>
              <a:buSzPts val="2400"/>
              <a:buChar char="•"/>
            </a:pPr>
            <a:r>
              <a:rPr lang="en-US" sz="2400" b="1"/>
              <a:t>Marketing environment</a:t>
            </a:r>
            <a:endParaRPr/>
          </a:p>
          <a:p>
            <a:pPr marL="742950" lvl="1" indent="-285750" algn="l" rtl="0">
              <a:lnSpc>
                <a:spcPct val="90000"/>
              </a:lnSpc>
              <a:spcBef>
                <a:spcPts val="480"/>
              </a:spcBef>
              <a:spcAft>
                <a:spcPts val="0"/>
              </a:spcAft>
              <a:buClr>
                <a:schemeClr val="dk1"/>
              </a:buClr>
              <a:buSzPts val="2400"/>
              <a:buChar char="–"/>
            </a:pPr>
            <a:r>
              <a:rPr lang="en-US" sz="2400"/>
              <a:t>Getting a product to </a:t>
            </a:r>
            <a:r>
              <a:rPr lang="en-US" sz="2400" b="1">
                <a:solidFill>
                  <a:srgbClr val="C00000"/>
                </a:solidFill>
              </a:rPr>
              <a:t>market early </a:t>
            </a:r>
            <a:r>
              <a:rPr lang="en-US" sz="2400"/>
              <a:t>may be more important than finding defects in the program (competitive environment – release program first without fully tested to get the contract from customer)</a:t>
            </a:r>
            <a:endParaRPr/>
          </a:p>
          <a:p>
            <a:pPr marL="514350" lvl="0" indent="-304800" algn="l" rtl="0">
              <a:lnSpc>
                <a:spcPct val="90000"/>
              </a:lnSpc>
              <a:spcBef>
                <a:spcPts val="480"/>
              </a:spcBef>
              <a:spcAft>
                <a:spcPts val="0"/>
              </a:spcAft>
              <a:buClr>
                <a:schemeClr val="dk1"/>
              </a:buClr>
              <a:buSzPts val="2400"/>
              <a:buNone/>
            </a:pPr>
            <a:endParaRPr sz="2400"/>
          </a:p>
          <a:p>
            <a:pPr marL="342900" lvl="0" indent="-190500" algn="l" rtl="0">
              <a:spcBef>
                <a:spcPts val="480"/>
              </a:spcBef>
              <a:spcAft>
                <a:spcPts val="0"/>
              </a:spcAft>
              <a:buClr>
                <a:schemeClr val="dk1"/>
              </a:buClr>
              <a:buSzPts val="2400"/>
              <a:buNone/>
            </a:pPr>
            <a:endParaRPr sz="2400"/>
          </a:p>
        </p:txBody>
      </p:sp>
      <p:sp>
        <p:nvSpPr>
          <p:cNvPr id="228" name="Google Shape;228;p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29" name="Google Shape;229;p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9"/>
          <p:cNvSpPr txBox="1">
            <a:spLocks noGrp="1"/>
          </p:cNvSpPr>
          <p:nvPr>
            <p:ph type="title"/>
          </p:nvPr>
        </p:nvSpPr>
        <p:spPr>
          <a:xfrm>
            <a:off x="609600" y="221084"/>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US" sz="3600"/>
              <a:t>Verification Technique: Software Inspection </a:t>
            </a:r>
            <a:endParaRPr sz="3600"/>
          </a:p>
        </p:txBody>
      </p:sp>
      <p:sp>
        <p:nvSpPr>
          <p:cNvPr id="235" name="Google Shape;235;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800"/>
              <a:buChar char="•"/>
            </a:pPr>
            <a:r>
              <a:rPr lang="en-US" sz="2800"/>
              <a:t>The technique involves </a:t>
            </a:r>
            <a:r>
              <a:rPr lang="en-US" sz="2800" b="1">
                <a:solidFill>
                  <a:srgbClr val="C00000"/>
                </a:solidFill>
              </a:rPr>
              <a:t>people examining the source representation </a:t>
            </a:r>
            <a:r>
              <a:rPr lang="en-US" sz="2800"/>
              <a:t>with the aim of discovering anomalies (deviation from standard/expectation) and defects (errors)</a:t>
            </a:r>
            <a:endParaRPr/>
          </a:p>
          <a:p>
            <a:pPr marL="342900" lvl="0" indent="-342900" algn="just" rtl="0">
              <a:spcBef>
                <a:spcPts val="560"/>
              </a:spcBef>
              <a:spcAft>
                <a:spcPts val="0"/>
              </a:spcAft>
              <a:buClr>
                <a:schemeClr val="dk1"/>
              </a:buClr>
              <a:buSzPts val="2800"/>
              <a:buChar char="•"/>
            </a:pPr>
            <a:r>
              <a:rPr lang="en-US" sz="2800"/>
              <a:t>It </a:t>
            </a:r>
            <a:r>
              <a:rPr lang="en-US" sz="2800" b="1">
                <a:solidFill>
                  <a:srgbClr val="C00000"/>
                </a:solidFill>
              </a:rPr>
              <a:t>does not require execution </a:t>
            </a:r>
            <a:r>
              <a:rPr lang="en-US" sz="2800"/>
              <a:t>of a system – static test, so it may be used before implementation</a:t>
            </a:r>
            <a:endParaRPr/>
          </a:p>
          <a:p>
            <a:pPr marL="342900" lvl="0" indent="-342900" algn="just" rtl="0">
              <a:spcBef>
                <a:spcPts val="560"/>
              </a:spcBef>
              <a:spcAft>
                <a:spcPts val="0"/>
              </a:spcAft>
              <a:buClr>
                <a:schemeClr val="dk1"/>
              </a:buClr>
              <a:buSzPts val="2800"/>
              <a:buChar char="•"/>
            </a:pPr>
            <a:r>
              <a:rPr lang="en-US" sz="2800"/>
              <a:t>They may be applied to any </a:t>
            </a:r>
            <a:r>
              <a:rPr lang="en-US" sz="2800" b="1">
                <a:solidFill>
                  <a:srgbClr val="C00000"/>
                </a:solidFill>
              </a:rPr>
              <a:t>representation of the system </a:t>
            </a:r>
            <a:r>
              <a:rPr lang="en-US" sz="2800"/>
              <a:t>(e.g. requirements, design, test data)</a:t>
            </a:r>
            <a:endParaRPr/>
          </a:p>
          <a:p>
            <a:pPr marL="342900" lvl="0" indent="-342900" algn="just" rtl="0">
              <a:spcBef>
                <a:spcPts val="560"/>
              </a:spcBef>
              <a:spcAft>
                <a:spcPts val="0"/>
              </a:spcAft>
              <a:buClr>
                <a:schemeClr val="dk1"/>
              </a:buClr>
              <a:buSzPts val="2800"/>
              <a:buChar char="•"/>
            </a:pPr>
            <a:r>
              <a:rPr lang="en-US" sz="2800"/>
              <a:t>It is an effective technique for discovering program errors</a:t>
            </a:r>
            <a:endParaRPr/>
          </a:p>
        </p:txBody>
      </p:sp>
      <p:sp>
        <p:nvSpPr>
          <p:cNvPr id="236" name="Google Shape;236;p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37" name="Google Shape;237;p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10"/>
          <p:cNvPicPr preferRelativeResize="0"/>
          <p:nvPr/>
        </p:nvPicPr>
        <p:blipFill>
          <a:blip r:embed="rId3">
            <a:alphaModFix/>
          </a:blip>
          <a:stretch>
            <a:fillRect/>
          </a:stretch>
        </p:blipFill>
        <p:spPr>
          <a:xfrm>
            <a:off x="228600" y="1988550"/>
            <a:ext cx="8655049" cy="3703101"/>
          </a:xfrm>
          <a:prstGeom prst="rect">
            <a:avLst/>
          </a:prstGeom>
          <a:noFill/>
          <a:ln>
            <a:noFill/>
          </a:ln>
        </p:spPr>
      </p:pic>
      <p:sp>
        <p:nvSpPr>
          <p:cNvPr id="244" name="Google Shape;24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t>Software Inspection: </a:t>
            </a:r>
            <a:r>
              <a:rPr lang="en-US"/>
              <a:t>Static Testing</a:t>
            </a:r>
            <a:endParaRPr/>
          </a:p>
        </p:txBody>
      </p:sp>
      <p:sp>
        <p:nvSpPr>
          <p:cNvPr id="245" name="Google Shape;245;p1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46" name="Google Shape;246;p10"/>
          <p:cNvSpPr/>
          <p:nvPr/>
        </p:nvSpPr>
        <p:spPr>
          <a:xfrm>
            <a:off x="323850" y="3141663"/>
            <a:ext cx="8351838" cy="1150937"/>
          </a:xfrm>
          <a:prstGeom prst="rect">
            <a:avLst/>
          </a:prstGeom>
          <a:noFill/>
          <a:ln w="38100" cap="flat" cmpd="sng">
            <a:solidFill>
              <a:schemeClr val="accent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47" name="Google Shape;247;p10"/>
          <p:cNvSpPr/>
          <p:nvPr/>
        </p:nvSpPr>
        <p:spPr>
          <a:xfrm>
            <a:off x="3708400" y="1916113"/>
            <a:ext cx="1511300" cy="936625"/>
          </a:xfrm>
          <a:prstGeom prst="rect">
            <a:avLst/>
          </a:prstGeom>
          <a:noFill/>
          <a:ln w="25400" cap="flat" cmpd="sng">
            <a:solidFill>
              <a:schemeClr val="accent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48" name="Google Shape;248;p10"/>
          <p:cNvSpPr/>
          <p:nvPr/>
        </p:nvSpPr>
        <p:spPr>
          <a:xfrm>
            <a:off x="5732228" y="1943656"/>
            <a:ext cx="185390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C00000"/>
                </a:solidFill>
                <a:latin typeface="Calibri"/>
                <a:ea typeface="Calibri"/>
                <a:cs typeface="Calibri"/>
                <a:sym typeface="Calibri"/>
              </a:rPr>
              <a:t>Inspection (static)</a:t>
            </a:r>
            <a:endParaRPr/>
          </a:p>
        </p:txBody>
      </p:sp>
      <p:sp>
        <p:nvSpPr>
          <p:cNvPr id="249" name="Google Shape;249;p1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Advantages of Inspections</a:t>
            </a:r>
            <a:endParaRPr/>
          </a:p>
        </p:txBody>
      </p:sp>
      <p:sp>
        <p:nvSpPr>
          <p:cNvPr id="255" name="Google Shape;255;p11"/>
          <p:cNvSpPr txBox="1">
            <a:spLocks noGrp="1"/>
          </p:cNvSpPr>
          <p:nvPr>
            <p:ph type="body" idx="1"/>
          </p:nvPr>
        </p:nvSpPr>
        <p:spPr>
          <a:xfrm>
            <a:off x="152400" y="1600200"/>
            <a:ext cx="88392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600"/>
              <a:buChar char="•"/>
            </a:pPr>
            <a:r>
              <a:rPr lang="en-US" sz="2600"/>
              <a:t>During testing, errors can mask (hide) other errors. As inspection is a </a:t>
            </a:r>
            <a:r>
              <a:rPr lang="en-US" sz="2600" b="1">
                <a:solidFill>
                  <a:srgbClr val="C00000"/>
                </a:solidFill>
              </a:rPr>
              <a:t>static process</a:t>
            </a:r>
            <a:r>
              <a:rPr lang="en-US" sz="2600"/>
              <a:t>, it </a:t>
            </a:r>
            <a:r>
              <a:rPr lang="en-US" sz="2600" b="1">
                <a:solidFill>
                  <a:srgbClr val="C00000"/>
                </a:solidFill>
              </a:rPr>
              <a:t>need not to be concerned with interactions</a:t>
            </a:r>
            <a:r>
              <a:rPr lang="en-US" sz="2600"/>
              <a:t> between errors.</a:t>
            </a:r>
            <a:endParaRPr/>
          </a:p>
          <a:p>
            <a:pPr marL="342900" lvl="0" indent="-342900" algn="l" rtl="0">
              <a:lnSpc>
                <a:spcPct val="90000"/>
              </a:lnSpc>
              <a:spcBef>
                <a:spcPts val="520"/>
              </a:spcBef>
              <a:spcAft>
                <a:spcPts val="0"/>
              </a:spcAft>
              <a:buClr>
                <a:schemeClr val="dk1"/>
              </a:buClr>
              <a:buSzPts val="2600"/>
              <a:buChar char="•"/>
            </a:pPr>
            <a:r>
              <a:rPr lang="en-US" sz="2600"/>
              <a:t>Incomplete versions of a system can be </a:t>
            </a:r>
            <a:r>
              <a:rPr lang="en-US" sz="2600" b="1">
                <a:solidFill>
                  <a:srgbClr val="C00000"/>
                </a:solidFill>
              </a:rPr>
              <a:t>inspected without additional costs</a:t>
            </a:r>
            <a:r>
              <a:rPr lang="en-US" sz="2600"/>
              <a:t>. Compared to dynamic testing, if a program is incomplete, need to develop specialized test that is connected in order to test the parts that are available.</a:t>
            </a:r>
            <a:endParaRPr/>
          </a:p>
          <a:p>
            <a:pPr marL="342900" lvl="0" indent="-342900" algn="l" rtl="0">
              <a:lnSpc>
                <a:spcPct val="90000"/>
              </a:lnSpc>
              <a:spcBef>
                <a:spcPts val="520"/>
              </a:spcBef>
              <a:spcAft>
                <a:spcPts val="0"/>
              </a:spcAft>
              <a:buClr>
                <a:schemeClr val="dk1"/>
              </a:buClr>
              <a:buSzPts val="2600"/>
              <a:buChar char="•"/>
            </a:pPr>
            <a:r>
              <a:rPr lang="en-US" sz="2600"/>
              <a:t>Besides searching for program defects, an inspection can also </a:t>
            </a:r>
            <a:r>
              <a:rPr lang="en-US" sz="2600" b="1">
                <a:solidFill>
                  <a:srgbClr val="C00000"/>
                </a:solidFill>
              </a:rPr>
              <a:t>consider broader quality attributes of a program</a:t>
            </a:r>
            <a:r>
              <a:rPr lang="en-US" sz="2600"/>
              <a:t>, such as compliance with standards, portability and maintainability (inefficiencies, inappropriate algorithms, poor programming style which make a system to be difficult to maintain &amp; update).</a:t>
            </a:r>
            <a:endParaRPr sz="2600"/>
          </a:p>
        </p:txBody>
      </p:sp>
      <p:sp>
        <p:nvSpPr>
          <p:cNvPr id="256" name="Google Shape;256;p1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57" name="Google Shape;257;p1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2"/>
          <p:cNvSpPr txBox="1">
            <a:spLocks noGrp="1"/>
          </p:cNvSpPr>
          <p:nvPr>
            <p:ph type="title"/>
          </p:nvPr>
        </p:nvSpPr>
        <p:spPr>
          <a:xfrm>
            <a:off x="609600" y="221084"/>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US" sz="3600"/>
              <a:t>Validation Technique: Dynamic Testing</a:t>
            </a:r>
            <a:endParaRPr sz="3600"/>
          </a:p>
        </p:txBody>
      </p:sp>
      <p:sp>
        <p:nvSpPr>
          <p:cNvPr id="263" name="Google Shape;263;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Char char="•"/>
            </a:pPr>
            <a:r>
              <a:rPr lang="en-US" sz="2000"/>
              <a:t>Validation involves evaluating the software </a:t>
            </a:r>
            <a:r>
              <a:rPr lang="en-US" sz="2000" b="1">
                <a:solidFill>
                  <a:srgbClr val="C00000"/>
                </a:solidFill>
              </a:rPr>
              <a:t>system to ensure that it meets the intended requirements</a:t>
            </a:r>
            <a:r>
              <a:rPr lang="en-US" sz="2000"/>
              <a:t> and satisfies the user's needs and expectations. </a:t>
            </a:r>
            <a:endParaRPr/>
          </a:p>
          <a:p>
            <a:pPr marL="342900" lvl="0" indent="-342900" algn="just" rtl="0">
              <a:spcBef>
                <a:spcPts val="400"/>
              </a:spcBef>
              <a:spcAft>
                <a:spcPts val="0"/>
              </a:spcAft>
              <a:buClr>
                <a:schemeClr val="dk1"/>
              </a:buClr>
              <a:buSzPts val="2000"/>
              <a:buChar char="•"/>
            </a:pPr>
            <a:r>
              <a:rPr lang="en-US" sz="2000"/>
              <a:t>Validation </a:t>
            </a:r>
            <a:r>
              <a:rPr lang="en-US" sz="2000" b="1">
                <a:solidFill>
                  <a:srgbClr val="C00000"/>
                </a:solidFill>
              </a:rPr>
              <a:t>requires the execution of the software in real or simulated environments</a:t>
            </a:r>
            <a:r>
              <a:rPr lang="en-US" sz="2000"/>
              <a:t> to validate its functionality, usability, and performance. </a:t>
            </a:r>
            <a:endParaRPr/>
          </a:p>
          <a:p>
            <a:pPr marL="342900" lvl="0" indent="-342900" algn="just" rtl="0">
              <a:spcBef>
                <a:spcPts val="400"/>
              </a:spcBef>
              <a:spcAft>
                <a:spcPts val="0"/>
              </a:spcAft>
              <a:buClr>
                <a:schemeClr val="dk1"/>
              </a:buClr>
              <a:buSzPts val="2000"/>
              <a:buChar char="•"/>
            </a:pPr>
            <a:r>
              <a:rPr lang="en-US" sz="2000"/>
              <a:t>This includes </a:t>
            </a:r>
            <a:r>
              <a:rPr lang="en-US" sz="2000" b="1">
                <a:solidFill>
                  <a:srgbClr val="C00000"/>
                </a:solidFill>
              </a:rPr>
              <a:t>interacting with the software, providing inputs, and evaluating the outputs </a:t>
            </a:r>
            <a:r>
              <a:rPr lang="en-US" sz="2000"/>
              <a:t>to confirm that they align with the expected results and meet the user's requirements.</a:t>
            </a:r>
            <a:endParaRPr/>
          </a:p>
          <a:p>
            <a:pPr marL="342900" lvl="0" indent="-342900" algn="just" rtl="0">
              <a:spcBef>
                <a:spcPts val="400"/>
              </a:spcBef>
              <a:spcAft>
                <a:spcPts val="0"/>
              </a:spcAft>
              <a:buClr>
                <a:schemeClr val="dk1"/>
              </a:buClr>
              <a:buSzPts val="2000"/>
              <a:buChar char="•"/>
            </a:pPr>
            <a:r>
              <a:rPr lang="en-US" sz="2000"/>
              <a:t>Validation also includes </a:t>
            </a:r>
            <a:r>
              <a:rPr lang="en-US" sz="2000" b="1">
                <a:solidFill>
                  <a:srgbClr val="C00000"/>
                </a:solidFill>
              </a:rPr>
              <a:t>assessing non-functional aspects such as scalability, security, and reliability </a:t>
            </a:r>
            <a:r>
              <a:rPr lang="en-US" sz="2000"/>
              <a:t>to ensure that the software meets the desired performance and quality standards. </a:t>
            </a:r>
            <a:r>
              <a:rPr lang="en-US" sz="2000" b="1">
                <a:solidFill>
                  <a:srgbClr val="C00000"/>
                </a:solidFill>
              </a:rPr>
              <a:t>Compliance with industry regulations and standards </a:t>
            </a:r>
            <a:r>
              <a:rPr lang="en-US" sz="2000"/>
              <a:t>may also be evaluated during the validation process.</a:t>
            </a:r>
            <a:endParaRPr/>
          </a:p>
        </p:txBody>
      </p:sp>
      <p:sp>
        <p:nvSpPr>
          <p:cNvPr id="264" name="Google Shape;264;p1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65" name="Google Shape;265;p1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13"/>
          <p:cNvPicPr preferRelativeResize="0"/>
          <p:nvPr/>
        </p:nvPicPr>
        <p:blipFill>
          <a:blip r:embed="rId3">
            <a:alphaModFix/>
          </a:blip>
          <a:stretch>
            <a:fillRect/>
          </a:stretch>
        </p:blipFill>
        <p:spPr>
          <a:xfrm>
            <a:off x="76200" y="1988550"/>
            <a:ext cx="8655049" cy="3703101"/>
          </a:xfrm>
          <a:prstGeom prst="rect">
            <a:avLst/>
          </a:prstGeom>
          <a:noFill/>
          <a:ln>
            <a:noFill/>
          </a:ln>
        </p:spPr>
      </p:pic>
      <p:sp>
        <p:nvSpPr>
          <p:cNvPr id="272" name="Google Shape;27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Testing (Dynamic)</a:t>
            </a:r>
            <a:endParaRPr/>
          </a:p>
        </p:txBody>
      </p:sp>
      <p:sp>
        <p:nvSpPr>
          <p:cNvPr id="273" name="Google Shape;273;p1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74" name="Google Shape;274;p13"/>
          <p:cNvSpPr/>
          <p:nvPr/>
        </p:nvSpPr>
        <p:spPr>
          <a:xfrm>
            <a:off x="6875463" y="3284538"/>
            <a:ext cx="1800225" cy="1008062"/>
          </a:xfrm>
          <a:prstGeom prst="rect">
            <a:avLst/>
          </a:prstGeom>
          <a:noFill/>
          <a:ln w="38100" cap="flat" cmpd="sng">
            <a:solidFill>
              <a:schemeClr val="accent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13"/>
          <p:cNvSpPr/>
          <p:nvPr/>
        </p:nvSpPr>
        <p:spPr>
          <a:xfrm>
            <a:off x="7019925" y="4581525"/>
            <a:ext cx="1512888" cy="935038"/>
          </a:xfrm>
          <a:prstGeom prst="rect">
            <a:avLst/>
          </a:prstGeom>
          <a:noFill/>
          <a:ln w="25400" cap="flat" cmpd="sng">
            <a:solidFill>
              <a:schemeClr val="accent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13"/>
          <p:cNvSpPr/>
          <p:nvPr/>
        </p:nvSpPr>
        <p:spPr>
          <a:xfrm>
            <a:off x="179388" y="4365625"/>
            <a:ext cx="1944687" cy="1295400"/>
          </a:xfrm>
          <a:prstGeom prst="rect">
            <a:avLst/>
          </a:prstGeom>
          <a:noFill/>
          <a:ln w="38100" cap="flat" cmpd="sng">
            <a:solidFill>
              <a:schemeClr val="accent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13"/>
          <p:cNvSpPr/>
          <p:nvPr/>
        </p:nvSpPr>
        <p:spPr>
          <a:xfrm>
            <a:off x="3555261" y="5419858"/>
            <a:ext cx="18271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alibri"/>
                <a:ea typeface="Calibri"/>
                <a:cs typeface="Calibri"/>
                <a:sym typeface="Calibri"/>
              </a:rPr>
              <a:t>Testing (dynamic)</a:t>
            </a:r>
            <a:endParaRPr/>
          </a:p>
        </p:txBody>
      </p:sp>
      <p:sp>
        <p:nvSpPr>
          <p:cNvPr id="278" name="Google Shape;278;p1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Inspections vs. Dynamic Testing?</a:t>
            </a:r>
            <a:endParaRPr/>
          </a:p>
        </p:txBody>
      </p:sp>
      <p:sp>
        <p:nvSpPr>
          <p:cNvPr id="284" name="Google Shape;284;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800"/>
              <a:buChar char="•"/>
            </a:pPr>
            <a:r>
              <a:rPr lang="en-US" sz="2800"/>
              <a:t>Software </a:t>
            </a:r>
            <a:r>
              <a:rPr lang="en-US" sz="2800" b="1">
                <a:solidFill>
                  <a:srgbClr val="C00000"/>
                </a:solidFill>
              </a:rPr>
              <a:t>inspection</a:t>
            </a:r>
            <a:r>
              <a:rPr lang="en-US" sz="2800"/>
              <a:t> and review concerned with checking and analysis of the static system representation to discover problems  (“static test”: </a:t>
            </a:r>
            <a:r>
              <a:rPr lang="en-US" sz="2800" b="1">
                <a:solidFill>
                  <a:srgbClr val="C00000"/>
                </a:solidFill>
              </a:rPr>
              <a:t>no execution </a:t>
            </a:r>
            <a:r>
              <a:rPr lang="en-US" sz="2800"/>
              <a:t>needed)</a:t>
            </a:r>
            <a:endParaRPr/>
          </a:p>
          <a:p>
            <a:pPr marL="742950" lvl="1" indent="-285750" algn="just" rtl="0">
              <a:lnSpc>
                <a:spcPct val="80000"/>
              </a:lnSpc>
              <a:spcBef>
                <a:spcPts val="1080"/>
              </a:spcBef>
              <a:spcAft>
                <a:spcPts val="0"/>
              </a:spcAft>
              <a:buClr>
                <a:schemeClr val="dk1"/>
              </a:buClr>
              <a:buSzPts val="2400"/>
              <a:buChar char="–"/>
            </a:pPr>
            <a:r>
              <a:rPr lang="en-US" sz="2400"/>
              <a:t>May be supported by tool-based document and code analysis (“static analysis”)</a:t>
            </a:r>
            <a:endParaRPr/>
          </a:p>
          <a:p>
            <a:pPr marL="342900" lvl="0" indent="-342900" algn="just" rtl="0">
              <a:lnSpc>
                <a:spcPct val="80000"/>
              </a:lnSpc>
              <a:spcBef>
                <a:spcPts val="1160"/>
              </a:spcBef>
              <a:spcAft>
                <a:spcPts val="0"/>
              </a:spcAft>
              <a:buClr>
                <a:schemeClr val="dk1"/>
              </a:buClr>
              <a:buSzPts val="2800"/>
              <a:buChar char="•"/>
            </a:pPr>
            <a:r>
              <a:rPr lang="en-US" sz="2800"/>
              <a:t>Software </a:t>
            </a:r>
            <a:r>
              <a:rPr lang="en-US" sz="2800" b="1">
                <a:solidFill>
                  <a:srgbClr val="C00000"/>
                </a:solidFill>
              </a:rPr>
              <a:t>testing</a:t>
            </a:r>
            <a:r>
              <a:rPr lang="en-US" sz="2800"/>
              <a:t> concerned with exercising and </a:t>
            </a:r>
            <a:br>
              <a:rPr lang="en-US" sz="2800"/>
            </a:br>
            <a:r>
              <a:rPr lang="en-US" sz="2800"/>
              <a:t>observing product behaviour (“dynamic test”: </a:t>
            </a:r>
            <a:r>
              <a:rPr lang="en-US" sz="2800" b="1">
                <a:solidFill>
                  <a:srgbClr val="C00000"/>
                </a:solidFill>
              </a:rPr>
              <a:t>needs execution</a:t>
            </a:r>
            <a:r>
              <a:rPr lang="en-US" sz="2800"/>
              <a:t>)</a:t>
            </a:r>
            <a:endParaRPr/>
          </a:p>
          <a:p>
            <a:pPr marL="742950" lvl="1" indent="-285750" algn="just" rtl="0">
              <a:lnSpc>
                <a:spcPct val="80000"/>
              </a:lnSpc>
              <a:spcBef>
                <a:spcPts val="1080"/>
              </a:spcBef>
              <a:spcAft>
                <a:spcPts val="0"/>
              </a:spcAft>
              <a:buClr>
                <a:schemeClr val="dk1"/>
              </a:buClr>
              <a:buSzPts val="2400"/>
              <a:buChar char="–"/>
            </a:pPr>
            <a:r>
              <a:rPr lang="en-US" sz="2400"/>
              <a:t>The system is executed with test data and its operational behaviour is observed</a:t>
            </a:r>
            <a:endParaRPr sz="2600"/>
          </a:p>
          <a:p>
            <a:pPr marL="0" lvl="0" indent="0" algn="just" rtl="0">
              <a:spcBef>
                <a:spcPts val="1240"/>
              </a:spcBef>
              <a:spcAft>
                <a:spcPts val="0"/>
              </a:spcAft>
              <a:buClr>
                <a:schemeClr val="dk1"/>
              </a:buClr>
              <a:buSzPts val="3200"/>
              <a:buNone/>
            </a:pPr>
            <a:endParaRPr/>
          </a:p>
        </p:txBody>
      </p:sp>
      <p:sp>
        <p:nvSpPr>
          <p:cNvPr id="285" name="Google Shape;285;p1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86" name="Google Shape;286;p1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Inspections vs. Dynamic Testing?</a:t>
            </a:r>
            <a:endParaRPr/>
          </a:p>
        </p:txBody>
      </p:sp>
      <p:sp>
        <p:nvSpPr>
          <p:cNvPr id="292" name="Google Shape;292;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3000"/>
              <a:buChar char="•"/>
            </a:pPr>
            <a:r>
              <a:rPr lang="en-US" sz="3000"/>
              <a:t>Inspections and dynamic testing are V&amp;V verification techniques</a:t>
            </a:r>
            <a:endParaRPr/>
          </a:p>
          <a:p>
            <a:pPr marL="342900" lvl="0" indent="-342900" algn="just" rtl="0">
              <a:lnSpc>
                <a:spcPct val="90000"/>
              </a:lnSpc>
              <a:spcBef>
                <a:spcPts val="600"/>
              </a:spcBef>
              <a:spcAft>
                <a:spcPts val="0"/>
              </a:spcAft>
              <a:buClr>
                <a:schemeClr val="dk1"/>
              </a:buClr>
              <a:buSzPts val="3000"/>
              <a:buChar char="•"/>
            </a:pPr>
            <a:r>
              <a:rPr lang="en-US" sz="3000"/>
              <a:t>Both should be used during the V&amp;V process</a:t>
            </a:r>
            <a:endParaRPr/>
          </a:p>
          <a:p>
            <a:pPr marL="342900" lvl="0" indent="-342900" algn="just" rtl="0">
              <a:lnSpc>
                <a:spcPct val="90000"/>
              </a:lnSpc>
              <a:spcBef>
                <a:spcPts val="600"/>
              </a:spcBef>
              <a:spcAft>
                <a:spcPts val="0"/>
              </a:spcAft>
              <a:buClr>
                <a:schemeClr val="dk1"/>
              </a:buClr>
              <a:buSzPts val="3000"/>
              <a:buChar char="•"/>
            </a:pPr>
            <a:r>
              <a:rPr lang="en-US" sz="3000"/>
              <a:t>Inspections can </a:t>
            </a:r>
            <a:r>
              <a:rPr lang="en-US" sz="3000" b="1">
                <a:solidFill>
                  <a:srgbClr val="C00000"/>
                </a:solidFill>
              </a:rPr>
              <a:t>check conformance with a specification</a:t>
            </a:r>
            <a:r>
              <a:rPr lang="en-US" sz="3000"/>
              <a:t> (system) but not conformance with the customer’s real requirements</a:t>
            </a:r>
            <a:endParaRPr/>
          </a:p>
          <a:p>
            <a:pPr marL="342900" lvl="0" indent="-342900" algn="just" rtl="0">
              <a:lnSpc>
                <a:spcPct val="90000"/>
              </a:lnSpc>
              <a:spcBef>
                <a:spcPts val="600"/>
              </a:spcBef>
              <a:spcAft>
                <a:spcPts val="0"/>
              </a:spcAft>
              <a:buClr>
                <a:schemeClr val="dk1"/>
              </a:buClr>
              <a:buSzPts val="3000"/>
              <a:buChar char="•"/>
            </a:pPr>
            <a:r>
              <a:rPr lang="en-US" sz="3000"/>
              <a:t>Inspections </a:t>
            </a:r>
            <a:r>
              <a:rPr lang="en-US" sz="3000" b="1">
                <a:solidFill>
                  <a:srgbClr val="C00000"/>
                </a:solidFill>
              </a:rPr>
              <a:t>cannot check non-functional </a:t>
            </a:r>
            <a:r>
              <a:rPr lang="en-US" sz="3000"/>
              <a:t>characteristics such as performance, usability, etc.</a:t>
            </a:r>
            <a:endParaRPr/>
          </a:p>
        </p:txBody>
      </p:sp>
      <p:sp>
        <p:nvSpPr>
          <p:cNvPr id="293" name="Google Shape;293;p1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94" name="Google Shape;294;p1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Recap on Software (Dynamic) Testing</a:t>
            </a:r>
            <a:endParaRPr/>
          </a:p>
        </p:txBody>
      </p:sp>
      <p:sp>
        <p:nvSpPr>
          <p:cNvPr id="300" name="Google Shape;300;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000"/>
              <a:buChar char="•"/>
            </a:pPr>
            <a:r>
              <a:rPr lang="en-US" sz="3000"/>
              <a:t>Software (dynamic) testing is concerned with exercising and observing </a:t>
            </a:r>
            <a:r>
              <a:rPr lang="en-US" sz="3000" b="1">
                <a:solidFill>
                  <a:srgbClr val="C00000"/>
                </a:solidFill>
              </a:rPr>
              <a:t>product behaviour</a:t>
            </a:r>
            <a:endParaRPr/>
          </a:p>
          <a:p>
            <a:pPr marL="342900" lvl="0" indent="-342900" algn="just" rtl="0">
              <a:spcBef>
                <a:spcPts val="600"/>
              </a:spcBef>
              <a:spcAft>
                <a:spcPts val="0"/>
              </a:spcAft>
              <a:buClr>
                <a:schemeClr val="dk1"/>
              </a:buClr>
              <a:buSzPts val="3000"/>
              <a:buChar char="•"/>
            </a:pPr>
            <a:r>
              <a:rPr lang="en-US" sz="3000"/>
              <a:t>Dynamic test: The system is executed with test data and its operational behaviour is observed</a:t>
            </a:r>
            <a:endParaRPr/>
          </a:p>
          <a:p>
            <a:pPr marL="342900" lvl="0" indent="-342900" algn="just" rtl="0">
              <a:spcBef>
                <a:spcPts val="600"/>
              </a:spcBef>
              <a:spcAft>
                <a:spcPts val="0"/>
              </a:spcAft>
              <a:buClr>
                <a:schemeClr val="dk1"/>
              </a:buClr>
              <a:buSzPts val="3000"/>
              <a:buChar char="•"/>
            </a:pPr>
            <a:r>
              <a:rPr lang="en-US" sz="3000"/>
              <a:t>“Testing can only show the presence of errors, not their absence” (Dijkstra et al. 1972)</a:t>
            </a:r>
            <a:endParaRPr/>
          </a:p>
          <a:p>
            <a:pPr marL="342900" lvl="0" indent="-342900" algn="just" rtl="0">
              <a:spcBef>
                <a:spcPts val="600"/>
              </a:spcBef>
              <a:spcAft>
                <a:spcPts val="0"/>
              </a:spcAft>
              <a:buClr>
                <a:schemeClr val="dk1"/>
              </a:buClr>
              <a:buSzPts val="3000"/>
              <a:buNone/>
            </a:pPr>
            <a:endParaRPr sz="3000"/>
          </a:p>
          <a:p>
            <a:pPr marL="342900" lvl="0" indent="-152400" algn="just" rtl="0">
              <a:spcBef>
                <a:spcPts val="600"/>
              </a:spcBef>
              <a:spcAft>
                <a:spcPts val="0"/>
              </a:spcAft>
              <a:buClr>
                <a:schemeClr val="dk1"/>
              </a:buClr>
              <a:buSzPts val="3000"/>
              <a:buNone/>
            </a:pPr>
            <a:endParaRPr sz="3000"/>
          </a:p>
        </p:txBody>
      </p:sp>
      <p:sp>
        <p:nvSpPr>
          <p:cNvPr id="301" name="Google Shape;301;p1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02" name="Google Shape;302;p1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V&amp;V Technique:  Prototyping</a:t>
            </a:r>
            <a:endParaRPr sz="4000"/>
          </a:p>
        </p:txBody>
      </p:sp>
      <p:sp>
        <p:nvSpPr>
          <p:cNvPr id="308" name="Google Shape;308;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sz="2000"/>
              <a:t>“A software prototype is a </a:t>
            </a:r>
            <a:r>
              <a:rPr lang="en-US" sz="2000" b="1">
                <a:solidFill>
                  <a:srgbClr val="C00000"/>
                </a:solidFill>
              </a:rPr>
              <a:t>partial implementation </a:t>
            </a:r>
            <a:r>
              <a:rPr lang="en-US" sz="2000"/>
              <a:t>constructed primarily to enable customers, users, or developers to learn more about a problem or its solution.” [Davis, 1990]</a:t>
            </a:r>
            <a:endParaRPr/>
          </a:p>
          <a:p>
            <a:pPr marL="342900" lvl="0" indent="-225425" algn="l" rtl="0">
              <a:spcBef>
                <a:spcPts val="370"/>
              </a:spcBef>
              <a:spcAft>
                <a:spcPts val="0"/>
              </a:spcAft>
              <a:buClr>
                <a:schemeClr val="dk1"/>
              </a:buClr>
              <a:buSzPct val="100000"/>
              <a:buNone/>
            </a:pPr>
            <a:endParaRPr sz="2000"/>
          </a:p>
          <a:p>
            <a:pPr marL="342900" lvl="0" indent="-342900" algn="l" rtl="0">
              <a:spcBef>
                <a:spcPts val="370"/>
              </a:spcBef>
              <a:spcAft>
                <a:spcPts val="0"/>
              </a:spcAft>
              <a:buClr>
                <a:schemeClr val="dk1"/>
              </a:buClr>
              <a:buSzPct val="100000"/>
              <a:buChar char="•"/>
            </a:pPr>
            <a:r>
              <a:rPr lang="en-US" sz="2000"/>
              <a:t>“Prototyping is the process of building a </a:t>
            </a:r>
            <a:r>
              <a:rPr lang="en-US" sz="2000" b="1">
                <a:solidFill>
                  <a:srgbClr val="C00000"/>
                </a:solidFill>
              </a:rPr>
              <a:t>working model </a:t>
            </a:r>
            <a:r>
              <a:rPr lang="en-US" sz="2000"/>
              <a:t>of the system.” [Agresti,1986]</a:t>
            </a:r>
            <a:endParaRPr/>
          </a:p>
          <a:p>
            <a:pPr marL="342900" lvl="0" indent="-225425" algn="l" rtl="0">
              <a:spcBef>
                <a:spcPts val="370"/>
              </a:spcBef>
              <a:spcAft>
                <a:spcPts val="0"/>
              </a:spcAft>
              <a:buClr>
                <a:schemeClr val="dk1"/>
              </a:buClr>
              <a:buSzPct val="100000"/>
              <a:buNone/>
            </a:pPr>
            <a:endParaRPr sz="2000"/>
          </a:p>
          <a:p>
            <a:pPr marL="342900" lvl="0" indent="-342900" algn="l" rtl="0">
              <a:spcBef>
                <a:spcPts val="388"/>
              </a:spcBef>
              <a:spcAft>
                <a:spcPts val="0"/>
              </a:spcAft>
              <a:buClr>
                <a:schemeClr val="dk1"/>
              </a:buClr>
              <a:buSzPct val="100000"/>
              <a:buChar char="•"/>
            </a:pPr>
            <a:r>
              <a:rPr lang="en-US" sz="2000"/>
              <a:t>Prototyping can be </a:t>
            </a:r>
            <a:r>
              <a:rPr lang="en-US" sz="2100" b="1">
                <a:solidFill>
                  <a:srgbClr val="C00000"/>
                </a:solidFill>
              </a:rPr>
              <a:t>used as a form of verification </a:t>
            </a:r>
            <a:r>
              <a:rPr lang="en-US" sz="2000"/>
              <a:t>by verifying requirements, verifying design choices, validating functionality, and gathering user feedback. It allows stakeholders to visualize and interact with a working model of the software, enabling early identification of errors and issues before full-scale development. </a:t>
            </a:r>
            <a:endParaRPr/>
          </a:p>
          <a:p>
            <a:pPr marL="342900" lvl="0" indent="-225425" algn="l" rtl="0">
              <a:spcBef>
                <a:spcPts val="370"/>
              </a:spcBef>
              <a:spcAft>
                <a:spcPts val="0"/>
              </a:spcAft>
              <a:buClr>
                <a:schemeClr val="dk1"/>
              </a:buClr>
              <a:buSzPct val="100000"/>
              <a:buNone/>
            </a:pPr>
            <a:endParaRPr sz="2000"/>
          </a:p>
          <a:p>
            <a:pPr marL="342900" lvl="0" indent="-342900" algn="l" rtl="0">
              <a:spcBef>
                <a:spcPts val="370"/>
              </a:spcBef>
              <a:spcAft>
                <a:spcPts val="0"/>
              </a:spcAft>
              <a:buClr>
                <a:schemeClr val="dk1"/>
              </a:buClr>
              <a:buSzPct val="100000"/>
              <a:buChar char="•"/>
            </a:pPr>
            <a:r>
              <a:rPr lang="en-US" sz="2000"/>
              <a:t>While prototyping serves as a valuable verification technique, it should be supplemented with other verification activities, such as inspections, reviews, and testing, to ensure that the software meets the specified requirements and quality standards.</a:t>
            </a:r>
            <a:endParaRPr/>
          </a:p>
        </p:txBody>
      </p:sp>
      <p:sp>
        <p:nvSpPr>
          <p:cNvPr id="309" name="Google Shape;309;p1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10" name="Google Shape;310;p1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V&amp;V Technique:  Prototyping</a:t>
            </a:r>
            <a:endParaRPr sz="4000"/>
          </a:p>
        </p:txBody>
      </p:sp>
      <p:sp>
        <p:nvSpPr>
          <p:cNvPr id="316" name="Google Shape;316;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Prototyping is </a:t>
            </a:r>
            <a:r>
              <a:rPr lang="en-US" sz="2100" b="1">
                <a:solidFill>
                  <a:srgbClr val="C00000"/>
                </a:solidFill>
              </a:rPr>
              <a:t>used for validation </a:t>
            </a:r>
            <a:r>
              <a:rPr lang="en-US" sz="2000"/>
              <a:t>in software development by providing stakeholders with a tangible representation of the software system. Through prototypes, requirements can be validated, design choices can be assessed, and user feedback can be gathered and incorporated. </a:t>
            </a:r>
            <a:endParaRPr/>
          </a:p>
          <a:p>
            <a:pPr marL="342900" lvl="0" indent="-215900" algn="l" rtl="0">
              <a:spcBef>
                <a:spcPts val="400"/>
              </a:spcBef>
              <a:spcAft>
                <a:spcPts val="0"/>
              </a:spcAft>
              <a:buClr>
                <a:schemeClr val="dk1"/>
              </a:buClr>
              <a:buSzPts val="2000"/>
              <a:buNone/>
            </a:pPr>
            <a:endParaRPr sz="2000"/>
          </a:p>
          <a:p>
            <a:pPr marL="342900" lvl="0" indent="-342900" algn="l" rtl="0">
              <a:spcBef>
                <a:spcPts val="400"/>
              </a:spcBef>
              <a:spcAft>
                <a:spcPts val="0"/>
              </a:spcAft>
              <a:buClr>
                <a:schemeClr val="dk1"/>
              </a:buClr>
              <a:buSzPts val="2000"/>
              <a:buChar char="•"/>
            </a:pPr>
            <a:r>
              <a:rPr lang="en-US" sz="2000"/>
              <a:t>Prototypes allow for testing and validation of the system's functionality, user experience, and alignment with user needs and expectations. By using prototyping for validation, software engineers can identify and address issues early in the development process, ensuring that the final product meets the desired objectives and delivers value to the end users.</a:t>
            </a:r>
            <a:endParaRPr/>
          </a:p>
          <a:p>
            <a:pPr marL="0" lvl="0" indent="0" algn="l" rtl="0">
              <a:spcBef>
                <a:spcPts val="400"/>
              </a:spcBef>
              <a:spcAft>
                <a:spcPts val="0"/>
              </a:spcAft>
              <a:buClr>
                <a:schemeClr val="dk1"/>
              </a:buClr>
              <a:buSzPts val="2000"/>
              <a:buNone/>
            </a:pPr>
            <a:endParaRPr sz="2000"/>
          </a:p>
        </p:txBody>
      </p:sp>
      <p:sp>
        <p:nvSpPr>
          <p:cNvPr id="317" name="Google Shape;317;p1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18" name="Google Shape;318;p1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2800"/>
              <a:buFont typeface="Calibri"/>
              <a:buNone/>
            </a:pPr>
            <a:r>
              <a:rPr lang="en-US" sz="2800"/>
              <a:t>V&amp;V Technique:  Model Analysis</a:t>
            </a:r>
            <a:endParaRPr sz="2800"/>
          </a:p>
        </p:txBody>
      </p:sp>
      <p:sp>
        <p:nvSpPr>
          <p:cNvPr id="324" name="Google Shape;324;p19"/>
          <p:cNvSpPr txBox="1">
            <a:spLocks noGrp="1"/>
          </p:cNvSpPr>
          <p:nvPr>
            <p:ph type="body" idx="1"/>
          </p:nvPr>
        </p:nvSpPr>
        <p:spPr>
          <a:xfrm>
            <a:off x="457200" y="1600200"/>
            <a:ext cx="8229600" cy="47244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800"/>
              <a:buChar char="•"/>
            </a:pPr>
            <a:r>
              <a:rPr lang="en-US" sz="2800"/>
              <a:t>Verification:</a:t>
            </a:r>
            <a:endParaRPr/>
          </a:p>
          <a:p>
            <a:pPr marL="742950" lvl="1" indent="-285750" algn="l" rtl="0">
              <a:lnSpc>
                <a:spcPct val="80000"/>
              </a:lnSpc>
              <a:spcBef>
                <a:spcPts val="480"/>
              </a:spcBef>
              <a:spcAft>
                <a:spcPts val="0"/>
              </a:spcAft>
              <a:buClr>
                <a:schemeClr val="dk1"/>
              </a:buClr>
              <a:buSzPts val="2400"/>
              <a:buChar char="–"/>
            </a:pPr>
            <a:r>
              <a:rPr lang="en-US" sz="2400"/>
              <a:t>Is the model </a:t>
            </a:r>
            <a:r>
              <a:rPr lang="en-US" sz="2400" b="1">
                <a:solidFill>
                  <a:srgbClr val="C00000"/>
                </a:solidFill>
              </a:rPr>
              <a:t>well formed</a:t>
            </a:r>
            <a:r>
              <a:rPr lang="en-US" sz="2400"/>
              <a:t>?</a:t>
            </a:r>
            <a:endParaRPr/>
          </a:p>
          <a:p>
            <a:pPr marL="742950" lvl="1" indent="-285750" algn="l" rtl="0">
              <a:lnSpc>
                <a:spcPct val="80000"/>
              </a:lnSpc>
              <a:spcBef>
                <a:spcPts val="480"/>
              </a:spcBef>
              <a:spcAft>
                <a:spcPts val="0"/>
              </a:spcAft>
              <a:buClr>
                <a:schemeClr val="dk1"/>
              </a:buClr>
              <a:buSzPts val="2400"/>
              <a:buChar char="–"/>
            </a:pPr>
            <a:r>
              <a:rPr lang="en-US" sz="2400"/>
              <a:t>Are the parts of the model </a:t>
            </a:r>
            <a:r>
              <a:rPr lang="en-US" sz="2400" b="1">
                <a:solidFill>
                  <a:srgbClr val="C00000"/>
                </a:solidFill>
              </a:rPr>
              <a:t>consistent</a:t>
            </a:r>
            <a:r>
              <a:rPr lang="en-US" sz="2400"/>
              <a:t> with one another?</a:t>
            </a:r>
            <a:endParaRPr/>
          </a:p>
          <a:p>
            <a:pPr marL="342900" lvl="0" indent="-342900" algn="l" rtl="0">
              <a:lnSpc>
                <a:spcPct val="80000"/>
              </a:lnSpc>
              <a:spcBef>
                <a:spcPts val="560"/>
              </a:spcBef>
              <a:spcAft>
                <a:spcPts val="0"/>
              </a:spcAft>
              <a:buClr>
                <a:schemeClr val="dk1"/>
              </a:buClr>
              <a:buSzPts val="2800"/>
              <a:buChar char="•"/>
            </a:pPr>
            <a:r>
              <a:rPr lang="en-US" sz="2800"/>
              <a:t>Validation:</a:t>
            </a:r>
            <a:endParaRPr/>
          </a:p>
          <a:p>
            <a:pPr marL="742950" lvl="1" indent="-285750" algn="l" rtl="0">
              <a:lnSpc>
                <a:spcPct val="80000"/>
              </a:lnSpc>
              <a:spcBef>
                <a:spcPts val="520"/>
              </a:spcBef>
              <a:spcAft>
                <a:spcPts val="0"/>
              </a:spcAft>
              <a:buClr>
                <a:schemeClr val="dk1"/>
              </a:buClr>
              <a:buSzPts val="2600"/>
              <a:buChar char="–"/>
            </a:pPr>
            <a:r>
              <a:rPr lang="en-US" sz="2600"/>
              <a:t>Animation of the model on </a:t>
            </a:r>
            <a:r>
              <a:rPr lang="en-US" sz="2600" b="1">
                <a:solidFill>
                  <a:srgbClr val="C00000"/>
                </a:solidFill>
              </a:rPr>
              <a:t>small examples</a:t>
            </a:r>
            <a:endParaRPr/>
          </a:p>
          <a:p>
            <a:pPr marL="742950" lvl="1" indent="-285750" algn="l" rtl="0">
              <a:lnSpc>
                <a:spcPct val="80000"/>
              </a:lnSpc>
              <a:spcBef>
                <a:spcPts val="520"/>
              </a:spcBef>
              <a:spcAft>
                <a:spcPts val="0"/>
              </a:spcAft>
              <a:buClr>
                <a:schemeClr val="dk1"/>
              </a:buClr>
              <a:buSzPts val="2600"/>
              <a:buChar char="–"/>
            </a:pPr>
            <a:r>
              <a:rPr lang="en-US" sz="2600"/>
              <a:t>Formal challenges: “if the model is correct, then the following property should hold...”</a:t>
            </a:r>
            <a:endParaRPr sz="2600"/>
          </a:p>
          <a:p>
            <a:pPr marL="742950" lvl="1" indent="-285750" algn="l" rtl="0">
              <a:lnSpc>
                <a:spcPct val="80000"/>
              </a:lnSpc>
              <a:spcBef>
                <a:spcPts val="520"/>
              </a:spcBef>
              <a:spcAft>
                <a:spcPts val="0"/>
              </a:spcAft>
              <a:buClr>
                <a:schemeClr val="dk1"/>
              </a:buClr>
              <a:buSzPts val="2600"/>
              <a:buChar char="–"/>
            </a:pPr>
            <a:r>
              <a:rPr lang="en-US" sz="2600"/>
              <a:t>‘</a:t>
            </a:r>
            <a:r>
              <a:rPr lang="en-US" sz="2600" b="1">
                <a:solidFill>
                  <a:srgbClr val="C00000"/>
                </a:solidFill>
              </a:rPr>
              <a:t>What if</a:t>
            </a:r>
            <a:r>
              <a:rPr lang="en-US" sz="2600"/>
              <a:t>’questions:</a:t>
            </a:r>
            <a:endParaRPr/>
          </a:p>
          <a:p>
            <a:pPr marL="1143000" lvl="2" indent="-228600" algn="l" rtl="0">
              <a:lnSpc>
                <a:spcPct val="80000"/>
              </a:lnSpc>
              <a:spcBef>
                <a:spcPts val="520"/>
              </a:spcBef>
              <a:spcAft>
                <a:spcPts val="0"/>
              </a:spcAft>
              <a:buClr>
                <a:schemeClr val="dk1"/>
              </a:buClr>
              <a:buSzPts val="2600"/>
              <a:buChar char="•"/>
            </a:pPr>
            <a:r>
              <a:rPr lang="en-US" sz="2600"/>
              <a:t>reasoning about the consequences of particular requirements</a:t>
            </a:r>
            <a:endParaRPr/>
          </a:p>
          <a:p>
            <a:pPr marL="1143000" lvl="2" indent="-228600" algn="l" rtl="0">
              <a:lnSpc>
                <a:spcPct val="80000"/>
              </a:lnSpc>
              <a:spcBef>
                <a:spcPts val="520"/>
              </a:spcBef>
              <a:spcAft>
                <a:spcPts val="0"/>
              </a:spcAft>
              <a:buClr>
                <a:schemeClr val="dk1"/>
              </a:buClr>
              <a:buSzPts val="2600"/>
              <a:buChar char="•"/>
            </a:pPr>
            <a:r>
              <a:rPr lang="en-US" sz="2600"/>
              <a:t>reasoning about the effect of possible changes</a:t>
            </a:r>
            <a:endParaRPr/>
          </a:p>
          <a:p>
            <a:pPr marL="1143000" lvl="2" indent="-228600" algn="l" rtl="0">
              <a:lnSpc>
                <a:spcPct val="80000"/>
              </a:lnSpc>
              <a:spcBef>
                <a:spcPts val="520"/>
              </a:spcBef>
              <a:spcAft>
                <a:spcPts val="0"/>
              </a:spcAft>
              <a:buClr>
                <a:schemeClr val="dk1"/>
              </a:buClr>
              <a:buSzPts val="2600"/>
              <a:buChar char="•"/>
            </a:pPr>
            <a:r>
              <a:rPr lang="en-US" sz="2600"/>
              <a:t>“will the system ever do the following...”</a:t>
            </a:r>
            <a:endParaRPr sz="2600"/>
          </a:p>
          <a:p>
            <a:pPr marL="342900" lvl="0" indent="-177800" algn="l" rtl="0">
              <a:lnSpc>
                <a:spcPct val="80000"/>
              </a:lnSpc>
              <a:spcBef>
                <a:spcPts val="520"/>
              </a:spcBef>
              <a:spcAft>
                <a:spcPts val="0"/>
              </a:spcAft>
              <a:buClr>
                <a:schemeClr val="dk1"/>
              </a:buClr>
              <a:buSzPts val="2600"/>
              <a:buNone/>
            </a:pPr>
            <a:endParaRPr sz="2600"/>
          </a:p>
          <a:p>
            <a:pPr marL="342900" lvl="0" indent="-165100" algn="l" rtl="0">
              <a:spcBef>
                <a:spcPts val="560"/>
              </a:spcBef>
              <a:spcAft>
                <a:spcPts val="0"/>
              </a:spcAft>
              <a:buClr>
                <a:schemeClr val="dk1"/>
              </a:buClr>
              <a:buSzPts val="2800"/>
              <a:buNone/>
            </a:pPr>
            <a:endParaRPr sz="2800"/>
          </a:p>
        </p:txBody>
      </p:sp>
      <p:sp>
        <p:nvSpPr>
          <p:cNvPr id="325" name="Google Shape;325;p1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26" name="Google Shape;326;p1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533400" y="7374"/>
            <a:ext cx="8229600" cy="134143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200"/>
              <a:buFont typeface="Calibri"/>
              <a:buNone/>
            </a:pPr>
            <a:r>
              <a:rPr lang="en-US" sz="3200"/>
              <a:t>Verification Technique:  Model Analysis</a:t>
            </a:r>
            <a:br>
              <a:rPr lang="en-US" sz="3200"/>
            </a:br>
            <a:r>
              <a:rPr lang="en-US" sz="3200"/>
              <a:t>Example in Basic Cross-Check for UML Model</a:t>
            </a:r>
            <a:endParaRPr sz="3200"/>
          </a:p>
        </p:txBody>
      </p:sp>
      <p:sp>
        <p:nvSpPr>
          <p:cNvPr id="332" name="Google Shape;332;p2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333" name="Google Shape;333;p20"/>
          <p:cNvPicPr preferRelativeResize="0"/>
          <p:nvPr/>
        </p:nvPicPr>
        <p:blipFill rotWithShape="1">
          <a:blip r:embed="rId3">
            <a:alphaModFix/>
          </a:blip>
          <a:srcRect/>
          <a:stretch/>
        </p:blipFill>
        <p:spPr>
          <a:xfrm>
            <a:off x="899886" y="1483220"/>
            <a:ext cx="7394298" cy="4926894"/>
          </a:xfrm>
          <a:prstGeom prst="rect">
            <a:avLst/>
          </a:prstGeom>
          <a:noFill/>
          <a:ln>
            <a:noFill/>
          </a:ln>
        </p:spPr>
      </p:pic>
      <p:sp>
        <p:nvSpPr>
          <p:cNvPr id="334" name="Google Shape;334;p2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Stages of Testing</a:t>
            </a:r>
            <a:endParaRPr/>
          </a:p>
        </p:txBody>
      </p:sp>
      <p:sp>
        <p:nvSpPr>
          <p:cNvPr id="340" name="Google Shape;340;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just" rtl="0">
              <a:lnSpc>
                <a:spcPct val="80000"/>
              </a:lnSpc>
              <a:spcBef>
                <a:spcPts val="0"/>
              </a:spcBef>
              <a:spcAft>
                <a:spcPts val="0"/>
              </a:spcAft>
              <a:buClr>
                <a:schemeClr val="dk1"/>
              </a:buClr>
              <a:buSzPts val="2800"/>
              <a:buNone/>
            </a:pPr>
            <a:r>
              <a:rPr lang="en-US" sz="2800"/>
              <a:t>Commercial software requires </a:t>
            </a:r>
            <a:r>
              <a:rPr lang="en-US" sz="2800" b="1">
                <a:solidFill>
                  <a:srgbClr val="C00000"/>
                </a:solidFill>
              </a:rPr>
              <a:t>4 stages</a:t>
            </a:r>
            <a:r>
              <a:rPr lang="en-US" sz="2800"/>
              <a:t> of testing:</a:t>
            </a:r>
            <a:endParaRPr/>
          </a:p>
          <a:p>
            <a:pPr marL="0" lvl="0" indent="-177800" algn="just" rtl="0">
              <a:lnSpc>
                <a:spcPct val="80000"/>
              </a:lnSpc>
              <a:spcBef>
                <a:spcPts val="560"/>
              </a:spcBef>
              <a:spcAft>
                <a:spcPts val="0"/>
              </a:spcAft>
              <a:buClr>
                <a:schemeClr val="dk1"/>
              </a:buClr>
              <a:buSzPts val="2800"/>
              <a:buFont typeface="Calibri"/>
              <a:buAutoNum type="arabicPeriod"/>
            </a:pPr>
            <a:r>
              <a:rPr lang="en-US" sz="2800"/>
              <a:t> </a:t>
            </a:r>
            <a:r>
              <a:rPr lang="en-US" sz="2600" b="1">
                <a:solidFill>
                  <a:srgbClr val="C00000"/>
                </a:solidFill>
              </a:rPr>
              <a:t>Component</a:t>
            </a:r>
            <a:r>
              <a:rPr lang="en-US" sz="2600"/>
              <a:t> test: Individual software components are tested during development to discover bugs and defects </a:t>
            </a:r>
            <a:endParaRPr/>
          </a:p>
          <a:p>
            <a:pPr marL="0" lvl="0" indent="-165100" algn="just" rtl="0">
              <a:lnSpc>
                <a:spcPct val="80000"/>
              </a:lnSpc>
              <a:spcBef>
                <a:spcPts val="520"/>
              </a:spcBef>
              <a:spcAft>
                <a:spcPts val="0"/>
              </a:spcAft>
              <a:buClr>
                <a:schemeClr val="dk1"/>
              </a:buClr>
              <a:buSzPts val="2600"/>
              <a:buFont typeface="Calibri"/>
              <a:buAutoNum type="arabicPeriod"/>
            </a:pPr>
            <a:r>
              <a:rPr lang="en-US" sz="2600"/>
              <a:t> </a:t>
            </a:r>
            <a:r>
              <a:rPr lang="en-US" sz="2600" b="1">
                <a:solidFill>
                  <a:srgbClr val="C00000"/>
                </a:solidFill>
              </a:rPr>
              <a:t>Integration</a:t>
            </a:r>
            <a:r>
              <a:rPr lang="en-US" sz="2600"/>
              <a:t> test: Testing is performed between integrated components during development</a:t>
            </a:r>
            <a:endParaRPr/>
          </a:p>
          <a:p>
            <a:pPr marL="0" lvl="0" indent="-165100" algn="just" rtl="0">
              <a:lnSpc>
                <a:spcPct val="80000"/>
              </a:lnSpc>
              <a:spcBef>
                <a:spcPts val="520"/>
              </a:spcBef>
              <a:spcAft>
                <a:spcPts val="0"/>
              </a:spcAft>
              <a:buClr>
                <a:schemeClr val="dk1"/>
              </a:buClr>
              <a:buSzPts val="2600"/>
              <a:buFont typeface="Calibri"/>
              <a:buAutoNum type="arabicPeriod"/>
            </a:pPr>
            <a:r>
              <a:rPr lang="en-US" sz="2600"/>
              <a:t> </a:t>
            </a:r>
            <a:r>
              <a:rPr lang="en-US" sz="2600" b="1">
                <a:solidFill>
                  <a:srgbClr val="C00000"/>
                </a:solidFill>
              </a:rPr>
              <a:t>System</a:t>
            </a:r>
            <a:r>
              <a:rPr lang="en-US" sz="2600"/>
              <a:t> test: Separate testing team tests a complete version of the system before it is released to users</a:t>
            </a:r>
            <a:endParaRPr/>
          </a:p>
          <a:p>
            <a:pPr marL="0" lvl="0" indent="-165100" algn="just" rtl="0">
              <a:lnSpc>
                <a:spcPct val="80000"/>
              </a:lnSpc>
              <a:spcBef>
                <a:spcPts val="520"/>
              </a:spcBef>
              <a:spcAft>
                <a:spcPts val="0"/>
              </a:spcAft>
              <a:buClr>
                <a:schemeClr val="dk1"/>
              </a:buClr>
              <a:buSzPts val="2600"/>
              <a:buFont typeface="Calibri"/>
              <a:buAutoNum type="arabicPeriod"/>
            </a:pPr>
            <a:r>
              <a:rPr lang="en-US" sz="2600"/>
              <a:t> </a:t>
            </a:r>
            <a:r>
              <a:rPr lang="en-US" sz="2600" b="1">
                <a:solidFill>
                  <a:srgbClr val="C00000"/>
                </a:solidFill>
              </a:rPr>
              <a:t>Acceptance</a:t>
            </a:r>
            <a:r>
              <a:rPr lang="en-US" sz="2600"/>
              <a:t> test: User/customers/authorised entity determine whether to accept the system through formal testing, which is conducted to check whether the system satisfies the acceptance criteria</a:t>
            </a:r>
            <a:endParaRPr/>
          </a:p>
          <a:p>
            <a:pPr marL="0" lvl="0" indent="0" algn="just" rtl="0">
              <a:spcBef>
                <a:spcPts val="640"/>
              </a:spcBef>
              <a:spcAft>
                <a:spcPts val="0"/>
              </a:spcAft>
              <a:buClr>
                <a:schemeClr val="dk1"/>
              </a:buClr>
              <a:buSzPts val="3200"/>
              <a:buNone/>
            </a:pPr>
            <a:endParaRPr/>
          </a:p>
        </p:txBody>
      </p:sp>
      <p:sp>
        <p:nvSpPr>
          <p:cNvPr id="341" name="Google Shape;341;p2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42" name="Google Shape;342;p21"/>
          <p:cNvSpPr txBox="1"/>
          <p:nvPr/>
        </p:nvSpPr>
        <p:spPr>
          <a:xfrm>
            <a:off x="342900" y="5847060"/>
            <a:ext cx="86487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Rex Black, Erik Van Veenendaal,  Dorothy Graham (2012), </a:t>
            </a:r>
            <a:r>
              <a:rPr lang="en-US" sz="1800" i="1">
                <a:solidFill>
                  <a:schemeClr val="dk1"/>
                </a:solidFill>
                <a:latin typeface="Calibri"/>
                <a:ea typeface="Calibri"/>
                <a:cs typeface="Calibri"/>
                <a:sym typeface="Calibri"/>
              </a:rPr>
              <a:t>Foundations of Software Testing - ISTQB® Certification</a:t>
            </a:r>
            <a:r>
              <a:rPr lang="en-US" sz="1800">
                <a:solidFill>
                  <a:schemeClr val="dk1"/>
                </a:solidFill>
                <a:latin typeface="Calibri"/>
                <a:ea typeface="Calibri"/>
                <a:cs typeface="Calibri"/>
                <a:sym typeface="Calibri"/>
              </a:rPr>
              <a:t>, 3rd ed., Cengage Learning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3" name="Google Shape;343;p2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349" name="Google Shape;349;p2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350" name="Google Shape;350;p22"/>
          <p:cNvGrpSpPr/>
          <p:nvPr/>
        </p:nvGrpSpPr>
        <p:grpSpPr>
          <a:xfrm>
            <a:off x="530" y="398418"/>
            <a:ext cx="9142939" cy="6080280"/>
            <a:chOff x="530" y="388859"/>
            <a:chExt cx="9142939" cy="6080280"/>
          </a:xfrm>
        </p:grpSpPr>
        <p:sp>
          <p:nvSpPr>
            <p:cNvPr id="351" name="Google Shape;351;p22"/>
            <p:cNvSpPr/>
            <p:nvPr/>
          </p:nvSpPr>
          <p:spPr>
            <a:xfrm>
              <a:off x="7416970" y="2205437"/>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52" name="Google Shape;352;p22"/>
            <p:cNvSpPr/>
            <p:nvPr/>
          </p:nvSpPr>
          <p:spPr>
            <a:xfrm>
              <a:off x="7416970"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53" name="Google Shape;353;p22"/>
            <p:cNvSpPr/>
            <p:nvPr/>
          </p:nvSpPr>
          <p:spPr>
            <a:xfrm>
              <a:off x="7416970"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54" name="Google Shape;354;p22"/>
            <p:cNvSpPr/>
            <p:nvPr/>
          </p:nvSpPr>
          <p:spPr>
            <a:xfrm>
              <a:off x="4838481" y="1139511"/>
              <a:ext cx="3179010"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355" name="Google Shape;355;p22"/>
            <p:cNvSpPr/>
            <p:nvPr/>
          </p:nvSpPr>
          <p:spPr>
            <a:xfrm>
              <a:off x="5600393" y="2205437"/>
              <a:ext cx="225195" cy="3888376"/>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56" name="Google Shape;356;p22"/>
            <p:cNvSpPr/>
            <p:nvPr/>
          </p:nvSpPr>
          <p:spPr>
            <a:xfrm>
              <a:off x="5600393" y="2205437"/>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57" name="Google Shape;357;p22"/>
            <p:cNvSpPr/>
            <p:nvPr/>
          </p:nvSpPr>
          <p:spPr>
            <a:xfrm>
              <a:off x="5600393"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58" name="Google Shape;358;p22"/>
            <p:cNvSpPr/>
            <p:nvPr/>
          </p:nvSpPr>
          <p:spPr>
            <a:xfrm>
              <a:off x="5600393"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59" name="Google Shape;359;p22"/>
            <p:cNvSpPr/>
            <p:nvPr/>
          </p:nvSpPr>
          <p:spPr>
            <a:xfrm>
              <a:off x="4838481" y="1139511"/>
              <a:ext cx="1362433"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360" name="Google Shape;360;p22"/>
            <p:cNvSpPr/>
            <p:nvPr/>
          </p:nvSpPr>
          <p:spPr>
            <a:xfrm>
              <a:off x="3783815"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61" name="Google Shape;361;p22"/>
            <p:cNvSpPr/>
            <p:nvPr/>
          </p:nvSpPr>
          <p:spPr>
            <a:xfrm>
              <a:off x="3783815"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62" name="Google Shape;362;p22"/>
            <p:cNvSpPr/>
            <p:nvPr/>
          </p:nvSpPr>
          <p:spPr>
            <a:xfrm>
              <a:off x="4384337" y="1139511"/>
              <a:ext cx="454144"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363" name="Google Shape;363;p22"/>
            <p:cNvSpPr/>
            <p:nvPr/>
          </p:nvSpPr>
          <p:spPr>
            <a:xfrm>
              <a:off x="1967238" y="3271363"/>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364" name="Google Shape;364;p22"/>
            <p:cNvSpPr/>
            <p:nvPr/>
          </p:nvSpPr>
          <p:spPr>
            <a:xfrm>
              <a:off x="1967238" y="3271363"/>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365" name="Google Shape;365;p22"/>
            <p:cNvSpPr/>
            <p:nvPr/>
          </p:nvSpPr>
          <p:spPr>
            <a:xfrm>
              <a:off x="1967238" y="3271363"/>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366" name="Google Shape;366;p22"/>
            <p:cNvSpPr/>
            <p:nvPr/>
          </p:nvSpPr>
          <p:spPr>
            <a:xfrm>
              <a:off x="1659470" y="2205437"/>
              <a:ext cx="908288"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67" name="Google Shape;367;p22"/>
            <p:cNvSpPr/>
            <p:nvPr/>
          </p:nvSpPr>
          <p:spPr>
            <a:xfrm>
              <a:off x="751182" y="2205437"/>
              <a:ext cx="908288"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368" name="Google Shape;368;p22"/>
            <p:cNvSpPr/>
            <p:nvPr/>
          </p:nvSpPr>
          <p:spPr>
            <a:xfrm>
              <a:off x="1659470" y="1139511"/>
              <a:ext cx="3179010"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369" name="Google Shape;369;p22"/>
            <p:cNvSpPr/>
            <p:nvPr/>
          </p:nvSpPr>
          <p:spPr>
            <a:xfrm>
              <a:off x="3581402" y="388859"/>
              <a:ext cx="2514158" cy="750651"/>
            </a:xfrm>
            <a:prstGeom prst="rect">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2"/>
            <p:cNvSpPr txBox="1"/>
            <p:nvPr/>
          </p:nvSpPr>
          <p:spPr>
            <a:xfrm>
              <a:off x="3581402" y="388859"/>
              <a:ext cx="2514158" cy="750651"/>
            </a:xfrm>
            <a:prstGeom prst="rect">
              <a:avLst/>
            </a:prstGeom>
            <a:no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Stages / Levels of Software Testing </a:t>
              </a:r>
              <a:endParaRPr/>
            </a:p>
          </p:txBody>
        </p:sp>
        <p:sp>
          <p:nvSpPr>
            <p:cNvPr id="371" name="Google Shape;371;p22"/>
            <p:cNvSpPr/>
            <p:nvPr/>
          </p:nvSpPr>
          <p:spPr>
            <a:xfrm>
              <a:off x="908818"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2"/>
            <p:cNvSpPr txBox="1"/>
            <p:nvPr/>
          </p:nvSpPr>
          <p:spPr>
            <a:xfrm>
              <a:off x="908818"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1. Component</a:t>
              </a:r>
              <a:endParaRPr/>
            </a:p>
          </p:txBody>
        </p:sp>
        <p:sp>
          <p:nvSpPr>
            <p:cNvPr id="373" name="Google Shape;373;p22"/>
            <p:cNvSpPr/>
            <p:nvPr/>
          </p:nvSpPr>
          <p:spPr>
            <a:xfrm>
              <a:off x="530"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2"/>
            <p:cNvSpPr txBox="1"/>
            <p:nvPr/>
          </p:nvSpPr>
          <p:spPr>
            <a:xfrm>
              <a:off x="530"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Object/Class</a:t>
              </a:r>
              <a:endParaRPr/>
            </a:p>
          </p:txBody>
        </p:sp>
        <p:sp>
          <p:nvSpPr>
            <p:cNvPr id="375" name="Google Shape;375;p22"/>
            <p:cNvSpPr/>
            <p:nvPr/>
          </p:nvSpPr>
          <p:spPr>
            <a:xfrm>
              <a:off x="1817107"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2"/>
            <p:cNvSpPr txBox="1"/>
            <p:nvPr/>
          </p:nvSpPr>
          <p:spPr>
            <a:xfrm>
              <a:off x="1817107"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Interface</a:t>
              </a:r>
              <a:endParaRPr/>
            </a:p>
          </p:txBody>
        </p:sp>
        <p:sp>
          <p:nvSpPr>
            <p:cNvPr id="377" name="Google Shape;377;p22"/>
            <p:cNvSpPr/>
            <p:nvPr/>
          </p:nvSpPr>
          <p:spPr>
            <a:xfrm>
              <a:off x="2192433" y="3586636"/>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2"/>
            <p:cNvSpPr txBox="1"/>
            <p:nvPr/>
          </p:nvSpPr>
          <p:spPr>
            <a:xfrm>
              <a:off x="2192433" y="3586636"/>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Parameter</a:t>
              </a:r>
              <a:endParaRPr/>
            </a:p>
          </p:txBody>
        </p:sp>
        <p:sp>
          <p:nvSpPr>
            <p:cNvPr id="379" name="Google Shape;379;p22"/>
            <p:cNvSpPr/>
            <p:nvPr/>
          </p:nvSpPr>
          <p:spPr>
            <a:xfrm>
              <a:off x="2192433" y="4652562"/>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2"/>
            <p:cNvSpPr txBox="1"/>
            <p:nvPr/>
          </p:nvSpPr>
          <p:spPr>
            <a:xfrm>
              <a:off x="2192433" y="4652562"/>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Procedural</a:t>
              </a:r>
              <a:endParaRPr/>
            </a:p>
          </p:txBody>
        </p:sp>
        <p:sp>
          <p:nvSpPr>
            <p:cNvPr id="381" name="Google Shape;381;p22"/>
            <p:cNvSpPr/>
            <p:nvPr/>
          </p:nvSpPr>
          <p:spPr>
            <a:xfrm>
              <a:off x="2192433" y="5718488"/>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2"/>
            <p:cNvSpPr txBox="1"/>
            <p:nvPr/>
          </p:nvSpPr>
          <p:spPr>
            <a:xfrm>
              <a:off x="2192433" y="5718488"/>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Message Passing</a:t>
              </a:r>
              <a:endParaRPr/>
            </a:p>
          </p:txBody>
        </p:sp>
        <p:sp>
          <p:nvSpPr>
            <p:cNvPr id="383" name="Google Shape;383;p22"/>
            <p:cNvSpPr/>
            <p:nvPr/>
          </p:nvSpPr>
          <p:spPr>
            <a:xfrm>
              <a:off x="3633685"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2"/>
            <p:cNvSpPr txBox="1"/>
            <p:nvPr/>
          </p:nvSpPr>
          <p:spPr>
            <a:xfrm>
              <a:off x="3633685"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2. Integration</a:t>
              </a:r>
              <a:endParaRPr/>
            </a:p>
          </p:txBody>
        </p:sp>
        <p:sp>
          <p:nvSpPr>
            <p:cNvPr id="385" name="Google Shape;385;p22"/>
            <p:cNvSpPr/>
            <p:nvPr/>
          </p:nvSpPr>
          <p:spPr>
            <a:xfrm>
              <a:off x="4009011"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2"/>
            <p:cNvSpPr txBox="1"/>
            <p:nvPr/>
          </p:nvSpPr>
          <p:spPr>
            <a:xfrm>
              <a:off x="4009011"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Top-down</a:t>
              </a:r>
              <a:endParaRPr/>
            </a:p>
          </p:txBody>
        </p:sp>
        <p:sp>
          <p:nvSpPr>
            <p:cNvPr id="387" name="Google Shape;387;p22"/>
            <p:cNvSpPr/>
            <p:nvPr/>
          </p:nvSpPr>
          <p:spPr>
            <a:xfrm>
              <a:off x="4009011"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2"/>
            <p:cNvSpPr txBox="1"/>
            <p:nvPr/>
          </p:nvSpPr>
          <p:spPr>
            <a:xfrm>
              <a:off x="4009011"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Bottom-up</a:t>
              </a:r>
              <a:endParaRPr/>
            </a:p>
          </p:txBody>
        </p:sp>
        <p:sp>
          <p:nvSpPr>
            <p:cNvPr id="389" name="Google Shape;389;p22"/>
            <p:cNvSpPr/>
            <p:nvPr/>
          </p:nvSpPr>
          <p:spPr>
            <a:xfrm>
              <a:off x="5450262"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2"/>
            <p:cNvSpPr txBox="1"/>
            <p:nvPr/>
          </p:nvSpPr>
          <p:spPr>
            <a:xfrm>
              <a:off x="5450262"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3. System</a:t>
              </a:r>
              <a:endParaRPr/>
            </a:p>
          </p:txBody>
        </p:sp>
        <p:sp>
          <p:nvSpPr>
            <p:cNvPr id="391" name="Google Shape;391;p22"/>
            <p:cNvSpPr/>
            <p:nvPr/>
          </p:nvSpPr>
          <p:spPr>
            <a:xfrm>
              <a:off x="5825588"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2"/>
            <p:cNvSpPr txBox="1"/>
            <p:nvPr/>
          </p:nvSpPr>
          <p:spPr>
            <a:xfrm>
              <a:off x="5825588"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Functional</a:t>
              </a:r>
              <a:endParaRPr/>
            </a:p>
          </p:txBody>
        </p:sp>
        <p:sp>
          <p:nvSpPr>
            <p:cNvPr id="393" name="Google Shape;393;p22"/>
            <p:cNvSpPr/>
            <p:nvPr/>
          </p:nvSpPr>
          <p:spPr>
            <a:xfrm>
              <a:off x="5825588"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2"/>
            <p:cNvSpPr txBox="1"/>
            <p:nvPr/>
          </p:nvSpPr>
          <p:spPr>
            <a:xfrm>
              <a:off x="5825588"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Usability</a:t>
              </a:r>
              <a:endParaRPr/>
            </a:p>
          </p:txBody>
        </p:sp>
        <p:sp>
          <p:nvSpPr>
            <p:cNvPr id="395" name="Google Shape;395;p22"/>
            <p:cNvSpPr/>
            <p:nvPr/>
          </p:nvSpPr>
          <p:spPr>
            <a:xfrm>
              <a:off x="5825588" y="4652562"/>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2"/>
            <p:cNvSpPr txBox="1"/>
            <p:nvPr/>
          </p:nvSpPr>
          <p:spPr>
            <a:xfrm>
              <a:off x="5825588" y="4652562"/>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Performance</a:t>
              </a:r>
              <a:endParaRPr/>
            </a:p>
          </p:txBody>
        </p:sp>
        <p:sp>
          <p:nvSpPr>
            <p:cNvPr id="397" name="Google Shape;397;p22"/>
            <p:cNvSpPr/>
            <p:nvPr/>
          </p:nvSpPr>
          <p:spPr>
            <a:xfrm>
              <a:off x="5825588" y="5718488"/>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txBox="1"/>
            <p:nvPr/>
          </p:nvSpPr>
          <p:spPr>
            <a:xfrm>
              <a:off x="5825588" y="5718488"/>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Stress</a:t>
              </a:r>
              <a:endParaRPr sz="1400">
                <a:solidFill>
                  <a:schemeClr val="lt1"/>
                </a:solidFill>
                <a:latin typeface="Calibri"/>
                <a:ea typeface="Calibri"/>
                <a:cs typeface="Calibri"/>
                <a:sym typeface="Calibri"/>
              </a:endParaRPr>
            </a:p>
          </p:txBody>
        </p:sp>
        <p:sp>
          <p:nvSpPr>
            <p:cNvPr id="399" name="Google Shape;399;p22"/>
            <p:cNvSpPr/>
            <p:nvPr/>
          </p:nvSpPr>
          <p:spPr>
            <a:xfrm>
              <a:off x="7266840"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2"/>
            <p:cNvSpPr txBox="1"/>
            <p:nvPr/>
          </p:nvSpPr>
          <p:spPr>
            <a:xfrm>
              <a:off x="7266840"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4. Acceptance</a:t>
              </a:r>
              <a:endParaRPr/>
            </a:p>
          </p:txBody>
        </p:sp>
        <p:sp>
          <p:nvSpPr>
            <p:cNvPr id="401" name="Google Shape;401;p22"/>
            <p:cNvSpPr/>
            <p:nvPr/>
          </p:nvSpPr>
          <p:spPr>
            <a:xfrm>
              <a:off x="7642166"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txBox="1"/>
            <p:nvPr/>
          </p:nvSpPr>
          <p:spPr>
            <a:xfrm>
              <a:off x="7642166"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a) Alpha</a:t>
              </a:r>
              <a:endParaRPr/>
            </a:p>
          </p:txBody>
        </p:sp>
        <p:sp>
          <p:nvSpPr>
            <p:cNvPr id="403" name="Google Shape;403;p22"/>
            <p:cNvSpPr/>
            <p:nvPr/>
          </p:nvSpPr>
          <p:spPr>
            <a:xfrm>
              <a:off x="7642166"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txBox="1"/>
            <p:nvPr/>
          </p:nvSpPr>
          <p:spPr>
            <a:xfrm>
              <a:off x="7642166"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b) Beta</a:t>
              </a:r>
              <a:endParaRPr/>
            </a:p>
          </p:txBody>
        </p:sp>
        <p:sp>
          <p:nvSpPr>
            <p:cNvPr id="405" name="Google Shape;405;p22"/>
            <p:cNvSpPr/>
            <p:nvPr/>
          </p:nvSpPr>
          <p:spPr>
            <a:xfrm>
              <a:off x="7642166" y="4652562"/>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2"/>
            <p:cNvSpPr txBox="1"/>
            <p:nvPr/>
          </p:nvSpPr>
          <p:spPr>
            <a:xfrm>
              <a:off x="7642166" y="4652562"/>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 UAT</a:t>
              </a:r>
              <a:endParaRPr/>
            </a:p>
          </p:txBody>
        </p:sp>
      </p:grpSp>
      <p:sp>
        <p:nvSpPr>
          <p:cNvPr id="407" name="Google Shape;407;p22"/>
          <p:cNvSpPr/>
          <p:nvPr/>
        </p:nvSpPr>
        <p:spPr>
          <a:xfrm>
            <a:off x="838200" y="914400"/>
            <a:ext cx="1752600" cy="1752600"/>
          </a:xfrm>
          <a:prstGeom prst="ellipse">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8" name="Google Shape;408;p2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Stage 1: Component Test</a:t>
            </a:r>
            <a:endParaRPr/>
          </a:p>
        </p:txBody>
      </p:sp>
      <p:sp>
        <p:nvSpPr>
          <p:cNvPr id="414" name="Google Shape;414;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90000"/>
              </a:lnSpc>
              <a:spcBef>
                <a:spcPts val="0"/>
              </a:spcBef>
              <a:spcAft>
                <a:spcPts val="0"/>
              </a:spcAft>
              <a:buClr>
                <a:schemeClr val="dk1"/>
              </a:buClr>
              <a:buSzPts val="2400"/>
              <a:buChar char="•"/>
            </a:pPr>
            <a:r>
              <a:rPr lang="en-US" sz="2400"/>
              <a:t>Component or unit testing is the process of testing individual components in isolation. It is a </a:t>
            </a:r>
            <a:r>
              <a:rPr lang="en-US" sz="2400" b="1">
                <a:solidFill>
                  <a:srgbClr val="C00000"/>
                </a:solidFill>
              </a:rPr>
              <a:t>defect</a:t>
            </a:r>
            <a:r>
              <a:rPr lang="en-US" sz="2400" b="1"/>
              <a:t> </a:t>
            </a:r>
            <a:r>
              <a:rPr lang="en-US" sz="2400" b="1">
                <a:solidFill>
                  <a:srgbClr val="C00000"/>
                </a:solidFill>
              </a:rPr>
              <a:t>testing</a:t>
            </a:r>
            <a:r>
              <a:rPr lang="en-US" sz="2400" b="1"/>
              <a:t> </a:t>
            </a:r>
            <a:r>
              <a:rPr lang="en-US" sz="2400"/>
              <a:t>process.</a:t>
            </a:r>
            <a:endParaRPr/>
          </a:p>
          <a:p>
            <a:pPr marL="342900" lvl="0" indent="-342900" algn="just" rtl="0">
              <a:lnSpc>
                <a:spcPct val="90000"/>
              </a:lnSpc>
              <a:spcBef>
                <a:spcPts val="480"/>
              </a:spcBef>
              <a:spcAft>
                <a:spcPts val="0"/>
              </a:spcAft>
              <a:buClr>
                <a:schemeClr val="dk1"/>
              </a:buClr>
              <a:buSzPts val="2400"/>
              <a:buChar char="•"/>
            </a:pPr>
            <a:r>
              <a:rPr lang="en-US" sz="2400"/>
              <a:t>Components may be:</a:t>
            </a:r>
            <a:endParaRPr/>
          </a:p>
          <a:p>
            <a:pPr marL="742950" lvl="1" indent="-285750" algn="just" rtl="0">
              <a:lnSpc>
                <a:spcPct val="90000"/>
              </a:lnSpc>
              <a:spcBef>
                <a:spcPts val="480"/>
              </a:spcBef>
              <a:spcAft>
                <a:spcPts val="0"/>
              </a:spcAft>
              <a:buClr>
                <a:schemeClr val="dk1"/>
              </a:buClr>
              <a:buSzPts val="2400"/>
              <a:buChar char="–"/>
            </a:pPr>
            <a:r>
              <a:rPr lang="en-US" sz="2400"/>
              <a:t>Individual functions or methods within an object</a:t>
            </a:r>
            <a:endParaRPr/>
          </a:p>
          <a:p>
            <a:pPr marL="742950" lvl="1" indent="-285750" algn="just" rtl="0">
              <a:lnSpc>
                <a:spcPct val="90000"/>
              </a:lnSpc>
              <a:spcBef>
                <a:spcPts val="480"/>
              </a:spcBef>
              <a:spcAft>
                <a:spcPts val="0"/>
              </a:spcAft>
              <a:buClr>
                <a:schemeClr val="dk1"/>
              </a:buClr>
              <a:buSzPts val="2400"/>
              <a:buChar char="–"/>
            </a:pPr>
            <a:r>
              <a:rPr lang="en-US" sz="2400"/>
              <a:t>Object classes with several attributes and methods</a:t>
            </a:r>
            <a:endParaRPr/>
          </a:p>
          <a:p>
            <a:pPr marL="742950" lvl="1" indent="-285750" algn="just" rtl="0">
              <a:lnSpc>
                <a:spcPct val="90000"/>
              </a:lnSpc>
              <a:spcBef>
                <a:spcPts val="480"/>
              </a:spcBef>
              <a:spcAft>
                <a:spcPts val="0"/>
              </a:spcAft>
              <a:buClr>
                <a:schemeClr val="dk1"/>
              </a:buClr>
              <a:buSzPts val="2400"/>
              <a:buChar char="–"/>
            </a:pPr>
            <a:r>
              <a:rPr lang="en-US" sz="2400"/>
              <a:t>Composite components with defined interfaces used to access their functionality</a:t>
            </a:r>
            <a:endParaRPr sz="2400"/>
          </a:p>
          <a:p>
            <a:pPr marL="342900" lvl="0" indent="-342900" algn="just" rtl="0">
              <a:lnSpc>
                <a:spcPct val="90000"/>
              </a:lnSpc>
              <a:spcBef>
                <a:spcPts val="480"/>
              </a:spcBef>
              <a:spcAft>
                <a:spcPts val="0"/>
              </a:spcAft>
              <a:buClr>
                <a:schemeClr val="dk1"/>
              </a:buClr>
              <a:buSzPts val="2400"/>
              <a:buChar char="•"/>
            </a:pPr>
            <a:r>
              <a:rPr lang="en-US" sz="2400"/>
              <a:t>Usually, it is the responsibility of the </a:t>
            </a:r>
            <a:r>
              <a:rPr lang="en-US" sz="2400" b="1">
                <a:solidFill>
                  <a:srgbClr val="C00000"/>
                </a:solidFill>
              </a:rPr>
              <a:t>component developer </a:t>
            </a:r>
            <a:r>
              <a:rPr lang="en-US" sz="2400"/>
              <a:t>(except sometimes for critical systems)</a:t>
            </a:r>
            <a:endParaRPr/>
          </a:p>
          <a:p>
            <a:pPr marL="342900" lvl="0" indent="-342900" algn="just" rtl="0">
              <a:lnSpc>
                <a:spcPct val="90000"/>
              </a:lnSpc>
              <a:spcBef>
                <a:spcPts val="480"/>
              </a:spcBef>
              <a:spcAft>
                <a:spcPts val="0"/>
              </a:spcAft>
              <a:buClr>
                <a:schemeClr val="dk1"/>
              </a:buClr>
              <a:buSzPts val="2400"/>
              <a:buChar char="•"/>
            </a:pPr>
            <a:r>
              <a:rPr lang="en-US" sz="2400"/>
              <a:t>Tests are derived from the developer’s experience</a:t>
            </a:r>
            <a:endParaRPr/>
          </a:p>
          <a:p>
            <a:pPr marL="342900" lvl="0" indent="-342900" algn="just" rtl="0">
              <a:lnSpc>
                <a:spcPct val="90000"/>
              </a:lnSpc>
              <a:spcBef>
                <a:spcPts val="480"/>
              </a:spcBef>
              <a:spcAft>
                <a:spcPts val="0"/>
              </a:spcAft>
              <a:buClr>
                <a:schemeClr val="dk1"/>
              </a:buClr>
              <a:buSzPts val="2400"/>
              <a:buChar char="•"/>
            </a:pPr>
            <a:r>
              <a:rPr lang="en-US" sz="2400"/>
              <a:t>Types of testing: (i) Object Class Testing (ii) Interface Testing </a:t>
            </a:r>
            <a:endParaRPr/>
          </a:p>
          <a:p>
            <a:pPr marL="457200" lvl="0" indent="-304800" algn="just" rtl="0">
              <a:lnSpc>
                <a:spcPct val="90000"/>
              </a:lnSpc>
              <a:spcBef>
                <a:spcPts val="480"/>
              </a:spcBef>
              <a:spcAft>
                <a:spcPts val="0"/>
              </a:spcAft>
              <a:buClr>
                <a:schemeClr val="dk1"/>
              </a:buClr>
              <a:buSzPts val="2400"/>
              <a:buNone/>
            </a:pPr>
            <a:endParaRPr sz="2400"/>
          </a:p>
          <a:p>
            <a:pPr marL="0" lvl="0" indent="0" algn="just" rtl="0">
              <a:spcBef>
                <a:spcPts val="480"/>
              </a:spcBef>
              <a:spcAft>
                <a:spcPts val="0"/>
              </a:spcAft>
              <a:buClr>
                <a:schemeClr val="dk1"/>
              </a:buClr>
              <a:buSzPts val="2400"/>
              <a:buNone/>
            </a:pPr>
            <a:endParaRPr sz="2400"/>
          </a:p>
        </p:txBody>
      </p:sp>
      <p:sp>
        <p:nvSpPr>
          <p:cNvPr id="415" name="Google Shape;415;p2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416" name="Google Shape;416;p2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Component Test: Object Class Testing</a:t>
            </a:r>
            <a:endParaRPr/>
          </a:p>
        </p:txBody>
      </p:sp>
      <p:sp>
        <p:nvSpPr>
          <p:cNvPr id="422" name="Google Shape;422;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Complete test coverage of a class involves:</a:t>
            </a:r>
            <a:endParaRPr/>
          </a:p>
          <a:p>
            <a:pPr marL="742950" lvl="1" indent="-285750" algn="l" rtl="0">
              <a:spcBef>
                <a:spcPts val="560"/>
              </a:spcBef>
              <a:spcAft>
                <a:spcPts val="0"/>
              </a:spcAft>
              <a:buClr>
                <a:schemeClr val="dk1"/>
              </a:buClr>
              <a:buSzPts val="2800"/>
              <a:buChar char="–"/>
            </a:pPr>
            <a:r>
              <a:rPr lang="en-US"/>
              <a:t>Testing all </a:t>
            </a:r>
            <a:r>
              <a:rPr lang="en-US" b="1">
                <a:solidFill>
                  <a:srgbClr val="C00000"/>
                </a:solidFill>
              </a:rPr>
              <a:t>operations</a:t>
            </a:r>
            <a:r>
              <a:rPr lang="en-US"/>
              <a:t> associated with an object</a:t>
            </a:r>
            <a:endParaRPr/>
          </a:p>
          <a:p>
            <a:pPr marL="742950" lvl="1" indent="-285750" algn="l" rtl="0">
              <a:spcBef>
                <a:spcPts val="560"/>
              </a:spcBef>
              <a:spcAft>
                <a:spcPts val="0"/>
              </a:spcAft>
              <a:buClr>
                <a:schemeClr val="dk1"/>
              </a:buClr>
              <a:buSzPts val="2800"/>
              <a:buChar char="–"/>
            </a:pPr>
            <a:r>
              <a:rPr lang="en-US"/>
              <a:t>Setting and interrogating all object </a:t>
            </a:r>
            <a:r>
              <a:rPr lang="en-US" b="1">
                <a:solidFill>
                  <a:srgbClr val="C00000"/>
                </a:solidFill>
              </a:rPr>
              <a:t>attributes</a:t>
            </a:r>
            <a:endParaRPr/>
          </a:p>
          <a:p>
            <a:pPr marL="742950" lvl="1" indent="-285750" algn="l" rtl="0">
              <a:spcBef>
                <a:spcPts val="560"/>
              </a:spcBef>
              <a:spcAft>
                <a:spcPts val="0"/>
              </a:spcAft>
              <a:buClr>
                <a:schemeClr val="dk1"/>
              </a:buClr>
              <a:buSzPts val="2800"/>
              <a:buChar char="–"/>
            </a:pPr>
            <a:r>
              <a:rPr lang="en-US"/>
              <a:t>Exercising the object in all possible </a:t>
            </a:r>
            <a:r>
              <a:rPr lang="en-US" b="1">
                <a:solidFill>
                  <a:srgbClr val="C00000"/>
                </a:solidFill>
              </a:rPr>
              <a:t>states</a:t>
            </a:r>
            <a:endParaRPr b="1">
              <a:solidFill>
                <a:srgbClr val="C00000"/>
              </a:solidFill>
            </a:endParaRPr>
          </a:p>
          <a:p>
            <a:pPr marL="342900" lvl="0" indent="-13970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endParaRPr/>
          </a:p>
        </p:txBody>
      </p:sp>
      <p:sp>
        <p:nvSpPr>
          <p:cNvPr id="423" name="Google Shape;423;p2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424" name="Google Shape;424;p2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Object/Class Testing Example:</a:t>
            </a:r>
            <a:br>
              <a:rPr lang="en-US" sz="4000"/>
            </a:br>
            <a:r>
              <a:rPr lang="en-US" sz="4000"/>
              <a:t>Weather Station Class</a:t>
            </a:r>
            <a:endParaRPr sz="4000"/>
          </a:p>
        </p:txBody>
      </p:sp>
      <p:sp>
        <p:nvSpPr>
          <p:cNvPr id="430" name="Google Shape;430;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800"/>
              <a:buChar char="•"/>
            </a:pPr>
            <a:r>
              <a:rPr lang="en-US" sz="2800"/>
              <a:t>Need to define test cases for reportWeather, calibrate, test, startup and shutdown</a:t>
            </a:r>
            <a:endParaRPr/>
          </a:p>
          <a:p>
            <a:pPr marL="342900" lvl="0" indent="-342900" algn="just" rtl="0">
              <a:lnSpc>
                <a:spcPct val="80000"/>
              </a:lnSpc>
              <a:spcBef>
                <a:spcPts val="560"/>
              </a:spcBef>
              <a:spcAft>
                <a:spcPts val="0"/>
              </a:spcAft>
              <a:buClr>
                <a:schemeClr val="dk1"/>
              </a:buClr>
              <a:buSzPts val="2800"/>
              <a:buChar char="•"/>
            </a:pPr>
            <a:r>
              <a:rPr lang="en-US" sz="2800"/>
              <a:t>Using a state model, identify </a:t>
            </a:r>
            <a:r>
              <a:rPr lang="en-US" sz="2800" b="1">
                <a:solidFill>
                  <a:srgbClr val="C00000"/>
                </a:solidFill>
              </a:rPr>
              <a:t>sequences of state transitions</a:t>
            </a:r>
            <a:r>
              <a:rPr lang="en-US" sz="2800"/>
              <a:t> to be tested and the event sequences to cause these transitions</a:t>
            </a:r>
            <a:endParaRPr/>
          </a:p>
          <a:p>
            <a:pPr marL="342900" lvl="0" indent="-342900" algn="just" rtl="0">
              <a:lnSpc>
                <a:spcPct val="80000"/>
              </a:lnSpc>
              <a:spcBef>
                <a:spcPts val="560"/>
              </a:spcBef>
              <a:spcAft>
                <a:spcPts val="0"/>
              </a:spcAft>
              <a:buClr>
                <a:schemeClr val="dk1"/>
              </a:buClr>
              <a:buSzPts val="2800"/>
              <a:buChar char="•"/>
            </a:pPr>
            <a:r>
              <a:rPr lang="en-US" sz="2800"/>
              <a:t>Example: </a:t>
            </a:r>
            <a:endParaRPr/>
          </a:p>
          <a:p>
            <a:pPr marL="0" lvl="0" indent="0" algn="just" rtl="0">
              <a:lnSpc>
                <a:spcPct val="80000"/>
              </a:lnSpc>
              <a:spcBef>
                <a:spcPts val="560"/>
              </a:spcBef>
              <a:spcAft>
                <a:spcPts val="0"/>
              </a:spcAft>
              <a:buClr>
                <a:schemeClr val="dk1"/>
              </a:buClr>
              <a:buSzPts val="2800"/>
              <a:buNone/>
            </a:pPr>
            <a:r>
              <a:rPr lang="en-US" sz="2800"/>
              <a:t>Waiting 🡺 Calibrating 🡺 Testing 🡺 </a:t>
            </a:r>
            <a:endParaRPr/>
          </a:p>
          <a:p>
            <a:pPr marL="0" lvl="0" indent="0" algn="just" rtl="0">
              <a:lnSpc>
                <a:spcPct val="80000"/>
              </a:lnSpc>
              <a:spcBef>
                <a:spcPts val="560"/>
              </a:spcBef>
              <a:spcAft>
                <a:spcPts val="0"/>
              </a:spcAft>
              <a:buClr>
                <a:schemeClr val="dk1"/>
              </a:buClr>
              <a:buSzPts val="2800"/>
              <a:buNone/>
            </a:pPr>
            <a:r>
              <a:rPr lang="en-US" sz="2800"/>
              <a:t>Transmitting 🡺 Waiting</a:t>
            </a:r>
            <a:endParaRPr/>
          </a:p>
          <a:p>
            <a:pPr marL="342900" lvl="0" indent="-184150" algn="just" rtl="0">
              <a:lnSpc>
                <a:spcPct val="80000"/>
              </a:lnSpc>
              <a:spcBef>
                <a:spcPts val="500"/>
              </a:spcBef>
              <a:spcAft>
                <a:spcPts val="0"/>
              </a:spcAft>
              <a:buClr>
                <a:schemeClr val="dk1"/>
              </a:buClr>
              <a:buSzPts val="2500"/>
              <a:buNone/>
            </a:pPr>
            <a:endParaRPr sz="2500"/>
          </a:p>
          <a:p>
            <a:pPr marL="0" lvl="0" indent="0" algn="just" rtl="0">
              <a:spcBef>
                <a:spcPts val="640"/>
              </a:spcBef>
              <a:spcAft>
                <a:spcPts val="0"/>
              </a:spcAft>
              <a:buClr>
                <a:schemeClr val="dk1"/>
              </a:buClr>
              <a:buSzPts val="3200"/>
              <a:buNone/>
            </a:pPr>
            <a:endParaRPr/>
          </a:p>
        </p:txBody>
      </p:sp>
      <p:sp>
        <p:nvSpPr>
          <p:cNvPr id="431" name="Google Shape;431;p2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432" name="Google Shape;432;p2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pic>
        <p:nvPicPr>
          <p:cNvPr id="433" name="Google Shape;433;p25"/>
          <p:cNvPicPr preferRelativeResize="0"/>
          <p:nvPr/>
        </p:nvPicPr>
        <p:blipFill>
          <a:blip r:embed="rId3">
            <a:alphaModFix/>
          </a:blip>
          <a:stretch>
            <a:fillRect/>
          </a:stretch>
        </p:blipFill>
        <p:spPr>
          <a:xfrm>
            <a:off x="5678600" y="3327450"/>
            <a:ext cx="2876700" cy="2999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Object/Class Testing Example:</a:t>
            </a:r>
            <a:br>
              <a:rPr lang="en-US" sz="4000"/>
            </a:br>
            <a:r>
              <a:rPr lang="en-US" sz="4000"/>
              <a:t>Weather Station Class (Cont.)</a:t>
            </a:r>
            <a:endParaRPr sz="4000"/>
          </a:p>
        </p:txBody>
      </p:sp>
      <p:sp>
        <p:nvSpPr>
          <p:cNvPr id="439" name="Google Shape;439;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400"/>
              <a:buChar char="•"/>
            </a:pPr>
            <a:r>
              <a:rPr lang="en-US" sz="2400"/>
              <a:t>From weather class, create the related state diagram: </a:t>
            </a:r>
            <a:endParaRPr sz="2400"/>
          </a:p>
          <a:p>
            <a:pPr marL="742950" lvl="1" indent="-285750" algn="just" rtl="0">
              <a:lnSpc>
                <a:spcPct val="90000"/>
              </a:lnSpc>
              <a:spcBef>
                <a:spcPts val="480"/>
              </a:spcBef>
              <a:spcAft>
                <a:spcPts val="0"/>
              </a:spcAft>
              <a:buClr>
                <a:schemeClr val="dk1"/>
              </a:buClr>
              <a:buSzPts val="2400"/>
              <a:buChar char="–"/>
            </a:pPr>
            <a:r>
              <a:rPr lang="en-US" sz="2400"/>
              <a:t>Objects have state(s)</a:t>
            </a:r>
            <a:endParaRPr/>
          </a:p>
          <a:p>
            <a:pPr marL="742950" lvl="1" indent="-285750" algn="just" rtl="0">
              <a:lnSpc>
                <a:spcPct val="90000"/>
              </a:lnSpc>
              <a:spcBef>
                <a:spcPts val="480"/>
              </a:spcBef>
              <a:spcAft>
                <a:spcPts val="0"/>
              </a:spcAft>
              <a:buClr>
                <a:schemeClr val="dk1"/>
              </a:buClr>
              <a:buSzPts val="2400"/>
              <a:buChar char="–"/>
            </a:pPr>
            <a:r>
              <a:rPr lang="en-US" sz="2400"/>
              <a:t>One state transits from another state(s) that is triggered by an event that occurs, certain specific condition and action taken by the object</a:t>
            </a:r>
            <a:endParaRPr/>
          </a:p>
        </p:txBody>
      </p:sp>
      <p:sp>
        <p:nvSpPr>
          <p:cNvPr id="440" name="Google Shape;440;p2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441" name="Google Shape;441;p26"/>
          <p:cNvPicPr preferRelativeResize="0"/>
          <p:nvPr/>
        </p:nvPicPr>
        <p:blipFill rotWithShape="1">
          <a:blip r:embed="rId3">
            <a:alphaModFix/>
          </a:blip>
          <a:srcRect/>
          <a:stretch/>
        </p:blipFill>
        <p:spPr>
          <a:xfrm>
            <a:off x="1654629" y="3453662"/>
            <a:ext cx="5898776" cy="2948665"/>
          </a:xfrm>
          <a:prstGeom prst="rect">
            <a:avLst/>
          </a:prstGeom>
          <a:noFill/>
          <a:ln>
            <a:noFill/>
          </a:ln>
        </p:spPr>
      </p:pic>
      <p:sp>
        <p:nvSpPr>
          <p:cNvPr id="442" name="Google Shape;442;p2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Component Test: Interface Testing</a:t>
            </a:r>
            <a:endParaRPr/>
          </a:p>
        </p:txBody>
      </p:sp>
      <p:sp>
        <p:nvSpPr>
          <p:cNvPr id="448" name="Google Shape;448;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000"/>
              <a:buChar char="•"/>
            </a:pPr>
            <a:r>
              <a:rPr lang="en-US" sz="3000"/>
              <a:t>Objectives are to detect faults due to </a:t>
            </a:r>
            <a:r>
              <a:rPr lang="en-US" sz="3000" b="1">
                <a:solidFill>
                  <a:srgbClr val="C00000"/>
                </a:solidFill>
              </a:rPr>
              <a:t>interface errors </a:t>
            </a:r>
            <a:r>
              <a:rPr lang="en-US" sz="3000"/>
              <a:t>or invalid assumptions about interfaces</a:t>
            </a:r>
            <a:endParaRPr/>
          </a:p>
          <a:p>
            <a:pPr marL="342900" lvl="0" indent="-342900" algn="just" rtl="0">
              <a:spcBef>
                <a:spcPts val="600"/>
              </a:spcBef>
              <a:spcAft>
                <a:spcPts val="0"/>
              </a:spcAft>
              <a:buClr>
                <a:schemeClr val="dk1"/>
              </a:buClr>
              <a:buSzPts val="3000"/>
              <a:buChar char="•"/>
            </a:pPr>
            <a:r>
              <a:rPr lang="en-US" sz="3000"/>
              <a:t>Particularly important for object-oriented development as objects are defined by their interfaces</a:t>
            </a:r>
            <a:endParaRPr/>
          </a:p>
          <a:p>
            <a:pPr marL="342900" lvl="0" indent="-152400" algn="just" rtl="0">
              <a:spcBef>
                <a:spcPts val="600"/>
              </a:spcBef>
              <a:spcAft>
                <a:spcPts val="0"/>
              </a:spcAft>
              <a:buClr>
                <a:schemeClr val="dk1"/>
              </a:buClr>
              <a:buSzPts val="3000"/>
              <a:buNone/>
            </a:pPr>
            <a:endParaRPr sz="3000"/>
          </a:p>
        </p:txBody>
      </p:sp>
      <p:sp>
        <p:nvSpPr>
          <p:cNvPr id="449" name="Google Shape;449;p2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450" name="Google Shape;450;p2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Interface Testing Types</a:t>
            </a:r>
            <a:endParaRPr/>
          </a:p>
        </p:txBody>
      </p:sp>
      <p:sp>
        <p:nvSpPr>
          <p:cNvPr id="456" name="Google Shape;456;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3000"/>
              <a:buChar char="•"/>
            </a:pPr>
            <a:r>
              <a:rPr lang="en-US" sz="3000"/>
              <a:t>Parameter interface</a:t>
            </a:r>
            <a:endParaRPr/>
          </a:p>
          <a:p>
            <a:pPr marL="742950" lvl="1" indent="-285750" algn="just" rtl="0">
              <a:lnSpc>
                <a:spcPct val="80000"/>
              </a:lnSpc>
              <a:spcBef>
                <a:spcPts val="600"/>
              </a:spcBef>
              <a:spcAft>
                <a:spcPts val="0"/>
              </a:spcAft>
              <a:buClr>
                <a:schemeClr val="dk1"/>
              </a:buClr>
              <a:buSzPts val="3000"/>
              <a:buChar char="–"/>
            </a:pPr>
            <a:r>
              <a:rPr lang="en-US" sz="3000"/>
              <a:t>Data passed from one procedure to another</a:t>
            </a:r>
            <a:endParaRPr/>
          </a:p>
          <a:p>
            <a:pPr marL="342900" lvl="0" indent="-342900" algn="just" rtl="0">
              <a:lnSpc>
                <a:spcPct val="80000"/>
              </a:lnSpc>
              <a:spcBef>
                <a:spcPts val="600"/>
              </a:spcBef>
              <a:spcAft>
                <a:spcPts val="0"/>
              </a:spcAft>
              <a:buClr>
                <a:schemeClr val="dk1"/>
              </a:buClr>
              <a:buSzPts val="3000"/>
              <a:buChar char="•"/>
            </a:pPr>
            <a:r>
              <a:rPr lang="en-US" sz="3000"/>
              <a:t>Procedural interface</a:t>
            </a:r>
            <a:endParaRPr/>
          </a:p>
          <a:p>
            <a:pPr marL="742950" lvl="1" indent="-285750" algn="just" rtl="0">
              <a:lnSpc>
                <a:spcPct val="80000"/>
              </a:lnSpc>
              <a:spcBef>
                <a:spcPts val="600"/>
              </a:spcBef>
              <a:spcAft>
                <a:spcPts val="0"/>
              </a:spcAft>
              <a:buClr>
                <a:schemeClr val="dk1"/>
              </a:buClr>
              <a:buSzPts val="3000"/>
              <a:buChar char="–"/>
            </a:pPr>
            <a:r>
              <a:rPr lang="en-US" sz="3000"/>
              <a:t>Sub-system encapsulates a set of procedures to be called by other sub-systems</a:t>
            </a:r>
            <a:endParaRPr/>
          </a:p>
          <a:p>
            <a:pPr marL="342900" lvl="0" indent="-342900" algn="just" rtl="0">
              <a:lnSpc>
                <a:spcPct val="80000"/>
              </a:lnSpc>
              <a:spcBef>
                <a:spcPts val="600"/>
              </a:spcBef>
              <a:spcAft>
                <a:spcPts val="0"/>
              </a:spcAft>
              <a:buClr>
                <a:schemeClr val="dk1"/>
              </a:buClr>
              <a:buSzPts val="3000"/>
              <a:buChar char="•"/>
            </a:pPr>
            <a:r>
              <a:rPr lang="en-US" sz="3000"/>
              <a:t>Message passing interface</a:t>
            </a:r>
            <a:endParaRPr/>
          </a:p>
          <a:p>
            <a:pPr marL="742950" lvl="1" indent="-285750" algn="just" rtl="0">
              <a:lnSpc>
                <a:spcPct val="80000"/>
              </a:lnSpc>
              <a:spcBef>
                <a:spcPts val="600"/>
              </a:spcBef>
              <a:spcAft>
                <a:spcPts val="0"/>
              </a:spcAft>
              <a:buClr>
                <a:schemeClr val="dk1"/>
              </a:buClr>
              <a:buSzPts val="3000"/>
              <a:buChar char="–"/>
            </a:pPr>
            <a:r>
              <a:rPr lang="en-US" sz="3000"/>
              <a:t>Sub-systems request services from other sub-systems</a:t>
            </a:r>
            <a:endParaRPr/>
          </a:p>
          <a:p>
            <a:pPr marL="514350" lvl="0" indent="-323850" algn="just" rtl="0">
              <a:lnSpc>
                <a:spcPct val="80000"/>
              </a:lnSpc>
              <a:spcBef>
                <a:spcPts val="600"/>
              </a:spcBef>
              <a:spcAft>
                <a:spcPts val="0"/>
              </a:spcAft>
              <a:buClr>
                <a:schemeClr val="dk1"/>
              </a:buClr>
              <a:buSzPts val="3000"/>
              <a:buNone/>
            </a:pPr>
            <a:endParaRPr sz="3000"/>
          </a:p>
          <a:p>
            <a:pPr marL="0" lvl="0" indent="0" algn="just" rtl="0">
              <a:spcBef>
                <a:spcPts val="600"/>
              </a:spcBef>
              <a:spcAft>
                <a:spcPts val="0"/>
              </a:spcAft>
              <a:buClr>
                <a:schemeClr val="dk1"/>
              </a:buClr>
              <a:buSzPts val="3000"/>
              <a:buNone/>
            </a:pPr>
            <a:endParaRPr sz="3000"/>
          </a:p>
        </p:txBody>
      </p:sp>
      <p:sp>
        <p:nvSpPr>
          <p:cNvPr id="457" name="Google Shape;457;p2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458" name="Google Shape;458;p2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Layered Architecture - 3 Layers</a:t>
            </a:r>
            <a:endParaRPr/>
          </a:p>
        </p:txBody>
      </p:sp>
      <p:sp>
        <p:nvSpPr>
          <p:cNvPr id="464" name="Google Shape;464;p2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465" name="Google Shape;465;p29"/>
          <p:cNvPicPr preferRelativeResize="0"/>
          <p:nvPr/>
        </p:nvPicPr>
        <p:blipFill rotWithShape="1">
          <a:blip r:embed="rId3">
            <a:alphaModFix/>
          </a:blip>
          <a:srcRect/>
          <a:stretch/>
        </p:blipFill>
        <p:spPr>
          <a:xfrm>
            <a:off x="1219200" y="1600200"/>
            <a:ext cx="7078770" cy="4285307"/>
          </a:xfrm>
          <a:prstGeom prst="rect">
            <a:avLst/>
          </a:prstGeom>
          <a:noFill/>
          <a:ln>
            <a:noFill/>
          </a:ln>
        </p:spPr>
      </p:pic>
      <p:sp>
        <p:nvSpPr>
          <p:cNvPr id="466" name="Google Shape;466;p2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Weather Station Subsystems</a:t>
            </a:r>
            <a:endParaRPr/>
          </a:p>
        </p:txBody>
      </p:sp>
      <p:sp>
        <p:nvSpPr>
          <p:cNvPr id="472" name="Google Shape;472;p3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473" name="Google Shape;473;p30" descr="14.12 WeatherStPack(12.12).eps                                 0007B876Macintosh HD                   B8AA5F2E:"/>
          <p:cNvPicPr preferRelativeResize="0"/>
          <p:nvPr/>
        </p:nvPicPr>
        <p:blipFill rotWithShape="1">
          <a:blip r:embed="rId3">
            <a:alphaModFix/>
          </a:blip>
          <a:srcRect/>
          <a:stretch/>
        </p:blipFill>
        <p:spPr>
          <a:xfrm>
            <a:off x="990600" y="2209800"/>
            <a:ext cx="4225925" cy="4191000"/>
          </a:xfrm>
          <a:prstGeom prst="rect">
            <a:avLst/>
          </a:prstGeom>
          <a:noFill/>
          <a:ln>
            <a:noFill/>
          </a:ln>
        </p:spPr>
      </p:pic>
      <p:pic>
        <p:nvPicPr>
          <p:cNvPr id="474" name="Google Shape;474;p30"/>
          <p:cNvPicPr preferRelativeResize="0"/>
          <p:nvPr/>
        </p:nvPicPr>
        <p:blipFill rotWithShape="1">
          <a:blip r:embed="rId4">
            <a:alphaModFix/>
          </a:blip>
          <a:srcRect/>
          <a:stretch/>
        </p:blipFill>
        <p:spPr>
          <a:xfrm>
            <a:off x="5486400" y="1174750"/>
            <a:ext cx="3419475" cy="2070100"/>
          </a:xfrm>
          <a:prstGeom prst="rect">
            <a:avLst/>
          </a:prstGeom>
          <a:noFill/>
          <a:ln>
            <a:noFill/>
          </a:ln>
        </p:spPr>
      </p:pic>
      <p:sp>
        <p:nvSpPr>
          <p:cNvPr id="475" name="Google Shape;475;p30"/>
          <p:cNvSpPr/>
          <p:nvPr/>
        </p:nvSpPr>
        <p:spPr>
          <a:xfrm rot="-588494">
            <a:off x="2268251" y="1712926"/>
            <a:ext cx="3508637" cy="487362"/>
          </a:xfrm>
          <a:prstGeom prst="lef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476" name="Google Shape;476;p30"/>
          <p:cNvSpPr/>
          <p:nvPr/>
        </p:nvSpPr>
        <p:spPr>
          <a:xfrm rot="-1377478">
            <a:off x="4736306" y="2350694"/>
            <a:ext cx="960437" cy="487362"/>
          </a:xfrm>
          <a:prstGeom prst="lef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477" name="Google Shape;477;p30"/>
          <p:cNvSpPr/>
          <p:nvPr/>
        </p:nvSpPr>
        <p:spPr>
          <a:xfrm rot="-3569966">
            <a:off x="4773472" y="3752739"/>
            <a:ext cx="1960563" cy="487362"/>
          </a:xfrm>
          <a:prstGeom prst="lef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478" name="Google Shape;478;p3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Sub-System Interfaces</a:t>
            </a:r>
            <a:endParaRPr/>
          </a:p>
        </p:txBody>
      </p:sp>
      <p:sp>
        <p:nvSpPr>
          <p:cNvPr id="484" name="Google Shape;484;p3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485" name="Google Shape;485;p31" descr="10.5 InterfaceObjects.eps                                      00105841Macintosh HD                   B8AA5F2E:"/>
          <p:cNvPicPr preferRelativeResize="0"/>
          <p:nvPr/>
        </p:nvPicPr>
        <p:blipFill rotWithShape="1">
          <a:blip r:embed="rId3">
            <a:alphaModFix/>
          </a:blip>
          <a:srcRect/>
          <a:stretch/>
        </p:blipFill>
        <p:spPr>
          <a:xfrm>
            <a:off x="685800" y="1981200"/>
            <a:ext cx="7426382" cy="2748632"/>
          </a:xfrm>
          <a:prstGeom prst="rect">
            <a:avLst/>
          </a:prstGeom>
          <a:noFill/>
          <a:ln>
            <a:noFill/>
          </a:ln>
        </p:spPr>
      </p:pic>
      <p:sp>
        <p:nvSpPr>
          <p:cNvPr id="486" name="Google Shape;486;p3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Interface Errors</a:t>
            </a:r>
            <a:endParaRPr/>
          </a:p>
        </p:txBody>
      </p:sp>
      <p:sp>
        <p:nvSpPr>
          <p:cNvPr id="492" name="Google Shape;492;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80000"/>
              </a:lnSpc>
              <a:spcBef>
                <a:spcPts val="0"/>
              </a:spcBef>
              <a:spcAft>
                <a:spcPts val="0"/>
              </a:spcAft>
              <a:buClr>
                <a:schemeClr val="dk1"/>
              </a:buClr>
              <a:buSzPts val="2800"/>
              <a:buChar char="•"/>
            </a:pPr>
            <a:r>
              <a:rPr lang="en-US" sz="2800"/>
              <a:t>Interface misuse</a:t>
            </a:r>
            <a:endParaRPr/>
          </a:p>
          <a:p>
            <a:pPr marL="742950" lvl="1" indent="-285750" algn="just" rtl="0">
              <a:lnSpc>
                <a:spcPct val="80000"/>
              </a:lnSpc>
              <a:spcBef>
                <a:spcPts val="560"/>
              </a:spcBef>
              <a:spcAft>
                <a:spcPts val="0"/>
              </a:spcAft>
              <a:buClr>
                <a:schemeClr val="dk1"/>
              </a:buClr>
              <a:buSzPts val="2800"/>
              <a:buChar char="–"/>
            </a:pPr>
            <a:r>
              <a:rPr lang="en-US"/>
              <a:t>A calling component calls another component and makes an </a:t>
            </a:r>
            <a:r>
              <a:rPr lang="en-US" b="1">
                <a:solidFill>
                  <a:srgbClr val="C00000"/>
                </a:solidFill>
              </a:rPr>
              <a:t>error in its use of its interface </a:t>
            </a:r>
            <a:r>
              <a:rPr lang="en-US"/>
              <a:t>e.g. parameters in the wrong order</a:t>
            </a:r>
            <a:endParaRPr/>
          </a:p>
          <a:p>
            <a:pPr marL="342900" lvl="0" indent="-342900" algn="just" rtl="0">
              <a:lnSpc>
                <a:spcPct val="80000"/>
              </a:lnSpc>
              <a:spcBef>
                <a:spcPts val="560"/>
              </a:spcBef>
              <a:spcAft>
                <a:spcPts val="0"/>
              </a:spcAft>
              <a:buClr>
                <a:schemeClr val="dk1"/>
              </a:buClr>
              <a:buSzPts val="2800"/>
              <a:buChar char="•"/>
            </a:pPr>
            <a:r>
              <a:rPr lang="en-US" sz="2800"/>
              <a:t>Interface misunderstanding</a:t>
            </a:r>
            <a:endParaRPr/>
          </a:p>
          <a:p>
            <a:pPr marL="742950" lvl="1" indent="-285750" algn="just" rtl="0">
              <a:lnSpc>
                <a:spcPct val="80000"/>
              </a:lnSpc>
              <a:spcBef>
                <a:spcPts val="560"/>
              </a:spcBef>
              <a:spcAft>
                <a:spcPts val="0"/>
              </a:spcAft>
              <a:buClr>
                <a:schemeClr val="dk1"/>
              </a:buClr>
              <a:buSzPts val="2800"/>
              <a:buChar char="–"/>
            </a:pPr>
            <a:r>
              <a:rPr lang="en-US"/>
              <a:t>A calling component </a:t>
            </a:r>
            <a:r>
              <a:rPr lang="en-US" b="1">
                <a:solidFill>
                  <a:srgbClr val="C00000"/>
                </a:solidFill>
              </a:rPr>
              <a:t>embeds assumptions </a:t>
            </a:r>
            <a:r>
              <a:rPr lang="en-US"/>
              <a:t>about the behaviour of the called component which are incorrect</a:t>
            </a:r>
            <a:endParaRPr/>
          </a:p>
          <a:p>
            <a:pPr marL="342900" lvl="0" indent="-342900" algn="just" rtl="0">
              <a:lnSpc>
                <a:spcPct val="80000"/>
              </a:lnSpc>
              <a:spcBef>
                <a:spcPts val="560"/>
              </a:spcBef>
              <a:spcAft>
                <a:spcPts val="0"/>
              </a:spcAft>
              <a:buClr>
                <a:schemeClr val="dk1"/>
              </a:buClr>
              <a:buSzPts val="2800"/>
              <a:buChar char="•"/>
            </a:pPr>
            <a:r>
              <a:rPr lang="en-US" sz="2800"/>
              <a:t>Timing errors</a:t>
            </a:r>
            <a:endParaRPr/>
          </a:p>
          <a:p>
            <a:pPr marL="742950" lvl="1" indent="-285750" algn="just" rtl="0">
              <a:lnSpc>
                <a:spcPct val="80000"/>
              </a:lnSpc>
              <a:spcBef>
                <a:spcPts val="560"/>
              </a:spcBef>
              <a:spcAft>
                <a:spcPts val="0"/>
              </a:spcAft>
              <a:buClr>
                <a:schemeClr val="dk1"/>
              </a:buClr>
              <a:buSzPts val="2800"/>
              <a:buChar char="–"/>
            </a:pPr>
            <a:r>
              <a:rPr lang="en-US"/>
              <a:t>The called and the calling component operate at </a:t>
            </a:r>
            <a:r>
              <a:rPr lang="en-US" b="1">
                <a:solidFill>
                  <a:srgbClr val="C00000"/>
                </a:solidFill>
              </a:rPr>
              <a:t>different speeds </a:t>
            </a:r>
            <a:r>
              <a:rPr lang="en-US"/>
              <a:t>and out-of-date information is accessed</a:t>
            </a:r>
            <a:endParaRPr/>
          </a:p>
          <a:p>
            <a:pPr marL="342900" lvl="0" indent="-165100" algn="just" rtl="0">
              <a:lnSpc>
                <a:spcPct val="80000"/>
              </a:lnSpc>
              <a:spcBef>
                <a:spcPts val="560"/>
              </a:spcBef>
              <a:spcAft>
                <a:spcPts val="0"/>
              </a:spcAft>
              <a:buClr>
                <a:schemeClr val="dk1"/>
              </a:buClr>
              <a:buSzPts val="2800"/>
              <a:buNone/>
            </a:pPr>
            <a:endParaRPr sz="2800"/>
          </a:p>
          <a:p>
            <a:pPr marL="342900" lvl="0" indent="-165100" algn="just" rtl="0">
              <a:spcBef>
                <a:spcPts val="560"/>
              </a:spcBef>
              <a:spcAft>
                <a:spcPts val="0"/>
              </a:spcAft>
              <a:buClr>
                <a:schemeClr val="dk1"/>
              </a:buClr>
              <a:buSzPts val="2800"/>
              <a:buNone/>
            </a:pPr>
            <a:endParaRPr sz="2800"/>
          </a:p>
        </p:txBody>
      </p:sp>
      <p:sp>
        <p:nvSpPr>
          <p:cNvPr id="493" name="Google Shape;493;p3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494" name="Google Shape;494;p3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500" name="Google Shape;500;p3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501" name="Google Shape;501;p33"/>
          <p:cNvGrpSpPr/>
          <p:nvPr/>
        </p:nvGrpSpPr>
        <p:grpSpPr>
          <a:xfrm>
            <a:off x="530" y="398418"/>
            <a:ext cx="9142939" cy="6080280"/>
            <a:chOff x="530" y="388859"/>
            <a:chExt cx="9142939" cy="6080280"/>
          </a:xfrm>
        </p:grpSpPr>
        <p:sp>
          <p:nvSpPr>
            <p:cNvPr id="502" name="Google Shape;502;p33"/>
            <p:cNvSpPr/>
            <p:nvPr/>
          </p:nvSpPr>
          <p:spPr>
            <a:xfrm>
              <a:off x="7416970" y="2205437"/>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03" name="Google Shape;503;p33"/>
            <p:cNvSpPr/>
            <p:nvPr/>
          </p:nvSpPr>
          <p:spPr>
            <a:xfrm>
              <a:off x="7416970"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04" name="Google Shape;504;p33"/>
            <p:cNvSpPr/>
            <p:nvPr/>
          </p:nvSpPr>
          <p:spPr>
            <a:xfrm>
              <a:off x="7416970"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05" name="Google Shape;505;p33"/>
            <p:cNvSpPr/>
            <p:nvPr/>
          </p:nvSpPr>
          <p:spPr>
            <a:xfrm>
              <a:off x="4838481" y="1139511"/>
              <a:ext cx="3179010"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506" name="Google Shape;506;p33"/>
            <p:cNvSpPr/>
            <p:nvPr/>
          </p:nvSpPr>
          <p:spPr>
            <a:xfrm>
              <a:off x="5600393" y="2205437"/>
              <a:ext cx="225195" cy="3888376"/>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07" name="Google Shape;507;p33"/>
            <p:cNvSpPr/>
            <p:nvPr/>
          </p:nvSpPr>
          <p:spPr>
            <a:xfrm>
              <a:off x="5600393" y="2205437"/>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08" name="Google Shape;508;p33"/>
            <p:cNvSpPr/>
            <p:nvPr/>
          </p:nvSpPr>
          <p:spPr>
            <a:xfrm>
              <a:off x="5600393"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09" name="Google Shape;509;p33"/>
            <p:cNvSpPr/>
            <p:nvPr/>
          </p:nvSpPr>
          <p:spPr>
            <a:xfrm>
              <a:off x="5600393"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10" name="Google Shape;510;p33"/>
            <p:cNvSpPr/>
            <p:nvPr/>
          </p:nvSpPr>
          <p:spPr>
            <a:xfrm>
              <a:off x="4838481" y="1139511"/>
              <a:ext cx="1362433"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511" name="Google Shape;511;p33"/>
            <p:cNvSpPr/>
            <p:nvPr/>
          </p:nvSpPr>
          <p:spPr>
            <a:xfrm>
              <a:off x="3783815"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12" name="Google Shape;512;p33"/>
            <p:cNvSpPr/>
            <p:nvPr/>
          </p:nvSpPr>
          <p:spPr>
            <a:xfrm>
              <a:off x="3783815"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13" name="Google Shape;513;p33"/>
            <p:cNvSpPr/>
            <p:nvPr/>
          </p:nvSpPr>
          <p:spPr>
            <a:xfrm>
              <a:off x="4384337" y="1139511"/>
              <a:ext cx="454144"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514" name="Google Shape;514;p33"/>
            <p:cNvSpPr/>
            <p:nvPr/>
          </p:nvSpPr>
          <p:spPr>
            <a:xfrm>
              <a:off x="1967238" y="3271363"/>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515" name="Google Shape;515;p33"/>
            <p:cNvSpPr/>
            <p:nvPr/>
          </p:nvSpPr>
          <p:spPr>
            <a:xfrm>
              <a:off x="1967238" y="3271363"/>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516" name="Google Shape;516;p33"/>
            <p:cNvSpPr/>
            <p:nvPr/>
          </p:nvSpPr>
          <p:spPr>
            <a:xfrm>
              <a:off x="1967238" y="3271363"/>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517" name="Google Shape;517;p33"/>
            <p:cNvSpPr/>
            <p:nvPr/>
          </p:nvSpPr>
          <p:spPr>
            <a:xfrm>
              <a:off x="1659470" y="2205437"/>
              <a:ext cx="908288"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18" name="Google Shape;518;p33"/>
            <p:cNvSpPr/>
            <p:nvPr/>
          </p:nvSpPr>
          <p:spPr>
            <a:xfrm>
              <a:off x="751182" y="2205437"/>
              <a:ext cx="908288"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19" name="Google Shape;519;p33"/>
            <p:cNvSpPr/>
            <p:nvPr/>
          </p:nvSpPr>
          <p:spPr>
            <a:xfrm>
              <a:off x="1659470" y="1139511"/>
              <a:ext cx="3179010"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520" name="Google Shape;520;p33"/>
            <p:cNvSpPr/>
            <p:nvPr/>
          </p:nvSpPr>
          <p:spPr>
            <a:xfrm>
              <a:off x="3581402" y="388859"/>
              <a:ext cx="2514158" cy="750651"/>
            </a:xfrm>
            <a:prstGeom prst="rect">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3"/>
            <p:cNvSpPr txBox="1"/>
            <p:nvPr/>
          </p:nvSpPr>
          <p:spPr>
            <a:xfrm>
              <a:off x="3581402" y="388859"/>
              <a:ext cx="2514158" cy="750651"/>
            </a:xfrm>
            <a:prstGeom prst="rect">
              <a:avLst/>
            </a:prstGeom>
            <a:no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Stages / levels of Software Testing </a:t>
              </a:r>
              <a:endParaRPr/>
            </a:p>
          </p:txBody>
        </p:sp>
        <p:sp>
          <p:nvSpPr>
            <p:cNvPr id="522" name="Google Shape;522;p33"/>
            <p:cNvSpPr/>
            <p:nvPr/>
          </p:nvSpPr>
          <p:spPr>
            <a:xfrm>
              <a:off x="908818"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3"/>
            <p:cNvSpPr txBox="1"/>
            <p:nvPr/>
          </p:nvSpPr>
          <p:spPr>
            <a:xfrm>
              <a:off x="908818"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1. Component</a:t>
              </a:r>
              <a:endParaRPr/>
            </a:p>
          </p:txBody>
        </p:sp>
        <p:sp>
          <p:nvSpPr>
            <p:cNvPr id="524" name="Google Shape;524;p33"/>
            <p:cNvSpPr/>
            <p:nvPr/>
          </p:nvSpPr>
          <p:spPr>
            <a:xfrm>
              <a:off x="530"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3"/>
            <p:cNvSpPr txBox="1"/>
            <p:nvPr/>
          </p:nvSpPr>
          <p:spPr>
            <a:xfrm>
              <a:off x="530"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Object/Class</a:t>
              </a:r>
              <a:endParaRPr/>
            </a:p>
          </p:txBody>
        </p:sp>
        <p:sp>
          <p:nvSpPr>
            <p:cNvPr id="526" name="Google Shape;526;p33"/>
            <p:cNvSpPr/>
            <p:nvPr/>
          </p:nvSpPr>
          <p:spPr>
            <a:xfrm>
              <a:off x="1817107"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txBox="1"/>
            <p:nvPr/>
          </p:nvSpPr>
          <p:spPr>
            <a:xfrm>
              <a:off x="1817107"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Interface</a:t>
              </a:r>
              <a:endParaRPr/>
            </a:p>
          </p:txBody>
        </p:sp>
        <p:sp>
          <p:nvSpPr>
            <p:cNvPr id="528" name="Google Shape;528;p33"/>
            <p:cNvSpPr/>
            <p:nvPr/>
          </p:nvSpPr>
          <p:spPr>
            <a:xfrm>
              <a:off x="2192433" y="3586636"/>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txBox="1"/>
            <p:nvPr/>
          </p:nvSpPr>
          <p:spPr>
            <a:xfrm>
              <a:off x="2192433" y="3586636"/>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Parameter</a:t>
              </a:r>
              <a:endParaRPr/>
            </a:p>
          </p:txBody>
        </p:sp>
        <p:sp>
          <p:nvSpPr>
            <p:cNvPr id="530" name="Google Shape;530;p33"/>
            <p:cNvSpPr/>
            <p:nvPr/>
          </p:nvSpPr>
          <p:spPr>
            <a:xfrm>
              <a:off x="2192433" y="4652562"/>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3"/>
            <p:cNvSpPr txBox="1"/>
            <p:nvPr/>
          </p:nvSpPr>
          <p:spPr>
            <a:xfrm>
              <a:off x="2192433" y="4652562"/>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Procedural</a:t>
              </a:r>
              <a:endParaRPr/>
            </a:p>
          </p:txBody>
        </p:sp>
        <p:sp>
          <p:nvSpPr>
            <p:cNvPr id="532" name="Google Shape;532;p33"/>
            <p:cNvSpPr/>
            <p:nvPr/>
          </p:nvSpPr>
          <p:spPr>
            <a:xfrm>
              <a:off x="2192433" y="5718488"/>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txBox="1"/>
            <p:nvPr/>
          </p:nvSpPr>
          <p:spPr>
            <a:xfrm>
              <a:off x="2192433" y="5718488"/>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Message Passing</a:t>
              </a:r>
              <a:endParaRPr/>
            </a:p>
          </p:txBody>
        </p:sp>
        <p:sp>
          <p:nvSpPr>
            <p:cNvPr id="534" name="Google Shape;534;p33"/>
            <p:cNvSpPr/>
            <p:nvPr/>
          </p:nvSpPr>
          <p:spPr>
            <a:xfrm>
              <a:off x="3633685"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3"/>
            <p:cNvSpPr txBox="1"/>
            <p:nvPr/>
          </p:nvSpPr>
          <p:spPr>
            <a:xfrm>
              <a:off x="3633685"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2. Integration</a:t>
              </a:r>
              <a:endParaRPr/>
            </a:p>
          </p:txBody>
        </p:sp>
        <p:sp>
          <p:nvSpPr>
            <p:cNvPr id="536" name="Google Shape;536;p33"/>
            <p:cNvSpPr/>
            <p:nvPr/>
          </p:nvSpPr>
          <p:spPr>
            <a:xfrm>
              <a:off x="4009011"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3"/>
            <p:cNvSpPr txBox="1"/>
            <p:nvPr/>
          </p:nvSpPr>
          <p:spPr>
            <a:xfrm>
              <a:off x="4009011"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Top-down</a:t>
              </a:r>
              <a:endParaRPr/>
            </a:p>
          </p:txBody>
        </p:sp>
        <p:sp>
          <p:nvSpPr>
            <p:cNvPr id="538" name="Google Shape;538;p33"/>
            <p:cNvSpPr/>
            <p:nvPr/>
          </p:nvSpPr>
          <p:spPr>
            <a:xfrm>
              <a:off x="4009011"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3"/>
            <p:cNvSpPr txBox="1"/>
            <p:nvPr/>
          </p:nvSpPr>
          <p:spPr>
            <a:xfrm>
              <a:off x="4009011"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Bottom-up</a:t>
              </a:r>
              <a:endParaRPr/>
            </a:p>
          </p:txBody>
        </p:sp>
        <p:sp>
          <p:nvSpPr>
            <p:cNvPr id="540" name="Google Shape;540;p33"/>
            <p:cNvSpPr/>
            <p:nvPr/>
          </p:nvSpPr>
          <p:spPr>
            <a:xfrm>
              <a:off x="5450262"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3"/>
            <p:cNvSpPr txBox="1"/>
            <p:nvPr/>
          </p:nvSpPr>
          <p:spPr>
            <a:xfrm>
              <a:off x="5450262"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3. System</a:t>
              </a:r>
              <a:endParaRPr/>
            </a:p>
          </p:txBody>
        </p:sp>
        <p:sp>
          <p:nvSpPr>
            <p:cNvPr id="542" name="Google Shape;542;p33"/>
            <p:cNvSpPr/>
            <p:nvPr/>
          </p:nvSpPr>
          <p:spPr>
            <a:xfrm>
              <a:off x="5825588"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3"/>
            <p:cNvSpPr txBox="1"/>
            <p:nvPr/>
          </p:nvSpPr>
          <p:spPr>
            <a:xfrm>
              <a:off x="5825588"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Functional</a:t>
              </a:r>
              <a:endParaRPr/>
            </a:p>
          </p:txBody>
        </p:sp>
        <p:sp>
          <p:nvSpPr>
            <p:cNvPr id="544" name="Google Shape;544;p33"/>
            <p:cNvSpPr/>
            <p:nvPr/>
          </p:nvSpPr>
          <p:spPr>
            <a:xfrm>
              <a:off x="5825588"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3"/>
            <p:cNvSpPr txBox="1"/>
            <p:nvPr/>
          </p:nvSpPr>
          <p:spPr>
            <a:xfrm>
              <a:off x="5825588"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Usability</a:t>
              </a:r>
              <a:endParaRPr/>
            </a:p>
          </p:txBody>
        </p:sp>
        <p:sp>
          <p:nvSpPr>
            <p:cNvPr id="546" name="Google Shape;546;p33"/>
            <p:cNvSpPr/>
            <p:nvPr/>
          </p:nvSpPr>
          <p:spPr>
            <a:xfrm>
              <a:off x="5825588" y="4652562"/>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3"/>
            <p:cNvSpPr txBox="1"/>
            <p:nvPr/>
          </p:nvSpPr>
          <p:spPr>
            <a:xfrm>
              <a:off x="5825588" y="4652562"/>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Performance</a:t>
              </a:r>
              <a:endParaRPr/>
            </a:p>
          </p:txBody>
        </p:sp>
        <p:sp>
          <p:nvSpPr>
            <p:cNvPr id="548" name="Google Shape;548;p33"/>
            <p:cNvSpPr/>
            <p:nvPr/>
          </p:nvSpPr>
          <p:spPr>
            <a:xfrm>
              <a:off x="5825588" y="5718488"/>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3"/>
            <p:cNvSpPr txBox="1"/>
            <p:nvPr/>
          </p:nvSpPr>
          <p:spPr>
            <a:xfrm>
              <a:off x="5825588" y="5718488"/>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Stress</a:t>
              </a:r>
              <a:endParaRPr sz="1400">
                <a:solidFill>
                  <a:schemeClr val="lt1"/>
                </a:solidFill>
                <a:latin typeface="Calibri"/>
                <a:ea typeface="Calibri"/>
                <a:cs typeface="Calibri"/>
                <a:sym typeface="Calibri"/>
              </a:endParaRPr>
            </a:p>
          </p:txBody>
        </p:sp>
        <p:sp>
          <p:nvSpPr>
            <p:cNvPr id="550" name="Google Shape;550;p33"/>
            <p:cNvSpPr/>
            <p:nvPr/>
          </p:nvSpPr>
          <p:spPr>
            <a:xfrm>
              <a:off x="7266840"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3"/>
            <p:cNvSpPr txBox="1"/>
            <p:nvPr/>
          </p:nvSpPr>
          <p:spPr>
            <a:xfrm>
              <a:off x="7266840"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4. Acceptance</a:t>
              </a:r>
              <a:endParaRPr/>
            </a:p>
          </p:txBody>
        </p:sp>
        <p:sp>
          <p:nvSpPr>
            <p:cNvPr id="552" name="Google Shape;552;p33"/>
            <p:cNvSpPr/>
            <p:nvPr/>
          </p:nvSpPr>
          <p:spPr>
            <a:xfrm>
              <a:off x="7642166"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3"/>
            <p:cNvSpPr txBox="1"/>
            <p:nvPr/>
          </p:nvSpPr>
          <p:spPr>
            <a:xfrm>
              <a:off x="7642166"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a) Alpha</a:t>
              </a:r>
              <a:endParaRPr/>
            </a:p>
          </p:txBody>
        </p:sp>
        <p:sp>
          <p:nvSpPr>
            <p:cNvPr id="554" name="Google Shape;554;p33"/>
            <p:cNvSpPr/>
            <p:nvPr/>
          </p:nvSpPr>
          <p:spPr>
            <a:xfrm>
              <a:off x="7642166"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3"/>
            <p:cNvSpPr txBox="1"/>
            <p:nvPr/>
          </p:nvSpPr>
          <p:spPr>
            <a:xfrm>
              <a:off x="7642166"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b) Beta</a:t>
              </a:r>
              <a:endParaRPr/>
            </a:p>
          </p:txBody>
        </p:sp>
        <p:sp>
          <p:nvSpPr>
            <p:cNvPr id="556" name="Google Shape;556;p33"/>
            <p:cNvSpPr/>
            <p:nvPr/>
          </p:nvSpPr>
          <p:spPr>
            <a:xfrm>
              <a:off x="7642166" y="4652562"/>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3"/>
            <p:cNvSpPr txBox="1"/>
            <p:nvPr/>
          </p:nvSpPr>
          <p:spPr>
            <a:xfrm>
              <a:off x="7642166" y="4652562"/>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 UAT</a:t>
              </a:r>
              <a:endParaRPr/>
            </a:p>
          </p:txBody>
        </p:sp>
      </p:grpSp>
      <p:sp>
        <p:nvSpPr>
          <p:cNvPr id="558" name="Google Shape;558;p33"/>
          <p:cNvSpPr/>
          <p:nvPr/>
        </p:nvSpPr>
        <p:spPr>
          <a:xfrm>
            <a:off x="3429000" y="1142999"/>
            <a:ext cx="2012577" cy="1295401"/>
          </a:xfrm>
          <a:prstGeom prst="ellipse">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p3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Stage 2: Integration Test</a:t>
            </a:r>
            <a:endParaRPr/>
          </a:p>
        </p:txBody>
      </p:sp>
      <p:sp>
        <p:nvSpPr>
          <p:cNvPr id="565" name="Google Shape;565;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800"/>
              <a:buFont typeface="Arial"/>
              <a:buChar char="•"/>
            </a:pPr>
            <a:r>
              <a:rPr lang="en-US" sz="2800"/>
              <a:t>Testing during development involves </a:t>
            </a:r>
            <a:r>
              <a:rPr lang="en-US" sz="2800" b="1">
                <a:solidFill>
                  <a:srgbClr val="C00000"/>
                </a:solidFill>
              </a:rPr>
              <a:t>integrating components </a:t>
            </a:r>
            <a:r>
              <a:rPr lang="en-US" sz="2800"/>
              <a:t>to create a version of the system and then testing the integrated system</a:t>
            </a:r>
            <a:endParaRPr/>
          </a:p>
          <a:p>
            <a:pPr marL="342900" lvl="0" indent="-342900" algn="l" rtl="0">
              <a:lnSpc>
                <a:spcPct val="80000"/>
              </a:lnSpc>
              <a:spcBef>
                <a:spcPts val="560"/>
              </a:spcBef>
              <a:spcAft>
                <a:spcPts val="0"/>
              </a:spcAft>
              <a:buClr>
                <a:schemeClr val="dk1"/>
              </a:buClr>
              <a:buSzPts val="2800"/>
              <a:buChar char="•"/>
            </a:pPr>
            <a:r>
              <a:rPr lang="en-US" sz="2800"/>
              <a:t>The test team has access to the system source code and the system is tested as integrated components</a:t>
            </a:r>
            <a:endParaRPr/>
          </a:p>
          <a:p>
            <a:pPr marL="342900" lvl="0" indent="-342900" algn="just" rtl="0">
              <a:spcBef>
                <a:spcPts val="560"/>
              </a:spcBef>
              <a:spcAft>
                <a:spcPts val="0"/>
              </a:spcAft>
              <a:buClr>
                <a:schemeClr val="dk1"/>
              </a:buClr>
              <a:buSzPts val="2800"/>
              <a:buFont typeface="Arial"/>
              <a:buChar char="•"/>
            </a:pPr>
            <a:r>
              <a:rPr lang="en-US" sz="2800"/>
              <a:t>The focus in integration test is </a:t>
            </a:r>
            <a:r>
              <a:rPr lang="en-US" sz="2800" b="1">
                <a:solidFill>
                  <a:srgbClr val="C00000"/>
                </a:solidFill>
              </a:rPr>
              <a:t>testing the interactions</a:t>
            </a:r>
            <a:r>
              <a:rPr lang="en-US" sz="2800"/>
              <a:t> between components</a:t>
            </a:r>
            <a:endParaRPr/>
          </a:p>
          <a:p>
            <a:pPr marL="342900" lvl="0" indent="-342900" algn="just" rtl="0">
              <a:spcBef>
                <a:spcPts val="560"/>
              </a:spcBef>
              <a:spcAft>
                <a:spcPts val="0"/>
              </a:spcAft>
              <a:buClr>
                <a:schemeClr val="dk1"/>
              </a:buClr>
              <a:buSzPts val="2800"/>
              <a:buFont typeface="Arial"/>
              <a:buChar char="•"/>
            </a:pPr>
            <a:r>
              <a:rPr lang="en-US" sz="2800"/>
              <a:t>Integration test checks that components are compatible, interact correctly and transfer the right data at the right time across their interfaces</a:t>
            </a:r>
            <a:endParaRPr/>
          </a:p>
        </p:txBody>
      </p:sp>
      <p:sp>
        <p:nvSpPr>
          <p:cNvPr id="566" name="Google Shape;566;p3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567" name="Google Shape;567;p3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Integration Test (cont.)</a:t>
            </a:r>
            <a:endParaRPr/>
          </a:p>
        </p:txBody>
      </p:sp>
      <p:sp>
        <p:nvSpPr>
          <p:cNvPr id="573" name="Google Shape;573;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700"/>
              <a:buChar char="•"/>
            </a:pPr>
            <a:r>
              <a:rPr lang="en-US" sz="2700"/>
              <a:t>Involves building a system from its components and testing it for </a:t>
            </a:r>
            <a:r>
              <a:rPr lang="en-US" sz="2700" b="1">
                <a:solidFill>
                  <a:srgbClr val="C00000"/>
                </a:solidFill>
              </a:rPr>
              <a:t>problems that arise from component interactions</a:t>
            </a:r>
            <a:r>
              <a:rPr lang="en-US" sz="2700"/>
              <a:t>:</a:t>
            </a:r>
            <a:endParaRPr/>
          </a:p>
          <a:p>
            <a:pPr marL="742950" lvl="1" indent="-285750" algn="l" rtl="0">
              <a:lnSpc>
                <a:spcPct val="90000"/>
              </a:lnSpc>
              <a:spcBef>
                <a:spcPts val="480"/>
              </a:spcBef>
              <a:spcAft>
                <a:spcPts val="0"/>
              </a:spcAft>
              <a:buClr>
                <a:schemeClr val="dk1"/>
              </a:buClr>
              <a:buSzPts val="2400"/>
              <a:buFont typeface="Calibri"/>
              <a:buAutoNum type="arabicPeriod"/>
            </a:pPr>
            <a:r>
              <a:rPr lang="en-US" sz="2400"/>
              <a:t>Top-down integration:</a:t>
            </a:r>
            <a:endParaRPr/>
          </a:p>
          <a:p>
            <a:pPr marL="1143000" lvl="2" indent="-228600" algn="l" rtl="0">
              <a:lnSpc>
                <a:spcPct val="90000"/>
              </a:lnSpc>
              <a:spcBef>
                <a:spcPts val="480"/>
              </a:spcBef>
              <a:spcAft>
                <a:spcPts val="0"/>
              </a:spcAft>
              <a:buClr>
                <a:schemeClr val="dk1"/>
              </a:buClr>
              <a:buSzPts val="2400"/>
              <a:buChar char="•"/>
            </a:pPr>
            <a:r>
              <a:rPr lang="en-US"/>
              <a:t>Develop the skeleton of the system and populate it with components</a:t>
            </a:r>
            <a:endParaRPr/>
          </a:p>
          <a:p>
            <a:pPr marL="742950" lvl="1" indent="-285750" algn="l" rtl="0">
              <a:lnSpc>
                <a:spcPct val="90000"/>
              </a:lnSpc>
              <a:spcBef>
                <a:spcPts val="480"/>
              </a:spcBef>
              <a:spcAft>
                <a:spcPts val="0"/>
              </a:spcAft>
              <a:buClr>
                <a:schemeClr val="dk1"/>
              </a:buClr>
              <a:buSzPts val="2400"/>
              <a:buFont typeface="Calibri"/>
              <a:buAutoNum type="arabicPeriod"/>
            </a:pPr>
            <a:r>
              <a:rPr lang="en-US" sz="2400"/>
              <a:t>Bottom-up integration:</a:t>
            </a:r>
            <a:endParaRPr/>
          </a:p>
          <a:p>
            <a:pPr marL="1143000" lvl="2" indent="-228600" algn="l" rtl="0">
              <a:lnSpc>
                <a:spcPct val="90000"/>
              </a:lnSpc>
              <a:spcBef>
                <a:spcPts val="480"/>
              </a:spcBef>
              <a:spcAft>
                <a:spcPts val="0"/>
              </a:spcAft>
              <a:buClr>
                <a:schemeClr val="dk1"/>
              </a:buClr>
              <a:buSzPts val="2400"/>
              <a:buChar char="•"/>
            </a:pPr>
            <a:r>
              <a:rPr lang="en-US"/>
              <a:t>Integrate infrastructure components then add functional components</a:t>
            </a:r>
            <a:endParaRPr/>
          </a:p>
          <a:p>
            <a:pPr marL="342900" lvl="0" indent="-342900" algn="l" rtl="0">
              <a:lnSpc>
                <a:spcPct val="90000"/>
              </a:lnSpc>
              <a:spcBef>
                <a:spcPts val="540"/>
              </a:spcBef>
              <a:spcAft>
                <a:spcPts val="0"/>
              </a:spcAft>
              <a:buClr>
                <a:schemeClr val="dk1"/>
              </a:buClr>
              <a:buSzPts val="2700"/>
              <a:buChar char="•"/>
            </a:pPr>
            <a:r>
              <a:rPr lang="en-US" sz="2700"/>
              <a:t>To simplify </a:t>
            </a:r>
            <a:r>
              <a:rPr lang="en-US" sz="2700" b="1">
                <a:solidFill>
                  <a:srgbClr val="C00000"/>
                </a:solidFill>
              </a:rPr>
              <a:t>error localisation</a:t>
            </a:r>
            <a:r>
              <a:rPr lang="en-US" sz="2700"/>
              <a:t>, systems should be </a:t>
            </a:r>
            <a:r>
              <a:rPr lang="en-US" sz="2700" b="1">
                <a:solidFill>
                  <a:srgbClr val="C00000"/>
                </a:solidFill>
              </a:rPr>
              <a:t>incrementally integrated</a:t>
            </a:r>
            <a:endParaRPr/>
          </a:p>
          <a:p>
            <a:pPr marL="342900" lvl="0" indent="-171450" algn="l" rtl="0">
              <a:lnSpc>
                <a:spcPct val="90000"/>
              </a:lnSpc>
              <a:spcBef>
                <a:spcPts val="540"/>
              </a:spcBef>
              <a:spcAft>
                <a:spcPts val="0"/>
              </a:spcAft>
              <a:buClr>
                <a:schemeClr val="dk1"/>
              </a:buClr>
              <a:buSzPts val="2700"/>
              <a:buNone/>
            </a:pPr>
            <a:endParaRPr sz="2700"/>
          </a:p>
          <a:p>
            <a:pPr marL="342900" lvl="0" indent="-139700" algn="l" rtl="0">
              <a:spcBef>
                <a:spcPts val="640"/>
              </a:spcBef>
              <a:spcAft>
                <a:spcPts val="0"/>
              </a:spcAft>
              <a:buClr>
                <a:schemeClr val="dk1"/>
              </a:buClr>
              <a:buSzPts val="3200"/>
              <a:buNone/>
            </a:pPr>
            <a:endParaRPr/>
          </a:p>
        </p:txBody>
      </p:sp>
      <p:sp>
        <p:nvSpPr>
          <p:cNvPr id="574" name="Google Shape;574;p3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575" name="Google Shape;575;p3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Incremental Integration Testing</a:t>
            </a:r>
            <a:endParaRPr/>
          </a:p>
        </p:txBody>
      </p:sp>
      <p:sp>
        <p:nvSpPr>
          <p:cNvPr id="581" name="Google Shape;581;p3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582" name="Google Shape;582;p36"/>
          <p:cNvPicPr preferRelativeResize="0"/>
          <p:nvPr/>
        </p:nvPicPr>
        <p:blipFill rotWithShape="1">
          <a:blip r:embed="rId3">
            <a:alphaModFix/>
          </a:blip>
          <a:srcRect/>
          <a:stretch/>
        </p:blipFill>
        <p:spPr>
          <a:xfrm>
            <a:off x="1268973" y="1793290"/>
            <a:ext cx="6732027" cy="4150310"/>
          </a:xfrm>
          <a:prstGeom prst="rect">
            <a:avLst/>
          </a:prstGeom>
          <a:solidFill>
            <a:schemeClr val="lt1"/>
          </a:solidFill>
          <a:ln>
            <a:noFill/>
          </a:ln>
        </p:spPr>
      </p:pic>
      <p:sp>
        <p:nvSpPr>
          <p:cNvPr id="583" name="Google Shape;583;p3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589" name="Google Shape;589;p3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590" name="Google Shape;590;p37"/>
          <p:cNvGrpSpPr/>
          <p:nvPr/>
        </p:nvGrpSpPr>
        <p:grpSpPr>
          <a:xfrm>
            <a:off x="530" y="398418"/>
            <a:ext cx="9142939" cy="6080280"/>
            <a:chOff x="530" y="388859"/>
            <a:chExt cx="9142939" cy="6080280"/>
          </a:xfrm>
        </p:grpSpPr>
        <p:sp>
          <p:nvSpPr>
            <p:cNvPr id="591" name="Google Shape;591;p37"/>
            <p:cNvSpPr/>
            <p:nvPr/>
          </p:nvSpPr>
          <p:spPr>
            <a:xfrm>
              <a:off x="7416970" y="2205437"/>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92" name="Google Shape;592;p37"/>
            <p:cNvSpPr/>
            <p:nvPr/>
          </p:nvSpPr>
          <p:spPr>
            <a:xfrm>
              <a:off x="7416970"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93" name="Google Shape;593;p37"/>
            <p:cNvSpPr/>
            <p:nvPr/>
          </p:nvSpPr>
          <p:spPr>
            <a:xfrm>
              <a:off x="7416970"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94" name="Google Shape;594;p37"/>
            <p:cNvSpPr/>
            <p:nvPr/>
          </p:nvSpPr>
          <p:spPr>
            <a:xfrm>
              <a:off x="4838481" y="1139511"/>
              <a:ext cx="3179010"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595" name="Google Shape;595;p37"/>
            <p:cNvSpPr/>
            <p:nvPr/>
          </p:nvSpPr>
          <p:spPr>
            <a:xfrm>
              <a:off x="5600393" y="2205437"/>
              <a:ext cx="225195" cy="3888376"/>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96" name="Google Shape;596;p37"/>
            <p:cNvSpPr/>
            <p:nvPr/>
          </p:nvSpPr>
          <p:spPr>
            <a:xfrm>
              <a:off x="5600393" y="2205437"/>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97" name="Google Shape;597;p37"/>
            <p:cNvSpPr/>
            <p:nvPr/>
          </p:nvSpPr>
          <p:spPr>
            <a:xfrm>
              <a:off x="5600393"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98" name="Google Shape;598;p37"/>
            <p:cNvSpPr/>
            <p:nvPr/>
          </p:nvSpPr>
          <p:spPr>
            <a:xfrm>
              <a:off x="5600393"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599" name="Google Shape;599;p37"/>
            <p:cNvSpPr/>
            <p:nvPr/>
          </p:nvSpPr>
          <p:spPr>
            <a:xfrm>
              <a:off x="4838481" y="1139511"/>
              <a:ext cx="1362433"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600" name="Google Shape;600;p37"/>
            <p:cNvSpPr/>
            <p:nvPr/>
          </p:nvSpPr>
          <p:spPr>
            <a:xfrm>
              <a:off x="3783815"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601" name="Google Shape;601;p37"/>
            <p:cNvSpPr/>
            <p:nvPr/>
          </p:nvSpPr>
          <p:spPr>
            <a:xfrm>
              <a:off x="3783815"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602" name="Google Shape;602;p37"/>
            <p:cNvSpPr/>
            <p:nvPr/>
          </p:nvSpPr>
          <p:spPr>
            <a:xfrm>
              <a:off x="4384337" y="1139511"/>
              <a:ext cx="454144"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603" name="Google Shape;603;p37"/>
            <p:cNvSpPr/>
            <p:nvPr/>
          </p:nvSpPr>
          <p:spPr>
            <a:xfrm>
              <a:off x="1967238" y="3271363"/>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604" name="Google Shape;604;p37"/>
            <p:cNvSpPr/>
            <p:nvPr/>
          </p:nvSpPr>
          <p:spPr>
            <a:xfrm>
              <a:off x="1967238" y="3271363"/>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605" name="Google Shape;605;p37"/>
            <p:cNvSpPr/>
            <p:nvPr/>
          </p:nvSpPr>
          <p:spPr>
            <a:xfrm>
              <a:off x="1967238" y="3271363"/>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606" name="Google Shape;606;p37"/>
            <p:cNvSpPr/>
            <p:nvPr/>
          </p:nvSpPr>
          <p:spPr>
            <a:xfrm>
              <a:off x="1659470" y="2205437"/>
              <a:ext cx="908288"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607" name="Google Shape;607;p37"/>
            <p:cNvSpPr/>
            <p:nvPr/>
          </p:nvSpPr>
          <p:spPr>
            <a:xfrm>
              <a:off x="751182" y="2205437"/>
              <a:ext cx="908288"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608" name="Google Shape;608;p37"/>
            <p:cNvSpPr/>
            <p:nvPr/>
          </p:nvSpPr>
          <p:spPr>
            <a:xfrm>
              <a:off x="1659470" y="1139511"/>
              <a:ext cx="3179010"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609" name="Google Shape;609;p37"/>
            <p:cNvSpPr/>
            <p:nvPr/>
          </p:nvSpPr>
          <p:spPr>
            <a:xfrm>
              <a:off x="3581402" y="388859"/>
              <a:ext cx="2514158" cy="750651"/>
            </a:xfrm>
            <a:prstGeom prst="rect">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7"/>
            <p:cNvSpPr txBox="1"/>
            <p:nvPr/>
          </p:nvSpPr>
          <p:spPr>
            <a:xfrm>
              <a:off x="3581402" y="388859"/>
              <a:ext cx="2514158" cy="750651"/>
            </a:xfrm>
            <a:prstGeom prst="rect">
              <a:avLst/>
            </a:prstGeom>
            <a:no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Stages / levels of Software Testing </a:t>
              </a:r>
              <a:endParaRPr/>
            </a:p>
          </p:txBody>
        </p:sp>
        <p:sp>
          <p:nvSpPr>
            <p:cNvPr id="611" name="Google Shape;611;p37"/>
            <p:cNvSpPr/>
            <p:nvPr/>
          </p:nvSpPr>
          <p:spPr>
            <a:xfrm>
              <a:off x="908818"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7"/>
            <p:cNvSpPr txBox="1"/>
            <p:nvPr/>
          </p:nvSpPr>
          <p:spPr>
            <a:xfrm>
              <a:off x="908818"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1. Component</a:t>
              </a:r>
              <a:endParaRPr/>
            </a:p>
          </p:txBody>
        </p:sp>
        <p:sp>
          <p:nvSpPr>
            <p:cNvPr id="613" name="Google Shape;613;p37"/>
            <p:cNvSpPr/>
            <p:nvPr/>
          </p:nvSpPr>
          <p:spPr>
            <a:xfrm>
              <a:off x="530"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7"/>
            <p:cNvSpPr txBox="1"/>
            <p:nvPr/>
          </p:nvSpPr>
          <p:spPr>
            <a:xfrm>
              <a:off x="530"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Object/Class</a:t>
              </a:r>
              <a:endParaRPr/>
            </a:p>
          </p:txBody>
        </p:sp>
        <p:sp>
          <p:nvSpPr>
            <p:cNvPr id="615" name="Google Shape;615;p37"/>
            <p:cNvSpPr/>
            <p:nvPr/>
          </p:nvSpPr>
          <p:spPr>
            <a:xfrm>
              <a:off x="1817107"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7"/>
            <p:cNvSpPr txBox="1"/>
            <p:nvPr/>
          </p:nvSpPr>
          <p:spPr>
            <a:xfrm>
              <a:off x="1817107"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Interface</a:t>
              </a:r>
              <a:endParaRPr/>
            </a:p>
          </p:txBody>
        </p:sp>
        <p:sp>
          <p:nvSpPr>
            <p:cNvPr id="617" name="Google Shape;617;p37"/>
            <p:cNvSpPr/>
            <p:nvPr/>
          </p:nvSpPr>
          <p:spPr>
            <a:xfrm>
              <a:off x="2192433" y="3586636"/>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7"/>
            <p:cNvSpPr txBox="1"/>
            <p:nvPr/>
          </p:nvSpPr>
          <p:spPr>
            <a:xfrm>
              <a:off x="2192433" y="3586636"/>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Parameter</a:t>
              </a:r>
              <a:endParaRPr/>
            </a:p>
          </p:txBody>
        </p:sp>
        <p:sp>
          <p:nvSpPr>
            <p:cNvPr id="619" name="Google Shape;619;p37"/>
            <p:cNvSpPr/>
            <p:nvPr/>
          </p:nvSpPr>
          <p:spPr>
            <a:xfrm>
              <a:off x="2192433" y="4652562"/>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7"/>
            <p:cNvSpPr txBox="1"/>
            <p:nvPr/>
          </p:nvSpPr>
          <p:spPr>
            <a:xfrm>
              <a:off x="2192433" y="4652562"/>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Procedural</a:t>
              </a:r>
              <a:endParaRPr/>
            </a:p>
          </p:txBody>
        </p:sp>
        <p:sp>
          <p:nvSpPr>
            <p:cNvPr id="621" name="Google Shape;621;p37"/>
            <p:cNvSpPr/>
            <p:nvPr/>
          </p:nvSpPr>
          <p:spPr>
            <a:xfrm>
              <a:off x="2192433" y="5718488"/>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7"/>
            <p:cNvSpPr txBox="1"/>
            <p:nvPr/>
          </p:nvSpPr>
          <p:spPr>
            <a:xfrm>
              <a:off x="2192433" y="5718488"/>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Message Passing</a:t>
              </a:r>
              <a:endParaRPr/>
            </a:p>
          </p:txBody>
        </p:sp>
        <p:sp>
          <p:nvSpPr>
            <p:cNvPr id="623" name="Google Shape;623;p37"/>
            <p:cNvSpPr/>
            <p:nvPr/>
          </p:nvSpPr>
          <p:spPr>
            <a:xfrm>
              <a:off x="3633685"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7"/>
            <p:cNvSpPr txBox="1"/>
            <p:nvPr/>
          </p:nvSpPr>
          <p:spPr>
            <a:xfrm>
              <a:off x="3633685"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2. Integration</a:t>
              </a:r>
              <a:endParaRPr/>
            </a:p>
          </p:txBody>
        </p:sp>
        <p:sp>
          <p:nvSpPr>
            <p:cNvPr id="625" name="Google Shape;625;p37"/>
            <p:cNvSpPr/>
            <p:nvPr/>
          </p:nvSpPr>
          <p:spPr>
            <a:xfrm>
              <a:off x="4009011"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7"/>
            <p:cNvSpPr txBox="1"/>
            <p:nvPr/>
          </p:nvSpPr>
          <p:spPr>
            <a:xfrm>
              <a:off x="4009011"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Top-down</a:t>
              </a:r>
              <a:endParaRPr/>
            </a:p>
          </p:txBody>
        </p:sp>
        <p:sp>
          <p:nvSpPr>
            <p:cNvPr id="627" name="Google Shape;627;p37"/>
            <p:cNvSpPr/>
            <p:nvPr/>
          </p:nvSpPr>
          <p:spPr>
            <a:xfrm>
              <a:off x="4009011"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7"/>
            <p:cNvSpPr txBox="1"/>
            <p:nvPr/>
          </p:nvSpPr>
          <p:spPr>
            <a:xfrm>
              <a:off x="4009011"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Bottom-up</a:t>
              </a:r>
              <a:endParaRPr/>
            </a:p>
          </p:txBody>
        </p:sp>
        <p:sp>
          <p:nvSpPr>
            <p:cNvPr id="629" name="Google Shape;629;p37"/>
            <p:cNvSpPr/>
            <p:nvPr/>
          </p:nvSpPr>
          <p:spPr>
            <a:xfrm>
              <a:off x="5450262"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7"/>
            <p:cNvSpPr txBox="1"/>
            <p:nvPr/>
          </p:nvSpPr>
          <p:spPr>
            <a:xfrm>
              <a:off x="5450262"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3. System</a:t>
              </a:r>
              <a:endParaRPr/>
            </a:p>
          </p:txBody>
        </p:sp>
        <p:sp>
          <p:nvSpPr>
            <p:cNvPr id="631" name="Google Shape;631;p37"/>
            <p:cNvSpPr/>
            <p:nvPr/>
          </p:nvSpPr>
          <p:spPr>
            <a:xfrm>
              <a:off x="5825588"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7"/>
            <p:cNvSpPr txBox="1"/>
            <p:nvPr/>
          </p:nvSpPr>
          <p:spPr>
            <a:xfrm>
              <a:off x="5825588"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Functional</a:t>
              </a:r>
              <a:endParaRPr/>
            </a:p>
          </p:txBody>
        </p:sp>
        <p:sp>
          <p:nvSpPr>
            <p:cNvPr id="633" name="Google Shape;633;p37"/>
            <p:cNvSpPr/>
            <p:nvPr/>
          </p:nvSpPr>
          <p:spPr>
            <a:xfrm>
              <a:off x="5825588"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7"/>
            <p:cNvSpPr txBox="1"/>
            <p:nvPr/>
          </p:nvSpPr>
          <p:spPr>
            <a:xfrm>
              <a:off x="5825588"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Usability</a:t>
              </a:r>
              <a:endParaRPr/>
            </a:p>
          </p:txBody>
        </p:sp>
        <p:sp>
          <p:nvSpPr>
            <p:cNvPr id="635" name="Google Shape;635;p37"/>
            <p:cNvSpPr/>
            <p:nvPr/>
          </p:nvSpPr>
          <p:spPr>
            <a:xfrm>
              <a:off x="5825588" y="4652562"/>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7"/>
            <p:cNvSpPr txBox="1"/>
            <p:nvPr/>
          </p:nvSpPr>
          <p:spPr>
            <a:xfrm>
              <a:off x="5825588" y="4652562"/>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Performance</a:t>
              </a:r>
              <a:endParaRPr/>
            </a:p>
          </p:txBody>
        </p:sp>
        <p:sp>
          <p:nvSpPr>
            <p:cNvPr id="637" name="Google Shape;637;p37"/>
            <p:cNvSpPr/>
            <p:nvPr/>
          </p:nvSpPr>
          <p:spPr>
            <a:xfrm>
              <a:off x="5825588" y="5718488"/>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7"/>
            <p:cNvSpPr txBox="1"/>
            <p:nvPr/>
          </p:nvSpPr>
          <p:spPr>
            <a:xfrm>
              <a:off x="5825588" y="5718488"/>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Stress</a:t>
              </a:r>
              <a:endParaRPr sz="1400">
                <a:solidFill>
                  <a:schemeClr val="lt1"/>
                </a:solidFill>
                <a:latin typeface="Calibri"/>
                <a:ea typeface="Calibri"/>
                <a:cs typeface="Calibri"/>
                <a:sym typeface="Calibri"/>
              </a:endParaRPr>
            </a:p>
          </p:txBody>
        </p:sp>
        <p:sp>
          <p:nvSpPr>
            <p:cNvPr id="639" name="Google Shape;639;p37"/>
            <p:cNvSpPr/>
            <p:nvPr/>
          </p:nvSpPr>
          <p:spPr>
            <a:xfrm>
              <a:off x="7266840"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7"/>
            <p:cNvSpPr txBox="1"/>
            <p:nvPr/>
          </p:nvSpPr>
          <p:spPr>
            <a:xfrm>
              <a:off x="7266840"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4. Acceptance</a:t>
              </a:r>
              <a:endParaRPr/>
            </a:p>
          </p:txBody>
        </p:sp>
        <p:sp>
          <p:nvSpPr>
            <p:cNvPr id="641" name="Google Shape;641;p37"/>
            <p:cNvSpPr/>
            <p:nvPr/>
          </p:nvSpPr>
          <p:spPr>
            <a:xfrm>
              <a:off x="7642166"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7"/>
            <p:cNvSpPr txBox="1"/>
            <p:nvPr/>
          </p:nvSpPr>
          <p:spPr>
            <a:xfrm>
              <a:off x="7642166"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a) Alpha</a:t>
              </a:r>
              <a:endParaRPr/>
            </a:p>
          </p:txBody>
        </p:sp>
        <p:sp>
          <p:nvSpPr>
            <p:cNvPr id="643" name="Google Shape;643;p37"/>
            <p:cNvSpPr/>
            <p:nvPr/>
          </p:nvSpPr>
          <p:spPr>
            <a:xfrm>
              <a:off x="7642166"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7"/>
            <p:cNvSpPr txBox="1"/>
            <p:nvPr/>
          </p:nvSpPr>
          <p:spPr>
            <a:xfrm>
              <a:off x="7642166"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b) Beta</a:t>
              </a:r>
              <a:endParaRPr/>
            </a:p>
          </p:txBody>
        </p:sp>
        <p:sp>
          <p:nvSpPr>
            <p:cNvPr id="645" name="Google Shape;645;p37"/>
            <p:cNvSpPr/>
            <p:nvPr/>
          </p:nvSpPr>
          <p:spPr>
            <a:xfrm>
              <a:off x="7642166" y="4652562"/>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7"/>
            <p:cNvSpPr txBox="1"/>
            <p:nvPr/>
          </p:nvSpPr>
          <p:spPr>
            <a:xfrm>
              <a:off x="7642166" y="4652562"/>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 UAT</a:t>
              </a:r>
              <a:endParaRPr/>
            </a:p>
          </p:txBody>
        </p:sp>
      </p:grpSp>
      <p:sp>
        <p:nvSpPr>
          <p:cNvPr id="647" name="Google Shape;647;p37"/>
          <p:cNvSpPr/>
          <p:nvPr/>
        </p:nvSpPr>
        <p:spPr>
          <a:xfrm>
            <a:off x="5334001" y="1295400"/>
            <a:ext cx="1752600" cy="1035017"/>
          </a:xfrm>
          <a:prstGeom prst="ellipse">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8" name="Google Shape;648;p3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Stage 3: System Test</a:t>
            </a:r>
            <a:endParaRPr/>
          </a:p>
        </p:txBody>
      </p:sp>
      <p:sp>
        <p:nvSpPr>
          <p:cNvPr id="654" name="Google Shape;654;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800"/>
              <a:buChar char="•"/>
            </a:pPr>
            <a:r>
              <a:rPr lang="en-US" sz="2800"/>
              <a:t>Process of testing an integrated system to verify that it meets specified requirements</a:t>
            </a:r>
            <a:endParaRPr/>
          </a:p>
          <a:p>
            <a:pPr marL="342900" lvl="0" indent="-342900" algn="l" rtl="0">
              <a:lnSpc>
                <a:spcPct val="80000"/>
              </a:lnSpc>
              <a:spcBef>
                <a:spcPts val="560"/>
              </a:spcBef>
              <a:spcAft>
                <a:spcPts val="0"/>
              </a:spcAft>
              <a:buClr>
                <a:schemeClr val="dk1"/>
              </a:buClr>
              <a:buSzPts val="2800"/>
              <a:buChar char="•"/>
            </a:pPr>
            <a:r>
              <a:rPr lang="en-US" sz="2800"/>
              <a:t>The test team (preferably independent testing team) </a:t>
            </a:r>
            <a:r>
              <a:rPr lang="en-US" sz="2800" b="1">
                <a:solidFill>
                  <a:srgbClr val="C00000"/>
                </a:solidFill>
              </a:rPr>
              <a:t>test the complete system</a:t>
            </a:r>
            <a:r>
              <a:rPr lang="en-US" sz="2800"/>
              <a:t> to be delivered as a black-box</a:t>
            </a:r>
            <a:endParaRPr/>
          </a:p>
          <a:p>
            <a:pPr marL="342900" lvl="0" indent="-342900" algn="l" rtl="0">
              <a:lnSpc>
                <a:spcPct val="80000"/>
              </a:lnSpc>
              <a:spcBef>
                <a:spcPts val="560"/>
              </a:spcBef>
              <a:spcAft>
                <a:spcPts val="0"/>
              </a:spcAft>
              <a:buClr>
                <a:schemeClr val="dk1"/>
              </a:buClr>
              <a:buSzPts val="2800"/>
              <a:buChar char="•"/>
            </a:pPr>
            <a:r>
              <a:rPr lang="en-US" sz="2800"/>
              <a:t>Includes function test, function interaction (flow) and non-functional attributes</a:t>
            </a:r>
            <a:endParaRPr/>
          </a:p>
          <a:p>
            <a:pPr marL="342900" lvl="0" indent="-342900" algn="l" rtl="0">
              <a:lnSpc>
                <a:spcPct val="80000"/>
              </a:lnSpc>
              <a:spcBef>
                <a:spcPts val="560"/>
              </a:spcBef>
              <a:spcAft>
                <a:spcPts val="0"/>
              </a:spcAft>
              <a:buClr>
                <a:schemeClr val="dk1"/>
              </a:buClr>
              <a:buSzPts val="2800"/>
              <a:buChar char="•"/>
            </a:pPr>
            <a:r>
              <a:rPr lang="en-US" sz="2800"/>
              <a:t>Three examples of system testing to test </a:t>
            </a:r>
            <a:r>
              <a:rPr lang="en-US" sz="2800" b="1">
                <a:solidFill>
                  <a:srgbClr val="C00000"/>
                </a:solidFill>
              </a:rPr>
              <a:t>non-functional</a:t>
            </a:r>
            <a:r>
              <a:rPr lang="en-US" sz="2800"/>
              <a:t> attributes:</a:t>
            </a:r>
            <a:endParaRPr/>
          </a:p>
          <a:p>
            <a:pPr marL="914400" lvl="1" indent="-457200" algn="l" rtl="0">
              <a:lnSpc>
                <a:spcPct val="80000"/>
              </a:lnSpc>
              <a:spcBef>
                <a:spcPts val="560"/>
              </a:spcBef>
              <a:spcAft>
                <a:spcPts val="0"/>
              </a:spcAft>
              <a:buClr>
                <a:schemeClr val="dk1"/>
              </a:buClr>
              <a:buSzPts val="2800"/>
              <a:buFont typeface="Calibri"/>
              <a:buAutoNum type="arabicPeriod"/>
            </a:pPr>
            <a:r>
              <a:rPr lang="en-US"/>
              <a:t>Stress testing</a:t>
            </a:r>
            <a:endParaRPr/>
          </a:p>
          <a:p>
            <a:pPr marL="914400" lvl="1" indent="-457200" algn="l" rtl="0">
              <a:lnSpc>
                <a:spcPct val="80000"/>
              </a:lnSpc>
              <a:spcBef>
                <a:spcPts val="560"/>
              </a:spcBef>
              <a:spcAft>
                <a:spcPts val="0"/>
              </a:spcAft>
              <a:buClr>
                <a:schemeClr val="dk1"/>
              </a:buClr>
              <a:buSzPts val="2800"/>
              <a:buFont typeface="Calibri"/>
              <a:buAutoNum type="arabicPeriod"/>
            </a:pPr>
            <a:r>
              <a:rPr lang="en-US"/>
              <a:t>Performance testing</a:t>
            </a:r>
            <a:endParaRPr/>
          </a:p>
          <a:p>
            <a:pPr marL="914400" lvl="1" indent="-457200" algn="l" rtl="0">
              <a:lnSpc>
                <a:spcPct val="80000"/>
              </a:lnSpc>
              <a:spcBef>
                <a:spcPts val="560"/>
              </a:spcBef>
              <a:spcAft>
                <a:spcPts val="0"/>
              </a:spcAft>
              <a:buClr>
                <a:schemeClr val="dk1"/>
              </a:buClr>
              <a:buSzPts val="2800"/>
              <a:buFont typeface="Calibri"/>
              <a:buAutoNum type="arabicPeriod"/>
            </a:pPr>
            <a:r>
              <a:rPr lang="en-US"/>
              <a:t>Usability testing</a:t>
            </a:r>
            <a:endParaRPr/>
          </a:p>
          <a:p>
            <a:pPr marL="342900" lvl="0" indent="-165100" algn="l" rtl="0">
              <a:lnSpc>
                <a:spcPct val="80000"/>
              </a:lnSpc>
              <a:spcBef>
                <a:spcPts val="560"/>
              </a:spcBef>
              <a:spcAft>
                <a:spcPts val="0"/>
              </a:spcAft>
              <a:buClr>
                <a:schemeClr val="dk1"/>
              </a:buClr>
              <a:buSzPts val="2800"/>
              <a:buNone/>
            </a:pPr>
            <a:endParaRPr sz="2800"/>
          </a:p>
          <a:p>
            <a:pPr marL="342900" lvl="0" indent="-165100" algn="l" rtl="0">
              <a:spcBef>
                <a:spcPts val="560"/>
              </a:spcBef>
              <a:spcAft>
                <a:spcPts val="0"/>
              </a:spcAft>
              <a:buClr>
                <a:schemeClr val="dk1"/>
              </a:buClr>
              <a:buSzPts val="2800"/>
              <a:buNone/>
            </a:pPr>
            <a:endParaRPr sz="2800"/>
          </a:p>
        </p:txBody>
      </p:sp>
      <p:sp>
        <p:nvSpPr>
          <p:cNvPr id="655" name="Google Shape;655;p3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656" name="Google Shape;656;p3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System Test (cont.)</a:t>
            </a:r>
            <a:endParaRPr/>
          </a:p>
        </p:txBody>
      </p:sp>
      <p:sp>
        <p:nvSpPr>
          <p:cNvPr id="662" name="Google Shape;662;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800"/>
              <a:buChar char="•"/>
            </a:pPr>
            <a:r>
              <a:rPr lang="en-US" sz="2800"/>
              <a:t>The process of testing is a release of a system that will be distributed to customers</a:t>
            </a:r>
            <a:endParaRPr/>
          </a:p>
          <a:p>
            <a:pPr marL="342900" lvl="0" indent="-342900" algn="just" rtl="0">
              <a:lnSpc>
                <a:spcPct val="80000"/>
              </a:lnSpc>
              <a:spcBef>
                <a:spcPts val="560"/>
              </a:spcBef>
              <a:spcAft>
                <a:spcPts val="0"/>
              </a:spcAft>
              <a:buClr>
                <a:schemeClr val="dk1"/>
              </a:buClr>
              <a:buSzPts val="2800"/>
              <a:buChar char="•"/>
            </a:pPr>
            <a:r>
              <a:rPr lang="en-US" sz="2800"/>
              <a:t>Primary goal is to increase suppliers’ confidence that the system meets its requirements</a:t>
            </a:r>
            <a:endParaRPr/>
          </a:p>
          <a:p>
            <a:pPr marL="342900" lvl="0" indent="-342900" algn="just" rtl="0">
              <a:lnSpc>
                <a:spcPct val="80000"/>
              </a:lnSpc>
              <a:spcBef>
                <a:spcPts val="560"/>
              </a:spcBef>
              <a:spcAft>
                <a:spcPts val="0"/>
              </a:spcAft>
              <a:buClr>
                <a:schemeClr val="dk1"/>
              </a:buClr>
              <a:buSzPts val="2800"/>
              <a:buChar char="•"/>
            </a:pPr>
            <a:r>
              <a:rPr lang="en-US" sz="2800"/>
              <a:t>System test is usually </a:t>
            </a:r>
            <a:r>
              <a:rPr lang="en-US" sz="2800" b="1">
                <a:solidFill>
                  <a:srgbClr val="C00000"/>
                </a:solidFill>
              </a:rPr>
              <a:t>black-box or functional testing</a:t>
            </a:r>
            <a:r>
              <a:rPr lang="en-US" sz="2800"/>
              <a:t>:</a:t>
            </a:r>
            <a:endParaRPr/>
          </a:p>
          <a:p>
            <a:pPr marL="742950" lvl="1" indent="-285750" algn="just" rtl="0">
              <a:lnSpc>
                <a:spcPct val="80000"/>
              </a:lnSpc>
              <a:spcBef>
                <a:spcPts val="560"/>
              </a:spcBef>
              <a:spcAft>
                <a:spcPts val="0"/>
              </a:spcAft>
              <a:buClr>
                <a:schemeClr val="dk1"/>
              </a:buClr>
              <a:buSzPts val="2800"/>
              <a:buChar char="–"/>
            </a:pPr>
            <a:r>
              <a:rPr lang="en-US"/>
              <a:t>Based on the system specification only</a:t>
            </a:r>
            <a:endParaRPr/>
          </a:p>
          <a:p>
            <a:pPr marL="742950" lvl="1" indent="-285750" algn="just" rtl="0">
              <a:lnSpc>
                <a:spcPct val="80000"/>
              </a:lnSpc>
              <a:spcBef>
                <a:spcPts val="560"/>
              </a:spcBef>
              <a:spcAft>
                <a:spcPts val="0"/>
              </a:spcAft>
              <a:buClr>
                <a:schemeClr val="dk1"/>
              </a:buClr>
              <a:buSzPts val="2800"/>
              <a:buChar char="–"/>
            </a:pPr>
            <a:r>
              <a:rPr lang="en-US"/>
              <a:t>Testers do not have knowledge of the system implementation</a:t>
            </a:r>
            <a:endParaRPr/>
          </a:p>
          <a:p>
            <a:pPr marL="742950" lvl="1" indent="-285750" algn="just" rtl="0">
              <a:lnSpc>
                <a:spcPct val="80000"/>
              </a:lnSpc>
              <a:spcBef>
                <a:spcPts val="560"/>
              </a:spcBef>
              <a:spcAft>
                <a:spcPts val="0"/>
              </a:spcAft>
              <a:buClr>
                <a:schemeClr val="dk1"/>
              </a:buClr>
              <a:buSzPts val="2800"/>
              <a:buChar char="–"/>
            </a:pPr>
            <a:r>
              <a:rPr lang="en-US"/>
              <a:t>(see requirements test section later)</a:t>
            </a:r>
            <a:endParaRPr/>
          </a:p>
          <a:p>
            <a:pPr marL="342900" lvl="0" indent="-165100" algn="just" rtl="0">
              <a:lnSpc>
                <a:spcPct val="80000"/>
              </a:lnSpc>
              <a:spcBef>
                <a:spcPts val="560"/>
              </a:spcBef>
              <a:spcAft>
                <a:spcPts val="0"/>
              </a:spcAft>
              <a:buClr>
                <a:schemeClr val="dk1"/>
              </a:buClr>
              <a:buSzPts val="2800"/>
              <a:buNone/>
            </a:pPr>
            <a:endParaRPr sz="2800"/>
          </a:p>
          <a:p>
            <a:pPr marL="342900" lvl="0" indent="-139700" algn="just" rtl="0">
              <a:spcBef>
                <a:spcPts val="640"/>
              </a:spcBef>
              <a:spcAft>
                <a:spcPts val="0"/>
              </a:spcAft>
              <a:buClr>
                <a:schemeClr val="dk1"/>
              </a:buClr>
              <a:buSzPts val="3200"/>
              <a:buNone/>
            </a:pPr>
            <a:endParaRPr/>
          </a:p>
        </p:txBody>
      </p:sp>
      <p:sp>
        <p:nvSpPr>
          <p:cNvPr id="663" name="Google Shape;663;p3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664" name="Google Shape;664;p3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Stress Testing</a:t>
            </a:r>
            <a:endParaRPr/>
          </a:p>
        </p:txBody>
      </p:sp>
      <p:sp>
        <p:nvSpPr>
          <p:cNvPr id="670" name="Google Shape;670;p40"/>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Autofit/>
          </a:bodyPr>
          <a:lstStyle/>
          <a:p>
            <a:pPr marL="342900" lvl="0" indent="-342900" algn="just" rtl="0">
              <a:lnSpc>
                <a:spcPct val="80000"/>
              </a:lnSpc>
              <a:spcBef>
                <a:spcPts val="0"/>
              </a:spcBef>
              <a:spcAft>
                <a:spcPts val="0"/>
              </a:spcAft>
              <a:buClr>
                <a:schemeClr val="dk1"/>
              </a:buClr>
              <a:buSzPts val="2800"/>
              <a:buChar char="•"/>
            </a:pPr>
            <a:r>
              <a:rPr lang="en-US" sz="2800"/>
              <a:t>The application is tested against heavy load e.g. complex numerical values, large number of inputs, large number of queries etc. which </a:t>
            </a:r>
            <a:r>
              <a:rPr lang="en-US" sz="2800" b="1">
                <a:solidFill>
                  <a:srgbClr val="C00000"/>
                </a:solidFill>
              </a:rPr>
              <a:t>checks for the stress/load </a:t>
            </a:r>
            <a:r>
              <a:rPr lang="en-US" sz="2800"/>
              <a:t>the applications can withstand</a:t>
            </a:r>
            <a:endParaRPr/>
          </a:p>
          <a:p>
            <a:pPr marL="342900" lvl="0" indent="-342900" algn="just" rtl="0">
              <a:lnSpc>
                <a:spcPct val="80000"/>
              </a:lnSpc>
              <a:spcBef>
                <a:spcPts val="560"/>
              </a:spcBef>
              <a:spcAft>
                <a:spcPts val="0"/>
              </a:spcAft>
              <a:buClr>
                <a:schemeClr val="dk1"/>
              </a:buClr>
              <a:buSzPts val="2800"/>
              <a:buChar char="•"/>
            </a:pPr>
            <a:r>
              <a:rPr lang="en-US" sz="2800"/>
              <a:t>Example: Developing software to run cash registers</a:t>
            </a:r>
            <a:endParaRPr/>
          </a:p>
          <a:p>
            <a:pPr marL="742950" lvl="1" indent="-285750" algn="just" rtl="0">
              <a:lnSpc>
                <a:spcPct val="80000"/>
              </a:lnSpc>
              <a:spcBef>
                <a:spcPts val="560"/>
              </a:spcBef>
              <a:spcAft>
                <a:spcPts val="0"/>
              </a:spcAft>
              <a:buClr>
                <a:schemeClr val="dk1"/>
              </a:buClr>
              <a:buSzPts val="2800"/>
              <a:buChar char="–"/>
            </a:pPr>
            <a:r>
              <a:rPr lang="en-US"/>
              <a:t>Non-functional requirement:	</a:t>
            </a:r>
            <a:endParaRPr/>
          </a:p>
          <a:p>
            <a:pPr marL="1143000" lvl="2" indent="-228600" algn="just" rtl="0">
              <a:lnSpc>
                <a:spcPct val="80000"/>
              </a:lnSpc>
              <a:spcBef>
                <a:spcPts val="480"/>
              </a:spcBef>
              <a:spcAft>
                <a:spcPts val="0"/>
              </a:spcAft>
              <a:buClr>
                <a:schemeClr val="dk1"/>
              </a:buClr>
              <a:buSzPts val="2400"/>
              <a:buChar char="•"/>
            </a:pPr>
            <a:r>
              <a:rPr lang="en-US"/>
              <a:t>“The server can handle up to 30 cash registers looking up prices simultaneously.”</a:t>
            </a:r>
            <a:endParaRPr/>
          </a:p>
          <a:p>
            <a:pPr marL="742950" lvl="1" indent="-285750" algn="just" rtl="0">
              <a:lnSpc>
                <a:spcPct val="80000"/>
              </a:lnSpc>
              <a:spcBef>
                <a:spcPts val="560"/>
              </a:spcBef>
              <a:spcAft>
                <a:spcPts val="0"/>
              </a:spcAft>
              <a:buClr>
                <a:schemeClr val="dk1"/>
              </a:buClr>
              <a:buSzPts val="2800"/>
              <a:buChar char="–"/>
            </a:pPr>
            <a:r>
              <a:rPr lang="en-US"/>
              <a:t>Stress testing:</a:t>
            </a:r>
            <a:endParaRPr/>
          </a:p>
          <a:p>
            <a:pPr marL="1143000" lvl="2" indent="-228600" algn="just" rtl="0">
              <a:lnSpc>
                <a:spcPct val="80000"/>
              </a:lnSpc>
              <a:spcBef>
                <a:spcPts val="480"/>
              </a:spcBef>
              <a:spcAft>
                <a:spcPts val="0"/>
              </a:spcAft>
              <a:buClr>
                <a:schemeClr val="dk1"/>
              </a:buClr>
              <a:buSzPts val="2400"/>
              <a:buChar char="•"/>
            </a:pPr>
            <a:r>
              <a:rPr lang="en-US"/>
              <a:t>Occur in a room of 30 actual cash registers running automated test transactions repeatedly for 12 hours</a:t>
            </a:r>
            <a:endParaRPr/>
          </a:p>
          <a:p>
            <a:pPr marL="342900" lvl="0" indent="-165100" algn="just" rtl="0">
              <a:spcBef>
                <a:spcPts val="560"/>
              </a:spcBef>
              <a:spcAft>
                <a:spcPts val="0"/>
              </a:spcAft>
              <a:buClr>
                <a:schemeClr val="dk1"/>
              </a:buClr>
              <a:buSzPts val="2800"/>
              <a:buNone/>
            </a:pPr>
            <a:endParaRPr sz="2800"/>
          </a:p>
        </p:txBody>
      </p:sp>
      <p:sp>
        <p:nvSpPr>
          <p:cNvPr id="671" name="Google Shape;671;p4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672" name="Google Shape;672;p4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Performance Testing</a:t>
            </a:r>
            <a:endParaRPr/>
          </a:p>
        </p:txBody>
      </p:sp>
      <p:sp>
        <p:nvSpPr>
          <p:cNvPr id="678" name="Google Shape;678;p4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800"/>
              <a:buChar char="•"/>
            </a:pPr>
            <a:r>
              <a:rPr lang="en-US" sz="2800"/>
              <a:t>Part of </a:t>
            </a:r>
            <a:r>
              <a:rPr lang="en-US" sz="2800" b="1">
                <a:solidFill>
                  <a:srgbClr val="C00000"/>
                </a:solidFill>
              </a:rPr>
              <a:t>release testing </a:t>
            </a:r>
            <a:r>
              <a:rPr lang="en-US" sz="2800"/>
              <a:t>may involve testing the emergent properties of a system e.g. performance and reliability</a:t>
            </a:r>
            <a:endParaRPr/>
          </a:p>
          <a:p>
            <a:pPr marL="342900" lvl="0" indent="-342900" algn="just" rtl="0">
              <a:lnSpc>
                <a:spcPct val="80000"/>
              </a:lnSpc>
              <a:spcBef>
                <a:spcPts val="560"/>
              </a:spcBef>
              <a:spcAft>
                <a:spcPts val="0"/>
              </a:spcAft>
              <a:buClr>
                <a:schemeClr val="dk1"/>
              </a:buClr>
              <a:buSzPts val="2800"/>
              <a:buChar char="•"/>
            </a:pPr>
            <a:r>
              <a:rPr lang="en-US" sz="2800"/>
              <a:t>Example:</a:t>
            </a:r>
            <a:endParaRPr/>
          </a:p>
          <a:p>
            <a:pPr marL="742950" lvl="1" indent="-285750" algn="just" rtl="0">
              <a:lnSpc>
                <a:spcPct val="80000"/>
              </a:lnSpc>
              <a:spcBef>
                <a:spcPts val="560"/>
              </a:spcBef>
              <a:spcAft>
                <a:spcPts val="0"/>
              </a:spcAft>
              <a:buClr>
                <a:schemeClr val="dk1"/>
              </a:buClr>
              <a:buSzPts val="2800"/>
              <a:buChar char="–"/>
            </a:pPr>
            <a:r>
              <a:rPr lang="en-US"/>
              <a:t>Performance requirement:</a:t>
            </a:r>
            <a:endParaRPr/>
          </a:p>
          <a:p>
            <a:pPr marL="1143000" lvl="2" indent="-228600" algn="just" rtl="0">
              <a:lnSpc>
                <a:spcPct val="80000"/>
              </a:lnSpc>
              <a:spcBef>
                <a:spcPts val="560"/>
              </a:spcBef>
              <a:spcAft>
                <a:spcPts val="0"/>
              </a:spcAft>
              <a:buClr>
                <a:schemeClr val="dk1"/>
              </a:buClr>
              <a:buSzPts val="2800"/>
              <a:buChar char="•"/>
            </a:pPr>
            <a:r>
              <a:rPr lang="en-US" sz="2800"/>
              <a:t>“The price lookup must complete in less than 1 second”</a:t>
            </a:r>
            <a:endParaRPr sz="2800"/>
          </a:p>
          <a:p>
            <a:pPr marL="742950" lvl="1" indent="-285750" algn="just" rtl="0">
              <a:lnSpc>
                <a:spcPct val="80000"/>
              </a:lnSpc>
              <a:spcBef>
                <a:spcPts val="560"/>
              </a:spcBef>
              <a:spcAft>
                <a:spcPts val="0"/>
              </a:spcAft>
              <a:buClr>
                <a:schemeClr val="dk1"/>
              </a:buClr>
              <a:buSzPts val="2800"/>
              <a:buChar char="–"/>
            </a:pPr>
            <a:r>
              <a:rPr lang="en-US"/>
              <a:t>Performance testing:</a:t>
            </a:r>
            <a:endParaRPr/>
          </a:p>
          <a:p>
            <a:pPr marL="1143000" lvl="2" indent="-228600" algn="just" rtl="0">
              <a:lnSpc>
                <a:spcPct val="80000"/>
              </a:lnSpc>
              <a:spcBef>
                <a:spcPts val="560"/>
              </a:spcBef>
              <a:spcAft>
                <a:spcPts val="0"/>
              </a:spcAft>
              <a:buClr>
                <a:schemeClr val="dk1"/>
              </a:buClr>
              <a:buSzPts val="2800"/>
              <a:buChar char="•"/>
            </a:pPr>
            <a:r>
              <a:rPr lang="en-US" sz="2800"/>
              <a:t>Evaluates whether the system can look up prices in less than 1 second (even if there are 30 cash registers running simultaneously)</a:t>
            </a:r>
            <a:endParaRPr/>
          </a:p>
          <a:p>
            <a:pPr marL="342900" lvl="0" indent="-165100" algn="just" rtl="0">
              <a:lnSpc>
                <a:spcPct val="80000"/>
              </a:lnSpc>
              <a:spcBef>
                <a:spcPts val="560"/>
              </a:spcBef>
              <a:spcAft>
                <a:spcPts val="0"/>
              </a:spcAft>
              <a:buClr>
                <a:schemeClr val="dk1"/>
              </a:buClr>
              <a:buSzPts val="2800"/>
              <a:buNone/>
            </a:pPr>
            <a:endParaRPr sz="2800"/>
          </a:p>
          <a:p>
            <a:pPr marL="342900" lvl="0" indent="-139700" algn="just" rtl="0">
              <a:spcBef>
                <a:spcPts val="640"/>
              </a:spcBef>
              <a:spcAft>
                <a:spcPts val="0"/>
              </a:spcAft>
              <a:buClr>
                <a:schemeClr val="dk1"/>
              </a:buClr>
              <a:buSzPts val="3200"/>
              <a:buNone/>
            </a:pPr>
            <a:endParaRPr/>
          </a:p>
        </p:txBody>
      </p:sp>
      <p:sp>
        <p:nvSpPr>
          <p:cNvPr id="679" name="Google Shape;679;p4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680" name="Google Shape;680;p4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Usability Testing</a:t>
            </a:r>
            <a:endParaRPr/>
          </a:p>
        </p:txBody>
      </p:sp>
      <p:sp>
        <p:nvSpPr>
          <p:cNvPr id="686" name="Google Shape;686;p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800"/>
              <a:buChar char="•"/>
            </a:pPr>
            <a:r>
              <a:rPr lang="en-US" sz="2800"/>
              <a:t>Testing is conducted to evaluate the extent to which </a:t>
            </a:r>
            <a:r>
              <a:rPr lang="en-US" sz="2800" b="1">
                <a:solidFill>
                  <a:srgbClr val="C00000"/>
                </a:solidFill>
              </a:rPr>
              <a:t>a user can learn to operate</a:t>
            </a:r>
            <a:r>
              <a:rPr lang="en-US" sz="2800"/>
              <a:t>, prepare inputs for and interpret outputs of a system or component</a:t>
            </a:r>
            <a:endParaRPr/>
          </a:p>
          <a:p>
            <a:pPr marL="342900" lvl="0" indent="-342900" algn="just" rtl="0">
              <a:spcBef>
                <a:spcPts val="560"/>
              </a:spcBef>
              <a:spcAft>
                <a:spcPts val="0"/>
              </a:spcAft>
              <a:buClr>
                <a:schemeClr val="dk1"/>
              </a:buClr>
              <a:buSzPts val="2800"/>
              <a:buChar char="•"/>
            </a:pPr>
            <a:r>
              <a:rPr lang="en-US" sz="2800"/>
              <a:t>Usually done by human-computer interaction specialist that observe humans interacting with the system</a:t>
            </a:r>
            <a:endParaRPr/>
          </a:p>
          <a:p>
            <a:pPr marL="342900" lvl="0" indent="-165100" algn="just" rtl="0">
              <a:spcBef>
                <a:spcPts val="560"/>
              </a:spcBef>
              <a:spcAft>
                <a:spcPts val="0"/>
              </a:spcAft>
              <a:buClr>
                <a:schemeClr val="dk1"/>
              </a:buClr>
              <a:buSzPts val="2800"/>
              <a:buNone/>
            </a:pPr>
            <a:endParaRPr sz="2800"/>
          </a:p>
          <a:p>
            <a:pPr marL="342900" lvl="0" indent="-165100" algn="just" rtl="0">
              <a:spcBef>
                <a:spcPts val="560"/>
              </a:spcBef>
              <a:spcAft>
                <a:spcPts val="0"/>
              </a:spcAft>
              <a:buClr>
                <a:schemeClr val="dk1"/>
              </a:buClr>
              <a:buSzPts val="2800"/>
              <a:buNone/>
            </a:pPr>
            <a:endParaRPr sz="2800"/>
          </a:p>
        </p:txBody>
      </p:sp>
      <p:sp>
        <p:nvSpPr>
          <p:cNvPr id="687" name="Google Shape;687;p4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688" name="Google Shape;688;p4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694" name="Google Shape;694;p4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695" name="Google Shape;695;p43"/>
          <p:cNvGrpSpPr/>
          <p:nvPr/>
        </p:nvGrpSpPr>
        <p:grpSpPr>
          <a:xfrm>
            <a:off x="530" y="398418"/>
            <a:ext cx="9142939" cy="6080280"/>
            <a:chOff x="530" y="388859"/>
            <a:chExt cx="9142939" cy="6080280"/>
          </a:xfrm>
        </p:grpSpPr>
        <p:sp>
          <p:nvSpPr>
            <p:cNvPr id="696" name="Google Shape;696;p43"/>
            <p:cNvSpPr/>
            <p:nvPr/>
          </p:nvSpPr>
          <p:spPr>
            <a:xfrm>
              <a:off x="7416970" y="2205437"/>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697" name="Google Shape;697;p43"/>
            <p:cNvSpPr/>
            <p:nvPr/>
          </p:nvSpPr>
          <p:spPr>
            <a:xfrm>
              <a:off x="7416970"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698" name="Google Shape;698;p43"/>
            <p:cNvSpPr/>
            <p:nvPr/>
          </p:nvSpPr>
          <p:spPr>
            <a:xfrm>
              <a:off x="7416970"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699" name="Google Shape;699;p43"/>
            <p:cNvSpPr/>
            <p:nvPr/>
          </p:nvSpPr>
          <p:spPr>
            <a:xfrm>
              <a:off x="4838481" y="1139511"/>
              <a:ext cx="3179010"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700" name="Google Shape;700;p43"/>
            <p:cNvSpPr/>
            <p:nvPr/>
          </p:nvSpPr>
          <p:spPr>
            <a:xfrm>
              <a:off x="5600393" y="2205437"/>
              <a:ext cx="225195" cy="3888376"/>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701" name="Google Shape;701;p43"/>
            <p:cNvSpPr/>
            <p:nvPr/>
          </p:nvSpPr>
          <p:spPr>
            <a:xfrm>
              <a:off x="5600393" y="2205437"/>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702" name="Google Shape;702;p43"/>
            <p:cNvSpPr/>
            <p:nvPr/>
          </p:nvSpPr>
          <p:spPr>
            <a:xfrm>
              <a:off x="5600393"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703" name="Google Shape;703;p43"/>
            <p:cNvSpPr/>
            <p:nvPr/>
          </p:nvSpPr>
          <p:spPr>
            <a:xfrm>
              <a:off x="5600393"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704" name="Google Shape;704;p43"/>
            <p:cNvSpPr/>
            <p:nvPr/>
          </p:nvSpPr>
          <p:spPr>
            <a:xfrm>
              <a:off x="4838481" y="1139511"/>
              <a:ext cx="1362433"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705" name="Google Shape;705;p43"/>
            <p:cNvSpPr/>
            <p:nvPr/>
          </p:nvSpPr>
          <p:spPr>
            <a:xfrm>
              <a:off x="3783815" y="2205437"/>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706" name="Google Shape;706;p43"/>
            <p:cNvSpPr/>
            <p:nvPr/>
          </p:nvSpPr>
          <p:spPr>
            <a:xfrm>
              <a:off x="3783815" y="2205437"/>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707" name="Google Shape;707;p43"/>
            <p:cNvSpPr/>
            <p:nvPr/>
          </p:nvSpPr>
          <p:spPr>
            <a:xfrm>
              <a:off x="4384337" y="1139511"/>
              <a:ext cx="454144"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708" name="Google Shape;708;p43"/>
            <p:cNvSpPr/>
            <p:nvPr/>
          </p:nvSpPr>
          <p:spPr>
            <a:xfrm>
              <a:off x="1967238" y="3271363"/>
              <a:ext cx="225195" cy="2822450"/>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709" name="Google Shape;709;p43"/>
            <p:cNvSpPr/>
            <p:nvPr/>
          </p:nvSpPr>
          <p:spPr>
            <a:xfrm>
              <a:off x="1967238" y="3271363"/>
              <a:ext cx="225195" cy="1756525"/>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710" name="Google Shape;710;p43"/>
            <p:cNvSpPr/>
            <p:nvPr/>
          </p:nvSpPr>
          <p:spPr>
            <a:xfrm>
              <a:off x="1967238" y="3271363"/>
              <a:ext cx="225195" cy="690599"/>
            </a:xfrm>
            <a:custGeom>
              <a:avLst/>
              <a:gdLst/>
              <a:ahLst/>
              <a:cxnLst/>
              <a:rect l="l" t="t" r="r" b="b"/>
              <a:pathLst>
                <a:path w="120000" h="120000" extrusionOk="0">
                  <a:moveTo>
                    <a:pt x="0" y="0"/>
                  </a:moveTo>
                  <a:lnTo>
                    <a:pt x="0" y="12000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711" name="Google Shape;711;p43"/>
            <p:cNvSpPr/>
            <p:nvPr/>
          </p:nvSpPr>
          <p:spPr>
            <a:xfrm>
              <a:off x="1659470" y="2205437"/>
              <a:ext cx="908288" cy="315273"/>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712" name="Google Shape;712;p43"/>
            <p:cNvSpPr/>
            <p:nvPr/>
          </p:nvSpPr>
          <p:spPr>
            <a:xfrm>
              <a:off x="751182" y="2205437"/>
              <a:ext cx="908288"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chemeClr val="accent3"/>
              </a:solidFill>
              <a:prstDash val="solid"/>
              <a:round/>
              <a:headEnd type="none" w="sm" len="sm"/>
              <a:tailEnd type="none" w="sm" len="sm"/>
            </a:ln>
          </p:spPr>
          <p:txBody>
            <a:bodyPr/>
            <a:lstStyle/>
            <a:p>
              <a:endParaRPr lang="en-MY"/>
            </a:p>
          </p:txBody>
        </p:sp>
        <p:sp>
          <p:nvSpPr>
            <p:cNvPr id="713" name="Google Shape;713;p43"/>
            <p:cNvSpPr/>
            <p:nvPr/>
          </p:nvSpPr>
          <p:spPr>
            <a:xfrm>
              <a:off x="1659470" y="1139511"/>
              <a:ext cx="3179010" cy="315273"/>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BF504D"/>
              </a:solidFill>
              <a:prstDash val="solid"/>
              <a:round/>
              <a:headEnd type="none" w="sm" len="sm"/>
              <a:tailEnd type="none" w="sm" len="sm"/>
            </a:ln>
          </p:spPr>
          <p:txBody>
            <a:bodyPr/>
            <a:lstStyle/>
            <a:p>
              <a:endParaRPr lang="en-MY"/>
            </a:p>
          </p:txBody>
        </p:sp>
        <p:sp>
          <p:nvSpPr>
            <p:cNvPr id="714" name="Google Shape;714;p43"/>
            <p:cNvSpPr/>
            <p:nvPr/>
          </p:nvSpPr>
          <p:spPr>
            <a:xfrm>
              <a:off x="3581402" y="388859"/>
              <a:ext cx="2514158" cy="750651"/>
            </a:xfrm>
            <a:prstGeom prst="rect">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3"/>
            <p:cNvSpPr txBox="1"/>
            <p:nvPr/>
          </p:nvSpPr>
          <p:spPr>
            <a:xfrm>
              <a:off x="3581402" y="388859"/>
              <a:ext cx="2514158" cy="750651"/>
            </a:xfrm>
            <a:prstGeom prst="rect">
              <a:avLst/>
            </a:prstGeom>
            <a:no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Stages / levels of Software Testing </a:t>
              </a:r>
              <a:endParaRPr/>
            </a:p>
          </p:txBody>
        </p:sp>
        <p:sp>
          <p:nvSpPr>
            <p:cNvPr id="716" name="Google Shape;716;p43"/>
            <p:cNvSpPr/>
            <p:nvPr/>
          </p:nvSpPr>
          <p:spPr>
            <a:xfrm>
              <a:off x="908818"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3"/>
            <p:cNvSpPr txBox="1"/>
            <p:nvPr/>
          </p:nvSpPr>
          <p:spPr>
            <a:xfrm>
              <a:off x="908818"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1. Component</a:t>
              </a:r>
              <a:endParaRPr/>
            </a:p>
          </p:txBody>
        </p:sp>
        <p:sp>
          <p:nvSpPr>
            <p:cNvPr id="718" name="Google Shape;718;p43"/>
            <p:cNvSpPr/>
            <p:nvPr/>
          </p:nvSpPr>
          <p:spPr>
            <a:xfrm>
              <a:off x="530"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3"/>
            <p:cNvSpPr txBox="1"/>
            <p:nvPr/>
          </p:nvSpPr>
          <p:spPr>
            <a:xfrm>
              <a:off x="530"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Object/Class</a:t>
              </a:r>
              <a:endParaRPr/>
            </a:p>
          </p:txBody>
        </p:sp>
        <p:sp>
          <p:nvSpPr>
            <p:cNvPr id="720" name="Google Shape;720;p43"/>
            <p:cNvSpPr/>
            <p:nvPr/>
          </p:nvSpPr>
          <p:spPr>
            <a:xfrm>
              <a:off x="1817107"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3"/>
            <p:cNvSpPr txBox="1"/>
            <p:nvPr/>
          </p:nvSpPr>
          <p:spPr>
            <a:xfrm>
              <a:off x="1817107"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Interface</a:t>
              </a:r>
              <a:endParaRPr/>
            </a:p>
          </p:txBody>
        </p:sp>
        <p:sp>
          <p:nvSpPr>
            <p:cNvPr id="722" name="Google Shape;722;p43"/>
            <p:cNvSpPr/>
            <p:nvPr/>
          </p:nvSpPr>
          <p:spPr>
            <a:xfrm>
              <a:off x="2192433" y="3586636"/>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3"/>
            <p:cNvSpPr txBox="1"/>
            <p:nvPr/>
          </p:nvSpPr>
          <p:spPr>
            <a:xfrm>
              <a:off x="2192433" y="3586636"/>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Parameter</a:t>
              </a:r>
              <a:endParaRPr/>
            </a:p>
          </p:txBody>
        </p:sp>
        <p:sp>
          <p:nvSpPr>
            <p:cNvPr id="724" name="Google Shape;724;p43"/>
            <p:cNvSpPr/>
            <p:nvPr/>
          </p:nvSpPr>
          <p:spPr>
            <a:xfrm>
              <a:off x="2192433" y="4652562"/>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3"/>
            <p:cNvSpPr txBox="1"/>
            <p:nvPr/>
          </p:nvSpPr>
          <p:spPr>
            <a:xfrm>
              <a:off x="2192433" y="4652562"/>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Procedural</a:t>
              </a:r>
              <a:endParaRPr/>
            </a:p>
          </p:txBody>
        </p:sp>
        <p:sp>
          <p:nvSpPr>
            <p:cNvPr id="726" name="Google Shape;726;p43"/>
            <p:cNvSpPr/>
            <p:nvPr/>
          </p:nvSpPr>
          <p:spPr>
            <a:xfrm>
              <a:off x="2192433" y="5718488"/>
              <a:ext cx="1501303" cy="750651"/>
            </a:xfrm>
            <a:prstGeom prst="rect">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3"/>
            <p:cNvSpPr txBox="1"/>
            <p:nvPr/>
          </p:nvSpPr>
          <p:spPr>
            <a:xfrm>
              <a:off x="2192433" y="5718488"/>
              <a:ext cx="1501303" cy="750651"/>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Message Passing</a:t>
              </a:r>
              <a:endParaRPr/>
            </a:p>
          </p:txBody>
        </p:sp>
        <p:sp>
          <p:nvSpPr>
            <p:cNvPr id="728" name="Google Shape;728;p43"/>
            <p:cNvSpPr/>
            <p:nvPr/>
          </p:nvSpPr>
          <p:spPr>
            <a:xfrm>
              <a:off x="3633685"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3"/>
            <p:cNvSpPr txBox="1"/>
            <p:nvPr/>
          </p:nvSpPr>
          <p:spPr>
            <a:xfrm>
              <a:off x="3633685"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2. Integration</a:t>
              </a:r>
              <a:endParaRPr/>
            </a:p>
          </p:txBody>
        </p:sp>
        <p:sp>
          <p:nvSpPr>
            <p:cNvPr id="730" name="Google Shape;730;p43"/>
            <p:cNvSpPr/>
            <p:nvPr/>
          </p:nvSpPr>
          <p:spPr>
            <a:xfrm>
              <a:off x="4009011"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3"/>
            <p:cNvSpPr txBox="1"/>
            <p:nvPr/>
          </p:nvSpPr>
          <p:spPr>
            <a:xfrm>
              <a:off x="4009011"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Top-down</a:t>
              </a:r>
              <a:endParaRPr/>
            </a:p>
          </p:txBody>
        </p:sp>
        <p:sp>
          <p:nvSpPr>
            <p:cNvPr id="732" name="Google Shape;732;p43"/>
            <p:cNvSpPr/>
            <p:nvPr/>
          </p:nvSpPr>
          <p:spPr>
            <a:xfrm>
              <a:off x="4009011"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3"/>
            <p:cNvSpPr txBox="1"/>
            <p:nvPr/>
          </p:nvSpPr>
          <p:spPr>
            <a:xfrm>
              <a:off x="4009011"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Bottom-up</a:t>
              </a:r>
              <a:endParaRPr/>
            </a:p>
          </p:txBody>
        </p:sp>
        <p:sp>
          <p:nvSpPr>
            <p:cNvPr id="734" name="Google Shape;734;p43"/>
            <p:cNvSpPr/>
            <p:nvPr/>
          </p:nvSpPr>
          <p:spPr>
            <a:xfrm>
              <a:off x="5450262"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3"/>
            <p:cNvSpPr txBox="1"/>
            <p:nvPr/>
          </p:nvSpPr>
          <p:spPr>
            <a:xfrm>
              <a:off x="5450262"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3. System</a:t>
              </a:r>
              <a:endParaRPr/>
            </a:p>
          </p:txBody>
        </p:sp>
        <p:sp>
          <p:nvSpPr>
            <p:cNvPr id="736" name="Google Shape;736;p43"/>
            <p:cNvSpPr/>
            <p:nvPr/>
          </p:nvSpPr>
          <p:spPr>
            <a:xfrm>
              <a:off x="5825588"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3"/>
            <p:cNvSpPr txBox="1"/>
            <p:nvPr/>
          </p:nvSpPr>
          <p:spPr>
            <a:xfrm>
              <a:off x="5825588"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Functional</a:t>
              </a:r>
              <a:endParaRPr/>
            </a:p>
          </p:txBody>
        </p:sp>
        <p:sp>
          <p:nvSpPr>
            <p:cNvPr id="738" name="Google Shape;738;p43"/>
            <p:cNvSpPr/>
            <p:nvPr/>
          </p:nvSpPr>
          <p:spPr>
            <a:xfrm>
              <a:off x="5825588"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3"/>
            <p:cNvSpPr txBox="1"/>
            <p:nvPr/>
          </p:nvSpPr>
          <p:spPr>
            <a:xfrm>
              <a:off x="5825588"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Usability</a:t>
              </a:r>
              <a:endParaRPr/>
            </a:p>
          </p:txBody>
        </p:sp>
        <p:sp>
          <p:nvSpPr>
            <p:cNvPr id="740" name="Google Shape;740;p43"/>
            <p:cNvSpPr/>
            <p:nvPr/>
          </p:nvSpPr>
          <p:spPr>
            <a:xfrm>
              <a:off x="5825588" y="4652562"/>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3"/>
            <p:cNvSpPr txBox="1"/>
            <p:nvPr/>
          </p:nvSpPr>
          <p:spPr>
            <a:xfrm>
              <a:off x="5825588" y="4652562"/>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Performance</a:t>
              </a:r>
              <a:endParaRPr/>
            </a:p>
          </p:txBody>
        </p:sp>
        <p:sp>
          <p:nvSpPr>
            <p:cNvPr id="742" name="Google Shape;742;p43"/>
            <p:cNvSpPr/>
            <p:nvPr/>
          </p:nvSpPr>
          <p:spPr>
            <a:xfrm>
              <a:off x="5825588" y="5718488"/>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3"/>
            <p:cNvSpPr txBox="1"/>
            <p:nvPr/>
          </p:nvSpPr>
          <p:spPr>
            <a:xfrm>
              <a:off x="5825588" y="5718488"/>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NF: Stress</a:t>
              </a:r>
              <a:endParaRPr sz="1400">
                <a:solidFill>
                  <a:schemeClr val="lt1"/>
                </a:solidFill>
                <a:latin typeface="Calibri"/>
                <a:ea typeface="Calibri"/>
                <a:cs typeface="Calibri"/>
                <a:sym typeface="Calibri"/>
              </a:endParaRPr>
            </a:p>
          </p:txBody>
        </p:sp>
        <p:sp>
          <p:nvSpPr>
            <p:cNvPr id="744" name="Google Shape;744;p43"/>
            <p:cNvSpPr/>
            <p:nvPr/>
          </p:nvSpPr>
          <p:spPr>
            <a:xfrm>
              <a:off x="7266840" y="1454785"/>
              <a:ext cx="1501303" cy="750651"/>
            </a:xfrm>
            <a:prstGeom prst="rect">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3"/>
            <p:cNvSpPr txBox="1"/>
            <p:nvPr/>
          </p:nvSpPr>
          <p:spPr>
            <a:xfrm>
              <a:off x="7266840" y="1454785"/>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4. Acceptance</a:t>
              </a:r>
              <a:endParaRPr/>
            </a:p>
          </p:txBody>
        </p:sp>
        <p:sp>
          <p:nvSpPr>
            <p:cNvPr id="746" name="Google Shape;746;p43"/>
            <p:cNvSpPr/>
            <p:nvPr/>
          </p:nvSpPr>
          <p:spPr>
            <a:xfrm>
              <a:off x="7642166" y="2520711"/>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3"/>
            <p:cNvSpPr txBox="1"/>
            <p:nvPr/>
          </p:nvSpPr>
          <p:spPr>
            <a:xfrm>
              <a:off x="7642166" y="2520711"/>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a) Alpha</a:t>
              </a:r>
              <a:endParaRPr/>
            </a:p>
          </p:txBody>
        </p:sp>
        <p:sp>
          <p:nvSpPr>
            <p:cNvPr id="748" name="Google Shape;748;p43"/>
            <p:cNvSpPr/>
            <p:nvPr/>
          </p:nvSpPr>
          <p:spPr>
            <a:xfrm>
              <a:off x="7642166" y="3586636"/>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3"/>
            <p:cNvSpPr txBox="1"/>
            <p:nvPr/>
          </p:nvSpPr>
          <p:spPr>
            <a:xfrm>
              <a:off x="7642166" y="3586636"/>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b) Beta</a:t>
              </a:r>
              <a:endParaRPr/>
            </a:p>
          </p:txBody>
        </p:sp>
        <p:sp>
          <p:nvSpPr>
            <p:cNvPr id="750" name="Google Shape;750;p43"/>
            <p:cNvSpPr/>
            <p:nvPr/>
          </p:nvSpPr>
          <p:spPr>
            <a:xfrm>
              <a:off x="7642166" y="4652562"/>
              <a:ext cx="1501303" cy="750651"/>
            </a:xfrm>
            <a:prstGeom prst="rect">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3"/>
            <p:cNvSpPr txBox="1"/>
            <p:nvPr/>
          </p:nvSpPr>
          <p:spPr>
            <a:xfrm>
              <a:off x="7642166" y="4652562"/>
              <a:ext cx="1501303" cy="7506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 UAT</a:t>
              </a:r>
              <a:endParaRPr/>
            </a:p>
          </p:txBody>
        </p:sp>
      </p:grpSp>
      <p:sp>
        <p:nvSpPr>
          <p:cNvPr id="752" name="Google Shape;752;p43"/>
          <p:cNvSpPr/>
          <p:nvPr/>
        </p:nvSpPr>
        <p:spPr>
          <a:xfrm>
            <a:off x="7162800" y="1165208"/>
            <a:ext cx="1752600" cy="1196992"/>
          </a:xfrm>
          <a:prstGeom prst="ellipse">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3" name="Google Shape;753;p4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Stage 4: Acceptance Test</a:t>
            </a:r>
            <a:endParaRPr/>
          </a:p>
        </p:txBody>
      </p:sp>
      <p:sp>
        <p:nvSpPr>
          <p:cNvPr id="759" name="Google Shape;759;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65100" algn="just" rtl="0">
              <a:lnSpc>
                <a:spcPct val="90000"/>
              </a:lnSpc>
              <a:spcBef>
                <a:spcPts val="0"/>
              </a:spcBef>
              <a:spcAft>
                <a:spcPts val="0"/>
              </a:spcAft>
              <a:buClr>
                <a:schemeClr val="dk1"/>
              </a:buClr>
              <a:buSzPts val="2800"/>
              <a:buNone/>
            </a:pPr>
            <a:endParaRPr sz="2800"/>
          </a:p>
          <a:p>
            <a:pPr marL="342900" lvl="0" indent="-139700" algn="just" rtl="0">
              <a:spcBef>
                <a:spcPts val="640"/>
              </a:spcBef>
              <a:spcAft>
                <a:spcPts val="0"/>
              </a:spcAft>
              <a:buClr>
                <a:schemeClr val="dk1"/>
              </a:buClr>
              <a:buSzPts val="3200"/>
              <a:buNone/>
            </a:pPr>
            <a:endParaRPr/>
          </a:p>
        </p:txBody>
      </p:sp>
      <p:sp>
        <p:nvSpPr>
          <p:cNvPr id="760" name="Google Shape;760;p4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761" name="Google Shape;761;p44"/>
          <p:cNvSpPr txBox="1"/>
          <p:nvPr/>
        </p:nvSpPr>
        <p:spPr>
          <a:xfrm>
            <a:off x="457200" y="1600199"/>
            <a:ext cx="8458199" cy="452431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Formal testing with respect to user needs, requirements, and business processes conducted to </a:t>
            </a:r>
            <a:r>
              <a:rPr lang="en-US" sz="2400" b="1">
                <a:solidFill>
                  <a:srgbClr val="C00000"/>
                </a:solidFill>
                <a:latin typeface="Calibri"/>
                <a:ea typeface="Calibri"/>
                <a:cs typeface="Calibri"/>
                <a:sym typeface="Calibri"/>
              </a:rPr>
              <a:t>determine whether or not a system satisfies the acceptance criteria</a:t>
            </a:r>
            <a:r>
              <a:rPr lang="en-US" sz="2400">
                <a:solidFill>
                  <a:schemeClr val="dk1"/>
                </a:solidFill>
                <a:latin typeface="Calibri"/>
                <a:ea typeface="Calibri"/>
                <a:cs typeface="Calibri"/>
                <a:sym typeface="Calibri"/>
              </a:rPr>
              <a:t> and to enable the user, customers or other authorized entity to determine whether or not to accept the system</a:t>
            </a:r>
            <a:endParaRPr/>
          </a:p>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Customers test a system to decide whether or not it is </a:t>
            </a:r>
            <a:r>
              <a:rPr lang="en-US" sz="2400" b="1">
                <a:solidFill>
                  <a:srgbClr val="C00000"/>
                </a:solidFill>
                <a:latin typeface="Calibri"/>
                <a:ea typeface="Calibri"/>
                <a:cs typeface="Calibri"/>
                <a:sym typeface="Calibri"/>
              </a:rPr>
              <a:t>ready to be accepted</a:t>
            </a:r>
            <a:r>
              <a:rPr lang="en-US" sz="2400">
                <a:solidFill>
                  <a:schemeClr val="dk1"/>
                </a:solidFill>
                <a:latin typeface="Calibri"/>
                <a:ea typeface="Calibri"/>
                <a:cs typeface="Calibri"/>
                <a:sym typeface="Calibri"/>
              </a:rPr>
              <a:t> from the system developers and deployed in the customer environment, primarily for custom systems</a:t>
            </a:r>
            <a:endParaRPr sz="24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Goal is to </a:t>
            </a:r>
            <a:r>
              <a:rPr lang="en-US" sz="2400" b="1">
                <a:solidFill>
                  <a:srgbClr val="C00000"/>
                </a:solidFill>
                <a:latin typeface="Calibri"/>
                <a:ea typeface="Calibri"/>
                <a:cs typeface="Calibri"/>
                <a:sym typeface="Calibri"/>
              </a:rPr>
              <a:t>establish confidence in the system/part-system </a:t>
            </a:r>
            <a:r>
              <a:rPr lang="en-US" sz="2400">
                <a:solidFill>
                  <a:schemeClr val="dk1"/>
                </a:solidFill>
                <a:latin typeface="Calibri"/>
                <a:ea typeface="Calibri"/>
                <a:cs typeface="Calibri"/>
                <a:sym typeface="Calibri"/>
              </a:rPr>
              <a:t>or specific non-functional characteristics (e.g. performance), usually for ensuring the system is </a:t>
            </a:r>
            <a:r>
              <a:rPr lang="en-US" sz="2400" b="1">
                <a:solidFill>
                  <a:srgbClr val="C00000"/>
                </a:solidFill>
                <a:latin typeface="Calibri"/>
                <a:ea typeface="Calibri"/>
                <a:cs typeface="Calibri"/>
                <a:sym typeface="Calibri"/>
              </a:rPr>
              <a:t>ready for deployment </a:t>
            </a:r>
            <a:r>
              <a:rPr lang="en-US" sz="2400">
                <a:solidFill>
                  <a:schemeClr val="dk1"/>
                </a:solidFill>
                <a:latin typeface="Calibri"/>
                <a:ea typeface="Calibri"/>
                <a:cs typeface="Calibri"/>
                <a:sym typeface="Calibri"/>
              </a:rPr>
              <a:t>into production</a:t>
            </a:r>
            <a:endParaRPr/>
          </a:p>
        </p:txBody>
      </p:sp>
      <p:sp>
        <p:nvSpPr>
          <p:cNvPr id="762" name="Google Shape;762;p4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Acceptance Test (cont.)</a:t>
            </a:r>
            <a:endParaRPr/>
          </a:p>
        </p:txBody>
      </p:sp>
      <p:sp>
        <p:nvSpPr>
          <p:cNvPr id="768" name="Google Shape;768;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Char char="•"/>
            </a:pPr>
            <a:r>
              <a:rPr lang="en-US" sz="2800"/>
              <a:t>Acceptance test is a stage in the testing process in which users or customers provide input and advice on system testing</a:t>
            </a:r>
            <a:endParaRPr/>
          </a:p>
          <a:p>
            <a:pPr marL="342900" lvl="0" indent="-342900" algn="just" rtl="0">
              <a:lnSpc>
                <a:spcPct val="90000"/>
              </a:lnSpc>
              <a:spcBef>
                <a:spcPts val="560"/>
              </a:spcBef>
              <a:spcAft>
                <a:spcPts val="0"/>
              </a:spcAft>
              <a:buClr>
                <a:schemeClr val="dk1"/>
              </a:buClr>
              <a:buSzPts val="2800"/>
              <a:buChar char="•"/>
            </a:pPr>
            <a:r>
              <a:rPr lang="en-US" sz="2800"/>
              <a:t>Acceptance test is essential, even when comprehensive system testing have been carried out </a:t>
            </a:r>
            <a:endParaRPr/>
          </a:p>
          <a:p>
            <a:pPr marL="342900" lvl="0" indent="-342900" algn="just" rtl="0">
              <a:lnSpc>
                <a:spcPct val="90000"/>
              </a:lnSpc>
              <a:spcBef>
                <a:spcPts val="560"/>
              </a:spcBef>
              <a:spcAft>
                <a:spcPts val="0"/>
              </a:spcAft>
              <a:buClr>
                <a:schemeClr val="dk1"/>
              </a:buClr>
              <a:buSzPts val="2800"/>
              <a:buChar char="•"/>
            </a:pPr>
            <a:r>
              <a:rPr lang="en-US" sz="2800"/>
              <a:t>The reason for this is that </a:t>
            </a:r>
            <a:r>
              <a:rPr lang="en-US" sz="2800" b="1">
                <a:solidFill>
                  <a:srgbClr val="C00000"/>
                </a:solidFill>
              </a:rPr>
              <a:t>influences from users’ working environment have a major effect</a:t>
            </a:r>
            <a:r>
              <a:rPr lang="en-US" sz="2800"/>
              <a:t> on the reliability, performance, usability and robustness of a system</a:t>
            </a:r>
            <a:endParaRPr/>
          </a:p>
          <a:p>
            <a:pPr marL="342900" lvl="0" indent="-342900" algn="just" rtl="0">
              <a:lnSpc>
                <a:spcPct val="90000"/>
              </a:lnSpc>
              <a:spcBef>
                <a:spcPts val="560"/>
              </a:spcBef>
              <a:spcAft>
                <a:spcPts val="0"/>
              </a:spcAft>
              <a:buClr>
                <a:schemeClr val="dk1"/>
              </a:buClr>
              <a:buSzPts val="2800"/>
              <a:buChar char="•"/>
            </a:pPr>
            <a:r>
              <a:rPr lang="en-US" sz="2800"/>
              <a:t>These cannot be replicated in a testing environment</a:t>
            </a:r>
            <a:endParaRPr sz="2800"/>
          </a:p>
          <a:p>
            <a:pPr marL="342900" lvl="0" indent="-165100" algn="l" rtl="0">
              <a:spcBef>
                <a:spcPts val="560"/>
              </a:spcBef>
              <a:spcAft>
                <a:spcPts val="0"/>
              </a:spcAft>
              <a:buClr>
                <a:schemeClr val="dk1"/>
              </a:buClr>
              <a:buSzPts val="2800"/>
              <a:buNone/>
            </a:pPr>
            <a:endParaRPr sz="2800"/>
          </a:p>
        </p:txBody>
      </p:sp>
      <p:sp>
        <p:nvSpPr>
          <p:cNvPr id="769" name="Google Shape;769;p4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770" name="Google Shape;770;p4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Acceptance Testing Process</a:t>
            </a:r>
            <a:endParaRPr/>
          </a:p>
        </p:txBody>
      </p:sp>
      <p:sp>
        <p:nvSpPr>
          <p:cNvPr id="776" name="Google Shape;776;p4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777" name="Google Shape;777;p4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pic>
        <p:nvPicPr>
          <p:cNvPr id="778" name="Google Shape;778;p46"/>
          <p:cNvPicPr preferRelativeResize="0"/>
          <p:nvPr/>
        </p:nvPicPr>
        <p:blipFill>
          <a:blip r:embed="rId3">
            <a:alphaModFix/>
          </a:blip>
          <a:stretch>
            <a:fillRect/>
          </a:stretch>
        </p:blipFill>
        <p:spPr>
          <a:xfrm>
            <a:off x="457200" y="2599537"/>
            <a:ext cx="8229602" cy="16589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Types of Acceptance Test</a:t>
            </a:r>
            <a:endParaRPr/>
          </a:p>
        </p:txBody>
      </p:sp>
      <p:sp>
        <p:nvSpPr>
          <p:cNvPr id="784" name="Google Shape;784;p47"/>
          <p:cNvSpPr txBox="1">
            <a:spLocks noGrp="1"/>
          </p:cNvSpPr>
          <p:nvPr>
            <p:ph type="body" idx="1"/>
          </p:nvPr>
        </p:nvSpPr>
        <p:spPr>
          <a:xfrm>
            <a:off x="457200" y="1600199"/>
            <a:ext cx="8305800" cy="4959911"/>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lnSpc>
                <a:spcPct val="80000"/>
              </a:lnSpc>
              <a:spcBef>
                <a:spcPts val="0"/>
              </a:spcBef>
              <a:spcAft>
                <a:spcPts val="0"/>
              </a:spcAft>
              <a:buClr>
                <a:schemeClr val="dk1"/>
              </a:buClr>
              <a:buSzPct val="100000"/>
              <a:buChar char="•"/>
            </a:pPr>
            <a:r>
              <a:rPr lang="en-US" sz="2400"/>
              <a:t>Alpha testing</a:t>
            </a:r>
            <a:endParaRPr/>
          </a:p>
          <a:p>
            <a:pPr marL="742950" lvl="1" indent="-285750" algn="just" rtl="0">
              <a:lnSpc>
                <a:spcPct val="80000"/>
              </a:lnSpc>
              <a:spcBef>
                <a:spcPts val="444"/>
              </a:spcBef>
              <a:spcAft>
                <a:spcPts val="0"/>
              </a:spcAft>
              <a:buClr>
                <a:schemeClr val="dk1"/>
              </a:buClr>
              <a:buSzPct val="100000"/>
              <a:buChar char="–"/>
            </a:pPr>
            <a:r>
              <a:rPr lang="en-US" sz="2400"/>
              <a:t>Users of the software work with the development team to test the software </a:t>
            </a:r>
            <a:r>
              <a:rPr lang="en-US" sz="2400" b="1">
                <a:solidFill>
                  <a:srgbClr val="C00000"/>
                </a:solidFill>
              </a:rPr>
              <a:t>at the developer’s site</a:t>
            </a:r>
            <a:endParaRPr/>
          </a:p>
          <a:p>
            <a:pPr marL="742950" lvl="1" indent="-285750" algn="just" rtl="0">
              <a:lnSpc>
                <a:spcPct val="80000"/>
              </a:lnSpc>
              <a:spcBef>
                <a:spcPts val="444"/>
              </a:spcBef>
              <a:spcAft>
                <a:spcPts val="0"/>
              </a:spcAft>
              <a:buClr>
                <a:schemeClr val="dk1"/>
              </a:buClr>
              <a:buSzPct val="100000"/>
              <a:buChar char="–"/>
            </a:pPr>
            <a:r>
              <a:rPr lang="en-US" sz="2400"/>
              <a:t>In-house test</a:t>
            </a:r>
            <a:endParaRPr sz="2400"/>
          </a:p>
          <a:p>
            <a:pPr marL="342900" lvl="0" indent="-342900" algn="just" rtl="0">
              <a:lnSpc>
                <a:spcPct val="80000"/>
              </a:lnSpc>
              <a:spcBef>
                <a:spcPts val="444"/>
              </a:spcBef>
              <a:spcAft>
                <a:spcPts val="0"/>
              </a:spcAft>
              <a:buClr>
                <a:schemeClr val="dk1"/>
              </a:buClr>
              <a:buSzPct val="100000"/>
              <a:buChar char="•"/>
            </a:pPr>
            <a:r>
              <a:rPr lang="en-US" sz="2400"/>
              <a:t>Beta testing</a:t>
            </a:r>
            <a:endParaRPr/>
          </a:p>
          <a:p>
            <a:pPr marL="742950" lvl="1" indent="-285750" algn="just" rtl="0">
              <a:lnSpc>
                <a:spcPct val="80000"/>
              </a:lnSpc>
              <a:spcBef>
                <a:spcPts val="444"/>
              </a:spcBef>
              <a:spcAft>
                <a:spcPts val="0"/>
              </a:spcAft>
              <a:buClr>
                <a:schemeClr val="dk1"/>
              </a:buClr>
              <a:buSzPct val="100000"/>
              <a:buChar char="–"/>
            </a:pPr>
            <a:r>
              <a:rPr lang="en-US" sz="2400"/>
              <a:t>Early testing of stable product by customers / users</a:t>
            </a:r>
            <a:endParaRPr/>
          </a:p>
          <a:p>
            <a:pPr marL="742950" lvl="1" indent="-285750" algn="just" rtl="0">
              <a:lnSpc>
                <a:spcPct val="80000"/>
              </a:lnSpc>
              <a:spcBef>
                <a:spcPts val="444"/>
              </a:spcBef>
              <a:spcAft>
                <a:spcPts val="0"/>
              </a:spcAft>
              <a:buClr>
                <a:schemeClr val="dk1"/>
              </a:buClr>
              <a:buSzPct val="100000"/>
              <a:buChar char="–"/>
            </a:pPr>
            <a:r>
              <a:rPr lang="en-US" sz="2400"/>
              <a:t>A release of the software is </a:t>
            </a:r>
            <a:r>
              <a:rPr lang="en-US" sz="2400" b="1">
                <a:solidFill>
                  <a:srgbClr val="C00000"/>
                </a:solidFill>
              </a:rPr>
              <a:t>made available to users to allow them to experiment at their site</a:t>
            </a:r>
            <a:r>
              <a:rPr lang="en-US" sz="2400"/>
              <a:t> and to raise problems that they discover with the system developers</a:t>
            </a:r>
            <a:endParaRPr/>
          </a:p>
          <a:p>
            <a:pPr marL="742950" lvl="1" indent="-285750" algn="just" rtl="0">
              <a:lnSpc>
                <a:spcPct val="80000"/>
              </a:lnSpc>
              <a:spcBef>
                <a:spcPts val="444"/>
              </a:spcBef>
              <a:spcAft>
                <a:spcPts val="0"/>
              </a:spcAft>
              <a:buClr>
                <a:schemeClr val="dk1"/>
              </a:buClr>
              <a:buSzPct val="100000"/>
              <a:buChar char="–"/>
            </a:pPr>
            <a:r>
              <a:rPr lang="en-US" sz="2400"/>
              <a:t>published reviews of beta release test results can make or break a product (e.g. PC games)</a:t>
            </a:r>
            <a:endParaRPr sz="2400"/>
          </a:p>
          <a:p>
            <a:pPr marL="342900" lvl="0" indent="-342900" algn="just" rtl="0">
              <a:lnSpc>
                <a:spcPct val="80000"/>
              </a:lnSpc>
              <a:spcBef>
                <a:spcPts val="444"/>
              </a:spcBef>
              <a:spcAft>
                <a:spcPts val="0"/>
              </a:spcAft>
              <a:buClr>
                <a:schemeClr val="dk1"/>
              </a:buClr>
              <a:buSzPct val="100000"/>
              <a:buChar char="•"/>
            </a:pPr>
            <a:r>
              <a:rPr lang="en-US" sz="2400"/>
              <a:t>User Acceptance Testing (UAT)</a:t>
            </a:r>
            <a:endParaRPr/>
          </a:p>
          <a:p>
            <a:pPr marL="914400" lvl="1" indent="-514350" algn="just" rtl="0">
              <a:lnSpc>
                <a:spcPct val="80000"/>
              </a:lnSpc>
              <a:spcBef>
                <a:spcPts val="444"/>
              </a:spcBef>
              <a:spcAft>
                <a:spcPts val="0"/>
              </a:spcAft>
              <a:buClr>
                <a:schemeClr val="dk1"/>
              </a:buClr>
              <a:buSzPct val="100000"/>
              <a:buChar char="–"/>
            </a:pPr>
            <a:r>
              <a:rPr lang="en-US" sz="2400"/>
              <a:t>Conducted by or visible to the end user &amp; customer at the </a:t>
            </a:r>
            <a:r>
              <a:rPr lang="en-US" sz="2400" b="1">
                <a:solidFill>
                  <a:srgbClr val="C00000"/>
                </a:solidFill>
              </a:rPr>
              <a:t>final stage of validation</a:t>
            </a:r>
            <a:endParaRPr/>
          </a:p>
          <a:p>
            <a:pPr marL="914400" lvl="1" indent="-514350" algn="just" rtl="0">
              <a:lnSpc>
                <a:spcPct val="80000"/>
              </a:lnSpc>
              <a:spcBef>
                <a:spcPts val="444"/>
              </a:spcBef>
              <a:spcAft>
                <a:spcPts val="0"/>
              </a:spcAft>
              <a:buClr>
                <a:schemeClr val="dk1"/>
              </a:buClr>
              <a:buSzPct val="100000"/>
              <a:buChar char="–"/>
            </a:pPr>
            <a:r>
              <a:rPr lang="en-US" sz="2400"/>
              <a:t>Testing based on the defined user requirements which often uses the ‘thread testing’ approach – the same ones for functional system test</a:t>
            </a:r>
            <a:endParaRPr/>
          </a:p>
          <a:p>
            <a:pPr marL="514350" lvl="0" indent="-361632" algn="just" rtl="0">
              <a:lnSpc>
                <a:spcPct val="80000"/>
              </a:lnSpc>
              <a:spcBef>
                <a:spcPts val="481"/>
              </a:spcBef>
              <a:spcAft>
                <a:spcPts val="0"/>
              </a:spcAft>
              <a:buClr>
                <a:schemeClr val="dk1"/>
              </a:buClr>
              <a:buSzPct val="100000"/>
              <a:buNone/>
            </a:pPr>
            <a:endParaRPr sz="2600"/>
          </a:p>
          <a:p>
            <a:pPr marL="342900" lvl="0" indent="-154940" algn="just" rtl="0">
              <a:spcBef>
                <a:spcPts val="592"/>
              </a:spcBef>
              <a:spcAft>
                <a:spcPts val="0"/>
              </a:spcAft>
              <a:buClr>
                <a:schemeClr val="dk1"/>
              </a:buClr>
              <a:buSzPct val="100000"/>
              <a:buNone/>
            </a:pPr>
            <a:endParaRPr/>
          </a:p>
        </p:txBody>
      </p:sp>
      <p:sp>
        <p:nvSpPr>
          <p:cNvPr id="785" name="Google Shape;785;p4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786" name="Google Shape;786;p4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49"/>
          <p:cNvSpPr txBox="1">
            <a:spLocks noGrp="1"/>
          </p:cNvSpPr>
          <p:nvPr>
            <p:ph type="title"/>
          </p:nvPr>
        </p:nvSpPr>
        <p:spPr>
          <a:xfrm>
            <a:off x="358760" y="6180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dirty="0"/>
          </a:p>
        </p:txBody>
      </p:sp>
      <p:sp>
        <p:nvSpPr>
          <p:cNvPr id="801" name="Google Shape;801;p4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802" name="Google Shape;802;p49"/>
          <p:cNvGrpSpPr/>
          <p:nvPr/>
        </p:nvGrpSpPr>
        <p:grpSpPr>
          <a:xfrm>
            <a:off x="0" y="713232"/>
            <a:ext cx="8936059" cy="4215384"/>
            <a:chOff x="-59824" y="251004"/>
            <a:chExt cx="8936059" cy="6507226"/>
          </a:xfrm>
        </p:grpSpPr>
        <p:sp>
          <p:nvSpPr>
            <p:cNvPr id="806" name="Google Shape;806;p49"/>
            <p:cNvSpPr/>
            <p:nvPr/>
          </p:nvSpPr>
          <p:spPr>
            <a:xfrm>
              <a:off x="7417416" y="3763231"/>
              <a:ext cx="680374" cy="347756"/>
            </a:xfrm>
            <a:custGeom>
              <a:avLst/>
              <a:gdLst/>
              <a:ahLst/>
              <a:cxnLst/>
              <a:rect l="l" t="t" r="r" b="b"/>
              <a:pathLst>
                <a:path w="120000" h="120000" extrusionOk="0">
                  <a:moveTo>
                    <a:pt x="0" y="0"/>
                  </a:moveTo>
                  <a:lnTo>
                    <a:pt x="0" y="79280"/>
                  </a:lnTo>
                  <a:lnTo>
                    <a:pt x="120000" y="7928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7" name="Google Shape;807;p49"/>
            <p:cNvSpPr/>
            <p:nvPr/>
          </p:nvSpPr>
          <p:spPr>
            <a:xfrm>
              <a:off x="6056669" y="4919863"/>
              <a:ext cx="1818987" cy="878168"/>
            </a:xfrm>
            <a:custGeom>
              <a:avLst/>
              <a:gdLst/>
              <a:ahLst/>
              <a:cxnLst/>
              <a:rect l="l" t="t" r="r" b="b"/>
              <a:pathLst>
                <a:path w="120000" h="120000" extrusionOk="0">
                  <a:moveTo>
                    <a:pt x="0" y="0"/>
                  </a:moveTo>
                  <a:lnTo>
                    <a:pt x="0" y="103875"/>
                  </a:lnTo>
                  <a:lnTo>
                    <a:pt x="120000" y="103875"/>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8" name="Google Shape;808;p49"/>
            <p:cNvSpPr/>
            <p:nvPr/>
          </p:nvSpPr>
          <p:spPr>
            <a:xfrm>
              <a:off x="5772137" y="4919863"/>
              <a:ext cx="284531"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9" name="Google Shape;809;p49"/>
            <p:cNvSpPr/>
            <p:nvPr/>
          </p:nvSpPr>
          <p:spPr>
            <a:xfrm>
              <a:off x="3586037" y="4919863"/>
              <a:ext cx="2470632"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0" name="Google Shape;810;p49"/>
            <p:cNvSpPr/>
            <p:nvPr/>
          </p:nvSpPr>
          <p:spPr>
            <a:xfrm>
              <a:off x="1364205" y="4919863"/>
              <a:ext cx="4692463"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1" name="Google Shape;811;p49"/>
            <p:cNvSpPr/>
            <p:nvPr/>
          </p:nvSpPr>
          <p:spPr>
            <a:xfrm>
              <a:off x="6056669" y="3763231"/>
              <a:ext cx="1360746" cy="347756"/>
            </a:xfrm>
            <a:custGeom>
              <a:avLst/>
              <a:gdLst/>
              <a:ahLst/>
              <a:cxnLst/>
              <a:rect l="l" t="t" r="r" b="b"/>
              <a:pathLst>
                <a:path w="120000" h="120000" extrusionOk="0">
                  <a:moveTo>
                    <a:pt x="120000" y="0"/>
                  </a:moveTo>
                  <a:lnTo>
                    <a:pt x="120000" y="79280"/>
                  </a:lnTo>
                  <a:lnTo>
                    <a:pt x="0" y="79280"/>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3" name="Google Shape;813;p49"/>
            <p:cNvSpPr/>
            <p:nvPr/>
          </p:nvSpPr>
          <p:spPr>
            <a:xfrm>
              <a:off x="3044730" y="3831266"/>
              <a:ext cx="135491" cy="347764"/>
            </a:xfrm>
            <a:custGeom>
              <a:avLst/>
              <a:gdLst/>
              <a:ahLst/>
              <a:cxnLst/>
              <a:rect l="l" t="t" r="r" b="b"/>
              <a:pathLst>
                <a:path w="120000" h="120000" extrusionOk="0">
                  <a:moveTo>
                    <a:pt x="0" y="0"/>
                  </a:moveTo>
                  <a:lnTo>
                    <a:pt x="0" y="79281"/>
                  </a:lnTo>
                  <a:lnTo>
                    <a:pt x="120000" y="79281"/>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4" name="Google Shape;814;p49"/>
            <p:cNvSpPr/>
            <p:nvPr/>
          </p:nvSpPr>
          <p:spPr>
            <a:xfrm>
              <a:off x="780610" y="3831266"/>
              <a:ext cx="2264120" cy="347764"/>
            </a:xfrm>
            <a:custGeom>
              <a:avLst/>
              <a:gdLst/>
              <a:ahLst/>
              <a:cxnLst/>
              <a:rect l="l" t="t" r="r" b="b"/>
              <a:pathLst>
                <a:path w="120000" h="120000" extrusionOk="0">
                  <a:moveTo>
                    <a:pt x="120000" y="0"/>
                  </a:moveTo>
                  <a:lnTo>
                    <a:pt x="120000" y="79281"/>
                  </a:lnTo>
                  <a:lnTo>
                    <a:pt x="0" y="79281"/>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8" name="Google Shape;818;p49"/>
            <p:cNvSpPr/>
            <p:nvPr/>
          </p:nvSpPr>
          <p:spPr>
            <a:xfrm>
              <a:off x="3244579" y="251004"/>
              <a:ext cx="2414793" cy="808875"/>
            </a:xfrm>
            <a:prstGeom prst="roundRect">
              <a:avLst>
                <a:gd name="adj" fmla="val 1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9"/>
            <p:cNvSpPr/>
            <p:nvPr/>
          </p:nvSpPr>
          <p:spPr>
            <a:xfrm>
              <a:off x="3386115" y="385463"/>
              <a:ext cx="2414793" cy="808875"/>
            </a:xfrm>
            <a:prstGeom prst="roundRect">
              <a:avLst>
                <a:gd name="adj" fmla="val 10000"/>
              </a:avLst>
            </a:prstGeom>
            <a:solidFill>
              <a:srgbClr val="FFFF99">
                <a:alpha val="89803"/>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9"/>
            <p:cNvSpPr txBox="1"/>
            <p:nvPr/>
          </p:nvSpPr>
          <p:spPr>
            <a:xfrm>
              <a:off x="3409806" y="409153"/>
              <a:ext cx="2362331" cy="81398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Test Case Design Technique (dynamic testing)</a:t>
              </a:r>
              <a:endParaRPr dirty="0"/>
            </a:p>
          </p:txBody>
        </p:sp>
        <p:sp>
          <p:nvSpPr>
            <p:cNvPr id="827" name="Google Shape;827;p49"/>
            <p:cNvSpPr/>
            <p:nvPr/>
          </p:nvSpPr>
          <p:spPr>
            <a:xfrm>
              <a:off x="2407820" y="3022390"/>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9"/>
            <p:cNvSpPr/>
            <p:nvPr/>
          </p:nvSpPr>
          <p:spPr>
            <a:xfrm>
              <a:off x="2549356" y="3156849"/>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9"/>
            <p:cNvSpPr txBox="1"/>
            <p:nvPr/>
          </p:nvSpPr>
          <p:spPr>
            <a:xfrm>
              <a:off x="2573047" y="3180540"/>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b) Black-box</a:t>
              </a:r>
              <a:endParaRPr dirty="0"/>
            </a:p>
          </p:txBody>
        </p:sp>
        <p:sp>
          <p:nvSpPr>
            <p:cNvPr id="830" name="Google Shape;830;p49"/>
            <p:cNvSpPr/>
            <p:nvPr/>
          </p:nvSpPr>
          <p:spPr>
            <a:xfrm>
              <a:off x="-59824" y="4179030"/>
              <a:ext cx="168086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9"/>
            <p:cNvSpPr/>
            <p:nvPr/>
          </p:nvSpPr>
          <p:spPr>
            <a:xfrm>
              <a:off x="81711" y="4313489"/>
              <a:ext cx="168086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9"/>
            <p:cNvSpPr txBox="1"/>
            <p:nvPr/>
          </p:nvSpPr>
          <p:spPr>
            <a:xfrm>
              <a:off x="105402" y="4337180"/>
              <a:ext cx="163348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 Equivalence Partitioning</a:t>
              </a:r>
              <a:endParaRPr/>
            </a:p>
          </p:txBody>
        </p:sp>
        <p:sp>
          <p:nvSpPr>
            <p:cNvPr id="833" name="Google Shape;833;p49"/>
            <p:cNvSpPr/>
            <p:nvPr/>
          </p:nvSpPr>
          <p:spPr>
            <a:xfrm>
              <a:off x="2252276" y="4179030"/>
              <a:ext cx="1855891"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9"/>
            <p:cNvSpPr/>
            <p:nvPr/>
          </p:nvSpPr>
          <p:spPr>
            <a:xfrm>
              <a:off x="2393811" y="4313489"/>
              <a:ext cx="1855891"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9"/>
            <p:cNvSpPr txBox="1"/>
            <p:nvPr/>
          </p:nvSpPr>
          <p:spPr>
            <a:xfrm>
              <a:off x="2417502" y="4337180"/>
              <a:ext cx="1808509"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ii) Boundary Value Analysis</a:t>
              </a:r>
              <a:endParaRPr dirty="0"/>
            </a:p>
          </p:txBody>
        </p:sp>
        <p:sp>
          <p:nvSpPr>
            <p:cNvPr id="836" name="Google Shape;836;p49"/>
            <p:cNvSpPr/>
            <p:nvPr/>
          </p:nvSpPr>
          <p:spPr>
            <a:xfrm>
              <a:off x="6780506" y="2954356"/>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9"/>
            <p:cNvSpPr/>
            <p:nvPr/>
          </p:nvSpPr>
          <p:spPr>
            <a:xfrm>
              <a:off x="6922042" y="3088814"/>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9"/>
            <p:cNvSpPr txBox="1"/>
            <p:nvPr/>
          </p:nvSpPr>
          <p:spPr>
            <a:xfrm>
              <a:off x="6945733" y="3112505"/>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c) White-box</a:t>
              </a:r>
              <a:endParaRPr/>
            </a:p>
          </p:txBody>
        </p:sp>
        <p:sp>
          <p:nvSpPr>
            <p:cNvPr id="839" name="Google Shape;839;p49"/>
            <p:cNvSpPr/>
            <p:nvPr/>
          </p:nvSpPr>
          <p:spPr>
            <a:xfrm>
              <a:off x="5419759"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9"/>
            <p:cNvSpPr/>
            <p:nvPr/>
          </p:nvSpPr>
          <p:spPr>
            <a:xfrm>
              <a:off x="5561295"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9"/>
            <p:cNvSpPr txBox="1"/>
            <p:nvPr/>
          </p:nvSpPr>
          <p:spPr>
            <a:xfrm>
              <a:off x="5584986"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 Basis Path</a:t>
              </a:r>
              <a:endParaRPr/>
            </a:p>
          </p:txBody>
        </p:sp>
        <p:sp>
          <p:nvSpPr>
            <p:cNvPr id="842" name="Google Shape;842;p49"/>
            <p:cNvSpPr/>
            <p:nvPr/>
          </p:nvSpPr>
          <p:spPr>
            <a:xfrm>
              <a:off x="727295" y="5814896"/>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9"/>
            <p:cNvSpPr/>
            <p:nvPr/>
          </p:nvSpPr>
          <p:spPr>
            <a:xfrm>
              <a:off x="868831" y="5949355"/>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9"/>
            <p:cNvSpPr txBox="1"/>
            <p:nvPr/>
          </p:nvSpPr>
          <p:spPr>
            <a:xfrm>
              <a:off x="892522" y="5973046"/>
              <a:ext cx="1226437"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1: draw </a:t>
              </a:r>
              <a:r>
                <a:rPr lang="en-US" sz="1400" b="1">
                  <a:solidFill>
                    <a:schemeClr val="dk1"/>
                  </a:solidFill>
                  <a:latin typeface="Calibri"/>
                  <a:ea typeface="Calibri"/>
                  <a:cs typeface="Calibri"/>
                  <a:sym typeface="Calibri"/>
                </a:rPr>
                <a:t>Flow Graph</a:t>
              </a:r>
              <a:endParaRPr/>
            </a:p>
          </p:txBody>
        </p:sp>
        <p:sp>
          <p:nvSpPr>
            <p:cNvPr id="845" name="Google Shape;845;p49"/>
            <p:cNvSpPr/>
            <p:nvPr/>
          </p:nvSpPr>
          <p:spPr>
            <a:xfrm>
              <a:off x="2703668" y="5814896"/>
              <a:ext cx="1764737"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9"/>
            <p:cNvSpPr/>
            <p:nvPr/>
          </p:nvSpPr>
          <p:spPr>
            <a:xfrm>
              <a:off x="2845204" y="5949355"/>
              <a:ext cx="1764737"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9"/>
            <p:cNvSpPr txBox="1"/>
            <p:nvPr/>
          </p:nvSpPr>
          <p:spPr>
            <a:xfrm>
              <a:off x="2868895" y="5973046"/>
              <a:ext cx="1717355"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2 : calculate </a:t>
              </a:r>
              <a:r>
                <a:rPr lang="en-US" sz="1400" b="1">
                  <a:solidFill>
                    <a:schemeClr val="dk1"/>
                  </a:solidFill>
                  <a:latin typeface="Calibri"/>
                  <a:ea typeface="Calibri"/>
                  <a:cs typeface="Calibri"/>
                  <a:sym typeface="Calibri"/>
                </a:rPr>
                <a:t>Cyclomatic Complexity</a:t>
              </a:r>
              <a:endParaRPr/>
            </a:p>
          </p:txBody>
        </p:sp>
        <p:sp>
          <p:nvSpPr>
            <p:cNvPr id="848" name="Google Shape;848;p49"/>
            <p:cNvSpPr/>
            <p:nvPr/>
          </p:nvSpPr>
          <p:spPr>
            <a:xfrm>
              <a:off x="4940881" y="5814896"/>
              <a:ext cx="1662513"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9"/>
            <p:cNvSpPr/>
            <p:nvPr/>
          </p:nvSpPr>
          <p:spPr>
            <a:xfrm>
              <a:off x="5082416" y="5949355"/>
              <a:ext cx="1662513"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9"/>
            <p:cNvSpPr txBox="1"/>
            <p:nvPr/>
          </p:nvSpPr>
          <p:spPr>
            <a:xfrm>
              <a:off x="5106107" y="5973046"/>
              <a:ext cx="1615131"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3: identify </a:t>
              </a:r>
              <a:r>
                <a:rPr lang="en-US" sz="1400" b="1">
                  <a:solidFill>
                    <a:schemeClr val="dk1"/>
                  </a:solidFill>
                  <a:latin typeface="Calibri"/>
                  <a:ea typeface="Calibri"/>
                  <a:cs typeface="Calibri"/>
                  <a:sym typeface="Calibri"/>
                </a:rPr>
                <a:t>Independent Path</a:t>
              </a:r>
              <a:endParaRPr/>
            </a:p>
          </p:txBody>
        </p:sp>
        <p:sp>
          <p:nvSpPr>
            <p:cNvPr id="851" name="Google Shape;851;p49"/>
            <p:cNvSpPr/>
            <p:nvPr/>
          </p:nvSpPr>
          <p:spPr>
            <a:xfrm>
              <a:off x="7094760" y="5798031"/>
              <a:ext cx="1561792"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9"/>
            <p:cNvSpPr/>
            <p:nvPr/>
          </p:nvSpPr>
          <p:spPr>
            <a:xfrm>
              <a:off x="7236296" y="5932490"/>
              <a:ext cx="1561792"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9"/>
            <p:cNvSpPr txBox="1"/>
            <p:nvPr/>
          </p:nvSpPr>
          <p:spPr>
            <a:xfrm>
              <a:off x="7259987" y="5956181"/>
              <a:ext cx="1514410"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4: Generate </a:t>
              </a:r>
              <a:r>
                <a:rPr lang="en-US" sz="1400" b="1">
                  <a:solidFill>
                    <a:schemeClr val="dk1"/>
                  </a:solidFill>
                  <a:latin typeface="Calibri"/>
                  <a:ea typeface="Calibri"/>
                  <a:cs typeface="Calibri"/>
                  <a:sym typeface="Calibri"/>
                </a:rPr>
                <a:t>Test cases</a:t>
              </a:r>
              <a:endParaRPr/>
            </a:p>
          </p:txBody>
        </p:sp>
        <p:sp>
          <p:nvSpPr>
            <p:cNvPr id="854" name="Google Shape;854;p49"/>
            <p:cNvSpPr/>
            <p:nvPr/>
          </p:nvSpPr>
          <p:spPr>
            <a:xfrm>
              <a:off x="7460880"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p:cNvSpPr/>
            <p:nvPr/>
          </p:nvSpPr>
          <p:spPr>
            <a:xfrm>
              <a:off x="7602416"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9"/>
            <p:cNvSpPr txBox="1"/>
            <p:nvPr/>
          </p:nvSpPr>
          <p:spPr>
            <a:xfrm>
              <a:off x="7626107"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ii) Control Structure</a:t>
              </a:r>
              <a:endParaRPr/>
            </a:p>
          </p:txBody>
        </p:sp>
      </p:grpSp>
      <p:sp>
        <p:nvSpPr>
          <p:cNvPr id="866" name="Google Shape;866;p4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cxnSp>
        <p:nvCxnSpPr>
          <p:cNvPr id="3" name="Straight Arrow Connector 2">
            <a:extLst>
              <a:ext uri="{FF2B5EF4-FFF2-40B4-BE49-F238E27FC236}">
                <a16:creationId xmlns:a16="http://schemas.microsoft.com/office/drawing/2014/main" id="{1BAB601A-AAD8-0D05-A366-1BA0F75D2177}"/>
              </a:ext>
            </a:extLst>
          </p:cNvPr>
          <p:cNvCxnSpPr>
            <a:stCxn id="819" idx="2"/>
          </p:cNvCxnSpPr>
          <p:nvPr/>
        </p:nvCxnSpPr>
        <p:spPr>
          <a:xfrm flipH="1">
            <a:off x="3374136" y="1324325"/>
            <a:ext cx="1279200" cy="11842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1ECFF0A1-1CAD-E7D9-2C0C-1EE181501791}"/>
              </a:ext>
            </a:extLst>
          </p:cNvPr>
          <p:cNvCxnSpPr>
            <a:cxnSpLocks/>
          </p:cNvCxnSpPr>
          <p:nvPr/>
        </p:nvCxnSpPr>
        <p:spPr>
          <a:xfrm>
            <a:off x="4846320" y="1324325"/>
            <a:ext cx="2048618" cy="10714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52CF77E-ECAF-F2D2-CF0B-525FFD5854C8}"/>
              </a:ext>
            </a:extLst>
          </p:cNvPr>
          <p:cNvSpPr txBox="1"/>
          <p:nvPr/>
        </p:nvSpPr>
        <p:spPr>
          <a:xfrm>
            <a:off x="3967689" y="2623794"/>
            <a:ext cx="1465555" cy="584775"/>
          </a:xfrm>
          <a:prstGeom prst="rect">
            <a:avLst/>
          </a:prstGeom>
          <a:noFill/>
        </p:spPr>
        <p:txBody>
          <a:bodyPr wrap="square" rtlCol="0">
            <a:spAutoFit/>
          </a:bodyPr>
          <a:lstStyle/>
          <a:p>
            <a:r>
              <a:rPr lang="en-MY" sz="800" dirty="0">
                <a:solidFill>
                  <a:srgbClr val="0070C0"/>
                </a:solidFill>
              </a:rPr>
              <a:t>Requirements based/</a:t>
            </a:r>
            <a:r>
              <a:rPr lang="en-US" sz="800" dirty="0">
                <a:solidFill>
                  <a:srgbClr val="0070C0"/>
                </a:solidFill>
              </a:rPr>
              <a:t> specification  based testing is an example of black box testing </a:t>
            </a:r>
            <a:endParaRPr lang="en-MY" sz="800" dirty="0">
              <a:solidFill>
                <a:srgbClr val="0070C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dirty="0"/>
              <a:t>Test-Case Design Technique: </a:t>
            </a:r>
            <a:br>
              <a:rPr lang="en-US" sz="4000" dirty="0"/>
            </a:br>
            <a:r>
              <a:rPr lang="en-US" sz="4000" dirty="0"/>
              <a:t>Black-Box Testing</a:t>
            </a:r>
            <a:endParaRPr sz="4000" dirty="0"/>
          </a:p>
        </p:txBody>
      </p:sp>
      <p:sp>
        <p:nvSpPr>
          <p:cNvPr id="1100" name="Google Shape;1100;p59"/>
          <p:cNvSpPr txBox="1">
            <a:spLocks noGrp="1"/>
          </p:cNvSpPr>
          <p:nvPr>
            <p:ph type="body" idx="1"/>
          </p:nvPr>
        </p:nvSpPr>
        <p:spPr>
          <a:xfrm>
            <a:off x="457200" y="1600200"/>
            <a:ext cx="8229600" cy="4572000"/>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800"/>
              <a:buChar char="•"/>
            </a:pPr>
            <a:r>
              <a:rPr lang="en-US" sz="2800" dirty="0"/>
              <a:t>Also called </a:t>
            </a:r>
            <a:r>
              <a:rPr lang="en-US" sz="2800" b="1" dirty="0">
                <a:solidFill>
                  <a:srgbClr val="C00000"/>
                </a:solidFill>
              </a:rPr>
              <a:t>functional testing</a:t>
            </a:r>
            <a:r>
              <a:rPr lang="en-US" sz="2800" dirty="0">
                <a:solidFill>
                  <a:srgbClr val="C00000"/>
                </a:solidFill>
              </a:rPr>
              <a:t> </a:t>
            </a:r>
            <a:r>
              <a:rPr lang="en-US" sz="2800" dirty="0"/>
              <a:t>and </a:t>
            </a:r>
            <a:r>
              <a:rPr lang="en-US" sz="2800" b="1" dirty="0">
                <a:solidFill>
                  <a:srgbClr val="C00000"/>
                </a:solidFill>
              </a:rPr>
              <a:t>behavioral testing</a:t>
            </a:r>
            <a:endParaRPr dirty="0"/>
          </a:p>
          <a:p>
            <a:pPr marL="342900" lvl="0" indent="-342900" algn="just" rtl="0">
              <a:lnSpc>
                <a:spcPct val="80000"/>
              </a:lnSpc>
              <a:spcBef>
                <a:spcPts val="560"/>
              </a:spcBef>
              <a:spcAft>
                <a:spcPts val="0"/>
              </a:spcAft>
              <a:buClr>
                <a:schemeClr val="dk1"/>
              </a:buClr>
              <a:buSzPts val="2800"/>
              <a:buChar char="•"/>
            </a:pPr>
            <a:r>
              <a:rPr lang="en-US" sz="2800" dirty="0"/>
              <a:t>Focuses on determining whether or not the </a:t>
            </a:r>
            <a:r>
              <a:rPr lang="en-US" sz="2800" b="1" dirty="0">
                <a:solidFill>
                  <a:srgbClr val="C00000"/>
                </a:solidFill>
              </a:rPr>
              <a:t>program does what it is supposed to do </a:t>
            </a:r>
            <a:r>
              <a:rPr lang="en-US" sz="2800" dirty="0"/>
              <a:t>based on its functional requirements</a:t>
            </a:r>
            <a:endParaRPr dirty="0"/>
          </a:p>
          <a:p>
            <a:pPr marL="342900" lvl="0" indent="-342900" algn="just" rtl="0">
              <a:lnSpc>
                <a:spcPct val="80000"/>
              </a:lnSpc>
              <a:spcBef>
                <a:spcPts val="560"/>
              </a:spcBef>
              <a:spcAft>
                <a:spcPts val="0"/>
              </a:spcAft>
              <a:buClr>
                <a:schemeClr val="dk1"/>
              </a:buClr>
              <a:buSzPts val="2800"/>
              <a:buChar char="•"/>
            </a:pPr>
            <a:r>
              <a:rPr lang="en-US" sz="2800" dirty="0"/>
              <a:t>Testing that </a:t>
            </a:r>
            <a:r>
              <a:rPr lang="en-US" sz="2800" b="1" dirty="0">
                <a:solidFill>
                  <a:srgbClr val="C00000"/>
                </a:solidFill>
              </a:rPr>
              <a:t>ignores the internal mechanism </a:t>
            </a:r>
            <a:r>
              <a:rPr lang="en-US" sz="2800" dirty="0"/>
              <a:t>of a system or component and focuses solely on the outputs generated in response to selected inputs and execution conditions</a:t>
            </a:r>
            <a:endParaRPr dirty="0"/>
          </a:p>
          <a:p>
            <a:pPr marL="342900" lvl="0" indent="-165100" algn="just" rtl="0">
              <a:lnSpc>
                <a:spcPct val="80000"/>
              </a:lnSpc>
              <a:spcBef>
                <a:spcPts val="560"/>
              </a:spcBef>
              <a:spcAft>
                <a:spcPts val="0"/>
              </a:spcAft>
              <a:buClr>
                <a:schemeClr val="dk1"/>
              </a:buClr>
              <a:buSzPts val="2800"/>
              <a:buNone/>
            </a:pPr>
            <a:endParaRPr sz="2800" dirty="0"/>
          </a:p>
        </p:txBody>
      </p:sp>
      <p:sp>
        <p:nvSpPr>
          <p:cNvPr id="1101" name="Google Shape;1101;p5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102" name="Google Shape;1102;p5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2441819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dirty="0"/>
              <a:t>Black-Box Testing (Cont.)</a:t>
            </a:r>
            <a:endParaRPr sz="4000" dirty="0"/>
          </a:p>
        </p:txBody>
      </p:sp>
      <p:sp>
        <p:nvSpPr>
          <p:cNvPr id="1108" name="Google Shape;1108;p6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1109" name="Google Shape;1109;p60"/>
          <p:cNvPicPr preferRelativeResize="0"/>
          <p:nvPr/>
        </p:nvPicPr>
        <p:blipFill rotWithShape="1">
          <a:blip r:embed="rId3">
            <a:alphaModFix/>
          </a:blip>
          <a:srcRect/>
          <a:stretch/>
        </p:blipFill>
        <p:spPr>
          <a:xfrm>
            <a:off x="1295400" y="1981200"/>
            <a:ext cx="6623305" cy="2233989"/>
          </a:xfrm>
          <a:prstGeom prst="rect">
            <a:avLst/>
          </a:prstGeom>
          <a:noFill/>
          <a:ln>
            <a:noFill/>
          </a:ln>
        </p:spPr>
      </p:pic>
      <p:sp>
        <p:nvSpPr>
          <p:cNvPr id="1110" name="Google Shape;1110;p60"/>
          <p:cNvSpPr/>
          <p:nvPr/>
        </p:nvSpPr>
        <p:spPr>
          <a:xfrm>
            <a:off x="451105" y="4419600"/>
            <a:ext cx="8229600" cy="138499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Calibri"/>
                <a:ea typeface="Calibri"/>
                <a:cs typeface="Calibri"/>
                <a:sym typeface="Calibri"/>
              </a:rPr>
              <a:t>Takes into account only the input and output of the software </a:t>
            </a:r>
            <a:r>
              <a:rPr lang="en-US" sz="2800" b="1">
                <a:solidFill>
                  <a:srgbClr val="C00000"/>
                </a:solidFill>
                <a:latin typeface="Calibri"/>
                <a:ea typeface="Calibri"/>
                <a:cs typeface="Calibri"/>
                <a:sym typeface="Calibri"/>
              </a:rPr>
              <a:t>without any regard to the internal code </a:t>
            </a:r>
            <a:r>
              <a:rPr lang="en-US" sz="2800">
                <a:solidFill>
                  <a:schemeClr val="dk1"/>
                </a:solidFill>
                <a:latin typeface="Calibri"/>
                <a:ea typeface="Calibri"/>
                <a:cs typeface="Calibri"/>
                <a:sym typeface="Calibri"/>
              </a:rPr>
              <a:t>of the program</a:t>
            </a:r>
            <a:endParaRPr/>
          </a:p>
        </p:txBody>
      </p:sp>
      <p:sp>
        <p:nvSpPr>
          <p:cNvPr id="1111" name="Google Shape;1111;p6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38464863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Test Case Design</a:t>
            </a:r>
            <a:endParaRPr dirty="0"/>
          </a:p>
        </p:txBody>
      </p:sp>
      <p:sp>
        <p:nvSpPr>
          <p:cNvPr id="872" name="Google Shape;872;p5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Char char="•"/>
            </a:pPr>
            <a:r>
              <a:rPr lang="en-US" sz="2800" dirty="0"/>
              <a:t>Involves designing the test cases (</a:t>
            </a:r>
            <a:r>
              <a:rPr lang="en-US" sz="2800" b="1" dirty="0">
                <a:solidFill>
                  <a:srgbClr val="C00000"/>
                </a:solidFill>
              </a:rPr>
              <a:t>inputs and outputs</a:t>
            </a:r>
            <a:r>
              <a:rPr lang="en-US" sz="2800" dirty="0"/>
              <a:t>) used to test the system</a:t>
            </a:r>
            <a:endParaRPr dirty="0"/>
          </a:p>
          <a:p>
            <a:pPr marL="342900" lvl="0" indent="-342900" algn="just" rtl="0">
              <a:lnSpc>
                <a:spcPct val="90000"/>
              </a:lnSpc>
              <a:spcBef>
                <a:spcPts val="560"/>
              </a:spcBef>
              <a:spcAft>
                <a:spcPts val="0"/>
              </a:spcAft>
              <a:buClr>
                <a:schemeClr val="dk1"/>
              </a:buClr>
              <a:buSzPts val="2800"/>
              <a:buChar char="•"/>
            </a:pPr>
            <a:r>
              <a:rPr lang="en-US" sz="2800" dirty="0"/>
              <a:t>The goal of test case design is to create a set of tests that are effective in validation and defect testing</a:t>
            </a:r>
            <a:endParaRPr dirty="0"/>
          </a:p>
          <a:p>
            <a:pPr marL="342900" lvl="0" indent="-342900" algn="just" rtl="0">
              <a:lnSpc>
                <a:spcPct val="90000"/>
              </a:lnSpc>
              <a:spcBef>
                <a:spcPts val="560"/>
              </a:spcBef>
              <a:spcAft>
                <a:spcPts val="0"/>
              </a:spcAft>
              <a:buClr>
                <a:schemeClr val="dk1"/>
              </a:buClr>
              <a:buSzPts val="2800"/>
              <a:buChar char="•"/>
            </a:pPr>
            <a:r>
              <a:rPr lang="en-US" sz="2800" dirty="0"/>
              <a:t>Test case design </a:t>
            </a:r>
            <a:r>
              <a:rPr lang="en-US" sz="2800" b="1" dirty="0">
                <a:solidFill>
                  <a:srgbClr val="C00000"/>
                </a:solidFill>
              </a:rPr>
              <a:t>approaches for dynamic testing</a:t>
            </a:r>
            <a:r>
              <a:rPr lang="en-US" sz="2800" dirty="0"/>
              <a:t>:</a:t>
            </a:r>
            <a:endParaRPr dirty="0"/>
          </a:p>
          <a:p>
            <a:pPr marL="914400" lvl="1" indent="-457200" algn="just" rtl="0">
              <a:lnSpc>
                <a:spcPct val="90000"/>
              </a:lnSpc>
              <a:spcBef>
                <a:spcPts val="560"/>
              </a:spcBef>
              <a:spcAft>
                <a:spcPts val="0"/>
              </a:spcAft>
              <a:buClr>
                <a:schemeClr val="dk1"/>
              </a:buClr>
              <a:buSzPts val="2800"/>
              <a:buFont typeface="Calibri"/>
              <a:buAutoNum type="arabicPeriod"/>
            </a:pPr>
            <a:r>
              <a:rPr lang="en-US" dirty="0"/>
              <a:t>Black-Box testing </a:t>
            </a:r>
            <a:r>
              <a:rPr lang="en-US" sz="1800" dirty="0">
                <a:solidFill>
                  <a:srgbClr val="0070C0"/>
                </a:solidFill>
              </a:rPr>
              <a:t>(</a:t>
            </a:r>
            <a:r>
              <a:rPr lang="en-US" sz="1800" dirty="0" err="1">
                <a:solidFill>
                  <a:srgbClr val="0070C0"/>
                </a:solidFill>
              </a:rPr>
              <a:t>e.g</a:t>
            </a:r>
            <a:r>
              <a:rPr lang="en-US" sz="1800" dirty="0">
                <a:solidFill>
                  <a:srgbClr val="0070C0"/>
                </a:solidFill>
              </a:rPr>
              <a:t> requirements based testing)</a:t>
            </a:r>
            <a:endParaRPr dirty="0">
              <a:solidFill>
                <a:srgbClr val="0070C0"/>
              </a:solidFill>
            </a:endParaRPr>
          </a:p>
          <a:p>
            <a:pPr marL="914400" lvl="1" indent="-457200" algn="just" rtl="0">
              <a:lnSpc>
                <a:spcPct val="90000"/>
              </a:lnSpc>
              <a:spcBef>
                <a:spcPts val="560"/>
              </a:spcBef>
              <a:spcAft>
                <a:spcPts val="0"/>
              </a:spcAft>
              <a:buClr>
                <a:schemeClr val="dk1"/>
              </a:buClr>
              <a:buSzPts val="2800"/>
              <a:buFont typeface="Calibri"/>
              <a:buAutoNum type="arabicPeriod"/>
            </a:pPr>
            <a:r>
              <a:rPr lang="en-US" dirty="0"/>
              <a:t>White-Box testing</a:t>
            </a:r>
            <a:endParaRPr dirty="0"/>
          </a:p>
          <a:p>
            <a:pPr marL="342900" lvl="0" indent="-165100" algn="just" rtl="0">
              <a:lnSpc>
                <a:spcPct val="90000"/>
              </a:lnSpc>
              <a:spcBef>
                <a:spcPts val="560"/>
              </a:spcBef>
              <a:spcAft>
                <a:spcPts val="0"/>
              </a:spcAft>
              <a:buClr>
                <a:schemeClr val="dk1"/>
              </a:buClr>
              <a:buSzPts val="2800"/>
              <a:buNone/>
            </a:pPr>
            <a:endParaRPr sz="2800" dirty="0"/>
          </a:p>
          <a:p>
            <a:pPr marL="342900" lvl="0" indent="-165100" algn="just" rtl="0">
              <a:lnSpc>
                <a:spcPct val="90000"/>
              </a:lnSpc>
              <a:spcBef>
                <a:spcPts val="560"/>
              </a:spcBef>
              <a:spcAft>
                <a:spcPts val="0"/>
              </a:spcAft>
              <a:buClr>
                <a:schemeClr val="dk1"/>
              </a:buClr>
              <a:buSzPts val="2800"/>
              <a:buNone/>
            </a:pPr>
            <a:endParaRPr sz="2800" dirty="0"/>
          </a:p>
          <a:p>
            <a:pPr marL="342900" lvl="0" indent="-165100" algn="just" rtl="0">
              <a:spcBef>
                <a:spcPts val="560"/>
              </a:spcBef>
              <a:spcAft>
                <a:spcPts val="0"/>
              </a:spcAft>
              <a:buClr>
                <a:schemeClr val="dk1"/>
              </a:buClr>
              <a:buSzPts val="2800"/>
              <a:buNone/>
            </a:pPr>
            <a:endParaRPr sz="2800" dirty="0"/>
          </a:p>
        </p:txBody>
      </p:sp>
      <p:sp>
        <p:nvSpPr>
          <p:cNvPr id="873" name="Google Shape;873;p5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874" name="Google Shape;874;p5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0DC2F-C40F-538D-C0A3-C34B819533A6}"/>
              </a:ext>
            </a:extLst>
          </p:cNvPr>
          <p:cNvSpPr>
            <a:spLocks noGrp="1"/>
          </p:cNvSpPr>
          <p:nvPr>
            <p:ph type="title"/>
          </p:nvPr>
        </p:nvSpPr>
        <p:spPr/>
        <p:txBody>
          <a:bodyPr>
            <a:normAutofit fontScale="90000"/>
          </a:bodyPr>
          <a:lstStyle/>
          <a:p>
            <a:r>
              <a:rPr lang="en-US" b="1" dirty="0"/>
              <a:t>What is Requirements-Based Testing?</a:t>
            </a:r>
            <a:br>
              <a:rPr lang="en-US" b="1" dirty="0"/>
            </a:br>
            <a:endParaRPr lang="en-MY" dirty="0"/>
          </a:p>
        </p:txBody>
      </p:sp>
      <p:sp>
        <p:nvSpPr>
          <p:cNvPr id="3" name="Text Placeholder 2">
            <a:extLst>
              <a:ext uri="{FF2B5EF4-FFF2-40B4-BE49-F238E27FC236}">
                <a16:creationId xmlns:a16="http://schemas.microsoft.com/office/drawing/2014/main" id="{C243DA65-276B-ABC5-AF2E-0914473334FC}"/>
              </a:ext>
            </a:extLst>
          </p:cNvPr>
          <p:cNvSpPr>
            <a:spLocks noGrp="1"/>
          </p:cNvSpPr>
          <p:nvPr>
            <p:ph type="body" idx="1"/>
          </p:nvPr>
        </p:nvSpPr>
        <p:spPr/>
        <p:txBody>
          <a:bodyPr>
            <a:normAutofit/>
          </a:bodyPr>
          <a:lstStyle/>
          <a:p>
            <a:pPr>
              <a:buFont typeface="Arial" panose="020B0604020202020204" pitchFamily="34" charset="0"/>
              <a:buChar char="•"/>
            </a:pPr>
            <a:r>
              <a:rPr lang="en-US" sz="2400" b="1" dirty="0">
                <a:solidFill>
                  <a:srgbClr val="FF0000"/>
                </a:solidFill>
              </a:rPr>
              <a:t>Requirements-Based Testing</a:t>
            </a:r>
            <a:r>
              <a:rPr lang="en-US" sz="2400" dirty="0">
                <a:solidFill>
                  <a:srgbClr val="FF0000"/>
                </a:solidFill>
              </a:rPr>
              <a:t> </a:t>
            </a:r>
            <a:r>
              <a:rPr lang="en-US" sz="2400" dirty="0">
                <a:solidFill>
                  <a:schemeClr val="bg2"/>
                </a:solidFill>
              </a:rPr>
              <a:t>is a type of </a:t>
            </a:r>
            <a:r>
              <a:rPr lang="en-US" sz="2400" b="1" dirty="0">
                <a:solidFill>
                  <a:srgbClr val="FF0000"/>
                </a:solidFill>
              </a:rPr>
              <a:t>Black-Box Testing</a:t>
            </a:r>
            <a:r>
              <a:rPr lang="en-US" sz="2400" dirty="0">
                <a:solidFill>
                  <a:srgbClr val="FF0000"/>
                </a:solidFill>
              </a:rPr>
              <a:t>.</a:t>
            </a:r>
          </a:p>
          <a:p>
            <a:pPr>
              <a:buFont typeface="Arial" panose="020B0604020202020204" pitchFamily="34" charset="0"/>
              <a:buChar char="•"/>
            </a:pPr>
            <a:r>
              <a:rPr lang="en-US" sz="2400" b="1" dirty="0"/>
              <a:t>Definition:</a:t>
            </a:r>
            <a:r>
              <a:rPr lang="en-US" sz="2400" dirty="0"/>
              <a:t> Requirements-based testing involves designing test cases directly from the documented requirements of a system </a:t>
            </a:r>
            <a:r>
              <a:rPr lang="en-US" sz="1600" b="1" dirty="0">
                <a:solidFill>
                  <a:srgbClr val="0070C0"/>
                </a:solidFill>
              </a:rPr>
              <a:t>(SRS)</a:t>
            </a:r>
            <a:r>
              <a:rPr lang="en-US" sz="2400" dirty="0"/>
              <a:t>. </a:t>
            </a:r>
          </a:p>
          <a:p>
            <a:pPr>
              <a:buFont typeface="Arial" panose="020B0604020202020204" pitchFamily="34" charset="0"/>
              <a:buChar char="•"/>
            </a:pPr>
            <a:r>
              <a:rPr lang="en-US" sz="2400" b="1" dirty="0"/>
              <a:t>Focus:</a:t>
            </a:r>
            <a:r>
              <a:rPr lang="en-US" sz="2400" dirty="0"/>
              <a:t> It does not consider the internal structure or implementation of the software. Instead, it verifies that the </a:t>
            </a:r>
            <a:r>
              <a:rPr lang="en-US" sz="2400" dirty="0">
                <a:solidFill>
                  <a:srgbClr val="0070C0"/>
                </a:solidFill>
              </a:rPr>
              <a:t>output </a:t>
            </a:r>
            <a:r>
              <a:rPr lang="en-US" sz="2400" dirty="0"/>
              <a:t>aligns with the </a:t>
            </a:r>
            <a:r>
              <a:rPr lang="en-US" sz="2400" dirty="0">
                <a:solidFill>
                  <a:srgbClr val="0070C0"/>
                </a:solidFill>
              </a:rPr>
              <a:t>expected results </a:t>
            </a:r>
            <a:r>
              <a:rPr lang="en-US" sz="2400" dirty="0"/>
              <a:t>based on the </a:t>
            </a:r>
            <a:r>
              <a:rPr lang="en-US" sz="2400" dirty="0">
                <a:solidFill>
                  <a:srgbClr val="0070C0"/>
                </a:solidFill>
              </a:rPr>
              <a:t>inputs specified in the requirements</a:t>
            </a:r>
            <a:r>
              <a:rPr lang="en-US" sz="2400" dirty="0"/>
              <a:t>.</a:t>
            </a:r>
          </a:p>
          <a:p>
            <a:endParaRPr lang="en-MY" sz="2400" dirty="0"/>
          </a:p>
        </p:txBody>
      </p:sp>
      <p:sp>
        <p:nvSpPr>
          <p:cNvPr id="4" name="Slide Number Placeholder 3">
            <a:extLst>
              <a:ext uri="{FF2B5EF4-FFF2-40B4-BE49-F238E27FC236}">
                <a16:creationId xmlns:a16="http://schemas.microsoft.com/office/drawing/2014/main" id="{D5C0EC81-C352-8E2A-990B-38AC7E74F0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extLst>
      <p:ext uri="{BB962C8B-B14F-4D97-AF65-F5344CB8AC3E}">
        <p14:creationId xmlns:p14="http://schemas.microsoft.com/office/powerpoint/2010/main" val="27757980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b="1" dirty="0"/>
              <a:t>Requirements-Based Testing</a:t>
            </a:r>
            <a:endParaRPr sz="4000" dirty="0"/>
          </a:p>
        </p:txBody>
      </p:sp>
      <p:sp>
        <p:nvSpPr>
          <p:cNvPr id="952" name="Google Shape;952;p5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800"/>
              <a:buChar char="•"/>
            </a:pPr>
            <a:r>
              <a:rPr lang="en-US" sz="2800" dirty="0"/>
              <a:t>A general principle of requirements engineering is that requirements should be testable</a:t>
            </a:r>
            <a:endParaRPr dirty="0"/>
          </a:p>
          <a:p>
            <a:pPr marL="342900" lvl="0" indent="-342900" algn="just" rtl="0">
              <a:spcBef>
                <a:spcPts val="560"/>
              </a:spcBef>
              <a:spcAft>
                <a:spcPts val="0"/>
              </a:spcAft>
              <a:buClr>
                <a:schemeClr val="dk1"/>
              </a:buClr>
              <a:buSzPts val="2800"/>
              <a:buChar char="•"/>
            </a:pPr>
            <a:r>
              <a:rPr lang="en-US" sz="2800" dirty="0"/>
              <a:t>Requirements-based testing is a validation testing technique where you </a:t>
            </a:r>
            <a:r>
              <a:rPr lang="en-US" sz="2800" b="1" dirty="0">
                <a:solidFill>
                  <a:srgbClr val="C00000"/>
                </a:solidFill>
              </a:rPr>
              <a:t>consider each requirement and derive a set of tests </a:t>
            </a:r>
            <a:r>
              <a:rPr lang="en-US" sz="2800" dirty="0"/>
              <a:t>for that requirement</a:t>
            </a:r>
            <a:endParaRPr dirty="0"/>
          </a:p>
          <a:p>
            <a:pPr marL="342900" lvl="0" indent="-165100" algn="just" rtl="0">
              <a:spcBef>
                <a:spcPts val="560"/>
              </a:spcBef>
              <a:spcAft>
                <a:spcPts val="0"/>
              </a:spcAft>
              <a:buClr>
                <a:schemeClr val="dk1"/>
              </a:buClr>
              <a:buSzPts val="2800"/>
              <a:buNone/>
            </a:pPr>
            <a:endParaRPr sz="2800" dirty="0"/>
          </a:p>
          <a:p>
            <a:pPr marL="342900" lvl="0" indent="-165100" algn="just" rtl="0">
              <a:spcBef>
                <a:spcPts val="560"/>
              </a:spcBef>
              <a:spcAft>
                <a:spcPts val="0"/>
              </a:spcAft>
              <a:buClr>
                <a:schemeClr val="dk1"/>
              </a:buClr>
              <a:buSzPts val="2800"/>
              <a:buNone/>
            </a:pPr>
            <a:endParaRPr sz="2800" dirty="0"/>
          </a:p>
        </p:txBody>
      </p:sp>
      <p:sp>
        <p:nvSpPr>
          <p:cNvPr id="953" name="Google Shape;953;p5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954" name="Google Shape;954;p52"/>
          <p:cNvGrpSpPr/>
          <p:nvPr/>
        </p:nvGrpSpPr>
        <p:grpSpPr>
          <a:xfrm>
            <a:off x="399449" y="4837149"/>
            <a:ext cx="8428148" cy="911151"/>
            <a:chOff x="3913" y="417549"/>
            <a:chExt cx="8428148" cy="911151"/>
          </a:xfrm>
        </p:grpSpPr>
        <p:sp>
          <p:nvSpPr>
            <p:cNvPr id="955" name="Google Shape;955;p52"/>
            <p:cNvSpPr/>
            <p:nvPr/>
          </p:nvSpPr>
          <p:spPr>
            <a:xfrm>
              <a:off x="3913" y="417549"/>
              <a:ext cx="2277878" cy="911151"/>
            </a:xfrm>
            <a:prstGeom prst="chevron">
              <a:avLst>
                <a:gd name="adj" fmla="val 50000"/>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52"/>
            <p:cNvSpPr txBox="1"/>
            <p:nvPr/>
          </p:nvSpPr>
          <p:spPr>
            <a:xfrm>
              <a:off x="459489" y="417549"/>
              <a:ext cx="1366727" cy="911151"/>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dirty="0">
                  <a:solidFill>
                    <a:schemeClr val="lt1"/>
                  </a:solidFill>
                  <a:latin typeface="Calibri"/>
                  <a:ea typeface="Calibri"/>
                  <a:cs typeface="Calibri"/>
                  <a:sym typeface="Calibri"/>
                </a:rPr>
                <a:t>Requirement </a:t>
              </a:r>
              <a:endParaRPr dirty="0"/>
            </a:p>
          </p:txBody>
        </p:sp>
        <p:sp>
          <p:nvSpPr>
            <p:cNvPr id="957" name="Google Shape;957;p52"/>
            <p:cNvSpPr/>
            <p:nvPr/>
          </p:nvSpPr>
          <p:spPr>
            <a:xfrm>
              <a:off x="2054003" y="417549"/>
              <a:ext cx="2277878" cy="911151"/>
            </a:xfrm>
            <a:prstGeom prst="chevron">
              <a:avLst>
                <a:gd name="adj" fmla="val 50000"/>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2"/>
            <p:cNvSpPr txBox="1"/>
            <p:nvPr/>
          </p:nvSpPr>
          <p:spPr>
            <a:xfrm>
              <a:off x="2509579" y="417549"/>
              <a:ext cx="1366727" cy="911151"/>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dirty="0">
                  <a:solidFill>
                    <a:schemeClr val="lt1"/>
                  </a:solidFill>
                  <a:latin typeface="Calibri"/>
                  <a:ea typeface="Calibri"/>
                  <a:cs typeface="Calibri"/>
                  <a:sym typeface="Calibri"/>
                </a:rPr>
                <a:t>Test Requirement</a:t>
              </a:r>
              <a:endParaRPr dirty="0"/>
            </a:p>
          </p:txBody>
        </p:sp>
        <p:sp>
          <p:nvSpPr>
            <p:cNvPr id="959" name="Google Shape;959;p52"/>
            <p:cNvSpPr/>
            <p:nvPr/>
          </p:nvSpPr>
          <p:spPr>
            <a:xfrm>
              <a:off x="4104093" y="417549"/>
              <a:ext cx="2277878" cy="911151"/>
            </a:xfrm>
            <a:prstGeom prst="chevron">
              <a:avLst>
                <a:gd name="adj" fmla="val 50000"/>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52"/>
            <p:cNvSpPr txBox="1"/>
            <p:nvPr/>
          </p:nvSpPr>
          <p:spPr>
            <a:xfrm>
              <a:off x="4559669" y="417549"/>
              <a:ext cx="1366727" cy="911151"/>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dirty="0">
                  <a:solidFill>
                    <a:schemeClr val="lt1"/>
                  </a:solidFill>
                  <a:latin typeface="Calibri"/>
                  <a:ea typeface="Calibri"/>
                  <a:cs typeface="Calibri"/>
                  <a:sym typeface="Calibri"/>
                </a:rPr>
                <a:t>Test </a:t>
              </a:r>
              <a:br>
                <a:rPr lang="en-US" sz="1800" dirty="0">
                  <a:solidFill>
                    <a:schemeClr val="lt1"/>
                  </a:solidFill>
                  <a:latin typeface="Calibri"/>
                  <a:ea typeface="Calibri"/>
                  <a:cs typeface="Calibri"/>
                  <a:sym typeface="Calibri"/>
                </a:rPr>
              </a:br>
              <a:r>
                <a:rPr lang="en-US" sz="1800" dirty="0">
                  <a:solidFill>
                    <a:schemeClr val="lt1"/>
                  </a:solidFill>
                  <a:latin typeface="Calibri"/>
                  <a:ea typeface="Calibri"/>
                  <a:cs typeface="Calibri"/>
                  <a:sym typeface="Calibri"/>
                </a:rPr>
                <a:t>Cases</a:t>
              </a:r>
              <a:endParaRPr dirty="0"/>
            </a:p>
          </p:txBody>
        </p:sp>
        <p:sp>
          <p:nvSpPr>
            <p:cNvPr id="961" name="Google Shape;961;p52"/>
            <p:cNvSpPr/>
            <p:nvPr/>
          </p:nvSpPr>
          <p:spPr>
            <a:xfrm>
              <a:off x="6154183" y="417549"/>
              <a:ext cx="2277878" cy="911151"/>
            </a:xfrm>
            <a:prstGeom prst="chevron">
              <a:avLst>
                <a:gd name="adj" fmla="val 50000"/>
              </a:avLst>
            </a:prstGeom>
            <a:solidFill>
              <a:srgbClr val="49ACC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52"/>
            <p:cNvSpPr txBox="1"/>
            <p:nvPr/>
          </p:nvSpPr>
          <p:spPr>
            <a:xfrm>
              <a:off x="6609759" y="417549"/>
              <a:ext cx="1366727" cy="911151"/>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Test Flows</a:t>
              </a:r>
              <a:endParaRPr/>
            </a:p>
          </p:txBody>
        </p:sp>
      </p:grpSp>
      <p:grpSp>
        <p:nvGrpSpPr>
          <p:cNvPr id="963" name="Google Shape;963;p52"/>
          <p:cNvGrpSpPr/>
          <p:nvPr/>
        </p:nvGrpSpPr>
        <p:grpSpPr>
          <a:xfrm rot="-831121">
            <a:off x="1238803" y="3953789"/>
            <a:ext cx="1698275" cy="950343"/>
            <a:chOff x="1614766" y="1203356"/>
            <a:chExt cx="1828816" cy="1430000"/>
          </a:xfrm>
        </p:grpSpPr>
        <p:sp>
          <p:nvSpPr>
            <p:cNvPr id="964" name="Google Shape;964;p52"/>
            <p:cNvSpPr/>
            <p:nvPr/>
          </p:nvSpPr>
          <p:spPr>
            <a:xfrm rot="740728">
              <a:off x="1665008" y="1799283"/>
              <a:ext cx="1728332" cy="656904"/>
            </a:xfrm>
            <a:prstGeom prst="curvedDownArrow">
              <a:avLst>
                <a:gd name="adj1" fmla="val 25000"/>
                <a:gd name="adj2" fmla="val 47757"/>
                <a:gd name="adj3" fmla="val 25000"/>
              </a:avLst>
            </a:prstGeom>
            <a:gradFill>
              <a:gsLst>
                <a:gs pos="0">
                  <a:srgbClr val="000082"/>
                </a:gs>
                <a:gs pos="30000">
                  <a:srgbClr val="66008F"/>
                </a:gs>
                <a:gs pos="64999">
                  <a:srgbClr val="BA0066"/>
                </a:gs>
                <a:gs pos="89999">
                  <a:srgbClr val="FF0000"/>
                </a:gs>
                <a:gs pos="100000">
                  <a:srgbClr val="FF8200"/>
                </a:gs>
              </a:gsLst>
              <a:lin ang="5400000" scaled="0"/>
            </a:gra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65" name="Google Shape;965;p52"/>
            <p:cNvSpPr txBox="1"/>
            <p:nvPr/>
          </p:nvSpPr>
          <p:spPr>
            <a:xfrm rot="658717">
              <a:off x="1763798" y="1351105"/>
              <a:ext cx="1584176" cy="3385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1">
                  <a:solidFill>
                    <a:schemeClr val="dk1"/>
                  </a:solidFill>
                  <a:latin typeface="Calibri"/>
                  <a:ea typeface="Calibri"/>
                  <a:cs typeface="Calibri"/>
                  <a:sym typeface="Calibri"/>
                </a:rPr>
                <a:t>generates</a:t>
              </a:r>
              <a:endParaRPr/>
            </a:p>
          </p:txBody>
        </p:sp>
      </p:grpSp>
      <p:grpSp>
        <p:nvGrpSpPr>
          <p:cNvPr id="966" name="Google Shape;966;p52"/>
          <p:cNvGrpSpPr/>
          <p:nvPr/>
        </p:nvGrpSpPr>
        <p:grpSpPr>
          <a:xfrm rot="-831121">
            <a:off x="3554258" y="4027871"/>
            <a:ext cx="1697994" cy="944699"/>
            <a:chOff x="1609710" y="1203356"/>
            <a:chExt cx="1828514" cy="1418445"/>
          </a:xfrm>
        </p:grpSpPr>
        <p:sp>
          <p:nvSpPr>
            <p:cNvPr id="967" name="Google Shape;967;p52"/>
            <p:cNvSpPr/>
            <p:nvPr/>
          </p:nvSpPr>
          <p:spPr>
            <a:xfrm rot="740728">
              <a:off x="1659801" y="1789126"/>
              <a:ext cx="1728332" cy="655490"/>
            </a:xfrm>
            <a:prstGeom prst="curvedDownArrow">
              <a:avLst>
                <a:gd name="adj1" fmla="val 25000"/>
                <a:gd name="adj2" fmla="val 47757"/>
                <a:gd name="adj3" fmla="val 25000"/>
              </a:avLst>
            </a:prstGeom>
            <a:gradFill>
              <a:gsLst>
                <a:gs pos="0">
                  <a:srgbClr val="000082"/>
                </a:gs>
                <a:gs pos="30000">
                  <a:srgbClr val="66008F"/>
                </a:gs>
                <a:gs pos="64999">
                  <a:srgbClr val="BA0066"/>
                </a:gs>
                <a:gs pos="89999">
                  <a:srgbClr val="FF0000"/>
                </a:gs>
                <a:gs pos="100000">
                  <a:srgbClr val="FF8200"/>
                </a:gs>
              </a:gsLst>
              <a:lin ang="5400000" scaled="0"/>
            </a:gra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68" name="Google Shape;968;p52"/>
            <p:cNvSpPr txBox="1"/>
            <p:nvPr/>
          </p:nvSpPr>
          <p:spPr>
            <a:xfrm rot="658717">
              <a:off x="1763798" y="1351105"/>
              <a:ext cx="1584176" cy="3385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1">
                  <a:solidFill>
                    <a:schemeClr val="dk1"/>
                  </a:solidFill>
                  <a:latin typeface="Calibri"/>
                  <a:ea typeface="Calibri"/>
                  <a:cs typeface="Calibri"/>
                  <a:sym typeface="Calibri"/>
                </a:rPr>
                <a:t>generates</a:t>
              </a:r>
              <a:endParaRPr/>
            </a:p>
          </p:txBody>
        </p:sp>
      </p:grpSp>
      <p:grpSp>
        <p:nvGrpSpPr>
          <p:cNvPr id="969" name="Google Shape;969;p52"/>
          <p:cNvGrpSpPr/>
          <p:nvPr/>
        </p:nvGrpSpPr>
        <p:grpSpPr>
          <a:xfrm rot="-831121">
            <a:off x="5859354" y="3956434"/>
            <a:ext cx="1696313" cy="944698"/>
            <a:chOff x="1609704" y="1203356"/>
            <a:chExt cx="1828513" cy="1418443"/>
          </a:xfrm>
        </p:grpSpPr>
        <p:sp>
          <p:nvSpPr>
            <p:cNvPr id="970" name="Google Shape;970;p52"/>
            <p:cNvSpPr/>
            <p:nvPr/>
          </p:nvSpPr>
          <p:spPr>
            <a:xfrm rot="740728">
              <a:off x="1659795" y="1789126"/>
              <a:ext cx="1728332" cy="655488"/>
            </a:xfrm>
            <a:prstGeom prst="curvedDownArrow">
              <a:avLst>
                <a:gd name="adj1" fmla="val 25000"/>
                <a:gd name="adj2" fmla="val 47757"/>
                <a:gd name="adj3" fmla="val 25000"/>
              </a:avLst>
            </a:prstGeom>
            <a:gradFill>
              <a:gsLst>
                <a:gs pos="0">
                  <a:srgbClr val="000082"/>
                </a:gs>
                <a:gs pos="30000">
                  <a:srgbClr val="66008F"/>
                </a:gs>
                <a:gs pos="64999">
                  <a:srgbClr val="BA0066"/>
                </a:gs>
                <a:gs pos="89999">
                  <a:srgbClr val="FF0000"/>
                </a:gs>
                <a:gs pos="100000">
                  <a:srgbClr val="FF8200"/>
                </a:gs>
              </a:gsLst>
              <a:lin ang="5400000" scaled="0"/>
            </a:gra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71" name="Google Shape;971;p52"/>
            <p:cNvSpPr txBox="1"/>
            <p:nvPr/>
          </p:nvSpPr>
          <p:spPr>
            <a:xfrm rot="658717">
              <a:off x="1763798" y="1351105"/>
              <a:ext cx="1584176" cy="3385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1">
                  <a:solidFill>
                    <a:schemeClr val="dk1"/>
                  </a:solidFill>
                  <a:latin typeface="Calibri"/>
                  <a:ea typeface="Calibri"/>
                  <a:cs typeface="Calibri"/>
                  <a:sym typeface="Calibri"/>
                </a:rPr>
                <a:t>generates</a:t>
              </a:r>
              <a:endParaRPr/>
            </a:p>
          </p:txBody>
        </p:sp>
      </p:grpSp>
      <p:sp>
        <p:nvSpPr>
          <p:cNvPr id="972" name="Google Shape;972;p5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Testing Process</a:t>
            </a:r>
            <a:endParaRPr/>
          </a:p>
        </p:txBody>
      </p:sp>
      <p:sp>
        <p:nvSpPr>
          <p:cNvPr id="792" name="Google Shape;792;p4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793" name="Google Shape;793;p48"/>
          <p:cNvPicPr preferRelativeResize="0"/>
          <p:nvPr/>
        </p:nvPicPr>
        <p:blipFill rotWithShape="1">
          <a:blip r:embed="rId3">
            <a:alphaModFix/>
          </a:blip>
          <a:srcRect/>
          <a:stretch/>
        </p:blipFill>
        <p:spPr>
          <a:xfrm>
            <a:off x="457200" y="2286000"/>
            <a:ext cx="8124826" cy="2286000"/>
          </a:xfrm>
          <a:prstGeom prst="rect">
            <a:avLst/>
          </a:prstGeom>
          <a:solidFill>
            <a:schemeClr val="lt1"/>
          </a:solidFill>
          <a:ln>
            <a:noFill/>
          </a:ln>
        </p:spPr>
      </p:pic>
      <p:sp>
        <p:nvSpPr>
          <p:cNvPr id="794" name="Google Shape;794;p4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Step 1: Collect Requirements</a:t>
            </a:r>
            <a:endParaRPr dirty="0"/>
          </a:p>
        </p:txBody>
      </p:sp>
      <p:sp>
        <p:nvSpPr>
          <p:cNvPr id="979" name="Google Shape;979;p5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980" name="Google Shape;980;p53"/>
          <p:cNvSpPr/>
          <p:nvPr/>
        </p:nvSpPr>
        <p:spPr>
          <a:xfrm>
            <a:off x="457200" y="1533411"/>
            <a:ext cx="8305800" cy="454274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Example requirements from ATM system:</a:t>
            </a:r>
          </a:p>
          <a:p>
            <a:pPr marL="342900" marR="0" lvl="0" indent="-228600" algn="l" rtl="0">
              <a:spcBef>
                <a:spcPts val="0"/>
              </a:spcBef>
              <a:spcAft>
                <a:spcPts val="0"/>
              </a:spcAft>
              <a:buClr>
                <a:schemeClr val="dk1"/>
              </a:buClr>
              <a:buSzPts val="1800"/>
              <a:buFont typeface="Arial"/>
              <a:buNone/>
            </a:pPr>
            <a:endParaRPr sz="1800" dirty="0">
              <a:solidFill>
                <a:srgbClr val="C00000"/>
              </a:solidFill>
              <a:latin typeface="Calibri"/>
              <a:ea typeface="Calibri"/>
              <a:cs typeface="Calibri"/>
              <a:sym typeface="Calibri"/>
            </a:endParaRPr>
          </a:p>
          <a:p>
            <a:pPr marL="342900" marR="0" lvl="0" indent="-342900" algn="just" rtl="0">
              <a:spcBef>
                <a:spcPts val="0"/>
              </a:spcBef>
              <a:spcAft>
                <a:spcPts val="0"/>
              </a:spcAft>
              <a:buClr>
                <a:srgbClr val="C00000"/>
              </a:buClr>
              <a:buSzPts val="1800"/>
              <a:buFont typeface="Arial"/>
              <a:buChar char="•"/>
            </a:pPr>
            <a:r>
              <a:rPr lang="en-US" sz="1800" dirty="0">
                <a:solidFill>
                  <a:srgbClr val="C00000"/>
                </a:solidFill>
                <a:latin typeface="Calibri"/>
                <a:ea typeface="Calibri"/>
                <a:cs typeface="Calibri"/>
                <a:sym typeface="Calibri"/>
              </a:rPr>
              <a:t>The ATM system must allow the customer to do withdrawal transactions, which each withdrawal is allowed only between RM10-RM300 and in RM10 multiple</a:t>
            </a:r>
            <a:endParaRPr dirty="0"/>
          </a:p>
          <a:p>
            <a:pPr marL="342900" marR="0" lvl="0" indent="-342900" algn="just" rtl="0">
              <a:spcBef>
                <a:spcPts val="0"/>
              </a:spcBef>
              <a:spcAft>
                <a:spcPts val="0"/>
              </a:spcAft>
              <a:buClr>
                <a:srgbClr val="374151"/>
              </a:buClr>
              <a:buSzPts val="1800"/>
              <a:buFont typeface="Arial"/>
              <a:buChar char="•"/>
            </a:pPr>
            <a:r>
              <a:rPr lang="en-US" sz="1800" b="0" i="0" dirty="0">
                <a:solidFill>
                  <a:srgbClr val="374151"/>
                </a:solidFill>
                <a:latin typeface="Arial"/>
                <a:ea typeface="Arial"/>
                <a:cs typeface="Arial"/>
                <a:sym typeface="Arial"/>
              </a:rPr>
              <a:t>The ATM system must provide the customer with the ability to check their account balance, displaying the current available balance on the screen.</a:t>
            </a:r>
            <a:endParaRPr dirty="0"/>
          </a:p>
          <a:p>
            <a:pPr marL="342900" marR="0" lvl="0" indent="-342900" algn="just" rtl="0">
              <a:spcBef>
                <a:spcPts val="0"/>
              </a:spcBef>
              <a:spcAft>
                <a:spcPts val="0"/>
              </a:spcAft>
              <a:buClr>
                <a:srgbClr val="374151"/>
              </a:buClr>
              <a:buSzPts val="1800"/>
              <a:buFont typeface="Arial"/>
              <a:buChar char="•"/>
            </a:pPr>
            <a:r>
              <a:rPr lang="en-US" sz="1800" b="0" i="0" dirty="0">
                <a:solidFill>
                  <a:srgbClr val="374151"/>
                </a:solidFill>
                <a:latin typeface="Arial"/>
                <a:ea typeface="Arial"/>
                <a:cs typeface="Arial"/>
                <a:sym typeface="Arial"/>
              </a:rPr>
              <a:t>The ATM system should allow customers to change their Personal Identification Number (PIN) securely. </a:t>
            </a:r>
            <a:endParaRPr sz="1800" dirty="0">
              <a:solidFill>
                <a:srgbClr val="374151"/>
              </a:solidFill>
              <a:latin typeface="Arial"/>
              <a:ea typeface="Arial"/>
              <a:cs typeface="Arial"/>
              <a:sym typeface="Arial"/>
            </a:endParaRPr>
          </a:p>
          <a:p>
            <a:pPr marL="342900" marR="0" lvl="0" indent="-342900" algn="just" rtl="0">
              <a:spcBef>
                <a:spcPts val="0"/>
              </a:spcBef>
              <a:spcAft>
                <a:spcPts val="0"/>
              </a:spcAft>
              <a:buClr>
                <a:srgbClr val="374151"/>
              </a:buClr>
              <a:buSzPts val="1800"/>
              <a:buFont typeface="Arial"/>
              <a:buChar char="•"/>
            </a:pPr>
            <a:r>
              <a:rPr lang="en-US" sz="1800" b="0" i="0" dirty="0">
                <a:solidFill>
                  <a:srgbClr val="374151"/>
                </a:solidFill>
                <a:latin typeface="Arial"/>
                <a:ea typeface="Arial"/>
                <a:cs typeface="Arial"/>
                <a:sym typeface="Arial"/>
              </a:rPr>
              <a:t>The ATM system should provide customers with the ability to request a mini statement, which displays the most recent transactions on their account, including withdrawals, deposits, and transfers.</a:t>
            </a:r>
            <a:endParaRPr dirty="0"/>
          </a:p>
          <a:p>
            <a:pPr marL="342900" marR="0" lvl="0" indent="-342900" algn="just" rtl="0">
              <a:spcBef>
                <a:spcPts val="0"/>
              </a:spcBef>
              <a:spcAft>
                <a:spcPts val="0"/>
              </a:spcAft>
              <a:buClr>
                <a:srgbClr val="374151"/>
              </a:buClr>
              <a:buSzPts val="1800"/>
              <a:buFont typeface="Arial"/>
              <a:buChar char="•"/>
            </a:pPr>
            <a:r>
              <a:rPr lang="en-US" sz="1800" b="0" i="0" dirty="0">
                <a:solidFill>
                  <a:srgbClr val="374151"/>
                </a:solidFill>
                <a:latin typeface="Arial"/>
                <a:ea typeface="Arial"/>
                <a:cs typeface="Arial"/>
                <a:sym typeface="Arial"/>
              </a:rPr>
              <a:t>The ATM system should have a mechanism to retain the customer's card temporarily in case of multiple invalid PIN attempts or suspicious activity, ensuring the security of the account.</a:t>
            </a:r>
            <a:endParaRPr sz="1800" dirty="0">
              <a:solidFill>
                <a:srgbClr val="C00000"/>
              </a:solidFill>
              <a:latin typeface="Calibri"/>
              <a:ea typeface="Calibri"/>
              <a:cs typeface="Calibri"/>
              <a:sym typeface="Calibri"/>
            </a:endParaRPr>
          </a:p>
          <a:p>
            <a:pPr marL="0" marR="0" lvl="0" indent="0" algn="l" rtl="0">
              <a:lnSpc>
                <a:spcPct val="80000"/>
              </a:lnSpc>
              <a:spcBef>
                <a:spcPts val="0"/>
              </a:spcBef>
              <a:spcAft>
                <a:spcPts val="0"/>
              </a:spcAft>
              <a:buNone/>
            </a:pPr>
            <a:endParaRPr sz="2400" b="1" i="1" dirty="0">
              <a:solidFill>
                <a:srgbClr val="830B1C"/>
              </a:solidFill>
              <a:latin typeface="Calibri"/>
              <a:ea typeface="Calibri"/>
              <a:cs typeface="Calibri"/>
              <a:sym typeface="Calibri"/>
            </a:endParaRPr>
          </a:p>
        </p:txBody>
      </p:sp>
      <p:sp>
        <p:nvSpPr>
          <p:cNvPr id="981" name="Google Shape;981;p5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a:t>Step 2: Generate Test Requirements</a:t>
            </a:r>
            <a:endParaRPr dirty="0"/>
          </a:p>
        </p:txBody>
      </p:sp>
      <p:sp>
        <p:nvSpPr>
          <p:cNvPr id="998" name="Google Shape;998;p5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90000"/>
              </a:lnSpc>
              <a:spcBef>
                <a:spcPts val="0"/>
              </a:spcBef>
              <a:spcAft>
                <a:spcPts val="0"/>
              </a:spcAft>
              <a:buClr>
                <a:schemeClr val="dk1"/>
              </a:buClr>
              <a:buSzPts val="2800"/>
              <a:buChar char="•"/>
            </a:pPr>
            <a:r>
              <a:rPr lang="en-US" sz="2800" dirty="0"/>
              <a:t>Validate that the withdrawal &gt;300 and &lt;10 is not allowed</a:t>
            </a:r>
            <a:endParaRPr dirty="0"/>
          </a:p>
          <a:p>
            <a:pPr marL="342900" lvl="0" indent="-342900" algn="just" rtl="0">
              <a:lnSpc>
                <a:spcPct val="90000"/>
              </a:lnSpc>
              <a:spcBef>
                <a:spcPts val="560"/>
              </a:spcBef>
              <a:spcAft>
                <a:spcPts val="0"/>
              </a:spcAft>
              <a:buClr>
                <a:schemeClr val="dk1"/>
              </a:buClr>
              <a:buSzPts val="2800"/>
              <a:buChar char="•"/>
            </a:pPr>
            <a:r>
              <a:rPr lang="en-US" sz="2800" dirty="0"/>
              <a:t>Validate that the withdrawal of multiple RM10, between RM10-RM300 can be done</a:t>
            </a:r>
            <a:endParaRPr dirty="0"/>
          </a:p>
          <a:p>
            <a:pPr marL="342900" lvl="0" indent="-342900" algn="just" rtl="0">
              <a:lnSpc>
                <a:spcPct val="90000"/>
              </a:lnSpc>
              <a:spcBef>
                <a:spcPts val="560"/>
              </a:spcBef>
              <a:spcAft>
                <a:spcPts val="0"/>
              </a:spcAft>
              <a:buClr>
                <a:schemeClr val="dk1"/>
              </a:buClr>
              <a:buSzPts val="2800"/>
              <a:buChar char="•"/>
            </a:pPr>
            <a:r>
              <a:rPr lang="en-US" sz="2800" dirty="0"/>
              <a:t>Validate that the withdrawal option is offered by the ATM</a:t>
            </a:r>
            <a:endParaRPr dirty="0"/>
          </a:p>
          <a:p>
            <a:pPr marL="342900" lvl="0" indent="-342900" algn="just" rtl="0">
              <a:lnSpc>
                <a:spcPct val="90000"/>
              </a:lnSpc>
              <a:spcBef>
                <a:spcPts val="560"/>
              </a:spcBef>
              <a:spcAft>
                <a:spcPts val="0"/>
              </a:spcAft>
              <a:buClr>
                <a:schemeClr val="dk1"/>
              </a:buClr>
              <a:buSzPts val="2800"/>
              <a:buChar char="•"/>
            </a:pPr>
            <a:r>
              <a:rPr lang="en-US" sz="2800" dirty="0"/>
              <a:t>Withdrawal of non-multiple RM10 is not allowed</a:t>
            </a:r>
            <a:endParaRPr dirty="0"/>
          </a:p>
          <a:p>
            <a:pPr marL="342900" lvl="0" indent="-342900" algn="just" rtl="0">
              <a:lnSpc>
                <a:spcPct val="90000"/>
              </a:lnSpc>
              <a:spcBef>
                <a:spcPts val="560"/>
              </a:spcBef>
              <a:spcAft>
                <a:spcPts val="0"/>
              </a:spcAft>
              <a:buClr>
                <a:schemeClr val="dk1"/>
              </a:buClr>
              <a:buSzPts val="2800"/>
              <a:buChar char="•"/>
            </a:pPr>
            <a:r>
              <a:rPr lang="en-US" sz="2800" dirty="0"/>
              <a:t>Validate that withdrawal is not allowed if the ATM has insufficient money</a:t>
            </a:r>
            <a:endParaRPr dirty="0"/>
          </a:p>
          <a:p>
            <a:pPr marL="342900" lvl="0" indent="-342900" algn="just" rtl="0">
              <a:lnSpc>
                <a:spcPct val="90000"/>
              </a:lnSpc>
              <a:spcBef>
                <a:spcPts val="560"/>
              </a:spcBef>
              <a:spcAft>
                <a:spcPts val="0"/>
              </a:spcAft>
              <a:buClr>
                <a:schemeClr val="dk1"/>
              </a:buClr>
              <a:buSzPts val="2800"/>
              <a:buChar char="•"/>
            </a:pPr>
            <a:r>
              <a:rPr lang="en-US" sz="2800" dirty="0"/>
              <a:t>Validate that withdrawal is not allowed if the user has insufficient balance in his account</a:t>
            </a:r>
            <a:endParaRPr dirty="0"/>
          </a:p>
          <a:p>
            <a:pPr marL="342900" lvl="0" indent="-165100" algn="just" rtl="0">
              <a:lnSpc>
                <a:spcPct val="90000"/>
              </a:lnSpc>
              <a:spcBef>
                <a:spcPts val="560"/>
              </a:spcBef>
              <a:spcAft>
                <a:spcPts val="0"/>
              </a:spcAft>
              <a:buClr>
                <a:schemeClr val="dk1"/>
              </a:buClr>
              <a:buSzPts val="2800"/>
              <a:buNone/>
            </a:pPr>
            <a:endParaRPr sz="2800" dirty="0"/>
          </a:p>
        </p:txBody>
      </p:sp>
      <p:sp>
        <p:nvSpPr>
          <p:cNvPr id="999" name="Google Shape;999;p5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000" name="Google Shape;1000;p5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a:t>Step 3: Design Test Case based on Test Requirements</a:t>
            </a:r>
            <a:endParaRPr dirty="0"/>
          </a:p>
        </p:txBody>
      </p:sp>
      <p:sp>
        <p:nvSpPr>
          <p:cNvPr id="988" name="Google Shape;988;p5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aphicFrame>
        <p:nvGraphicFramePr>
          <p:cNvPr id="989" name="Google Shape;989;p54"/>
          <p:cNvGraphicFramePr/>
          <p:nvPr/>
        </p:nvGraphicFramePr>
        <p:xfrm>
          <a:off x="609601" y="4508500"/>
          <a:ext cx="8229625" cy="1737400"/>
        </p:xfrm>
        <a:graphic>
          <a:graphicData uri="http://schemas.openxmlformats.org/drawingml/2006/table">
            <a:tbl>
              <a:tblPr>
                <a:noFill/>
                <a:tableStyleId>{C022971B-4E90-4A09-A3A9-448BFAE1A703}</a:tableStyleId>
              </a:tblPr>
              <a:tblGrid>
                <a:gridCol w="1110825">
                  <a:extLst>
                    <a:ext uri="{9D8B030D-6E8A-4147-A177-3AD203B41FA5}">
                      <a16:colId xmlns:a16="http://schemas.microsoft.com/office/drawing/2014/main" val="20000"/>
                    </a:ext>
                  </a:extLst>
                </a:gridCol>
                <a:gridCol w="1437875">
                  <a:extLst>
                    <a:ext uri="{9D8B030D-6E8A-4147-A177-3AD203B41FA5}">
                      <a16:colId xmlns:a16="http://schemas.microsoft.com/office/drawing/2014/main" val="20001"/>
                    </a:ext>
                  </a:extLst>
                </a:gridCol>
                <a:gridCol w="2107825">
                  <a:extLst>
                    <a:ext uri="{9D8B030D-6E8A-4147-A177-3AD203B41FA5}">
                      <a16:colId xmlns:a16="http://schemas.microsoft.com/office/drawing/2014/main" val="20002"/>
                    </a:ext>
                  </a:extLst>
                </a:gridCol>
                <a:gridCol w="1786550">
                  <a:extLst>
                    <a:ext uri="{9D8B030D-6E8A-4147-A177-3AD203B41FA5}">
                      <a16:colId xmlns:a16="http://schemas.microsoft.com/office/drawing/2014/main" val="20003"/>
                    </a:ext>
                  </a:extLst>
                </a:gridCol>
                <a:gridCol w="1786550">
                  <a:extLst>
                    <a:ext uri="{9D8B030D-6E8A-4147-A177-3AD203B41FA5}">
                      <a16:colId xmlns:a16="http://schemas.microsoft.com/office/drawing/2014/main" val="20004"/>
                    </a:ext>
                  </a:extLst>
                </a:gridCol>
              </a:tblGrid>
              <a:tr h="236550">
                <a:tc>
                  <a:txBody>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Case #</a:t>
                      </a:r>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25400" cap="flat" cmpd="sng">
                      <a:solidFill>
                        <a:schemeClr val="accen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dirty="0">
                          <a:solidFill>
                            <a:schemeClr val="dk1"/>
                          </a:solidFill>
                          <a:latin typeface="Calibri"/>
                          <a:ea typeface="Calibri"/>
                          <a:cs typeface="Calibri"/>
                          <a:sym typeface="Calibri"/>
                        </a:rPr>
                        <a:t>(Data Value) entered</a:t>
                      </a:r>
                      <a:endParaRPr dirty="0"/>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25400" cap="flat" cmpd="sng">
                      <a:solidFill>
                        <a:schemeClr val="accen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Expected Results</a:t>
                      </a:r>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25400" cap="flat" cmpd="sng">
                      <a:solidFill>
                        <a:schemeClr val="accen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Actual Results</a:t>
                      </a:r>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25400" cap="flat" cmpd="sng">
                      <a:solidFill>
                        <a:schemeClr val="accen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Pass/Fail</a:t>
                      </a:r>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25400"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236550">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254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254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254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254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254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extLst>
                  <a:ext uri="{0D108BD9-81ED-4DB2-BD59-A6C34878D82A}">
                    <a16:rowId xmlns:a16="http://schemas.microsoft.com/office/drawing/2014/main" val="10001"/>
                  </a:ext>
                </a:extLst>
              </a:tr>
              <a:tr h="236550">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tcPr>
                </a:tc>
                <a:extLst>
                  <a:ext uri="{0D108BD9-81ED-4DB2-BD59-A6C34878D82A}">
                    <a16:rowId xmlns:a16="http://schemas.microsoft.com/office/drawing/2014/main" val="10002"/>
                  </a:ext>
                </a:extLst>
              </a:tr>
              <a:tr h="236550">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Calibri"/>
                        <a:ea typeface="Calibri"/>
                        <a:cs typeface="Calibri"/>
                        <a:sym typeface="Calibri"/>
                      </a:endParaRPr>
                    </a:p>
                  </a:txBody>
                  <a:tcPr marL="91450" marR="91450" marT="45725" marB="45725">
                    <a:lnL w="12700" cap="flat" cmpd="sng">
                      <a:solidFill>
                        <a:schemeClr val="accent2"/>
                      </a:solidFill>
                      <a:prstDash val="solid"/>
                      <a:round/>
                      <a:headEnd type="none" w="sm" len="sm"/>
                      <a:tailEnd type="none" w="sm" len="sm"/>
                    </a:lnL>
                    <a:lnR w="12700" cap="flat" cmpd="sng">
                      <a:solidFill>
                        <a:schemeClr val="accent2"/>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solidFill>
                      <a:prstDash val="solid"/>
                      <a:round/>
                      <a:headEnd type="none" w="sm" len="sm"/>
                      <a:tailEnd type="none" w="sm" len="sm"/>
                    </a:lnB>
                    <a:solidFill>
                      <a:schemeClr val="accent2">
                        <a:alpha val="20000"/>
                      </a:schemeClr>
                    </a:solidFill>
                  </a:tcPr>
                </a:tc>
                <a:extLst>
                  <a:ext uri="{0D108BD9-81ED-4DB2-BD59-A6C34878D82A}">
                    <a16:rowId xmlns:a16="http://schemas.microsoft.com/office/drawing/2014/main" val="10003"/>
                  </a:ext>
                </a:extLst>
              </a:tr>
            </a:tbl>
          </a:graphicData>
        </a:graphic>
      </p:graphicFrame>
      <p:sp>
        <p:nvSpPr>
          <p:cNvPr id="990" name="Google Shape;990;p54"/>
          <p:cNvSpPr/>
          <p:nvPr/>
        </p:nvSpPr>
        <p:spPr>
          <a:xfrm>
            <a:off x="228600" y="1533411"/>
            <a:ext cx="6432176" cy="2512676"/>
          </a:xfrm>
          <a:prstGeom prst="rect">
            <a:avLst/>
          </a:prstGeom>
          <a:noFill/>
          <a:ln>
            <a:noFill/>
          </a:ln>
        </p:spPr>
        <p:txBody>
          <a:bodyPr spcFirstLastPara="1" wrap="square" lIns="91425" tIns="45700" rIns="91425" bIns="45700" anchor="t" anchorCtr="0">
            <a:spAutoFit/>
          </a:bodyPr>
          <a:lstStyle/>
          <a:p>
            <a:pPr marL="342900" marR="0" lvl="0" indent="-342900" algn="l" rtl="0">
              <a:lnSpc>
                <a:spcPct val="80000"/>
              </a:lnSpc>
              <a:spcBef>
                <a:spcPts val="0"/>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Select requirement: </a:t>
            </a:r>
            <a:br>
              <a:rPr lang="en-US" sz="2400" dirty="0">
                <a:solidFill>
                  <a:schemeClr val="dk1"/>
                </a:solidFill>
                <a:latin typeface="Calibri"/>
                <a:ea typeface="Calibri"/>
                <a:cs typeface="Calibri"/>
                <a:sym typeface="Calibri"/>
              </a:rPr>
            </a:br>
            <a:r>
              <a:rPr lang="en-US" sz="2400" b="1" i="1" dirty="0">
                <a:solidFill>
                  <a:srgbClr val="C00000"/>
                </a:solidFill>
                <a:latin typeface="Calibri"/>
                <a:ea typeface="Calibri"/>
                <a:cs typeface="Calibri"/>
                <a:sym typeface="Calibri"/>
              </a:rPr>
              <a:t>“The ATM system must allow the customer to do withdrawal transaction, which each withdrawal is allowed only between RM10-RM300 and in RM10 multiple”</a:t>
            </a:r>
            <a:endParaRPr dirty="0"/>
          </a:p>
          <a:p>
            <a:pPr marL="0" marR="0" lvl="0" indent="0" algn="l" rtl="0">
              <a:lnSpc>
                <a:spcPct val="80000"/>
              </a:lnSpc>
              <a:spcBef>
                <a:spcPts val="0"/>
              </a:spcBef>
              <a:spcAft>
                <a:spcPts val="0"/>
              </a:spcAft>
              <a:buNone/>
            </a:pPr>
            <a:endParaRPr sz="2400" b="1" i="1" dirty="0">
              <a:solidFill>
                <a:srgbClr val="830B1C"/>
              </a:solidFill>
              <a:latin typeface="Calibri"/>
              <a:ea typeface="Calibri"/>
              <a:cs typeface="Calibri"/>
              <a:sym typeface="Calibri"/>
            </a:endParaRPr>
          </a:p>
          <a:p>
            <a:pPr marL="0" marR="0" lvl="0" indent="-152400" algn="l" rtl="0">
              <a:lnSpc>
                <a:spcPct val="80000"/>
              </a:lnSpc>
              <a:spcBef>
                <a:spcPts val="0"/>
              </a:spcBef>
              <a:spcAft>
                <a:spcPts val="0"/>
              </a:spcAft>
              <a:buClr>
                <a:schemeClr val="dk1"/>
              </a:buClr>
              <a:buSzPts val="2400"/>
              <a:buFont typeface="Calibri"/>
              <a:buAutoNum type="arabicPeriod"/>
            </a:pPr>
            <a:r>
              <a:rPr lang="en-US" sz="2400" dirty="0">
                <a:solidFill>
                  <a:schemeClr val="dk1"/>
                </a:solidFill>
                <a:latin typeface="Calibri"/>
                <a:ea typeface="Calibri"/>
                <a:cs typeface="Calibri"/>
                <a:sym typeface="Calibri"/>
              </a:rPr>
              <a:t> Derive the Test Requirement(s) - TR</a:t>
            </a:r>
            <a:endParaRPr dirty="0"/>
          </a:p>
          <a:p>
            <a:pPr marL="0" marR="0" lvl="0" indent="-152400" algn="l" rtl="0">
              <a:lnSpc>
                <a:spcPct val="80000"/>
              </a:lnSpc>
              <a:spcBef>
                <a:spcPts val="0"/>
              </a:spcBef>
              <a:spcAft>
                <a:spcPts val="0"/>
              </a:spcAft>
              <a:buClr>
                <a:schemeClr val="dk1"/>
              </a:buClr>
              <a:buSzPts val="2400"/>
              <a:buFont typeface="Calibri"/>
              <a:buAutoNum type="arabicPeriod"/>
            </a:pPr>
            <a:r>
              <a:rPr lang="en-US" sz="2400" dirty="0">
                <a:solidFill>
                  <a:schemeClr val="dk1"/>
                </a:solidFill>
                <a:latin typeface="Calibri"/>
                <a:ea typeface="Calibri"/>
                <a:cs typeface="Calibri"/>
                <a:sym typeface="Calibri"/>
              </a:rPr>
              <a:t> Choose ONE TR, then design a set of Test Cases</a:t>
            </a:r>
            <a:endParaRPr dirty="0"/>
          </a:p>
        </p:txBody>
      </p:sp>
      <p:sp>
        <p:nvSpPr>
          <p:cNvPr id="991" name="Google Shape;991;p54"/>
          <p:cNvSpPr/>
          <p:nvPr/>
        </p:nvSpPr>
        <p:spPr>
          <a:xfrm>
            <a:off x="6477000" y="1381597"/>
            <a:ext cx="2590800" cy="2286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64806" y="118500"/>
                </a:moveTo>
                <a:lnTo>
                  <a:pt x="68740" y="136024"/>
                </a:lnTo>
                <a:lnTo>
                  <a:pt x="66192" y="163864"/>
                </a:lnTo>
              </a:path>
            </a:pathLst>
          </a:custGeom>
          <a:solidFill>
            <a:schemeClr val="lt2"/>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When designing the test cases, the Actual Results &amp; Pass / Fail columns are left empty. These columns are filled in as tests are executed. </a:t>
            </a:r>
            <a:endParaRPr/>
          </a:p>
          <a:p>
            <a:pPr marL="0" marR="0" lvl="0" indent="0" algn="ctr" rtl="0">
              <a:spcBef>
                <a:spcPts val="0"/>
              </a:spcBef>
              <a:spcAft>
                <a:spcPts val="0"/>
              </a:spcAft>
              <a:buNone/>
            </a:pPr>
            <a:r>
              <a:rPr lang="en-US" sz="1800">
                <a:solidFill>
                  <a:schemeClr val="dk1"/>
                </a:solidFill>
                <a:latin typeface="Calibri"/>
                <a:ea typeface="Calibri"/>
                <a:cs typeface="Calibri"/>
                <a:sym typeface="Calibri"/>
              </a:rPr>
              <a:t>*Pass when expected = actual</a:t>
            </a:r>
            <a:endParaRPr/>
          </a:p>
        </p:txBody>
      </p:sp>
      <p:sp>
        <p:nvSpPr>
          <p:cNvPr id="992" name="Google Shape;992;p5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Step 4: List out all Test Cases</a:t>
            </a:r>
            <a:endParaRPr dirty="0"/>
          </a:p>
        </p:txBody>
      </p:sp>
      <p:sp>
        <p:nvSpPr>
          <p:cNvPr id="1006" name="Google Shape;1006;p5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aphicFrame>
        <p:nvGraphicFramePr>
          <p:cNvPr id="1007" name="Google Shape;1007;p56"/>
          <p:cNvGraphicFramePr/>
          <p:nvPr/>
        </p:nvGraphicFramePr>
        <p:xfrm>
          <a:off x="914400" y="2529439"/>
          <a:ext cx="7467600" cy="3871400"/>
        </p:xfrm>
        <a:graphic>
          <a:graphicData uri="http://schemas.openxmlformats.org/drawingml/2006/table">
            <a:tbl>
              <a:tblPr>
                <a:noFill/>
                <a:tableStyleId>{C022971B-4E90-4A09-A3A9-448BFAE1A703}</a:tableStyleId>
              </a:tblPr>
              <a:tblGrid>
                <a:gridCol w="937925">
                  <a:extLst>
                    <a:ext uri="{9D8B030D-6E8A-4147-A177-3AD203B41FA5}">
                      <a16:colId xmlns:a16="http://schemas.microsoft.com/office/drawing/2014/main" val="20000"/>
                    </a:ext>
                  </a:extLst>
                </a:gridCol>
                <a:gridCol w="1191400">
                  <a:extLst>
                    <a:ext uri="{9D8B030D-6E8A-4147-A177-3AD203B41FA5}">
                      <a16:colId xmlns:a16="http://schemas.microsoft.com/office/drawing/2014/main" val="20001"/>
                    </a:ext>
                  </a:extLst>
                </a:gridCol>
                <a:gridCol w="2137875">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tblGrid>
              <a:tr h="649525">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TC ID</a:t>
                      </a:r>
                      <a:endParaRPr sz="1800" b="1" i="0" u="none" strike="noStrike" cap="none">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RM entered</a:t>
                      </a:r>
                      <a:endParaRPr sz="1800" b="1" i="0" u="none" strike="noStrike" cap="none">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Expected Results</a:t>
                      </a:r>
                      <a:endParaRPr sz="1800" b="1" i="0" u="none" strike="noStrike" cap="none">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Actual Results</a:t>
                      </a:r>
                      <a:endParaRPr sz="1800" b="1" i="0" u="none" strike="noStrike" cap="none">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Pass/Fail</a:t>
                      </a:r>
                      <a:endParaRPr sz="1800" b="1" i="0" u="none" strike="noStrike" cap="none">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415625">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WD01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dirty="0">
                          <a:solidFill>
                            <a:srgbClr val="000000"/>
                          </a:solidFill>
                          <a:latin typeface="Calibri"/>
                          <a:ea typeface="Calibri"/>
                          <a:cs typeface="Calibri"/>
                          <a:sym typeface="Calibri"/>
                        </a:rPr>
                        <a:t>RM10 withdrawn</a:t>
                      </a:r>
                      <a:endParaRPr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extLst>
                  <a:ext uri="{0D108BD9-81ED-4DB2-BD59-A6C34878D82A}">
                    <a16:rowId xmlns:a16="http://schemas.microsoft.com/office/drawing/2014/main" val="10001"/>
                  </a:ext>
                </a:extLst>
              </a:tr>
              <a:tr h="728125">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WD02</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RM20 withdrawn</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extLst>
                  <a:ext uri="{0D108BD9-81ED-4DB2-BD59-A6C34878D82A}">
                    <a16:rowId xmlns:a16="http://schemas.microsoft.com/office/drawing/2014/main" val="10002"/>
                  </a:ext>
                </a:extLst>
              </a:tr>
              <a:tr h="415625">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WD03</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RM30 withdrawn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extLst>
                  <a:ext uri="{0D108BD9-81ED-4DB2-BD59-A6C34878D82A}">
                    <a16:rowId xmlns:a16="http://schemas.microsoft.com/office/drawing/2014/main" val="10003"/>
                  </a:ext>
                </a:extLst>
              </a:tr>
              <a:tr h="415625">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extLst>
                  <a:ext uri="{0D108BD9-81ED-4DB2-BD59-A6C34878D82A}">
                    <a16:rowId xmlns:a16="http://schemas.microsoft.com/office/drawing/2014/main" val="10004"/>
                  </a:ext>
                </a:extLst>
              </a:tr>
              <a:tr h="415625">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WD29</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290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RM290 withdrawn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extLst>
                  <a:ext uri="{0D108BD9-81ED-4DB2-BD59-A6C34878D82A}">
                    <a16:rowId xmlns:a16="http://schemas.microsoft.com/office/drawing/2014/main" val="10005"/>
                  </a:ext>
                </a:extLst>
              </a:tr>
              <a:tr h="415625">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WD30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300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RM300 withdrawn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tc>
                  <a:txBody>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4E9E9"/>
                    </a:solidFill>
                  </a:tcPr>
                </a:tc>
                <a:extLst>
                  <a:ext uri="{0D108BD9-81ED-4DB2-BD59-A6C34878D82A}">
                    <a16:rowId xmlns:a16="http://schemas.microsoft.com/office/drawing/2014/main" val="10006"/>
                  </a:ext>
                </a:extLst>
              </a:tr>
              <a:tr h="415625">
                <a:tc>
                  <a:txBody>
                    <a:bodyPr/>
                    <a:lstStyle/>
                    <a:p>
                      <a:pPr marL="0" marR="0" lvl="0" indent="0" algn="ctr"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WD31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ctr"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301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Error Display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dirty="0">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D0D0"/>
                    </a:solidFill>
                  </a:tcPr>
                </a:tc>
                <a:extLst>
                  <a:ext uri="{0D108BD9-81ED-4DB2-BD59-A6C34878D82A}">
                    <a16:rowId xmlns:a16="http://schemas.microsoft.com/office/drawing/2014/main" val="10007"/>
                  </a:ext>
                </a:extLst>
              </a:tr>
            </a:tbl>
          </a:graphicData>
        </a:graphic>
      </p:graphicFrame>
      <p:sp>
        <p:nvSpPr>
          <p:cNvPr id="1008" name="Google Shape;1008;p56"/>
          <p:cNvSpPr/>
          <p:nvPr/>
        </p:nvSpPr>
        <p:spPr>
          <a:xfrm>
            <a:off x="1066800" y="1676400"/>
            <a:ext cx="7017123"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C00000"/>
                </a:solidFill>
                <a:latin typeface="Calibri"/>
                <a:ea typeface="Calibri"/>
                <a:cs typeface="Calibri"/>
                <a:sym typeface="Calibri"/>
              </a:rPr>
              <a:t>“Validate that a withdrawal of a multiple RM10, between RM10-RM300 can be done”</a:t>
            </a:r>
            <a:endParaRPr sz="2400" b="1" i="1">
              <a:solidFill>
                <a:srgbClr val="C00000"/>
              </a:solidFill>
              <a:latin typeface="Calibri"/>
              <a:ea typeface="Calibri"/>
              <a:cs typeface="Calibri"/>
              <a:sym typeface="Calibri"/>
            </a:endParaRPr>
          </a:p>
        </p:txBody>
      </p:sp>
      <p:sp>
        <p:nvSpPr>
          <p:cNvPr id="1009" name="Google Shape;1009;p56"/>
          <p:cNvSpPr/>
          <p:nvPr/>
        </p:nvSpPr>
        <p:spPr>
          <a:xfrm>
            <a:off x="5758543" y="3352800"/>
            <a:ext cx="3352800" cy="16002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20000" y="120000"/>
                </a:lnTo>
                <a:lnTo>
                  <a:pt x="-28891" y="218435"/>
                </a:lnTo>
              </a:path>
            </a:pathLst>
          </a:custGeom>
          <a:solidFill>
            <a:schemeClr val="lt2"/>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0000"/>
                </a:solidFill>
                <a:latin typeface="Calibri"/>
                <a:ea typeface="Calibri"/>
                <a:cs typeface="Calibri"/>
                <a:sym typeface="Calibri"/>
              </a:rPr>
              <a:t>For WD31, if Error Display is expected (Expected Result), and what you get for Actual result is the same, i.e. Error Display, would this test be considered as Pass? Or Fail?</a:t>
            </a:r>
            <a:endParaRPr/>
          </a:p>
        </p:txBody>
      </p:sp>
      <p:sp>
        <p:nvSpPr>
          <p:cNvPr id="1010" name="Google Shape;1010;p5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57"/>
          <p:cNvSpPr txBox="1">
            <a:spLocks noGrp="1"/>
          </p:cNvSpPr>
          <p:nvPr>
            <p:ph type="title"/>
          </p:nvPr>
        </p:nvSpPr>
        <p:spPr>
          <a:xfrm>
            <a:off x="457200" y="304800"/>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a:t>Difference Test Scenario/ Steps and Script</a:t>
            </a:r>
            <a:endParaRPr dirty="0"/>
          </a:p>
        </p:txBody>
      </p:sp>
      <p:sp>
        <p:nvSpPr>
          <p:cNvPr id="1016" name="Google Shape;1016;p5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017" name="Google Shape;1017;p57"/>
          <p:cNvSpPr txBox="1">
            <a:spLocks noGrp="1"/>
          </p:cNvSpPr>
          <p:nvPr>
            <p:ph type="body" idx="2"/>
          </p:nvPr>
        </p:nvSpPr>
        <p:spPr>
          <a:xfrm>
            <a:off x="423333" y="1600200"/>
            <a:ext cx="4040188" cy="3951288"/>
          </a:xfrm>
          <a:prstGeom prst="rect">
            <a:avLst/>
          </a:prstGeom>
          <a:solidFill>
            <a:srgbClr val="DAEEF3"/>
          </a:solid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b="1" dirty="0"/>
              <a:t>Flow/Procedure:</a:t>
            </a:r>
            <a:endParaRPr dirty="0"/>
          </a:p>
          <a:p>
            <a:pPr marL="742950" lvl="1" indent="-285750" algn="l" rtl="0">
              <a:spcBef>
                <a:spcPts val="400"/>
              </a:spcBef>
              <a:spcAft>
                <a:spcPts val="0"/>
              </a:spcAft>
              <a:buClr>
                <a:schemeClr val="dk1"/>
              </a:buClr>
              <a:buSzPts val="2000"/>
              <a:buChar char="–"/>
            </a:pPr>
            <a:r>
              <a:rPr lang="en-US" sz="2000" dirty="0"/>
              <a:t>Step 1: Insert Card</a:t>
            </a:r>
            <a:endParaRPr dirty="0"/>
          </a:p>
          <a:p>
            <a:pPr marL="742950" lvl="1" indent="-285750" algn="l" rtl="0">
              <a:spcBef>
                <a:spcPts val="400"/>
              </a:spcBef>
              <a:spcAft>
                <a:spcPts val="0"/>
              </a:spcAft>
              <a:buClr>
                <a:schemeClr val="dk1"/>
              </a:buClr>
              <a:buSzPts val="2000"/>
              <a:buChar char="–"/>
            </a:pPr>
            <a:r>
              <a:rPr lang="en-US" sz="2000" dirty="0"/>
              <a:t>Step 2: Enter PIN</a:t>
            </a:r>
            <a:endParaRPr dirty="0"/>
          </a:p>
          <a:p>
            <a:pPr marL="742950" lvl="1" indent="-285750" algn="l" rtl="0">
              <a:spcBef>
                <a:spcPts val="400"/>
              </a:spcBef>
              <a:spcAft>
                <a:spcPts val="0"/>
              </a:spcAft>
              <a:buClr>
                <a:schemeClr val="dk1"/>
              </a:buClr>
              <a:buSzPts val="2000"/>
              <a:buChar char="–"/>
            </a:pPr>
            <a:r>
              <a:rPr lang="en-US" sz="2000" dirty="0"/>
              <a:t>Step 3: Select Withdraw option</a:t>
            </a:r>
            <a:endParaRPr dirty="0"/>
          </a:p>
          <a:p>
            <a:pPr marL="742950" lvl="1" indent="-285750" algn="l" rtl="0">
              <a:spcBef>
                <a:spcPts val="400"/>
              </a:spcBef>
              <a:spcAft>
                <a:spcPts val="0"/>
              </a:spcAft>
              <a:buClr>
                <a:schemeClr val="dk1"/>
              </a:buClr>
              <a:buSzPts val="2000"/>
              <a:buChar char="–"/>
            </a:pPr>
            <a:r>
              <a:rPr lang="en-US" sz="2000" dirty="0"/>
              <a:t>Step 4: Enter amount</a:t>
            </a:r>
            <a:endParaRPr dirty="0"/>
          </a:p>
          <a:p>
            <a:pPr marL="742950" lvl="1" indent="-285750" algn="l" rtl="0">
              <a:spcBef>
                <a:spcPts val="400"/>
              </a:spcBef>
              <a:spcAft>
                <a:spcPts val="0"/>
              </a:spcAft>
              <a:buClr>
                <a:schemeClr val="dk1"/>
              </a:buClr>
              <a:buSzPts val="2000"/>
              <a:buChar char="–"/>
            </a:pPr>
            <a:r>
              <a:rPr lang="en-US" sz="2000" dirty="0"/>
              <a:t>Step 5: Validate amount received</a:t>
            </a:r>
            <a:endParaRPr dirty="0"/>
          </a:p>
        </p:txBody>
      </p:sp>
      <p:sp>
        <p:nvSpPr>
          <p:cNvPr id="1018" name="Google Shape;1018;p57"/>
          <p:cNvSpPr txBox="1">
            <a:spLocks noGrp="1"/>
          </p:cNvSpPr>
          <p:nvPr>
            <p:ph type="body" idx="4294967295"/>
          </p:nvPr>
        </p:nvSpPr>
        <p:spPr>
          <a:xfrm>
            <a:off x="4653492" y="1608667"/>
            <a:ext cx="4041775" cy="3951288"/>
          </a:xfrm>
          <a:prstGeom prst="rect">
            <a:avLst/>
          </a:prstGeom>
          <a:solidFill>
            <a:srgbClr val="DAEEF3"/>
          </a:solid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b="1" dirty="0"/>
              <a:t>Script: (in pseudo-code)</a:t>
            </a:r>
            <a:endParaRPr dirty="0"/>
          </a:p>
          <a:p>
            <a:pPr marL="742950" lvl="1" indent="-285750" algn="l" rtl="0">
              <a:spcBef>
                <a:spcPts val="400"/>
              </a:spcBef>
              <a:spcAft>
                <a:spcPts val="0"/>
              </a:spcAft>
              <a:buClr>
                <a:schemeClr val="dk1"/>
              </a:buClr>
              <a:buSzPts val="2000"/>
              <a:buChar char="–"/>
            </a:pPr>
            <a:r>
              <a:rPr lang="en-US" sz="2000" dirty="0"/>
              <a:t>Do until EOF</a:t>
            </a:r>
            <a:endParaRPr dirty="0"/>
          </a:p>
          <a:p>
            <a:pPr marL="1143000" lvl="2" indent="-228600" algn="l" rtl="0">
              <a:spcBef>
                <a:spcPts val="400"/>
              </a:spcBef>
              <a:spcAft>
                <a:spcPts val="0"/>
              </a:spcAft>
              <a:buClr>
                <a:schemeClr val="dk1"/>
              </a:buClr>
              <a:buSzPts val="2000"/>
              <a:buChar char="•"/>
            </a:pPr>
            <a:r>
              <a:rPr lang="en-US" sz="2000" dirty="0"/>
              <a:t>Input data record</a:t>
            </a:r>
            <a:endParaRPr dirty="0"/>
          </a:p>
          <a:p>
            <a:pPr marL="1143000" lvl="2" indent="-228600" algn="l" rtl="0">
              <a:spcBef>
                <a:spcPts val="400"/>
              </a:spcBef>
              <a:spcAft>
                <a:spcPts val="0"/>
              </a:spcAft>
              <a:buClr>
                <a:schemeClr val="dk1"/>
              </a:buClr>
              <a:buSzPts val="2000"/>
              <a:buChar char="•"/>
            </a:pPr>
            <a:r>
              <a:rPr lang="en-US" sz="2000" dirty="0"/>
              <a:t>Send data CARDINFOR to “</a:t>
            </a:r>
            <a:r>
              <a:rPr lang="en-US" sz="2000" dirty="0" err="1"/>
              <a:t>Card_field</a:t>
            </a:r>
            <a:r>
              <a:rPr lang="en-US" sz="2000" dirty="0"/>
              <a:t>”</a:t>
            </a:r>
            <a:endParaRPr sz="2000" dirty="0"/>
          </a:p>
          <a:p>
            <a:pPr marL="1143000" lvl="2" indent="-228600" algn="l" rtl="0">
              <a:spcBef>
                <a:spcPts val="400"/>
              </a:spcBef>
              <a:spcAft>
                <a:spcPts val="0"/>
              </a:spcAft>
              <a:buClr>
                <a:schemeClr val="dk1"/>
              </a:buClr>
              <a:buSzPts val="2000"/>
              <a:buChar char="•"/>
            </a:pPr>
            <a:r>
              <a:rPr lang="en-US" sz="2000" dirty="0"/>
              <a:t>Send data “Enter”</a:t>
            </a:r>
            <a:endParaRPr sz="2000" dirty="0"/>
          </a:p>
          <a:p>
            <a:pPr marL="1143000" lvl="2" indent="-228600" algn="l" rtl="0">
              <a:spcBef>
                <a:spcPts val="400"/>
              </a:spcBef>
              <a:spcAft>
                <a:spcPts val="0"/>
              </a:spcAft>
              <a:buClr>
                <a:schemeClr val="dk1"/>
              </a:buClr>
              <a:buSzPts val="2000"/>
              <a:buChar char="•"/>
            </a:pPr>
            <a:r>
              <a:rPr lang="en-US" sz="2000" dirty="0"/>
              <a:t>:</a:t>
            </a:r>
            <a:endParaRPr dirty="0"/>
          </a:p>
          <a:p>
            <a:pPr marL="1143000" lvl="2" indent="-228600" algn="l" rtl="0">
              <a:spcBef>
                <a:spcPts val="400"/>
              </a:spcBef>
              <a:spcAft>
                <a:spcPts val="0"/>
              </a:spcAft>
              <a:buClr>
                <a:schemeClr val="dk1"/>
              </a:buClr>
              <a:buSzPts val="2000"/>
              <a:buChar char="•"/>
            </a:pPr>
            <a:r>
              <a:rPr lang="en-US" sz="2000" dirty="0"/>
              <a:t>:</a:t>
            </a:r>
            <a:endParaRPr dirty="0"/>
          </a:p>
          <a:p>
            <a:pPr marL="1143000" lvl="2" indent="-228600" algn="l" rtl="0">
              <a:spcBef>
                <a:spcPts val="400"/>
              </a:spcBef>
              <a:spcAft>
                <a:spcPts val="0"/>
              </a:spcAft>
              <a:buClr>
                <a:schemeClr val="dk1"/>
              </a:buClr>
              <a:buSzPts val="2000"/>
              <a:buChar char="•"/>
            </a:pPr>
            <a:r>
              <a:rPr lang="en-US" sz="2000" dirty="0"/>
              <a:t>:</a:t>
            </a:r>
            <a:endParaRPr dirty="0"/>
          </a:p>
          <a:p>
            <a:pPr marL="1143000" lvl="2" indent="-101600" algn="l" rtl="0">
              <a:spcBef>
                <a:spcPts val="400"/>
              </a:spcBef>
              <a:spcAft>
                <a:spcPts val="0"/>
              </a:spcAft>
              <a:buClr>
                <a:schemeClr val="dk1"/>
              </a:buClr>
              <a:buSzPts val="2000"/>
              <a:buNone/>
            </a:pPr>
            <a:endParaRPr sz="2000" dirty="0"/>
          </a:p>
          <a:p>
            <a:pPr marL="1143000" lvl="2" indent="-228600" algn="l" rtl="0">
              <a:spcBef>
                <a:spcPts val="400"/>
              </a:spcBef>
              <a:spcAft>
                <a:spcPts val="0"/>
              </a:spcAft>
              <a:buClr>
                <a:schemeClr val="dk1"/>
              </a:buClr>
              <a:buSzPts val="2000"/>
              <a:buFont typeface="Calibri"/>
              <a:buNone/>
            </a:pPr>
            <a:endParaRPr sz="2000" dirty="0"/>
          </a:p>
        </p:txBody>
      </p:sp>
      <p:sp>
        <p:nvSpPr>
          <p:cNvPr id="1019" name="Google Shape;1019;p57"/>
          <p:cNvSpPr/>
          <p:nvPr/>
        </p:nvSpPr>
        <p:spPr>
          <a:xfrm>
            <a:off x="1376627" y="4844722"/>
            <a:ext cx="2133600" cy="1219200"/>
          </a:xfrm>
          <a:prstGeom prst="star7">
            <a:avLst>
              <a:gd name="adj" fmla="val 34601"/>
              <a:gd name="hf" fmla="val 102572"/>
              <a:gd name="vf" fmla="val 105210"/>
            </a:avLst>
          </a:prstGeom>
          <a:solidFill>
            <a:srgbClr val="5F497A"/>
          </a:solidFill>
          <a:ln w="25400" cap="flat" cmpd="sng">
            <a:solidFill>
              <a:srgbClr val="830B1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FEFFCF"/>
                </a:solidFill>
                <a:latin typeface="Calibri"/>
                <a:ea typeface="Calibri"/>
                <a:cs typeface="Calibri"/>
                <a:sym typeface="Calibri"/>
              </a:rPr>
              <a:t>Think Manual !</a:t>
            </a:r>
            <a:endParaRPr/>
          </a:p>
        </p:txBody>
      </p:sp>
      <p:sp>
        <p:nvSpPr>
          <p:cNvPr id="1020" name="Google Shape;1020;p57"/>
          <p:cNvSpPr/>
          <p:nvPr/>
        </p:nvSpPr>
        <p:spPr>
          <a:xfrm>
            <a:off x="5289177" y="4972395"/>
            <a:ext cx="2743200" cy="1219200"/>
          </a:xfrm>
          <a:prstGeom prst="star7">
            <a:avLst>
              <a:gd name="adj" fmla="val 34601"/>
              <a:gd name="hf" fmla="val 102572"/>
              <a:gd name="vf" fmla="val 105210"/>
            </a:avLst>
          </a:prstGeom>
          <a:solidFill>
            <a:srgbClr val="E36C09"/>
          </a:solidFill>
          <a:ln w="25400" cap="flat" cmpd="sng">
            <a:solidFill>
              <a:srgbClr val="205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FEFFCF"/>
                </a:solidFill>
                <a:latin typeface="Calibri"/>
                <a:ea typeface="Calibri"/>
                <a:cs typeface="Calibri"/>
                <a:sym typeface="Calibri"/>
              </a:rPr>
              <a:t>Think Automated!</a:t>
            </a:r>
            <a:endParaRPr/>
          </a:p>
        </p:txBody>
      </p:sp>
      <p:sp>
        <p:nvSpPr>
          <p:cNvPr id="1021" name="Google Shape;1021;p5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90">
          <a:extLst>
            <a:ext uri="{FF2B5EF4-FFF2-40B4-BE49-F238E27FC236}">
              <a16:creationId xmlns:a16="http://schemas.microsoft.com/office/drawing/2014/main" id="{969DAC21-8DE9-96D1-170F-8599E783F10B}"/>
            </a:ext>
          </a:extLst>
        </p:cNvPr>
        <p:cNvGrpSpPr/>
        <p:nvPr/>
      </p:nvGrpSpPr>
      <p:grpSpPr>
        <a:xfrm>
          <a:off x="0" y="0"/>
          <a:ext cx="0" cy="0"/>
          <a:chOff x="0" y="0"/>
          <a:chExt cx="0" cy="0"/>
        </a:xfrm>
      </p:grpSpPr>
      <p:sp>
        <p:nvSpPr>
          <p:cNvPr id="791" name="Google Shape;791;p48">
            <a:extLst>
              <a:ext uri="{FF2B5EF4-FFF2-40B4-BE49-F238E27FC236}">
                <a16:creationId xmlns:a16="http://schemas.microsoft.com/office/drawing/2014/main" id="{E734687A-F103-01ED-45D2-C851DBE14316}"/>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Testing Process</a:t>
            </a:r>
            <a:endParaRPr/>
          </a:p>
        </p:txBody>
      </p:sp>
      <p:sp>
        <p:nvSpPr>
          <p:cNvPr id="792" name="Google Shape;792;p48">
            <a:extLst>
              <a:ext uri="{FF2B5EF4-FFF2-40B4-BE49-F238E27FC236}">
                <a16:creationId xmlns:a16="http://schemas.microsoft.com/office/drawing/2014/main" id="{A2EBB160-E4E6-9FC0-029F-16F5F0B08A42}"/>
              </a:ext>
            </a:extLst>
          </p:cNvPr>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793" name="Google Shape;793;p48">
            <a:extLst>
              <a:ext uri="{FF2B5EF4-FFF2-40B4-BE49-F238E27FC236}">
                <a16:creationId xmlns:a16="http://schemas.microsoft.com/office/drawing/2014/main" id="{40E5AB1C-2747-AE34-CC28-36FE0FCA0085}"/>
              </a:ext>
            </a:extLst>
          </p:cNvPr>
          <p:cNvPicPr preferRelativeResize="0"/>
          <p:nvPr/>
        </p:nvPicPr>
        <p:blipFill rotWithShape="1">
          <a:blip r:embed="rId3">
            <a:alphaModFix/>
          </a:blip>
          <a:srcRect/>
          <a:stretch/>
        </p:blipFill>
        <p:spPr>
          <a:xfrm>
            <a:off x="457200" y="2286000"/>
            <a:ext cx="8124826" cy="2286000"/>
          </a:xfrm>
          <a:prstGeom prst="rect">
            <a:avLst/>
          </a:prstGeom>
          <a:solidFill>
            <a:schemeClr val="lt1"/>
          </a:solidFill>
          <a:ln>
            <a:noFill/>
          </a:ln>
        </p:spPr>
      </p:pic>
      <p:sp>
        <p:nvSpPr>
          <p:cNvPr id="794" name="Google Shape;794;p48">
            <a:extLst>
              <a:ext uri="{FF2B5EF4-FFF2-40B4-BE49-F238E27FC236}">
                <a16:creationId xmlns:a16="http://schemas.microsoft.com/office/drawing/2014/main" id="{5E5EB196-E68A-60E7-180B-2450EFB4BE69}"/>
              </a:ext>
            </a:extLst>
          </p:cNvPr>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3797683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98">
          <a:extLst>
            <a:ext uri="{FF2B5EF4-FFF2-40B4-BE49-F238E27FC236}">
              <a16:creationId xmlns:a16="http://schemas.microsoft.com/office/drawing/2014/main" id="{08D8C480-4C8B-72CC-A1D1-149F3FD5A76E}"/>
            </a:ext>
          </a:extLst>
        </p:cNvPr>
        <p:cNvGrpSpPr/>
        <p:nvPr/>
      </p:nvGrpSpPr>
      <p:grpSpPr>
        <a:xfrm>
          <a:off x="0" y="0"/>
          <a:ext cx="0" cy="0"/>
          <a:chOff x="0" y="0"/>
          <a:chExt cx="0" cy="0"/>
        </a:xfrm>
      </p:grpSpPr>
      <p:sp>
        <p:nvSpPr>
          <p:cNvPr id="799" name="Google Shape;799;p49">
            <a:extLst>
              <a:ext uri="{FF2B5EF4-FFF2-40B4-BE49-F238E27FC236}">
                <a16:creationId xmlns:a16="http://schemas.microsoft.com/office/drawing/2014/main" id="{8C368949-9701-79B9-0F0C-99DF7AE52A8D}"/>
              </a:ext>
            </a:extLst>
          </p:cNvPr>
          <p:cNvSpPr txBox="1">
            <a:spLocks noGrp="1"/>
          </p:cNvSpPr>
          <p:nvPr>
            <p:ph type="title"/>
          </p:nvPr>
        </p:nvSpPr>
        <p:spPr>
          <a:xfrm>
            <a:off x="358760" y="6180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dirty="0"/>
          </a:p>
        </p:txBody>
      </p:sp>
      <p:sp>
        <p:nvSpPr>
          <p:cNvPr id="801" name="Google Shape;801;p49">
            <a:extLst>
              <a:ext uri="{FF2B5EF4-FFF2-40B4-BE49-F238E27FC236}">
                <a16:creationId xmlns:a16="http://schemas.microsoft.com/office/drawing/2014/main" id="{A40C5AAB-9C73-4A3E-3C5D-CC07DE2565ED}"/>
              </a:ext>
            </a:extLst>
          </p:cNvPr>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802" name="Google Shape;802;p49">
            <a:extLst>
              <a:ext uri="{FF2B5EF4-FFF2-40B4-BE49-F238E27FC236}">
                <a16:creationId xmlns:a16="http://schemas.microsoft.com/office/drawing/2014/main" id="{342C8419-B6BB-4DDA-8AC1-9D747A6051B7}"/>
              </a:ext>
            </a:extLst>
          </p:cNvPr>
          <p:cNvGrpSpPr/>
          <p:nvPr/>
        </p:nvGrpSpPr>
        <p:grpSpPr>
          <a:xfrm>
            <a:off x="0" y="713232"/>
            <a:ext cx="8936059" cy="4215384"/>
            <a:chOff x="-59824" y="251004"/>
            <a:chExt cx="8936059" cy="6507226"/>
          </a:xfrm>
        </p:grpSpPr>
        <p:sp>
          <p:nvSpPr>
            <p:cNvPr id="806" name="Google Shape;806;p49">
              <a:extLst>
                <a:ext uri="{FF2B5EF4-FFF2-40B4-BE49-F238E27FC236}">
                  <a16:creationId xmlns:a16="http://schemas.microsoft.com/office/drawing/2014/main" id="{DAE3336A-4C8B-9C7C-ADFB-78028C0A9B84}"/>
                </a:ext>
              </a:extLst>
            </p:cNvPr>
            <p:cNvSpPr/>
            <p:nvPr/>
          </p:nvSpPr>
          <p:spPr>
            <a:xfrm>
              <a:off x="7417416" y="3763231"/>
              <a:ext cx="680374" cy="347756"/>
            </a:xfrm>
            <a:custGeom>
              <a:avLst/>
              <a:gdLst/>
              <a:ahLst/>
              <a:cxnLst/>
              <a:rect l="l" t="t" r="r" b="b"/>
              <a:pathLst>
                <a:path w="120000" h="120000" extrusionOk="0">
                  <a:moveTo>
                    <a:pt x="0" y="0"/>
                  </a:moveTo>
                  <a:lnTo>
                    <a:pt x="0" y="79280"/>
                  </a:lnTo>
                  <a:lnTo>
                    <a:pt x="120000" y="7928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7" name="Google Shape;807;p49">
              <a:extLst>
                <a:ext uri="{FF2B5EF4-FFF2-40B4-BE49-F238E27FC236}">
                  <a16:creationId xmlns:a16="http://schemas.microsoft.com/office/drawing/2014/main" id="{0CC51D46-05D3-25D6-A389-792AE89CC21C}"/>
                </a:ext>
              </a:extLst>
            </p:cNvPr>
            <p:cNvSpPr/>
            <p:nvPr/>
          </p:nvSpPr>
          <p:spPr>
            <a:xfrm>
              <a:off x="6056669" y="4919863"/>
              <a:ext cx="1818987" cy="878168"/>
            </a:xfrm>
            <a:custGeom>
              <a:avLst/>
              <a:gdLst/>
              <a:ahLst/>
              <a:cxnLst/>
              <a:rect l="l" t="t" r="r" b="b"/>
              <a:pathLst>
                <a:path w="120000" h="120000" extrusionOk="0">
                  <a:moveTo>
                    <a:pt x="0" y="0"/>
                  </a:moveTo>
                  <a:lnTo>
                    <a:pt x="0" y="103875"/>
                  </a:lnTo>
                  <a:lnTo>
                    <a:pt x="120000" y="103875"/>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8" name="Google Shape;808;p49">
              <a:extLst>
                <a:ext uri="{FF2B5EF4-FFF2-40B4-BE49-F238E27FC236}">
                  <a16:creationId xmlns:a16="http://schemas.microsoft.com/office/drawing/2014/main" id="{1FFE440F-745C-D2EE-2C90-3F91EAFA0BC4}"/>
                </a:ext>
              </a:extLst>
            </p:cNvPr>
            <p:cNvSpPr/>
            <p:nvPr/>
          </p:nvSpPr>
          <p:spPr>
            <a:xfrm>
              <a:off x="5772137" y="4919863"/>
              <a:ext cx="284531"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9" name="Google Shape;809;p49">
              <a:extLst>
                <a:ext uri="{FF2B5EF4-FFF2-40B4-BE49-F238E27FC236}">
                  <a16:creationId xmlns:a16="http://schemas.microsoft.com/office/drawing/2014/main" id="{FF6EB13D-D072-5030-1EE2-D970E8F371B2}"/>
                </a:ext>
              </a:extLst>
            </p:cNvPr>
            <p:cNvSpPr/>
            <p:nvPr/>
          </p:nvSpPr>
          <p:spPr>
            <a:xfrm>
              <a:off x="3586037" y="4919863"/>
              <a:ext cx="2470632"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0" name="Google Shape;810;p49">
              <a:extLst>
                <a:ext uri="{FF2B5EF4-FFF2-40B4-BE49-F238E27FC236}">
                  <a16:creationId xmlns:a16="http://schemas.microsoft.com/office/drawing/2014/main" id="{AA728EFB-8D53-C913-13F5-AAAFACB4A941}"/>
                </a:ext>
              </a:extLst>
            </p:cNvPr>
            <p:cNvSpPr/>
            <p:nvPr/>
          </p:nvSpPr>
          <p:spPr>
            <a:xfrm>
              <a:off x="1364205" y="4919863"/>
              <a:ext cx="4692463"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1" name="Google Shape;811;p49">
              <a:extLst>
                <a:ext uri="{FF2B5EF4-FFF2-40B4-BE49-F238E27FC236}">
                  <a16:creationId xmlns:a16="http://schemas.microsoft.com/office/drawing/2014/main" id="{F15C72C6-DB3D-5E6E-80CF-6BE776B928BC}"/>
                </a:ext>
              </a:extLst>
            </p:cNvPr>
            <p:cNvSpPr/>
            <p:nvPr/>
          </p:nvSpPr>
          <p:spPr>
            <a:xfrm>
              <a:off x="6056669" y="3763231"/>
              <a:ext cx="1360746" cy="347756"/>
            </a:xfrm>
            <a:custGeom>
              <a:avLst/>
              <a:gdLst/>
              <a:ahLst/>
              <a:cxnLst/>
              <a:rect l="l" t="t" r="r" b="b"/>
              <a:pathLst>
                <a:path w="120000" h="120000" extrusionOk="0">
                  <a:moveTo>
                    <a:pt x="120000" y="0"/>
                  </a:moveTo>
                  <a:lnTo>
                    <a:pt x="120000" y="79280"/>
                  </a:lnTo>
                  <a:lnTo>
                    <a:pt x="0" y="79280"/>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3" name="Google Shape;813;p49">
              <a:extLst>
                <a:ext uri="{FF2B5EF4-FFF2-40B4-BE49-F238E27FC236}">
                  <a16:creationId xmlns:a16="http://schemas.microsoft.com/office/drawing/2014/main" id="{7B736579-549F-716D-5C6C-68606A25A05E}"/>
                </a:ext>
              </a:extLst>
            </p:cNvPr>
            <p:cNvSpPr/>
            <p:nvPr/>
          </p:nvSpPr>
          <p:spPr>
            <a:xfrm>
              <a:off x="3044730" y="3831266"/>
              <a:ext cx="135491" cy="347764"/>
            </a:xfrm>
            <a:custGeom>
              <a:avLst/>
              <a:gdLst/>
              <a:ahLst/>
              <a:cxnLst/>
              <a:rect l="l" t="t" r="r" b="b"/>
              <a:pathLst>
                <a:path w="120000" h="120000" extrusionOk="0">
                  <a:moveTo>
                    <a:pt x="0" y="0"/>
                  </a:moveTo>
                  <a:lnTo>
                    <a:pt x="0" y="79281"/>
                  </a:lnTo>
                  <a:lnTo>
                    <a:pt x="120000" y="79281"/>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4" name="Google Shape;814;p49">
              <a:extLst>
                <a:ext uri="{FF2B5EF4-FFF2-40B4-BE49-F238E27FC236}">
                  <a16:creationId xmlns:a16="http://schemas.microsoft.com/office/drawing/2014/main" id="{1AE53583-65D4-2CFE-CAD6-C6FDA6182069}"/>
                </a:ext>
              </a:extLst>
            </p:cNvPr>
            <p:cNvSpPr/>
            <p:nvPr/>
          </p:nvSpPr>
          <p:spPr>
            <a:xfrm>
              <a:off x="780610" y="3831266"/>
              <a:ext cx="2264120" cy="347764"/>
            </a:xfrm>
            <a:custGeom>
              <a:avLst/>
              <a:gdLst/>
              <a:ahLst/>
              <a:cxnLst/>
              <a:rect l="l" t="t" r="r" b="b"/>
              <a:pathLst>
                <a:path w="120000" h="120000" extrusionOk="0">
                  <a:moveTo>
                    <a:pt x="120000" y="0"/>
                  </a:moveTo>
                  <a:lnTo>
                    <a:pt x="120000" y="79281"/>
                  </a:lnTo>
                  <a:lnTo>
                    <a:pt x="0" y="79281"/>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8" name="Google Shape;818;p49">
              <a:extLst>
                <a:ext uri="{FF2B5EF4-FFF2-40B4-BE49-F238E27FC236}">
                  <a16:creationId xmlns:a16="http://schemas.microsoft.com/office/drawing/2014/main" id="{F9FF17CE-28BE-669B-1461-9760A765B8E1}"/>
                </a:ext>
              </a:extLst>
            </p:cNvPr>
            <p:cNvSpPr/>
            <p:nvPr/>
          </p:nvSpPr>
          <p:spPr>
            <a:xfrm>
              <a:off x="3244579" y="251004"/>
              <a:ext cx="2414793" cy="808875"/>
            </a:xfrm>
            <a:prstGeom prst="roundRect">
              <a:avLst>
                <a:gd name="adj" fmla="val 1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9">
              <a:extLst>
                <a:ext uri="{FF2B5EF4-FFF2-40B4-BE49-F238E27FC236}">
                  <a16:creationId xmlns:a16="http://schemas.microsoft.com/office/drawing/2014/main" id="{2513A365-3E22-13EC-48E9-726AF4B5BBDD}"/>
                </a:ext>
              </a:extLst>
            </p:cNvPr>
            <p:cNvSpPr/>
            <p:nvPr/>
          </p:nvSpPr>
          <p:spPr>
            <a:xfrm>
              <a:off x="3386115" y="385463"/>
              <a:ext cx="2414793" cy="808875"/>
            </a:xfrm>
            <a:prstGeom prst="roundRect">
              <a:avLst>
                <a:gd name="adj" fmla="val 10000"/>
              </a:avLst>
            </a:prstGeom>
            <a:solidFill>
              <a:srgbClr val="FFFF99">
                <a:alpha val="89803"/>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9">
              <a:extLst>
                <a:ext uri="{FF2B5EF4-FFF2-40B4-BE49-F238E27FC236}">
                  <a16:creationId xmlns:a16="http://schemas.microsoft.com/office/drawing/2014/main" id="{E846363D-8A72-0F5C-1210-5E02A930E5C0}"/>
                </a:ext>
              </a:extLst>
            </p:cNvPr>
            <p:cNvSpPr txBox="1"/>
            <p:nvPr/>
          </p:nvSpPr>
          <p:spPr>
            <a:xfrm>
              <a:off x="3409806" y="409153"/>
              <a:ext cx="2362331" cy="81398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Test Case Design Technique (dynamic testing)</a:t>
              </a:r>
              <a:endParaRPr dirty="0"/>
            </a:p>
          </p:txBody>
        </p:sp>
        <p:sp>
          <p:nvSpPr>
            <p:cNvPr id="827" name="Google Shape;827;p49">
              <a:extLst>
                <a:ext uri="{FF2B5EF4-FFF2-40B4-BE49-F238E27FC236}">
                  <a16:creationId xmlns:a16="http://schemas.microsoft.com/office/drawing/2014/main" id="{B6EDDE07-EFB0-37D4-07B4-CEFB605955FD}"/>
                </a:ext>
              </a:extLst>
            </p:cNvPr>
            <p:cNvSpPr/>
            <p:nvPr/>
          </p:nvSpPr>
          <p:spPr>
            <a:xfrm>
              <a:off x="2407820" y="3022390"/>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9">
              <a:extLst>
                <a:ext uri="{FF2B5EF4-FFF2-40B4-BE49-F238E27FC236}">
                  <a16:creationId xmlns:a16="http://schemas.microsoft.com/office/drawing/2014/main" id="{51BEF2BC-0150-781B-A8EF-A8D25A436A09}"/>
                </a:ext>
              </a:extLst>
            </p:cNvPr>
            <p:cNvSpPr/>
            <p:nvPr/>
          </p:nvSpPr>
          <p:spPr>
            <a:xfrm>
              <a:off x="2549356" y="3156849"/>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9">
              <a:extLst>
                <a:ext uri="{FF2B5EF4-FFF2-40B4-BE49-F238E27FC236}">
                  <a16:creationId xmlns:a16="http://schemas.microsoft.com/office/drawing/2014/main" id="{1C89455E-0D68-B1DA-342B-A6F8DC443688}"/>
                </a:ext>
              </a:extLst>
            </p:cNvPr>
            <p:cNvSpPr txBox="1"/>
            <p:nvPr/>
          </p:nvSpPr>
          <p:spPr>
            <a:xfrm>
              <a:off x="2573047" y="3180540"/>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b) Black-box</a:t>
              </a:r>
              <a:endParaRPr dirty="0"/>
            </a:p>
          </p:txBody>
        </p:sp>
        <p:sp>
          <p:nvSpPr>
            <p:cNvPr id="830" name="Google Shape;830;p49">
              <a:extLst>
                <a:ext uri="{FF2B5EF4-FFF2-40B4-BE49-F238E27FC236}">
                  <a16:creationId xmlns:a16="http://schemas.microsoft.com/office/drawing/2014/main" id="{2384ABDE-8CFB-DDAA-BD0D-3C8965A57EC2}"/>
                </a:ext>
              </a:extLst>
            </p:cNvPr>
            <p:cNvSpPr/>
            <p:nvPr/>
          </p:nvSpPr>
          <p:spPr>
            <a:xfrm>
              <a:off x="-59824" y="4179030"/>
              <a:ext cx="168086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9">
              <a:extLst>
                <a:ext uri="{FF2B5EF4-FFF2-40B4-BE49-F238E27FC236}">
                  <a16:creationId xmlns:a16="http://schemas.microsoft.com/office/drawing/2014/main" id="{823DEF74-D190-175A-6F53-F2452349F5F6}"/>
                </a:ext>
              </a:extLst>
            </p:cNvPr>
            <p:cNvSpPr/>
            <p:nvPr/>
          </p:nvSpPr>
          <p:spPr>
            <a:xfrm>
              <a:off x="81711" y="4313489"/>
              <a:ext cx="168086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9">
              <a:extLst>
                <a:ext uri="{FF2B5EF4-FFF2-40B4-BE49-F238E27FC236}">
                  <a16:creationId xmlns:a16="http://schemas.microsoft.com/office/drawing/2014/main" id="{5247889A-A761-9DE8-550C-98530E5CA5E7}"/>
                </a:ext>
              </a:extLst>
            </p:cNvPr>
            <p:cNvSpPr txBox="1"/>
            <p:nvPr/>
          </p:nvSpPr>
          <p:spPr>
            <a:xfrm>
              <a:off x="105402" y="4337180"/>
              <a:ext cx="163348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err="1">
                  <a:solidFill>
                    <a:schemeClr val="dk1"/>
                  </a:solidFill>
                  <a:latin typeface="Calibri"/>
                  <a:ea typeface="Calibri"/>
                  <a:cs typeface="Calibri"/>
                  <a:sym typeface="Calibri"/>
                </a:rPr>
                <a:t>i</a:t>
              </a:r>
              <a:r>
                <a:rPr lang="en-US" sz="1600" b="1" dirty="0">
                  <a:solidFill>
                    <a:schemeClr val="dk1"/>
                  </a:solidFill>
                  <a:latin typeface="Calibri"/>
                  <a:ea typeface="Calibri"/>
                  <a:cs typeface="Calibri"/>
                  <a:sym typeface="Calibri"/>
                </a:rPr>
                <a:t>) Equivalence Partitioning (EP)</a:t>
              </a:r>
              <a:endParaRPr dirty="0"/>
            </a:p>
          </p:txBody>
        </p:sp>
        <p:sp>
          <p:nvSpPr>
            <p:cNvPr id="833" name="Google Shape;833;p49">
              <a:extLst>
                <a:ext uri="{FF2B5EF4-FFF2-40B4-BE49-F238E27FC236}">
                  <a16:creationId xmlns:a16="http://schemas.microsoft.com/office/drawing/2014/main" id="{E449EB5C-4152-8F03-BCD5-70742F0E0F63}"/>
                </a:ext>
              </a:extLst>
            </p:cNvPr>
            <p:cNvSpPr/>
            <p:nvPr/>
          </p:nvSpPr>
          <p:spPr>
            <a:xfrm>
              <a:off x="2252276" y="4179030"/>
              <a:ext cx="1855891"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9">
              <a:extLst>
                <a:ext uri="{FF2B5EF4-FFF2-40B4-BE49-F238E27FC236}">
                  <a16:creationId xmlns:a16="http://schemas.microsoft.com/office/drawing/2014/main" id="{F614A21D-F3B4-1133-D6A0-8D0F7BB54889}"/>
                </a:ext>
              </a:extLst>
            </p:cNvPr>
            <p:cNvSpPr/>
            <p:nvPr/>
          </p:nvSpPr>
          <p:spPr>
            <a:xfrm>
              <a:off x="2393811" y="4313489"/>
              <a:ext cx="1855891"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9">
              <a:extLst>
                <a:ext uri="{FF2B5EF4-FFF2-40B4-BE49-F238E27FC236}">
                  <a16:creationId xmlns:a16="http://schemas.microsoft.com/office/drawing/2014/main" id="{74E023D1-2B08-8FC3-9597-6027A0A30A3E}"/>
                </a:ext>
              </a:extLst>
            </p:cNvPr>
            <p:cNvSpPr txBox="1"/>
            <p:nvPr/>
          </p:nvSpPr>
          <p:spPr>
            <a:xfrm>
              <a:off x="2417502" y="4337180"/>
              <a:ext cx="1808509"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ii) Boundary Value Analysis (BVA)</a:t>
              </a:r>
              <a:endParaRPr dirty="0"/>
            </a:p>
          </p:txBody>
        </p:sp>
        <p:sp>
          <p:nvSpPr>
            <p:cNvPr id="836" name="Google Shape;836;p49">
              <a:extLst>
                <a:ext uri="{FF2B5EF4-FFF2-40B4-BE49-F238E27FC236}">
                  <a16:creationId xmlns:a16="http://schemas.microsoft.com/office/drawing/2014/main" id="{FB942B05-BE2F-B3E3-CD3C-97C11E1072C2}"/>
                </a:ext>
              </a:extLst>
            </p:cNvPr>
            <p:cNvSpPr/>
            <p:nvPr/>
          </p:nvSpPr>
          <p:spPr>
            <a:xfrm>
              <a:off x="6780506" y="2954356"/>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9">
              <a:extLst>
                <a:ext uri="{FF2B5EF4-FFF2-40B4-BE49-F238E27FC236}">
                  <a16:creationId xmlns:a16="http://schemas.microsoft.com/office/drawing/2014/main" id="{27E807E2-7356-F1A4-F7CC-862508D74806}"/>
                </a:ext>
              </a:extLst>
            </p:cNvPr>
            <p:cNvSpPr/>
            <p:nvPr/>
          </p:nvSpPr>
          <p:spPr>
            <a:xfrm>
              <a:off x="6922042" y="3088814"/>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9">
              <a:extLst>
                <a:ext uri="{FF2B5EF4-FFF2-40B4-BE49-F238E27FC236}">
                  <a16:creationId xmlns:a16="http://schemas.microsoft.com/office/drawing/2014/main" id="{19C5F342-0CE3-40C6-2DD4-D5188EF5A65A}"/>
                </a:ext>
              </a:extLst>
            </p:cNvPr>
            <p:cNvSpPr txBox="1"/>
            <p:nvPr/>
          </p:nvSpPr>
          <p:spPr>
            <a:xfrm>
              <a:off x="6945733" y="3112505"/>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c) White-box</a:t>
              </a:r>
              <a:endParaRPr/>
            </a:p>
          </p:txBody>
        </p:sp>
        <p:sp>
          <p:nvSpPr>
            <p:cNvPr id="839" name="Google Shape;839;p49">
              <a:extLst>
                <a:ext uri="{FF2B5EF4-FFF2-40B4-BE49-F238E27FC236}">
                  <a16:creationId xmlns:a16="http://schemas.microsoft.com/office/drawing/2014/main" id="{3DB19A38-C98D-7E7C-0803-A375F970D48F}"/>
                </a:ext>
              </a:extLst>
            </p:cNvPr>
            <p:cNvSpPr/>
            <p:nvPr/>
          </p:nvSpPr>
          <p:spPr>
            <a:xfrm>
              <a:off x="5419759"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9">
              <a:extLst>
                <a:ext uri="{FF2B5EF4-FFF2-40B4-BE49-F238E27FC236}">
                  <a16:creationId xmlns:a16="http://schemas.microsoft.com/office/drawing/2014/main" id="{B858B36E-77DC-969C-DB57-6FD84677F94A}"/>
                </a:ext>
              </a:extLst>
            </p:cNvPr>
            <p:cNvSpPr/>
            <p:nvPr/>
          </p:nvSpPr>
          <p:spPr>
            <a:xfrm>
              <a:off x="5561295"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9">
              <a:extLst>
                <a:ext uri="{FF2B5EF4-FFF2-40B4-BE49-F238E27FC236}">
                  <a16:creationId xmlns:a16="http://schemas.microsoft.com/office/drawing/2014/main" id="{D2525DD4-52E5-BC3B-E4E7-B568D2A42F7B}"/>
                </a:ext>
              </a:extLst>
            </p:cNvPr>
            <p:cNvSpPr txBox="1"/>
            <p:nvPr/>
          </p:nvSpPr>
          <p:spPr>
            <a:xfrm>
              <a:off x="5584986"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 Basis Path</a:t>
              </a:r>
              <a:endParaRPr/>
            </a:p>
          </p:txBody>
        </p:sp>
        <p:sp>
          <p:nvSpPr>
            <p:cNvPr id="842" name="Google Shape;842;p49">
              <a:extLst>
                <a:ext uri="{FF2B5EF4-FFF2-40B4-BE49-F238E27FC236}">
                  <a16:creationId xmlns:a16="http://schemas.microsoft.com/office/drawing/2014/main" id="{D5CD6431-61CF-60D2-91D4-D3BC5721F4BA}"/>
                </a:ext>
              </a:extLst>
            </p:cNvPr>
            <p:cNvSpPr/>
            <p:nvPr/>
          </p:nvSpPr>
          <p:spPr>
            <a:xfrm>
              <a:off x="727295" y="5814896"/>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9">
              <a:extLst>
                <a:ext uri="{FF2B5EF4-FFF2-40B4-BE49-F238E27FC236}">
                  <a16:creationId xmlns:a16="http://schemas.microsoft.com/office/drawing/2014/main" id="{9E43BBEF-EC05-5C04-7B03-16236BB637E2}"/>
                </a:ext>
              </a:extLst>
            </p:cNvPr>
            <p:cNvSpPr/>
            <p:nvPr/>
          </p:nvSpPr>
          <p:spPr>
            <a:xfrm>
              <a:off x="868831" y="5949355"/>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9">
              <a:extLst>
                <a:ext uri="{FF2B5EF4-FFF2-40B4-BE49-F238E27FC236}">
                  <a16:creationId xmlns:a16="http://schemas.microsoft.com/office/drawing/2014/main" id="{408D9389-9F52-59FA-50DB-C8F9C744C081}"/>
                </a:ext>
              </a:extLst>
            </p:cNvPr>
            <p:cNvSpPr txBox="1"/>
            <p:nvPr/>
          </p:nvSpPr>
          <p:spPr>
            <a:xfrm>
              <a:off x="892522" y="5973046"/>
              <a:ext cx="1226437"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1: draw </a:t>
              </a:r>
              <a:r>
                <a:rPr lang="en-US" sz="1400" b="1">
                  <a:solidFill>
                    <a:schemeClr val="dk1"/>
                  </a:solidFill>
                  <a:latin typeface="Calibri"/>
                  <a:ea typeface="Calibri"/>
                  <a:cs typeface="Calibri"/>
                  <a:sym typeface="Calibri"/>
                </a:rPr>
                <a:t>Flow Graph</a:t>
              </a:r>
              <a:endParaRPr/>
            </a:p>
          </p:txBody>
        </p:sp>
        <p:sp>
          <p:nvSpPr>
            <p:cNvPr id="845" name="Google Shape;845;p49">
              <a:extLst>
                <a:ext uri="{FF2B5EF4-FFF2-40B4-BE49-F238E27FC236}">
                  <a16:creationId xmlns:a16="http://schemas.microsoft.com/office/drawing/2014/main" id="{360A3EA8-3793-2D17-668A-37C5F759B293}"/>
                </a:ext>
              </a:extLst>
            </p:cNvPr>
            <p:cNvSpPr/>
            <p:nvPr/>
          </p:nvSpPr>
          <p:spPr>
            <a:xfrm>
              <a:off x="2703668" y="5814896"/>
              <a:ext cx="1764737"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9">
              <a:extLst>
                <a:ext uri="{FF2B5EF4-FFF2-40B4-BE49-F238E27FC236}">
                  <a16:creationId xmlns:a16="http://schemas.microsoft.com/office/drawing/2014/main" id="{DF63A283-9DB2-209D-9654-1AD1669E14A9}"/>
                </a:ext>
              </a:extLst>
            </p:cNvPr>
            <p:cNvSpPr/>
            <p:nvPr/>
          </p:nvSpPr>
          <p:spPr>
            <a:xfrm>
              <a:off x="2845204" y="5949355"/>
              <a:ext cx="1764737"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9">
              <a:extLst>
                <a:ext uri="{FF2B5EF4-FFF2-40B4-BE49-F238E27FC236}">
                  <a16:creationId xmlns:a16="http://schemas.microsoft.com/office/drawing/2014/main" id="{3A7E9220-5947-1915-6070-3F1591E57220}"/>
                </a:ext>
              </a:extLst>
            </p:cNvPr>
            <p:cNvSpPr txBox="1"/>
            <p:nvPr/>
          </p:nvSpPr>
          <p:spPr>
            <a:xfrm>
              <a:off x="2868895" y="5973046"/>
              <a:ext cx="1717355"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2 : calculate </a:t>
              </a:r>
              <a:r>
                <a:rPr lang="en-US" sz="1400" b="1">
                  <a:solidFill>
                    <a:schemeClr val="dk1"/>
                  </a:solidFill>
                  <a:latin typeface="Calibri"/>
                  <a:ea typeface="Calibri"/>
                  <a:cs typeface="Calibri"/>
                  <a:sym typeface="Calibri"/>
                </a:rPr>
                <a:t>Cyclomatic Complexity</a:t>
              </a:r>
              <a:endParaRPr/>
            </a:p>
          </p:txBody>
        </p:sp>
        <p:sp>
          <p:nvSpPr>
            <p:cNvPr id="848" name="Google Shape;848;p49">
              <a:extLst>
                <a:ext uri="{FF2B5EF4-FFF2-40B4-BE49-F238E27FC236}">
                  <a16:creationId xmlns:a16="http://schemas.microsoft.com/office/drawing/2014/main" id="{7FE7A921-45CA-3E95-FD18-C3DC9FA13D10}"/>
                </a:ext>
              </a:extLst>
            </p:cNvPr>
            <p:cNvSpPr/>
            <p:nvPr/>
          </p:nvSpPr>
          <p:spPr>
            <a:xfrm>
              <a:off x="4940881" y="5814896"/>
              <a:ext cx="1662513"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9">
              <a:extLst>
                <a:ext uri="{FF2B5EF4-FFF2-40B4-BE49-F238E27FC236}">
                  <a16:creationId xmlns:a16="http://schemas.microsoft.com/office/drawing/2014/main" id="{5D6DA0A3-1EFF-C127-2FDC-55804FCD33E5}"/>
                </a:ext>
              </a:extLst>
            </p:cNvPr>
            <p:cNvSpPr/>
            <p:nvPr/>
          </p:nvSpPr>
          <p:spPr>
            <a:xfrm>
              <a:off x="5082416" y="5949355"/>
              <a:ext cx="1662513"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9">
              <a:extLst>
                <a:ext uri="{FF2B5EF4-FFF2-40B4-BE49-F238E27FC236}">
                  <a16:creationId xmlns:a16="http://schemas.microsoft.com/office/drawing/2014/main" id="{2F838D96-E7C3-18A9-98E7-1C92FAB20A80}"/>
                </a:ext>
              </a:extLst>
            </p:cNvPr>
            <p:cNvSpPr txBox="1"/>
            <p:nvPr/>
          </p:nvSpPr>
          <p:spPr>
            <a:xfrm>
              <a:off x="5106107" y="5973046"/>
              <a:ext cx="1615131"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3: identify </a:t>
              </a:r>
              <a:r>
                <a:rPr lang="en-US" sz="1400" b="1">
                  <a:solidFill>
                    <a:schemeClr val="dk1"/>
                  </a:solidFill>
                  <a:latin typeface="Calibri"/>
                  <a:ea typeface="Calibri"/>
                  <a:cs typeface="Calibri"/>
                  <a:sym typeface="Calibri"/>
                </a:rPr>
                <a:t>Independent Path</a:t>
              </a:r>
              <a:endParaRPr/>
            </a:p>
          </p:txBody>
        </p:sp>
        <p:sp>
          <p:nvSpPr>
            <p:cNvPr id="851" name="Google Shape;851;p49">
              <a:extLst>
                <a:ext uri="{FF2B5EF4-FFF2-40B4-BE49-F238E27FC236}">
                  <a16:creationId xmlns:a16="http://schemas.microsoft.com/office/drawing/2014/main" id="{7E690C60-BA9E-4593-F472-84D8C9D6C4DD}"/>
                </a:ext>
              </a:extLst>
            </p:cNvPr>
            <p:cNvSpPr/>
            <p:nvPr/>
          </p:nvSpPr>
          <p:spPr>
            <a:xfrm>
              <a:off x="7094760" y="5798031"/>
              <a:ext cx="1561792"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9">
              <a:extLst>
                <a:ext uri="{FF2B5EF4-FFF2-40B4-BE49-F238E27FC236}">
                  <a16:creationId xmlns:a16="http://schemas.microsoft.com/office/drawing/2014/main" id="{6F513869-F420-1A25-ACFB-A150A1EF9F22}"/>
                </a:ext>
              </a:extLst>
            </p:cNvPr>
            <p:cNvSpPr/>
            <p:nvPr/>
          </p:nvSpPr>
          <p:spPr>
            <a:xfrm>
              <a:off x="7236296" y="5932490"/>
              <a:ext cx="1561792"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9">
              <a:extLst>
                <a:ext uri="{FF2B5EF4-FFF2-40B4-BE49-F238E27FC236}">
                  <a16:creationId xmlns:a16="http://schemas.microsoft.com/office/drawing/2014/main" id="{43F6B64C-9A5D-55D6-3306-C3BFC7949996}"/>
                </a:ext>
              </a:extLst>
            </p:cNvPr>
            <p:cNvSpPr txBox="1"/>
            <p:nvPr/>
          </p:nvSpPr>
          <p:spPr>
            <a:xfrm>
              <a:off x="7259987" y="5956181"/>
              <a:ext cx="1514410"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4: Generate </a:t>
              </a:r>
              <a:r>
                <a:rPr lang="en-US" sz="1400" b="1">
                  <a:solidFill>
                    <a:schemeClr val="dk1"/>
                  </a:solidFill>
                  <a:latin typeface="Calibri"/>
                  <a:ea typeface="Calibri"/>
                  <a:cs typeface="Calibri"/>
                  <a:sym typeface="Calibri"/>
                </a:rPr>
                <a:t>Test cases</a:t>
              </a:r>
              <a:endParaRPr/>
            </a:p>
          </p:txBody>
        </p:sp>
        <p:sp>
          <p:nvSpPr>
            <p:cNvPr id="854" name="Google Shape;854;p49">
              <a:extLst>
                <a:ext uri="{FF2B5EF4-FFF2-40B4-BE49-F238E27FC236}">
                  <a16:creationId xmlns:a16="http://schemas.microsoft.com/office/drawing/2014/main" id="{59064D3A-975C-21D0-2DE0-B430937E2DBB}"/>
                </a:ext>
              </a:extLst>
            </p:cNvPr>
            <p:cNvSpPr/>
            <p:nvPr/>
          </p:nvSpPr>
          <p:spPr>
            <a:xfrm>
              <a:off x="7460880"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a:extLst>
                <a:ext uri="{FF2B5EF4-FFF2-40B4-BE49-F238E27FC236}">
                  <a16:creationId xmlns:a16="http://schemas.microsoft.com/office/drawing/2014/main" id="{4D9F8D85-DBAA-2739-4690-D6199D5275E8}"/>
                </a:ext>
              </a:extLst>
            </p:cNvPr>
            <p:cNvSpPr/>
            <p:nvPr/>
          </p:nvSpPr>
          <p:spPr>
            <a:xfrm>
              <a:off x="7602416"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9">
              <a:extLst>
                <a:ext uri="{FF2B5EF4-FFF2-40B4-BE49-F238E27FC236}">
                  <a16:creationId xmlns:a16="http://schemas.microsoft.com/office/drawing/2014/main" id="{377C3608-1190-2217-C0E4-63747EA90B5E}"/>
                </a:ext>
              </a:extLst>
            </p:cNvPr>
            <p:cNvSpPr txBox="1"/>
            <p:nvPr/>
          </p:nvSpPr>
          <p:spPr>
            <a:xfrm>
              <a:off x="7626107"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ii) Control Structure</a:t>
              </a:r>
              <a:endParaRPr/>
            </a:p>
          </p:txBody>
        </p:sp>
      </p:grpSp>
      <p:sp>
        <p:nvSpPr>
          <p:cNvPr id="866" name="Google Shape;866;p49">
            <a:extLst>
              <a:ext uri="{FF2B5EF4-FFF2-40B4-BE49-F238E27FC236}">
                <a16:creationId xmlns:a16="http://schemas.microsoft.com/office/drawing/2014/main" id="{51386010-3350-D6C6-4F2E-D853B15EA994}"/>
              </a:ext>
            </a:extLst>
          </p:cNvPr>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cxnSp>
        <p:nvCxnSpPr>
          <p:cNvPr id="3" name="Straight Arrow Connector 2">
            <a:extLst>
              <a:ext uri="{FF2B5EF4-FFF2-40B4-BE49-F238E27FC236}">
                <a16:creationId xmlns:a16="http://schemas.microsoft.com/office/drawing/2014/main" id="{B5BD2E7D-C91C-A39E-925E-1D9814419322}"/>
              </a:ext>
            </a:extLst>
          </p:cNvPr>
          <p:cNvCxnSpPr>
            <a:stCxn id="819" idx="2"/>
          </p:cNvCxnSpPr>
          <p:nvPr/>
        </p:nvCxnSpPr>
        <p:spPr>
          <a:xfrm flipH="1">
            <a:off x="3374136" y="1324325"/>
            <a:ext cx="1279200" cy="11842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A862BAAC-5C92-735F-B668-493AB0BB75E7}"/>
              </a:ext>
            </a:extLst>
          </p:cNvPr>
          <p:cNvCxnSpPr>
            <a:cxnSpLocks/>
          </p:cNvCxnSpPr>
          <p:nvPr/>
        </p:nvCxnSpPr>
        <p:spPr>
          <a:xfrm>
            <a:off x="4846320" y="1324325"/>
            <a:ext cx="2048618" cy="10714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F9654BE-16D1-70EE-D4CA-47549F6CDE6B}"/>
              </a:ext>
            </a:extLst>
          </p:cNvPr>
          <p:cNvSpPr txBox="1"/>
          <p:nvPr/>
        </p:nvSpPr>
        <p:spPr>
          <a:xfrm>
            <a:off x="3967689" y="2623794"/>
            <a:ext cx="1465555" cy="584775"/>
          </a:xfrm>
          <a:prstGeom prst="rect">
            <a:avLst/>
          </a:prstGeom>
          <a:noFill/>
        </p:spPr>
        <p:txBody>
          <a:bodyPr wrap="square" rtlCol="0">
            <a:spAutoFit/>
          </a:bodyPr>
          <a:lstStyle/>
          <a:p>
            <a:r>
              <a:rPr lang="en-MY" sz="800" dirty="0">
                <a:solidFill>
                  <a:srgbClr val="0070C0"/>
                </a:solidFill>
              </a:rPr>
              <a:t>Requirements based/</a:t>
            </a:r>
            <a:r>
              <a:rPr lang="en-US" sz="800" dirty="0">
                <a:solidFill>
                  <a:srgbClr val="0070C0"/>
                </a:solidFill>
              </a:rPr>
              <a:t> specification  based testing is an example of black box testing </a:t>
            </a:r>
            <a:endParaRPr lang="en-MY" sz="800" dirty="0">
              <a:solidFill>
                <a:srgbClr val="0070C0"/>
              </a:solidFill>
            </a:endParaRPr>
          </a:p>
        </p:txBody>
      </p:sp>
      <p:sp>
        <p:nvSpPr>
          <p:cNvPr id="5" name="TextBox 4">
            <a:extLst>
              <a:ext uri="{FF2B5EF4-FFF2-40B4-BE49-F238E27FC236}">
                <a16:creationId xmlns:a16="http://schemas.microsoft.com/office/drawing/2014/main" id="{975943FE-F159-9239-76F3-56EE24C3A5B0}"/>
              </a:ext>
            </a:extLst>
          </p:cNvPr>
          <p:cNvSpPr txBox="1"/>
          <p:nvPr/>
        </p:nvSpPr>
        <p:spPr>
          <a:xfrm>
            <a:off x="222487" y="2792573"/>
            <a:ext cx="4572000" cy="261610"/>
          </a:xfrm>
          <a:prstGeom prst="rect">
            <a:avLst/>
          </a:prstGeom>
          <a:noFill/>
        </p:spPr>
        <p:txBody>
          <a:bodyPr wrap="square">
            <a:spAutoFit/>
          </a:bodyPr>
          <a:lstStyle/>
          <a:p>
            <a:r>
              <a:rPr lang="en-US" sz="1100" b="1" dirty="0">
                <a:solidFill>
                  <a:schemeClr val="bg2"/>
                </a:solidFill>
              </a:rPr>
              <a:t>Black-Box Testing Strategies</a:t>
            </a:r>
            <a:r>
              <a:rPr lang="en-US" sz="1100" b="1" dirty="0">
                <a:solidFill>
                  <a:srgbClr val="FF0000"/>
                </a:solidFill>
              </a:rPr>
              <a:t>(*)</a:t>
            </a:r>
            <a:endParaRPr lang="en-MY" sz="1100" b="1" dirty="0">
              <a:solidFill>
                <a:srgbClr val="FF0000"/>
              </a:solidFill>
            </a:endParaRPr>
          </a:p>
        </p:txBody>
      </p:sp>
      <p:sp>
        <p:nvSpPr>
          <p:cNvPr id="9" name="TextBox 8">
            <a:extLst>
              <a:ext uri="{FF2B5EF4-FFF2-40B4-BE49-F238E27FC236}">
                <a16:creationId xmlns:a16="http://schemas.microsoft.com/office/drawing/2014/main" id="{B0DD3A21-BD13-C523-9C61-C116861FE618}"/>
              </a:ext>
            </a:extLst>
          </p:cNvPr>
          <p:cNvSpPr txBox="1"/>
          <p:nvPr/>
        </p:nvSpPr>
        <p:spPr>
          <a:xfrm>
            <a:off x="1752251" y="3558467"/>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
        <p:nvSpPr>
          <p:cNvPr id="11" name="TextBox 10">
            <a:extLst>
              <a:ext uri="{FF2B5EF4-FFF2-40B4-BE49-F238E27FC236}">
                <a16:creationId xmlns:a16="http://schemas.microsoft.com/office/drawing/2014/main" id="{EA4FBDCA-C219-930B-F160-E415F896840A}"/>
              </a:ext>
            </a:extLst>
          </p:cNvPr>
          <p:cNvSpPr txBox="1"/>
          <p:nvPr/>
        </p:nvSpPr>
        <p:spPr>
          <a:xfrm>
            <a:off x="4277809" y="3527971"/>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Tree>
    <p:extLst>
      <p:ext uri="{BB962C8B-B14F-4D97-AF65-F5344CB8AC3E}">
        <p14:creationId xmlns:p14="http://schemas.microsoft.com/office/powerpoint/2010/main" val="26899492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dirty="0"/>
              <a:t>Black-Box Testing Strategies</a:t>
            </a:r>
            <a:endParaRPr sz="4000" dirty="0"/>
          </a:p>
        </p:txBody>
      </p:sp>
      <p:sp>
        <p:nvSpPr>
          <p:cNvPr id="1117" name="Google Shape;1117;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Equivalence Partitioning (EP)</a:t>
            </a:r>
            <a:endParaRPr/>
          </a:p>
          <a:p>
            <a:pPr marL="342900" lvl="0" indent="-342900" algn="l" rtl="0">
              <a:spcBef>
                <a:spcPts val="640"/>
              </a:spcBef>
              <a:spcAft>
                <a:spcPts val="0"/>
              </a:spcAft>
              <a:buClr>
                <a:schemeClr val="dk1"/>
              </a:buClr>
              <a:buSzPts val="3200"/>
              <a:buChar char="•"/>
            </a:pPr>
            <a:r>
              <a:rPr lang="en-US"/>
              <a:t>Boundary Value Analysis (BVA)</a:t>
            </a: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p:txBody>
      </p:sp>
      <p:sp>
        <p:nvSpPr>
          <p:cNvPr id="1118" name="Google Shape;1118;p6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119" name="Google Shape;1119;p6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dirty="0"/>
              <a:t>Black-Box Testing Strategies 1: </a:t>
            </a:r>
            <a:br>
              <a:rPr lang="en-US" sz="4000" dirty="0"/>
            </a:br>
            <a:r>
              <a:rPr lang="en-US" sz="4000" dirty="0"/>
              <a:t>Equivalence Partitioning</a:t>
            </a:r>
            <a:endParaRPr sz="4000" dirty="0"/>
          </a:p>
        </p:txBody>
      </p:sp>
      <p:sp>
        <p:nvSpPr>
          <p:cNvPr id="1197" name="Google Shape;1197;p6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000"/>
              <a:buChar char="•"/>
            </a:pPr>
            <a:r>
              <a:rPr lang="en-US" sz="3000"/>
              <a:t>A strategy that can be used to </a:t>
            </a:r>
            <a:r>
              <a:rPr lang="en-US" sz="3000" b="1">
                <a:solidFill>
                  <a:srgbClr val="C00000"/>
                </a:solidFill>
              </a:rPr>
              <a:t>reduce the number of test cases</a:t>
            </a:r>
            <a:r>
              <a:rPr lang="en-US" sz="3000"/>
              <a:t> that need to be developed</a:t>
            </a:r>
            <a:endParaRPr/>
          </a:p>
          <a:p>
            <a:pPr marL="342900" lvl="0" indent="-342900" algn="just" rtl="0">
              <a:spcBef>
                <a:spcPts val="600"/>
              </a:spcBef>
              <a:spcAft>
                <a:spcPts val="0"/>
              </a:spcAft>
              <a:buClr>
                <a:schemeClr val="dk1"/>
              </a:buClr>
              <a:buSzPts val="3000"/>
              <a:buChar char="•"/>
            </a:pPr>
            <a:r>
              <a:rPr lang="en-US" sz="3000"/>
              <a:t>Divides the input domain of a program into </a:t>
            </a:r>
            <a:r>
              <a:rPr lang="en-US" sz="3000" b="1">
                <a:solidFill>
                  <a:srgbClr val="C00000"/>
                </a:solidFill>
              </a:rPr>
              <a:t>classes</a:t>
            </a:r>
            <a:endParaRPr/>
          </a:p>
          <a:p>
            <a:pPr marL="342900" lvl="0" indent="-342900" algn="just" rtl="0">
              <a:spcBef>
                <a:spcPts val="600"/>
              </a:spcBef>
              <a:spcAft>
                <a:spcPts val="0"/>
              </a:spcAft>
              <a:buClr>
                <a:schemeClr val="dk1"/>
              </a:buClr>
              <a:buSzPts val="3000"/>
              <a:buChar char="•"/>
            </a:pPr>
            <a:r>
              <a:rPr lang="en-US" sz="3000"/>
              <a:t>For each of these </a:t>
            </a:r>
            <a:r>
              <a:rPr lang="en-US" sz="3000" b="1">
                <a:solidFill>
                  <a:srgbClr val="C00000"/>
                </a:solidFill>
              </a:rPr>
              <a:t>equivalence classes</a:t>
            </a:r>
            <a:r>
              <a:rPr lang="en-US" sz="3000"/>
              <a:t>, the set of data should be treated the same by the module under test and should produce the same answer</a:t>
            </a:r>
            <a:endParaRPr/>
          </a:p>
          <a:p>
            <a:pPr marL="342900" lvl="0" indent="-152400" algn="just" rtl="0">
              <a:spcBef>
                <a:spcPts val="600"/>
              </a:spcBef>
              <a:spcAft>
                <a:spcPts val="0"/>
              </a:spcAft>
              <a:buClr>
                <a:schemeClr val="dk1"/>
              </a:buClr>
              <a:buSzPts val="3000"/>
              <a:buNone/>
            </a:pPr>
            <a:endParaRPr sz="3000"/>
          </a:p>
          <a:p>
            <a:pPr marL="342900" lvl="0" indent="-152400" algn="just" rtl="0">
              <a:spcBef>
                <a:spcPts val="600"/>
              </a:spcBef>
              <a:spcAft>
                <a:spcPts val="0"/>
              </a:spcAft>
              <a:buClr>
                <a:schemeClr val="dk1"/>
              </a:buClr>
              <a:buSzPts val="3000"/>
              <a:buNone/>
            </a:pPr>
            <a:endParaRPr sz="3000"/>
          </a:p>
        </p:txBody>
      </p:sp>
      <p:sp>
        <p:nvSpPr>
          <p:cNvPr id="1198" name="Google Shape;1198;p6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199" name="Google Shape;1199;p6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Black-Box Testing Strategies 1: </a:t>
            </a:r>
            <a:br>
              <a:rPr lang="en-US" sz="4000"/>
            </a:br>
            <a:r>
              <a:rPr lang="en-US" sz="4000"/>
              <a:t>Equivalence Partitioning (Cont.)</a:t>
            </a:r>
            <a:endParaRPr sz="4000"/>
          </a:p>
        </p:txBody>
      </p:sp>
      <p:sp>
        <p:nvSpPr>
          <p:cNvPr id="1205" name="Google Shape;1205;p6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206" name="Google Shape;1206;p64"/>
          <p:cNvSpPr/>
          <p:nvPr/>
        </p:nvSpPr>
        <p:spPr>
          <a:xfrm>
            <a:off x="293914" y="1563914"/>
            <a:ext cx="5029200" cy="440120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Calibri"/>
                <a:ea typeface="Calibri"/>
                <a:cs typeface="Calibri"/>
                <a:sym typeface="Calibri"/>
              </a:rPr>
              <a:t>Equivalence classes can be defined:</a:t>
            </a:r>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If an input condition specifies a </a:t>
            </a:r>
            <a:r>
              <a:rPr lang="en-US" sz="2800" b="1">
                <a:solidFill>
                  <a:srgbClr val="C00000"/>
                </a:solidFill>
                <a:latin typeface="Calibri"/>
                <a:ea typeface="Calibri"/>
                <a:cs typeface="Calibri"/>
                <a:sym typeface="Calibri"/>
              </a:rPr>
              <a:t>range</a:t>
            </a:r>
            <a:r>
              <a:rPr lang="en-US" sz="2800">
                <a:solidFill>
                  <a:schemeClr val="dk1"/>
                </a:solidFill>
                <a:latin typeface="Calibri"/>
                <a:ea typeface="Calibri"/>
                <a:cs typeface="Calibri"/>
                <a:sym typeface="Calibri"/>
              </a:rPr>
              <a:t> or a specific value,</a:t>
            </a:r>
            <a:r>
              <a:rPr lang="en-US" sz="2800">
                <a:solidFill>
                  <a:srgbClr val="C00000"/>
                </a:solidFill>
                <a:latin typeface="Calibri"/>
                <a:ea typeface="Calibri"/>
                <a:cs typeface="Calibri"/>
                <a:sym typeface="Calibri"/>
              </a:rPr>
              <a:t> one valid and two invalid </a:t>
            </a:r>
            <a:r>
              <a:rPr lang="en-US" sz="2800">
                <a:solidFill>
                  <a:schemeClr val="dk1"/>
                </a:solidFill>
                <a:latin typeface="Calibri"/>
                <a:ea typeface="Calibri"/>
                <a:cs typeface="Calibri"/>
                <a:sym typeface="Calibri"/>
              </a:rPr>
              <a:t>equivalence classes defined</a:t>
            </a:r>
            <a:endParaRPr/>
          </a:p>
          <a:p>
            <a:pPr marL="457200" marR="0" lvl="0" indent="-457200" algn="just" rtl="0">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If an input condition specifies a </a:t>
            </a:r>
            <a:r>
              <a:rPr lang="en-US" sz="2800" b="1">
                <a:solidFill>
                  <a:srgbClr val="C00000"/>
                </a:solidFill>
                <a:latin typeface="Calibri"/>
                <a:ea typeface="Calibri"/>
                <a:cs typeface="Calibri"/>
                <a:sym typeface="Calibri"/>
              </a:rPr>
              <a:t>Boolean</a:t>
            </a:r>
            <a:r>
              <a:rPr lang="en-US" sz="2800">
                <a:solidFill>
                  <a:schemeClr val="dk1"/>
                </a:solidFill>
                <a:latin typeface="Calibri"/>
                <a:ea typeface="Calibri"/>
                <a:cs typeface="Calibri"/>
                <a:sym typeface="Calibri"/>
              </a:rPr>
              <a:t> or a member of a set,</a:t>
            </a:r>
            <a:r>
              <a:rPr lang="en-US" sz="2800">
                <a:solidFill>
                  <a:srgbClr val="C00000"/>
                </a:solidFill>
                <a:latin typeface="Calibri"/>
                <a:ea typeface="Calibri"/>
                <a:cs typeface="Calibri"/>
                <a:sym typeface="Calibri"/>
              </a:rPr>
              <a:t> one valid and one invalid</a:t>
            </a:r>
            <a:endParaRPr/>
          </a:p>
          <a:p>
            <a:pPr marL="0" marR="0" lvl="0" indent="0" algn="just" rtl="0">
              <a:spcBef>
                <a:spcPts val="0"/>
              </a:spcBef>
              <a:spcAft>
                <a:spcPts val="0"/>
              </a:spcAft>
              <a:buNone/>
            </a:pPr>
            <a:endParaRPr sz="2800">
              <a:solidFill>
                <a:schemeClr val="dk1"/>
              </a:solidFill>
              <a:latin typeface="Calibri"/>
              <a:ea typeface="Calibri"/>
              <a:cs typeface="Calibri"/>
              <a:sym typeface="Calibri"/>
            </a:endParaRPr>
          </a:p>
        </p:txBody>
      </p:sp>
      <p:pic>
        <p:nvPicPr>
          <p:cNvPr id="1207" name="Google Shape;1207;p64"/>
          <p:cNvPicPr preferRelativeResize="0"/>
          <p:nvPr/>
        </p:nvPicPr>
        <p:blipFill rotWithShape="1">
          <a:blip r:embed="rId3">
            <a:alphaModFix/>
          </a:blip>
          <a:srcRect/>
          <a:stretch/>
        </p:blipFill>
        <p:spPr>
          <a:xfrm>
            <a:off x="5334000" y="1600200"/>
            <a:ext cx="3581400" cy="4267200"/>
          </a:xfrm>
          <a:prstGeom prst="rect">
            <a:avLst/>
          </a:prstGeom>
          <a:solidFill>
            <a:schemeClr val="lt1"/>
          </a:solidFill>
          <a:ln>
            <a:noFill/>
          </a:ln>
        </p:spPr>
      </p:pic>
      <p:sp>
        <p:nvSpPr>
          <p:cNvPr id="1208" name="Google Shape;1208;p6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Black-Box Testing Strategies 1: </a:t>
            </a:r>
            <a:br>
              <a:rPr lang="en-US" sz="4000"/>
            </a:br>
            <a:r>
              <a:rPr lang="en-US" sz="4000"/>
              <a:t>Equivalence Partitioning (Cont.)</a:t>
            </a:r>
            <a:endParaRPr sz="4000"/>
          </a:p>
        </p:txBody>
      </p:sp>
      <p:sp>
        <p:nvSpPr>
          <p:cNvPr id="1214" name="Google Shape;1214;p65"/>
          <p:cNvSpPr txBox="1">
            <a:spLocks noGrp="1"/>
          </p:cNvSpPr>
          <p:nvPr>
            <p:ph type="body" idx="1"/>
          </p:nvPr>
        </p:nvSpPr>
        <p:spPr>
          <a:xfrm>
            <a:off x="457200" y="1600200"/>
            <a:ext cx="8229600" cy="46482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Font typeface="Arial"/>
              <a:buChar char="•"/>
            </a:pPr>
            <a:r>
              <a:rPr lang="en-US" sz="2400"/>
              <a:t>Suppose the specifications for a database product state that the product must be able to handle any </a:t>
            </a:r>
            <a:r>
              <a:rPr lang="en-US" sz="2400" b="1">
                <a:solidFill>
                  <a:srgbClr val="C00000"/>
                </a:solidFill>
              </a:rPr>
              <a:t>number of records</a:t>
            </a:r>
            <a:r>
              <a:rPr lang="en-US" sz="2400"/>
              <a:t> from 1 through 16,383 </a:t>
            </a:r>
            <a:endParaRPr/>
          </a:p>
          <a:p>
            <a:pPr marL="342900" lvl="0" indent="-342900" algn="just" rtl="0">
              <a:spcBef>
                <a:spcPts val="480"/>
              </a:spcBef>
              <a:spcAft>
                <a:spcPts val="0"/>
              </a:spcAft>
              <a:buClr>
                <a:schemeClr val="dk1"/>
              </a:buClr>
              <a:buSzPts val="2400"/>
              <a:buFont typeface="Arial"/>
              <a:buChar char="•"/>
            </a:pPr>
            <a:r>
              <a:rPr lang="en-US" sz="2400"/>
              <a:t>Valid data: Range of 1 to 16383</a:t>
            </a:r>
            <a:endParaRPr/>
          </a:p>
          <a:p>
            <a:pPr marL="342900" lvl="0" indent="-342900" algn="just" rtl="0">
              <a:spcBef>
                <a:spcPts val="480"/>
              </a:spcBef>
              <a:spcAft>
                <a:spcPts val="0"/>
              </a:spcAft>
              <a:buClr>
                <a:schemeClr val="dk1"/>
              </a:buClr>
              <a:buSzPts val="2400"/>
              <a:buFont typeface="Arial"/>
              <a:buChar char="•"/>
            </a:pPr>
            <a:r>
              <a:rPr lang="en-US" sz="2400"/>
              <a:t>Invalid data: i) less than 1 ii) More than 16383</a:t>
            </a:r>
            <a:endParaRPr/>
          </a:p>
          <a:p>
            <a:pPr marL="342900" lvl="0" indent="-342900" algn="just" rtl="0">
              <a:spcBef>
                <a:spcPts val="480"/>
              </a:spcBef>
              <a:spcAft>
                <a:spcPts val="0"/>
              </a:spcAft>
              <a:buClr>
                <a:schemeClr val="dk1"/>
              </a:buClr>
              <a:buSzPts val="2400"/>
              <a:buFont typeface="Arial"/>
              <a:buChar char="•"/>
            </a:pPr>
            <a:r>
              <a:rPr lang="en-US" sz="2400"/>
              <a:t>For this product, there are 3 equivalence classes: </a:t>
            </a:r>
            <a:endParaRPr/>
          </a:p>
          <a:p>
            <a:pPr marL="914400" lvl="1" indent="-457200" algn="just" rtl="0">
              <a:spcBef>
                <a:spcPts val="400"/>
              </a:spcBef>
              <a:spcAft>
                <a:spcPts val="0"/>
              </a:spcAft>
              <a:buClr>
                <a:schemeClr val="dk1"/>
              </a:buClr>
              <a:buSzPts val="2000"/>
              <a:buFont typeface="Calibri"/>
              <a:buAutoNum type="arabicPeriod"/>
            </a:pPr>
            <a:r>
              <a:rPr lang="en-US" sz="2000" b="1"/>
              <a:t>Equivalence class 1: less than one record </a:t>
            </a:r>
            <a:r>
              <a:rPr lang="en-US" sz="2000" b="1">
                <a:solidFill>
                  <a:srgbClr val="C00000"/>
                </a:solidFill>
              </a:rPr>
              <a:t>(invalid)</a:t>
            </a:r>
            <a:endParaRPr/>
          </a:p>
          <a:p>
            <a:pPr marL="914400" lvl="1" indent="-457200" algn="just" rtl="0">
              <a:spcBef>
                <a:spcPts val="400"/>
              </a:spcBef>
              <a:spcAft>
                <a:spcPts val="0"/>
              </a:spcAft>
              <a:buClr>
                <a:schemeClr val="dk1"/>
              </a:buClr>
              <a:buSzPts val="2000"/>
              <a:buFont typeface="Calibri"/>
              <a:buAutoNum type="arabicPeriod"/>
            </a:pPr>
            <a:r>
              <a:rPr lang="en-US" sz="2000" b="1"/>
              <a:t>Equivalence class 2: from 1 to 16,383 records </a:t>
            </a:r>
            <a:r>
              <a:rPr lang="en-US" sz="2000" b="1">
                <a:solidFill>
                  <a:srgbClr val="C00000"/>
                </a:solidFill>
              </a:rPr>
              <a:t>(valid)</a:t>
            </a:r>
            <a:endParaRPr/>
          </a:p>
          <a:p>
            <a:pPr marL="914400" lvl="1" indent="-457200" algn="just" rtl="0">
              <a:spcBef>
                <a:spcPts val="400"/>
              </a:spcBef>
              <a:spcAft>
                <a:spcPts val="0"/>
              </a:spcAft>
              <a:buClr>
                <a:schemeClr val="dk1"/>
              </a:buClr>
              <a:buSzPts val="2000"/>
              <a:buFont typeface="Calibri"/>
              <a:buAutoNum type="arabicPeriod"/>
            </a:pPr>
            <a:r>
              <a:rPr lang="en-US" sz="2000" b="1"/>
              <a:t>Equivalence class 3: more than 16,383 records </a:t>
            </a:r>
            <a:r>
              <a:rPr lang="en-US" sz="2000" b="1">
                <a:solidFill>
                  <a:srgbClr val="C00000"/>
                </a:solidFill>
              </a:rPr>
              <a:t>(invalid)</a:t>
            </a:r>
            <a:endParaRPr/>
          </a:p>
          <a:p>
            <a:pPr marL="342900" lvl="0" indent="-342900" algn="just" rtl="0">
              <a:spcBef>
                <a:spcPts val="480"/>
              </a:spcBef>
              <a:spcAft>
                <a:spcPts val="0"/>
              </a:spcAft>
              <a:buClr>
                <a:schemeClr val="dk1"/>
              </a:buClr>
              <a:buSzPts val="2400"/>
              <a:buFont typeface="Arial"/>
              <a:buChar char="•"/>
            </a:pPr>
            <a:r>
              <a:rPr lang="en-US" sz="2400"/>
              <a:t>Testing the database product then requires that one test class from each equivalence class be selected</a:t>
            </a:r>
            <a:endParaRPr/>
          </a:p>
          <a:p>
            <a:pPr marL="342900" lvl="0" indent="-139700" algn="just" rtl="0">
              <a:spcBef>
                <a:spcPts val="640"/>
              </a:spcBef>
              <a:spcAft>
                <a:spcPts val="0"/>
              </a:spcAft>
              <a:buClr>
                <a:schemeClr val="dk1"/>
              </a:buClr>
              <a:buSzPts val="3200"/>
              <a:buNone/>
            </a:pPr>
            <a:endParaRPr/>
          </a:p>
        </p:txBody>
      </p:sp>
      <p:sp>
        <p:nvSpPr>
          <p:cNvPr id="1215" name="Google Shape;1215;p6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216" name="Google Shape;1216;p6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20"/>
        <p:cNvGrpSpPr/>
        <p:nvPr/>
      </p:nvGrpSpPr>
      <p:grpSpPr>
        <a:xfrm>
          <a:off x="0" y="0"/>
          <a:ext cx="0" cy="0"/>
          <a:chOff x="0" y="0"/>
          <a:chExt cx="0" cy="0"/>
        </a:xfrm>
      </p:grpSpPr>
      <p:sp>
        <p:nvSpPr>
          <p:cNvPr id="1221" name="Google Shape;1221;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Test Cases</a:t>
            </a:r>
            <a:endParaRPr/>
          </a:p>
        </p:txBody>
      </p:sp>
      <p:graphicFrame>
        <p:nvGraphicFramePr>
          <p:cNvPr id="1222" name="Google Shape;1222;p66"/>
          <p:cNvGraphicFramePr/>
          <p:nvPr/>
        </p:nvGraphicFramePr>
        <p:xfrm>
          <a:off x="457200" y="1718310"/>
          <a:ext cx="8229600" cy="1706920"/>
        </p:xfrm>
        <a:graphic>
          <a:graphicData uri="http://schemas.openxmlformats.org/drawingml/2006/table">
            <a:tbl>
              <a:tblPr firstRow="1" bandRow="1">
                <a:noFill/>
                <a:tableStyleId>{87A5634C-A861-4563-950B-0DBFB26540DB}</a:tableStyleId>
              </a:tblPr>
              <a:tblGrid>
                <a:gridCol w="28956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2200"/>
                        <a:t>Equivalence Class</a:t>
                      </a:r>
                      <a:endParaRPr/>
                    </a:p>
                  </a:txBody>
                  <a:tcPr marL="91450" marR="91450" marT="45725" marB="45725"/>
                </a:tc>
                <a:tc>
                  <a:txBody>
                    <a:bodyPr/>
                    <a:lstStyle/>
                    <a:p>
                      <a:pPr marL="0" marR="0" lvl="0" indent="0" algn="l" rtl="0">
                        <a:spcBef>
                          <a:spcPts val="0"/>
                        </a:spcBef>
                        <a:spcAft>
                          <a:spcPts val="0"/>
                        </a:spcAft>
                        <a:buNone/>
                      </a:pPr>
                      <a:r>
                        <a:rPr lang="en-US" sz="2200"/>
                        <a:t>Status</a:t>
                      </a:r>
                      <a:endParaRPr/>
                    </a:p>
                  </a:txBody>
                  <a:tcPr marL="91450" marR="91450" marT="45725" marB="45725"/>
                </a:tc>
                <a:tc>
                  <a:txBody>
                    <a:bodyPr/>
                    <a:lstStyle/>
                    <a:p>
                      <a:pPr marL="0" marR="0" lvl="0" indent="0" algn="l" rtl="0">
                        <a:spcBef>
                          <a:spcPts val="0"/>
                        </a:spcBef>
                        <a:spcAft>
                          <a:spcPts val="0"/>
                        </a:spcAft>
                        <a:buNone/>
                      </a:pPr>
                      <a:r>
                        <a:rPr lang="en-US" sz="2200"/>
                        <a:t>Representative</a:t>
                      </a:r>
                      <a:endParaRPr/>
                    </a:p>
                  </a:txBody>
                  <a:tcPr marL="91450" marR="91450" marT="45725" marB="45725"/>
                </a:tc>
                <a:tc>
                  <a:txBody>
                    <a:bodyPr/>
                    <a:lstStyle/>
                    <a:p>
                      <a:pPr marL="0" marR="0" lvl="0" indent="0" algn="l" rtl="0">
                        <a:spcBef>
                          <a:spcPts val="0"/>
                        </a:spcBef>
                        <a:spcAft>
                          <a:spcPts val="0"/>
                        </a:spcAft>
                        <a:buNone/>
                      </a:pPr>
                      <a:r>
                        <a:rPr lang="en-US" sz="2200"/>
                        <a:t>Expected Result</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200" dirty="0"/>
                        <a:t>Record &lt; 1</a:t>
                      </a:r>
                      <a:endParaRPr sz="2200" dirty="0"/>
                    </a:p>
                  </a:txBody>
                  <a:tcPr marL="91450" marR="91450" marT="45725" marB="45725"/>
                </a:tc>
                <a:tc>
                  <a:txBody>
                    <a:bodyPr/>
                    <a:lstStyle/>
                    <a:p>
                      <a:pPr marL="0" marR="0" lvl="0" indent="0" algn="l" rtl="0">
                        <a:spcBef>
                          <a:spcPts val="0"/>
                        </a:spcBef>
                        <a:spcAft>
                          <a:spcPts val="0"/>
                        </a:spcAft>
                        <a:buNone/>
                      </a:pPr>
                      <a:r>
                        <a:rPr lang="en-US" sz="2200" dirty="0"/>
                        <a:t>invalid</a:t>
                      </a:r>
                      <a:endParaRPr dirty="0"/>
                    </a:p>
                  </a:txBody>
                  <a:tcPr marL="91450" marR="91450" marT="45725" marB="45725"/>
                </a:tc>
                <a:tc>
                  <a:txBody>
                    <a:bodyPr/>
                    <a:lstStyle/>
                    <a:p>
                      <a:pPr marL="0" marR="0" lvl="0" indent="0" algn="l" rtl="0">
                        <a:spcBef>
                          <a:spcPts val="0"/>
                        </a:spcBef>
                        <a:spcAft>
                          <a:spcPts val="0"/>
                        </a:spcAft>
                        <a:buNone/>
                      </a:pPr>
                      <a:r>
                        <a:rPr lang="en-US" sz="2200" dirty="0"/>
                        <a:t>0</a:t>
                      </a:r>
                      <a:endParaRPr dirty="0"/>
                    </a:p>
                  </a:txBody>
                  <a:tcPr marL="91450" marR="91450" marT="45725" marB="45725"/>
                </a:tc>
                <a:tc>
                  <a:txBody>
                    <a:bodyPr/>
                    <a:lstStyle/>
                    <a:p>
                      <a:pPr marL="0" marR="0" lvl="0" indent="0" algn="l" rtl="0">
                        <a:spcBef>
                          <a:spcPts val="0"/>
                        </a:spcBef>
                        <a:spcAft>
                          <a:spcPts val="0"/>
                        </a:spcAft>
                        <a:buNone/>
                      </a:pPr>
                      <a:r>
                        <a:rPr lang="en-US" sz="2200" dirty="0"/>
                        <a:t>Invalid record</a:t>
                      </a:r>
                      <a:endParaRPr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200"/>
                        <a:t>1 &lt;= Record &lt;= 16,383</a:t>
                      </a:r>
                      <a:endParaRPr/>
                    </a:p>
                  </a:txBody>
                  <a:tcPr marL="91450" marR="91450" marT="45725" marB="45725"/>
                </a:tc>
                <a:tc>
                  <a:txBody>
                    <a:bodyPr/>
                    <a:lstStyle/>
                    <a:p>
                      <a:pPr marL="0" marR="0" lvl="0" indent="0" algn="l" rtl="0">
                        <a:spcBef>
                          <a:spcPts val="0"/>
                        </a:spcBef>
                        <a:spcAft>
                          <a:spcPts val="0"/>
                        </a:spcAft>
                        <a:buNone/>
                      </a:pPr>
                      <a:r>
                        <a:rPr lang="en-US" sz="2200"/>
                        <a:t>valid</a:t>
                      </a:r>
                      <a:endParaRPr/>
                    </a:p>
                  </a:txBody>
                  <a:tcPr marL="91450" marR="91450" marT="45725" marB="45725"/>
                </a:tc>
                <a:tc>
                  <a:txBody>
                    <a:bodyPr/>
                    <a:lstStyle/>
                    <a:p>
                      <a:pPr marL="0" marR="0" lvl="0" indent="0" algn="l" rtl="0">
                        <a:spcBef>
                          <a:spcPts val="0"/>
                        </a:spcBef>
                        <a:spcAft>
                          <a:spcPts val="0"/>
                        </a:spcAft>
                        <a:buNone/>
                      </a:pPr>
                      <a:r>
                        <a:rPr lang="en-US" sz="2200"/>
                        <a:t>10,987</a:t>
                      </a:r>
                      <a:endParaRPr/>
                    </a:p>
                  </a:txBody>
                  <a:tcPr marL="91450" marR="91450" marT="45725" marB="45725"/>
                </a:tc>
                <a:tc>
                  <a:txBody>
                    <a:bodyPr/>
                    <a:lstStyle/>
                    <a:p>
                      <a:pPr marL="0" marR="0" lvl="0" indent="0" algn="l" rtl="0">
                        <a:spcBef>
                          <a:spcPts val="0"/>
                        </a:spcBef>
                        <a:spcAft>
                          <a:spcPts val="0"/>
                        </a:spcAft>
                        <a:buNone/>
                      </a:pPr>
                      <a:r>
                        <a:rPr lang="en-US" sz="2200" dirty="0"/>
                        <a:t>Product found</a:t>
                      </a:r>
                      <a:endParaRPr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200"/>
                        <a:t>Record &gt; 16,383</a:t>
                      </a:r>
                      <a:endParaRPr/>
                    </a:p>
                  </a:txBody>
                  <a:tcPr marL="91450" marR="91450" marT="45725" marB="45725"/>
                </a:tc>
                <a:tc>
                  <a:txBody>
                    <a:bodyPr/>
                    <a:lstStyle/>
                    <a:p>
                      <a:pPr marL="0" marR="0" lvl="0" indent="0" algn="l" rtl="0">
                        <a:spcBef>
                          <a:spcPts val="0"/>
                        </a:spcBef>
                        <a:spcAft>
                          <a:spcPts val="0"/>
                        </a:spcAft>
                        <a:buNone/>
                      </a:pPr>
                      <a:r>
                        <a:rPr lang="en-US" sz="2200"/>
                        <a:t>invalid</a:t>
                      </a:r>
                      <a:endParaRPr/>
                    </a:p>
                  </a:txBody>
                  <a:tcPr marL="91450" marR="91450" marT="45725" marB="45725"/>
                </a:tc>
                <a:tc>
                  <a:txBody>
                    <a:bodyPr/>
                    <a:lstStyle/>
                    <a:p>
                      <a:pPr marL="0" marR="0" lvl="0" indent="0" algn="l" rtl="0">
                        <a:spcBef>
                          <a:spcPts val="0"/>
                        </a:spcBef>
                        <a:spcAft>
                          <a:spcPts val="0"/>
                        </a:spcAft>
                        <a:buNone/>
                      </a:pPr>
                      <a:r>
                        <a:rPr lang="en-US" sz="2200"/>
                        <a:t>17,000</a:t>
                      </a:r>
                      <a:endParaRPr/>
                    </a:p>
                  </a:txBody>
                  <a:tcPr marL="91450" marR="91450" marT="45725" marB="45725"/>
                </a:tc>
                <a:tc>
                  <a:txBody>
                    <a:bodyPr/>
                    <a:lstStyle/>
                    <a:p>
                      <a:pPr marL="0" marR="0" lvl="0" indent="0" algn="l" rtl="0">
                        <a:spcBef>
                          <a:spcPts val="0"/>
                        </a:spcBef>
                        <a:spcAft>
                          <a:spcPts val="0"/>
                        </a:spcAft>
                        <a:buNone/>
                      </a:pPr>
                      <a:r>
                        <a:rPr lang="en-US" sz="2200" dirty="0"/>
                        <a:t>Invalid record</a:t>
                      </a:r>
                      <a:endParaRPr dirty="0"/>
                    </a:p>
                  </a:txBody>
                  <a:tcPr marL="91450" marR="91450" marT="45725" marB="45725"/>
                </a:tc>
                <a:extLst>
                  <a:ext uri="{0D108BD9-81ED-4DB2-BD59-A6C34878D82A}">
                    <a16:rowId xmlns:a16="http://schemas.microsoft.com/office/drawing/2014/main" val="10003"/>
                  </a:ext>
                </a:extLst>
              </a:tr>
            </a:tbl>
          </a:graphicData>
        </a:graphic>
      </p:graphicFrame>
      <p:sp>
        <p:nvSpPr>
          <p:cNvPr id="1223" name="Google Shape;1223;p6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224" name="Google Shape;1224;p66"/>
          <p:cNvSpPr txBox="1"/>
          <p:nvPr/>
        </p:nvSpPr>
        <p:spPr>
          <a:xfrm>
            <a:off x="457200" y="3581400"/>
            <a:ext cx="8229600" cy="1143000"/>
          </a:xfrm>
          <a:prstGeom prst="rect">
            <a:avLst/>
          </a:prstGeom>
          <a:noFill/>
          <a:ln>
            <a:noFill/>
          </a:ln>
        </p:spPr>
        <p:txBody>
          <a:bodyPr spcFirstLastPara="1" wrap="square" lIns="91425" tIns="45700" rIns="91425" bIns="45700" anchor="ctr" anchorCtr="0">
            <a:normAutofit fontScale="97500"/>
          </a:bodyPr>
          <a:lstStyle/>
          <a:p>
            <a:pPr marL="0" marR="0" lvl="0" indent="0" algn="l" rtl="0">
              <a:spcBef>
                <a:spcPts val="0"/>
              </a:spcBef>
              <a:spcAft>
                <a:spcPts val="0"/>
              </a:spcAft>
              <a:buClr>
                <a:schemeClr val="dk1"/>
              </a:buClr>
              <a:buSzPct val="100000"/>
              <a:buFont typeface="Calibri"/>
              <a:buNone/>
            </a:pPr>
            <a:r>
              <a:rPr lang="en-US" sz="3200" dirty="0">
                <a:solidFill>
                  <a:schemeClr val="dk1"/>
                </a:solidFill>
                <a:latin typeface="Calibri"/>
                <a:ea typeface="Calibri"/>
                <a:cs typeface="Calibri"/>
                <a:sym typeface="Calibri"/>
              </a:rPr>
              <a:t>3 test cases </a:t>
            </a:r>
            <a:endParaRPr sz="3200" dirty="0">
              <a:solidFill>
                <a:schemeClr val="dk1"/>
              </a:solidFill>
              <a:latin typeface="Calibri"/>
              <a:ea typeface="Calibri"/>
              <a:cs typeface="Calibri"/>
              <a:sym typeface="Calibri"/>
            </a:endParaRPr>
          </a:p>
        </p:txBody>
      </p:sp>
      <p:sp>
        <p:nvSpPr>
          <p:cNvPr id="1225" name="Google Shape;1225;p6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98">
          <a:extLst>
            <a:ext uri="{FF2B5EF4-FFF2-40B4-BE49-F238E27FC236}">
              <a16:creationId xmlns:a16="http://schemas.microsoft.com/office/drawing/2014/main" id="{B961F712-99A3-BD8F-8A6A-62A4A6F97515}"/>
            </a:ext>
          </a:extLst>
        </p:cNvPr>
        <p:cNvGrpSpPr/>
        <p:nvPr/>
      </p:nvGrpSpPr>
      <p:grpSpPr>
        <a:xfrm>
          <a:off x="0" y="0"/>
          <a:ext cx="0" cy="0"/>
          <a:chOff x="0" y="0"/>
          <a:chExt cx="0" cy="0"/>
        </a:xfrm>
      </p:grpSpPr>
      <p:sp>
        <p:nvSpPr>
          <p:cNvPr id="799" name="Google Shape;799;p49">
            <a:extLst>
              <a:ext uri="{FF2B5EF4-FFF2-40B4-BE49-F238E27FC236}">
                <a16:creationId xmlns:a16="http://schemas.microsoft.com/office/drawing/2014/main" id="{B64D1890-82C3-B1FF-8E94-3CC4AD862028}"/>
              </a:ext>
            </a:extLst>
          </p:cNvPr>
          <p:cNvSpPr txBox="1">
            <a:spLocks noGrp="1"/>
          </p:cNvSpPr>
          <p:nvPr>
            <p:ph type="title"/>
          </p:nvPr>
        </p:nvSpPr>
        <p:spPr>
          <a:xfrm>
            <a:off x="358760" y="6180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dirty="0"/>
          </a:p>
        </p:txBody>
      </p:sp>
      <p:sp>
        <p:nvSpPr>
          <p:cNvPr id="801" name="Google Shape;801;p49">
            <a:extLst>
              <a:ext uri="{FF2B5EF4-FFF2-40B4-BE49-F238E27FC236}">
                <a16:creationId xmlns:a16="http://schemas.microsoft.com/office/drawing/2014/main" id="{49089BE2-9D81-51D1-EC31-4F2950558CFB}"/>
              </a:ext>
            </a:extLst>
          </p:cNvPr>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802" name="Google Shape;802;p49">
            <a:extLst>
              <a:ext uri="{FF2B5EF4-FFF2-40B4-BE49-F238E27FC236}">
                <a16:creationId xmlns:a16="http://schemas.microsoft.com/office/drawing/2014/main" id="{45A6B353-A316-CA5B-7428-EB88F3F1992E}"/>
              </a:ext>
            </a:extLst>
          </p:cNvPr>
          <p:cNvGrpSpPr/>
          <p:nvPr/>
        </p:nvGrpSpPr>
        <p:grpSpPr>
          <a:xfrm>
            <a:off x="0" y="713232"/>
            <a:ext cx="8936059" cy="4215384"/>
            <a:chOff x="-59824" y="251004"/>
            <a:chExt cx="8936059" cy="6507226"/>
          </a:xfrm>
        </p:grpSpPr>
        <p:sp>
          <p:nvSpPr>
            <p:cNvPr id="806" name="Google Shape;806;p49">
              <a:extLst>
                <a:ext uri="{FF2B5EF4-FFF2-40B4-BE49-F238E27FC236}">
                  <a16:creationId xmlns:a16="http://schemas.microsoft.com/office/drawing/2014/main" id="{FE3BEFB2-EF40-E215-6B94-A8999BB09AE0}"/>
                </a:ext>
              </a:extLst>
            </p:cNvPr>
            <p:cNvSpPr/>
            <p:nvPr/>
          </p:nvSpPr>
          <p:spPr>
            <a:xfrm>
              <a:off x="7417416" y="3763231"/>
              <a:ext cx="680374" cy="347756"/>
            </a:xfrm>
            <a:custGeom>
              <a:avLst/>
              <a:gdLst/>
              <a:ahLst/>
              <a:cxnLst/>
              <a:rect l="l" t="t" r="r" b="b"/>
              <a:pathLst>
                <a:path w="120000" h="120000" extrusionOk="0">
                  <a:moveTo>
                    <a:pt x="0" y="0"/>
                  </a:moveTo>
                  <a:lnTo>
                    <a:pt x="0" y="79280"/>
                  </a:lnTo>
                  <a:lnTo>
                    <a:pt x="120000" y="7928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7" name="Google Shape;807;p49">
              <a:extLst>
                <a:ext uri="{FF2B5EF4-FFF2-40B4-BE49-F238E27FC236}">
                  <a16:creationId xmlns:a16="http://schemas.microsoft.com/office/drawing/2014/main" id="{A7C5E9ED-4472-563F-E28E-799655A5DC8A}"/>
                </a:ext>
              </a:extLst>
            </p:cNvPr>
            <p:cNvSpPr/>
            <p:nvPr/>
          </p:nvSpPr>
          <p:spPr>
            <a:xfrm>
              <a:off x="6056669" y="4919863"/>
              <a:ext cx="1818987" cy="878168"/>
            </a:xfrm>
            <a:custGeom>
              <a:avLst/>
              <a:gdLst/>
              <a:ahLst/>
              <a:cxnLst/>
              <a:rect l="l" t="t" r="r" b="b"/>
              <a:pathLst>
                <a:path w="120000" h="120000" extrusionOk="0">
                  <a:moveTo>
                    <a:pt x="0" y="0"/>
                  </a:moveTo>
                  <a:lnTo>
                    <a:pt x="0" y="103875"/>
                  </a:lnTo>
                  <a:lnTo>
                    <a:pt x="120000" y="103875"/>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8" name="Google Shape;808;p49">
              <a:extLst>
                <a:ext uri="{FF2B5EF4-FFF2-40B4-BE49-F238E27FC236}">
                  <a16:creationId xmlns:a16="http://schemas.microsoft.com/office/drawing/2014/main" id="{C4127862-C58F-821E-4E99-202725228A08}"/>
                </a:ext>
              </a:extLst>
            </p:cNvPr>
            <p:cNvSpPr/>
            <p:nvPr/>
          </p:nvSpPr>
          <p:spPr>
            <a:xfrm>
              <a:off x="5772137" y="4919863"/>
              <a:ext cx="284531"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9" name="Google Shape;809;p49">
              <a:extLst>
                <a:ext uri="{FF2B5EF4-FFF2-40B4-BE49-F238E27FC236}">
                  <a16:creationId xmlns:a16="http://schemas.microsoft.com/office/drawing/2014/main" id="{B269CD79-40CC-535A-F9BD-320B7FDA2555}"/>
                </a:ext>
              </a:extLst>
            </p:cNvPr>
            <p:cNvSpPr/>
            <p:nvPr/>
          </p:nvSpPr>
          <p:spPr>
            <a:xfrm>
              <a:off x="3586037" y="4919863"/>
              <a:ext cx="2470632"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0" name="Google Shape;810;p49">
              <a:extLst>
                <a:ext uri="{FF2B5EF4-FFF2-40B4-BE49-F238E27FC236}">
                  <a16:creationId xmlns:a16="http://schemas.microsoft.com/office/drawing/2014/main" id="{6DBC7234-10F4-FFAE-5594-F5F24CF1B557}"/>
                </a:ext>
              </a:extLst>
            </p:cNvPr>
            <p:cNvSpPr/>
            <p:nvPr/>
          </p:nvSpPr>
          <p:spPr>
            <a:xfrm>
              <a:off x="1364205" y="4919863"/>
              <a:ext cx="4692463"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1" name="Google Shape;811;p49">
              <a:extLst>
                <a:ext uri="{FF2B5EF4-FFF2-40B4-BE49-F238E27FC236}">
                  <a16:creationId xmlns:a16="http://schemas.microsoft.com/office/drawing/2014/main" id="{E291CE67-441D-CF46-A3D7-94FA0787F063}"/>
                </a:ext>
              </a:extLst>
            </p:cNvPr>
            <p:cNvSpPr/>
            <p:nvPr/>
          </p:nvSpPr>
          <p:spPr>
            <a:xfrm>
              <a:off x="6056669" y="3763231"/>
              <a:ext cx="1360746" cy="347756"/>
            </a:xfrm>
            <a:custGeom>
              <a:avLst/>
              <a:gdLst/>
              <a:ahLst/>
              <a:cxnLst/>
              <a:rect l="l" t="t" r="r" b="b"/>
              <a:pathLst>
                <a:path w="120000" h="120000" extrusionOk="0">
                  <a:moveTo>
                    <a:pt x="120000" y="0"/>
                  </a:moveTo>
                  <a:lnTo>
                    <a:pt x="120000" y="79280"/>
                  </a:lnTo>
                  <a:lnTo>
                    <a:pt x="0" y="79280"/>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3" name="Google Shape;813;p49">
              <a:extLst>
                <a:ext uri="{FF2B5EF4-FFF2-40B4-BE49-F238E27FC236}">
                  <a16:creationId xmlns:a16="http://schemas.microsoft.com/office/drawing/2014/main" id="{54BFB93C-F799-6DFF-5AAA-AA45AFD5DA55}"/>
                </a:ext>
              </a:extLst>
            </p:cNvPr>
            <p:cNvSpPr/>
            <p:nvPr/>
          </p:nvSpPr>
          <p:spPr>
            <a:xfrm>
              <a:off x="3044730" y="3831266"/>
              <a:ext cx="135491" cy="347764"/>
            </a:xfrm>
            <a:custGeom>
              <a:avLst/>
              <a:gdLst/>
              <a:ahLst/>
              <a:cxnLst/>
              <a:rect l="l" t="t" r="r" b="b"/>
              <a:pathLst>
                <a:path w="120000" h="120000" extrusionOk="0">
                  <a:moveTo>
                    <a:pt x="0" y="0"/>
                  </a:moveTo>
                  <a:lnTo>
                    <a:pt x="0" y="79281"/>
                  </a:lnTo>
                  <a:lnTo>
                    <a:pt x="120000" y="79281"/>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4" name="Google Shape;814;p49">
              <a:extLst>
                <a:ext uri="{FF2B5EF4-FFF2-40B4-BE49-F238E27FC236}">
                  <a16:creationId xmlns:a16="http://schemas.microsoft.com/office/drawing/2014/main" id="{48CFA465-1920-D0F3-084A-44283A4CDB4F}"/>
                </a:ext>
              </a:extLst>
            </p:cNvPr>
            <p:cNvSpPr/>
            <p:nvPr/>
          </p:nvSpPr>
          <p:spPr>
            <a:xfrm>
              <a:off x="780610" y="3831266"/>
              <a:ext cx="2264120" cy="347764"/>
            </a:xfrm>
            <a:custGeom>
              <a:avLst/>
              <a:gdLst/>
              <a:ahLst/>
              <a:cxnLst/>
              <a:rect l="l" t="t" r="r" b="b"/>
              <a:pathLst>
                <a:path w="120000" h="120000" extrusionOk="0">
                  <a:moveTo>
                    <a:pt x="120000" y="0"/>
                  </a:moveTo>
                  <a:lnTo>
                    <a:pt x="120000" y="79281"/>
                  </a:lnTo>
                  <a:lnTo>
                    <a:pt x="0" y="79281"/>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8" name="Google Shape;818;p49">
              <a:extLst>
                <a:ext uri="{FF2B5EF4-FFF2-40B4-BE49-F238E27FC236}">
                  <a16:creationId xmlns:a16="http://schemas.microsoft.com/office/drawing/2014/main" id="{683AC224-D1D1-16B2-2E6B-3F25D39A7B61}"/>
                </a:ext>
              </a:extLst>
            </p:cNvPr>
            <p:cNvSpPr/>
            <p:nvPr/>
          </p:nvSpPr>
          <p:spPr>
            <a:xfrm>
              <a:off x="3244579" y="251004"/>
              <a:ext cx="2414793" cy="808875"/>
            </a:xfrm>
            <a:prstGeom prst="roundRect">
              <a:avLst>
                <a:gd name="adj" fmla="val 1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9">
              <a:extLst>
                <a:ext uri="{FF2B5EF4-FFF2-40B4-BE49-F238E27FC236}">
                  <a16:creationId xmlns:a16="http://schemas.microsoft.com/office/drawing/2014/main" id="{2AFD7ECE-3346-BCB2-88D3-4D4F3B52739D}"/>
                </a:ext>
              </a:extLst>
            </p:cNvPr>
            <p:cNvSpPr/>
            <p:nvPr/>
          </p:nvSpPr>
          <p:spPr>
            <a:xfrm>
              <a:off x="3386115" y="385463"/>
              <a:ext cx="2414793" cy="808875"/>
            </a:xfrm>
            <a:prstGeom prst="roundRect">
              <a:avLst>
                <a:gd name="adj" fmla="val 10000"/>
              </a:avLst>
            </a:prstGeom>
            <a:solidFill>
              <a:srgbClr val="FFFF99">
                <a:alpha val="89803"/>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9">
              <a:extLst>
                <a:ext uri="{FF2B5EF4-FFF2-40B4-BE49-F238E27FC236}">
                  <a16:creationId xmlns:a16="http://schemas.microsoft.com/office/drawing/2014/main" id="{BBEB44AD-5F2A-A18A-C97A-BBAC8252E431}"/>
                </a:ext>
              </a:extLst>
            </p:cNvPr>
            <p:cNvSpPr txBox="1"/>
            <p:nvPr/>
          </p:nvSpPr>
          <p:spPr>
            <a:xfrm>
              <a:off x="3409806" y="409153"/>
              <a:ext cx="2362331" cy="81398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Test Case Design Technique (dynamic testing)</a:t>
              </a:r>
              <a:endParaRPr dirty="0"/>
            </a:p>
          </p:txBody>
        </p:sp>
        <p:sp>
          <p:nvSpPr>
            <p:cNvPr id="827" name="Google Shape;827;p49">
              <a:extLst>
                <a:ext uri="{FF2B5EF4-FFF2-40B4-BE49-F238E27FC236}">
                  <a16:creationId xmlns:a16="http://schemas.microsoft.com/office/drawing/2014/main" id="{C3E1180F-A635-1E38-B320-B0219A596D68}"/>
                </a:ext>
              </a:extLst>
            </p:cNvPr>
            <p:cNvSpPr/>
            <p:nvPr/>
          </p:nvSpPr>
          <p:spPr>
            <a:xfrm>
              <a:off x="2407820" y="3022390"/>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9">
              <a:extLst>
                <a:ext uri="{FF2B5EF4-FFF2-40B4-BE49-F238E27FC236}">
                  <a16:creationId xmlns:a16="http://schemas.microsoft.com/office/drawing/2014/main" id="{5B28C86A-B58F-1C0E-3490-3BC7ADECBCF9}"/>
                </a:ext>
              </a:extLst>
            </p:cNvPr>
            <p:cNvSpPr/>
            <p:nvPr/>
          </p:nvSpPr>
          <p:spPr>
            <a:xfrm>
              <a:off x="2549356" y="3156849"/>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9">
              <a:extLst>
                <a:ext uri="{FF2B5EF4-FFF2-40B4-BE49-F238E27FC236}">
                  <a16:creationId xmlns:a16="http://schemas.microsoft.com/office/drawing/2014/main" id="{ED13C343-514D-A268-E30D-F774F8F669B4}"/>
                </a:ext>
              </a:extLst>
            </p:cNvPr>
            <p:cNvSpPr txBox="1"/>
            <p:nvPr/>
          </p:nvSpPr>
          <p:spPr>
            <a:xfrm>
              <a:off x="2573047" y="3180540"/>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b) Black-box</a:t>
              </a:r>
              <a:endParaRPr dirty="0"/>
            </a:p>
          </p:txBody>
        </p:sp>
        <p:sp>
          <p:nvSpPr>
            <p:cNvPr id="830" name="Google Shape;830;p49">
              <a:extLst>
                <a:ext uri="{FF2B5EF4-FFF2-40B4-BE49-F238E27FC236}">
                  <a16:creationId xmlns:a16="http://schemas.microsoft.com/office/drawing/2014/main" id="{0C8B40D6-5729-694B-79A4-20A65375D7BB}"/>
                </a:ext>
              </a:extLst>
            </p:cNvPr>
            <p:cNvSpPr/>
            <p:nvPr/>
          </p:nvSpPr>
          <p:spPr>
            <a:xfrm>
              <a:off x="-59824" y="4179030"/>
              <a:ext cx="168086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9">
              <a:extLst>
                <a:ext uri="{FF2B5EF4-FFF2-40B4-BE49-F238E27FC236}">
                  <a16:creationId xmlns:a16="http://schemas.microsoft.com/office/drawing/2014/main" id="{5A495AC1-F4DC-6629-812C-69FB36DD89CF}"/>
                </a:ext>
              </a:extLst>
            </p:cNvPr>
            <p:cNvSpPr/>
            <p:nvPr/>
          </p:nvSpPr>
          <p:spPr>
            <a:xfrm>
              <a:off x="81711" y="4313489"/>
              <a:ext cx="168086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9">
              <a:extLst>
                <a:ext uri="{FF2B5EF4-FFF2-40B4-BE49-F238E27FC236}">
                  <a16:creationId xmlns:a16="http://schemas.microsoft.com/office/drawing/2014/main" id="{3C966A26-6E2D-5555-168F-B5299DDD2C90}"/>
                </a:ext>
              </a:extLst>
            </p:cNvPr>
            <p:cNvSpPr txBox="1"/>
            <p:nvPr/>
          </p:nvSpPr>
          <p:spPr>
            <a:xfrm>
              <a:off x="105402" y="4337180"/>
              <a:ext cx="163348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err="1">
                  <a:solidFill>
                    <a:schemeClr val="dk1"/>
                  </a:solidFill>
                  <a:latin typeface="Calibri"/>
                  <a:ea typeface="Calibri"/>
                  <a:cs typeface="Calibri"/>
                  <a:sym typeface="Calibri"/>
                </a:rPr>
                <a:t>i</a:t>
              </a:r>
              <a:r>
                <a:rPr lang="en-US" sz="1600" b="1" dirty="0">
                  <a:solidFill>
                    <a:schemeClr val="dk1"/>
                  </a:solidFill>
                  <a:latin typeface="Calibri"/>
                  <a:ea typeface="Calibri"/>
                  <a:cs typeface="Calibri"/>
                  <a:sym typeface="Calibri"/>
                </a:rPr>
                <a:t>) Equivalence Partitioning (EP)</a:t>
              </a:r>
              <a:endParaRPr dirty="0"/>
            </a:p>
          </p:txBody>
        </p:sp>
        <p:sp>
          <p:nvSpPr>
            <p:cNvPr id="833" name="Google Shape;833;p49">
              <a:extLst>
                <a:ext uri="{FF2B5EF4-FFF2-40B4-BE49-F238E27FC236}">
                  <a16:creationId xmlns:a16="http://schemas.microsoft.com/office/drawing/2014/main" id="{2A337234-4727-F633-92FE-BE77D5A4FB85}"/>
                </a:ext>
              </a:extLst>
            </p:cNvPr>
            <p:cNvSpPr/>
            <p:nvPr/>
          </p:nvSpPr>
          <p:spPr>
            <a:xfrm>
              <a:off x="2252276" y="4179030"/>
              <a:ext cx="1855891"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9">
              <a:extLst>
                <a:ext uri="{FF2B5EF4-FFF2-40B4-BE49-F238E27FC236}">
                  <a16:creationId xmlns:a16="http://schemas.microsoft.com/office/drawing/2014/main" id="{BC50982F-B794-3428-08D7-3477647A358A}"/>
                </a:ext>
              </a:extLst>
            </p:cNvPr>
            <p:cNvSpPr/>
            <p:nvPr/>
          </p:nvSpPr>
          <p:spPr>
            <a:xfrm>
              <a:off x="2393811" y="4313489"/>
              <a:ext cx="1855891"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9">
              <a:extLst>
                <a:ext uri="{FF2B5EF4-FFF2-40B4-BE49-F238E27FC236}">
                  <a16:creationId xmlns:a16="http://schemas.microsoft.com/office/drawing/2014/main" id="{97DDAC48-F3B6-0526-2AB2-1002D41B86C7}"/>
                </a:ext>
              </a:extLst>
            </p:cNvPr>
            <p:cNvSpPr txBox="1"/>
            <p:nvPr/>
          </p:nvSpPr>
          <p:spPr>
            <a:xfrm>
              <a:off x="2417502" y="4337180"/>
              <a:ext cx="1808509"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ii) Boundary Value Analysis (BVA)</a:t>
              </a:r>
              <a:endParaRPr dirty="0"/>
            </a:p>
          </p:txBody>
        </p:sp>
        <p:sp>
          <p:nvSpPr>
            <p:cNvPr id="836" name="Google Shape;836;p49">
              <a:extLst>
                <a:ext uri="{FF2B5EF4-FFF2-40B4-BE49-F238E27FC236}">
                  <a16:creationId xmlns:a16="http://schemas.microsoft.com/office/drawing/2014/main" id="{1CF59B92-13DF-97AA-4B8F-452487AB07B0}"/>
                </a:ext>
              </a:extLst>
            </p:cNvPr>
            <p:cNvSpPr/>
            <p:nvPr/>
          </p:nvSpPr>
          <p:spPr>
            <a:xfrm>
              <a:off x="6780506" y="2954356"/>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9">
              <a:extLst>
                <a:ext uri="{FF2B5EF4-FFF2-40B4-BE49-F238E27FC236}">
                  <a16:creationId xmlns:a16="http://schemas.microsoft.com/office/drawing/2014/main" id="{36DC4270-FD30-829A-5BCF-8D89F6DE2D20}"/>
                </a:ext>
              </a:extLst>
            </p:cNvPr>
            <p:cNvSpPr/>
            <p:nvPr/>
          </p:nvSpPr>
          <p:spPr>
            <a:xfrm>
              <a:off x="6922042" y="3088814"/>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9">
              <a:extLst>
                <a:ext uri="{FF2B5EF4-FFF2-40B4-BE49-F238E27FC236}">
                  <a16:creationId xmlns:a16="http://schemas.microsoft.com/office/drawing/2014/main" id="{E49FCF9B-B1B3-BEAE-F102-5D9F5BBF43B4}"/>
                </a:ext>
              </a:extLst>
            </p:cNvPr>
            <p:cNvSpPr txBox="1"/>
            <p:nvPr/>
          </p:nvSpPr>
          <p:spPr>
            <a:xfrm>
              <a:off x="6945733" y="3112505"/>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c) White-box</a:t>
              </a:r>
              <a:endParaRPr/>
            </a:p>
          </p:txBody>
        </p:sp>
        <p:sp>
          <p:nvSpPr>
            <p:cNvPr id="839" name="Google Shape;839;p49">
              <a:extLst>
                <a:ext uri="{FF2B5EF4-FFF2-40B4-BE49-F238E27FC236}">
                  <a16:creationId xmlns:a16="http://schemas.microsoft.com/office/drawing/2014/main" id="{6C5875A5-DF3B-CC79-F219-A6191677D7B2}"/>
                </a:ext>
              </a:extLst>
            </p:cNvPr>
            <p:cNvSpPr/>
            <p:nvPr/>
          </p:nvSpPr>
          <p:spPr>
            <a:xfrm>
              <a:off x="5419759"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9">
              <a:extLst>
                <a:ext uri="{FF2B5EF4-FFF2-40B4-BE49-F238E27FC236}">
                  <a16:creationId xmlns:a16="http://schemas.microsoft.com/office/drawing/2014/main" id="{D62AABDF-6315-751C-A7E5-52617E4565A2}"/>
                </a:ext>
              </a:extLst>
            </p:cNvPr>
            <p:cNvSpPr/>
            <p:nvPr/>
          </p:nvSpPr>
          <p:spPr>
            <a:xfrm>
              <a:off x="5561295"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9">
              <a:extLst>
                <a:ext uri="{FF2B5EF4-FFF2-40B4-BE49-F238E27FC236}">
                  <a16:creationId xmlns:a16="http://schemas.microsoft.com/office/drawing/2014/main" id="{7BBB65F7-BCE7-191A-0D54-358BC7EC4DBD}"/>
                </a:ext>
              </a:extLst>
            </p:cNvPr>
            <p:cNvSpPr txBox="1"/>
            <p:nvPr/>
          </p:nvSpPr>
          <p:spPr>
            <a:xfrm>
              <a:off x="5584986"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 Basis Path</a:t>
              </a:r>
              <a:endParaRPr/>
            </a:p>
          </p:txBody>
        </p:sp>
        <p:sp>
          <p:nvSpPr>
            <p:cNvPr id="842" name="Google Shape;842;p49">
              <a:extLst>
                <a:ext uri="{FF2B5EF4-FFF2-40B4-BE49-F238E27FC236}">
                  <a16:creationId xmlns:a16="http://schemas.microsoft.com/office/drawing/2014/main" id="{B07D1FD8-4F85-3F0A-4E48-B33F2B429A98}"/>
                </a:ext>
              </a:extLst>
            </p:cNvPr>
            <p:cNvSpPr/>
            <p:nvPr/>
          </p:nvSpPr>
          <p:spPr>
            <a:xfrm>
              <a:off x="727295" y="5814896"/>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9">
              <a:extLst>
                <a:ext uri="{FF2B5EF4-FFF2-40B4-BE49-F238E27FC236}">
                  <a16:creationId xmlns:a16="http://schemas.microsoft.com/office/drawing/2014/main" id="{5C7B9996-7A1B-B4D6-E03C-34F3D7516330}"/>
                </a:ext>
              </a:extLst>
            </p:cNvPr>
            <p:cNvSpPr/>
            <p:nvPr/>
          </p:nvSpPr>
          <p:spPr>
            <a:xfrm>
              <a:off x="868831" y="5949355"/>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9">
              <a:extLst>
                <a:ext uri="{FF2B5EF4-FFF2-40B4-BE49-F238E27FC236}">
                  <a16:creationId xmlns:a16="http://schemas.microsoft.com/office/drawing/2014/main" id="{FCFE4FD7-1058-ADCA-C9DC-3103984A067F}"/>
                </a:ext>
              </a:extLst>
            </p:cNvPr>
            <p:cNvSpPr txBox="1"/>
            <p:nvPr/>
          </p:nvSpPr>
          <p:spPr>
            <a:xfrm>
              <a:off x="892522" y="5973046"/>
              <a:ext cx="1226437"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1: draw </a:t>
              </a:r>
              <a:r>
                <a:rPr lang="en-US" sz="1400" b="1">
                  <a:solidFill>
                    <a:schemeClr val="dk1"/>
                  </a:solidFill>
                  <a:latin typeface="Calibri"/>
                  <a:ea typeface="Calibri"/>
                  <a:cs typeface="Calibri"/>
                  <a:sym typeface="Calibri"/>
                </a:rPr>
                <a:t>Flow Graph</a:t>
              </a:r>
              <a:endParaRPr/>
            </a:p>
          </p:txBody>
        </p:sp>
        <p:sp>
          <p:nvSpPr>
            <p:cNvPr id="845" name="Google Shape;845;p49">
              <a:extLst>
                <a:ext uri="{FF2B5EF4-FFF2-40B4-BE49-F238E27FC236}">
                  <a16:creationId xmlns:a16="http://schemas.microsoft.com/office/drawing/2014/main" id="{2A0BE188-BAE5-CD67-2CCF-1F9D994CA397}"/>
                </a:ext>
              </a:extLst>
            </p:cNvPr>
            <p:cNvSpPr/>
            <p:nvPr/>
          </p:nvSpPr>
          <p:spPr>
            <a:xfrm>
              <a:off x="2703668" y="5814896"/>
              <a:ext cx="1764737"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9">
              <a:extLst>
                <a:ext uri="{FF2B5EF4-FFF2-40B4-BE49-F238E27FC236}">
                  <a16:creationId xmlns:a16="http://schemas.microsoft.com/office/drawing/2014/main" id="{7549CBA2-35C4-C551-6835-C07901F40209}"/>
                </a:ext>
              </a:extLst>
            </p:cNvPr>
            <p:cNvSpPr/>
            <p:nvPr/>
          </p:nvSpPr>
          <p:spPr>
            <a:xfrm>
              <a:off x="2845204" y="5949355"/>
              <a:ext cx="1764737"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9">
              <a:extLst>
                <a:ext uri="{FF2B5EF4-FFF2-40B4-BE49-F238E27FC236}">
                  <a16:creationId xmlns:a16="http://schemas.microsoft.com/office/drawing/2014/main" id="{43270D51-C9E8-1D7E-C53F-AF2A1279A250}"/>
                </a:ext>
              </a:extLst>
            </p:cNvPr>
            <p:cNvSpPr txBox="1"/>
            <p:nvPr/>
          </p:nvSpPr>
          <p:spPr>
            <a:xfrm>
              <a:off x="2868895" y="5973046"/>
              <a:ext cx="1717355"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2 : calculate </a:t>
              </a:r>
              <a:r>
                <a:rPr lang="en-US" sz="1400" b="1">
                  <a:solidFill>
                    <a:schemeClr val="dk1"/>
                  </a:solidFill>
                  <a:latin typeface="Calibri"/>
                  <a:ea typeface="Calibri"/>
                  <a:cs typeface="Calibri"/>
                  <a:sym typeface="Calibri"/>
                </a:rPr>
                <a:t>Cyclomatic Complexity</a:t>
              </a:r>
              <a:endParaRPr/>
            </a:p>
          </p:txBody>
        </p:sp>
        <p:sp>
          <p:nvSpPr>
            <p:cNvPr id="848" name="Google Shape;848;p49">
              <a:extLst>
                <a:ext uri="{FF2B5EF4-FFF2-40B4-BE49-F238E27FC236}">
                  <a16:creationId xmlns:a16="http://schemas.microsoft.com/office/drawing/2014/main" id="{F329572D-66D0-DF9D-A367-8CA65BBCEAA2}"/>
                </a:ext>
              </a:extLst>
            </p:cNvPr>
            <p:cNvSpPr/>
            <p:nvPr/>
          </p:nvSpPr>
          <p:spPr>
            <a:xfrm>
              <a:off x="4940881" y="5814896"/>
              <a:ext cx="1662513"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9">
              <a:extLst>
                <a:ext uri="{FF2B5EF4-FFF2-40B4-BE49-F238E27FC236}">
                  <a16:creationId xmlns:a16="http://schemas.microsoft.com/office/drawing/2014/main" id="{FD45F508-9079-7D17-801F-E61DFBB43E61}"/>
                </a:ext>
              </a:extLst>
            </p:cNvPr>
            <p:cNvSpPr/>
            <p:nvPr/>
          </p:nvSpPr>
          <p:spPr>
            <a:xfrm>
              <a:off x="5082416" y="5949355"/>
              <a:ext cx="1662513"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9">
              <a:extLst>
                <a:ext uri="{FF2B5EF4-FFF2-40B4-BE49-F238E27FC236}">
                  <a16:creationId xmlns:a16="http://schemas.microsoft.com/office/drawing/2014/main" id="{3CC18B23-10C2-E281-3AB0-DA474135518E}"/>
                </a:ext>
              </a:extLst>
            </p:cNvPr>
            <p:cNvSpPr txBox="1"/>
            <p:nvPr/>
          </p:nvSpPr>
          <p:spPr>
            <a:xfrm>
              <a:off x="5106107" y="5973046"/>
              <a:ext cx="1615131"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3: identify </a:t>
              </a:r>
              <a:r>
                <a:rPr lang="en-US" sz="1400" b="1">
                  <a:solidFill>
                    <a:schemeClr val="dk1"/>
                  </a:solidFill>
                  <a:latin typeface="Calibri"/>
                  <a:ea typeface="Calibri"/>
                  <a:cs typeface="Calibri"/>
                  <a:sym typeface="Calibri"/>
                </a:rPr>
                <a:t>Independent Path</a:t>
              </a:r>
              <a:endParaRPr/>
            </a:p>
          </p:txBody>
        </p:sp>
        <p:sp>
          <p:nvSpPr>
            <p:cNvPr id="851" name="Google Shape;851;p49">
              <a:extLst>
                <a:ext uri="{FF2B5EF4-FFF2-40B4-BE49-F238E27FC236}">
                  <a16:creationId xmlns:a16="http://schemas.microsoft.com/office/drawing/2014/main" id="{B31011BF-6D76-0E9D-5A66-0165DB40334F}"/>
                </a:ext>
              </a:extLst>
            </p:cNvPr>
            <p:cNvSpPr/>
            <p:nvPr/>
          </p:nvSpPr>
          <p:spPr>
            <a:xfrm>
              <a:off x="7094760" y="5798031"/>
              <a:ext cx="1561792"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9">
              <a:extLst>
                <a:ext uri="{FF2B5EF4-FFF2-40B4-BE49-F238E27FC236}">
                  <a16:creationId xmlns:a16="http://schemas.microsoft.com/office/drawing/2014/main" id="{F9352A73-D55D-0541-6721-F2806B7CAF6E}"/>
                </a:ext>
              </a:extLst>
            </p:cNvPr>
            <p:cNvSpPr/>
            <p:nvPr/>
          </p:nvSpPr>
          <p:spPr>
            <a:xfrm>
              <a:off x="7236296" y="5932490"/>
              <a:ext cx="1561792"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9">
              <a:extLst>
                <a:ext uri="{FF2B5EF4-FFF2-40B4-BE49-F238E27FC236}">
                  <a16:creationId xmlns:a16="http://schemas.microsoft.com/office/drawing/2014/main" id="{D52CC395-D897-D3D8-866E-5EA399970E18}"/>
                </a:ext>
              </a:extLst>
            </p:cNvPr>
            <p:cNvSpPr txBox="1"/>
            <p:nvPr/>
          </p:nvSpPr>
          <p:spPr>
            <a:xfrm>
              <a:off x="7259987" y="5956181"/>
              <a:ext cx="1514410"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4: Generate </a:t>
              </a:r>
              <a:r>
                <a:rPr lang="en-US" sz="1400" b="1">
                  <a:solidFill>
                    <a:schemeClr val="dk1"/>
                  </a:solidFill>
                  <a:latin typeface="Calibri"/>
                  <a:ea typeface="Calibri"/>
                  <a:cs typeface="Calibri"/>
                  <a:sym typeface="Calibri"/>
                </a:rPr>
                <a:t>Test cases</a:t>
              </a:r>
              <a:endParaRPr/>
            </a:p>
          </p:txBody>
        </p:sp>
        <p:sp>
          <p:nvSpPr>
            <p:cNvPr id="854" name="Google Shape;854;p49">
              <a:extLst>
                <a:ext uri="{FF2B5EF4-FFF2-40B4-BE49-F238E27FC236}">
                  <a16:creationId xmlns:a16="http://schemas.microsoft.com/office/drawing/2014/main" id="{48E00E7E-10F3-65A9-3850-5E1A0FBA8E62}"/>
                </a:ext>
              </a:extLst>
            </p:cNvPr>
            <p:cNvSpPr/>
            <p:nvPr/>
          </p:nvSpPr>
          <p:spPr>
            <a:xfrm>
              <a:off x="7460880"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a:extLst>
                <a:ext uri="{FF2B5EF4-FFF2-40B4-BE49-F238E27FC236}">
                  <a16:creationId xmlns:a16="http://schemas.microsoft.com/office/drawing/2014/main" id="{94F41C65-EAAF-A623-2CD8-2CE64AF1D44F}"/>
                </a:ext>
              </a:extLst>
            </p:cNvPr>
            <p:cNvSpPr/>
            <p:nvPr/>
          </p:nvSpPr>
          <p:spPr>
            <a:xfrm>
              <a:off x="7602416"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9">
              <a:extLst>
                <a:ext uri="{FF2B5EF4-FFF2-40B4-BE49-F238E27FC236}">
                  <a16:creationId xmlns:a16="http://schemas.microsoft.com/office/drawing/2014/main" id="{C858ED7D-C8DE-2D25-8596-97380CD01A83}"/>
                </a:ext>
              </a:extLst>
            </p:cNvPr>
            <p:cNvSpPr txBox="1"/>
            <p:nvPr/>
          </p:nvSpPr>
          <p:spPr>
            <a:xfrm>
              <a:off x="7626107"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ii) Control Structure</a:t>
              </a:r>
              <a:endParaRPr/>
            </a:p>
          </p:txBody>
        </p:sp>
      </p:grpSp>
      <p:sp>
        <p:nvSpPr>
          <p:cNvPr id="866" name="Google Shape;866;p49">
            <a:extLst>
              <a:ext uri="{FF2B5EF4-FFF2-40B4-BE49-F238E27FC236}">
                <a16:creationId xmlns:a16="http://schemas.microsoft.com/office/drawing/2014/main" id="{2F62AB48-AF14-393F-0682-CEC867D35354}"/>
              </a:ext>
            </a:extLst>
          </p:cNvPr>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cxnSp>
        <p:nvCxnSpPr>
          <p:cNvPr id="3" name="Straight Arrow Connector 2">
            <a:extLst>
              <a:ext uri="{FF2B5EF4-FFF2-40B4-BE49-F238E27FC236}">
                <a16:creationId xmlns:a16="http://schemas.microsoft.com/office/drawing/2014/main" id="{532C9B97-B6E1-8940-DF84-27E628BFC071}"/>
              </a:ext>
            </a:extLst>
          </p:cNvPr>
          <p:cNvCxnSpPr>
            <a:stCxn id="819" idx="2"/>
          </p:cNvCxnSpPr>
          <p:nvPr/>
        </p:nvCxnSpPr>
        <p:spPr>
          <a:xfrm flipH="1">
            <a:off x="3374136" y="1324325"/>
            <a:ext cx="1279200" cy="11842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4C6DFD03-6EC4-BE21-C580-FC0DF57DBE3A}"/>
              </a:ext>
            </a:extLst>
          </p:cNvPr>
          <p:cNvCxnSpPr>
            <a:cxnSpLocks/>
          </p:cNvCxnSpPr>
          <p:nvPr/>
        </p:nvCxnSpPr>
        <p:spPr>
          <a:xfrm>
            <a:off x="4846320" y="1324325"/>
            <a:ext cx="2048618" cy="10714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DC90BCF-8204-BC7A-543C-4B5BF0448885}"/>
              </a:ext>
            </a:extLst>
          </p:cNvPr>
          <p:cNvSpPr txBox="1"/>
          <p:nvPr/>
        </p:nvSpPr>
        <p:spPr>
          <a:xfrm>
            <a:off x="3967689" y="2623794"/>
            <a:ext cx="1465555" cy="584775"/>
          </a:xfrm>
          <a:prstGeom prst="rect">
            <a:avLst/>
          </a:prstGeom>
          <a:noFill/>
        </p:spPr>
        <p:txBody>
          <a:bodyPr wrap="square" rtlCol="0">
            <a:spAutoFit/>
          </a:bodyPr>
          <a:lstStyle/>
          <a:p>
            <a:r>
              <a:rPr lang="en-MY" sz="800" dirty="0">
                <a:solidFill>
                  <a:srgbClr val="0070C0"/>
                </a:solidFill>
              </a:rPr>
              <a:t>Requirements based/</a:t>
            </a:r>
            <a:r>
              <a:rPr lang="en-US" sz="800" dirty="0">
                <a:solidFill>
                  <a:srgbClr val="0070C0"/>
                </a:solidFill>
              </a:rPr>
              <a:t> specification  based testing is an example of black box testing </a:t>
            </a:r>
            <a:endParaRPr lang="en-MY" sz="800" dirty="0">
              <a:solidFill>
                <a:srgbClr val="0070C0"/>
              </a:solidFill>
            </a:endParaRPr>
          </a:p>
        </p:txBody>
      </p:sp>
      <p:sp>
        <p:nvSpPr>
          <p:cNvPr id="5" name="TextBox 4">
            <a:extLst>
              <a:ext uri="{FF2B5EF4-FFF2-40B4-BE49-F238E27FC236}">
                <a16:creationId xmlns:a16="http://schemas.microsoft.com/office/drawing/2014/main" id="{9AA802C7-912D-18EB-7248-946939B5BFD3}"/>
              </a:ext>
            </a:extLst>
          </p:cNvPr>
          <p:cNvSpPr txBox="1"/>
          <p:nvPr/>
        </p:nvSpPr>
        <p:spPr>
          <a:xfrm>
            <a:off x="222487" y="2792573"/>
            <a:ext cx="4572000" cy="261610"/>
          </a:xfrm>
          <a:prstGeom prst="rect">
            <a:avLst/>
          </a:prstGeom>
          <a:noFill/>
        </p:spPr>
        <p:txBody>
          <a:bodyPr wrap="square">
            <a:spAutoFit/>
          </a:bodyPr>
          <a:lstStyle/>
          <a:p>
            <a:r>
              <a:rPr lang="en-US" sz="1100" b="1" dirty="0">
                <a:solidFill>
                  <a:schemeClr val="bg2"/>
                </a:solidFill>
              </a:rPr>
              <a:t>Black-Box Testing Strategies</a:t>
            </a:r>
            <a:r>
              <a:rPr lang="en-US" sz="1100" b="1" dirty="0">
                <a:solidFill>
                  <a:srgbClr val="FF0000"/>
                </a:solidFill>
              </a:rPr>
              <a:t>(*)</a:t>
            </a:r>
            <a:endParaRPr lang="en-MY" sz="1100" b="1" dirty="0">
              <a:solidFill>
                <a:srgbClr val="FF0000"/>
              </a:solidFill>
            </a:endParaRPr>
          </a:p>
        </p:txBody>
      </p:sp>
      <p:sp>
        <p:nvSpPr>
          <p:cNvPr id="9" name="TextBox 8">
            <a:extLst>
              <a:ext uri="{FF2B5EF4-FFF2-40B4-BE49-F238E27FC236}">
                <a16:creationId xmlns:a16="http://schemas.microsoft.com/office/drawing/2014/main" id="{DB4127A5-506D-974F-9DD6-159482992B27}"/>
              </a:ext>
            </a:extLst>
          </p:cNvPr>
          <p:cNvSpPr txBox="1"/>
          <p:nvPr/>
        </p:nvSpPr>
        <p:spPr>
          <a:xfrm>
            <a:off x="1752251" y="3558467"/>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
        <p:nvSpPr>
          <p:cNvPr id="11" name="TextBox 10">
            <a:extLst>
              <a:ext uri="{FF2B5EF4-FFF2-40B4-BE49-F238E27FC236}">
                <a16:creationId xmlns:a16="http://schemas.microsoft.com/office/drawing/2014/main" id="{BF959DC5-3EB3-12C5-8239-219AF342B9DA}"/>
              </a:ext>
            </a:extLst>
          </p:cNvPr>
          <p:cNvSpPr txBox="1"/>
          <p:nvPr/>
        </p:nvSpPr>
        <p:spPr>
          <a:xfrm>
            <a:off x="4277809" y="3527971"/>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Tree>
    <p:extLst>
      <p:ext uri="{BB962C8B-B14F-4D97-AF65-F5344CB8AC3E}">
        <p14:creationId xmlns:p14="http://schemas.microsoft.com/office/powerpoint/2010/main" val="8357069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dirty="0"/>
              <a:t>Black-Box Testing Strategies 2: </a:t>
            </a:r>
            <a:br>
              <a:rPr lang="en-US" sz="4000" dirty="0"/>
            </a:br>
            <a:r>
              <a:rPr lang="en-US" sz="4000" dirty="0"/>
              <a:t>Boundary Value Analysis (BVA)</a:t>
            </a:r>
            <a:endParaRPr sz="4000" dirty="0"/>
          </a:p>
        </p:txBody>
      </p:sp>
      <p:sp>
        <p:nvSpPr>
          <p:cNvPr id="1303" name="Google Shape;1303;p6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800"/>
              <a:buChar char="•"/>
            </a:pPr>
            <a:r>
              <a:rPr lang="en-US" sz="2800" dirty="0"/>
              <a:t>Large number of errors tend to occur at </a:t>
            </a:r>
            <a:r>
              <a:rPr lang="en-US" sz="2800" b="1" dirty="0">
                <a:solidFill>
                  <a:srgbClr val="C00000"/>
                </a:solidFill>
              </a:rPr>
              <a:t>boundaries</a:t>
            </a:r>
            <a:r>
              <a:rPr lang="en-US" sz="2800" dirty="0"/>
              <a:t> of the input domain</a:t>
            </a:r>
            <a:endParaRPr dirty="0"/>
          </a:p>
          <a:p>
            <a:pPr marL="342900" lvl="0" indent="-342900" algn="just" rtl="0">
              <a:spcBef>
                <a:spcPts val="1160"/>
              </a:spcBef>
              <a:spcAft>
                <a:spcPts val="0"/>
              </a:spcAft>
              <a:buClr>
                <a:schemeClr val="dk1"/>
              </a:buClr>
              <a:buSzPts val="2800"/>
              <a:buChar char="•"/>
            </a:pPr>
            <a:r>
              <a:rPr lang="en-US" sz="2800" dirty="0"/>
              <a:t>BVA leads to selection of test cases that exercise </a:t>
            </a:r>
            <a:r>
              <a:rPr lang="en-US" sz="2800" b="1" dirty="0">
                <a:solidFill>
                  <a:srgbClr val="C00000"/>
                </a:solidFill>
              </a:rPr>
              <a:t>boundary values</a:t>
            </a:r>
            <a:endParaRPr dirty="0"/>
          </a:p>
          <a:p>
            <a:pPr marL="342900" lvl="0" indent="-342900" algn="just" rtl="0">
              <a:spcBef>
                <a:spcPts val="1160"/>
              </a:spcBef>
              <a:spcAft>
                <a:spcPts val="0"/>
              </a:spcAft>
              <a:buClr>
                <a:schemeClr val="dk1"/>
              </a:buClr>
              <a:buSzPts val="2800"/>
              <a:buChar char="•"/>
            </a:pPr>
            <a:r>
              <a:rPr lang="en-US" sz="2800" dirty="0"/>
              <a:t>BVA </a:t>
            </a:r>
            <a:r>
              <a:rPr lang="en-US" sz="2800" b="1" dirty="0">
                <a:solidFill>
                  <a:srgbClr val="C00000"/>
                </a:solidFill>
              </a:rPr>
              <a:t>complements equivalence partitioning</a:t>
            </a:r>
            <a:endParaRPr dirty="0"/>
          </a:p>
          <a:p>
            <a:pPr marL="342900" lvl="0" indent="-342900" algn="just" rtl="0">
              <a:spcBef>
                <a:spcPts val="1160"/>
              </a:spcBef>
              <a:spcAft>
                <a:spcPts val="0"/>
              </a:spcAft>
              <a:buClr>
                <a:schemeClr val="dk1"/>
              </a:buClr>
              <a:buSzPts val="2800"/>
              <a:buChar char="•"/>
            </a:pPr>
            <a:r>
              <a:rPr lang="en-US" sz="2800" dirty="0"/>
              <a:t>Rather than select any element in an equivalence class, select those at the </a:t>
            </a:r>
            <a:r>
              <a:rPr lang="en-US" sz="2800" b="1" dirty="0">
                <a:solidFill>
                  <a:srgbClr val="C00000"/>
                </a:solidFill>
              </a:rPr>
              <a:t>'edge'</a:t>
            </a:r>
            <a:r>
              <a:rPr lang="en-US" sz="2800" dirty="0"/>
              <a:t> of the class</a:t>
            </a:r>
            <a:endParaRPr dirty="0"/>
          </a:p>
          <a:p>
            <a:pPr marL="342900" lvl="0" indent="-165100" algn="just" rtl="0">
              <a:spcBef>
                <a:spcPts val="1160"/>
              </a:spcBef>
              <a:spcAft>
                <a:spcPts val="0"/>
              </a:spcAft>
              <a:buClr>
                <a:schemeClr val="dk1"/>
              </a:buClr>
              <a:buSzPts val="2800"/>
              <a:buNone/>
            </a:pPr>
            <a:endParaRPr sz="2800" dirty="0"/>
          </a:p>
          <a:p>
            <a:pPr marL="342900" lvl="0" indent="-165100" algn="just" rtl="0">
              <a:spcBef>
                <a:spcPts val="1160"/>
              </a:spcBef>
              <a:spcAft>
                <a:spcPts val="0"/>
              </a:spcAft>
              <a:buClr>
                <a:schemeClr val="dk1"/>
              </a:buClr>
              <a:buSzPts val="2800"/>
              <a:buNone/>
            </a:pPr>
            <a:endParaRPr sz="2800" dirty="0"/>
          </a:p>
        </p:txBody>
      </p:sp>
      <p:sp>
        <p:nvSpPr>
          <p:cNvPr id="1304" name="Google Shape;1304;p6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305" name="Google Shape;1305;p6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09"/>
        <p:cNvGrpSpPr/>
        <p:nvPr/>
      </p:nvGrpSpPr>
      <p:grpSpPr>
        <a:xfrm>
          <a:off x="0" y="0"/>
          <a:ext cx="0" cy="0"/>
          <a:chOff x="0" y="0"/>
          <a:chExt cx="0" cy="0"/>
        </a:xfrm>
      </p:grpSpPr>
      <p:sp>
        <p:nvSpPr>
          <p:cNvPr id="1310" name="Google Shape;1310;p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Black-Box Testing Strategies 2: </a:t>
            </a:r>
            <a:br>
              <a:rPr lang="en-US" sz="4000"/>
            </a:br>
            <a:r>
              <a:rPr lang="en-US" sz="4000"/>
              <a:t>BVA (Cont.)</a:t>
            </a:r>
            <a:endParaRPr sz="4000"/>
          </a:p>
        </p:txBody>
      </p:sp>
      <p:sp>
        <p:nvSpPr>
          <p:cNvPr id="1311" name="Google Shape;1311;p6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90000"/>
              </a:lnSpc>
              <a:spcBef>
                <a:spcPts val="0"/>
              </a:spcBef>
              <a:spcAft>
                <a:spcPts val="0"/>
              </a:spcAft>
              <a:buClr>
                <a:schemeClr val="dk1"/>
              </a:buClr>
              <a:buSzPts val="2400"/>
              <a:buChar char="•"/>
            </a:pPr>
            <a:r>
              <a:rPr lang="en-US" sz="2400" dirty="0"/>
              <a:t>When creating BVA test cases, consider the following:</a:t>
            </a:r>
            <a:endParaRPr dirty="0"/>
          </a:p>
          <a:p>
            <a:pPr marL="742950" lvl="1" indent="-285750" algn="just" rtl="0">
              <a:lnSpc>
                <a:spcPct val="90000"/>
              </a:lnSpc>
              <a:spcBef>
                <a:spcPts val="480"/>
              </a:spcBef>
              <a:spcAft>
                <a:spcPts val="0"/>
              </a:spcAft>
              <a:buClr>
                <a:schemeClr val="dk1"/>
              </a:buClr>
              <a:buSzPts val="2400"/>
              <a:buChar char="–"/>
            </a:pPr>
            <a:r>
              <a:rPr lang="en-US" sz="2400" dirty="0"/>
              <a:t>If </a:t>
            </a:r>
            <a:r>
              <a:rPr lang="en-US" sz="2400" b="1" dirty="0">
                <a:solidFill>
                  <a:srgbClr val="C00000"/>
                </a:solidFill>
              </a:rPr>
              <a:t>input</a:t>
            </a:r>
            <a:r>
              <a:rPr lang="en-US" sz="2400" dirty="0"/>
              <a:t> conditions have a </a:t>
            </a:r>
            <a:r>
              <a:rPr lang="en-US" sz="2400" b="1" dirty="0">
                <a:solidFill>
                  <a:srgbClr val="C00000"/>
                </a:solidFill>
              </a:rPr>
              <a:t>range from a to b </a:t>
            </a:r>
            <a:r>
              <a:rPr lang="en-US" sz="2400" dirty="0"/>
              <a:t>(e.g. a=100 and b=300), create partitions:</a:t>
            </a:r>
            <a:endParaRPr dirty="0"/>
          </a:p>
          <a:p>
            <a:pPr marL="1143000" lvl="2" indent="-228600" algn="just" rtl="0">
              <a:lnSpc>
                <a:spcPct val="90000"/>
              </a:lnSpc>
              <a:spcBef>
                <a:spcPts val="480"/>
              </a:spcBef>
              <a:spcAft>
                <a:spcPts val="0"/>
              </a:spcAft>
              <a:buClr>
                <a:srgbClr val="C00000"/>
              </a:buClr>
              <a:buSzPts val="2400"/>
              <a:buChar char="•"/>
            </a:pPr>
            <a:r>
              <a:rPr lang="en-US" b="1" dirty="0">
                <a:solidFill>
                  <a:srgbClr val="C00000"/>
                </a:solidFill>
              </a:rPr>
              <a:t>Valid range: 100 to 300, 100 and 300</a:t>
            </a:r>
            <a:endParaRPr b="1" dirty="0">
              <a:solidFill>
                <a:srgbClr val="C00000"/>
              </a:solidFill>
            </a:endParaRPr>
          </a:p>
          <a:p>
            <a:pPr marL="1143000" lvl="2" indent="-228600" algn="just" rtl="0">
              <a:lnSpc>
                <a:spcPct val="90000"/>
              </a:lnSpc>
              <a:spcBef>
                <a:spcPts val="480"/>
              </a:spcBef>
              <a:spcAft>
                <a:spcPts val="0"/>
              </a:spcAft>
              <a:buClr>
                <a:srgbClr val="C00000"/>
              </a:buClr>
              <a:buSzPts val="2400"/>
              <a:buChar char="•"/>
            </a:pPr>
            <a:r>
              <a:rPr lang="en-US" b="1" dirty="0">
                <a:solidFill>
                  <a:srgbClr val="C00000"/>
                </a:solidFill>
              </a:rPr>
              <a:t>Invalid range 1: &lt;100  </a:t>
            </a:r>
          </a:p>
          <a:p>
            <a:pPr marL="1143000" lvl="2" indent="-228600" algn="just" rtl="0">
              <a:lnSpc>
                <a:spcPct val="90000"/>
              </a:lnSpc>
              <a:spcBef>
                <a:spcPts val="480"/>
              </a:spcBef>
              <a:spcAft>
                <a:spcPts val="0"/>
              </a:spcAft>
              <a:buClr>
                <a:srgbClr val="C00000"/>
              </a:buClr>
              <a:buSzPts val="2400"/>
              <a:buChar char="•"/>
            </a:pPr>
            <a:r>
              <a:rPr lang="en-US" b="1" dirty="0">
                <a:solidFill>
                  <a:srgbClr val="C00000"/>
                </a:solidFill>
              </a:rPr>
              <a:t>Invalid range 2: &gt;300 </a:t>
            </a:r>
          </a:p>
          <a:p>
            <a:pPr marL="1143000" lvl="2" indent="-228600" algn="just" rtl="0">
              <a:lnSpc>
                <a:spcPct val="90000"/>
              </a:lnSpc>
              <a:spcBef>
                <a:spcPts val="480"/>
              </a:spcBef>
              <a:spcAft>
                <a:spcPts val="0"/>
              </a:spcAft>
              <a:buClr>
                <a:srgbClr val="C00000"/>
              </a:buClr>
              <a:buSzPts val="2400"/>
              <a:buChar char="•"/>
            </a:pPr>
            <a:r>
              <a:rPr lang="en-US" sz="2400" dirty="0"/>
              <a:t>Then create test cases using the input values that sit at the border (apply inside/outside rule)</a:t>
            </a:r>
            <a:endParaRPr dirty="0"/>
          </a:p>
          <a:p>
            <a:pPr marL="742950" lvl="1" indent="-133350" algn="just" rtl="0">
              <a:lnSpc>
                <a:spcPct val="90000"/>
              </a:lnSpc>
              <a:spcBef>
                <a:spcPts val="480"/>
              </a:spcBef>
              <a:spcAft>
                <a:spcPts val="0"/>
              </a:spcAft>
              <a:buClr>
                <a:schemeClr val="dk1"/>
              </a:buClr>
              <a:buSzPts val="2400"/>
              <a:buNone/>
            </a:pPr>
            <a:endParaRPr sz="2400" dirty="0"/>
          </a:p>
          <a:p>
            <a:pPr marL="742950" lvl="1" indent="-133350" algn="just" rtl="0">
              <a:lnSpc>
                <a:spcPct val="90000"/>
              </a:lnSpc>
              <a:spcBef>
                <a:spcPts val="480"/>
              </a:spcBef>
              <a:spcAft>
                <a:spcPts val="0"/>
              </a:spcAft>
              <a:buClr>
                <a:schemeClr val="dk1"/>
              </a:buClr>
              <a:buSzPts val="2400"/>
              <a:buNone/>
            </a:pPr>
            <a:endParaRPr sz="2400" dirty="0"/>
          </a:p>
          <a:p>
            <a:pPr marL="742950" lvl="1" indent="-133350" algn="just" rtl="0">
              <a:lnSpc>
                <a:spcPct val="90000"/>
              </a:lnSpc>
              <a:spcBef>
                <a:spcPts val="480"/>
              </a:spcBef>
              <a:spcAft>
                <a:spcPts val="0"/>
              </a:spcAft>
              <a:buClr>
                <a:schemeClr val="dk1"/>
              </a:buClr>
              <a:buSzPts val="2400"/>
              <a:buNone/>
            </a:pPr>
            <a:endParaRPr sz="2400" dirty="0"/>
          </a:p>
          <a:p>
            <a:pPr marL="1143000" lvl="2" indent="-228600" algn="just" rtl="0">
              <a:spcBef>
                <a:spcPts val="480"/>
              </a:spcBef>
              <a:spcAft>
                <a:spcPts val="0"/>
              </a:spcAft>
              <a:buClr>
                <a:srgbClr val="C00000"/>
              </a:buClr>
              <a:buSzPts val="2400"/>
              <a:buChar char="•"/>
            </a:pPr>
            <a:r>
              <a:rPr lang="en-US" b="1" dirty="0">
                <a:solidFill>
                  <a:srgbClr val="C00000"/>
                </a:solidFill>
              </a:rPr>
              <a:t>4 test cases, i.e. when value n = 99, 100, 300, and 301</a:t>
            </a:r>
            <a:endParaRPr dirty="0"/>
          </a:p>
          <a:p>
            <a:pPr marL="0" lvl="0" indent="0" algn="just" rtl="0">
              <a:spcBef>
                <a:spcPts val="640"/>
              </a:spcBef>
              <a:spcAft>
                <a:spcPts val="0"/>
              </a:spcAft>
              <a:buClr>
                <a:schemeClr val="dk1"/>
              </a:buClr>
              <a:buSzPts val="3200"/>
              <a:buNone/>
            </a:pPr>
            <a:endParaRPr dirty="0"/>
          </a:p>
        </p:txBody>
      </p:sp>
      <p:sp>
        <p:nvSpPr>
          <p:cNvPr id="1312" name="Google Shape;1312;p6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aphicFrame>
        <p:nvGraphicFramePr>
          <p:cNvPr id="1313" name="Google Shape;1313;p69"/>
          <p:cNvGraphicFramePr/>
          <p:nvPr/>
        </p:nvGraphicFramePr>
        <p:xfrm>
          <a:off x="1524000" y="4419600"/>
          <a:ext cx="6096000" cy="741700"/>
        </p:xfrm>
        <a:graphic>
          <a:graphicData uri="http://schemas.openxmlformats.org/drawingml/2006/table">
            <a:tbl>
              <a:tblPr firstRow="1" bandRow="1">
                <a:noFill/>
                <a:tableStyleId>{430E3DEA-DF4F-4E09-8577-3AAA1515900B}</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n-US" sz="1800"/>
                        <a:t>Invalid</a:t>
                      </a:r>
                      <a:endParaRPr/>
                    </a:p>
                  </a:txBody>
                  <a:tcPr marL="91450" marR="91450" marT="45725" marB="45725"/>
                </a:tc>
                <a:tc>
                  <a:txBody>
                    <a:bodyPr/>
                    <a:lstStyle/>
                    <a:p>
                      <a:pPr marL="0" marR="0" lvl="0" indent="0" algn="ctr" rtl="0">
                        <a:spcBef>
                          <a:spcPts val="0"/>
                        </a:spcBef>
                        <a:spcAft>
                          <a:spcPts val="0"/>
                        </a:spcAft>
                        <a:buNone/>
                      </a:pPr>
                      <a:r>
                        <a:rPr lang="en-US" sz="1800"/>
                        <a:t>Valid</a:t>
                      </a:r>
                      <a:endParaRPr/>
                    </a:p>
                  </a:txBody>
                  <a:tcPr marL="91450" marR="91450" marT="45725" marB="45725"/>
                </a:tc>
                <a:tc>
                  <a:txBody>
                    <a:bodyPr/>
                    <a:lstStyle/>
                    <a:p>
                      <a:pPr marL="0" marR="0" lvl="0" indent="0" algn="ctr" rtl="0">
                        <a:spcBef>
                          <a:spcPts val="0"/>
                        </a:spcBef>
                        <a:spcAft>
                          <a:spcPts val="0"/>
                        </a:spcAft>
                        <a:buNone/>
                      </a:pPr>
                      <a:r>
                        <a:rPr lang="en-US" sz="1800"/>
                        <a:t>Invalid</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dirty="0"/>
                        <a:t>                              99</a:t>
                      </a:r>
                      <a:endParaRPr sz="1800" dirty="0"/>
                    </a:p>
                  </a:txBody>
                  <a:tcPr marL="91450" marR="91450" marT="45725" marB="45725"/>
                </a:tc>
                <a:tc>
                  <a:txBody>
                    <a:bodyPr/>
                    <a:lstStyle/>
                    <a:p>
                      <a:pPr marL="0" marR="0" lvl="0" indent="0" algn="l" rtl="0">
                        <a:spcBef>
                          <a:spcPts val="0"/>
                        </a:spcBef>
                        <a:spcAft>
                          <a:spcPts val="0"/>
                        </a:spcAft>
                        <a:buNone/>
                      </a:pPr>
                      <a:r>
                        <a:rPr lang="en-US" sz="1800" dirty="0"/>
                        <a:t>100                      300</a:t>
                      </a:r>
                      <a:endParaRPr dirty="0"/>
                    </a:p>
                  </a:txBody>
                  <a:tcPr marL="91450" marR="91450" marT="45725" marB="45725"/>
                </a:tc>
                <a:tc>
                  <a:txBody>
                    <a:bodyPr/>
                    <a:lstStyle/>
                    <a:p>
                      <a:pPr marL="0" marR="0" lvl="0" indent="0" algn="l" rtl="0">
                        <a:spcBef>
                          <a:spcPts val="0"/>
                        </a:spcBef>
                        <a:spcAft>
                          <a:spcPts val="0"/>
                        </a:spcAft>
                        <a:buNone/>
                      </a:pPr>
                      <a:r>
                        <a:rPr lang="en-US" sz="1800" dirty="0"/>
                        <a:t>301</a:t>
                      </a:r>
                      <a:endParaRPr dirty="0"/>
                    </a:p>
                  </a:txBody>
                  <a:tcPr marL="91450" marR="91450" marT="45725" marB="45725"/>
                </a:tc>
                <a:extLst>
                  <a:ext uri="{0D108BD9-81ED-4DB2-BD59-A6C34878D82A}">
                    <a16:rowId xmlns:a16="http://schemas.microsoft.com/office/drawing/2014/main" val="10001"/>
                  </a:ext>
                </a:extLst>
              </a:tr>
            </a:tbl>
          </a:graphicData>
        </a:graphic>
      </p:graphicFrame>
      <p:sp>
        <p:nvSpPr>
          <p:cNvPr id="1314" name="Google Shape;1314;p6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18"/>
        <p:cNvGrpSpPr/>
        <p:nvPr/>
      </p:nvGrpSpPr>
      <p:grpSpPr>
        <a:xfrm>
          <a:off x="0" y="0"/>
          <a:ext cx="0" cy="0"/>
          <a:chOff x="0" y="0"/>
          <a:chExt cx="0" cy="0"/>
        </a:xfrm>
      </p:grpSpPr>
      <p:sp>
        <p:nvSpPr>
          <p:cNvPr id="1319" name="Google Shape;1319;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Test Cases </a:t>
            </a:r>
            <a:endParaRPr/>
          </a:p>
        </p:txBody>
      </p:sp>
      <p:sp>
        <p:nvSpPr>
          <p:cNvPr id="1320" name="Google Shape;1320;p7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aphicFrame>
        <p:nvGraphicFramePr>
          <p:cNvPr id="1321" name="Google Shape;1321;p70"/>
          <p:cNvGraphicFramePr/>
          <p:nvPr/>
        </p:nvGraphicFramePr>
        <p:xfrm>
          <a:off x="483870" y="1911350"/>
          <a:ext cx="8229600" cy="2286050"/>
        </p:xfrm>
        <a:graphic>
          <a:graphicData uri="http://schemas.openxmlformats.org/drawingml/2006/table">
            <a:tbl>
              <a:tblPr firstRow="1" bandRow="1">
                <a:noFill/>
                <a:tableStyleId>{87A5634C-A861-4563-950B-0DBFB26540DB}</a:tableStyleId>
              </a:tblPr>
              <a:tblGrid>
                <a:gridCol w="3021325">
                  <a:extLst>
                    <a:ext uri="{9D8B030D-6E8A-4147-A177-3AD203B41FA5}">
                      <a16:colId xmlns:a16="http://schemas.microsoft.com/office/drawing/2014/main" val="20000"/>
                    </a:ext>
                  </a:extLst>
                </a:gridCol>
                <a:gridCol w="1093475">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2000"/>
                        <a:t>Equivalence Class</a:t>
                      </a:r>
                      <a:endParaRPr/>
                    </a:p>
                  </a:txBody>
                  <a:tcPr marL="91450" marR="91450" marT="45725" marB="45725"/>
                </a:tc>
                <a:tc>
                  <a:txBody>
                    <a:bodyPr/>
                    <a:lstStyle/>
                    <a:p>
                      <a:pPr marL="0" marR="0" lvl="0" indent="0" algn="l" rtl="0">
                        <a:spcBef>
                          <a:spcPts val="0"/>
                        </a:spcBef>
                        <a:spcAft>
                          <a:spcPts val="0"/>
                        </a:spcAft>
                        <a:buNone/>
                      </a:pPr>
                      <a:r>
                        <a:rPr lang="en-US" sz="2000"/>
                        <a:t>Status</a:t>
                      </a:r>
                      <a:endParaRPr/>
                    </a:p>
                  </a:txBody>
                  <a:tcPr marL="91450" marR="91450" marT="45725" marB="45725"/>
                </a:tc>
                <a:tc>
                  <a:txBody>
                    <a:bodyPr/>
                    <a:lstStyle/>
                    <a:p>
                      <a:pPr marL="0" marR="0" lvl="0" indent="0" algn="l" rtl="0">
                        <a:spcBef>
                          <a:spcPts val="0"/>
                        </a:spcBef>
                        <a:spcAft>
                          <a:spcPts val="0"/>
                        </a:spcAft>
                        <a:buNone/>
                      </a:pPr>
                      <a:r>
                        <a:rPr lang="en-US" sz="2000"/>
                        <a:t>Representative - BVA</a:t>
                      </a:r>
                      <a:endParaRPr/>
                    </a:p>
                  </a:txBody>
                  <a:tcPr marL="91450" marR="91450" marT="45725" marB="45725"/>
                </a:tc>
                <a:tc>
                  <a:txBody>
                    <a:bodyPr/>
                    <a:lstStyle/>
                    <a:p>
                      <a:pPr marL="0" marR="0" lvl="0" indent="0" algn="l" rtl="0">
                        <a:spcBef>
                          <a:spcPts val="0"/>
                        </a:spcBef>
                        <a:spcAft>
                          <a:spcPts val="0"/>
                        </a:spcAft>
                        <a:buNone/>
                      </a:pPr>
                      <a:r>
                        <a:rPr lang="en-US" sz="2000"/>
                        <a:t>Expected Result</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000" dirty="0"/>
                        <a:t>Data &lt; a (100)</a:t>
                      </a:r>
                      <a:endParaRPr sz="2000" dirty="0"/>
                    </a:p>
                  </a:txBody>
                  <a:tcPr marL="91450" marR="91450" marT="45725" marB="45725"/>
                </a:tc>
                <a:tc>
                  <a:txBody>
                    <a:bodyPr/>
                    <a:lstStyle/>
                    <a:p>
                      <a:pPr marL="0" marR="0" lvl="0" indent="0" algn="l" rtl="0">
                        <a:spcBef>
                          <a:spcPts val="0"/>
                        </a:spcBef>
                        <a:spcAft>
                          <a:spcPts val="0"/>
                        </a:spcAft>
                        <a:buNone/>
                      </a:pPr>
                      <a:r>
                        <a:rPr lang="en-US" sz="2000"/>
                        <a:t>invalid</a:t>
                      </a:r>
                      <a:endParaRPr/>
                    </a:p>
                  </a:txBody>
                  <a:tcPr marL="91450" marR="91450" marT="45725" marB="45725"/>
                </a:tc>
                <a:tc>
                  <a:txBody>
                    <a:bodyPr/>
                    <a:lstStyle/>
                    <a:p>
                      <a:pPr marL="0" marR="0" lvl="0" indent="0" algn="l" rtl="0">
                        <a:spcBef>
                          <a:spcPts val="0"/>
                        </a:spcBef>
                        <a:spcAft>
                          <a:spcPts val="0"/>
                        </a:spcAft>
                        <a:buNone/>
                      </a:pPr>
                      <a:r>
                        <a:rPr lang="en-US" sz="2000"/>
                        <a:t>99</a:t>
                      </a:r>
                      <a:endParaRPr/>
                    </a:p>
                  </a:txBody>
                  <a:tcPr marL="91450" marR="91450" marT="45725" marB="45725"/>
                </a:tc>
                <a:tc>
                  <a:txBody>
                    <a:bodyPr/>
                    <a:lstStyle/>
                    <a:p>
                      <a:pPr marL="0" marR="0" lvl="0" indent="0" algn="l" rtl="0">
                        <a:spcBef>
                          <a:spcPts val="0"/>
                        </a:spcBef>
                        <a:spcAft>
                          <a:spcPts val="0"/>
                        </a:spcAft>
                        <a:buNone/>
                      </a:pPr>
                      <a:r>
                        <a:rPr lang="en-US" sz="2000"/>
                        <a:t>Invalid data</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000"/>
                        <a:t>a (100) &lt;= Data &lt;= b (300)</a:t>
                      </a:r>
                      <a:endParaRPr sz="2000"/>
                    </a:p>
                  </a:txBody>
                  <a:tcPr marL="91450" marR="91450" marT="45725" marB="45725"/>
                </a:tc>
                <a:tc>
                  <a:txBody>
                    <a:bodyPr/>
                    <a:lstStyle/>
                    <a:p>
                      <a:pPr marL="0" marR="0" lvl="0" indent="0" algn="l" rtl="0">
                        <a:spcBef>
                          <a:spcPts val="0"/>
                        </a:spcBef>
                        <a:spcAft>
                          <a:spcPts val="0"/>
                        </a:spcAft>
                        <a:buNone/>
                      </a:pPr>
                      <a:r>
                        <a:rPr lang="en-US" sz="2000" dirty="0"/>
                        <a:t>valid</a:t>
                      </a:r>
                      <a:endParaRPr dirty="0"/>
                    </a:p>
                  </a:txBody>
                  <a:tcPr marL="91450" marR="91450" marT="45725" marB="45725"/>
                </a:tc>
                <a:tc>
                  <a:txBody>
                    <a:bodyPr/>
                    <a:lstStyle/>
                    <a:p>
                      <a:pPr marL="0" marR="0" lvl="0" indent="0" algn="l" rtl="0">
                        <a:spcBef>
                          <a:spcPts val="0"/>
                        </a:spcBef>
                        <a:spcAft>
                          <a:spcPts val="0"/>
                        </a:spcAft>
                        <a:buNone/>
                      </a:pPr>
                      <a:r>
                        <a:rPr lang="en-US" sz="2000" dirty="0"/>
                        <a:t>100</a:t>
                      </a:r>
                      <a:endParaRPr dirty="0"/>
                    </a:p>
                  </a:txBody>
                  <a:tcPr marL="91450" marR="91450" marT="45725" marB="45725"/>
                </a:tc>
                <a:tc>
                  <a:txBody>
                    <a:bodyPr/>
                    <a:lstStyle/>
                    <a:p>
                      <a:pPr marL="0" marR="0" lvl="0" indent="0" algn="l" rtl="0">
                        <a:spcBef>
                          <a:spcPts val="0"/>
                        </a:spcBef>
                        <a:spcAft>
                          <a:spcPts val="0"/>
                        </a:spcAft>
                        <a:buNone/>
                      </a:pPr>
                      <a:r>
                        <a:rPr lang="en-US" sz="2000"/>
                        <a:t>Data valid</a:t>
                      </a:r>
                      <a:endParaRPr sz="20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chemeClr val="dk1"/>
                        </a:buClr>
                        <a:buSzPts val="2000"/>
                        <a:buFont typeface="Calibri"/>
                        <a:buNone/>
                      </a:pPr>
                      <a:r>
                        <a:rPr lang="en-US" sz="2000"/>
                        <a:t>a (100) &lt;= Data &lt;= b (300)</a:t>
                      </a:r>
                      <a:endParaRPr sz="2000"/>
                    </a:p>
                  </a:txBody>
                  <a:tcPr marL="91450" marR="91450" marT="45725" marB="45725"/>
                </a:tc>
                <a:tc>
                  <a:txBody>
                    <a:bodyPr/>
                    <a:lstStyle/>
                    <a:p>
                      <a:pPr marL="0" marR="0" lvl="0" indent="0" algn="l" rtl="0">
                        <a:spcBef>
                          <a:spcPts val="0"/>
                        </a:spcBef>
                        <a:spcAft>
                          <a:spcPts val="0"/>
                        </a:spcAft>
                        <a:buNone/>
                      </a:pPr>
                      <a:r>
                        <a:rPr lang="en-US" sz="2000"/>
                        <a:t>valid</a:t>
                      </a:r>
                      <a:endParaRPr/>
                    </a:p>
                  </a:txBody>
                  <a:tcPr marL="91450" marR="91450" marT="45725" marB="45725"/>
                </a:tc>
                <a:tc>
                  <a:txBody>
                    <a:bodyPr/>
                    <a:lstStyle/>
                    <a:p>
                      <a:pPr marL="0" marR="0" lvl="0" indent="0" algn="l" rtl="0">
                        <a:spcBef>
                          <a:spcPts val="0"/>
                        </a:spcBef>
                        <a:spcAft>
                          <a:spcPts val="0"/>
                        </a:spcAft>
                        <a:buNone/>
                      </a:pPr>
                      <a:r>
                        <a:rPr lang="en-US" sz="2000" dirty="0"/>
                        <a:t>300</a:t>
                      </a:r>
                      <a:endParaRPr dirty="0"/>
                    </a:p>
                  </a:txBody>
                  <a:tcPr marL="91450" marR="91450" marT="45725" marB="45725"/>
                </a:tc>
                <a:tc>
                  <a:txBody>
                    <a:bodyPr/>
                    <a:lstStyle/>
                    <a:p>
                      <a:pPr marL="0" marR="0" lvl="0" indent="0" algn="l" rtl="0">
                        <a:spcBef>
                          <a:spcPts val="0"/>
                        </a:spcBef>
                        <a:spcAft>
                          <a:spcPts val="0"/>
                        </a:spcAft>
                        <a:buNone/>
                      </a:pPr>
                      <a:r>
                        <a:rPr lang="en-US" sz="2000"/>
                        <a:t>Data valid</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2000"/>
                        <a:t>Data &gt; b (300)</a:t>
                      </a:r>
                      <a:endParaRPr/>
                    </a:p>
                  </a:txBody>
                  <a:tcPr marL="91450" marR="91450" marT="45725" marB="45725"/>
                </a:tc>
                <a:tc>
                  <a:txBody>
                    <a:bodyPr/>
                    <a:lstStyle/>
                    <a:p>
                      <a:pPr marL="0" marR="0" lvl="0" indent="0" algn="l" rtl="0">
                        <a:spcBef>
                          <a:spcPts val="0"/>
                        </a:spcBef>
                        <a:spcAft>
                          <a:spcPts val="0"/>
                        </a:spcAft>
                        <a:buNone/>
                      </a:pPr>
                      <a:r>
                        <a:rPr lang="en-US" sz="2000"/>
                        <a:t>invalid</a:t>
                      </a:r>
                      <a:endParaRPr/>
                    </a:p>
                  </a:txBody>
                  <a:tcPr marL="91450" marR="91450" marT="45725" marB="45725"/>
                </a:tc>
                <a:tc>
                  <a:txBody>
                    <a:bodyPr/>
                    <a:lstStyle/>
                    <a:p>
                      <a:pPr marL="0" marR="0" lvl="0" indent="0" algn="l" rtl="0">
                        <a:spcBef>
                          <a:spcPts val="0"/>
                        </a:spcBef>
                        <a:spcAft>
                          <a:spcPts val="0"/>
                        </a:spcAft>
                        <a:buNone/>
                      </a:pPr>
                      <a:r>
                        <a:rPr lang="en-US" sz="2000" dirty="0"/>
                        <a:t>301</a:t>
                      </a:r>
                      <a:endParaRPr dirty="0"/>
                    </a:p>
                  </a:txBody>
                  <a:tcPr marL="91450" marR="91450" marT="45725" marB="45725"/>
                </a:tc>
                <a:tc>
                  <a:txBody>
                    <a:bodyPr/>
                    <a:lstStyle/>
                    <a:p>
                      <a:pPr marL="0" marR="0" lvl="0" indent="0" algn="l" rtl="0">
                        <a:spcBef>
                          <a:spcPts val="0"/>
                        </a:spcBef>
                        <a:spcAft>
                          <a:spcPts val="0"/>
                        </a:spcAft>
                        <a:buNone/>
                      </a:pPr>
                      <a:r>
                        <a:rPr lang="en-US" sz="2000" dirty="0"/>
                        <a:t>Invalid record</a:t>
                      </a:r>
                      <a:endParaRPr dirty="0"/>
                    </a:p>
                  </a:txBody>
                  <a:tcPr marL="91450" marR="91450" marT="45725" marB="45725"/>
                </a:tc>
                <a:extLst>
                  <a:ext uri="{0D108BD9-81ED-4DB2-BD59-A6C34878D82A}">
                    <a16:rowId xmlns:a16="http://schemas.microsoft.com/office/drawing/2014/main" val="10004"/>
                  </a:ext>
                </a:extLst>
              </a:tr>
            </a:tbl>
          </a:graphicData>
        </a:graphic>
      </p:graphicFrame>
      <p:sp>
        <p:nvSpPr>
          <p:cNvPr id="1322" name="Google Shape;1322;p70"/>
          <p:cNvSpPr txBox="1"/>
          <p:nvPr/>
        </p:nvSpPr>
        <p:spPr>
          <a:xfrm>
            <a:off x="457200" y="4254873"/>
            <a:ext cx="8229600" cy="1143000"/>
          </a:xfrm>
          <a:prstGeom prst="rect">
            <a:avLst/>
          </a:prstGeom>
          <a:noFill/>
          <a:ln>
            <a:noFill/>
          </a:ln>
        </p:spPr>
        <p:txBody>
          <a:bodyPr spcFirstLastPara="1" wrap="square" lIns="91425" tIns="45700" rIns="91425" bIns="45700" anchor="ctr" anchorCtr="0">
            <a:normAutofit fontScale="97500"/>
          </a:bodyPr>
          <a:lstStyle/>
          <a:p>
            <a:pPr marL="0" marR="0" lvl="0" indent="0" algn="l" rtl="0">
              <a:spcBef>
                <a:spcPts val="0"/>
              </a:spcBef>
              <a:spcAft>
                <a:spcPts val="0"/>
              </a:spcAft>
              <a:buClr>
                <a:schemeClr val="dk1"/>
              </a:buClr>
              <a:buSzPct val="100000"/>
              <a:buFont typeface="Calibri"/>
              <a:buNone/>
            </a:pPr>
            <a:r>
              <a:rPr lang="en-US" sz="2800" dirty="0">
                <a:solidFill>
                  <a:schemeClr val="dk1"/>
                </a:solidFill>
                <a:latin typeface="Calibri"/>
                <a:ea typeface="Calibri"/>
                <a:cs typeface="Calibri"/>
                <a:sym typeface="Calibri"/>
              </a:rPr>
              <a:t>4 test cases – due to 4 values of BVA</a:t>
            </a:r>
            <a:endParaRPr sz="2800" dirty="0">
              <a:solidFill>
                <a:schemeClr val="dk1"/>
              </a:solidFill>
              <a:latin typeface="Calibri"/>
              <a:ea typeface="Calibri"/>
              <a:cs typeface="Calibri"/>
              <a:sym typeface="Calibri"/>
            </a:endParaRPr>
          </a:p>
        </p:txBody>
      </p:sp>
      <p:sp>
        <p:nvSpPr>
          <p:cNvPr id="1323" name="Google Shape;1323;p7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98">
          <a:extLst>
            <a:ext uri="{FF2B5EF4-FFF2-40B4-BE49-F238E27FC236}">
              <a16:creationId xmlns:a16="http://schemas.microsoft.com/office/drawing/2014/main" id="{4B8F9D46-CACC-A4FC-D5FF-FF614473A215}"/>
            </a:ext>
          </a:extLst>
        </p:cNvPr>
        <p:cNvGrpSpPr/>
        <p:nvPr/>
      </p:nvGrpSpPr>
      <p:grpSpPr>
        <a:xfrm>
          <a:off x="0" y="0"/>
          <a:ext cx="0" cy="0"/>
          <a:chOff x="0" y="0"/>
          <a:chExt cx="0" cy="0"/>
        </a:xfrm>
      </p:grpSpPr>
      <p:sp>
        <p:nvSpPr>
          <p:cNvPr id="799" name="Google Shape;799;p49">
            <a:extLst>
              <a:ext uri="{FF2B5EF4-FFF2-40B4-BE49-F238E27FC236}">
                <a16:creationId xmlns:a16="http://schemas.microsoft.com/office/drawing/2014/main" id="{B3B12E7A-EC8A-D669-6185-BBCE9735E2B3}"/>
              </a:ext>
            </a:extLst>
          </p:cNvPr>
          <p:cNvSpPr txBox="1">
            <a:spLocks noGrp="1"/>
          </p:cNvSpPr>
          <p:nvPr>
            <p:ph type="title"/>
          </p:nvPr>
        </p:nvSpPr>
        <p:spPr>
          <a:xfrm>
            <a:off x="358760" y="6180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dirty="0"/>
          </a:p>
        </p:txBody>
      </p:sp>
      <p:sp>
        <p:nvSpPr>
          <p:cNvPr id="801" name="Google Shape;801;p49">
            <a:extLst>
              <a:ext uri="{FF2B5EF4-FFF2-40B4-BE49-F238E27FC236}">
                <a16:creationId xmlns:a16="http://schemas.microsoft.com/office/drawing/2014/main" id="{4108CFB7-6B63-305B-77F4-60FFA375BF1C}"/>
              </a:ext>
            </a:extLst>
          </p:cNvPr>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802" name="Google Shape;802;p49">
            <a:extLst>
              <a:ext uri="{FF2B5EF4-FFF2-40B4-BE49-F238E27FC236}">
                <a16:creationId xmlns:a16="http://schemas.microsoft.com/office/drawing/2014/main" id="{5768EDA9-B466-5E19-8483-A6CA4D144320}"/>
              </a:ext>
            </a:extLst>
          </p:cNvPr>
          <p:cNvGrpSpPr/>
          <p:nvPr/>
        </p:nvGrpSpPr>
        <p:grpSpPr>
          <a:xfrm>
            <a:off x="0" y="713232"/>
            <a:ext cx="8936059" cy="4215384"/>
            <a:chOff x="-59824" y="251004"/>
            <a:chExt cx="8936059" cy="6507226"/>
          </a:xfrm>
        </p:grpSpPr>
        <p:sp>
          <p:nvSpPr>
            <p:cNvPr id="806" name="Google Shape;806;p49">
              <a:extLst>
                <a:ext uri="{FF2B5EF4-FFF2-40B4-BE49-F238E27FC236}">
                  <a16:creationId xmlns:a16="http://schemas.microsoft.com/office/drawing/2014/main" id="{26729D55-4312-56E3-DE26-C885C50B9BCD}"/>
                </a:ext>
              </a:extLst>
            </p:cNvPr>
            <p:cNvSpPr/>
            <p:nvPr/>
          </p:nvSpPr>
          <p:spPr>
            <a:xfrm>
              <a:off x="7417416" y="3763231"/>
              <a:ext cx="680374" cy="347756"/>
            </a:xfrm>
            <a:custGeom>
              <a:avLst/>
              <a:gdLst/>
              <a:ahLst/>
              <a:cxnLst/>
              <a:rect l="l" t="t" r="r" b="b"/>
              <a:pathLst>
                <a:path w="120000" h="120000" extrusionOk="0">
                  <a:moveTo>
                    <a:pt x="0" y="0"/>
                  </a:moveTo>
                  <a:lnTo>
                    <a:pt x="0" y="79280"/>
                  </a:lnTo>
                  <a:lnTo>
                    <a:pt x="120000" y="7928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7" name="Google Shape;807;p49">
              <a:extLst>
                <a:ext uri="{FF2B5EF4-FFF2-40B4-BE49-F238E27FC236}">
                  <a16:creationId xmlns:a16="http://schemas.microsoft.com/office/drawing/2014/main" id="{9EB9F158-A48B-82AB-9DF9-003FD9A0BE3E}"/>
                </a:ext>
              </a:extLst>
            </p:cNvPr>
            <p:cNvSpPr/>
            <p:nvPr/>
          </p:nvSpPr>
          <p:spPr>
            <a:xfrm>
              <a:off x="6056669" y="4919863"/>
              <a:ext cx="1818987" cy="878168"/>
            </a:xfrm>
            <a:custGeom>
              <a:avLst/>
              <a:gdLst/>
              <a:ahLst/>
              <a:cxnLst/>
              <a:rect l="l" t="t" r="r" b="b"/>
              <a:pathLst>
                <a:path w="120000" h="120000" extrusionOk="0">
                  <a:moveTo>
                    <a:pt x="0" y="0"/>
                  </a:moveTo>
                  <a:lnTo>
                    <a:pt x="0" y="103875"/>
                  </a:lnTo>
                  <a:lnTo>
                    <a:pt x="120000" y="103875"/>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8" name="Google Shape;808;p49">
              <a:extLst>
                <a:ext uri="{FF2B5EF4-FFF2-40B4-BE49-F238E27FC236}">
                  <a16:creationId xmlns:a16="http://schemas.microsoft.com/office/drawing/2014/main" id="{BEF8A793-807A-4494-9E5D-AD77C92A518D}"/>
                </a:ext>
              </a:extLst>
            </p:cNvPr>
            <p:cNvSpPr/>
            <p:nvPr/>
          </p:nvSpPr>
          <p:spPr>
            <a:xfrm>
              <a:off x="5772137" y="4919863"/>
              <a:ext cx="284531"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9" name="Google Shape;809;p49">
              <a:extLst>
                <a:ext uri="{FF2B5EF4-FFF2-40B4-BE49-F238E27FC236}">
                  <a16:creationId xmlns:a16="http://schemas.microsoft.com/office/drawing/2014/main" id="{D9034C07-D474-1D8C-E936-536AC6DC073D}"/>
                </a:ext>
              </a:extLst>
            </p:cNvPr>
            <p:cNvSpPr/>
            <p:nvPr/>
          </p:nvSpPr>
          <p:spPr>
            <a:xfrm>
              <a:off x="3586037" y="4919863"/>
              <a:ext cx="2470632"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0" name="Google Shape;810;p49">
              <a:extLst>
                <a:ext uri="{FF2B5EF4-FFF2-40B4-BE49-F238E27FC236}">
                  <a16:creationId xmlns:a16="http://schemas.microsoft.com/office/drawing/2014/main" id="{EB0D577C-D644-A204-8314-666B4A43BBF4}"/>
                </a:ext>
              </a:extLst>
            </p:cNvPr>
            <p:cNvSpPr/>
            <p:nvPr/>
          </p:nvSpPr>
          <p:spPr>
            <a:xfrm>
              <a:off x="1364205" y="4919863"/>
              <a:ext cx="4692463"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1" name="Google Shape;811;p49">
              <a:extLst>
                <a:ext uri="{FF2B5EF4-FFF2-40B4-BE49-F238E27FC236}">
                  <a16:creationId xmlns:a16="http://schemas.microsoft.com/office/drawing/2014/main" id="{9AEB93C4-B8B4-94AE-2845-C0B68DDB1C62}"/>
                </a:ext>
              </a:extLst>
            </p:cNvPr>
            <p:cNvSpPr/>
            <p:nvPr/>
          </p:nvSpPr>
          <p:spPr>
            <a:xfrm>
              <a:off x="6056669" y="3763231"/>
              <a:ext cx="1360746" cy="347756"/>
            </a:xfrm>
            <a:custGeom>
              <a:avLst/>
              <a:gdLst/>
              <a:ahLst/>
              <a:cxnLst/>
              <a:rect l="l" t="t" r="r" b="b"/>
              <a:pathLst>
                <a:path w="120000" h="120000" extrusionOk="0">
                  <a:moveTo>
                    <a:pt x="120000" y="0"/>
                  </a:moveTo>
                  <a:lnTo>
                    <a:pt x="120000" y="79280"/>
                  </a:lnTo>
                  <a:lnTo>
                    <a:pt x="0" y="79280"/>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3" name="Google Shape;813;p49">
              <a:extLst>
                <a:ext uri="{FF2B5EF4-FFF2-40B4-BE49-F238E27FC236}">
                  <a16:creationId xmlns:a16="http://schemas.microsoft.com/office/drawing/2014/main" id="{AF38B977-7C55-9D3C-63C7-08BB47158FCC}"/>
                </a:ext>
              </a:extLst>
            </p:cNvPr>
            <p:cNvSpPr/>
            <p:nvPr/>
          </p:nvSpPr>
          <p:spPr>
            <a:xfrm>
              <a:off x="3044730" y="3831266"/>
              <a:ext cx="135491" cy="347764"/>
            </a:xfrm>
            <a:custGeom>
              <a:avLst/>
              <a:gdLst/>
              <a:ahLst/>
              <a:cxnLst/>
              <a:rect l="l" t="t" r="r" b="b"/>
              <a:pathLst>
                <a:path w="120000" h="120000" extrusionOk="0">
                  <a:moveTo>
                    <a:pt x="0" y="0"/>
                  </a:moveTo>
                  <a:lnTo>
                    <a:pt x="0" y="79281"/>
                  </a:lnTo>
                  <a:lnTo>
                    <a:pt x="120000" y="79281"/>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4" name="Google Shape;814;p49">
              <a:extLst>
                <a:ext uri="{FF2B5EF4-FFF2-40B4-BE49-F238E27FC236}">
                  <a16:creationId xmlns:a16="http://schemas.microsoft.com/office/drawing/2014/main" id="{E9347D4D-D306-15AC-EEAA-4DF9C6A2DE60}"/>
                </a:ext>
              </a:extLst>
            </p:cNvPr>
            <p:cNvSpPr/>
            <p:nvPr/>
          </p:nvSpPr>
          <p:spPr>
            <a:xfrm>
              <a:off x="780610" y="3831266"/>
              <a:ext cx="2264120" cy="347764"/>
            </a:xfrm>
            <a:custGeom>
              <a:avLst/>
              <a:gdLst/>
              <a:ahLst/>
              <a:cxnLst/>
              <a:rect l="l" t="t" r="r" b="b"/>
              <a:pathLst>
                <a:path w="120000" h="120000" extrusionOk="0">
                  <a:moveTo>
                    <a:pt x="120000" y="0"/>
                  </a:moveTo>
                  <a:lnTo>
                    <a:pt x="120000" y="79281"/>
                  </a:lnTo>
                  <a:lnTo>
                    <a:pt x="0" y="79281"/>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8" name="Google Shape;818;p49">
              <a:extLst>
                <a:ext uri="{FF2B5EF4-FFF2-40B4-BE49-F238E27FC236}">
                  <a16:creationId xmlns:a16="http://schemas.microsoft.com/office/drawing/2014/main" id="{E7D0FF23-0E96-164F-9CCE-AFC204810644}"/>
                </a:ext>
              </a:extLst>
            </p:cNvPr>
            <p:cNvSpPr/>
            <p:nvPr/>
          </p:nvSpPr>
          <p:spPr>
            <a:xfrm>
              <a:off x="3244579" y="251004"/>
              <a:ext cx="2414793" cy="808875"/>
            </a:xfrm>
            <a:prstGeom prst="roundRect">
              <a:avLst>
                <a:gd name="adj" fmla="val 1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9">
              <a:extLst>
                <a:ext uri="{FF2B5EF4-FFF2-40B4-BE49-F238E27FC236}">
                  <a16:creationId xmlns:a16="http://schemas.microsoft.com/office/drawing/2014/main" id="{C4CE3100-4C86-7D2D-3B35-1E5AE399F8D8}"/>
                </a:ext>
              </a:extLst>
            </p:cNvPr>
            <p:cNvSpPr/>
            <p:nvPr/>
          </p:nvSpPr>
          <p:spPr>
            <a:xfrm>
              <a:off x="3386115" y="385463"/>
              <a:ext cx="2414793" cy="808875"/>
            </a:xfrm>
            <a:prstGeom prst="roundRect">
              <a:avLst>
                <a:gd name="adj" fmla="val 10000"/>
              </a:avLst>
            </a:prstGeom>
            <a:solidFill>
              <a:srgbClr val="FFFF99">
                <a:alpha val="89803"/>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9">
              <a:extLst>
                <a:ext uri="{FF2B5EF4-FFF2-40B4-BE49-F238E27FC236}">
                  <a16:creationId xmlns:a16="http://schemas.microsoft.com/office/drawing/2014/main" id="{8830263F-505B-BE83-BDCE-C567B6DF2EED}"/>
                </a:ext>
              </a:extLst>
            </p:cNvPr>
            <p:cNvSpPr txBox="1"/>
            <p:nvPr/>
          </p:nvSpPr>
          <p:spPr>
            <a:xfrm>
              <a:off x="3409806" y="409153"/>
              <a:ext cx="2362331" cy="81398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Test Case Design Technique (dynamic testing)</a:t>
              </a:r>
              <a:endParaRPr dirty="0"/>
            </a:p>
          </p:txBody>
        </p:sp>
        <p:sp>
          <p:nvSpPr>
            <p:cNvPr id="827" name="Google Shape;827;p49">
              <a:extLst>
                <a:ext uri="{FF2B5EF4-FFF2-40B4-BE49-F238E27FC236}">
                  <a16:creationId xmlns:a16="http://schemas.microsoft.com/office/drawing/2014/main" id="{9FAF8FBE-EB7B-A662-7682-D2B08DB10633}"/>
                </a:ext>
              </a:extLst>
            </p:cNvPr>
            <p:cNvSpPr/>
            <p:nvPr/>
          </p:nvSpPr>
          <p:spPr>
            <a:xfrm>
              <a:off x="2407820" y="3022390"/>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9">
              <a:extLst>
                <a:ext uri="{FF2B5EF4-FFF2-40B4-BE49-F238E27FC236}">
                  <a16:creationId xmlns:a16="http://schemas.microsoft.com/office/drawing/2014/main" id="{10A55B0C-A078-66CC-D4FA-8C8FB3F348F2}"/>
                </a:ext>
              </a:extLst>
            </p:cNvPr>
            <p:cNvSpPr/>
            <p:nvPr/>
          </p:nvSpPr>
          <p:spPr>
            <a:xfrm>
              <a:off x="2549356" y="3156849"/>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9">
              <a:extLst>
                <a:ext uri="{FF2B5EF4-FFF2-40B4-BE49-F238E27FC236}">
                  <a16:creationId xmlns:a16="http://schemas.microsoft.com/office/drawing/2014/main" id="{025291F8-9944-0D39-F723-5E7DB234D097}"/>
                </a:ext>
              </a:extLst>
            </p:cNvPr>
            <p:cNvSpPr txBox="1"/>
            <p:nvPr/>
          </p:nvSpPr>
          <p:spPr>
            <a:xfrm>
              <a:off x="2573047" y="3180540"/>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b) Black-box</a:t>
              </a:r>
              <a:endParaRPr dirty="0"/>
            </a:p>
          </p:txBody>
        </p:sp>
        <p:sp>
          <p:nvSpPr>
            <p:cNvPr id="830" name="Google Shape;830;p49">
              <a:extLst>
                <a:ext uri="{FF2B5EF4-FFF2-40B4-BE49-F238E27FC236}">
                  <a16:creationId xmlns:a16="http://schemas.microsoft.com/office/drawing/2014/main" id="{495A6E7D-044F-551C-62FE-113EF017B89F}"/>
                </a:ext>
              </a:extLst>
            </p:cNvPr>
            <p:cNvSpPr/>
            <p:nvPr/>
          </p:nvSpPr>
          <p:spPr>
            <a:xfrm>
              <a:off x="-59824" y="4179030"/>
              <a:ext cx="168086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9">
              <a:extLst>
                <a:ext uri="{FF2B5EF4-FFF2-40B4-BE49-F238E27FC236}">
                  <a16:creationId xmlns:a16="http://schemas.microsoft.com/office/drawing/2014/main" id="{2B9F07BD-583D-A308-6D0C-054B25D90BCA}"/>
                </a:ext>
              </a:extLst>
            </p:cNvPr>
            <p:cNvSpPr/>
            <p:nvPr/>
          </p:nvSpPr>
          <p:spPr>
            <a:xfrm>
              <a:off x="81711" y="4313489"/>
              <a:ext cx="168086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9">
              <a:extLst>
                <a:ext uri="{FF2B5EF4-FFF2-40B4-BE49-F238E27FC236}">
                  <a16:creationId xmlns:a16="http://schemas.microsoft.com/office/drawing/2014/main" id="{0E022950-B83D-7098-E53B-86CC509CBC16}"/>
                </a:ext>
              </a:extLst>
            </p:cNvPr>
            <p:cNvSpPr txBox="1"/>
            <p:nvPr/>
          </p:nvSpPr>
          <p:spPr>
            <a:xfrm>
              <a:off x="105402" y="4337180"/>
              <a:ext cx="163348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err="1">
                  <a:solidFill>
                    <a:schemeClr val="dk1"/>
                  </a:solidFill>
                  <a:latin typeface="Calibri"/>
                  <a:ea typeface="Calibri"/>
                  <a:cs typeface="Calibri"/>
                  <a:sym typeface="Calibri"/>
                </a:rPr>
                <a:t>i</a:t>
              </a:r>
              <a:r>
                <a:rPr lang="en-US" sz="1600" b="1" dirty="0">
                  <a:solidFill>
                    <a:schemeClr val="dk1"/>
                  </a:solidFill>
                  <a:latin typeface="Calibri"/>
                  <a:ea typeface="Calibri"/>
                  <a:cs typeface="Calibri"/>
                  <a:sym typeface="Calibri"/>
                </a:rPr>
                <a:t>) Equivalence Partitioning (EP)</a:t>
              </a:r>
              <a:endParaRPr dirty="0"/>
            </a:p>
          </p:txBody>
        </p:sp>
        <p:sp>
          <p:nvSpPr>
            <p:cNvPr id="833" name="Google Shape;833;p49">
              <a:extLst>
                <a:ext uri="{FF2B5EF4-FFF2-40B4-BE49-F238E27FC236}">
                  <a16:creationId xmlns:a16="http://schemas.microsoft.com/office/drawing/2014/main" id="{ECB69728-AB06-C921-B814-CD1A8E039141}"/>
                </a:ext>
              </a:extLst>
            </p:cNvPr>
            <p:cNvSpPr/>
            <p:nvPr/>
          </p:nvSpPr>
          <p:spPr>
            <a:xfrm>
              <a:off x="2252276" y="4179030"/>
              <a:ext cx="1855891"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9">
              <a:extLst>
                <a:ext uri="{FF2B5EF4-FFF2-40B4-BE49-F238E27FC236}">
                  <a16:creationId xmlns:a16="http://schemas.microsoft.com/office/drawing/2014/main" id="{ED4FD63E-8023-3284-C3D9-BF55FE81A070}"/>
                </a:ext>
              </a:extLst>
            </p:cNvPr>
            <p:cNvSpPr/>
            <p:nvPr/>
          </p:nvSpPr>
          <p:spPr>
            <a:xfrm>
              <a:off x="2393811" y="4313489"/>
              <a:ext cx="1855891"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9">
              <a:extLst>
                <a:ext uri="{FF2B5EF4-FFF2-40B4-BE49-F238E27FC236}">
                  <a16:creationId xmlns:a16="http://schemas.microsoft.com/office/drawing/2014/main" id="{14A9DB3C-71C7-3C38-43C4-E6EF7989C75B}"/>
                </a:ext>
              </a:extLst>
            </p:cNvPr>
            <p:cNvSpPr txBox="1"/>
            <p:nvPr/>
          </p:nvSpPr>
          <p:spPr>
            <a:xfrm>
              <a:off x="2417502" y="4337180"/>
              <a:ext cx="1808509"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ii) Boundary Value Analysis (BVA)</a:t>
              </a:r>
              <a:endParaRPr dirty="0"/>
            </a:p>
          </p:txBody>
        </p:sp>
        <p:sp>
          <p:nvSpPr>
            <p:cNvPr id="836" name="Google Shape;836;p49">
              <a:extLst>
                <a:ext uri="{FF2B5EF4-FFF2-40B4-BE49-F238E27FC236}">
                  <a16:creationId xmlns:a16="http://schemas.microsoft.com/office/drawing/2014/main" id="{DFAA6806-CFDA-2DB1-C305-B4437ED015A3}"/>
                </a:ext>
              </a:extLst>
            </p:cNvPr>
            <p:cNvSpPr/>
            <p:nvPr/>
          </p:nvSpPr>
          <p:spPr>
            <a:xfrm>
              <a:off x="6780506" y="2954356"/>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9">
              <a:extLst>
                <a:ext uri="{FF2B5EF4-FFF2-40B4-BE49-F238E27FC236}">
                  <a16:creationId xmlns:a16="http://schemas.microsoft.com/office/drawing/2014/main" id="{B3C9B9BC-C238-D63F-35D1-6615499F1942}"/>
                </a:ext>
              </a:extLst>
            </p:cNvPr>
            <p:cNvSpPr/>
            <p:nvPr/>
          </p:nvSpPr>
          <p:spPr>
            <a:xfrm>
              <a:off x="6922042" y="3088814"/>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9">
              <a:extLst>
                <a:ext uri="{FF2B5EF4-FFF2-40B4-BE49-F238E27FC236}">
                  <a16:creationId xmlns:a16="http://schemas.microsoft.com/office/drawing/2014/main" id="{D4E2C7C6-B13A-609E-0D66-1DB098B7DBD9}"/>
                </a:ext>
              </a:extLst>
            </p:cNvPr>
            <p:cNvSpPr txBox="1"/>
            <p:nvPr/>
          </p:nvSpPr>
          <p:spPr>
            <a:xfrm>
              <a:off x="6945733" y="3112505"/>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c) White-box</a:t>
              </a:r>
              <a:endParaRPr/>
            </a:p>
          </p:txBody>
        </p:sp>
        <p:sp>
          <p:nvSpPr>
            <p:cNvPr id="839" name="Google Shape;839;p49">
              <a:extLst>
                <a:ext uri="{FF2B5EF4-FFF2-40B4-BE49-F238E27FC236}">
                  <a16:creationId xmlns:a16="http://schemas.microsoft.com/office/drawing/2014/main" id="{4A41D045-43D1-CC5D-AF08-FA3C5D54C06F}"/>
                </a:ext>
              </a:extLst>
            </p:cNvPr>
            <p:cNvSpPr/>
            <p:nvPr/>
          </p:nvSpPr>
          <p:spPr>
            <a:xfrm>
              <a:off x="5419759"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9">
              <a:extLst>
                <a:ext uri="{FF2B5EF4-FFF2-40B4-BE49-F238E27FC236}">
                  <a16:creationId xmlns:a16="http://schemas.microsoft.com/office/drawing/2014/main" id="{16012C6D-B053-B649-342B-C13E9D9435CC}"/>
                </a:ext>
              </a:extLst>
            </p:cNvPr>
            <p:cNvSpPr/>
            <p:nvPr/>
          </p:nvSpPr>
          <p:spPr>
            <a:xfrm>
              <a:off x="5561295"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9">
              <a:extLst>
                <a:ext uri="{FF2B5EF4-FFF2-40B4-BE49-F238E27FC236}">
                  <a16:creationId xmlns:a16="http://schemas.microsoft.com/office/drawing/2014/main" id="{1A9D0F32-8CA9-DABC-D874-31EE6065EEA8}"/>
                </a:ext>
              </a:extLst>
            </p:cNvPr>
            <p:cNvSpPr txBox="1"/>
            <p:nvPr/>
          </p:nvSpPr>
          <p:spPr>
            <a:xfrm>
              <a:off x="5584986"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 Basis Path</a:t>
              </a:r>
              <a:endParaRPr/>
            </a:p>
          </p:txBody>
        </p:sp>
        <p:sp>
          <p:nvSpPr>
            <p:cNvPr id="842" name="Google Shape;842;p49">
              <a:extLst>
                <a:ext uri="{FF2B5EF4-FFF2-40B4-BE49-F238E27FC236}">
                  <a16:creationId xmlns:a16="http://schemas.microsoft.com/office/drawing/2014/main" id="{342AD7A3-1978-3174-FACC-B8B67D13CE32}"/>
                </a:ext>
              </a:extLst>
            </p:cNvPr>
            <p:cNvSpPr/>
            <p:nvPr/>
          </p:nvSpPr>
          <p:spPr>
            <a:xfrm>
              <a:off x="727295" y="5814896"/>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9">
              <a:extLst>
                <a:ext uri="{FF2B5EF4-FFF2-40B4-BE49-F238E27FC236}">
                  <a16:creationId xmlns:a16="http://schemas.microsoft.com/office/drawing/2014/main" id="{A90DB48D-6D0E-98A8-4002-DA46D9484503}"/>
                </a:ext>
              </a:extLst>
            </p:cNvPr>
            <p:cNvSpPr/>
            <p:nvPr/>
          </p:nvSpPr>
          <p:spPr>
            <a:xfrm>
              <a:off x="868831" y="5949355"/>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9">
              <a:extLst>
                <a:ext uri="{FF2B5EF4-FFF2-40B4-BE49-F238E27FC236}">
                  <a16:creationId xmlns:a16="http://schemas.microsoft.com/office/drawing/2014/main" id="{2EAA1E45-6579-4422-8840-073AC65617BB}"/>
                </a:ext>
              </a:extLst>
            </p:cNvPr>
            <p:cNvSpPr txBox="1"/>
            <p:nvPr/>
          </p:nvSpPr>
          <p:spPr>
            <a:xfrm>
              <a:off x="892522" y="5973046"/>
              <a:ext cx="1226437"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1: draw </a:t>
              </a:r>
              <a:r>
                <a:rPr lang="en-US" sz="1400" b="1">
                  <a:solidFill>
                    <a:schemeClr val="dk1"/>
                  </a:solidFill>
                  <a:latin typeface="Calibri"/>
                  <a:ea typeface="Calibri"/>
                  <a:cs typeface="Calibri"/>
                  <a:sym typeface="Calibri"/>
                </a:rPr>
                <a:t>Flow Graph</a:t>
              </a:r>
              <a:endParaRPr/>
            </a:p>
          </p:txBody>
        </p:sp>
        <p:sp>
          <p:nvSpPr>
            <p:cNvPr id="845" name="Google Shape;845;p49">
              <a:extLst>
                <a:ext uri="{FF2B5EF4-FFF2-40B4-BE49-F238E27FC236}">
                  <a16:creationId xmlns:a16="http://schemas.microsoft.com/office/drawing/2014/main" id="{9682EACD-80C0-7F35-2B32-13A0C2A4B165}"/>
                </a:ext>
              </a:extLst>
            </p:cNvPr>
            <p:cNvSpPr/>
            <p:nvPr/>
          </p:nvSpPr>
          <p:spPr>
            <a:xfrm>
              <a:off x="2703668" y="5814896"/>
              <a:ext cx="1764737"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9">
              <a:extLst>
                <a:ext uri="{FF2B5EF4-FFF2-40B4-BE49-F238E27FC236}">
                  <a16:creationId xmlns:a16="http://schemas.microsoft.com/office/drawing/2014/main" id="{D99CB6A1-8F02-A857-8377-38A50C300382}"/>
                </a:ext>
              </a:extLst>
            </p:cNvPr>
            <p:cNvSpPr/>
            <p:nvPr/>
          </p:nvSpPr>
          <p:spPr>
            <a:xfrm>
              <a:off x="2845204" y="5949355"/>
              <a:ext cx="1764737"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9">
              <a:extLst>
                <a:ext uri="{FF2B5EF4-FFF2-40B4-BE49-F238E27FC236}">
                  <a16:creationId xmlns:a16="http://schemas.microsoft.com/office/drawing/2014/main" id="{71F57AAB-3CF0-4737-5CDF-8FFD66D008AB}"/>
                </a:ext>
              </a:extLst>
            </p:cNvPr>
            <p:cNvSpPr txBox="1"/>
            <p:nvPr/>
          </p:nvSpPr>
          <p:spPr>
            <a:xfrm>
              <a:off x="2868895" y="5973046"/>
              <a:ext cx="1717355"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2 : calculate </a:t>
              </a:r>
              <a:r>
                <a:rPr lang="en-US" sz="1400" b="1">
                  <a:solidFill>
                    <a:schemeClr val="dk1"/>
                  </a:solidFill>
                  <a:latin typeface="Calibri"/>
                  <a:ea typeface="Calibri"/>
                  <a:cs typeface="Calibri"/>
                  <a:sym typeface="Calibri"/>
                </a:rPr>
                <a:t>Cyclomatic Complexity</a:t>
              </a:r>
              <a:endParaRPr/>
            </a:p>
          </p:txBody>
        </p:sp>
        <p:sp>
          <p:nvSpPr>
            <p:cNvPr id="848" name="Google Shape;848;p49">
              <a:extLst>
                <a:ext uri="{FF2B5EF4-FFF2-40B4-BE49-F238E27FC236}">
                  <a16:creationId xmlns:a16="http://schemas.microsoft.com/office/drawing/2014/main" id="{382FDECC-3ACF-33AC-D5CC-7CCCE0CBBB59}"/>
                </a:ext>
              </a:extLst>
            </p:cNvPr>
            <p:cNvSpPr/>
            <p:nvPr/>
          </p:nvSpPr>
          <p:spPr>
            <a:xfrm>
              <a:off x="4940881" y="5814896"/>
              <a:ext cx="1662513"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9">
              <a:extLst>
                <a:ext uri="{FF2B5EF4-FFF2-40B4-BE49-F238E27FC236}">
                  <a16:creationId xmlns:a16="http://schemas.microsoft.com/office/drawing/2014/main" id="{D79CF0EC-ABF9-7560-8847-AA1103ADBD16}"/>
                </a:ext>
              </a:extLst>
            </p:cNvPr>
            <p:cNvSpPr/>
            <p:nvPr/>
          </p:nvSpPr>
          <p:spPr>
            <a:xfrm>
              <a:off x="5082416" y="5949355"/>
              <a:ext cx="1662513"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9">
              <a:extLst>
                <a:ext uri="{FF2B5EF4-FFF2-40B4-BE49-F238E27FC236}">
                  <a16:creationId xmlns:a16="http://schemas.microsoft.com/office/drawing/2014/main" id="{3E1F0817-995A-1FA4-D4E9-553DC7E4B557}"/>
                </a:ext>
              </a:extLst>
            </p:cNvPr>
            <p:cNvSpPr txBox="1"/>
            <p:nvPr/>
          </p:nvSpPr>
          <p:spPr>
            <a:xfrm>
              <a:off x="5106107" y="5973046"/>
              <a:ext cx="1615131"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3: identify </a:t>
              </a:r>
              <a:r>
                <a:rPr lang="en-US" sz="1400" b="1">
                  <a:solidFill>
                    <a:schemeClr val="dk1"/>
                  </a:solidFill>
                  <a:latin typeface="Calibri"/>
                  <a:ea typeface="Calibri"/>
                  <a:cs typeface="Calibri"/>
                  <a:sym typeface="Calibri"/>
                </a:rPr>
                <a:t>Independent Path</a:t>
              </a:r>
              <a:endParaRPr/>
            </a:p>
          </p:txBody>
        </p:sp>
        <p:sp>
          <p:nvSpPr>
            <p:cNvPr id="851" name="Google Shape;851;p49">
              <a:extLst>
                <a:ext uri="{FF2B5EF4-FFF2-40B4-BE49-F238E27FC236}">
                  <a16:creationId xmlns:a16="http://schemas.microsoft.com/office/drawing/2014/main" id="{03B56ADB-6C1E-A67A-7260-C66D73DAEEB3}"/>
                </a:ext>
              </a:extLst>
            </p:cNvPr>
            <p:cNvSpPr/>
            <p:nvPr/>
          </p:nvSpPr>
          <p:spPr>
            <a:xfrm>
              <a:off x="7094760" y="5798031"/>
              <a:ext cx="1561792"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9">
              <a:extLst>
                <a:ext uri="{FF2B5EF4-FFF2-40B4-BE49-F238E27FC236}">
                  <a16:creationId xmlns:a16="http://schemas.microsoft.com/office/drawing/2014/main" id="{217A3E01-0FEA-151B-851A-3C192CD6C9B3}"/>
                </a:ext>
              </a:extLst>
            </p:cNvPr>
            <p:cNvSpPr/>
            <p:nvPr/>
          </p:nvSpPr>
          <p:spPr>
            <a:xfrm>
              <a:off x="7236296" y="5932490"/>
              <a:ext cx="1561792"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9">
              <a:extLst>
                <a:ext uri="{FF2B5EF4-FFF2-40B4-BE49-F238E27FC236}">
                  <a16:creationId xmlns:a16="http://schemas.microsoft.com/office/drawing/2014/main" id="{4CC93FF6-CC26-E084-7BCB-AF04A6125CB7}"/>
                </a:ext>
              </a:extLst>
            </p:cNvPr>
            <p:cNvSpPr txBox="1"/>
            <p:nvPr/>
          </p:nvSpPr>
          <p:spPr>
            <a:xfrm>
              <a:off x="7259987" y="5956181"/>
              <a:ext cx="1514410"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4: Generate </a:t>
              </a:r>
              <a:r>
                <a:rPr lang="en-US" sz="1400" b="1">
                  <a:solidFill>
                    <a:schemeClr val="dk1"/>
                  </a:solidFill>
                  <a:latin typeface="Calibri"/>
                  <a:ea typeface="Calibri"/>
                  <a:cs typeface="Calibri"/>
                  <a:sym typeface="Calibri"/>
                </a:rPr>
                <a:t>Test cases</a:t>
              </a:r>
              <a:endParaRPr/>
            </a:p>
          </p:txBody>
        </p:sp>
        <p:sp>
          <p:nvSpPr>
            <p:cNvPr id="854" name="Google Shape;854;p49">
              <a:extLst>
                <a:ext uri="{FF2B5EF4-FFF2-40B4-BE49-F238E27FC236}">
                  <a16:creationId xmlns:a16="http://schemas.microsoft.com/office/drawing/2014/main" id="{07A0A892-891B-B0D7-4DA2-FB9DE55928B4}"/>
                </a:ext>
              </a:extLst>
            </p:cNvPr>
            <p:cNvSpPr/>
            <p:nvPr/>
          </p:nvSpPr>
          <p:spPr>
            <a:xfrm>
              <a:off x="7460880"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a:extLst>
                <a:ext uri="{FF2B5EF4-FFF2-40B4-BE49-F238E27FC236}">
                  <a16:creationId xmlns:a16="http://schemas.microsoft.com/office/drawing/2014/main" id="{858913DF-B14C-83EE-6EF1-A7C9A87C9A0A}"/>
                </a:ext>
              </a:extLst>
            </p:cNvPr>
            <p:cNvSpPr/>
            <p:nvPr/>
          </p:nvSpPr>
          <p:spPr>
            <a:xfrm>
              <a:off x="7602416"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9">
              <a:extLst>
                <a:ext uri="{FF2B5EF4-FFF2-40B4-BE49-F238E27FC236}">
                  <a16:creationId xmlns:a16="http://schemas.microsoft.com/office/drawing/2014/main" id="{4B92968B-1547-BCE8-0992-CA4CE8DBD297}"/>
                </a:ext>
              </a:extLst>
            </p:cNvPr>
            <p:cNvSpPr txBox="1"/>
            <p:nvPr/>
          </p:nvSpPr>
          <p:spPr>
            <a:xfrm>
              <a:off x="7626107"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ii) Control Structure</a:t>
              </a:r>
              <a:endParaRPr/>
            </a:p>
          </p:txBody>
        </p:sp>
      </p:grpSp>
      <p:sp>
        <p:nvSpPr>
          <p:cNvPr id="866" name="Google Shape;866;p49">
            <a:extLst>
              <a:ext uri="{FF2B5EF4-FFF2-40B4-BE49-F238E27FC236}">
                <a16:creationId xmlns:a16="http://schemas.microsoft.com/office/drawing/2014/main" id="{890295E4-2167-C0F4-FE52-9C8D441C1EDF}"/>
              </a:ext>
            </a:extLst>
          </p:cNvPr>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cxnSp>
        <p:nvCxnSpPr>
          <p:cNvPr id="3" name="Straight Arrow Connector 2">
            <a:extLst>
              <a:ext uri="{FF2B5EF4-FFF2-40B4-BE49-F238E27FC236}">
                <a16:creationId xmlns:a16="http://schemas.microsoft.com/office/drawing/2014/main" id="{B793AF26-6D7B-6677-9A6E-071E89E68872}"/>
              </a:ext>
            </a:extLst>
          </p:cNvPr>
          <p:cNvCxnSpPr>
            <a:stCxn id="819" idx="2"/>
          </p:cNvCxnSpPr>
          <p:nvPr/>
        </p:nvCxnSpPr>
        <p:spPr>
          <a:xfrm flipH="1">
            <a:off x="3374136" y="1324325"/>
            <a:ext cx="1279200" cy="11842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E5D753DE-FFCC-4B71-FC3F-7B475F7DF37D}"/>
              </a:ext>
            </a:extLst>
          </p:cNvPr>
          <p:cNvCxnSpPr>
            <a:cxnSpLocks/>
          </p:cNvCxnSpPr>
          <p:nvPr/>
        </p:nvCxnSpPr>
        <p:spPr>
          <a:xfrm>
            <a:off x="4846320" y="1324325"/>
            <a:ext cx="2048618" cy="10714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FCBDA62-4CD4-A74D-B4F1-3806A0189514}"/>
              </a:ext>
            </a:extLst>
          </p:cNvPr>
          <p:cNvSpPr txBox="1"/>
          <p:nvPr/>
        </p:nvSpPr>
        <p:spPr>
          <a:xfrm>
            <a:off x="3967689" y="2623794"/>
            <a:ext cx="1465555" cy="584775"/>
          </a:xfrm>
          <a:prstGeom prst="rect">
            <a:avLst/>
          </a:prstGeom>
          <a:noFill/>
        </p:spPr>
        <p:txBody>
          <a:bodyPr wrap="square" rtlCol="0">
            <a:spAutoFit/>
          </a:bodyPr>
          <a:lstStyle/>
          <a:p>
            <a:r>
              <a:rPr lang="en-MY" sz="800" dirty="0">
                <a:solidFill>
                  <a:srgbClr val="0070C0"/>
                </a:solidFill>
              </a:rPr>
              <a:t>Requirements based/</a:t>
            </a:r>
            <a:r>
              <a:rPr lang="en-US" sz="800" dirty="0">
                <a:solidFill>
                  <a:srgbClr val="0070C0"/>
                </a:solidFill>
              </a:rPr>
              <a:t> specification  based testing is an example of black box testing </a:t>
            </a:r>
            <a:endParaRPr lang="en-MY" sz="800" dirty="0">
              <a:solidFill>
                <a:srgbClr val="0070C0"/>
              </a:solidFill>
            </a:endParaRPr>
          </a:p>
        </p:txBody>
      </p:sp>
      <p:sp>
        <p:nvSpPr>
          <p:cNvPr id="5" name="TextBox 4">
            <a:extLst>
              <a:ext uri="{FF2B5EF4-FFF2-40B4-BE49-F238E27FC236}">
                <a16:creationId xmlns:a16="http://schemas.microsoft.com/office/drawing/2014/main" id="{9D8C291A-5C64-E9C9-9863-5DA983417767}"/>
              </a:ext>
            </a:extLst>
          </p:cNvPr>
          <p:cNvSpPr txBox="1"/>
          <p:nvPr/>
        </p:nvSpPr>
        <p:spPr>
          <a:xfrm>
            <a:off x="222487" y="2792573"/>
            <a:ext cx="4572000" cy="261610"/>
          </a:xfrm>
          <a:prstGeom prst="rect">
            <a:avLst/>
          </a:prstGeom>
          <a:noFill/>
        </p:spPr>
        <p:txBody>
          <a:bodyPr wrap="square">
            <a:spAutoFit/>
          </a:bodyPr>
          <a:lstStyle/>
          <a:p>
            <a:r>
              <a:rPr lang="en-US" sz="1100" b="1" dirty="0">
                <a:solidFill>
                  <a:schemeClr val="bg2"/>
                </a:solidFill>
              </a:rPr>
              <a:t>Black-Box Testing Strategies</a:t>
            </a:r>
            <a:r>
              <a:rPr lang="en-US" sz="1100" b="1" dirty="0">
                <a:solidFill>
                  <a:srgbClr val="FF0000"/>
                </a:solidFill>
              </a:rPr>
              <a:t>(*)</a:t>
            </a:r>
            <a:endParaRPr lang="en-MY" sz="1100" b="1" dirty="0">
              <a:solidFill>
                <a:srgbClr val="FF0000"/>
              </a:solidFill>
            </a:endParaRPr>
          </a:p>
        </p:txBody>
      </p:sp>
      <p:sp>
        <p:nvSpPr>
          <p:cNvPr id="9" name="TextBox 8">
            <a:extLst>
              <a:ext uri="{FF2B5EF4-FFF2-40B4-BE49-F238E27FC236}">
                <a16:creationId xmlns:a16="http://schemas.microsoft.com/office/drawing/2014/main" id="{A50BFD11-FE1F-C53F-EFFC-9E1A6A726179}"/>
              </a:ext>
            </a:extLst>
          </p:cNvPr>
          <p:cNvSpPr txBox="1"/>
          <p:nvPr/>
        </p:nvSpPr>
        <p:spPr>
          <a:xfrm>
            <a:off x="1752251" y="3558467"/>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
        <p:nvSpPr>
          <p:cNvPr id="11" name="TextBox 10">
            <a:extLst>
              <a:ext uri="{FF2B5EF4-FFF2-40B4-BE49-F238E27FC236}">
                <a16:creationId xmlns:a16="http://schemas.microsoft.com/office/drawing/2014/main" id="{FAF75D88-A8BE-4A20-DDE0-67374A6D91C5}"/>
              </a:ext>
            </a:extLst>
          </p:cNvPr>
          <p:cNvSpPr txBox="1"/>
          <p:nvPr/>
        </p:nvSpPr>
        <p:spPr>
          <a:xfrm>
            <a:off x="4277809" y="3527971"/>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Tree>
    <p:extLst>
      <p:ext uri="{BB962C8B-B14F-4D97-AF65-F5344CB8AC3E}">
        <p14:creationId xmlns:p14="http://schemas.microsoft.com/office/powerpoint/2010/main" val="6253782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27"/>
        <p:cNvGrpSpPr/>
        <p:nvPr/>
      </p:nvGrpSpPr>
      <p:grpSpPr>
        <a:xfrm>
          <a:off x="0" y="0"/>
          <a:ext cx="0" cy="0"/>
          <a:chOff x="0" y="0"/>
          <a:chExt cx="0" cy="0"/>
        </a:xfrm>
      </p:grpSpPr>
      <p:sp>
        <p:nvSpPr>
          <p:cNvPr id="1328" name="Google Shape;1328;p7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dirty="0"/>
              <a:t>Test-Case Design Technique: </a:t>
            </a:r>
            <a:br>
              <a:rPr lang="en-US" sz="4000" dirty="0"/>
            </a:br>
            <a:r>
              <a:rPr lang="en-US" sz="4000" dirty="0"/>
              <a:t>White-Box Testing</a:t>
            </a:r>
            <a:endParaRPr sz="4000" dirty="0"/>
          </a:p>
        </p:txBody>
      </p:sp>
      <p:sp>
        <p:nvSpPr>
          <p:cNvPr id="1329" name="Google Shape;1329;p7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800"/>
              <a:buChar char="•"/>
            </a:pPr>
            <a:r>
              <a:rPr lang="en-US" sz="2800"/>
              <a:t>A verification technique that software engineers can use to examine if their code works as expected</a:t>
            </a:r>
            <a:endParaRPr/>
          </a:p>
          <a:p>
            <a:pPr marL="342900" lvl="0" indent="-342900" algn="just" rtl="0">
              <a:spcBef>
                <a:spcPts val="560"/>
              </a:spcBef>
              <a:spcAft>
                <a:spcPts val="0"/>
              </a:spcAft>
              <a:buClr>
                <a:schemeClr val="dk1"/>
              </a:buClr>
              <a:buSzPts val="2800"/>
              <a:buChar char="•"/>
            </a:pPr>
            <a:r>
              <a:rPr lang="en-US" sz="2800"/>
              <a:t>Testing that takes into account the </a:t>
            </a:r>
            <a:r>
              <a:rPr lang="en-US" sz="2800" b="1">
                <a:solidFill>
                  <a:srgbClr val="C00000"/>
                </a:solidFill>
              </a:rPr>
              <a:t>internal mechanism </a:t>
            </a:r>
            <a:r>
              <a:rPr lang="en-US" sz="2800"/>
              <a:t>of a system or component (IEEE, 1990)</a:t>
            </a:r>
            <a:endParaRPr/>
          </a:p>
          <a:p>
            <a:pPr marL="342900" lvl="0" indent="-342900" algn="just" rtl="0">
              <a:spcBef>
                <a:spcPts val="560"/>
              </a:spcBef>
              <a:spcAft>
                <a:spcPts val="0"/>
              </a:spcAft>
              <a:buClr>
                <a:schemeClr val="dk1"/>
              </a:buClr>
              <a:buSzPts val="2800"/>
              <a:buChar char="•"/>
            </a:pPr>
            <a:r>
              <a:rPr lang="en-US" sz="2800"/>
              <a:t>Also known as structural testing, glass box testing, clear box testing</a:t>
            </a:r>
            <a:endParaRPr/>
          </a:p>
          <a:p>
            <a:pPr marL="342900" lvl="0" indent="-165100" algn="just" rtl="0">
              <a:spcBef>
                <a:spcPts val="560"/>
              </a:spcBef>
              <a:spcAft>
                <a:spcPts val="0"/>
              </a:spcAft>
              <a:buClr>
                <a:schemeClr val="dk1"/>
              </a:buClr>
              <a:buSzPts val="2800"/>
              <a:buNone/>
            </a:pPr>
            <a:endParaRPr sz="2800"/>
          </a:p>
          <a:p>
            <a:pPr marL="342900" lvl="0" indent="-165100" algn="just" rtl="0">
              <a:spcBef>
                <a:spcPts val="560"/>
              </a:spcBef>
              <a:spcAft>
                <a:spcPts val="0"/>
              </a:spcAft>
              <a:buClr>
                <a:schemeClr val="dk1"/>
              </a:buClr>
              <a:buSzPts val="2800"/>
              <a:buNone/>
            </a:pPr>
            <a:endParaRPr sz="2800"/>
          </a:p>
        </p:txBody>
      </p:sp>
      <p:sp>
        <p:nvSpPr>
          <p:cNvPr id="1330" name="Google Shape;1330;p7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331" name="Google Shape;1331;p7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98">
          <a:extLst>
            <a:ext uri="{FF2B5EF4-FFF2-40B4-BE49-F238E27FC236}">
              <a16:creationId xmlns:a16="http://schemas.microsoft.com/office/drawing/2014/main" id="{E75180D4-9275-9FD6-FF3B-4D4532119146}"/>
            </a:ext>
          </a:extLst>
        </p:cNvPr>
        <p:cNvGrpSpPr/>
        <p:nvPr/>
      </p:nvGrpSpPr>
      <p:grpSpPr>
        <a:xfrm>
          <a:off x="0" y="0"/>
          <a:ext cx="0" cy="0"/>
          <a:chOff x="0" y="0"/>
          <a:chExt cx="0" cy="0"/>
        </a:xfrm>
      </p:grpSpPr>
      <p:sp>
        <p:nvSpPr>
          <p:cNvPr id="799" name="Google Shape;799;p49">
            <a:extLst>
              <a:ext uri="{FF2B5EF4-FFF2-40B4-BE49-F238E27FC236}">
                <a16:creationId xmlns:a16="http://schemas.microsoft.com/office/drawing/2014/main" id="{D6F10A84-CF3D-6C57-BEEB-C69834FAC9B7}"/>
              </a:ext>
            </a:extLst>
          </p:cNvPr>
          <p:cNvSpPr txBox="1">
            <a:spLocks noGrp="1"/>
          </p:cNvSpPr>
          <p:nvPr>
            <p:ph type="title"/>
          </p:nvPr>
        </p:nvSpPr>
        <p:spPr>
          <a:xfrm>
            <a:off x="358760" y="6180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dirty="0"/>
          </a:p>
        </p:txBody>
      </p:sp>
      <p:sp>
        <p:nvSpPr>
          <p:cNvPr id="801" name="Google Shape;801;p49">
            <a:extLst>
              <a:ext uri="{FF2B5EF4-FFF2-40B4-BE49-F238E27FC236}">
                <a16:creationId xmlns:a16="http://schemas.microsoft.com/office/drawing/2014/main" id="{3B535053-D068-F1DB-5302-EA4E951664A6}"/>
              </a:ext>
            </a:extLst>
          </p:cNvPr>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802" name="Google Shape;802;p49">
            <a:extLst>
              <a:ext uri="{FF2B5EF4-FFF2-40B4-BE49-F238E27FC236}">
                <a16:creationId xmlns:a16="http://schemas.microsoft.com/office/drawing/2014/main" id="{143595C9-B10A-3458-25F3-A7A079004C65}"/>
              </a:ext>
            </a:extLst>
          </p:cNvPr>
          <p:cNvGrpSpPr/>
          <p:nvPr/>
        </p:nvGrpSpPr>
        <p:grpSpPr>
          <a:xfrm>
            <a:off x="0" y="713232"/>
            <a:ext cx="8936059" cy="4215384"/>
            <a:chOff x="-59824" y="251004"/>
            <a:chExt cx="8936059" cy="6507226"/>
          </a:xfrm>
        </p:grpSpPr>
        <p:sp>
          <p:nvSpPr>
            <p:cNvPr id="806" name="Google Shape;806;p49">
              <a:extLst>
                <a:ext uri="{FF2B5EF4-FFF2-40B4-BE49-F238E27FC236}">
                  <a16:creationId xmlns:a16="http://schemas.microsoft.com/office/drawing/2014/main" id="{BD95266E-9ADD-3A6B-F253-F16B788ED6F2}"/>
                </a:ext>
              </a:extLst>
            </p:cNvPr>
            <p:cNvSpPr/>
            <p:nvPr/>
          </p:nvSpPr>
          <p:spPr>
            <a:xfrm>
              <a:off x="7417416" y="3763231"/>
              <a:ext cx="680374" cy="347756"/>
            </a:xfrm>
            <a:custGeom>
              <a:avLst/>
              <a:gdLst/>
              <a:ahLst/>
              <a:cxnLst/>
              <a:rect l="l" t="t" r="r" b="b"/>
              <a:pathLst>
                <a:path w="120000" h="120000" extrusionOk="0">
                  <a:moveTo>
                    <a:pt x="0" y="0"/>
                  </a:moveTo>
                  <a:lnTo>
                    <a:pt x="0" y="79280"/>
                  </a:lnTo>
                  <a:lnTo>
                    <a:pt x="120000" y="7928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7" name="Google Shape;807;p49">
              <a:extLst>
                <a:ext uri="{FF2B5EF4-FFF2-40B4-BE49-F238E27FC236}">
                  <a16:creationId xmlns:a16="http://schemas.microsoft.com/office/drawing/2014/main" id="{20CFA46F-F546-0194-5607-3CDFF12A6F05}"/>
                </a:ext>
              </a:extLst>
            </p:cNvPr>
            <p:cNvSpPr/>
            <p:nvPr/>
          </p:nvSpPr>
          <p:spPr>
            <a:xfrm>
              <a:off x="6056669" y="4919863"/>
              <a:ext cx="1818987" cy="878168"/>
            </a:xfrm>
            <a:custGeom>
              <a:avLst/>
              <a:gdLst/>
              <a:ahLst/>
              <a:cxnLst/>
              <a:rect l="l" t="t" r="r" b="b"/>
              <a:pathLst>
                <a:path w="120000" h="120000" extrusionOk="0">
                  <a:moveTo>
                    <a:pt x="0" y="0"/>
                  </a:moveTo>
                  <a:lnTo>
                    <a:pt x="0" y="103875"/>
                  </a:lnTo>
                  <a:lnTo>
                    <a:pt x="120000" y="103875"/>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8" name="Google Shape;808;p49">
              <a:extLst>
                <a:ext uri="{FF2B5EF4-FFF2-40B4-BE49-F238E27FC236}">
                  <a16:creationId xmlns:a16="http://schemas.microsoft.com/office/drawing/2014/main" id="{FC6BBD3A-F2E9-B139-BFAC-93D2299E758F}"/>
                </a:ext>
              </a:extLst>
            </p:cNvPr>
            <p:cNvSpPr/>
            <p:nvPr/>
          </p:nvSpPr>
          <p:spPr>
            <a:xfrm>
              <a:off x="5772137" y="4919863"/>
              <a:ext cx="284531"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9" name="Google Shape;809;p49">
              <a:extLst>
                <a:ext uri="{FF2B5EF4-FFF2-40B4-BE49-F238E27FC236}">
                  <a16:creationId xmlns:a16="http://schemas.microsoft.com/office/drawing/2014/main" id="{E7736227-6D91-EA45-C4E3-E345D9E5E04D}"/>
                </a:ext>
              </a:extLst>
            </p:cNvPr>
            <p:cNvSpPr/>
            <p:nvPr/>
          </p:nvSpPr>
          <p:spPr>
            <a:xfrm>
              <a:off x="3586037" y="4919863"/>
              <a:ext cx="2470632"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0" name="Google Shape;810;p49">
              <a:extLst>
                <a:ext uri="{FF2B5EF4-FFF2-40B4-BE49-F238E27FC236}">
                  <a16:creationId xmlns:a16="http://schemas.microsoft.com/office/drawing/2014/main" id="{E1D4A20E-0CE3-862D-DEC2-A6BD5799AE96}"/>
                </a:ext>
              </a:extLst>
            </p:cNvPr>
            <p:cNvSpPr/>
            <p:nvPr/>
          </p:nvSpPr>
          <p:spPr>
            <a:xfrm>
              <a:off x="1364205" y="4919863"/>
              <a:ext cx="4692463"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1" name="Google Shape;811;p49">
              <a:extLst>
                <a:ext uri="{FF2B5EF4-FFF2-40B4-BE49-F238E27FC236}">
                  <a16:creationId xmlns:a16="http://schemas.microsoft.com/office/drawing/2014/main" id="{120898F0-4650-C710-D599-887939A80138}"/>
                </a:ext>
              </a:extLst>
            </p:cNvPr>
            <p:cNvSpPr/>
            <p:nvPr/>
          </p:nvSpPr>
          <p:spPr>
            <a:xfrm>
              <a:off x="6056669" y="3763231"/>
              <a:ext cx="1360746" cy="347756"/>
            </a:xfrm>
            <a:custGeom>
              <a:avLst/>
              <a:gdLst/>
              <a:ahLst/>
              <a:cxnLst/>
              <a:rect l="l" t="t" r="r" b="b"/>
              <a:pathLst>
                <a:path w="120000" h="120000" extrusionOk="0">
                  <a:moveTo>
                    <a:pt x="120000" y="0"/>
                  </a:moveTo>
                  <a:lnTo>
                    <a:pt x="120000" y="79280"/>
                  </a:lnTo>
                  <a:lnTo>
                    <a:pt x="0" y="79280"/>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3" name="Google Shape;813;p49">
              <a:extLst>
                <a:ext uri="{FF2B5EF4-FFF2-40B4-BE49-F238E27FC236}">
                  <a16:creationId xmlns:a16="http://schemas.microsoft.com/office/drawing/2014/main" id="{56C215A6-5F71-7DA5-B46F-57ABAD58C220}"/>
                </a:ext>
              </a:extLst>
            </p:cNvPr>
            <p:cNvSpPr/>
            <p:nvPr/>
          </p:nvSpPr>
          <p:spPr>
            <a:xfrm>
              <a:off x="3044730" y="3831266"/>
              <a:ext cx="135491" cy="347764"/>
            </a:xfrm>
            <a:custGeom>
              <a:avLst/>
              <a:gdLst/>
              <a:ahLst/>
              <a:cxnLst/>
              <a:rect l="l" t="t" r="r" b="b"/>
              <a:pathLst>
                <a:path w="120000" h="120000" extrusionOk="0">
                  <a:moveTo>
                    <a:pt x="0" y="0"/>
                  </a:moveTo>
                  <a:lnTo>
                    <a:pt x="0" y="79281"/>
                  </a:lnTo>
                  <a:lnTo>
                    <a:pt x="120000" y="79281"/>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4" name="Google Shape;814;p49">
              <a:extLst>
                <a:ext uri="{FF2B5EF4-FFF2-40B4-BE49-F238E27FC236}">
                  <a16:creationId xmlns:a16="http://schemas.microsoft.com/office/drawing/2014/main" id="{8396993E-E365-2CAD-C5AE-23D80BE3A70E}"/>
                </a:ext>
              </a:extLst>
            </p:cNvPr>
            <p:cNvSpPr/>
            <p:nvPr/>
          </p:nvSpPr>
          <p:spPr>
            <a:xfrm>
              <a:off x="780610" y="3831266"/>
              <a:ext cx="2264120" cy="347764"/>
            </a:xfrm>
            <a:custGeom>
              <a:avLst/>
              <a:gdLst/>
              <a:ahLst/>
              <a:cxnLst/>
              <a:rect l="l" t="t" r="r" b="b"/>
              <a:pathLst>
                <a:path w="120000" h="120000" extrusionOk="0">
                  <a:moveTo>
                    <a:pt x="120000" y="0"/>
                  </a:moveTo>
                  <a:lnTo>
                    <a:pt x="120000" y="79281"/>
                  </a:lnTo>
                  <a:lnTo>
                    <a:pt x="0" y="79281"/>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8" name="Google Shape;818;p49">
              <a:extLst>
                <a:ext uri="{FF2B5EF4-FFF2-40B4-BE49-F238E27FC236}">
                  <a16:creationId xmlns:a16="http://schemas.microsoft.com/office/drawing/2014/main" id="{1D6BC373-D056-68FE-DE18-2E1F5D9C9FC4}"/>
                </a:ext>
              </a:extLst>
            </p:cNvPr>
            <p:cNvSpPr/>
            <p:nvPr/>
          </p:nvSpPr>
          <p:spPr>
            <a:xfrm>
              <a:off x="3244579" y="251004"/>
              <a:ext cx="2414793" cy="808875"/>
            </a:xfrm>
            <a:prstGeom prst="roundRect">
              <a:avLst>
                <a:gd name="adj" fmla="val 1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9">
              <a:extLst>
                <a:ext uri="{FF2B5EF4-FFF2-40B4-BE49-F238E27FC236}">
                  <a16:creationId xmlns:a16="http://schemas.microsoft.com/office/drawing/2014/main" id="{40C8DC1E-D5A1-7EE0-2BC1-F0F2DB4CF713}"/>
                </a:ext>
              </a:extLst>
            </p:cNvPr>
            <p:cNvSpPr/>
            <p:nvPr/>
          </p:nvSpPr>
          <p:spPr>
            <a:xfrm>
              <a:off x="3386115" y="385463"/>
              <a:ext cx="2414793" cy="808875"/>
            </a:xfrm>
            <a:prstGeom prst="roundRect">
              <a:avLst>
                <a:gd name="adj" fmla="val 10000"/>
              </a:avLst>
            </a:prstGeom>
            <a:solidFill>
              <a:srgbClr val="FFFF99">
                <a:alpha val="89803"/>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9">
              <a:extLst>
                <a:ext uri="{FF2B5EF4-FFF2-40B4-BE49-F238E27FC236}">
                  <a16:creationId xmlns:a16="http://schemas.microsoft.com/office/drawing/2014/main" id="{793FAD76-DA62-F8CC-57C2-6EA3A4546F3B}"/>
                </a:ext>
              </a:extLst>
            </p:cNvPr>
            <p:cNvSpPr txBox="1"/>
            <p:nvPr/>
          </p:nvSpPr>
          <p:spPr>
            <a:xfrm>
              <a:off x="3409806" y="409153"/>
              <a:ext cx="2362331" cy="81398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Test Case Design Technique (dynamic testing)</a:t>
              </a:r>
              <a:endParaRPr dirty="0"/>
            </a:p>
          </p:txBody>
        </p:sp>
        <p:sp>
          <p:nvSpPr>
            <p:cNvPr id="827" name="Google Shape;827;p49">
              <a:extLst>
                <a:ext uri="{FF2B5EF4-FFF2-40B4-BE49-F238E27FC236}">
                  <a16:creationId xmlns:a16="http://schemas.microsoft.com/office/drawing/2014/main" id="{3AB942B5-3C9E-0AD5-A526-958689B54E15}"/>
                </a:ext>
              </a:extLst>
            </p:cNvPr>
            <p:cNvSpPr/>
            <p:nvPr/>
          </p:nvSpPr>
          <p:spPr>
            <a:xfrm>
              <a:off x="2407820" y="3022390"/>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9">
              <a:extLst>
                <a:ext uri="{FF2B5EF4-FFF2-40B4-BE49-F238E27FC236}">
                  <a16:creationId xmlns:a16="http://schemas.microsoft.com/office/drawing/2014/main" id="{19E0102E-3430-7680-442F-0A5C8AFCF6B9}"/>
                </a:ext>
              </a:extLst>
            </p:cNvPr>
            <p:cNvSpPr/>
            <p:nvPr/>
          </p:nvSpPr>
          <p:spPr>
            <a:xfrm>
              <a:off x="2549356" y="3156849"/>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9">
              <a:extLst>
                <a:ext uri="{FF2B5EF4-FFF2-40B4-BE49-F238E27FC236}">
                  <a16:creationId xmlns:a16="http://schemas.microsoft.com/office/drawing/2014/main" id="{C87B825D-09CC-E565-1236-B73E9D9F2E48}"/>
                </a:ext>
              </a:extLst>
            </p:cNvPr>
            <p:cNvSpPr txBox="1"/>
            <p:nvPr/>
          </p:nvSpPr>
          <p:spPr>
            <a:xfrm>
              <a:off x="2573047" y="3180540"/>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b) Black-box</a:t>
              </a:r>
              <a:endParaRPr dirty="0"/>
            </a:p>
          </p:txBody>
        </p:sp>
        <p:sp>
          <p:nvSpPr>
            <p:cNvPr id="830" name="Google Shape;830;p49">
              <a:extLst>
                <a:ext uri="{FF2B5EF4-FFF2-40B4-BE49-F238E27FC236}">
                  <a16:creationId xmlns:a16="http://schemas.microsoft.com/office/drawing/2014/main" id="{48C594DD-D55B-5A9E-FCE0-03F11006E48F}"/>
                </a:ext>
              </a:extLst>
            </p:cNvPr>
            <p:cNvSpPr/>
            <p:nvPr/>
          </p:nvSpPr>
          <p:spPr>
            <a:xfrm>
              <a:off x="-59824" y="4179030"/>
              <a:ext cx="168086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9">
              <a:extLst>
                <a:ext uri="{FF2B5EF4-FFF2-40B4-BE49-F238E27FC236}">
                  <a16:creationId xmlns:a16="http://schemas.microsoft.com/office/drawing/2014/main" id="{3488444E-C829-355A-FDAD-871EED5BDB07}"/>
                </a:ext>
              </a:extLst>
            </p:cNvPr>
            <p:cNvSpPr/>
            <p:nvPr/>
          </p:nvSpPr>
          <p:spPr>
            <a:xfrm>
              <a:off x="81711" y="4313489"/>
              <a:ext cx="168086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9">
              <a:extLst>
                <a:ext uri="{FF2B5EF4-FFF2-40B4-BE49-F238E27FC236}">
                  <a16:creationId xmlns:a16="http://schemas.microsoft.com/office/drawing/2014/main" id="{04D1DC6A-1A27-94E1-456C-24FEBC396234}"/>
                </a:ext>
              </a:extLst>
            </p:cNvPr>
            <p:cNvSpPr txBox="1"/>
            <p:nvPr/>
          </p:nvSpPr>
          <p:spPr>
            <a:xfrm>
              <a:off x="105402" y="4337180"/>
              <a:ext cx="163348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err="1">
                  <a:solidFill>
                    <a:schemeClr val="dk1"/>
                  </a:solidFill>
                  <a:latin typeface="Calibri"/>
                  <a:ea typeface="Calibri"/>
                  <a:cs typeface="Calibri"/>
                  <a:sym typeface="Calibri"/>
                </a:rPr>
                <a:t>i</a:t>
              </a:r>
              <a:r>
                <a:rPr lang="en-US" sz="1600" b="1" dirty="0">
                  <a:solidFill>
                    <a:schemeClr val="dk1"/>
                  </a:solidFill>
                  <a:latin typeface="Calibri"/>
                  <a:ea typeface="Calibri"/>
                  <a:cs typeface="Calibri"/>
                  <a:sym typeface="Calibri"/>
                </a:rPr>
                <a:t>) Equivalence Partitioning (EP)</a:t>
              </a:r>
              <a:endParaRPr dirty="0"/>
            </a:p>
          </p:txBody>
        </p:sp>
        <p:sp>
          <p:nvSpPr>
            <p:cNvPr id="833" name="Google Shape;833;p49">
              <a:extLst>
                <a:ext uri="{FF2B5EF4-FFF2-40B4-BE49-F238E27FC236}">
                  <a16:creationId xmlns:a16="http://schemas.microsoft.com/office/drawing/2014/main" id="{C3436522-9E60-E121-C36B-58AEBD074F97}"/>
                </a:ext>
              </a:extLst>
            </p:cNvPr>
            <p:cNvSpPr/>
            <p:nvPr/>
          </p:nvSpPr>
          <p:spPr>
            <a:xfrm>
              <a:off x="2252276" y="4179030"/>
              <a:ext cx="1855891"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9">
              <a:extLst>
                <a:ext uri="{FF2B5EF4-FFF2-40B4-BE49-F238E27FC236}">
                  <a16:creationId xmlns:a16="http://schemas.microsoft.com/office/drawing/2014/main" id="{AB76DDF4-054E-8072-765E-E9ED3ED258DC}"/>
                </a:ext>
              </a:extLst>
            </p:cNvPr>
            <p:cNvSpPr/>
            <p:nvPr/>
          </p:nvSpPr>
          <p:spPr>
            <a:xfrm>
              <a:off x="2393811" y="4313489"/>
              <a:ext cx="1855891"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9">
              <a:extLst>
                <a:ext uri="{FF2B5EF4-FFF2-40B4-BE49-F238E27FC236}">
                  <a16:creationId xmlns:a16="http://schemas.microsoft.com/office/drawing/2014/main" id="{A1C3D87C-825D-C9DD-0B92-0B8684A245E6}"/>
                </a:ext>
              </a:extLst>
            </p:cNvPr>
            <p:cNvSpPr txBox="1"/>
            <p:nvPr/>
          </p:nvSpPr>
          <p:spPr>
            <a:xfrm>
              <a:off x="2417502" y="4337180"/>
              <a:ext cx="1808509"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ii) Boundary Value Analysis (BVA)</a:t>
              </a:r>
              <a:endParaRPr dirty="0"/>
            </a:p>
          </p:txBody>
        </p:sp>
        <p:sp>
          <p:nvSpPr>
            <p:cNvPr id="836" name="Google Shape;836;p49">
              <a:extLst>
                <a:ext uri="{FF2B5EF4-FFF2-40B4-BE49-F238E27FC236}">
                  <a16:creationId xmlns:a16="http://schemas.microsoft.com/office/drawing/2014/main" id="{CD2245B2-A962-A0E2-C168-4EB48604C182}"/>
                </a:ext>
              </a:extLst>
            </p:cNvPr>
            <p:cNvSpPr/>
            <p:nvPr/>
          </p:nvSpPr>
          <p:spPr>
            <a:xfrm>
              <a:off x="6780506" y="2954356"/>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9">
              <a:extLst>
                <a:ext uri="{FF2B5EF4-FFF2-40B4-BE49-F238E27FC236}">
                  <a16:creationId xmlns:a16="http://schemas.microsoft.com/office/drawing/2014/main" id="{99623CAC-2506-23C3-263F-07D5B6F87557}"/>
                </a:ext>
              </a:extLst>
            </p:cNvPr>
            <p:cNvSpPr/>
            <p:nvPr/>
          </p:nvSpPr>
          <p:spPr>
            <a:xfrm>
              <a:off x="6922042" y="3088814"/>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9">
              <a:extLst>
                <a:ext uri="{FF2B5EF4-FFF2-40B4-BE49-F238E27FC236}">
                  <a16:creationId xmlns:a16="http://schemas.microsoft.com/office/drawing/2014/main" id="{3B04807E-CCC2-A5E4-FBBC-74AAE89F6CEB}"/>
                </a:ext>
              </a:extLst>
            </p:cNvPr>
            <p:cNvSpPr txBox="1"/>
            <p:nvPr/>
          </p:nvSpPr>
          <p:spPr>
            <a:xfrm>
              <a:off x="6945733" y="3112505"/>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c) White-box</a:t>
              </a:r>
              <a:endParaRPr/>
            </a:p>
          </p:txBody>
        </p:sp>
        <p:sp>
          <p:nvSpPr>
            <p:cNvPr id="839" name="Google Shape;839;p49">
              <a:extLst>
                <a:ext uri="{FF2B5EF4-FFF2-40B4-BE49-F238E27FC236}">
                  <a16:creationId xmlns:a16="http://schemas.microsoft.com/office/drawing/2014/main" id="{CEA1D2EF-352F-069A-C5FD-DDD80F64554A}"/>
                </a:ext>
              </a:extLst>
            </p:cNvPr>
            <p:cNvSpPr/>
            <p:nvPr/>
          </p:nvSpPr>
          <p:spPr>
            <a:xfrm>
              <a:off x="5419759"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9">
              <a:extLst>
                <a:ext uri="{FF2B5EF4-FFF2-40B4-BE49-F238E27FC236}">
                  <a16:creationId xmlns:a16="http://schemas.microsoft.com/office/drawing/2014/main" id="{30957B28-F521-D641-4FF9-3013A5BBA596}"/>
                </a:ext>
              </a:extLst>
            </p:cNvPr>
            <p:cNvSpPr/>
            <p:nvPr/>
          </p:nvSpPr>
          <p:spPr>
            <a:xfrm>
              <a:off x="5561295"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9">
              <a:extLst>
                <a:ext uri="{FF2B5EF4-FFF2-40B4-BE49-F238E27FC236}">
                  <a16:creationId xmlns:a16="http://schemas.microsoft.com/office/drawing/2014/main" id="{099FA27E-5EC3-B180-99F6-F389CADB10CC}"/>
                </a:ext>
              </a:extLst>
            </p:cNvPr>
            <p:cNvSpPr txBox="1"/>
            <p:nvPr/>
          </p:nvSpPr>
          <p:spPr>
            <a:xfrm>
              <a:off x="5584986"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 Basis Path</a:t>
              </a:r>
              <a:endParaRPr/>
            </a:p>
          </p:txBody>
        </p:sp>
        <p:sp>
          <p:nvSpPr>
            <p:cNvPr id="842" name="Google Shape;842;p49">
              <a:extLst>
                <a:ext uri="{FF2B5EF4-FFF2-40B4-BE49-F238E27FC236}">
                  <a16:creationId xmlns:a16="http://schemas.microsoft.com/office/drawing/2014/main" id="{465CC73F-8245-C50B-22A9-E9D858C4767A}"/>
                </a:ext>
              </a:extLst>
            </p:cNvPr>
            <p:cNvSpPr/>
            <p:nvPr/>
          </p:nvSpPr>
          <p:spPr>
            <a:xfrm>
              <a:off x="727295" y="5814896"/>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9">
              <a:extLst>
                <a:ext uri="{FF2B5EF4-FFF2-40B4-BE49-F238E27FC236}">
                  <a16:creationId xmlns:a16="http://schemas.microsoft.com/office/drawing/2014/main" id="{E6056F37-CC36-DE33-82AA-DEB914F01CAC}"/>
                </a:ext>
              </a:extLst>
            </p:cNvPr>
            <p:cNvSpPr/>
            <p:nvPr/>
          </p:nvSpPr>
          <p:spPr>
            <a:xfrm>
              <a:off x="868831" y="5949355"/>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9">
              <a:extLst>
                <a:ext uri="{FF2B5EF4-FFF2-40B4-BE49-F238E27FC236}">
                  <a16:creationId xmlns:a16="http://schemas.microsoft.com/office/drawing/2014/main" id="{902D87A0-2F68-B9E1-4C9D-3C3117CC5B86}"/>
                </a:ext>
              </a:extLst>
            </p:cNvPr>
            <p:cNvSpPr txBox="1"/>
            <p:nvPr/>
          </p:nvSpPr>
          <p:spPr>
            <a:xfrm>
              <a:off x="892522" y="5973046"/>
              <a:ext cx="1226437"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1: draw </a:t>
              </a:r>
              <a:r>
                <a:rPr lang="en-US" sz="1400" b="1">
                  <a:solidFill>
                    <a:schemeClr val="dk1"/>
                  </a:solidFill>
                  <a:latin typeface="Calibri"/>
                  <a:ea typeface="Calibri"/>
                  <a:cs typeface="Calibri"/>
                  <a:sym typeface="Calibri"/>
                </a:rPr>
                <a:t>Flow Graph</a:t>
              </a:r>
              <a:endParaRPr/>
            </a:p>
          </p:txBody>
        </p:sp>
        <p:sp>
          <p:nvSpPr>
            <p:cNvPr id="845" name="Google Shape;845;p49">
              <a:extLst>
                <a:ext uri="{FF2B5EF4-FFF2-40B4-BE49-F238E27FC236}">
                  <a16:creationId xmlns:a16="http://schemas.microsoft.com/office/drawing/2014/main" id="{F4E30C90-06C5-FC68-E748-3ED61C465CDF}"/>
                </a:ext>
              </a:extLst>
            </p:cNvPr>
            <p:cNvSpPr/>
            <p:nvPr/>
          </p:nvSpPr>
          <p:spPr>
            <a:xfrm>
              <a:off x="2703668" y="5814896"/>
              <a:ext cx="1764737"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9">
              <a:extLst>
                <a:ext uri="{FF2B5EF4-FFF2-40B4-BE49-F238E27FC236}">
                  <a16:creationId xmlns:a16="http://schemas.microsoft.com/office/drawing/2014/main" id="{3FB75F9B-FBE7-F7EE-CC72-2B8451FCD113}"/>
                </a:ext>
              </a:extLst>
            </p:cNvPr>
            <p:cNvSpPr/>
            <p:nvPr/>
          </p:nvSpPr>
          <p:spPr>
            <a:xfrm>
              <a:off x="2845204" y="5949355"/>
              <a:ext cx="1764737"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9">
              <a:extLst>
                <a:ext uri="{FF2B5EF4-FFF2-40B4-BE49-F238E27FC236}">
                  <a16:creationId xmlns:a16="http://schemas.microsoft.com/office/drawing/2014/main" id="{BB50641E-0D46-0092-F8F3-F9C84608C47E}"/>
                </a:ext>
              </a:extLst>
            </p:cNvPr>
            <p:cNvSpPr txBox="1"/>
            <p:nvPr/>
          </p:nvSpPr>
          <p:spPr>
            <a:xfrm>
              <a:off x="2868895" y="5973046"/>
              <a:ext cx="1717355"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2 : calculate </a:t>
              </a:r>
              <a:r>
                <a:rPr lang="en-US" sz="1400" b="1">
                  <a:solidFill>
                    <a:schemeClr val="dk1"/>
                  </a:solidFill>
                  <a:latin typeface="Calibri"/>
                  <a:ea typeface="Calibri"/>
                  <a:cs typeface="Calibri"/>
                  <a:sym typeface="Calibri"/>
                </a:rPr>
                <a:t>Cyclomatic Complexity</a:t>
              </a:r>
              <a:endParaRPr/>
            </a:p>
          </p:txBody>
        </p:sp>
        <p:sp>
          <p:nvSpPr>
            <p:cNvPr id="848" name="Google Shape;848;p49">
              <a:extLst>
                <a:ext uri="{FF2B5EF4-FFF2-40B4-BE49-F238E27FC236}">
                  <a16:creationId xmlns:a16="http://schemas.microsoft.com/office/drawing/2014/main" id="{36C73FAA-FE9C-BCDB-464A-F6C1436516E4}"/>
                </a:ext>
              </a:extLst>
            </p:cNvPr>
            <p:cNvSpPr/>
            <p:nvPr/>
          </p:nvSpPr>
          <p:spPr>
            <a:xfrm>
              <a:off x="4940881" y="5814896"/>
              <a:ext cx="1662513"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9">
              <a:extLst>
                <a:ext uri="{FF2B5EF4-FFF2-40B4-BE49-F238E27FC236}">
                  <a16:creationId xmlns:a16="http://schemas.microsoft.com/office/drawing/2014/main" id="{DFC1AF19-1D49-411A-D864-2F4046ECE93A}"/>
                </a:ext>
              </a:extLst>
            </p:cNvPr>
            <p:cNvSpPr/>
            <p:nvPr/>
          </p:nvSpPr>
          <p:spPr>
            <a:xfrm>
              <a:off x="5082416" y="5949355"/>
              <a:ext cx="1662513"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9">
              <a:extLst>
                <a:ext uri="{FF2B5EF4-FFF2-40B4-BE49-F238E27FC236}">
                  <a16:creationId xmlns:a16="http://schemas.microsoft.com/office/drawing/2014/main" id="{5F91DC92-5833-EA84-2AA1-780FE356D038}"/>
                </a:ext>
              </a:extLst>
            </p:cNvPr>
            <p:cNvSpPr txBox="1"/>
            <p:nvPr/>
          </p:nvSpPr>
          <p:spPr>
            <a:xfrm>
              <a:off x="5106107" y="5973046"/>
              <a:ext cx="1615131"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3: identify </a:t>
              </a:r>
              <a:r>
                <a:rPr lang="en-US" sz="1400" b="1">
                  <a:solidFill>
                    <a:schemeClr val="dk1"/>
                  </a:solidFill>
                  <a:latin typeface="Calibri"/>
                  <a:ea typeface="Calibri"/>
                  <a:cs typeface="Calibri"/>
                  <a:sym typeface="Calibri"/>
                </a:rPr>
                <a:t>Independent Path</a:t>
              </a:r>
              <a:endParaRPr/>
            </a:p>
          </p:txBody>
        </p:sp>
        <p:sp>
          <p:nvSpPr>
            <p:cNvPr id="851" name="Google Shape;851;p49">
              <a:extLst>
                <a:ext uri="{FF2B5EF4-FFF2-40B4-BE49-F238E27FC236}">
                  <a16:creationId xmlns:a16="http://schemas.microsoft.com/office/drawing/2014/main" id="{E1CCAC17-6C20-130F-0FD0-280ABD5F08FF}"/>
                </a:ext>
              </a:extLst>
            </p:cNvPr>
            <p:cNvSpPr/>
            <p:nvPr/>
          </p:nvSpPr>
          <p:spPr>
            <a:xfrm>
              <a:off x="7094760" y="5798031"/>
              <a:ext cx="1561792"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9">
              <a:extLst>
                <a:ext uri="{FF2B5EF4-FFF2-40B4-BE49-F238E27FC236}">
                  <a16:creationId xmlns:a16="http://schemas.microsoft.com/office/drawing/2014/main" id="{58E25FEC-0D7B-63BE-99B3-88BF7BC6A673}"/>
                </a:ext>
              </a:extLst>
            </p:cNvPr>
            <p:cNvSpPr/>
            <p:nvPr/>
          </p:nvSpPr>
          <p:spPr>
            <a:xfrm>
              <a:off x="7236296" y="5932490"/>
              <a:ext cx="1561792"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9">
              <a:extLst>
                <a:ext uri="{FF2B5EF4-FFF2-40B4-BE49-F238E27FC236}">
                  <a16:creationId xmlns:a16="http://schemas.microsoft.com/office/drawing/2014/main" id="{249AE7B7-98F1-0995-B3AA-661B4E5F3D94}"/>
                </a:ext>
              </a:extLst>
            </p:cNvPr>
            <p:cNvSpPr txBox="1"/>
            <p:nvPr/>
          </p:nvSpPr>
          <p:spPr>
            <a:xfrm>
              <a:off x="7259987" y="5956181"/>
              <a:ext cx="1514410"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4: Generate </a:t>
              </a:r>
              <a:r>
                <a:rPr lang="en-US" sz="1400" b="1">
                  <a:solidFill>
                    <a:schemeClr val="dk1"/>
                  </a:solidFill>
                  <a:latin typeface="Calibri"/>
                  <a:ea typeface="Calibri"/>
                  <a:cs typeface="Calibri"/>
                  <a:sym typeface="Calibri"/>
                </a:rPr>
                <a:t>Test cases</a:t>
              </a:r>
              <a:endParaRPr/>
            </a:p>
          </p:txBody>
        </p:sp>
        <p:sp>
          <p:nvSpPr>
            <p:cNvPr id="854" name="Google Shape;854;p49">
              <a:extLst>
                <a:ext uri="{FF2B5EF4-FFF2-40B4-BE49-F238E27FC236}">
                  <a16:creationId xmlns:a16="http://schemas.microsoft.com/office/drawing/2014/main" id="{56610AA1-CB9E-C25E-1162-F646CB5B532F}"/>
                </a:ext>
              </a:extLst>
            </p:cNvPr>
            <p:cNvSpPr/>
            <p:nvPr/>
          </p:nvSpPr>
          <p:spPr>
            <a:xfrm>
              <a:off x="7460880"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a:extLst>
                <a:ext uri="{FF2B5EF4-FFF2-40B4-BE49-F238E27FC236}">
                  <a16:creationId xmlns:a16="http://schemas.microsoft.com/office/drawing/2014/main" id="{D99A95C4-449E-0AA5-9DD6-114EE52ADA08}"/>
                </a:ext>
              </a:extLst>
            </p:cNvPr>
            <p:cNvSpPr/>
            <p:nvPr/>
          </p:nvSpPr>
          <p:spPr>
            <a:xfrm>
              <a:off x="7602416"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9">
              <a:extLst>
                <a:ext uri="{FF2B5EF4-FFF2-40B4-BE49-F238E27FC236}">
                  <a16:creationId xmlns:a16="http://schemas.microsoft.com/office/drawing/2014/main" id="{2F0F71DA-4E0A-B2B8-C014-E7CA72BB673D}"/>
                </a:ext>
              </a:extLst>
            </p:cNvPr>
            <p:cNvSpPr txBox="1"/>
            <p:nvPr/>
          </p:nvSpPr>
          <p:spPr>
            <a:xfrm>
              <a:off x="7626107"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ii) Control Structure</a:t>
              </a:r>
              <a:endParaRPr/>
            </a:p>
          </p:txBody>
        </p:sp>
      </p:grpSp>
      <p:sp>
        <p:nvSpPr>
          <p:cNvPr id="866" name="Google Shape;866;p49">
            <a:extLst>
              <a:ext uri="{FF2B5EF4-FFF2-40B4-BE49-F238E27FC236}">
                <a16:creationId xmlns:a16="http://schemas.microsoft.com/office/drawing/2014/main" id="{7C239DA7-B0EF-FF95-C899-7DEA156A621B}"/>
              </a:ext>
            </a:extLst>
          </p:cNvPr>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cxnSp>
        <p:nvCxnSpPr>
          <p:cNvPr id="3" name="Straight Arrow Connector 2">
            <a:extLst>
              <a:ext uri="{FF2B5EF4-FFF2-40B4-BE49-F238E27FC236}">
                <a16:creationId xmlns:a16="http://schemas.microsoft.com/office/drawing/2014/main" id="{9AE50CF8-3048-1383-207F-E3CB2056676B}"/>
              </a:ext>
            </a:extLst>
          </p:cNvPr>
          <p:cNvCxnSpPr>
            <a:stCxn id="819" idx="2"/>
          </p:cNvCxnSpPr>
          <p:nvPr/>
        </p:nvCxnSpPr>
        <p:spPr>
          <a:xfrm flipH="1">
            <a:off x="3374136" y="1324325"/>
            <a:ext cx="1279200" cy="11842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D34F0D6F-37C6-0CEC-A0A2-F460BC37AA55}"/>
              </a:ext>
            </a:extLst>
          </p:cNvPr>
          <p:cNvCxnSpPr>
            <a:cxnSpLocks/>
          </p:cNvCxnSpPr>
          <p:nvPr/>
        </p:nvCxnSpPr>
        <p:spPr>
          <a:xfrm>
            <a:off x="4846320" y="1324325"/>
            <a:ext cx="2048618" cy="10714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701C2BF-36C1-1481-E517-3C76B869BD08}"/>
              </a:ext>
            </a:extLst>
          </p:cNvPr>
          <p:cNvSpPr txBox="1"/>
          <p:nvPr/>
        </p:nvSpPr>
        <p:spPr>
          <a:xfrm>
            <a:off x="222487" y="2792573"/>
            <a:ext cx="4572000" cy="261610"/>
          </a:xfrm>
          <a:prstGeom prst="rect">
            <a:avLst/>
          </a:prstGeom>
          <a:noFill/>
        </p:spPr>
        <p:txBody>
          <a:bodyPr wrap="square">
            <a:spAutoFit/>
          </a:bodyPr>
          <a:lstStyle/>
          <a:p>
            <a:r>
              <a:rPr lang="en-US" sz="1100" b="1" dirty="0">
                <a:solidFill>
                  <a:schemeClr val="bg2"/>
                </a:solidFill>
              </a:rPr>
              <a:t>Black-Box Testing Strategies</a:t>
            </a:r>
            <a:r>
              <a:rPr lang="en-US" sz="1100" b="1" dirty="0">
                <a:solidFill>
                  <a:srgbClr val="FF0000"/>
                </a:solidFill>
              </a:rPr>
              <a:t>(*)</a:t>
            </a:r>
            <a:endParaRPr lang="en-MY" sz="1100" b="1" dirty="0">
              <a:solidFill>
                <a:srgbClr val="FF0000"/>
              </a:solidFill>
            </a:endParaRPr>
          </a:p>
        </p:txBody>
      </p:sp>
      <p:sp>
        <p:nvSpPr>
          <p:cNvPr id="9" name="TextBox 8">
            <a:extLst>
              <a:ext uri="{FF2B5EF4-FFF2-40B4-BE49-F238E27FC236}">
                <a16:creationId xmlns:a16="http://schemas.microsoft.com/office/drawing/2014/main" id="{94535469-2B9E-E02D-A83C-371C22C9281C}"/>
              </a:ext>
            </a:extLst>
          </p:cNvPr>
          <p:cNvSpPr txBox="1"/>
          <p:nvPr/>
        </p:nvSpPr>
        <p:spPr>
          <a:xfrm>
            <a:off x="1752251" y="3558467"/>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
        <p:nvSpPr>
          <p:cNvPr id="11" name="TextBox 10">
            <a:extLst>
              <a:ext uri="{FF2B5EF4-FFF2-40B4-BE49-F238E27FC236}">
                <a16:creationId xmlns:a16="http://schemas.microsoft.com/office/drawing/2014/main" id="{DF4B40C5-1B01-5D96-C3EF-1D481A17A8A7}"/>
              </a:ext>
            </a:extLst>
          </p:cNvPr>
          <p:cNvSpPr txBox="1"/>
          <p:nvPr/>
        </p:nvSpPr>
        <p:spPr>
          <a:xfrm>
            <a:off x="4277809" y="3527971"/>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
        <p:nvSpPr>
          <p:cNvPr id="2" name="TextBox 1">
            <a:extLst>
              <a:ext uri="{FF2B5EF4-FFF2-40B4-BE49-F238E27FC236}">
                <a16:creationId xmlns:a16="http://schemas.microsoft.com/office/drawing/2014/main" id="{C0668E94-5EE7-A8A9-FF31-68FF4BA4461B}"/>
              </a:ext>
            </a:extLst>
          </p:cNvPr>
          <p:cNvSpPr txBox="1"/>
          <p:nvPr/>
        </p:nvSpPr>
        <p:spPr>
          <a:xfrm>
            <a:off x="4653335" y="2705470"/>
            <a:ext cx="4572000" cy="261610"/>
          </a:xfrm>
          <a:prstGeom prst="rect">
            <a:avLst/>
          </a:prstGeom>
          <a:noFill/>
        </p:spPr>
        <p:txBody>
          <a:bodyPr wrap="square">
            <a:spAutoFit/>
          </a:bodyPr>
          <a:lstStyle/>
          <a:p>
            <a:r>
              <a:rPr lang="en-US" sz="1100" b="1" dirty="0">
                <a:solidFill>
                  <a:schemeClr val="bg2"/>
                </a:solidFill>
              </a:rPr>
              <a:t>White Box Testing Strategies</a:t>
            </a:r>
            <a:r>
              <a:rPr lang="en-US" sz="1100" b="1" dirty="0">
                <a:solidFill>
                  <a:schemeClr val="accent6"/>
                </a:solidFill>
              </a:rPr>
              <a:t>(*)</a:t>
            </a:r>
            <a:endParaRPr lang="en-MY" sz="1100" b="1" dirty="0">
              <a:solidFill>
                <a:schemeClr val="accent6"/>
              </a:solidFill>
            </a:endParaRPr>
          </a:p>
        </p:txBody>
      </p:sp>
      <p:sp>
        <p:nvSpPr>
          <p:cNvPr id="8" name="TextBox 7">
            <a:extLst>
              <a:ext uri="{FF2B5EF4-FFF2-40B4-BE49-F238E27FC236}">
                <a16:creationId xmlns:a16="http://schemas.microsoft.com/office/drawing/2014/main" id="{C63FD460-4BFE-AF53-364C-F5624B3CC8FE}"/>
              </a:ext>
            </a:extLst>
          </p:cNvPr>
          <p:cNvSpPr txBox="1"/>
          <p:nvPr/>
        </p:nvSpPr>
        <p:spPr>
          <a:xfrm>
            <a:off x="6893544" y="3540165"/>
            <a:ext cx="4613148" cy="307777"/>
          </a:xfrm>
          <a:prstGeom prst="rect">
            <a:avLst/>
          </a:prstGeom>
          <a:noFill/>
        </p:spPr>
        <p:txBody>
          <a:bodyPr wrap="square">
            <a:spAutoFit/>
          </a:bodyPr>
          <a:lstStyle/>
          <a:p>
            <a:r>
              <a:rPr lang="en-US" sz="1400" b="1">
                <a:solidFill>
                  <a:schemeClr val="accent6"/>
                </a:solidFill>
              </a:rPr>
              <a:t>(*)</a:t>
            </a:r>
            <a:endParaRPr lang="en-MY" dirty="0"/>
          </a:p>
        </p:txBody>
      </p:sp>
      <p:sp>
        <p:nvSpPr>
          <p:cNvPr id="12" name="TextBox 11">
            <a:extLst>
              <a:ext uri="{FF2B5EF4-FFF2-40B4-BE49-F238E27FC236}">
                <a16:creationId xmlns:a16="http://schemas.microsoft.com/office/drawing/2014/main" id="{971A89B1-378E-9CDF-1768-9B9B899ED940}"/>
              </a:ext>
            </a:extLst>
          </p:cNvPr>
          <p:cNvSpPr txBox="1"/>
          <p:nvPr/>
        </p:nvSpPr>
        <p:spPr>
          <a:xfrm>
            <a:off x="8873781" y="3552359"/>
            <a:ext cx="545321" cy="307777"/>
          </a:xfrm>
          <a:prstGeom prst="rect">
            <a:avLst/>
          </a:prstGeom>
          <a:noFill/>
        </p:spPr>
        <p:txBody>
          <a:bodyPr wrap="square">
            <a:spAutoFit/>
          </a:bodyPr>
          <a:lstStyle/>
          <a:p>
            <a:r>
              <a:rPr lang="en-US" sz="1400" b="1" dirty="0">
                <a:solidFill>
                  <a:schemeClr val="accent6"/>
                </a:solidFill>
              </a:rPr>
              <a:t>(*)</a:t>
            </a:r>
            <a:endParaRPr lang="en-MY" dirty="0"/>
          </a:p>
        </p:txBody>
      </p:sp>
    </p:spTree>
    <p:extLst>
      <p:ext uri="{BB962C8B-B14F-4D97-AF65-F5344CB8AC3E}">
        <p14:creationId xmlns:p14="http://schemas.microsoft.com/office/powerpoint/2010/main" val="25189259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Google Shape;1408;p7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dirty="0"/>
              <a:t>Test-Case Design Technique: </a:t>
            </a:r>
            <a:br>
              <a:rPr lang="en-US" sz="4000" dirty="0"/>
            </a:br>
            <a:r>
              <a:rPr lang="en-US" sz="4000" dirty="0"/>
              <a:t>White-Box Testing (Cont.)</a:t>
            </a:r>
            <a:endParaRPr sz="4000" dirty="0"/>
          </a:p>
        </p:txBody>
      </p:sp>
      <p:sp>
        <p:nvSpPr>
          <p:cNvPr id="1409" name="Google Shape;1409;p7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800"/>
              <a:buChar char="•"/>
            </a:pPr>
            <a:r>
              <a:rPr lang="en-US" sz="2800" dirty="0"/>
              <a:t>A software engineer can </a:t>
            </a:r>
            <a:r>
              <a:rPr lang="en-US" sz="2800" b="1" dirty="0">
                <a:solidFill>
                  <a:srgbClr val="C00000"/>
                </a:solidFill>
              </a:rPr>
              <a:t>design test cases </a:t>
            </a:r>
            <a:r>
              <a:rPr lang="en-US" sz="2800" dirty="0"/>
              <a:t>that:</a:t>
            </a:r>
            <a:endParaRPr dirty="0"/>
          </a:p>
          <a:p>
            <a:pPr marL="742950" lvl="1" indent="-285750" algn="l" rtl="0">
              <a:lnSpc>
                <a:spcPct val="80000"/>
              </a:lnSpc>
              <a:spcBef>
                <a:spcPts val="560"/>
              </a:spcBef>
              <a:spcAft>
                <a:spcPts val="0"/>
              </a:spcAft>
              <a:buClr>
                <a:schemeClr val="dk1"/>
              </a:buClr>
              <a:buSzPts val="2800"/>
              <a:buChar char="–"/>
            </a:pPr>
            <a:r>
              <a:rPr lang="en-US" dirty="0"/>
              <a:t>exercise independent paths within a module or unit </a:t>
            </a:r>
            <a:endParaRPr dirty="0"/>
          </a:p>
          <a:p>
            <a:pPr marL="742950" lvl="1" indent="-285750" algn="l" rtl="0">
              <a:lnSpc>
                <a:spcPct val="80000"/>
              </a:lnSpc>
              <a:spcBef>
                <a:spcPts val="560"/>
              </a:spcBef>
              <a:spcAft>
                <a:spcPts val="0"/>
              </a:spcAft>
              <a:buClr>
                <a:schemeClr val="dk1"/>
              </a:buClr>
              <a:buSzPts val="2800"/>
              <a:buChar char="–"/>
            </a:pPr>
            <a:r>
              <a:rPr lang="en-US" dirty="0"/>
              <a:t>Exercise logical decisions on both their true and false side</a:t>
            </a:r>
            <a:endParaRPr dirty="0"/>
          </a:p>
          <a:p>
            <a:pPr marL="742950" lvl="1" indent="-285750" algn="l" rtl="0">
              <a:lnSpc>
                <a:spcPct val="80000"/>
              </a:lnSpc>
              <a:spcBef>
                <a:spcPts val="560"/>
              </a:spcBef>
              <a:spcAft>
                <a:spcPts val="0"/>
              </a:spcAft>
              <a:buClr>
                <a:schemeClr val="dk1"/>
              </a:buClr>
              <a:buSzPts val="2800"/>
              <a:buChar char="–"/>
            </a:pPr>
            <a:r>
              <a:rPr lang="en-US" dirty="0"/>
              <a:t>execute loops at their boundaries and within their operational bounds</a:t>
            </a:r>
            <a:endParaRPr dirty="0"/>
          </a:p>
          <a:p>
            <a:pPr marL="742950" lvl="1" indent="-285750" algn="l" rtl="0">
              <a:lnSpc>
                <a:spcPct val="80000"/>
              </a:lnSpc>
              <a:spcBef>
                <a:spcPts val="560"/>
              </a:spcBef>
              <a:spcAft>
                <a:spcPts val="0"/>
              </a:spcAft>
              <a:buClr>
                <a:schemeClr val="dk1"/>
              </a:buClr>
              <a:buSzPts val="2800"/>
              <a:buChar char="–"/>
            </a:pPr>
            <a:r>
              <a:rPr lang="en-US" dirty="0"/>
              <a:t>exercise internal data structures to ensure their validity (Pressman, 2001)</a:t>
            </a:r>
            <a:endParaRPr dirty="0"/>
          </a:p>
          <a:p>
            <a:pPr marL="342900" lvl="0" indent="-342900" algn="l" rtl="0">
              <a:lnSpc>
                <a:spcPct val="80000"/>
              </a:lnSpc>
              <a:spcBef>
                <a:spcPts val="560"/>
              </a:spcBef>
              <a:spcAft>
                <a:spcPts val="0"/>
              </a:spcAft>
              <a:buClr>
                <a:schemeClr val="dk1"/>
              </a:buClr>
              <a:buSzPts val="2800"/>
              <a:buChar char="•"/>
            </a:pPr>
            <a:r>
              <a:rPr lang="en-US" sz="2800" dirty="0"/>
              <a:t>Strategies:</a:t>
            </a:r>
            <a:endParaRPr dirty="0"/>
          </a:p>
          <a:p>
            <a:pPr marL="742950" lvl="1" indent="-285750" algn="l" rtl="0">
              <a:lnSpc>
                <a:spcPct val="80000"/>
              </a:lnSpc>
              <a:spcBef>
                <a:spcPts val="480"/>
              </a:spcBef>
              <a:spcAft>
                <a:spcPts val="0"/>
              </a:spcAft>
              <a:buClr>
                <a:schemeClr val="dk1"/>
              </a:buClr>
              <a:buSzPts val="2400"/>
              <a:buFont typeface="Calibri"/>
              <a:buAutoNum type="arabicPeriod"/>
            </a:pPr>
            <a:r>
              <a:rPr lang="en-US" sz="2400" b="1" dirty="0">
                <a:solidFill>
                  <a:schemeClr val="accent6"/>
                </a:solidFill>
              </a:rPr>
              <a:t>Basis Path Testing / Path Testing</a:t>
            </a:r>
            <a:endParaRPr b="1" dirty="0">
              <a:solidFill>
                <a:schemeClr val="accent6"/>
              </a:solidFill>
            </a:endParaRPr>
          </a:p>
          <a:p>
            <a:pPr marL="742950" lvl="1" indent="-285750" algn="l" rtl="0">
              <a:lnSpc>
                <a:spcPct val="80000"/>
              </a:lnSpc>
              <a:spcBef>
                <a:spcPts val="480"/>
              </a:spcBef>
              <a:spcAft>
                <a:spcPts val="0"/>
              </a:spcAft>
              <a:buClr>
                <a:schemeClr val="dk1"/>
              </a:buClr>
              <a:buSzPts val="2400"/>
              <a:buFont typeface="Calibri"/>
              <a:buAutoNum type="arabicPeriod"/>
            </a:pPr>
            <a:r>
              <a:rPr lang="en-US" sz="2400" b="1" dirty="0">
                <a:solidFill>
                  <a:schemeClr val="accent6"/>
                </a:solidFill>
              </a:rPr>
              <a:t>Control Structure Testing</a:t>
            </a:r>
            <a:endParaRPr b="1" dirty="0">
              <a:solidFill>
                <a:schemeClr val="accent6"/>
              </a:solidFill>
            </a:endParaRPr>
          </a:p>
          <a:p>
            <a:pPr marL="342900" lvl="0" indent="-165100" algn="l" rtl="0">
              <a:lnSpc>
                <a:spcPct val="80000"/>
              </a:lnSpc>
              <a:spcBef>
                <a:spcPts val="560"/>
              </a:spcBef>
              <a:spcAft>
                <a:spcPts val="0"/>
              </a:spcAft>
              <a:buClr>
                <a:schemeClr val="dk1"/>
              </a:buClr>
              <a:buSzPts val="2800"/>
              <a:buNone/>
            </a:pPr>
            <a:endParaRPr sz="2800" dirty="0"/>
          </a:p>
          <a:p>
            <a:pPr marL="342900" lvl="0" indent="-165100" algn="l" rtl="0">
              <a:lnSpc>
                <a:spcPct val="80000"/>
              </a:lnSpc>
              <a:spcBef>
                <a:spcPts val="560"/>
              </a:spcBef>
              <a:spcAft>
                <a:spcPts val="0"/>
              </a:spcAft>
              <a:buClr>
                <a:schemeClr val="dk1"/>
              </a:buClr>
              <a:buSzPts val="2800"/>
              <a:buNone/>
            </a:pPr>
            <a:endParaRPr sz="2800" dirty="0"/>
          </a:p>
        </p:txBody>
      </p:sp>
      <p:sp>
        <p:nvSpPr>
          <p:cNvPr id="1410" name="Google Shape;1410;p7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411" name="Google Shape;1411;p7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98">
          <a:extLst>
            <a:ext uri="{FF2B5EF4-FFF2-40B4-BE49-F238E27FC236}">
              <a16:creationId xmlns:a16="http://schemas.microsoft.com/office/drawing/2014/main" id="{EE979C5B-EE72-74D8-5DF6-19866EC24377}"/>
            </a:ext>
          </a:extLst>
        </p:cNvPr>
        <p:cNvGrpSpPr/>
        <p:nvPr/>
      </p:nvGrpSpPr>
      <p:grpSpPr>
        <a:xfrm>
          <a:off x="0" y="0"/>
          <a:ext cx="0" cy="0"/>
          <a:chOff x="0" y="0"/>
          <a:chExt cx="0" cy="0"/>
        </a:xfrm>
      </p:grpSpPr>
      <p:sp>
        <p:nvSpPr>
          <p:cNvPr id="799" name="Google Shape;799;p49">
            <a:extLst>
              <a:ext uri="{FF2B5EF4-FFF2-40B4-BE49-F238E27FC236}">
                <a16:creationId xmlns:a16="http://schemas.microsoft.com/office/drawing/2014/main" id="{1143DDF9-2D27-0595-712F-6F7E10A18C00}"/>
              </a:ext>
            </a:extLst>
          </p:cNvPr>
          <p:cNvSpPr txBox="1">
            <a:spLocks noGrp="1"/>
          </p:cNvSpPr>
          <p:nvPr>
            <p:ph type="title"/>
          </p:nvPr>
        </p:nvSpPr>
        <p:spPr>
          <a:xfrm>
            <a:off x="358760" y="6180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dirty="0"/>
          </a:p>
        </p:txBody>
      </p:sp>
      <p:sp>
        <p:nvSpPr>
          <p:cNvPr id="801" name="Google Shape;801;p49">
            <a:extLst>
              <a:ext uri="{FF2B5EF4-FFF2-40B4-BE49-F238E27FC236}">
                <a16:creationId xmlns:a16="http://schemas.microsoft.com/office/drawing/2014/main" id="{6AF069E8-C049-124E-D48D-0F2A7706E52B}"/>
              </a:ext>
            </a:extLst>
          </p:cNvPr>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grpSp>
        <p:nvGrpSpPr>
          <p:cNvPr id="802" name="Google Shape;802;p49">
            <a:extLst>
              <a:ext uri="{FF2B5EF4-FFF2-40B4-BE49-F238E27FC236}">
                <a16:creationId xmlns:a16="http://schemas.microsoft.com/office/drawing/2014/main" id="{B286AF0D-D145-F8B2-C195-23DA31BCA4E1}"/>
              </a:ext>
            </a:extLst>
          </p:cNvPr>
          <p:cNvGrpSpPr/>
          <p:nvPr/>
        </p:nvGrpSpPr>
        <p:grpSpPr>
          <a:xfrm>
            <a:off x="0" y="713232"/>
            <a:ext cx="8936059" cy="4215384"/>
            <a:chOff x="-59824" y="251004"/>
            <a:chExt cx="8936059" cy="6507226"/>
          </a:xfrm>
        </p:grpSpPr>
        <p:sp>
          <p:nvSpPr>
            <p:cNvPr id="806" name="Google Shape;806;p49">
              <a:extLst>
                <a:ext uri="{FF2B5EF4-FFF2-40B4-BE49-F238E27FC236}">
                  <a16:creationId xmlns:a16="http://schemas.microsoft.com/office/drawing/2014/main" id="{592EB297-995C-6375-C34F-2C5FF9C876B1}"/>
                </a:ext>
              </a:extLst>
            </p:cNvPr>
            <p:cNvSpPr/>
            <p:nvPr/>
          </p:nvSpPr>
          <p:spPr>
            <a:xfrm>
              <a:off x="7417416" y="3763231"/>
              <a:ext cx="680374" cy="347756"/>
            </a:xfrm>
            <a:custGeom>
              <a:avLst/>
              <a:gdLst/>
              <a:ahLst/>
              <a:cxnLst/>
              <a:rect l="l" t="t" r="r" b="b"/>
              <a:pathLst>
                <a:path w="120000" h="120000" extrusionOk="0">
                  <a:moveTo>
                    <a:pt x="0" y="0"/>
                  </a:moveTo>
                  <a:lnTo>
                    <a:pt x="0" y="79280"/>
                  </a:lnTo>
                  <a:lnTo>
                    <a:pt x="120000" y="79280"/>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7" name="Google Shape;807;p49">
              <a:extLst>
                <a:ext uri="{FF2B5EF4-FFF2-40B4-BE49-F238E27FC236}">
                  <a16:creationId xmlns:a16="http://schemas.microsoft.com/office/drawing/2014/main" id="{E1D03289-375F-2BDA-53CB-554FDF77DAB6}"/>
                </a:ext>
              </a:extLst>
            </p:cNvPr>
            <p:cNvSpPr/>
            <p:nvPr/>
          </p:nvSpPr>
          <p:spPr>
            <a:xfrm>
              <a:off x="6056669" y="4919863"/>
              <a:ext cx="1818987" cy="878168"/>
            </a:xfrm>
            <a:custGeom>
              <a:avLst/>
              <a:gdLst/>
              <a:ahLst/>
              <a:cxnLst/>
              <a:rect l="l" t="t" r="r" b="b"/>
              <a:pathLst>
                <a:path w="120000" h="120000" extrusionOk="0">
                  <a:moveTo>
                    <a:pt x="0" y="0"/>
                  </a:moveTo>
                  <a:lnTo>
                    <a:pt x="0" y="103875"/>
                  </a:lnTo>
                  <a:lnTo>
                    <a:pt x="120000" y="103875"/>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8" name="Google Shape;808;p49">
              <a:extLst>
                <a:ext uri="{FF2B5EF4-FFF2-40B4-BE49-F238E27FC236}">
                  <a16:creationId xmlns:a16="http://schemas.microsoft.com/office/drawing/2014/main" id="{D311AF51-C721-A0F2-015E-DCC660045705}"/>
                </a:ext>
              </a:extLst>
            </p:cNvPr>
            <p:cNvSpPr/>
            <p:nvPr/>
          </p:nvSpPr>
          <p:spPr>
            <a:xfrm>
              <a:off x="5772137" y="4919863"/>
              <a:ext cx="284531"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09" name="Google Shape;809;p49">
              <a:extLst>
                <a:ext uri="{FF2B5EF4-FFF2-40B4-BE49-F238E27FC236}">
                  <a16:creationId xmlns:a16="http://schemas.microsoft.com/office/drawing/2014/main" id="{F479E8BE-382A-E6B2-899B-ABCBBB872504}"/>
                </a:ext>
              </a:extLst>
            </p:cNvPr>
            <p:cNvSpPr/>
            <p:nvPr/>
          </p:nvSpPr>
          <p:spPr>
            <a:xfrm>
              <a:off x="3586037" y="4919863"/>
              <a:ext cx="2470632"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0" name="Google Shape;810;p49">
              <a:extLst>
                <a:ext uri="{FF2B5EF4-FFF2-40B4-BE49-F238E27FC236}">
                  <a16:creationId xmlns:a16="http://schemas.microsoft.com/office/drawing/2014/main" id="{2A5EEDD0-C0DD-6661-77F1-3665366566FD}"/>
                </a:ext>
              </a:extLst>
            </p:cNvPr>
            <p:cNvSpPr/>
            <p:nvPr/>
          </p:nvSpPr>
          <p:spPr>
            <a:xfrm>
              <a:off x="1364205" y="4919863"/>
              <a:ext cx="4692463" cy="895033"/>
            </a:xfrm>
            <a:custGeom>
              <a:avLst/>
              <a:gdLst/>
              <a:ahLst/>
              <a:cxnLst/>
              <a:rect l="l" t="t" r="r" b="b"/>
              <a:pathLst>
                <a:path w="120000" h="120000" extrusionOk="0">
                  <a:moveTo>
                    <a:pt x="120000" y="0"/>
                  </a:moveTo>
                  <a:lnTo>
                    <a:pt x="120000" y="104179"/>
                  </a:lnTo>
                  <a:lnTo>
                    <a:pt x="0" y="104179"/>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1" name="Google Shape;811;p49">
              <a:extLst>
                <a:ext uri="{FF2B5EF4-FFF2-40B4-BE49-F238E27FC236}">
                  <a16:creationId xmlns:a16="http://schemas.microsoft.com/office/drawing/2014/main" id="{834512D5-6E0F-D736-9E9F-BE836BBCD5A1}"/>
                </a:ext>
              </a:extLst>
            </p:cNvPr>
            <p:cNvSpPr/>
            <p:nvPr/>
          </p:nvSpPr>
          <p:spPr>
            <a:xfrm>
              <a:off x="6056669" y="3763231"/>
              <a:ext cx="1360746" cy="347756"/>
            </a:xfrm>
            <a:custGeom>
              <a:avLst/>
              <a:gdLst/>
              <a:ahLst/>
              <a:cxnLst/>
              <a:rect l="l" t="t" r="r" b="b"/>
              <a:pathLst>
                <a:path w="120000" h="120000" extrusionOk="0">
                  <a:moveTo>
                    <a:pt x="120000" y="0"/>
                  </a:moveTo>
                  <a:lnTo>
                    <a:pt x="120000" y="79280"/>
                  </a:lnTo>
                  <a:lnTo>
                    <a:pt x="0" y="79280"/>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3" name="Google Shape;813;p49">
              <a:extLst>
                <a:ext uri="{FF2B5EF4-FFF2-40B4-BE49-F238E27FC236}">
                  <a16:creationId xmlns:a16="http://schemas.microsoft.com/office/drawing/2014/main" id="{5A2FE653-3BE5-D9BF-CA11-11287534435F}"/>
                </a:ext>
              </a:extLst>
            </p:cNvPr>
            <p:cNvSpPr/>
            <p:nvPr/>
          </p:nvSpPr>
          <p:spPr>
            <a:xfrm>
              <a:off x="3044730" y="3831266"/>
              <a:ext cx="135491" cy="347764"/>
            </a:xfrm>
            <a:custGeom>
              <a:avLst/>
              <a:gdLst/>
              <a:ahLst/>
              <a:cxnLst/>
              <a:rect l="l" t="t" r="r" b="b"/>
              <a:pathLst>
                <a:path w="120000" h="120000" extrusionOk="0">
                  <a:moveTo>
                    <a:pt x="0" y="0"/>
                  </a:moveTo>
                  <a:lnTo>
                    <a:pt x="0" y="79281"/>
                  </a:lnTo>
                  <a:lnTo>
                    <a:pt x="120000" y="79281"/>
                  </a:lnTo>
                  <a:lnTo>
                    <a:pt x="12000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4" name="Google Shape;814;p49">
              <a:extLst>
                <a:ext uri="{FF2B5EF4-FFF2-40B4-BE49-F238E27FC236}">
                  <a16:creationId xmlns:a16="http://schemas.microsoft.com/office/drawing/2014/main" id="{DBFAAB54-33D7-990A-528B-C48AA4106355}"/>
                </a:ext>
              </a:extLst>
            </p:cNvPr>
            <p:cNvSpPr/>
            <p:nvPr/>
          </p:nvSpPr>
          <p:spPr>
            <a:xfrm>
              <a:off x="780610" y="3831266"/>
              <a:ext cx="2264120" cy="347764"/>
            </a:xfrm>
            <a:custGeom>
              <a:avLst/>
              <a:gdLst/>
              <a:ahLst/>
              <a:cxnLst/>
              <a:rect l="l" t="t" r="r" b="b"/>
              <a:pathLst>
                <a:path w="120000" h="120000" extrusionOk="0">
                  <a:moveTo>
                    <a:pt x="120000" y="0"/>
                  </a:moveTo>
                  <a:lnTo>
                    <a:pt x="120000" y="79281"/>
                  </a:lnTo>
                  <a:lnTo>
                    <a:pt x="0" y="79281"/>
                  </a:lnTo>
                  <a:lnTo>
                    <a:pt x="0" y="120000"/>
                  </a:lnTo>
                </a:path>
              </a:pathLst>
            </a:custGeom>
            <a:noFill/>
            <a:ln w="25400" cap="flat" cmpd="sng">
              <a:solidFill>
                <a:schemeClr val="accent4"/>
              </a:solidFill>
              <a:prstDash val="solid"/>
              <a:round/>
              <a:headEnd type="none" w="sm" len="sm"/>
              <a:tailEnd type="none" w="sm" len="sm"/>
            </a:ln>
          </p:spPr>
          <p:txBody>
            <a:bodyPr/>
            <a:lstStyle/>
            <a:p>
              <a:endParaRPr lang="en-MY"/>
            </a:p>
          </p:txBody>
        </p:sp>
        <p:sp>
          <p:nvSpPr>
            <p:cNvPr id="818" name="Google Shape;818;p49">
              <a:extLst>
                <a:ext uri="{FF2B5EF4-FFF2-40B4-BE49-F238E27FC236}">
                  <a16:creationId xmlns:a16="http://schemas.microsoft.com/office/drawing/2014/main" id="{ECF97EE0-2901-6775-CBED-EDDA02B60E58}"/>
                </a:ext>
              </a:extLst>
            </p:cNvPr>
            <p:cNvSpPr/>
            <p:nvPr/>
          </p:nvSpPr>
          <p:spPr>
            <a:xfrm>
              <a:off x="3244579" y="251004"/>
              <a:ext cx="2414793" cy="808875"/>
            </a:xfrm>
            <a:prstGeom prst="roundRect">
              <a:avLst>
                <a:gd name="adj" fmla="val 1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9">
              <a:extLst>
                <a:ext uri="{FF2B5EF4-FFF2-40B4-BE49-F238E27FC236}">
                  <a16:creationId xmlns:a16="http://schemas.microsoft.com/office/drawing/2014/main" id="{AE7318C4-E15C-3ECE-C8B3-8043D40D1E52}"/>
                </a:ext>
              </a:extLst>
            </p:cNvPr>
            <p:cNvSpPr/>
            <p:nvPr/>
          </p:nvSpPr>
          <p:spPr>
            <a:xfrm>
              <a:off x="3386115" y="385463"/>
              <a:ext cx="2414793" cy="808875"/>
            </a:xfrm>
            <a:prstGeom prst="roundRect">
              <a:avLst>
                <a:gd name="adj" fmla="val 10000"/>
              </a:avLst>
            </a:prstGeom>
            <a:solidFill>
              <a:srgbClr val="FFFF99">
                <a:alpha val="89803"/>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9">
              <a:extLst>
                <a:ext uri="{FF2B5EF4-FFF2-40B4-BE49-F238E27FC236}">
                  <a16:creationId xmlns:a16="http://schemas.microsoft.com/office/drawing/2014/main" id="{40CA76FD-8903-5E47-76E7-2254F5198632}"/>
                </a:ext>
              </a:extLst>
            </p:cNvPr>
            <p:cNvSpPr txBox="1"/>
            <p:nvPr/>
          </p:nvSpPr>
          <p:spPr>
            <a:xfrm>
              <a:off x="3409806" y="409153"/>
              <a:ext cx="2362331" cy="81398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Test Case Design Technique (dynamic testing)</a:t>
              </a:r>
              <a:endParaRPr dirty="0"/>
            </a:p>
          </p:txBody>
        </p:sp>
        <p:sp>
          <p:nvSpPr>
            <p:cNvPr id="827" name="Google Shape;827;p49">
              <a:extLst>
                <a:ext uri="{FF2B5EF4-FFF2-40B4-BE49-F238E27FC236}">
                  <a16:creationId xmlns:a16="http://schemas.microsoft.com/office/drawing/2014/main" id="{D639FB6D-B70E-03B8-7AAC-4B917ED2610C}"/>
                </a:ext>
              </a:extLst>
            </p:cNvPr>
            <p:cNvSpPr/>
            <p:nvPr/>
          </p:nvSpPr>
          <p:spPr>
            <a:xfrm>
              <a:off x="2407820" y="3022390"/>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9">
              <a:extLst>
                <a:ext uri="{FF2B5EF4-FFF2-40B4-BE49-F238E27FC236}">
                  <a16:creationId xmlns:a16="http://schemas.microsoft.com/office/drawing/2014/main" id="{F90A800E-191F-639B-1A77-5A6C3A249FC4}"/>
                </a:ext>
              </a:extLst>
            </p:cNvPr>
            <p:cNvSpPr/>
            <p:nvPr/>
          </p:nvSpPr>
          <p:spPr>
            <a:xfrm>
              <a:off x="2549356" y="3156849"/>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9">
              <a:extLst>
                <a:ext uri="{FF2B5EF4-FFF2-40B4-BE49-F238E27FC236}">
                  <a16:creationId xmlns:a16="http://schemas.microsoft.com/office/drawing/2014/main" id="{276DE47B-0C37-85B4-EC93-8F6EAA028DEA}"/>
                </a:ext>
              </a:extLst>
            </p:cNvPr>
            <p:cNvSpPr txBox="1"/>
            <p:nvPr/>
          </p:nvSpPr>
          <p:spPr>
            <a:xfrm>
              <a:off x="2573047" y="3180540"/>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b) Black-box</a:t>
              </a:r>
              <a:endParaRPr dirty="0"/>
            </a:p>
          </p:txBody>
        </p:sp>
        <p:sp>
          <p:nvSpPr>
            <p:cNvPr id="830" name="Google Shape;830;p49">
              <a:extLst>
                <a:ext uri="{FF2B5EF4-FFF2-40B4-BE49-F238E27FC236}">
                  <a16:creationId xmlns:a16="http://schemas.microsoft.com/office/drawing/2014/main" id="{886D1DD5-8C5A-CB71-C17D-0A4E6F568B1D}"/>
                </a:ext>
              </a:extLst>
            </p:cNvPr>
            <p:cNvSpPr/>
            <p:nvPr/>
          </p:nvSpPr>
          <p:spPr>
            <a:xfrm>
              <a:off x="-59824" y="4179030"/>
              <a:ext cx="168086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9">
              <a:extLst>
                <a:ext uri="{FF2B5EF4-FFF2-40B4-BE49-F238E27FC236}">
                  <a16:creationId xmlns:a16="http://schemas.microsoft.com/office/drawing/2014/main" id="{928A535B-5DFA-ED68-3B03-0875D2260171}"/>
                </a:ext>
              </a:extLst>
            </p:cNvPr>
            <p:cNvSpPr/>
            <p:nvPr/>
          </p:nvSpPr>
          <p:spPr>
            <a:xfrm>
              <a:off x="81711" y="4313489"/>
              <a:ext cx="168086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9">
              <a:extLst>
                <a:ext uri="{FF2B5EF4-FFF2-40B4-BE49-F238E27FC236}">
                  <a16:creationId xmlns:a16="http://schemas.microsoft.com/office/drawing/2014/main" id="{19CA6632-2215-7D18-1466-D25ABFE69355}"/>
                </a:ext>
              </a:extLst>
            </p:cNvPr>
            <p:cNvSpPr txBox="1"/>
            <p:nvPr/>
          </p:nvSpPr>
          <p:spPr>
            <a:xfrm>
              <a:off x="105402" y="4337180"/>
              <a:ext cx="163348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err="1">
                  <a:solidFill>
                    <a:schemeClr val="dk1"/>
                  </a:solidFill>
                  <a:latin typeface="Calibri"/>
                  <a:ea typeface="Calibri"/>
                  <a:cs typeface="Calibri"/>
                  <a:sym typeface="Calibri"/>
                </a:rPr>
                <a:t>i</a:t>
              </a:r>
              <a:r>
                <a:rPr lang="en-US" sz="1600" b="1" dirty="0">
                  <a:solidFill>
                    <a:schemeClr val="dk1"/>
                  </a:solidFill>
                  <a:latin typeface="Calibri"/>
                  <a:ea typeface="Calibri"/>
                  <a:cs typeface="Calibri"/>
                  <a:sym typeface="Calibri"/>
                </a:rPr>
                <a:t>) Equivalence Partitioning (EP)</a:t>
              </a:r>
              <a:endParaRPr dirty="0"/>
            </a:p>
          </p:txBody>
        </p:sp>
        <p:sp>
          <p:nvSpPr>
            <p:cNvPr id="833" name="Google Shape;833;p49">
              <a:extLst>
                <a:ext uri="{FF2B5EF4-FFF2-40B4-BE49-F238E27FC236}">
                  <a16:creationId xmlns:a16="http://schemas.microsoft.com/office/drawing/2014/main" id="{939FBF11-B48D-C554-843C-550A2D56985D}"/>
                </a:ext>
              </a:extLst>
            </p:cNvPr>
            <p:cNvSpPr/>
            <p:nvPr/>
          </p:nvSpPr>
          <p:spPr>
            <a:xfrm>
              <a:off x="2252276" y="4179030"/>
              <a:ext cx="1855891"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9">
              <a:extLst>
                <a:ext uri="{FF2B5EF4-FFF2-40B4-BE49-F238E27FC236}">
                  <a16:creationId xmlns:a16="http://schemas.microsoft.com/office/drawing/2014/main" id="{6FC28B80-2C03-3E9A-8181-863876213BF7}"/>
                </a:ext>
              </a:extLst>
            </p:cNvPr>
            <p:cNvSpPr/>
            <p:nvPr/>
          </p:nvSpPr>
          <p:spPr>
            <a:xfrm>
              <a:off x="2393811" y="4313489"/>
              <a:ext cx="1855891"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9">
              <a:extLst>
                <a:ext uri="{FF2B5EF4-FFF2-40B4-BE49-F238E27FC236}">
                  <a16:creationId xmlns:a16="http://schemas.microsoft.com/office/drawing/2014/main" id="{867B1550-FF56-158B-2E0C-CE676BA67F59}"/>
                </a:ext>
              </a:extLst>
            </p:cNvPr>
            <p:cNvSpPr txBox="1"/>
            <p:nvPr/>
          </p:nvSpPr>
          <p:spPr>
            <a:xfrm>
              <a:off x="2417502" y="4337180"/>
              <a:ext cx="1808509"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ii) Boundary Value Analysis (BVA)</a:t>
              </a:r>
              <a:endParaRPr dirty="0"/>
            </a:p>
          </p:txBody>
        </p:sp>
        <p:sp>
          <p:nvSpPr>
            <p:cNvPr id="836" name="Google Shape;836;p49">
              <a:extLst>
                <a:ext uri="{FF2B5EF4-FFF2-40B4-BE49-F238E27FC236}">
                  <a16:creationId xmlns:a16="http://schemas.microsoft.com/office/drawing/2014/main" id="{C83333CF-2698-875B-BFDA-4655B5C4B018}"/>
                </a:ext>
              </a:extLst>
            </p:cNvPr>
            <p:cNvSpPr/>
            <p:nvPr/>
          </p:nvSpPr>
          <p:spPr>
            <a:xfrm>
              <a:off x="6780506" y="2954356"/>
              <a:ext cx="1273819" cy="808875"/>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9">
              <a:extLst>
                <a:ext uri="{FF2B5EF4-FFF2-40B4-BE49-F238E27FC236}">
                  <a16:creationId xmlns:a16="http://schemas.microsoft.com/office/drawing/2014/main" id="{CAA1B7C7-AA66-DE55-B92F-F83BADA5B3EC}"/>
                </a:ext>
              </a:extLst>
            </p:cNvPr>
            <p:cNvSpPr/>
            <p:nvPr/>
          </p:nvSpPr>
          <p:spPr>
            <a:xfrm>
              <a:off x="6922042" y="3088814"/>
              <a:ext cx="1273819" cy="808875"/>
            </a:xfrm>
            <a:prstGeom prst="roundRect">
              <a:avLst>
                <a:gd name="adj" fmla="val 10000"/>
              </a:avLst>
            </a:prstGeom>
            <a:solidFill>
              <a:schemeClr val="lt1">
                <a:alpha val="89803"/>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9">
              <a:extLst>
                <a:ext uri="{FF2B5EF4-FFF2-40B4-BE49-F238E27FC236}">
                  <a16:creationId xmlns:a16="http://schemas.microsoft.com/office/drawing/2014/main" id="{6CD56B9D-DB96-9AE8-ABAC-3D2D1426A3C6}"/>
                </a:ext>
              </a:extLst>
            </p:cNvPr>
            <p:cNvSpPr txBox="1"/>
            <p:nvPr/>
          </p:nvSpPr>
          <p:spPr>
            <a:xfrm>
              <a:off x="6945733" y="3112505"/>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c) White-box</a:t>
              </a:r>
              <a:endParaRPr/>
            </a:p>
          </p:txBody>
        </p:sp>
        <p:sp>
          <p:nvSpPr>
            <p:cNvPr id="839" name="Google Shape;839;p49">
              <a:extLst>
                <a:ext uri="{FF2B5EF4-FFF2-40B4-BE49-F238E27FC236}">
                  <a16:creationId xmlns:a16="http://schemas.microsoft.com/office/drawing/2014/main" id="{3426F465-21E3-7873-CBC6-722ACEA41739}"/>
                </a:ext>
              </a:extLst>
            </p:cNvPr>
            <p:cNvSpPr/>
            <p:nvPr/>
          </p:nvSpPr>
          <p:spPr>
            <a:xfrm>
              <a:off x="5419759"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9">
              <a:extLst>
                <a:ext uri="{FF2B5EF4-FFF2-40B4-BE49-F238E27FC236}">
                  <a16:creationId xmlns:a16="http://schemas.microsoft.com/office/drawing/2014/main" id="{0D104A58-7DC8-4295-BCAD-61D5402D6AC6}"/>
                </a:ext>
              </a:extLst>
            </p:cNvPr>
            <p:cNvSpPr/>
            <p:nvPr/>
          </p:nvSpPr>
          <p:spPr>
            <a:xfrm>
              <a:off x="5561295"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9">
              <a:extLst>
                <a:ext uri="{FF2B5EF4-FFF2-40B4-BE49-F238E27FC236}">
                  <a16:creationId xmlns:a16="http://schemas.microsoft.com/office/drawing/2014/main" id="{676D9073-D879-ACB4-2D38-C719E715C505}"/>
                </a:ext>
              </a:extLst>
            </p:cNvPr>
            <p:cNvSpPr txBox="1"/>
            <p:nvPr/>
          </p:nvSpPr>
          <p:spPr>
            <a:xfrm>
              <a:off x="5584986"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 Basis Path</a:t>
              </a:r>
              <a:endParaRPr/>
            </a:p>
          </p:txBody>
        </p:sp>
        <p:sp>
          <p:nvSpPr>
            <p:cNvPr id="842" name="Google Shape;842;p49">
              <a:extLst>
                <a:ext uri="{FF2B5EF4-FFF2-40B4-BE49-F238E27FC236}">
                  <a16:creationId xmlns:a16="http://schemas.microsoft.com/office/drawing/2014/main" id="{581FFA29-8B21-D6D5-D1EF-5EC6FFA41789}"/>
                </a:ext>
              </a:extLst>
            </p:cNvPr>
            <p:cNvSpPr/>
            <p:nvPr/>
          </p:nvSpPr>
          <p:spPr>
            <a:xfrm>
              <a:off x="727295" y="5814896"/>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9">
              <a:extLst>
                <a:ext uri="{FF2B5EF4-FFF2-40B4-BE49-F238E27FC236}">
                  <a16:creationId xmlns:a16="http://schemas.microsoft.com/office/drawing/2014/main" id="{747630D5-F6C0-C4A2-4AD5-C3F641724A7F}"/>
                </a:ext>
              </a:extLst>
            </p:cNvPr>
            <p:cNvSpPr/>
            <p:nvPr/>
          </p:nvSpPr>
          <p:spPr>
            <a:xfrm>
              <a:off x="868831" y="5949355"/>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9">
              <a:extLst>
                <a:ext uri="{FF2B5EF4-FFF2-40B4-BE49-F238E27FC236}">
                  <a16:creationId xmlns:a16="http://schemas.microsoft.com/office/drawing/2014/main" id="{60B1EF5B-9E5E-0913-2273-773FB4BE31AE}"/>
                </a:ext>
              </a:extLst>
            </p:cNvPr>
            <p:cNvSpPr txBox="1"/>
            <p:nvPr/>
          </p:nvSpPr>
          <p:spPr>
            <a:xfrm>
              <a:off x="892522" y="5973046"/>
              <a:ext cx="1226437"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1: draw </a:t>
              </a:r>
              <a:r>
                <a:rPr lang="en-US" sz="1400" b="1">
                  <a:solidFill>
                    <a:schemeClr val="dk1"/>
                  </a:solidFill>
                  <a:latin typeface="Calibri"/>
                  <a:ea typeface="Calibri"/>
                  <a:cs typeface="Calibri"/>
                  <a:sym typeface="Calibri"/>
                </a:rPr>
                <a:t>Flow Graph</a:t>
              </a:r>
              <a:endParaRPr/>
            </a:p>
          </p:txBody>
        </p:sp>
        <p:sp>
          <p:nvSpPr>
            <p:cNvPr id="845" name="Google Shape;845;p49">
              <a:extLst>
                <a:ext uri="{FF2B5EF4-FFF2-40B4-BE49-F238E27FC236}">
                  <a16:creationId xmlns:a16="http://schemas.microsoft.com/office/drawing/2014/main" id="{A5D19910-F382-26FD-A771-03854CB550D2}"/>
                </a:ext>
              </a:extLst>
            </p:cNvPr>
            <p:cNvSpPr/>
            <p:nvPr/>
          </p:nvSpPr>
          <p:spPr>
            <a:xfrm>
              <a:off x="2703668" y="5814896"/>
              <a:ext cx="1764737"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9">
              <a:extLst>
                <a:ext uri="{FF2B5EF4-FFF2-40B4-BE49-F238E27FC236}">
                  <a16:creationId xmlns:a16="http://schemas.microsoft.com/office/drawing/2014/main" id="{E5BC052B-185D-0BC8-0AE1-E7FA3DB6A0E9}"/>
                </a:ext>
              </a:extLst>
            </p:cNvPr>
            <p:cNvSpPr/>
            <p:nvPr/>
          </p:nvSpPr>
          <p:spPr>
            <a:xfrm>
              <a:off x="2845204" y="5949355"/>
              <a:ext cx="1764737"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9">
              <a:extLst>
                <a:ext uri="{FF2B5EF4-FFF2-40B4-BE49-F238E27FC236}">
                  <a16:creationId xmlns:a16="http://schemas.microsoft.com/office/drawing/2014/main" id="{3F644E40-C814-C79C-F449-E4A3369E853F}"/>
                </a:ext>
              </a:extLst>
            </p:cNvPr>
            <p:cNvSpPr txBox="1"/>
            <p:nvPr/>
          </p:nvSpPr>
          <p:spPr>
            <a:xfrm>
              <a:off x="2868895" y="5973046"/>
              <a:ext cx="1717355"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2 : calculate </a:t>
              </a:r>
              <a:r>
                <a:rPr lang="en-US" sz="1400" b="1">
                  <a:solidFill>
                    <a:schemeClr val="dk1"/>
                  </a:solidFill>
                  <a:latin typeface="Calibri"/>
                  <a:ea typeface="Calibri"/>
                  <a:cs typeface="Calibri"/>
                  <a:sym typeface="Calibri"/>
                </a:rPr>
                <a:t>Cyclomatic Complexity</a:t>
              </a:r>
              <a:endParaRPr/>
            </a:p>
          </p:txBody>
        </p:sp>
        <p:sp>
          <p:nvSpPr>
            <p:cNvPr id="848" name="Google Shape;848;p49">
              <a:extLst>
                <a:ext uri="{FF2B5EF4-FFF2-40B4-BE49-F238E27FC236}">
                  <a16:creationId xmlns:a16="http://schemas.microsoft.com/office/drawing/2014/main" id="{D568C854-83F1-2812-22E7-201135B21041}"/>
                </a:ext>
              </a:extLst>
            </p:cNvPr>
            <p:cNvSpPr/>
            <p:nvPr/>
          </p:nvSpPr>
          <p:spPr>
            <a:xfrm>
              <a:off x="4940881" y="5814896"/>
              <a:ext cx="1662513"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9">
              <a:extLst>
                <a:ext uri="{FF2B5EF4-FFF2-40B4-BE49-F238E27FC236}">
                  <a16:creationId xmlns:a16="http://schemas.microsoft.com/office/drawing/2014/main" id="{F795FBC7-9F55-5B8B-7EFA-F2451046EF37}"/>
                </a:ext>
              </a:extLst>
            </p:cNvPr>
            <p:cNvSpPr/>
            <p:nvPr/>
          </p:nvSpPr>
          <p:spPr>
            <a:xfrm>
              <a:off x="5082416" y="5949355"/>
              <a:ext cx="1662513"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9">
              <a:extLst>
                <a:ext uri="{FF2B5EF4-FFF2-40B4-BE49-F238E27FC236}">
                  <a16:creationId xmlns:a16="http://schemas.microsoft.com/office/drawing/2014/main" id="{0025A5CD-8C43-4222-D300-CB6748FAE4B8}"/>
                </a:ext>
              </a:extLst>
            </p:cNvPr>
            <p:cNvSpPr txBox="1"/>
            <p:nvPr/>
          </p:nvSpPr>
          <p:spPr>
            <a:xfrm>
              <a:off x="5106107" y="5973046"/>
              <a:ext cx="1615131"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dirty="0">
                  <a:solidFill>
                    <a:schemeClr val="dk1"/>
                  </a:solidFill>
                  <a:latin typeface="Calibri"/>
                  <a:ea typeface="Calibri"/>
                  <a:cs typeface="Calibri"/>
                  <a:sym typeface="Calibri"/>
                </a:rPr>
                <a:t>Step 3: identify </a:t>
              </a:r>
              <a:r>
                <a:rPr lang="en-US" sz="1400" b="1" dirty="0">
                  <a:solidFill>
                    <a:schemeClr val="dk1"/>
                  </a:solidFill>
                  <a:latin typeface="Calibri"/>
                  <a:ea typeface="Calibri"/>
                  <a:cs typeface="Calibri"/>
                  <a:sym typeface="Calibri"/>
                </a:rPr>
                <a:t>Independent Path</a:t>
              </a:r>
              <a:endParaRPr dirty="0"/>
            </a:p>
          </p:txBody>
        </p:sp>
        <p:sp>
          <p:nvSpPr>
            <p:cNvPr id="851" name="Google Shape;851;p49">
              <a:extLst>
                <a:ext uri="{FF2B5EF4-FFF2-40B4-BE49-F238E27FC236}">
                  <a16:creationId xmlns:a16="http://schemas.microsoft.com/office/drawing/2014/main" id="{FE3CE2A9-03A1-13C1-CC4D-A7C127007156}"/>
                </a:ext>
              </a:extLst>
            </p:cNvPr>
            <p:cNvSpPr/>
            <p:nvPr/>
          </p:nvSpPr>
          <p:spPr>
            <a:xfrm>
              <a:off x="7094760" y="5798031"/>
              <a:ext cx="1561792"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9">
              <a:extLst>
                <a:ext uri="{FF2B5EF4-FFF2-40B4-BE49-F238E27FC236}">
                  <a16:creationId xmlns:a16="http://schemas.microsoft.com/office/drawing/2014/main" id="{3DD39E37-4194-401A-C138-090E2AD77B8D}"/>
                </a:ext>
              </a:extLst>
            </p:cNvPr>
            <p:cNvSpPr/>
            <p:nvPr/>
          </p:nvSpPr>
          <p:spPr>
            <a:xfrm>
              <a:off x="7236296" y="5932490"/>
              <a:ext cx="1561792"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9">
              <a:extLst>
                <a:ext uri="{FF2B5EF4-FFF2-40B4-BE49-F238E27FC236}">
                  <a16:creationId xmlns:a16="http://schemas.microsoft.com/office/drawing/2014/main" id="{D1E84F71-0EEE-E434-9739-B94FCA65AEB8}"/>
                </a:ext>
              </a:extLst>
            </p:cNvPr>
            <p:cNvSpPr txBox="1"/>
            <p:nvPr/>
          </p:nvSpPr>
          <p:spPr>
            <a:xfrm>
              <a:off x="7259987" y="5956181"/>
              <a:ext cx="1514410" cy="7614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Step 4: Generate </a:t>
              </a:r>
              <a:r>
                <a:rPr lang="en-US" sz="1400" b="1">
                  <a:solidFill>
                    <a:schemeClr val="dk1"/>
                  </a:solidFill>
                  <a:latin typeface="Calibri"/>
                  <a:ea typeface="Calibri"/>
                  <a:cs typeface="Calibri"/>
                  <a:sym typeface="Calibri"/>
                </a:rPr>
                <a:t>Test cases</a:t>
              </a:r>
              <a:endParaRPr/>
            </a:p>
          </p:txBody>
        </p:sp>
        <p:sp>
          <p:nvSpPr>
            <p:cNvPr id="854" name="Google Shape;854;p49">
              <a:extLst>
                <a:ext uri="{FF2B5EF4-FFF2-40B4-BE49-F238E27FC236}">
                  <a16:creationId xmlns:a16="http://schemas.microsoft.com/office/drawing/2014/main" id="{2BA26F5F-CD19-D4E2-F834-A153458065DD}"/>
                </a:ext>
              </a:extLst>
            </p:cNvPr>
            <p:cNvSpPr/>
            <p:nvPr/>
          </p:nvSpPr>
          <p:spPr>
            <a:xfrm>
              <a:off x="7460880" y="4110987"/>
              <a:ext cx="1273819" cy="808875"/>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a:extLst>
                <a:ext uri="{FF2B5EF4-FFF2-40B4-BE49-F238E27FC236}">
                  <a16:creationId xmlns:a16="http://schemas.microsoft.com/office/drawing/2014/main" id="{ECBB167C-DD04-F8FF-E15F-9A982EA754C7}"/>
                </a:ext>
              </a:extLst>
            </p:cNvPr>
            <p:cNvSpPr/>
            <p:nvPr/>
          </p:nvSpPr>
          <p:spPr>
            <a:xfrm>
              <a:off x="7602416" y="4245446"/>
              <a:ext cx="1273819" cy="808875"/>
            </a:xfrm>
            <a:prstGeom prst="roundRect">
              <a:avLst>
                <a:gd name="adj" fmla="val 10000"/>
              </a:avLst>
            </a:prstGeom>
            <a:solidFill>
              <a:schemeClr val="lt1">
                <a:alpha val="89803"/>
              </a:scheme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9">
              <a:extLst>
                <a:ext uri="{FF2B5EF4-FFF2-40B4-BE49-F238E27FC236}">
                  <a16:creationId xmlns:a16="http://schemas.microsoft.com/office/drawing/2014/main" id="{A2CAAE2F-38BA-090C-1389-D44520CA27CC}"/>
                </a:ext>
              </a:extLst>
            </p:cNvPr>
            <p:cNvSpPr txBox="1"/>
            <p:nvPr/>
          </p:nvSpPr>
          <p:spPr>
            <a:xfrm>
              <a:off x="7626107" y="4269137"/>
              <a:ext cx="1226437" cy="761493"/>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ii) Control Structure</a:t>
              </a:r>
              <a:endParaRPr/>
            </a:p>
          </p:txBody>
        </p:sp>
      </p:grpSp>
      <p:sp>
        <p:nvSpPr>
          <p:cNvPr id="866" name="Google Shape;866;p49">
            <a:extLst>
              <a:ext uri="{FF2B5EF4-FFF2-40B4-BE49-F238E27FC236}">
                <a16:creationId xmlns:a16="http://schemas.microsoft.com/office/drawing/2014/main" id="{72BF54EF-B403-CF52-422F-4849B96DA953}"/>
              </a:ext>
            </a:extLst>
          </p:cNvPr>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cxnSp>
        <p:nvCxnSpPr>
          <p:cNvPr id="3" name="Straight Arrow Connector 2">
            <a:extLst>
              <a:ext uri="{FF2B5EF4-FFF2-40B4-BE49-F238E27FC236}">
                <a16:creationId xmlns:a16="http://schemas.microsoft.com/office/drawing/2014/main" id="{2694CC48-D2DC-608A-CB35-2444FFE0CECD}"/>
              </a:ext>
            </a:extLst>
          </p:cNvPr>
          <p:cNvCxnSpPr>
            <a:stCxn id="819" idx="2"/>
          </p:cNvCxnSpPr>
          <p:nvPr/>
        </p:nvCxnSpPr>
        <p:spPr>
          <a:xfrm flipH="1">
            <a:off x="3374136" y="1324325"/>
            <a:ext cx="1279200" cy="11842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B394033B-5EA7-C86D-A27A-99817BE41FE2}"/>
              </a:ext>
            </a:extLst>
          </p:cNvPr>
          <p:cNvCxnSpPr>
            <a:cxnSpLocks/>
          </p:cNvCxnSpPr>
          <p:nvPr/>
        </p:nvCxnSpPr>
        <p:spPr>
          <a:xfrm>
            <a:off x="4846320" y="1324325"/>
            <a:ext cx="2048618" cy="10714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8CF24C8-1E52-6D6A-0B41-5A30958BF136}"/>
              </a:ext>
            </a:extLst>
          </p:cNvPr>
          <p:cNvSpPr txBox="1"/>
          <p:nvPr/>
        </p:nvSpPr>
        <p:spPr>
          <a:xfrm>
            <a:off x="222487" y="2792573"/>
            <a:ext cx="4572000" cy="261610"/>
          </a:xfrm>
          <a:prstGeom prst="rect">
            <a:avLst/>
          </a:prstGeom>
          <a:noFill/>
        </p:spPr>
        <p:txBody>
          <a:bodyPr wrap="square">
            <a:spAutoFit/>
          </a:bodyPr>
          <a:lstStyle/>
          <a:p>
            <a:r>
              <a:rPr lang="en-US" sz="1100" b="1" dirty="0">
                <a:solidFill>
                  <a:schemeClr val="bg2"/>
                </a:solidFill>
              </a:rPr>
              <a:t>Black-Box Testing Strategies</a:t>
            </a:r>
            <a:r>
              <a:rPr lang="en-US" sz="1100" b="1" dirty="0">
                <a:solidFill>
                  <a:srgbClr val="FF0000"/>
                </a:solidFill>
              </a:rPr>
              <a:t>(*)</a:t>
            </a:r>
            <a:endParaRPr lang="en-MY" sz="1100" b="1" dirty="0">
              <a:solidFill>
                <a:srgbClr val="FF0000"/>
              </a:solidFill>
            </a:endParaRPr>
          </a:p>
        </p:txBody>
      </p:sp>
      <p:sp>
        <p:nvSpPr>
          <p:cNvPr id="9" name="TextBox 8">
            <a:extLst>
              <a:ext uri="{FF2B5EF4-FFF2-40B4-BE49-F238E27FC236}">
                <a16:creationId xmlns:a16="http://schemas.microsoft.com/office/drawing/2014/main" id="{84264A92-D5E5-BCF2-7964-CCA82607A3A7}"/>
              </a:ext>
            </a:extLst>
          </p:cNvPr>
          <p:cNvSpPr txBox="1"/>
          <p:nvPr/>
        </p:nvSpPr>
        <p:spPr>
          <a:xfrm>
            <a:off x="1752251" y="3558467"/>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
        <p:nvSpPr>
          <p:cNvPr id="11" name="TextBox 10">
            <a:extLst>
              <a:ext uri="{FF2B5EF4-FFF2-40B4-BE49-F238E27FC236}">
                <a16:creationId xmlns:a16="http://schemas.microsoft.com/office/drawing/2014/main" id="{AF81B2F0-9C18-8465-8482-B08A7656B0D7}"/>
              </a:ext>
            </a:extLst>
          </p:cNvPr>
          <p:cNvSpPr txBox="1"/>
          <p:nvPr/>
        </p:nvSpPr>
        <p:spPr>
          <a:xfrm>
            <a:off x="4277809" y="3527971"/>
            <a:ext cx="4572000" cy="307777"/>
          </a:xfrm>
          <a:prstGeom prst="rect">
            <a:avLst/>
          </a:prstGeom>
          <a:noFill/>
        </p:spPr>
        <p:txBody>
          <a:bodyPr wrap="square">
            <a:spAutoFit/>
          </a:bodyPr>
          <a:lstStyle/>
          <a:p>
            <a:r>
              <a:rPr lang="en-US" sz="1400" b="1" dirty="0">
                <a:solidFill>
                  <a:srgbClr val="FF0000"/>
                </a:solidFill>
              </a:rPr>
              <a:t>(*)</a:t>
            </a:r>
            <a:endParaRPr lang="en-MY" dirty="0">
              <a:solidFill>
                <a:srgbClr val="FF0000"/>
              </a:solidFill>
            </a:endParaRPr>
          </a:p>
        </p:txBody>
      </p:sp>
      <p:sp>
        <p:nvSpPr>
          <p:cNvPr id="2" name="TextBox 1">
            <a:extLst>
              <a:ext uri="{FF2B5EF4-FFF2-40B4-BE49-F238E27FC236}">
                <a16:creationId xmlns:a16="http://schemas.microsoft.com/office/drawing/2014/main" id="{BD502235-9874-D067-4DFC-A36978F9EE54}"/>
              </a:ext>
            </a:extLst>
          </p:cNvPr>
          <p:cNvSpPr txBox="1"/>
          <p:nvPr/>
        </p:nvSpPr>
        <p:spPr>
          <a:xfrm>
            <a:off x="4653335" y="2815854"/>
            <a:ext cx="4572000" cy="261610"/>
          </a:xfrm>
          <a:prstGeom prst="rect">
            <a:avLst/>
          </a:prstGeom>
          <a:noFill/>
        </p:spPr>
        <p:txBody>
          <a:bodyPr wrap="square">
            <a:spAutoFit/>
          </a:bodyPr>
          <a:lstStyle/>
          <a:p>
            <a:r>
              <a:rPr lang="en-US" sz="1100" b="1" dirty="0">
                <a:solidFill>
                  <a:schemeClr val="bg2"/>
                </a:solidFill>
              </a:rPr>
              <a:t>White Box Testing Strategies</a:t>
            </a:r>
            <a:r>
              <a:rPr lang="en-US" sz="1100" b="1" dirty="0">
                <a:solidFill>
                  <a:schemeClr val="accent6"/>
                </a:solidFill>
              </a:rPr>
              <a:t>(*)</a:t>
            </a:r>
            <a:endParaRPr lang="en-MY" sz="1100" b="1" dirty="0">
              <a:solidFill>
                <a:schemeClr val="accent6"/>
              </a:solidFill>
            </a:endParaRPr>
          </a:p>
        </p:txBody>
      </p:sp>
      <p:sp>
        <p:nvSpPr>
          <p:cNvPr id="8" name="TextBox 7">
            <a:extLst>
              <a:ext uri="{FF2B5EF4-FFF2-40B4-BE49-F238E27FC236}">
                <a16:creationId xmlns:a16="http://schemas.microsoft.com/office/drawing/2014/main" id="{C35138A3-F3EE-28B0-375D-C20E204AFD4E}"/>
              </a:ext>
            </a:extLst>
          </p:cNvPr>
          <p:cNvSpPr txBox="1"/>
          <p:nvPr/>
        </p:nvSpPr>
        <p:spPr>
          <a:xfrm>
            <a:off x="6893544" y="3540165"/>
            <a:ext cx="4613148" cy="307777"/>
          </a:xfrm>
          <a:prstGeom prst="rect">
            <a:avLst/>
          </a:prstGeom>
          <a:noFill/>
        </p:spPr>
        <p:txBody>
          <a:bodyPr wrap="square">
            <a:spAutoFit/>
          </a:bodyPr>
          <a:lstStyle/>
          <a:p>
            <a:r>
              <a:rPr lang="en-US" sz="1400" b="1">
                <a:solidFill>
                  <a:schemeClr val="accent6"/>
                </a:solidFill>
              </a:rPr>
              <a:t>(*)</a:t>
            </a:r>
            <a:endParaRPr lang="en-MY" dirty="0"/>
          </a:p>
        </p:txBody>
      </p:sp>
      <p:sp>
        <p:nvSpPr>
          <p:cNvPr id="12" name="TextBox 11">
            <a:extLst>
              <a:ext uri="{FF2B5EF4-FFF2-40B4-BE49-F238E27FC236}">
                <a16:creationId xmlns:a16="http://schemas.microsoft.com/office/drawing/2014/main" id="{F45CB013-7444-6173-4B97-8016112AE26B}"/>
              </a:ext>
            </a:extLst>
          </p:cNvPr>
          <p:cNvSpPr txBox="1"/>
          <p:nvPr/>
        </p:nvSpPr>
        <p:spPr>
          <a:xfrm>
            <a:off x="8873781" y="3552359"/>
            <a:ext cx="5751576" cy="307777"/>
          </a:xfrm>
          <a:prstGeom prst="rect">
            <a:avLst/>
          </a:prstGeom>
          <a:noFill/>
        </p:spPr>
        <p:txBody>
          <a:bodyPr wrap="square">
            <a:spAutoFit/>
          </a:bodyPr>
          <a:lstStyle/>
          <a:p>
            <a:r>
              <a:rPr lang="en-US" sz="1400" b="1" dirty="0">
                <a:solidFill>
                  <a:schemeClr val="accent6"/>
                </a:solidFill>
              </a:rPr>
              <a:t>(*)</a:t>
            </a:r>
            <a:endParaRPr lang="en-MY" dirty="0"/>
          </a:p>
        </p:txBody>
      </p:sp>
    </p:spTree>
    <p:extLst>
      <p:ext uri="{BB962C8B-B14F-4D97-AF65-F5344CB8AC3E}">
        <p14:creationId xmlns:p14="http://schemas.microsoft.com/office/powerpoint/2010/main" val="25448859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71BD9-C99D-D51C-9FD3-5AA2D070D411}"/>
              </a:ext>
            </a:extLst>
          </p:cNvPr>
          <p:cNvSpPr>
            <a:spLocks noGrp="1"/>
          </p:cNvSpPr>
          <p:nvPr>
            <p:ph type="title"/>
          </p:nvPr>
        </p:nvSpPr>
        <p:spPr/>
        <p:txBody>
          <a:bodyPr>
            <a:normAutofit fontScale="90000"/>
          </a:bodyPr>
          <a:lstStyle/>
          <a:p>
            <a:r>
              <a:rPr lang="en-US" dirty="0"/>
              <a:t>White-Box Testing Strategies 1: </a:t>
            </a:r>
            <a:br>
              <a:rPr lang="en-US" dirty="0"/>
            </a:br>
            <a:r>
              <a:rPr lang="en-US" dirty="0"/>
              <a:t>Basis Path Testing</a:t>
            </a:r>
            <a:endParaRPr lang="en-MY" dirty="0"/>
          </a:p>
        </p:txBody>
      </p:sp>
      <p:sp>
        <p:nvSpPr>
          <p:cNvPr id="3" name="Text Placeholder 2">
            <a:extLst>
              <a:ext uri="{FF2B5EF4-FFF2-40B4-BE49-F238E27FC236}">
                <a16:creationId xmlns:a16="http://schemas.microsoft.com/office/drawing/2014/main" id="{BAC71E1A-F62D-C934-41F0-5B76221CB10B}"/>
              </a:ext>
            </a:extLst>
          </p:cNvPr>
          <p:cNvSpPr>
            <a:spLocks noGrp="1"/>
          </p:cNvSpPr>
          <p:nvPr>
            <p:ph type="body" idx="1"/>
          </p:nvPr>
        </p:nvSpPr>
        <p:spPr/>
        <p:txBody>
          <a:bodyPr/>
          <a:lstStyle/>
          <a:p>
            <a:pPr marL="342900" lvl="0" indent="-342900" algn="l" rtl="0">
              <a:lnSpc>
                <a:spcPct val="90000"/>
              </a:lnSpc>
              <a:spcBef>
                <a:spcPts val="0"/>
              </a:spcBef>
              <a:spcAft>
                <a:spcPts val="0"/>
              </a:spcAft>
              <a:buClr>
                <a:schemeClr val="dk1"/>
              </a:buClr>
              <a:buSzPts val="2400"/>
              <a:buChar char="•"/>
            </a:pPr>
            <a:r>
              <a:rPr lang="en-US" sz="3200" dirty="0"/>
              <a:t>The basis path method allows for the construction of test cases that are guaranteed to </a:t>
            </a:r>
            <a:r>
              <a:rPr lang="en-US" sz="3200" b="1" dirty="0">
                <a:solidFill>
                  <a:srgbClr val="C00000"/>
                </a:solidFill>
              </a:rPr>
              <a:t>execute every statement </a:t>
            </a:r>
            <a:r>
              <a:rPr lang="en-US" sz="3200" dirty="0"/>
              <a:t>in the program </a:t>
            </a:r>
            <a:r>
              <a:rPr lang="en-US" sz="3200" b="1" dirty="0">
                <a:solidFill>
                  <a:srgbClr val="C00000"/>
                </a:solidFill>
              </a:rPr>
              <a:t>at least once</a:t>
            </a:r>
            <a:endParaRPr lang="en-US" dirty="0"/>
          </a:p>
          <a:p>
            <a:pPr marL="342900" lvl="0" indent="-342900" algn="l" rtl="0">
              <a:lnSpc>
                <a:spcPct val="90000"/>
              </a:lnSpc>
              <a:spcBef>
                <a:spcPts val="480"/>
              </a:spcBef>
              <a:spcAft>
                <a:spcPts val="0"/>
              </a:spcAft>
              <a:buClr>
                <a:schemeClr val="dk1"/>
              </a:buClr>
              <a:buSzPts val="2400"/>
              <a:buChar char="•"/>
            </a:pPr>
            <a:r>
              <a:rPr lang="en-US" sz="3200" dirty="0"/>
              <a:t>This method can be applied to detailed procedural design or source code</a:t>
            </a:r>
            <a:endParaRPr lang="en-MY" dirty="0"/>
          </a:p>
        </p:txBody>
      </p:sp>
      <p:sp>
        <p:nvSpPr>
          <p:cNvPr id="4" name="Slide Number Placeholder 3">
            <a:extLst>
              <a:ext uri="{FF2B5EF4-FFF2-40B4-BE49-F238E27FC236}">
                <a16:creationId xmlns:a16="http://schemas.microsoft.com/office/drawing/2014/main" id="{B9179BE3-48BC-768B-28A3-CB33D6C311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76</a:t>
            </a:fld>
            <a:endParaRPr lang="en-US"/>
          </a:p>
        </p:txBody>
      </p:sp>
    </p:spTree>
    <p:extLst>
      <p:ext uri="{BB962C8B-B14F-4D97-AF65-F5344CB8AC3E}">
        <p14:creationId xmlns:p14="http://schemas.microsoft.com/office/powerpoint/2010/main" val="33774960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Shape 1487"/>
        <p:cNvGrpSpPr/>
        <p:nvPr/>
      </p:nvGrpSpPr>
      <p:grpSpPr>
        <a:xfrm>
          <a:off x="0" y="0"/>
          <a:ext cx="0" cy="0"/>
          <a:chOff x="0" y="0"/>
          <a:chExt cx="0" cy="0"/>
        </a:xfrm>
      </p:grpSpPr>
      <p:sp>
        <p:nvSpPr>
          <p:cNvPr id="1488" name="Google Shape;1488;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White-Box Testing Strategies 1: </a:t>
            </a:r>
            <a:br>
              <a:rPr lang="en-US" dirty="0"/>
            </a:br>
            <a:r>
              <a:rPr lang="en-US" dirty="0"/>
              <a:t>Basis Path Testing</a:t>
            </a:r>
            <a:endParaRPr dirty="0"/>
          </a:p>
        </p:txBody>
      </p:sp>
      <p:sp>
        <p:nvSpPr>
          <p:cNvPr id="1489" name="Google Shape;1489;p75"/>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90000"/>
              </a:lnSpc>
              <a:spcBef>
                <a:spcPts val="0"/>
              </a:spcBef>
              <a:spcAft>
                <a:spcPts val="0"/>
              </a:spcAft>
              <a:buClr>
                <a:schemeClr val="dk1"/>
              </a:buClr>
              <a:buSzPts val="2400"/>
              <a:buChar char="•"/>
            </a:pPr>
            <a:r>
              <a:rPr lang="en-US" sz="2400" dirty="0"/>
              <a:t>The basis path method allows for the construction of test cases that are guaranteed to </a:t>
            </a:r>
            <a:r>
              <a:rPr lang="en-US" sz="2400" b="1" dirty="0">
                <a:solidFill>
                  <a:srgbClr val="C00000"/>
                </a:solidFill>
              </a:rPr>
              <a:t>execute every statement </a:t>
            </a:r>
            <a:r>
              <a:rPr lang="en-US" sz="2400" dirty="0"/>
              <a:t>in the program </a:t>
            </a:r>
            <a:r>
              <a:rPr lang="en-US" sz="2400" b="1" dirty="0">
                <a:solidFill>
                  <a:srgbClr val="C00000"/>
                </a:solidFill>
              </a:rPr>
              <a:t>at least once</a:t>
            </a:r>
            <a:endParaRPr dirty="0"/>
          </a:p>
          <a:p>
            <a:pPr marL="342900" lvl="0" indent="-342900" algn="l" rtl="0">
              <a:lnSpc>
                <a:spcPct val="90000"/>
              </a:lnSpc>
              <a:spcBef>
                <a:spcPts val="480"/>
              </a:spcBef>
              <a:spcAft>
                <a:spcPts val="0"/>
              </a:spcAft>
              <a:buClr>
                <a:schemeClr val="dk1"/>
              </a:buClr>
              <a:buSzPts val="2400"/>
              <a:buChar char="•"/>
            </a:pPr>
            <a:r>
              <a:rPr lang="en-US" sz="2400" dirty="0"/>
              <a:t>This method can be applied to detailed procedural design or source code</a:t>
            </a:r>
            <a:endParaRPr dirty="0"/>
          </a:p>
          <a:p>
            <a:pPr marL="342900" lvl="0" indent="-342900" algn="l" rtl="0">
              <a:lnSpc>
                <a:spcPct val="90000"/>
              </a:lnSpc>
              <a:spcBef>
                <a:spcPts val="480"/>
              </a:spcBef>
              <a:spcAft>
                <a:spcPts val="0"/>
              </a:spcAft>
              <a:buClr>
                <a:schemeClr val="dk1"/>
              </a:buClr>
              <a:buSzPts val="2400"/>
              <a:buChar char="•"/>
            </a:pPr>
            <a:r>
              <a:rPr lang="en-US" sz="2400" b="1" dirty="0"/>
              <a:t>Steps:</a:t>
            </a:r>
            <a:endParaRPr dirty="0"/>
          </a:p>
          <a:p>
            <a:pPr marL="623888" lvl="1" indent="-276225" algn="l" rtl="0">
              <a:lnSpc>
                <a:spcPct val="90000"/>
              </a:lnSpc>
              <a:spcBef>
                <a:spcPts val="480"/>
              </a:spcBef>
              <a:spcAft>
                <a:spcPts val="0"/>
              </a:spcAft>
              <a:buClr>
                <a:schemeClr val="dk1"/>
              </a:buClr>
              <a:buSzPts val="2400"/>
              <a:buFont typeface="Calibri"/>
              <a:buAutoNum type="arabicPeriod"/>
            </a:pPr>
            <a:r>
              <a:rPr lang="en-US" sz="2400" dirty="0"/>
              <a:t>Draw the </a:t>
            </a:r>
            <a:r>
              <a:rPr lang="en-US" sz="2400" b="1" dirty="0">
                <a:solidFill>
                  <a:srgbClr val="C00000"/>
                </a:solidFill>
              </a:rPr>
              <a:t>flow graph </a:t>
            </a:r>
            <a:r>
              <a:rPr lang="en-US" sz="2400" dirty="0"/>
              <a:t>corresponding to the procedural design or code</a:t>
            </a:r>
            <a:endParaRPr dirty="0"/>
          </a:p>
          <a:p>
            <a:pPr marL="623888" lvl="1" indent="-276225" algn="l" rtl="0">
              <a:lnSpc>
                <a:spcPct val="90000"/>
              </a:lnSpc>
              <a:spcBef>
                <a:spcPts val="480"/>
              </a:spcBef>
              <a:spcAft>
                <a:spcPts val="0"/>
              </a:spcAft>
              <a:buClr>
                <a:schemeClr val="dk1"/>
              </a:buClr>
              <a:buSzPts val="2400"/>
              <a:buFont typeface="Calibri"/>
              <a:buAutoNum type="arabicPeriod"/>
            </a:pPr>
            <a:r>
              <a:rPr lang="en-US" sz="2400" dirty="0"/>
              <a:t>Determine the </a:t>
            </a:r>
            <a:r>
              <a:rPr lang="en-US" sz="2400" b="1" dirty="0">
                <a:solidFill>
                  <a:srgbClr val="C00000"/>
                </a:solidFill>
              </a:rPr>
              <a:t>cyclomatic complexity </a:t>
            </a:r>
            <a:r>
              <a:rPr lang="en-US" sz="2400" dirty="0"/>
              <a:t>of the flow graph. </a:t>
            </a:r>
            <a:endParaRPr dirty="0"/>
          </a:p>
          <a:p>
            <a:pPr marL="623888" lvl="1" indent="-276225" algn="l" rtl="0">
              <a:lnSpc>
                <a:spcPct val="90000"/>
              </a:lnSpc>
              <a:spcBef>
                <a:spcPts val="480"/>
              </a:spcBef>
              <a:spcAft>
                <a:spcPts val="0"/>
              </a:spcAft>
              <a:buClr>
                <a:schemeClr val="dk1"/>
              </a:buClr>
              <a:buSzPts val="2400"/>
              <a:buFont typeface="Calibri"/>
              <a:buAutoNum type="arabicPeriod"/>
            </a:pPr>
            <a:r>
              <a:rPr lang="en-US" sz="2400" dirty="0"/>
              <a:t>Determine the </a:t>
            </a:r>
            <a:r>
              <a:rPr lang="en-US" sz="2400" b="1" dirty="0">
                <a:solidFill>
                  <a:srgbClr val="C00000"/>
                </a:solidFill>
              </a:rPr>
              <a:t>basis set of independent paths </a:t>
            </a:r>
            <a:r>
              <a:rPr lang="en-US" sz="2400" dirty="0"/>
              <a:t>(the cyclomatic complexity indicates the number of paths required)</a:t>
            </a:r>
            <a:endParaRPr dirty="0"/>
          </a:p>
          <a:p>
            <a:pPr marL="623888" lvl="1" indent="-276225" algn="l" rtl="0">
              <a:lnSpc>
                <a:spcPct val="90000"/>
              </a:lnSpc>
              <a:spcBef>
                <a:spcPts val="480"/>
              </a:spcBef>
              <a:spcAft>
                <a:spcPts val="0"/>
              </a:spcAft>
              <a:buClr>
                <a:schemeClr val="dk1"/>
              </a:buClr>
              <a:buSzPts val="2400"/>
              <a:buFont typeface="Calibri"/>
              <a:buAutoNum type="arabicPeriod"/>
            </a:pPr>
            <a:r>
              <a:rPr lang="en-US" sz="2400" dirty="0"/>
              <a:t>Determine a </a:t>
            </a:r>
            <a:r>
              <a:rPr lang="en-US" sz="2400" b="1" dirty="0">
                <a:solidFill>
                  <a:srgbClr val="C00000"/>
                </a:solidFill>
              </a:rPr>
              <a:t>test case </a:t>
            </a:r>
            <a:r>
              <a:rPr lang="en-US" sz="2400" dirty="0"/>
              <a:t>that will force the execution of each path</a:t>
            </a:r>
            <a:endParaRPr dirty="0"/>
          </a:p>
          <a:p>
            <a:pPr marL="342900" lvl="0" indent="-190500" algn="l" rtl="0">
              <a:lnSpc>
                <a:spcPct val="90000"/>
              </a:lnSpc>
              <a:spcBef>
                <a:spcPts val="480"/>
              </a:spcBef>
              <a:spcAft>
                <a:spcPts val="0"/>
              </a:spcAft>
              <a:buClr>
                <a:schemeClr val="dk1"/>
              </a:buClr>
              <a:buSzPts val="2400"/>
              <a:buNone/>
            </a:pPr>
            <a:endParaRPr sz="2400" dirty="0"/>
          </a:p>
          <a:p>
            <a:pPr marL="342900" lvl="0" indent="-139700" algn="l" rtl="0">
              <a:spcBef>
                <a:spcPts val="640"/>
              </a:spcBef>
              <a:spcAft>
                <a:spcPts val="0"/>
              </a:spcAft>
              <a:buClr>
                <a:schemeClr val="dk1"/>
              </a:buClr>
              <a:buSzPts val="3200"/>
              <a:buNone/>
            </a:pPr>
            <a:endParaRPr dirty="0"/>
          </a:p>
        </p:txBody>
      </p:sp>
      <p:sp>
        <p:nvSpPr>
          <p:cNvPr id="1490" name="Google Shape;1490;p7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491" name="Google Shape;1491;p7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Shape 1495"/>
        <p:cNvGrpSpPr/>
        <p:nvPr/>
      </p:nvGrpSpPr>
      <p:grpSpPr>
        <a:xfrm>
          <a:off x="0" y="0"/>
          <a:ext cx="0" cy="0"/>
          <a:chOff x="0" y="0"/>
          <a:chExt cx="0" cy="0"/>
        </a:xfrm>
      </p:grpSpPr>
      <p:sp>
        <p:nvSpPr>
          <p:cNvPr id="1496" name="Google Shape;1496;p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Basis Path Testing Step 1: </a:t>
            </a:r>
            <a:br>
              <a:rPr lang="en-US"/>
            </a:br>
            <a:r>
              <a:rPr lang="en-US"/>
              <a:t>Draw Flow Graph</a:t>
            </a:r>
            <a:endParaRPr/>
          </a:p>
        </p:txBody>
      </p:sp>
      <p:sp>
        <p:nvSpPr>
          <p:cNvPr id="1497" name="Google Shape;1497;p76"/>
          <p:cNvSpPr txBox="1">
            <a:spLocks noGrp="1"/>
          </p:cNvSpPr>
          <p:nvPr>
            <p:ph type="body" idx="2"/>
          </p:nvPr>
        </p:nvSpPr>
        <p:spPr>
          <a:xfrm>
            <a:off x="3237646" y="1600200"/>
            <a:ext cx="5677754"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Char char="•"/>
            </a:pPr>
            <a:r>
              <a:rPr lang="en-US"/>
              <a:t>On a flow graph:</a:t>
            </a:r>
            <a:endParaRPr/>
          </a:p>
          <a:p>
            <a:pPr marL="742950" lvl="1" indent="-285750" algn="l" rtl="0">
              <a:lnSpc>
                <a:spcPct val="90000"/>
              </a:lnSpc>
              <a:spcBef>
                <a:spcPts val="560"/>
              </a:spcBef>
              <a:spcAft>
                <a:spcPts val="0"/>
              </a:spcAft>
              <a:buClr>
                <a:schemeClr val="dk1"/>
              </a:buClr>
              <a:buSzPts val="2800"/>
              <a:buChar char="–"/>
            </a:pPr>
            <a:r>
              <a:rPr lang="en-US" sz="2800"/>
              <a:t>Arrows called </a:t>
            </a:r>
            <a:r>
              <a:rPr lang="en-US" sz="2800" b="1">
                <a:solidFill>
                  <a:srgbClr val="C00000"/>
                </a:solidFill>
              </a:rPr>
              <a:t>edges</a:t>
            </a:r>
            <a:r>
              <a:rPr lang="en-US" sz="2800"/>
              <a:t> represent flow of control</a:t>
            </a:r>
            <a:endParaRPr/>
          </a:p>
          <a:p>
            <a:pPr marL="742950" lvl="1" indent="-285750" algn="l" rtl="0">
              <a:lnSpc>
                <a:spcPct val="90000"/>
              </a:lnSpc>
              <a:spcBef>
                <a:spcPts val="560"/>
              </a:spcBef>
              <a:spcAft>
                <a:spcPts val="0"/>
              </a:spcAft>
              <a:buClr>
                <a:schemeClr val="dk1"/>
              </a:buClr>
              <a:buSzPts val="2800"/>
              <a:buChar char="–"/>
            </a:pPr>
            <a:r>
              <a:rPr lang="en-US" sz="2800"/>
              <a:t>Circles called </a:t>
            </a:r>
            <a:r>
              <a:rPr lang="en-US" sz="2800" b="1">
                <a:solidFill>
                  <a:srgbClr val="C00000"/>
                </a:solidFill>
              </a:rPr>
              <a:t>nodes</a:t>
            </a:r>
            <a:r>
              <a:rPr lang="en-US" sz="2800">
                <a:solidFill>
                  <a:srgbClr val="C00000"/>
                </a:solidFill>
              </a:rPr>
              <a:t> </a:t>
            </a:r>
            <a:r>
              <a:rPr lang="en-US" sz="2800"/>
              <a:t>represent one or more actions</a:t>
            </a:r>
            <a:endParaRPr/>
          </a:p>
          <a:p>
            <a:pPr marL="742950" lvl="1" indent="-285750" algn="l" rtl="0">
              <a:lnSpc>
                <a:spcPct val="90000"/>
              </a:lnSpc>
              <a:spcBef>
                <a:spcPts val="560"/>
              </a:spcBef>
              <a:spcAft>
                <a:spcPts val="0"/>
              </a:spcAft>
              <a:buClr>
                <a:schemeClr val="dk1"/>
              </a:buClr>
              <a:buSzPts val="2800"/>
              <a:buChar char="–"/>
            </a:pPr>
            <a:r>
              <a:rPr lang="en-US" sz="2800"/>
              <a:t>Areas bounded by edges and nodes called </a:t>
            </a:r>
            <a:r>
              <a:rPr lang="en-US" sz="2800" b="1">
                <a:solidFill>
                  <a:srgbClr val="C00000"/>
                </a:solidFill>
              </a:rPr>
              <a:t>regions</a:t>
            </a:r>
            <a:endParaRPr/>
          </a:p>
          <a:p>
            <a:pPr marL="742950" lvl="1" indent="-285750" algn="l" rtl="0">
              <a:lnSpc>
                <a:spcPct val="90000"/>
              </a:lnSpc>
              <a:spcBef>
                <a:spcPts val="560"/>
              </a:spcBef>
              <a:spcAft>
                <a:spcPts val="0"/>
              </a:spcAft>
              <a:buClr>
                <a:schemeClr val="dk1"/>
              </a:buClr>
              <a:buSzPts val="2800"/>
              <a:buChar char="–"/>
            </a:pPr>
            <a:r>
              <a:rPr lang="en-US" sz="2800"/>
              <a:t>A </a:t>
            </a:r>
            <a:r>
              <a:rPr lang="en-US" sz="2800" b="1">
                <a:solidFill>
                  <a:srgbClr val="C00000"/>
                </a:solidFill>
              </a:rPr>
              <a:t>predicate node </a:t>
            </a:r>
            <a:r>
              <a:rPr lang="en-US" sz="2800"/>
              <a:t>is a node containing a condition</a:t>
            </a:r>
            <a:endParaRPr/>
          </a:p>
          <a:p>
            <a:pPr marL="342900" lvl="0" indent="-165100" algn="l" rtl="0">
              <a:lnSpc>
                <a:spcPct val="90000"/>
              </a:lnSpc>
              <a:spcBef>
                <a:spcPts val="560"/>
              </a:spcBef>
              <a:spcAft>
                <a:spcPts val="0"/>
              </a:spcAft>
              <a:buClr>
                <a:schemeClr val="dk1"/>
              </a:buClr>
              <a:buSzPts val="2800"/>
              <a:buNone/>
            </a:pPr>
            <a:endParaRPr/>
          </a:p>
          <a:p>
            <a:pPr marL="342900" lvl="0" indent="-165100" algn="l" rtl="0">
              <a:spcBef>
                <a:spcPts val="560"/>
              </a:spcBef>
              <a:spcAft>
                <a:spcPts val="0"/>
              </a:spcAft>
              <a:buClr>
                <a:schemeClr val="dk1"/>
              </a:buClr>
              <a:buSzPts val="2800"/>
              <a:buNone/>
            </a:pPr>
            <a:endParaRPr/>
          </a:p>
        </p:txBody>
      </p:sp>
      <p:sp>
        <p:nvSpPr>
          <p:cNvPr id="1498" name="Google Shape;1498;p7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1499" name="Google Shape;1499;p76"/>
          <p:cNvPicPr preferRelativeResize="0"/>
          <p:nvPr/>
        </p:nvPicPr>
        <p:blipFill rotWithShape="1">
          <a:blip r:embed="rId3">
            <a:alphaModFix/>
          </a:blip>
          <a:srcRect/>
          <a:stretch/>
        </p:blipFill>
        <p:spPr>
          <a:xfrm>
            <a:off x="228600" y="1580822"/>
            <a:ext cx="3009046" cy="4770438"/>
          </a:xfrm>
          <a:prstGeom prst="rect">
            <a:avLst/>
          </a:prstGeom>
          <a:noFill/>
          <a:ln>
            <a:noFill/>
          </a:ln>
        </p:spPr>
      </p:pic>
      <p:sp>
        <p:nvSpPr>
          <p:cNvPr id="1500" name="Google Shape;1500;p7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Shape 1504"/>
        <p:cNvGrpSpPr/>
        <p:nvPr/>
      </p:nvGrpSpPr>
      <p:grpSpPr>
        <a:xfrm>
          <a:off x="0" y="0"/>
          <a:ext cx="0" cy="0"/>
          <a:chOff x="0" y="0"/>
          <a:chExt cx="0" cy="0"/>
        </a:xfrm>
      </p:grpSpPr>
      <p:sp>
        <p:nvSpPr>
          <p:cNvPr id="1505" name="Google Shape;1505;p7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How to Derive Flow Graph: if</a:t>
            </a:r>
            <a:endParaRPr/>
          </a:p>
        </p:txBody>
      </p:sp>
      <p:sp>
        <p:nvSpPr>
          <p:cNvPr id="1506" name="Google Shape;1506;p7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07" name="Google Shape;1507;p77"/>
          <p:cNvSpPr txBox="1">
            <a:spLocks noGrp="1"/>
          </p:cNvSpPr>
          <p:nvPr>
            <p:ph type="body" idx="1"/>
          </p:nvPr>
        </p:nvSpPr>
        <p:spPr>
          <a:xfrm>
            <a:off x="1513114" y="2362200"/>
            <a:ext cx="1819672" cy="2643014"/>
          </a:xfrm>
          <a:prstGeom prst="rect">
            <a:avLst/>
          </a:prstGeom>
          <a:solidFill>
            <a:srgbClr val="E5DFEC"/>
          </a:solidFill>
          <a:ln w="9525" cap="flat" cmpd="sng">
            <a:solidFill>
              <a:srgbClr val="BD4B48"/>
            </a:solidFill>
            <a:prstDash val="solid"/>
            <a:miter lim="800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Font typeface="Arial"/>
              <a:buNone/>
            </a:pPr>
            <a:r>
              <a:rPr lang="en-US" b="1">
                <a:solidFill>
                  <a:schemeClr val="dk1"/>
                </a:solidFill>
                <a:latin typeface="Calibri"/>
                <a:ea typeface="Calibri"/>
                <a:cs typeface="Calibri"/>
                <a:sym typeface="Calibri"/>
              </a:rPr>
              <a:t>S1</a:t>
            </a:r>
            <a:endParaRPr/>
          </a:p>
          <a:p>
            <a:pPr marL="342900" lvl="0" indent="-342900" algn="l" rtl="0">
              <a:spcBef>
                <a:spcPts val="560"/>
              </a:spcBef>
              <a:spcAft>
                <a:spcPts val="0"/>
              </a:spcAft>
              <a:buClr>
                <a:schemeClr val="dk1"/>
              </a:buClr>
              <a:buSzPts val="2800"/>
              <a:buFont typeface="Arial"/>
              <a:buNone/>
            </a:pPr>
            <a:r>
              <a:rPr lang="en-US" b="1">
                <a:solidFill>
                  <a:schemeClr val="dk1"/>
                </a:solidFill>
                <a:latin typeface="Calibri"/>
                <a:ea typeface="Calibri"/>
                <a:cs typeface="Calibri"/>
                <a:sym typeface="Calibri"/>
              </a:rPr>
              <a:t>If (e)</a:t>
            </a:r>
            <a:endParaRPr/>
          </a:p>
          <a:p>
            <a:pPr marL="342900" lvl="0" indent="-342900" algn="l" rtl="0">
              <a:spcBef>
                <a:spcPts val="560"/>
              </a:spcBef>
              <a:spcAft>
                <a:spcPts val="0"/>
              </a:spcAft>
              <a:buClr>
                <a:schemeClr val="dk1"/>
              </a:buClr>
              <a:buSzPts val="2800"/>
              <a:buFont typeface="Arial"/>
              <a:buNone/>
            </a:pPr>
            <a:r>
              <a:rPr lang="en-US" b="1">
                <a:solidFill>
                  <a:schemeClr val="dk1"/>
                </a:solidFill>
                <a:latin typeface="Calibri"/>
                <a:ea typeface="Calibri"/>
                <a:cs typeface="Calibri"/>
                <a:sym typeface="Calibri"/>
              </a:rPr>
              <a:t>	S2</a:t>
            </a:r>
            <a:endParaRPr/>
          </a:p>
          <a:p>
            <a:pPr marL="342900" lvl="0" indent="-342900" algn="l" rtl="0">
              <a:spcBef>
                <a:spcPts val="560"/>
              </a:spcBef>
              <a:spcAft>
                <a:spcPts val="0"/>
              </a:spcAft>
              <a:buClr>
                <a:schemeClr val="dk1"/>
              </a:buClr>
              <a:buSzPts val="2800"/>
              <a:buFont typeface="Arial"/>
              <a:buNone/>
            </a:pPr>
            <a:r>
              <a:rPr lang="en-US" b="1">
                <a:solidFill>
                  <a:schemeClr val="dk1"/>
                </a:solidFill>
                <a:latin typeface="Calibri"/>
                <a:ea typeface="Calibri"/>
                <a:cs typeface="Calibri"/>
                <a:sym typeface="Calibri"/>
              </a:rPr>
              <a:t>Endif</a:t>
            </a:r>
            <a:endParaRPr b="1">
              <a:solidFill>
                <a:schemeClr val="dk1"/>
              </a:solidFill>
            </a:endParaRPr>
          </a:p>
          <a:p>
            <a:pPr marL="742950" lvl="1" indent="-28575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S3</a:t>
            </a:r>
            <a:endParaRPr/>
          </a:p>
        </p:txBody>
      </p:sp>
      <p:pic>
        <p:nvPicPr>
          <p:cNvPr id="1508" name="Google Shape;1508;p77" descr="Flowgraphif"/>
          <p:cNvPicPr preferRelativeResize="0"/>
          <p:nvPr/>
        </p:nvPicPr>
        <p:blipFill rotWithShape="1">
          <a:blip r:embed="rId3">
            <a:alphaModFix/>
          </a:blip>
          <a:srcRect/>
          <a:stretch/>
        </p:blipFill>
        <p:spPr>
          <a:xfrm>
            <a:off x="5724525" y="1773238"/>
            <a:ext cx="2662238" cy="3384550"/>
          </a:xfrm>
          <a:prstGeom prst="rect">
            <a:avLst/>
          </a:prstGeom>
          <a:noFill/>
          <a:ln>
            <a:noFill/>
          </a:ln>
        </p:spPr>
      </p:pic>
      <p:sp>
        <p:nvSpPr>
          <p:cNvPr id="1509" name="Google Shape;1509;p77"/>
          <p:cNvSpPr/>
          <p:nvPr/>
        </p:nvSpPr>
        <p:spPr>
          <a:xfrm>
            <a:off x="3948782" y="2783396"/>
            <a:ext cx="1473200" cy="1219200"/>
          </a:xfrm>
          <a:prstGeom prst="rightArrow">
            <a:avLst>
              <a:gd name="adj1" fmla="val 50000"/>
              <a:gd name="adj2" fmla="val 39063"/>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0" name="Google Shape;1510;p7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Shape 1514"/>
        <p:cNvGrpSpPr/>
        <p:nvPr/>
      </p:nvGrpSpPr>
      <p:grpSpPr>
        <a:xfrm>
          <a:off x="0" y="0"/>
          <a:ext cx="0" cy="0"/>
          <a:chOff x="0" y="0"/>
          <a:chExt cx="0" cy="0"/>
        </a:xfrm>
      </p:grpSpPr>
      <p:sp>
        <p:nvSpPr>
          <p:cNvPr id="1515" name="Google Shape;1515;p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How to Derive Flow Graph: if-else</a:t>
            </a:r>
            <a:endParaRPr/>
          </a:p>
        </p:txBody>
      </p:sp>
      <p:sp>
        <p:nvSpPr>
          <p:cNvPr id="1516" name="Google Shape;1516;p7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17" name="Google Shape;1517;p78"/>
          <p:cNvSpPr txBox="1">
            <a:spLocks noGrp="1"/>
          </p:cNvSpPr>
          <p:nvPr>
            <p:ph type="body" idx="1"/>
          </p:nvPr>
        </p:nvSpPr>
        <p:spPr>
          <a:xfrm>
            <a:off x="1524000" y="1735543"/>
            <a:ext cx="1760240" cy="3691714"/>
          </a:xfrm>
          <a:prstGeom prst="rect">
            <a:avLst/>
          </a:prstGeom>
          <a:solidFill>
            <a:srgbClr val="E5DFEC"/>
          </a:solidFill>
          <a:ln w="9525" cap="flat" cmpd="sng">
            <a:solidFill>
              <a:srgbClr val="BD4B48"/>
            </a:solidFill>
            <a:prstDash val="solid"/>
            <a:miter lim="800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S1</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If (e)</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	S2</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Else</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	S3</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Endif</a:t>
            </a:r>
            <a:endParaRPr sz="2800" b="1">
              <a:solidFill>
                <a:schemeClr val="dk1"/>
              </a:solidFill>
            </a:endParaRPr>
          </a:p>
          <a:p>
            <a:pPr marL="742950" lvl="1" indent="-285750" algn="l" rtl="0">
              <a:spcBef>
                <a:spcPts val="560"/>
              </a:spcBef>
              <a:spcAft>
                <a:spcPts val="0"/>
              </a:spcAft>
              <a:buClr>
                <a:schemeClr val="dk1"/>
              </a:buClr>
              <a:buSzPts val="2800"/>
              <a:buFont typeface="Arial"/>
              <a:buNone/>
            </a:pPr>
            <a:r>
              <a:rPr lang="en-US" b="1">
                <a:solidFill>
                  <a:schemeClr val="dk1"/>
                </a:solidFill>
                <a:latin typeface="Calibri"/>
                <a:ea typeface="Calibri"/>
                <a:cs typeface="Calibri"/>
                <a:sym typeface="Calibri"/>
              </a:rPr>
              <a:t>S4</a:t>
            </a:r>
            <a:endParaRPr/>
          </a:p>
        </p:txBody>
      </p:sp>
      <p:pic>
        <p:nvPicPr>
          <p:cNvPr id="1518" name="Google Shape;1518;p78" descr="Flowgraphifelse"/>
          <p:cNvPicPr preferRelativeResize="0"/>
          <p:nvPr/>
        </p:nvPicPr>
        <p:blipFill rotWithShape="1">
          <a:blip r:embed="rId3">
            <a:alphaModFix/>
          </a:blip>
          <a:srcRect/>
          <a:stretch/>
        </p:blipFill>
        <p:spPr>
          <a:xfrm>
            <a:off x="5791199" y="1642286"/>
            <a:ext cx="2904067" cy="4579937"/>
          </a:xfrm>
          <a:prstGeom prst="rect">
            <a:avLst/>
          </a:prstGeom>
          <a:noFill/>
          <a:ln>
            <a:noFill/>
          </a:ln>
        </p:spPr>
      </p:pic>
      <p:sp>
        <p:nvSpPr>
          <p:cNvPr id="1519" name="Google Shape;1519;p78"/>
          <p:cNvSpPr/>
          <p:nvPr/>
        </p:nvSpPr>
        <p:spPr>
          <a:xfrm>
            <a:off x="3828677" y="2971800"/>
            <a:ext cx="1473200" cy="1219200"/>
          </a:xfrm>
          <a:prstGeom prst="rightArrow">
            <a:avLst>
              <a:gd name="adj1" fmla="val 50000"/>
              <a:gd name="adj2" fmla="val 39063"/>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7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Shape 1524"/>
        <p:cNvGrpSpPr/>
        <p:nvPr/>
      </p:nvGrpSpPr>
      <p:grpSpPr>
        <a:xfrm>
          <a:off x="0" y="0"/>
          <a:ext cx="0" cy="0"/>
          <a:chOff x="0" y="0"/>
          <a:chExt cx="0" cy="0"/>
        </a:xfrm>
      </p:grpSpPr>
      <p:sp>
        <p:nvSpPr>
          <p:cNvPr id="1525" name="Google Shape;1525;p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How to Derive Flow Graph: boolean-AND</a:t>
            </a:r>
            <a:endParaRPr/>
          </a:p>
        </p:txBody>
      </p:sp>
      <p:sp>
        <p:nvSpPr>
          <p:cNvPr id="1526" name="Google Shape;1526;p7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27" name="Google Shape;1527;p79"/>
          <p:cNvSpPr txBox="1">
            <a:spLocks noGrp="1"/>
          </p:cNvSpPr>
          <p:nvPr>
            <p:ph type="body" idx="1"/>
          </p:nvPr>
        </p:nvSpPr>
        <p:spPr>
          <a:xfrm>
            <a:off x="790975" y="2396240"/>
            <a:ext cx="2168352" cy="2952328"/>
          </a:xfrm>
          <a:prstGeom prst="rect">
            <a:avLst/>
          </a:prstGeom>
          <a:solidFill>
            <a:srgbClr val="E5DFEC"/>
          </a:solidFill>
          <a:ln w="9525" cap="flat" cmpd="sng">
            <a:solidFill>
              <a:srgbClr val="BD4B48"/>
            </a:solidFill>
            <a:prstDash val="solid"/>
            <a:miter lim="800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If (a AND b)</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	C</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End If</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	D</a:t>
            </a:r>
            <a:endParaRPr/>
          </a:p>
        </p:txBody>
      </p:sp>
      <p:pic>
        <p:nvPicPr>
          <p:cNvPr id="1528" name="Google Shape;1528;p79" descr="Flowgraphif"/>
          <p:cNvPicPr preferRelativeResize="0"/>
          <p:nvPr/>
        </p:nvPicPr>
        <p:blipFill rotWithShape="1">
          <a:blip r:embed="rId3">
            <a:alphaModFix/>
          </a:blip>
          <a:srcRect/>
          <a:stretch/>
        </p:blipFill>
        <p:spPr>
          <a:xfrm>
            <a:off x="5334000" y="2209800"/>
            <a:ext cx="3352800" cy="3048000"/>
          </a:xfrm>
          <a:prstGeom prst="rect">
            <a:avLst/>
          </a:prstGeom>
          <a:noFill/>
          <a:ln>
            <a:noFill/>
          </a:ln>
        </p:spPr>
      </p:pic>
      <p:sp>
        <p:nvSpPr>
          <p:cNvPr id="1529" name="Google Shape;1529;p79"/>
          <p:cNvSpPr/>
          <p:nvPr/>
        </p:nvSpPr>
        <p:spPr>
          <a:xfrm>
            <a:off x="3348038" y="2997200"/>
            <a:ext cx="1608137" cy="1079500"/>
          </a:xfrm>
          <a:prstGeom prst="rightArrow">
            <a:avLst>
              <a:gd name="adj1" fmla="val 50000"/>
              <a:gd name="adj2" fmla="val 30263"/>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0" name="Google Shape;1530;p7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Shape 1534"/>
        <p:cNvGrpSpPr/>
        <p:nvPr/>
      </p:nvGrpSpPr>
      <p:grpSpPr>
        <a:xfrm>
          <a:off x="0" y="0"/>
          <a:ext cx="0" cy="0"/>
          <a:chOff x="0" y="0"/>
          <a:chExt cx="0" cy="0"/>
        </a:xfrm>
      </p:grpSpPr>
      <p:sp>
        <p:nvSpPr>
          <p:cNvPr id="1535" name="Google Shape;1535;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How to Derive Flow Graph: boolean-OR</a:t>
            </a:r>
            <a:endParaRPr/>
          </a:p>
        </p:txBody>
      </p:sp>
      <p:sp>
        <p:nvSpPr>
          <p:cNvPr id="1536" name="Google Shape;1536;p8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37" name="Google Shape;1537;p80"/>
          <p:cNvSpPr txBox="1">
            <a:spLocks noGrp="1"/>
          </p:cNvSpPr>
          <p:nvPr>
            <p:ph type="body" idx="1"/>
          </p:nvPr>
        </p:nvSpPr>
        <p:spPr>
          <a:xfrm>
            <a:off x="755576" y="2060848"/>
            <a:ext cx="2242592" cy="2592288"/>
          </a:xfrm>
          <a:prstGeom prst="rect">
            <a:avLst/>
          </a:prstGeom>
          <a:solidFill>
            <a:srgbClr val="E5DFEC"/>
          </a:solidFill>
          <a:ln w="9525" cap="flat" cmpd="sng">
            <a:solidFill>
              <a:srgbClr val="BD4B48"/>
            </a:solidFill>
            <a:prstDash val="solid"/>
            <a:miter lim="800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If (a OR b)</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	c</a:t>
            </a:r>
            <a:endParaRPr sz="2800" b="1">
              <a:solidFill>
                <a:schemeClr val="dk1"/>
              </a:solidFill>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End If</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	d</a:t>
            </a:r>
            <a:endParaRPr sz="2800" b="1">
              <a:solidFill>
                <a:schemeClr val="dk1"/>
              </a:solidFill>
            </a:endParaRPr>
          </a:p>
        </p:txBody>
      </p:sp>
      <p:pic>
        <p:nvPicPr>
          <p:cNvPr id="1538" name="Google Shape;1538;p80" descr="Flowgraphor"/>
          <p:cNvPicPr preferRelativeResize="0"/>
          <p:nvPr/>
        </p:nvPicPr>
        <p:blipFill rotWithShape="1">
          <a:blip r:embed="rId3">
            <a:alphaModFix/>
          </a:blip>
          <a:srcRect/>
          <a:stretch/>
        </p:blipFill>
        <p:spPr>
          <a:xfrm>
            <a:off x="5435600" y="1700213"/>
            <a:ext cx="3124200" cy="2871787"/>
          </a:xfrm>
          <a:prstGeom prst="rect">
            <a:avLst/>
          </a:prstGeom>
          <a:noFill/>
          <a:ln>
            <a:noFill/>
          </a:ln>
        </p:spPr>
      </p:pic>
      <p:sp>
        <p:nvSpPr>
          <p:cNvPr id="1539" name="Google Shape;1539;p80"/>
          <p:cNvSpPr/>
          <p:nvPr/>
        </p:nvSpPr>
        <p:spPr>
          <a:xfrm>
            <a:off x="3348038" y="2667000"/>
            <a:ext cx="1757362" cy="1371600"/>
          </a:xfrm>
          <a:prstGeom prst="rightArrow">
            <a:avLst>
              <a:gd name="adj1" fmla="val 50000"/>
              <a:gd name="adj2" fmla="val 40278"/>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8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Shape 1544"/>
        <p:cNvGrpSpPr/>
        <p:nvPr/>
      </p:nvGrpSpPr>
      <p:grpSpPr>
        <a:xfrm>
          <a:off x="0" y="0"/>
          <a:ext cx="0" cy="0"/>
          <a:chOff x="0" y="0"/>
          <a:chExt cx="0" cy="0"/>
        </a:xfrm>
      </p:grpSpPr>
      <p:sp>
        <p:nvSpPr>
          <p:cNvPr id="1545" name="Google Shape;1545;p8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How to Derive Flow Graph: while</a:t>
            </a:r>
            <a:endParaRPr/>
          </a:p>
        </p:txBody>
      </p:sp>
      <p:sp>
        <p:nvSpPr>
          <p:cNvPr id="1546" name="Google Shape;1546;p8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47" name="Google Shape;1547;p81"/>
          <p:cNvSpPr txBox="1">
            <a:spLocks noGrp="1"/>
          </p:cNvSpPr>
          <p:nvPr>
            <p:ph type="body" idx="1"/>
          </p:nvPr>
        </p:nvSpPr>
        <p:spPr>
          <a:xfrm>
            <a:off x="539552" y="1772816"/>
            <a:ext cx="2386608" cy="2880320"/>
          </a:xfrm>
          <a:prstGeom prst="rect">
            <a:avLst/>
          </a:prstGeom>
          <a:solidFill>
            <a:srgbClr val="E5DFEC"/>
          </a:solidFill>
          <a:ln w="9525" cap="flat" cmpd="sng">
            <a:solidFill>
              <a:srgbClr val="BD4B48"/>
            </a:solidFill>
            <a:prstDash val="solid"/>
            <a:miter lim="800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S1</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While (e)</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	S2</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End while</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S3</a:t>
            </a:r>
            <a:endParaRPr/>
          </a:p>
        </p:txBody>
      </p:sp>
      <p:pic>
        <p:nvPicPr>
          <p:cNvPr id="1548" name="Google Shape;1548;p81" descr="Flowgraphwhile"/>
          <p:cNvPicPr preferRelativeResize="0"/>
          <p:nvPr/>
        </p:nvPicPr>
        <p:blipFill rotWithShape="1">
          <a:blip r:embed="rId3">
            <a:alphaModFix/>
          </a:blip>
          <a:srcRect/>
          <a:stretch/>
        </p:blipFill>
        <p:spPr>
          <a:xfrm>
            <a:off x="5292725" y="1484313"/>
            <a:ext cx="2770188" cy="4124325"/>
          </a:xfrm>
          <a:prstGeom prst="rect">
            <a:avLst/>
          </a:prstGeom>
          <a:noFill/>
          <a:ln>
            <a:noFill/>
          </a:ln>
        </p:spPr>
      </p:pic>
      <p:sp>
        <p:nvSpPr>
          <p:cNvPr id="1549" name="Google Shape;1549;p81"/>
          <p:cNvSpPr/>
          <p:nvPr/>
        </p:nvSpPr>
        <p:spPr>
          <a:xfrm>
            <a:off x="3276600" y="2781300"/>
            <a:ext cx="1544638" cy="1079500"/>
          </a:xfrm>
          <a:prstGeom prst="rightArrow">
            <a:avLst>
              <a:gd name="adj1" fmla="val 50000"/>
              <a:gd name="adj2" fmla="val 32895"/>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8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Shape 1554"/>
        <p:cNvGrpSpPr/>
        <p:nvPr/>
      </p:nvGrpSpPr>
      <p:grpSpPr>
        <a:xfrm>
          <a:off x="0" y="0"/>
          <a:ext cx="0" cy="0"/>
          <a:chOff x="0" y="0"/>
          <a:chExt cx="0" cy="0"/>
        </a:xfrm>
      </p:grpSpPr>
      <p:sp>
        <p:nvSpPr>
          <p:cNvPr id="1555" name="Google Shape;1555;p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How to Derive Flow Graph: for</a:t>
            </a:r>
            <a:endParaRPr/>
          </a:p>
        </p:txBody>
      </p:sp>
      <p:sp>
        <p:nvSpPr>
          <p:cNvPr id="1556" name="Google Shape;1556;p8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57" name="Google Shape;1557;p82"/>
          <p:cNvSpPr txBox="1">
            <a:spLocks noGrp="1"/>
          </p:cNvSpPr>
          <p:nvPr>
            <p:ph type="body" idx="1"/>
          </p:nvPr>
        </p:nvSpPr>
        <p:spPr>
          <a:xfrm>
            <a:off x="395536" y="2819400"/>
            <a:ext cx="2804864" cy="2841848"/>
          </a:xfrm>
          <a:prstGeom prst="rect">
            <a:avLst/>
          </a:prstGeom>
          <a:solidFill>
            <a:srgbClr val="E5DFEC"/>
          </a:solidFill>
          <a:ln w="9525" cap="flat" cmpd="sng">
            <a:solidFill>
              <a:srgbClr val="BD4B48"/>
            </a:solidFill>
            <a:prstDash val="solid"/>
            <a:miter lim="800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S1</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for (i=0; i&gt;5; i++)</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	S2</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End for</a:t>
            </a:r>
            <a:endParaRPr/>
          </a:p>
          <a:p>
            <a:pPr marL="342900" lvl="0" indent="-342900" algn="l" rtl="0">
              <a:spcBef>
                <a:spcPts val="560"/>
              </a:spcBef>
              <a:spcAft>
                <a:spcPts val="0"/>
              </a:spcAft>
              <a:buClr>
                <a:schemeClr val="dk1"/>
              </a:buClr>
              <a:buSzPts val="2800"/>
              <a:buFont typeface="Arial"/>
              <a:buNone/>
            </a:pPr>
            <a:r>
              <a:rPr lang="en-US" sz="2800" b="1">
                <a:solidFill>
                  <a:schemeClr val="dk1"/>
                </a:solidFill>
                <a:latin typeface="Calibri"/>
                <a:ea typeface="Calibri"/>
                <a:cs typeface="Calibri"/>
                <a:sym typeface="Calibri"/>
              </a:rPr>
              <a:t>S3</a:t>
            </a:r>
            <a:endParaRPr/>
          </a:p>
        </p:txBody>
      </p:sp>
      <p:pic>
        <p:nvPicPr>
          <p:cNvPr id="1558" name="Google Shape;1558;p82" descr="Flowgraphfor"/>
          <p:cNvPicPr preferRelativeResize="0"/>
          <p:nvPr/>
        </p:nvPicPr>
        <p:blipFill rotWithShape="1">
          <a:blip r:embed="rId3">
            <a:alphaModFix/>
          </a:blip>
          <a:srcRect/>
          <a:stretch/>
        </p:blipFill>
        <p:spPr>
          <a:xfrm>
            <a:off x="5508625" y="2060575"/>
            <a:ext cx="3024188" cy="4076700"/>
          </a:xfrm>
          <a:prstGeom prst="rect">
            <a:avLst/>
          </a:prstGeom>
          <a:noFill/>
          <a:ln>
            <a:noFill/>
          </a:ln>
        </p:spPr>
      </p:pic>
      <p:sp>
        <p:nvSpPr>
          <p:cNvPr id="1559" name="Google Shape;1559;p82"/>
          <p:cNvSpPr/>
          <p:nvPr/>
        </p:nvSpPr>
        <p:spPr>
          <a:xfrm>
            <a:off x="3733800" y="3352800"/>
            <a:ext cx="1524000" cy="1295400"/>
          </a:xfrm>
          <a:prstGeom prst="rightArrow">
            <a:avLst>
              <a:gd name="adj1" fmla="val 50000"/>
              <a:gd name="adj2" fmla="val 29412"/>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8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Shape 1564"/>
        <p:cNvGrpSpPr/>
        <p:nvPr/>
      </p:nvGrpSpPr>
      <p:grpSpPr>
        <a:xfrm>
          <a:off x="0" y="0"/>
          <a:ext cx="0" cy="0"/>
          <a:chOff x="0" y="0"/>
          <a:chExt cx="0" cy="0"/>
        </a:xfrm>
      </p:grpSpPr>
      <p:sp>
        <p:nvSpPr>
          <p:cNvPr id="1565" name="Google Shape;1565;p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Example of Basis Path Testing</a:t>
            </a:r>
            <a:endParaRPr/>
          </a:p>
        </p:txBody>
      </p:sp>
      <p:sp>
        <p:nvSpPr>
          <p:cNvPr id="1566" name="Google Shape;1566;p8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67" name="Google Shape;1567;p83"/>
          <p:cNvSpPr/>
          <p:nvPr/>
        </p:nvSpPr>
        <p:spPr>
          <a:xfrm>
            <a:off x="457207" y="1417662"/>
            <a:ext cx="3691500" cy="4832100"/>
          </a:xfrm>
          <a:prstGeom prst="rect">
            <a:avLst/>
          </a:prstGeom>
          <a:solidFill>
            <a:schemeClr val="lt2"/>
          </a:solidFill>
          <a:ln w="9525" cap="flat" cmpd="sng">
            <a:solidFill>
              <a:srgbClr val="BE4B48"/>
            </a:solidFill>
            <a:prstDash val="solid"/>
            <a:miter lim="800000"/>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00000"/>
                </a:solidFill>
                <a:latin typeface="Courier"/>
                <a:ea typeface="Courier"/>
                <a:cs typeface="Courier"/>
                <a:sym typeface="Courier"/>
              </a:rPr>
              <a:t>int main()</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int i, n, t;</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printf("n= ");</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scanf("%d ", &amp;n);</a:t>
            </a:r>
            <a:endParaRPr/>
          </a:p>
          <a:p>
            <a:pPr marL="0" marR="0" lvl="0" indent="0" algn="l" rtl="0">
              <a:spcBef>
                <a:spcPts val="0"/>
              </a:spcBef>
              <a:spcAft>
                <a:spcPts val="0"/>
              </a:spcAft>
              <a:buNone/>
            </a:pPr>
            <a:endParaRPr sz="1400" b="1">
              <a:solidFill>
                <a:srgbClr val="000000"/>
              </a:solidFill>
              <a:latin typeface="Courier"/>
              <a:ea typeface="Courier"/>
              <a:cs typeface="Courier"/>
              <a:sym typeface="Courie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if(n &lt; 0)</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printf("invalid: %d\n", n);</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n=-1;</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else</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t=1;</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for(i=1;i&lt;=n; i++)</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t*=i;</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printf("%d != %d\n", n, t);</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   return 0;</a:t>
            </a:r>
            <a:endParaRPr/>
          </a:p>
          <a:p>
            <a:pPr marL="0" marR="0" lvl="0" indent="0" algn="l" rtl="0">
              <a:spcBef>
                <a:spcPts val="0"/>
              </a:spcBef>
              <a:spcAft>
                <a:spcPts val="0"/>
              </a:spcAft>
              <a:buNone/>
            </a:pPr>
            <a:r>
              <a:rPr lang="en-US" sz="1400" b="1">
                <a:solidFill>
                  <a:srgbClr val="000000"/>
                </a:solidFill>
                <a:latin typeface="Courier"/>
                <a:ea typeface="Courier"/>
                <a:cs typeface="Courier"/>
                <a:sym typeface="Courier"/>
              </a:rPr>
              <a:t>}</a:t>
            </a:r>
            <a:endParaRPr sz="1400">
              <a:solidFill>
                <a:srgbClr val="000000"/>
              </a:solidFill>
              <a:latin typeface="Calibri"/>
              <a:ea typeface="Calibri"/>
              <a:cs typeface="Calibri"/>
              <a:sym typeface="Calibri"/>
            </a:endParaRPr>
          </a:p>
        </p:txBody>
      </p:sp>
      <p:sp>
        <p:nvSpPr>
          <p:cNvPr id="1568" name="Google Shape;1568;p83"/>
          <p:cNvSpPr/>
          <p:nvPr/>
        </p:nvSpPr>
        <p:spPr>
          <a:xfrm>
            <a:off x="4114800" y="1741319"/>
            <a:ext cx="4572000" cy="2246769"/>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Given the source code, identify the suitable test cases to be enforced in white-box testing using basis path testing technique</a:t>
            </a:r>
            <a:endParaRPr/>
          </a:p>
        </p:txBody>
      </p:sp>
      <p:sp>
        <p:nvSpPr>
          <p:cNvPr id="1569" name="Google Shape;1569;p8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Shape 1573"/>
        <p:cNvGrpSpPr/>
        <p:nvPr/>
      </p:nvGrpSpPr>
      <p:grpSpPr>
        <a:xfrm>
          <a:off x="0" y="0"/>
          <a:ext cx="0" cy="0"/>
          <a:chOff x="0" y="0"/>
          <a:chExt cx="0" cy="0"/>
        </a:xfrm>
      </p:grpSpPr>
      <p:sp>
        <p:nvSpPr>
          <p:cNvPr id="1574" name="Google Shape;1574;p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Basis Path Testing Step 1: </a:t>
            </a:r>
            <a:br>
              <a:rPr lang="en-US" sz="4000"/>
            </a:br>
            <a:r>
              <a:rPr lang="en-US" sz="4000"/>
              <a:t>Draw Flow Graph</a:t>
            </a:r>
            <a:endParaRPr sz="4000"/>
          </a:p>
        </p:txBody>
      </p:sp>
      <p:sp>
        <p:nvSpPr>
          <p:cNvPr id="1575" name="Google Shape;1575;p8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76" name="Google Shape;1576;p84"/>
          <p:cNvSpPr txBox="1">
            <a:spLocks noGrp="1"/>
          </p:cNvSpPr>
          <p:nvPr>
            <p:ph type="body" idx="1"/>
          </p:nvPr>
        </p:nvSpPr>
        <p:spPr>
          <a:xfrm>
            <a:off x="214312" y="1390931"/>
            <a:ext cx="4752975" cy="4946089"/>
          </a:xfrm>
          <a:prstGeom prst="rect">
            <a:avLst/>
          </a:prstGeom>
          <a:solidFill>
            <a:schemeClr val="lt2"/>
          </a:solidFill>
          <a:ln w="9525" cap="flat" cmpd="sng">
            <a:solidFill>
              <a:srgbClr val="BE4B48"/>
            </a:solidFill>
            <a:prstDash val="solid"/>
            <a:round/>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int main()</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int i, n, t;</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printf("n= ");</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scanf("%d ", &amp;n);</a:t>
            </a:r>
            <a:endParaRPr/>
          </a:p>
          <a:p>
            <a:pPr marL="342900" lvl="0" indent="-342900" algn="l" rtl="0">
              <a:spcBef>
                <a:spcPts val="0"/>
              </a:spcBef>
              <a:spcAft>
                <a:spcPts val="0"/>
              </a:spcAft>
              <a:buClr>
                <a:schemeClr val="dk1"/>
              </a:buClr>
              <a:buSzPts val="1500"/>
              <a:buFont typeface="Arial"/>
              <a:buNone/>
            </a:pPr>
            <a:endParaRPr sz="1500" b="1">
              <a:solidFill>
                <a:srgbClr val="000000"/>
              </a:solidFill>
              <a:latin typeface="Courier"/>
              <a:ea typeface="Courier"/>
              <a:cs typeface="Courier"/>
              <a:sym typeface="Courie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if(n&lt;0)</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printf("invalid: %d\n", n);</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n=-1;</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else</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t=1;</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for(i=1;i&lt;=n; i++)</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t*=i;</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printf("%d != %d\n", n, t);</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a:t>
            </a:r>
            <a:endParaRPr/>
          </a:p>
          <a:p>
            <a:pPr marL="342900" lvl="0" indent="-342900" algn="l" rtl="0">
              <a:spcBef>
                <a:spcPts val="0"/>
              </a:spcBef>
              <a:spcAft>
                <a:spcPts val="0"/>
              </a:spcAft>
              <a:buClr>
                <a:srgbClr val="000000"/>
              </a:buClr>
              <a:buSzPts val="1500"/>
              <a:buFont typeface="Arial"/>
              <a:buNone/>
            </a:pPr>
            <a:r>
              <a:rPr lang="en-US" sz="1500" b="1">
                <a:solidFill>
                  <a:srgbClr val="000000"/>
                </a:solidFill>
                <a:latin typeface="Courier"/>
                <a:ea typeface="Courier"/>
                <a:cs typeface="Courier"/>
                <a:sym typeface="Courier"/>
              </a:rPr>
              <a:t>   return 0;}</a:t>
            </a:r>
            <a:endParaRPr/>
          </a:p>
        </p:txBody>
      </p:sp>
      <p:sp>
        <p:nvSpPr>
          <p:cNvPr id="1577" name="Google Shape;1577;p84"/>
          <p:cNvSpPr/>
          <p:nvPr/>
        </p:nvSpPr>
        <p:spPr>
          <a:xfrm>
            <a:off x="2819400" y="1752600"/>
            <a:ext cx="381000" cy="838200"/>
          </a:xfrm>
          <a:prstGeom prst="rightBrace">
            <a:avLst>
              <a:gd name="adj1" fmla="val 18333"/>
              <a:gd name="adj2" fmla="val 50000"/>
            </a:avLst>
          </a:prstGeom>
          <a:noFill/>
          <a:ln w="127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78" name="Google Shape;1578;p84"/>
          <p:cNvSpPr/>
          <p:nvPr/>
        </p:nvSpPr>
        <p:spPr>
          <a:xfrm>
            <a:off x="3825101" y="3147133"/>
            <a:ext cx="228600" cy="609600"/>
          </a:xfrm>
          <a:prstGeom prst="rightBrace">
            <a:avLst>
              <a:gd name="adj1" fmla="val 22222"/>
              <a:gd name="adj2" fmla="val 50000"/>
            </a:avLst>
          </a:prstGeom>
          <a:noFill/>
          <a:ln w="127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579" name="Google Shape;1579;p84"/>
          <p:cNvCxnSpPr/>
          <p:nvPr/>
        </p:nvCxnSpPr>
        <p:spPr>
          <a:xfrm>
            <a:off x="1524000" y="4495800"/>
            <a:ext cx="228600" cy="0"/>
          </a:xfrm>
          <a:prstGeom prst="straightConnector1">
            <a:avLst/>
          </a:prstGeom>
          <a:noFill/>
          <a:ln w="12700" cap="flat" cmpd="sng">
            <a:solidFill>
              <a:schemeClr val="accent1"/>
            </a:solidFill>
            <a:prstDash val="solid"/>
            <a:round/>
            <a:headEnd type="none" w="med" len="med"/>
            <a:tailEnd type="triangle" w="med" len="med"/>
          </a:ln>
        </p:spPr>
      </p:cxnSp>
      <p:cxnSp>
        <p:nvCxnSpPr>
          <p:cNvPr id="1580" name="Google Shape;1580;p84"/>
          <p:cNvCxnSpPr/>
          <p:nvPr/>
        </p:nvCxnSpPr>
        <p:spPr>
          <a:xfrm>
            <a:off x="1908175" y="5257800"/>
            <a:ext cx="1008063" cy="0"/>
          </a:xfrm>
          <a:prstGeom prst="straightConnector1">
            <a:avLst/>
          </a:prstGeom>
          <a:noFill/>
          <a:ln w="12700" cap="flat" cmpd="sng">
            <a:solidFill>
              <a:schemeClr val="accent1"/>
            </a:solidFill>
            <a:prstDash val="solid"/>
            <a:round/>
            <a:headEnd type="none" w="med" len="med"/>
            <a:tailEnd type="triangle" w="med" len="med"/>
          </a:ln>
        </p:spPr>
      </p:cxnSp>
      <p:cxnSp>
        <p:nvCxnSpPr>
          <p:cNvPr id="1581" name="Google Shape;1581;p84"/>
          <p:cNvCxnSpPr/>
          <p:nvPr/>
        </p:nvCxnSpPr>
        <p:spPr>
          <a:xfrm>
            <a:off x="4082822" y="5715000"/>
            <a:ext cx="228600" cy="0"/>
          </a:xfrm>
          <a:prstGeom prst="straightConnector1">
            <a:avLst/>
          </a:prstGeom>
          <a:noFill/>
          <a:ln w="12700" cap="flat" cmpd="sng">
            <a:solidFill>
              <a:schemeClr val="accent1"/>
            </a:solidFill>
            <a:prstDash val="solid"/>
            <a:round/>
            <a:headEnd type="none" w="med" len="med"/>
            <a:tailEnd type="triangle" w="med" len="med"/>
          </a:ln>
        </p:spPr>
      </p:cxnSp>
      <p:cxnSp>
        <p:nvCxnSpPr>
          <p:cNvPr id="1582" name="Google Shape;1582;p84"/>
          <p:cNvCxnSpPr/>
          <p:nvPr/>
        </p:nvCxnSpPr>
        <p:spPr>
          <a:xfrm>
            <a:off x="1835150" y="6172200"/>
            <a:ext cx="576263" cy="0"/>
          </a:xfrm>
          <a:prstGeom prst="straightConnector1">
            <a:avLst/>
          </a:prstGeom>
          <a:noFill/>
          <a:ln w="12700" cap="flat" cmpd="sng">
            <a:solidFill>
              <a:schemeClr val="accent1"/>
            </a:solidFill>
            <a:prstDash val="solid"/>
            <a:round/>
            <a:headEnd type="none" w="med" len="med"/>
            <a:tailEnd type="triangle" w="med" len="med"/>
          </a:ln>
        </p:spPr>
      </p:cxnSp>
      <p:pic>
        <p:nvPicPr>
          <p:cNvPr id="1583" name="Google Shape;1583;p84" descr="casestudyflow"/>
          <p:cNvPicPr preferRelativeResize="0"/>
          <p:nvPr/>
        </p:nvPicPr>
        <p:blipFill rotWithShape="1">
          <a:blip r:embed="rId3">
            <a:alphaModFix/>
          </a:blip>
          <a:srcRect/>
          <a:stretch/>
        </p:blipFill>
        <p:spPr>
          <a:xfrm>
            <a:off x="5571596" y="1569758"/>
            <a:ext cx="3157537" cy="4767262"/>
          </a:xfrm>
          <a:prstGeom prst="rect">
            <a:avLst/>
          </a:prstGeom>
          <a:noFill/>
          <a:ln>
            <a:noFill/>
          </a:ln>
        </p:spPr>
      </p:pic>
      <p:cxnSp>
        <p:nvCxnSpPr>
          <p:cNvPr id="1584" name="Google Shape;1584;p84"/>
          <p:cNvCxnSpPr/>
          <p:nvPr/>
        </p:nvCxnSpPr>
        <p:spPr>
          <a:xfrm>
            <a:off x="1524000" y="2895600"/>
            <a:ext cx="228600" cy="0"/>
          </a:xfrm>
          <a:prstGeom prst="straightConnector1">
            <a:avLst/>
          </a:prstGeom>
          <a:noFill/>
          <a:ln w="12700" cap="flat" cmpd="sng">
            <a:solidFill>
              <a:schemeClr val="accent1"/>
            </a:solidFill>
            <a:prstDash val="solid"/>
            <a:round/>
            <a:headEnd type="none" w="med" len="med"/>
            <a:tailEnd type="triangle" w="med" len="med"/>
          </a:ln>
        </p:spPr>
      </p:cxnSp>
      <p:sp>
        <p:nvSpPr>
          <p:cNvPr id="1585" name="Google Shape;1585;p84"/>
          <p:cNvSpPr/>
          <p:nvPr/>
        </p:nvSpPr>
        <p:spPr>
          <a:xfrm>
            <a:off x="1884627" y="2637259"/>
            <a:ext cx="576262" cy="431800"/>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if</a:t>
            </a:r>
            <a:endParaRPr/>
          </a:p>
        </p:txBody>
      </p:sp>
      <p:sp>
        <p:nvSpPr>
          <p:cNvPr id="1586" name="Google Shape;1586;p84"/>
          <p:cNvSpPr/>
          <p:nvPr/>
        </p:nvSpPr>
        <p:spPr>
          <a:xfrm>
            <a:off x="3276600" y="1865313"/>
            <a:ext cx="863600" cy="649287"/>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Enter</a:t>
            </a:r>
            <a:endParaRPr/>
          </a:p>
        </p:txBody>
      </p:sp>
      <p:sp>
        <p:nvSpPr>
          <p:cNvPr id="1587" name="Google Shape;1587;p84"/>
          <p:cNvSpPr/>
          <p:nvPr/>
        </p:nvSpPr>
        <p:spPr>
          <a:xfrm>
            <a:off x="4184669" y="3229402"/>
            <a:ext cx="576263" cy="433388"/>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S1</a:t>
            </a:r>
            <a:endParaRPr/>
          </a:p>
        </p:txBody>
      </p:sp>
      <p:sp>
        <p:nvSpPr>
          <p:cNvPr id="1588" name="Google Shape;1588;p84"/>
          <p:cNvSpPr/>
          <p:nvPr/>
        </p:nvSpPr>
        <p:spPr>
          <a:xfrm>
            <a:off x="1893515" y="4191000"/>
            <a:ext cx="576262" cy="431800"/>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S2</a:t>
            </a:r>
            <a:endParaRPr/>
          </a:p>
        </p:txBody>
      </p:sp>
      <p:cxnSp>
        <p:nvCxnSpPr>
          <p:cNvPr id="1589" name="Google Shape;1589;p84"/>
          <p:cNvCxnSpPr/>
          <p:nvPr/>
        </p:nvCxnSpPr>
        <p:spPr>
          <a:xfrm rot="10800000">
            <a:off x="611188" y="4724400"/>
            <a:ext cx="360362" cy="0"/>
          </a:xfrm>
          <a:prstGeom prst="straightConnector1">
            <a:avLst/>
          </a:prstGeom>
          <a:noFill/>
          <a:ln w="12700" cap="flat" cmpd="sng">
            <a:solidFill>
              <a:schemeClr val="accent1"/>
            </a:solidFill>
            <a:prstDash val="solid"/>
            <a:round/>
            <a:headEnd type="none" w="med" len="med"/>
            <a:tailEnd type="triangle" w="med" len="med"/>
          </a:ln>
        </p:spPr>
      </p:cxnSp>
      <p:sp>
        <p:nvSpPr>
          <p:cNvPr id="1590" name="Google Shape;1590;p84"/>
          <p:cNvSpPr/>
          <p:nvPr/>
        </p:nvSpPr>
        <p:spPr>
          <a:xfrm>
            <a:off x="0" y="4521200"/>
            <a:ext cx="576263" cy="431800"/>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for</a:t>
            </a:r>
            <a:endParaRPr/>
          </a:p>
        </p:txBody>
      </p:sp>
      <p:cxnSp>
        <p:nvCxnSpPr>
          <p:cNvPr id="1591" name="Google Shape;1591;p84"/>
          <p:cNvCxnSpPr/>
          <p:nvPr/>
        </p:nvCxnSpPr>
        <p:spPr>
          <a:xfrm>
            <a:off x="2974975" y="4724400"/>
            <a:ext cx="228600" cy="0"/>
          </a:xfrm>
          <a:prstGeom prst="straightConnector1">
            <a:avLst/>
          </a:prstGeom>
          <a:noFill/>
          <a:ln w="12700" cap="flat" cmpd="sng">
            <a:solidFill>
              <a:schemeClr val="accent1"/>
            </a:solidFill>
            <a:prstDash val="solid"/>
            <a:round/>
            <a:headEnd type="none" w="med" len="med"/>
            <a:tailEnd type="triangle" w="med" len="med"/>
          </a:ln>
        </p:spPr>
      </p:cxnSp>
      <p:sp>
        <p:nvSpPr>
          <p:cNvPr id="1592" name="Google Shape;1592;p84"/>
          <p:cNvSpPr/>
          <p:nvPr/>
        </p:nvSpPr>
        <p:spPr>
          <a:xfrm>
            <a:off x="3276600" y="4452938"/>
            <a:ext cx="935038" cy="576262"/>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i = i+1</a:t>
            </a:r>
            <a:endParaRPr/>
          </a:p>
        </p:txBody>
      </p:sp>
      <p:sp>
        <p:nvSpPr>
          <p:cNvPr id="1593" name="Google Shape;1593;p84"/>
          <p:cNvSpPr/>
          <p:nvPr/>
        </p:nvSpPr>
        <p:spPr>
          <a:xfrm>
            <a:off x="2987675" y="5105400"/>
            <a:ext cx="576263" cy="431800"/>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S3</a:t>
            </a:r>
            <a:endParaRPr/>
          </a:p>
        </p:txBody>
      </p:sp>
      <p:sp>
        <p:nvSpPr>
          <p:cNvPr id="1594" name="Google Shape;1594;p84"/>
          <p:cNvSpPr/>
          <p:nvPr/>
        </p:nvSpPr>
        <p:spPr>
          <a:xfrm>
            <a:off x="4355817" y="5474554"/>
            <a:ext cx="574675" cy="431800"/>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S4</a:t>
            </a:r>
            <a:endParaRPr/>
          </a:p>
        </p:txBody>
      </p:sp>
      <p:sp>
        <p:nvSpPr>
          <p:cNvPr id="1595" name="Google Shape;1595;p84"/>
          <p:cNvSpPr/>
          <p:nvPr/>
        </p:nvSpPr>
        <p:spPr>
          <a:xfrm>
            <a:off x="2511689" y="5769096"/>
            <a:ext cx="863600" cy="649287"/>
          </a:xfrm>
          <a:prstGeom prst="ellipse">
            <a:avLst/>
          </a:prstGeom>
          <a:solidFill>
            <a:schemeClr val="accent2"/>
          </a:solidFill>
          <a:ln w="38100" cap="flat" cmpd="sng">
            <a:solidFill>
              <a:schemeClr val="lt1"/>
            </a:solidFill>
            <a:prstDash val="solid"/>
            <a:round/>
            <a:headEnd type="none" w="sm" len="sm"/>
            <a:tailEnd type="none" w="sm" len="sm"/>
          </a:ln>
          <a:effectLst>
            <a:outerShdw dist="20000" dir="5400000" rotWithShape="0">
              <a:srgbClr val="80808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alibri"/>
                <a:ea typeface="Calibri"/>
                <a:cs typeface="Calibri"/>
                <a:sym typeface="Calibri"/>
              </a:rPr>
              <a:t>Exit</a:t>
            </a:r>
            <a:endParaRPr/>
          </a:p>
        </p:txBody>
      </p:sp>
      <p:sp>
        <p:nvSpPr>
          <p:cNvPr id="1596" name="Google Shape;1596;p8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Shape 1600"/>
        <p:cNvGrpSpPr/>
        <p:nvPr/>
      </p:nvGrpSpPr>
      <p:grpSpPr>
        <a:xfrm>
          <a:off x="0" y="0"/>
          <a:ext cx="0" cy="0"/>
          <a:chOff x="0" y="0"/>
          <a:chExt cx="0" cy="0"/>
        </a:xfrm>
      </p:grpSpPr>
      <p:sp>
        <p:nvSpPr>
          <p:cNvPr id="1601" name="Google Shape;1601;p8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How to Simplify</a:t>
            </a:r>
            <a:endParaRPr/>
          </a:p>
        </p:txBody>
      </p:sp>
      <p:sp>
        <p:nvSpPr>
          <p:cNvPr id="1602" name="Google Shape;1602;p8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1603" name="Google Shape;1603;p85" descr="casestudyflow"/>
          <p:cNvPicPr preferRelativeResize="0"/>
          <p:nvPr/>
        </p:nvPicPr>
        <p:blipFill rotWithShape="1">
          <a:blip r:embed="rId3">
            <a:alphaModFix/>
          </a:blip>
          <a:srcRect/>
          <a:stretch/>
        </p:blipFill>
        <p:spPr>
          <a:xfrm>
            <a:off x="468313" y="1412875"/>
            <a:ext cx="3529012" cy="4767263"/>
          </a:xfrm>
          <a:prstGeom prst="rect">
            <a:avLst/>
          </a:prstGeom>
          <a:noFill/>
          <a:ln>
            <a:noFill/>
          </a:ln>
        </p:spPr>
      </p:pic>
      <p:pic>
        <p:nvPicPr>
          <p:cNvPr id="1604" name="Google Shape;1604;p85" descr="revisecasestudyflow"/>
          <p:cNvPicPr preferRelativeResize="0"/>
          <p:nvPr/>
        </p:nvPicPr>
        <p:blipFill rotWithShape="1">
          <a:blip r:embed="rId4">
            <a:alphaModFix/>
          </a:blip>
          <a:srcRect/>
          <a:stretch/>
        </p:blipFill>
        <p:spPr>
          <a:xfrm>
            <a:off x="5580063" y="1412875"/>
            <a:ext cx="3313112" cy="4824413"/>
          </a:xfrm>
          <a:prstGeom prst="rect">
            <a:avLst/>
          </a:prstGeom>
          <a:noFill/>
          <a:ln>
            <a:noFill/>
          </a:ln>
        </p:spPr>
      </p:pic>
      <p:sp>
        <p:nvSpPr>
          <p:cNvPr id="1605" name="Google Shape;1605;p85"/>
          <p:cNvSpPr/>
          <p:nvPr/>
        </p:nvSpPr>
        <p:spPr>
          <a:xfrm>
            <a:off x="4067175" y="2636838"/>
            <a:ext cx="1441450" cy="863600"/>
          </a:xfrm>
          <a:prstGeom prst="stripedRightArrow">
            <a:avLst>
              <a:gd name="adj1" fmla="val 50000"/>
              <a:gd name="adj2" fmla="val 50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simplifies</a:t>
            </a:r>
            <a:endParaRPr/>
          </a:p>
        </p:txBody>
      </p:sp>
      <p:sp>
        <p:nvSpPr>
          <p:cNvPr id="1606" name="Google Shape;1606;p8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Shape 1610"/>
        <p:cNvGrpSpPr/>
        <p:nvPr/>
      </p:nvGrpSpPr>
      <p:grpSpPr>
        <a:xfrm>
          <a:off x="0" y="0"/>
          <a:ext cx="0" cy="0"/>
          <a:chOff x="0" y="0"/>
          <a:chExt cx="0" cy="0"/>
        </a:xfrm>
      </p:grpSpPr>
      <p:sp>
        <p:nvSpPr>
          <p:cNvPr id="1611" name="Google Shape;1611;p8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Basis Path Testing Step 2: </a:t>
            </a:r>
            <a:br>
              <a:rPr lang="en-US" sz="4000"/>
            </a:br>
            <a:r>
              <a:rPr lang="en-US" sz="4000"/>
              <a:t>Determine Cyclomatic Complexity</a:t>
            </a:r>
            <a:endParaRPr sz="4000"/>
          </a:p>
        </p:txBody>
      </p:sp>
      <p:sp>
        <p:nvSpPr>
          <p:cNvPr id="1612" name="Google Shape;1612;p8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80000"/>
              </a:lnSpc>
              <a:spcBef>
                <a:spcPts val="0"/>
              </a:spcBef>
              <a:spcAft>
                <a:spcPts val="0"/>
              </a:spcAft>
              <a:buClr>
                <a:schemeClr val="dk1"/>
              </a:buClr>
              <a:buSzPts val="2800"/>
              <a:buChar char="•"/>
            </a:pPr>
            <a:r>
              <a:rPr lang="en-US" sz="2800"/>
              <a:t>Give a quantitative measure of the logical complexity</a:t>
            </a:r>
            <a:endParaRPr/>
          </a:p>
          <a:p>
            <a:pPr marL="342900" lvl="0" indent="-342900" algn="just" rtl="0">
              <a:lnSpc>
                <a:spcPct val="80000"/>
              </a:lnSpc>
              <a:spcBef>
                <a:spcPts val="560"/>
              </a:spcBef>
              <a:spcAft>
                <a:spcPts val="0"/>
              </a:spcAft>
              <a:buClr>
                <a:schemeClr val="dk1"/>
              </a:buClr>
              <a:buSzPts val="2800"/>
              <a:buChar char="•"/>
            </a:pPr>
            <a:r>
              <a:rPr lang="en-US" sz="2800"/>
              <a:t>This value gives the number of </a:t>
            </a:r>
            <a:r>
              <a:rPr lang="en-US" sz="2800" b="1">
                <a:solidFill>
                  <a:srgbClr val="C00000"/>
                </a:solidFill>
              </a:rPr>
              <a:t>independent paths </a:t>
            </a:r>
            <a:r>
              <a:rPr lang="en-US" sz="2800"/>
              <a:t>in the basis set, and an </a:t>
            </a:r>
            <a:r>
              <a:rPr lang="en-US" sz="2800" b="1">
                <a:solidFill>
                  <a:srgbClr val="C00000"/>
                </a:solidFill>
              </a:rPr>
              <a:t>upper bound </a:t>
            </a:r>
            <a:r>
              <a:rPr lang="en-US" sz="2800"/>
              <a:t>for the number of tests to ensure that each statement is executed at least once</a:t>
            </a:r>
            <a:endParaRPr/>
          </a:p>
          <a:p>
            <a:pPr marL="342900" lvl="0" indent="-342900" algn="just" rtl="0">
              <a:lnSpc>
                <a:spcPct val="80000"/>
              </a:lnSpc>
              <a:spcBef>
                <a:spcPts val="560"/>
              </a:spcBef>
              <a:spcAft>
                <a:spcPts val="0"/>
              </a:spcAft>
              <a:buClr>
                <a:schemeClr val="dk1"/>
              </a:buClr>
              <a:buSzPts val="2800"/>
              <a:buChar char="•"/>
            </a:pPr>
            <a:r>
              <a:rPr lang="en-US" sz="2800"/>
              <a:t>An independent path is any path through a program that introduces at least one new set of processing statements or a new condition i.e. a new edge</a:t>
            </a:r>
            <a:endParaRPr/>
          </a:p>
          <a:p>
            <a:pPr marL="342900" lvl="0" indent="-342900" algn="just" rtl="0">
              <a:lnSpc>
                <a:spcPct val="80000"/>
              </a:lnSpc>
              <a:spcBef>
                <a:spcPts val="560"/>
              </a:spcBef>
              <a:spcAft>
                <a:spcPts val="0"/>
              </a:spcAft>
              <a:buClr>
                <a:schemeClr val="dk1"/>
              </a:buClr>
              <a:buSzPts val="2800"/>
              <a:buChar char="•"/>
            </a:pPr>
            <a:r>
              <a:rPr lang="en-US" sz="2800"/>
              <a:t>3 Formula:</a:t>
            </a:r>
            <a:endParaRPr/>
          </a:p>
          <a:p>
            <a:pPr marL="914400" lvl="1" indent="-457200" algn="just" rtl="0">
              <a:lnSpc>
                <a:spcPct val="80000"/>
              </a:lnSpc>
              <a:spcBef>
                <a:spcPts val="480"/>
              </a:spcBef>
              <a:spcAft>
                <a:spcPts val="0"/>
              </a:spcAft>
              <a:buClr>
                <a:schemeClr val="dk1"/>
              </a:buClr>
              <a:buSzPts val="2400"/>
              <a:buFont typeface="Calibri"/>
              <a:buAutoNum type="arabicPeriod"/>
            </a:pPr>
            <a:r>
              <a:rPr lang="en-US" sz="2400"/>
              <a:t>V(G) = #Edges - #Nodes + 2</a:t>
            </a:r>
            <a:endParaRPr/>
          </a:p>
          <a:p>
            <a:pPr marL="914400" lvl="1" indent="-457200" algn="just" rtl="0">
              <a:lnSpc>
                <a:spcPct val="80000"/>
              </a:lnSpc>
              <a:spcBef>
                <a:spcPts val="480"/>
              </a:spcBef>
              <a:spcAft>
                <a:spcPts val="0"/>
              </a:spcAft>
              <a:buClr>
                <a:schemeClr val="dk1"/>
              </a:buClr>
              <a:buSzPts val="2400"/>
              <a:buFont typeface="Calibri"/>
              <a:buAutoNum type="arabicPeriod"/>
            </a:pPr>
            <a:r>
              <a:rPr lang="en-US" sz="2400"/>
              <a:t>V(G) = #Predicate Nodes + 1</a:t>
            </a:r>
            <a:endParaRPr/>
          </a:p>
          <a:p>
            <a:pPr marL="914400" lvl="1" indent="-457200" algn="just" rtl="0">
              <a:lnSpc>
                <a:spcPct val="80000"/>
              </a:lnSpc>
              <a:spcBef>
                <a:spcPts val="480"/>
              </a:spcBef>
              <a:spcAft>
                <a:spcPts val="0"/>
              </a:spcAft>
              <a:buClr>
                <a:schemeClr val="dk1"/>
              </a:buClr>
              <a:buSzPts val="2400"/>
              <a:buFont typeface="Calibri"/>
              <a:buAutoNum type="arabicPeriod"/>
            </a:pPr>
            <a:r>
              <a:rPr lang="en-US" sz="2400"/>
              <a:t>V(G) = #Region</a:t>
            </a:r>
            <a:endParaRPr sz="2800"/>
          </a:p>
          <a:p>
            <a:pPr marL="342900" lvl="0" indent="-342900" algn="just" rtl="0">
              <a:lnSpc>
                <a:spcPct val="80000"/>
              </a:lnSpc>
              <a:spcBef>
                <a:spcPts val="560"/>
              </a:spcBef>
              <a:spcAft>
                <a:spcPts val="0"/>
              </a:spcAft>
              <a:buClr>
                <a:schemeClr val="dk1"/>
              </a:buClr>
              <a:buSzPts val="2800"/>
              <a:buNone/>
            </a:pPr>
            <a:endParaRPr sz="2800"/>
          </a:p>
          <a:p>
            <a:pPr marL="342900" lvl="0" indent="-165100" algn="just" rtl="0">
              <a:spcBef>
                <a:spcPts val="560"/>
              </a:spcBef>
              <a:spcAft>
                <a:spcPts val="0"/>
              </a:spcAft>
              <a:buClr>
                <a:schemeClr val="dk1"/>
              </a:buClr>
              <a:buSzPts val="2800"/>
              <a:buNone/>
            </a:pPr>
            <a:endParaRPr sz="2800"/>
          </a:p>
        </p:txBody>
      </p:sp>
      <p:sp>
        <p:nvSpPr>
          <p:cNvPr id="1613" name="Google Shape;1613;p8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614" name="Google Shape;1614;p8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Shape 1618"/>
        <p:cNvGrpSpPr/>
        <p:nvPr/>
      </p:nvGrpSpPr>
      <p:grpSpPr>
        <a:xfrm>
          <a:off x="0" y="0"/>
          <a:ext cx="0" cy="0"/>
          <a:chOff x="0" y="0"/>
          <a:chExt cx="0" cy="0"/>
        </a:xfrm>
      </p:grpSpPr>
      <p:sp>
        <p:nvSpPr>
          <p:cNvPr id="1619" name="Google Shape;1619;p87"/>
          <p:cNvSpPr/>
          <p:nvPr/>
        </p:nvSpPr>
        <p:spPr>
          <a:xfrm>
            <a:off x="304800" y="1566332"/>
            <a:ext cx="3352800" cy="4682067"/>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0" name="Google Shape;1620;p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Basis Path Testing Step 2: </a:t>
            </a:r>
            <a:br>
              <a:rPr lang="en-US" sz="4000"/>
            </a:br>
            <a:r>
              <a:rPr lang="en-US" sz="4000"/>
              <a:t>Determine Cyclomatic Complexity</a:t>
            </a:r>
            <a:endParaRPr sz="4000"/>
          </a:p>
        </p:txBody>
      </p:sp>
      <p:sp>
        <p:nvSpPr>
          <p:cNvPr id="1621" name="Google Shape;1621;p8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1622" name="Google Shape;1622;p87" descr="revisecasestudyflow"/>
          <p:cNvPicPr preferRelativeResize="0"/>
          <p:nvPr/>
        </p:nvPicPr>
        <p:blipFill rotWithShape="1">
          <a:blip r:embed="rId3">
            <a:alphaModFix/>
          </a:blip>
          <a:srcRect/>
          <a:stretch/>
        </p:blipFill>
        <p:spPr>
          <a:xfrm>
            <a:off x="457200" y="1600200"/>
            <a:ext cx="2895600" cy="4537075"/>
          </a:xfrm>
          <a:prstGeom prst="rect">
            <a:avLst/>
          </a:prstGeom>
          <a:noFill/>
          <a:ln>
            <a:noFill/>
          </a:ln>
        </p:spPr>
      </p:pic>
      <p:sp>
        <p:nvSpPr>
          <p:cNvPr id="1623" name="Google Shape;1623;p87"/>
          <p:cNvSpPr/>
          <p:nvPr/>
        </p:nvSpPr>
        <p:spPr>
          <a:xfrm>
            <a:off x="3657600" y="1566333"/>
            <a:ext cx="5486400" cy="37548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chemeClr val="dk1"/>
                </a:solidFill>
                <a:latin typeface="Calibri"/>
                <a:ea typeface="Calibri"/>
                <a:cs typeface="Calibri"/>
                <a:sym typeface="Calibri"/>
              </a:rPr>
              <a:t>Using 3 formulas </a:t>
            </a:r>
            <a:r>
              <a:rPr lang="en-US" sz="1900" i="1">
                <a:solidFill>
                  <a:schemeClr val="dk1"/>
                </a:solidFill>
                <a:latin typeface="Calibri"/>
                <a:ea typeface="Calibri"/>
                <a:cs typeface="Calibri"/>
                <a:sym typeface="Calibri"/>
              </a:rPr>
              <a:t>(either 1)</a:t>
            </a:r>
            <a:r>
              <a:rPr lang="en-US" sz="3000">
                <a:solidFill>
                  <a:schemeClr val="dk1"/>
                </a:solidFill>
                <a:latin typeface="Calibri"/>
                <a:ea typeface="Calibri"/>
                <a:cs typeface="Calibri"/>
                <a:sym typeface="Calibri"/>
              </a:rPr>
              <a:t>:</a:t>
            </a:r>
            <a:endParaRPr/>
          </a:p>
          <a:p>
            <a:pPr marL="914400" marR="0" lvl="1" indent="-457200" algn="l" rtl="0">
              <a:spcBef>
                <a:spcPts val="0"/>
              </a:spcBef>
              <a:spcAft>
                <a:spcPts val="0"/>
              </a:spcAft>
              <a:buClr>
                <a:schemeClr val="dk1"/>
              </a:buClr>
              <a:buSzPts val="2600"/>
              <a:buFont typeface="Calibri"/>
              <a:buAutoNum type="arabicPeriod"/>
            </a:pPr>
            <a:r>
              <a:rPr lang="en-US" sz="2600" b="0" i="0" u="none" strike="noStrike" cap="none">
                <a:solidFill>
                  <a:schemeClr val="dk1"/>
                </a:solidFill>
                <a:latin typeface="Calibri"/>
                <a:ea typeface="Calibri"/>
                <a:cs typeface="Calibri"/>
                <a:sym typeface="Calibri"/>
              </a:rPr>
              <a:t>V(G) = #Edges - #Nodes + 2 </a:t>
            </a:r>
            <a:br>
              <a:rPr lang="en-US" sz="2600" b="0" i="0" u="none" strike="noStrike" cap="none">
                <a:solidFill>
                  <a:schemeClr val="dk1"/>
                </a:solidFill>
                <a:latin typeface="Calibri"/>
                <a:ea typeface="Calibri"/>
                <a:cs typeface="Calibri"/>
                <a:sym typeface="Calibri"/>
              </a:rPr>
            </a:br>
            <a:r>
              <a:rPr lang="en-US" sz="2600" b="0" i="0" u="none" strike="noStrike" cap="none">
                <a:solidFill>
                  <a:schemeClr val="dk1"/>
                </a:solidFill>
                <a:latin typeface="Calibri"/>
                <a:ea typeface="Calibri"/>
                <a:cs typeface="Calibri"/>
                <a:sym typeface="Calibri"/>
              </a:rPr>
              <a:t>         = 10 – 9 + 2</a:t>
            </a:r>
            <a:endParaRPr/>
          </a:p>
          <a:p>
            <a:pPr marL="914400" marR="0" lvl="1" indent="-457200" algn="l" rtl="0">
              <a:spcBef>
                <a:spcPts val="0"/>
              </a:spcBef>
              <a:spcAft>
                <a:spcPts val="0"/>
              </a:spcAft>
              <a:buClr>
                <a:schemeClr val="dk1"/>
              </a:buClr>
              <a:buSzPts val="2600"/>
              <a:buFont typeface="Arial"/>
              <a:buNone/>
            </a:pPr>
            <a:r>
              <a:rPr lang="en-US" sz="2600" b="0" i="0" u="none" strike="noStrike" cap="none">
                <a:solidFill>
                  <a:schemeClr val="dk1"/>
                </a:solidFill>
                <a:latin typeface="Calibri"/>
                <a:ea typeface="Calibri"/>
                <a:cs typeface="Calibri"/>
                <a:sym typeface="Calibri"/>
              </a:rPr>
              <a:t>	         = 3</a:t>
            </a:r>
            <a:endParaRPr/>
          </a:p>
          <a:p>
            <a:pPr marL="914400" marR="0" lvl="1" indent="-457200" algn="l" rtl="0">
              <a:spcBef>
                <a:spcPts val="0"/>
              </a:spcBef>
              <a:spcAft>
                <a:spcPts val="0"/>
              </a:spcAft>
              <a:buClr>
                <a:schemeClr val="dk1"/>
              </a:buClr>
              <a:buSzPts val="2600"/>
              <a:buFont typeface="Calibri"/>
              <a:buAutoNum type="arabicPeriod" startAt="2"/>
            </a:pPr>
            <a:r>
              <a:rPr lang="en-US" sz="2600" b="0" i="0" u="none" strike="noStrike" cap="none">
                <a:solidFill>
                  <a:schemeClr val="dk1"/>
                </a:solidFill>
                <a:latin typeface="Calibri"/>
                <a:ea typeface="Calibri"/>
                <a:cs typeface="Calibri"/>
                <a:sym typeface="Calibri"/>
              </a:rPr>
              <a:t>V(G) = #Predicate Nodes + 1</a:t>
            </a:r>
            <a:br>
              <a:rPr lang="en-US" sz="2600" b="0" i="0" u="none" strike="noStrike" cap="none">
                <a:solidFill>
                  <a:schemeClr val="dk1"/>
                </a:solidFill>
                <a:latin typeface="Calibri"/>
                <a:ea typeface="Calibri"/>
                <a:cs typeface="Calibri"/>
                <a:sym typeface="Calibri"/>
              </a:rPr>
            </a:br>
            <a:r>
              <a:rPr lang="en-US" sz="2600" b="0" i="0" u="none" strike="noStrike" cap="none">
                <a:solidFill>
                  <a:schemeClr val="dk1"/>
                </a:solidFill>
                <a:latin typeface="Calibri"/>
                <a:ea typeface="Calibri"/>
                <a:cs typeface="Calibri"/>
                <a:sym typeface="Calibri"/>
              </a:rPr>
              <a:t>         = 2 + 1</a:t>
            </a:r>
            <a:br>
              <a:rPr lang="en-US" sz="2600" b="0" i="0" u="none" strike="noStrike" cap="none">
                <a:solidFill>
                  <a:schemeClr val="dk1"/>
                </a:solidFill>
                <a:latin typeface="Calibri"/>
                <a:ea typeface="Calibri"/>
                <a:cs typeface="Calibri"/>
                <a:sym typeface="Calibri"/>
              </a:rPr>
            </a:br>
            <a:r>
              <a:rPr lang="en-US" sz="2600" b="0" i="0" u="none" strike="noStrike" cap="none">
                <a:solidFill>
                  <a:schemeClr val="dk1"/>
                </a:solidFill>
                <a:latin typeface="Calibri"/>
                <a:ea typeface="Calibri"/>
                <a:cs typeface="Calibri"/>
                <a:sym typeface="Calibri"/>
              </a:rPr>
              <a:t>         = 3</a:t>
            </a:r>
            <a:endParaRPr/>
          </a:p>
          <a:p>
            <a:pPr marL="914400" marR="0" lvl="1" indent="-457200" algn="l" rtl="0">
              <a:spcBef>
                <a:spcPts val="0"/>
              </a:spcBef>
              <a:spcAft>
                <a:spcPts val="0"/>
              </a:spcAft>
              <a:buClr>
                <a:schemeClr val="dk1"/>
              </a:buClr>
              <a:buSzPts val="2600"/>
              <a:buFont typeface="Calibri"/>
              <a:buAutoNum type="arabicPeriod" startAt="2"/>
            </a:pPr>
            <a:r>
              <a:rPr lang="en-US" sz="2600" b="0" i="0" u="none" strike="noStrike" cap="none">
                <a:solidFill>
                  <a:schemeClr val="dk1"/>
                </a:solidFill>
                <a:latin typeface="Calibri"/>
                <a:ea typeface="Calibri"/>
                <a:cs typeface="Calibri"/>
                <a:sym typeface="Calibri"/>
              </a:rPr>
              <a:t>V(G) = #Region</a:t>
            </a:r>
            <a:endParaRPr sz="1900" b="0" i="0" u="none" strike="noStrike" cap="none">
              <a:solidFill>
                <a:schemeClr val="dk1"/>
              </a:solidFill>
              <a:latin typeface="Calibri"/>
              <a:ea typeface="Calibri"/>
              <a:cs typeface="Calibri"/>
              <a:sym typeface="Calibri"/>
            </a:endParaRPr>
          </a:p>
          <a:p>
            <a:pPr marL="914400" marR="0" lvl="1" indent="-457200" algn="l" rtl="0">
              <a:spcBef>
                <a:spcPts val="0"/>
              </a:spcBef>
              <a:spcAft>
                <a:spcPts val="0"/>
              </a:spcAft>
              <a:buClr>
                <a:schemeClr val="dk1"/>
              </a:buClr>
              <a:buSzPts val="2600"/>
              <a:buFont typeface="Arial"/>
              <a:buNone/>
            </a:pPr>
            <a:r>
              <a:rPr lang="en-US" sz="2600" b="0" i="0" u="none" strike="noStrike" cap="none">
                <a:solidFill>
                  <a:schemeClr val="dk1"/>
                </a:solidFill>
                <a:latin typeface="Calibri"/>
                <a:ea typeface="Calibri"/>
                <a:cs typeface="Calibri"/>
                <a:sym typeface="Calibri"/>
              </a:rPr>
              <a:t>	         = 3</a:t>
            </a:r>
            <a:endParaRPr/>
          </a:p>
        </p:txBody>
      </p:sp>
      <p:sp>
        <p:nvSpPr>
          <p:cNvPr id="1624" name="Google Shape;1624;p87"/>
          <p:cNvSpPr/>
          <p:nvPr/>
        </p:nvSpPr>
        <p:spPr>
          <a:xfrm>
            <a:off x="3505200" y="2716867"/>
            <a:ext cx="1132114" cy="559733"/>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46000" y="135000"/>
                </a:lnTo>
              </a:path>
            </a:pathLst>
          </a:cu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Region 1</a:t>
            </a:r>
            <a:endParaRPr/>
          </a:p>
        </p:txBody>
      </p:sp>
      <p:sp>
        <p:nvSpPr>
          <p:cNvPr id="1625" name="Google Shape;1625;p87"/>
          <p:cNvSpPr/>
          <p:nvPr/>
        </p:nvSpPr>
        <p:spPr>
          <a:xfrm>
            <a:off x="3243943" y="3868737"/>
            <a:ext cx="1132114" cy="559733"/>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159845" y="119442"/>
                </a:lnTo>
              </a:path>
            </a:pathLst>
          </a:cu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Region 2</a:t>
            </a:r>
            <a:endParaRPr/>
          </a:p>
        </p:txBody>
      </p:sp>
      <p:sp>
        <p:nvSpPr>
          <p:cNvPr id="1626" name="Google Shape;1626;p87"/>
          <p:cNvSpPr/>
          <p:nvPr/>
        </p:nvSpPr>
        <p:spPr>
          <a:xfrm>
            <a:off x="3433163" y="5473730"/>
            <a:ext cx="1132114" cy="559733"/>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101383" y="-8137"/>
                </a:lnTo>
              </a:path>
            </a:pathLst>
          </a:cu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Region 3</a:t>
            </a:r>
            <a:endParaRPr/>
          </a:p>
        </p:txBody>
      </p:sp>
      <p:sp>
        <p:nvSpPr>
          <p:cNvPr id="1627" name="Google Shape;1627;p87"/>
          <p:cNvSpPr txBox="1"/>
          <p:nvPr/>
        </p:nvSpPr>
        <p:spPr>
          <a:xfrm>
            <a:off x="5181600" y="5459032"/>
            <a:ext cx="35052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Node 2 and 5 are predicate nodes (nodes contain conditions)</a:t>
            </a:r>
            <a:endParaRPr/>
          </a:p>
        </p:txBody>
      </p:sp>
      <p:sp>
        <p:nvSpPr>
          <p:cNvPr id="1628" name="Google Shape;1628;p8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Shape 1632"/>
        <p:cNvGrpSpPr/>
        <p:nvPr/>
      </p:nvGrpSpPr>
      <p:grpSpPr>
        <a:xfrm>
          <a:off x="0" y="0"/>
          <a:ext cx="0" cy="0"/>
          <a:chOff x="0" y="0"/>
          <a:chExt cx="0" cy="0"/>
        </a:xfrm>
      </p:grpSpPr>
      <p:sp>
        <p:nvSpPr>
          <p:cNvPr id="1633" name="Google Shape;1633;p8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Basis Path Testing Step 3: </a:t>
            </a:r>
            <a:br>
              <a:rPr lang="en-US" sz="4000"/>
            </a:br>
            <a:r>
              <a:rPr lang="en-US" sz="4000"/>
              <a:t>Determine Independent Path</a:t>
            </a:r>
            <a:endParaRPr sz="4000"/>
          </a:p>
        </p:txBody>
      </p:sp>
      <p:sp>
        <p:nvSpPr>
          <p:cNvPr id="1634" name="Google Shape;1634;p8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1635" name="Google Shape;1635;p88" descr="revisecasestudyflow"/>
          <p:cNvPicPr preferRelativeResize="0"/>
          <p:nvPr/>
        </p:nvPicPr>
        <p:blipFill rotWithShape="1">
          <a:blip r:embed="rId3">
            <a:alphaModFix/>
          </a:blip>
          <a:srcRect/>
          <a:stretch/>
        </p:blipFill>
        <p:spPr>
          <a:xfrm>
            <a:off x="304800" y="1447800"/>
            <a:ext cx="3429000" cy="4876800"/>
          </a:xfrm>
          <a:prstGeom prst="rect">
            <a:avLst/>
          </a:prstGeom>
          <a:noFill/>
          <a:ln>
            <a:noFill/>
          </a:ln>
        </p:spPr>
      </p:pic>
      <p:sp>
        <p:nvSpPr>
          <p:cNvPr id="1636" name="Google Shape;1636;p88"/>
          <p:cNvSpPr txBox="1">
            <a:spLocks noGrp="1"/>
          </p:cNvSpPr>
          <p:nvPr>
            <p:ph type="body" idx="1"/>
          </p:nvPr>
        </p:nvSpPr>
        <p:spPr>
          <a:xfrm>
            <a:off x="4191000" y="1600200"/>
            <a:ext cx="44958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Independent Path:</a:t>
            </a:r>
            <a:endParaRPr/>
          </a:p>
          <a:p>
            <a:pPr marL="971550" lvl="1" indent="-514350" algn="l" rtl="0">
              <a:spcBef>
                <a:spcPts val="560"/>
              </a:spcBef>
              <a:spcAft>
                <a:spcPts val="0"/>
              </a:spcAft>
              <a:buClr>
                <a:schemeClr val="dk1"/>
              </a:buClr>
              <a:buSzPts val="2800"/>
              <a:buFont typeface="Calibri"/>
              <a:buAutoNum type="romanLcPeriod"/>
            </a:pPr>
            <a:r>
              <a:rPr lang="en-US"/>
              <a:t>1-2-3-9</a:t>
            </a:r>
            <a:endParaRPr/>
          </a:p>
          <a:p>
            <a:pPr marL="971550" lvl="1" indent="-514350" algn="l" rtl="0">
              <a:spcBef>
                <a:spcPts val="560"/>
              </a:spcBef>
              <a:spcAft>
                <a:spcPts val="0"/>
              </a:spcAft>
              <a:buClr>
                <a:schemeClr val="dk1"/>
              </a:buClr>
              <a:buSzPts val="2800"/>
              <a:buFont typeface="Calibri"/>
              <a:buAutoNum type="romanLcPeriod"/>
            </a:pPr>
            <a:r>
              <a:rPr lang="en-US"/>
              <a:t>1-2-4-5-6-7-5-8-9</a:t>
            </a:r>
            <a:endParaRPr/>
          </a:p>
          <a:p>
            <a:pPr marL="971550" lvl="1" indent="-514350" algn="l" rtl="0">
              <a:spcBef>
                <a:spcPts val="560"/>
              </a:spcBef>
              <a:spcAft>
                <a:spcPts val="0"/>
              </a:spcAft>
              <a:buClr>
                <a:schemeClr val="dk1"/>
              </a:buClr>
              <a:buSzPts val="2800"/>
              <a:buFont typeface="Calibri"/>
              <a:buAutoNum type="romanLcPeriod"/>
            </a:pPr>
            <a:r>
              <a:rPr lang="en-US"/>
              <a:t>1-2-4-5-8-9</a:t>
            </a:r>
            <a:endParaRPr/>
          </a:p>
        </p:txBody>
      </p:sp>
      <p:sp>
        <p:nvSpPr>
          <p:cNvPr id="1637" name="Google Shape;1637;p8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Shape 1641"/>
        <p:cNvGrpSpPr/>
        <p:nvPr/>
      </p:nvGrpSpPr>
      <p:grpSpPr>
        <a:xfrm>
          <a:off x="0" y="0"/>
          <a:ext cx="0" cy="0"/>
          <a:chOff x="0" y="0"/>
          <a:chExt cx="0" cy="0"/>
        </a:xfrm>
      </p:grpSpPr>
      <p:sp>
        <p:nvSpPr>
          <p:cNvPr id="1642" name="Google Shape;1642;p8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Basis Path Testing Step 4: </a:t>
            </a:r>
            <a:br>
              <a:rPr lang="en-US" sz="4000"/>
            </a:br>
            <a:r>
              <a:rPr lang="en-US" sz="4000"/>
              <a:t>Prepare the Test Cases</a:t>
            </a:r>
            <a:endParaRPr sz="4000"/>
          </a:p>
        </p:txBody>
      </p:sp>
      <p:sp>
        <p:nvSpPr>
          <p:cNvPr id="1643" name="Google Shape;1643;p8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000"/>
              <a:buChar char="•"/>
            </a:pPr>
            <a:r>
              <a:rPr lang="en-US" sz="3000"/>
              <a:t>To complete the white-box testing process, test a program with all </a:t>
            </a:r>
            <a:r>
              <a:rPr lang="en-US" sz="3000" b="1">
                <a:solidFill>
                  <a:srgbClr val="C00000"/>
                </a:solidFill>
              </a:rPr>
              <a:t>three input sets</a:t>
            </a:r>
            <a:r>
              <a:rPr lang="en-US" sz="3000"/>
              <a:t>, and verify that the output matches the expected result</a:t>
            </a:r>
            <a:endParaRPr/>
          </a:p>
          <a:p>
            <a:pPr marL="342900" lvl="0" indent="-342900" algn="l" rtl="0">
              <a:spcBef>
                <a:spcPts val="600"/>
              </a:spcBef>
              <a:spcAft>
                <a:spcPts val="0"/>
              </a:spcAft>
              <a:buClr>
                <a:schemeClr val="dk1"/>
              </a:buClr>
              <a:buSzPts val="3000"/>
              <a:buChar char="•"/>
            </a:pPr>
            <a:r>
              <a:rPr lang="en-US" sz="3000"/>
              <a:t>If all outputs match, then the code passes the test</a:t>
            </a:r>
            <a:endParaRPr/>
          </a:p>
          <a:p>
            <a:pPr marL="342900" lvl="0" indent="-152400" algn="l" rtl="0">
              <a:spcBef>
                <a:spcPts val="600"/>
              </a:spcBef>
              <a:spcAft>
                <a:spcPts val="0"/>
              </a:spcAft>
              <a:buClr>
                <a:schemeClr val="dk1"/>
              </a:buClr>
              <a:buSzPts val="3000"/>
              <a:buNone/>
            </a:pPr>
            <a:endParaRPr sz="3000"/>
          </a:p>
          <a:p>
            <a:pPr marL="342900" lvl="0" indent="-152400" algn="l" rtl="0">
              <a:spcBef>
                <a:spcPts val="600"/>
              </a:spcBef>
              <a:spcAft>
                <a:spcPts val="0"/>
              </a:spcAft>
              <a:buClr>
                <a:schemeClr val="dk1"/>
              </a:buClr>
              <a:buSzPts val="3000"/>
              <a:buNone/>
            </a:pPr>
            <a:endParaRPr sz="3000"/>
          </a:p>
        </p:txBody>
      </p:sp>
      <p:sp>
        <p:nvSpPr>
          <p:cNvPr id="1644" name="Google Shape;1644;p8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645" name="Google Shape;1645;p8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Shape 1650"/>
        <p:cNvGrpSpPr/>
        <p:nvPr/>
      </p:nvGrpSpPr>
      <p:grpSpPr>
        <a:xfrm>
          <a:off x="0" y="0"/>
          <a:ext cx="0" cy="0"/>
          <a:chOff x="0" y="0"/>
          <a:chExt cx="0" cy="0"/>
        </a:xfrm>
      </p:grpSpPr>
      <p:sp>
        <p:nvSpPr>
          <p:cNvPr id="1651" name="Google Shape;1651;p9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1652" name="Google Shape;1652;p90" descr="revisecasestudyflow"/>
          <p:cNvPicPr preferRelativeResize="0">
            <a:picLocks noGrp="1"/>
          </p:cNvPicPr>
          <p:nvPr>
            <p:ph type="body" idx="1"/>
          </p:nvPr>
        </p:nvPicPr>
        <p:blipFill rotWithShape="1">
          <a:blip r:embed="rId3">
            <a:alphaModFix/>
          </a:blip>
          <a:srcRect/>
          <a:stretch/>
        </p:blipFill>
        <p:spPr>
          <a:xfrm>
            <a:off x="1814825" y="0"/>
            <a:ext cx="2734949" cy="4243730"/>
          </a:xfrm>
          <a:prstGeom prst="rect">
            <a:avLst/>
          </a:prstGeom>
          <a:noFill/>
          <a:ln>
            <a:noFill/>
          </a:ln>
        </p:spPr>
      </p:pic>
      <p:sp>
        <p:nvSpPr>
          <p:cNvPr id="1653" name="Google Shape;1653;p90"/>
          <p:cNvSpPr txBox="1"/>
          <p:nvPr/>
        </p:nvSpPr>
        <p:spPr>
          <a:xfrm>
            <a:off x="5148263" y="14288"/>
            <a:ext cx="3527425" cy="4176712"/>
          </a:xfrm>
          <a:prstGeom prst="rect">
            <a:avLst/>
          </a:prstGeom>
          <a:solidFill>
            <a:schemeClr val="lt2"/>
          </a:solidFill>
          <a:ln w="9525" cap="flat" cmpd="sng">
            <a:solidFill>
              <a:srgbClr val="BE4B48"/>
            </a:solidFill>
            <a:prstDash val="solid"/>
            <a:miter lim="800000"/>
            <a:headEnd type="none" w="sm" len="sm"/>
            <a:tailEnd type="none" w="sm" len="sm"/>
          </a:ln>
          <a:effectLst>
            <a:outerShdw dist="20000" dir="5400000" rotWithShape="0">
              <a:srgbClr val="000000">
                <a:alpha val="37647"/>
              </a:srgbClr>
            </a:outerShdw>
          </a:effectLst>
        </p:spPr>
        <p:txBody>
          <a:bodyPr spcFirstLastPara="1" wrap="square" lIns="91425" tIns="45700" rIns="91425" bIns="45700" anchor="t" anchorCtr="0">
            <a:noAutofit/>
          </a:bodyPr>
          <a:lstStyle/>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int main()</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int i, n, t;</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printf("n = ");</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scanf("%d ", &amp;n);</a:t>
            </a:r>
            <a:endParaRPr/>
          </a:p>
          <a:p>
            <a:pPr marL="342900" marR="0" lvl="0" indent="-342900" algn="l" rtl="0">
              <a:spcBef>
                <a:spcPts val="0"/>
              </a:spcBef>
              <a:spcAft>
                <a:spcPts val="0"/>
              </a:spcAft>
              <a:buClr>
                <a:schemeClr val="dk1"/>
              </a:buClr>
              <a:buSzPts val="1200"/>
              <a:buFont typeface="Arial"/>
              <a:buNone/>
            </a:pPr>
            <a:endParaRPr sz="1200" b="1">
              <a:solidFill>
                <a:srgbClr val="000000"/>
              </a:solidFill>
              <a:latin typeface="Courier"/>
              <a:ea typeface="Courier"/>
              <a:cs typeface="Courier"/>
              <a:sym typeface="Courie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if(n&lt;0)</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printf("invalid: %d\n", n);</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n=-1;</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else</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t=1;</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for(i=1;i&lt;=n;i++)</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t*=i;</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printf("%d != %d\n", n, t);</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   return 0; }</a:t>
            </a:r>
            <a:endParaRPr/>
          </a:p>
          <a:p>
            <a:pPr marL="342900" marR="0" lvl="0" indent="-342900" algn="l" rtl="0">
              <a:spcBef>
                <a:spcPts val="0"/>
              </a:spcBef>
              <a:spcAft>
                <a:spcPts val="0"/>
              </a:spcAft>
              <a:buClr>
                <a:srgbClr val="000000"/>
              </a:buClr>
              <a:buSzPts val="1200"/>
              <a:buFont typeface="Arial"/>
              <a:buNone/>
            </a:pPr>
            <a:r>
              <a:rPr lang="en-US" sz="1200" b="1">
                <a:solidFill>
                  <a:srgbClr val="000000"/>
                </a:solidFill>
                <a:latin typeface="Courier"/>
                <a:ea typeface="Courier"/>
                <a:cs typeface="Courier"/>
                <a:sym typeface="Courier"/>
              </a:rPr>
              <a:t>}</a:t>
            </a:r>
            <a:endParaRPr/>
          </a:p>
        </p:txBody>
      </p:sp>
      <p:graphicFrame>
        <p:nvGraphicFramePr>
          <p:cNvPr id="1654" name="Google Shape;1654;p90"/>
          <p:cNvGraphicFramePr/>
          <p:nvPr/>
        </p:nvGraphicFramePr>
        <p:xfrm>
          <a:off x="357144" y="4286206"/>
          <a:ext cx="8447850" cy="1646525"/>
        </p:xfrm>
        <a:graphic>
          <a:graphicData uri="http://schemas.openxmlformats.org/drawingml/2006/table">
            <a:tbl>
              <a:tblPr>
                <a:noFill/>
                <a:tableStyleId>{839BC303-3D24-4851-8452-9D54AC629936}</a:tableStyleId>
              </a:tblPr>
              <a:tblGrid>
                <a:gridCol w="2580450">
                  <a:extLst>
                    <a:ext uri="{9D8B030D-6E8A-4147-A177-3AD203B41FA5}">
                      <a16:colId xmlns:a16="http://schemas.microsoft.com/office/drawing/2014/main" val="20000"/>
                    </a:ext>
                  </a:extLst>
                </a:gridCol>
                <a:gridCol w="2451750">
                  <a:extLst>
                    <a:ext uri="{9D8B030D-6E8A-4147-A177-3AD203B41FA5}">
                      <a16:colId xmlns:a16="http://schemas.microsoft.com/office/drawing/2014/main" val="20001"/>
                    </a:ext>
                  </a:extLst>
                </a:gridCol>
                <a:gridCol w="3415650">
                  <a:extLst>
                    <a:ext uri="{9D8B030D-6E8A-4147-A177-3AD203B41FA5}">
                      <a16:colId xmlns:a16="http://schemas.microsoft.com/office/drawing/2014/main" val="20002"/>
                    </a:ext>
                  </a:extLst>
                </a:gridCol>
              </a:tblGrid>
              <a:tr h="457775">
                <a:tc>
                  <a:txBody>
                    <a:bodyPr/>
                    <a:lstStyle/>
                    <a:p>
                      <a:pPr marL="0" marR="0" lvl="0" indent="0" algn="ctr" rtl="0">
                        <a:lnSpc>
                          <a:spcPct val="100000"/>
                        </a:lnSpc>
                        <a:spcBef>
                          <a:spcPts val="0"/>
                        </a:spcBef>
                        <a:spcAft>
                          <a:spcPts val="0"/>
                        </a:spcAft>
                        <a:buClr>
                          <a:srgbClr val="CC0000"/>
                        </a:buClr>
                        <a:buSzPts val="2400"/>
                        <a:buFont typeface="Arial"/>
                        <a:buNone/>
                      </a:pPr>
                      <a:r>
                        <a:rPr lang="en-US" sz="2000" b="1" u="none" strike="noStrike" cap="none"/>
                        <a:t>Independent Path</a:t>
                      </a:r>
                      <a:endParaRPr sz="2000" b="1" i="0" u="none" strike="noStrike" cap="none">
                        <a:solidFill>
                          <a:schemeClr val="lt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CC0000"/>
                        </a:buClr>
                        <a:buSzPts val="2400"/>
                        <a:buFont typeface="Arial"/>
                        <a:buNone/>
                      </a:pPr>
                      <a:r>
                        <a:rPr lang="en-US" sz="2000" b="1" u="none" strike="noStrike" cap="none"/>
                        <a:t>Data* for Test Cases</a:t>
                      </a:r>
                      <a:endParaRPr sz="2000" b="1" i="0" u="none" strike="noStrike" cap="none">
                        <a:solidFill>
                          <a:schemeClr val="lt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CC0000"/>
                        </a:buClr>
                        <a:buSzPts val="2400"/>
                        <a:buFont typeface="Arial"/>
                        <a:buNone/>
                      </a:pPr>
                      <a:r>
                        <a:rPr lang="en-US" sz="2000" b="1" u="none" strike="noStrike" cap="none"/>
                        <a:t>Expected Results/Output</a:t>
                      </a:r>
                      <a:endParaRPr sz="2000" b="1" i="0" u="none" strike="noStrike" cap="none">
                        <a:solidFill>
                          <a:schemeClr val="lt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311450">
                <a:tc>
                  <a:txBody>
                    <a:bodyPr/>
                    <a:lstStyle/>
                    <a:p>
                      <a:pPr marL="0" marR="0" lvl="0" indent="0" algn="l" rtl="0">
                        <a:lnSpc>
                          <a:spcPct val="100000"/>
                        </a:lnSpc>
                        <a:spcBef>
                          <a:spcPts val="0"/>
                        </a:spcBef>
                        <a:spcAft>
                          <a:spcPts val="0"/>
                        </a:spcAft>
                        <a:buClr>
                          <a:srgbClr val="CC0000"/>
                        </a:buClr>
                        <a:buSzPts val="2400"/>
                        <a:buFont typeface="Arial"/>
                        <a:buNone/>
                      </a:pPr>
                      <a:r>
                        <a:rPr lang="en-US" sz="2000" u="none" strike="noStrike" cap="none"/>
                        <a:t>1-2-3-9</a:t>
                      </a:r>
                      <a:endParaRPr sz="20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CC0000"/>
                        </a:buClr>
                        <a:buSzPts val="2400"/>
                        <a:buFont typeface="Arial"/>
                        <a:buNone/>
                      </a:pPr>
                      <a:r>
                        <a:rPr lang="en-US" sz="2000" u="none" strike="noStrike" cap="none"/>
                        <a:t>n = -1</a:t>
                      </a:r>
                      <a:endParaRPr sz="20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CC0000"/>
                        </a:buClr>
                        <a:buSzPts val="2400"/>
                        <a:buFont typeface="Arial"/>
                        <a:buNone/>
                      </a:pPr>
                      <a:r>
                        <a:rPr lang="en-US" sz="2000" u="none" strike="noStrike" cap="none"/>
                        <a:t>invalid: -1</a:t>
                      </a:r>
                      <a:endParaRPr sz="20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311450">
                <a:tc>
                  <a:txBody>
                    <a:bodyPr/>
                    <a:lstStyle/>
                    <a:p>
                      <a:pPr marL="0" marR="0" lvl="0" indent="0" algn="l" rtl="0">
                        <a:lnSpc>
                          <a:spcPct val="100000"/>
                        </a:lnSpc>
                        <a:spcBef>
                          <a:spcPts val="0"/>
                        </a:spcBef>
                        <a:spcAft>
                          <a:spcPts val="0"/>
                        </a:spcAft>
                        <a:buClr>
                          <a:srgbClr val="CC0000"/>
                        </a:buClr>
                        <a:buSzPts val="2400"/>
                        <a:buFont typeface="Arial"/>
                        <a:buNone/>
                      </a:pPr>
                      <a:r>
                        <a:rPr lang="en-US" sz="2000" u="none" strike="noStrike" cap="none"/>
                        <a:t>1-2-4-5-6-7-5-8-9</a:t>
                      </a:r>
                      <a:endParaRPr sz="20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CC0000"/>
                        </a:buClr>
                        <a:buSzPts val="2400"/>
                        <a:buFont typeface="Arial"/>
                        <a:buNone/>
                      </a:pPr>
                      <a:r>
                        <a:rPr lang="en-US" sz="2000" u="none" strike="noStrike" cap="none"/>
                        <a:t>n = 1</a:t>
                      </a:r>
                      <a:endParaRPr sz="20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CC0000"/>
                        </a:buClr>
                        <a:buSzPts val="2400"/>
                        <a:buFont typeface="Arial"/>
                        <a:buNone/>
                      </a:pPr>
                      <a:r>
                        <a:rPr lang="en-US" sz="2000" u="none" strike="noStrike" cap="none"/>
                        <a:t>1 != 1</a:t>
                      </a:r>
                      <a:endParaRPr sz="20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311450">
                <a:tc>
                  <a:txBody>
                    <a:bodyPr/>
                    <a:lstStyle/>
                    <a:p>
                      <a:pPr marL="0" marR="0" lvl="0" indent="0" algn="l" rtl="0">
                        <a:lnSpc>
                          <a:spcPct val="100000"/>
                        </a:lnSpc>
                        <a:spcBef>
                          <a:spcPts val="0"/>
                        </a:spcBef>
                        <a:spcAft>
                          <a:spcPts val="0"/>
                        </a:spcAft>
                        <a:buClr>
                          <a:srgbClr val="CC0000"/>
                        </a:buClr>
                        <a:buSzPts val="2400"/>
                        <a:buFont typeface="Arial"/>
                        <a:buNone/>
                      </a:pPr>
                      <a:r>
                        <a:rPr lang="en-US" sz="2000" u="none" strike="noStrike" cap="none"/>
                        <a:t>1-2-4-5-8-9</a:t>
                      </a:r>
                      <a:endParaRPr sz="20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CC0000"/>
                        </a:buClr>
                        <a:buSzPts val="2400"/>
                        <a:buFont typeface="Arial"/>
                        <a:buNone/>
                      </a:pPr>
                      <a:r>
                        <a:rPr lang="en-US" sz="2000" u="none" strike="noStrike" cap="none"/>
                        <a:t>n = 0</a:t>
                      </a:r>
                      <a:endParaRPr sz="20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CC0000"/>
                        </a:buClr>
                        <a:buSzPts val="2400"/>
                        <a:buFont typeface="Arial"/>
                        <a:buNone/>
                      </a:pPr>
                      <a:r>
                        <a:rPr lang="en-US" sz="2000" u="none" strike="noStrike" cap="none"/>
                        <a:t>0 != 1</a:t>
                      </a:r>
                      <a:endParaRPr sz="20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bl>
          </a:graphicData>
        </a:graphic>
      </p:graphicFrame>
      <p:sp>
        <p:nvSpPr>
          <p:cNvPr id="1655" name="Google Shape;1655;p90"/>
          <p:cNvSpPr/>
          <p:nvPr/>
        </p:nvSpPr>
        <p:spPr>
          <a:xfrm>
            <a:off x="7164388" y="476250"/>
            <a:ext cx="431800"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1</a:t>
            </a:r>
            <a:endParaRPr/>
          </a:p>
        </p:txBody>
      </p:sp>
      <p:sp>
        <p:nvSpPr>
          <p:cNvPr id="1656" name="Google Shape;1656;p90"/>
          <p:cNvSpPr/>
          <p:nvPr/>
        </p:nvSpPr>
        <p:spPr>
          <a:xfrm>
            <a:off x="6372225" y="981075"/>
            <a:ext cx="431800"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2</a:t>
            </a:r>
            <a:endParaRPr/>
          </a:p>
        </p:txBody>
      </p:sp>
      <p:sp>
        <p:nvSpPr>
          <p:cNvPr id="1657" name="Google Shape;1657;p90"/>
          <p:cNvSpPr/>
          <p:nvPr/>
        </p:nvSpPr>
        <p:spPr>
          <a:xfrm>
            <a:off x="8027988" y="1484313"/>
            <a:ext cx="431800"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3</a:t>
            </a:r>
            <a:endParaRPr/>
          </a:p>
        </p:txBody>
      </p:sp>
      <p:sp>
        <p:nvSpPr>
          <p:cNvPr id="1658" name="Google Shape;1658;p90"/>
          <p:cNvSpPr/>
          <p:nvPr/>
        </p:nvSpPr>
        <p:spPr>
          <a:xfrm>
            <a:off x="6372225" y="2133600"/>
            <a:ext cx="431800"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4</a:t>
            </a:r>
            <a:endParaRPr/>
          </a:p>
        </p:txBody>
      </p:sp>
      <p:sp>
        <p:nvSpPr>
          <p:cNvPr id="1659" name="Google Shape;1659;p90"/>
          <p:cNvSpPr/>
          <p:nvPr/>
        </p:nvSpPr>
        <p:spPr>
          <a:xfrm>
            <a:off x="7380288" y="2492375"/>
            <a:ext cx="431800"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5</a:t>
            </a:r>
            <a:endParaRPr/>
          </a:p>
        </p:txBody>
      </p:sp>
      <p:sp>
        <p:nvSpPr>
          <p:cNvPr id="1660" name="Google Shape;1660;p90"/>
          <p:cNvSpPr/>
          <p:nvPr/>
        </p:nvSpPr>
        <p:spPr>
          <a:xfrm>
            <a:off x="6711950" y="2822575"/>
            <a:ext cx="433388"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6</a:t>
            </a:r>
            <a:endParaRPr/>
          </a:p>
        </p:txBody>
      </p:sp>
      <p:sp>
        <p:nvSpPr>
          <p:cNvPr id="1661" name="Google Shape;1661;p90"/>
          <p:cNvSpPr/>
          <p:nvPr/>
        </p:nvSpPr>
        <p:spPr>
          <a:xfrm>
            <a:off x="5292725" y="2487613"/>
            <a:ext cx="431800"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7</a:t>
            </a:r>
            <a:endParaRPr/>
          </a:p>
        </p:txBody>
      </p:sp>
      <p:sp>
        <p:nvSpPr>
          <p:cNvPr id="1662" name="Google Shape;1662;p90"/>
          <p:cNvSpPr/>
          <p:nvPr/>
        </p:nvSpPr>
        <p:spPr>
          <a:xfrm>
            <a:off x="8216900" y="3243263"/>
            <a:ext cx="431800"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8</a:t>
            </a:r>
            <a:endParaRPr/>
          </a:p>
        </p:txBody>
      </p:sp>
      <p:sp>
        <p:nvSpPr>
          <p:cNvPr id="1663" name="Google Shape;1663;p90"/>
          <p:cNvSpPr/>
          <p:nvPr/>
        </p:nvSpPr>
        <p:spPr>
          <a:xfrm>
            <a:off x="6711950" y="3636961"/>
            <a:ext cx="431800" cy="431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9</a:t>
            </a:r>
            <a:endParaRPr/>
          </a:p>
        </p:txBody>
      </p:sp>
      <p:sp>
        <p:nvSpPr>
          <p:cNvPr id="1664" name="Google Shape;1664;p90"/>
          <p:cNvSpPr txBox="1"/>
          <p:nvPr/>
        </p:nvSpPr>
        <p:spPr>
          <a:xfrm>
            <a:off x="259977" y="6027901"/>
            <a:ext cx="8610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C00000"/>
                </a:solidFill>
                <a:latin typeface="Calibri"/>
                <a:ea typeface="Calibri"/>
                <a:cs typeface="Calibri"/>
                <a:sym typeface="Calibri"/>
              </a:rPr>
              <a:t>*Note: Data should be chosen so that conditions at the predicate nodes are appropriately set as each path is tested</a:t>
            </a:r>
            <a:endParaRPr/>
          </a:p>
        </p:txBody>
      </p:sp>
      <p:sp>
        <p:nvSpPr>
          <p:cNvPr id="1665" name="Google Shape;1665;p9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670"/>
        <p:cNvGrpSpPr/>
        <p:nvPr/>
      </p:nvGrpSpPr>
      <p:grpSpPr>
        <a:xfrm>
          <a:off x="0" y="0"/>
          <a:ext cx="0" cy="0"/>
          <a:chOff x="0" y="0"/>
          <a:chExt cx="0" cy="0"/>
        </a:xfrm>
      </p:grpSpPr>
      <p:sp>
        <p:nvSpPr>
          <p:cNvPr id="1671" name="Google Shape;1671;p9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Software Testing Process and Techniques (Summary)</a:t>
            </a:r>
            <a:endParaRPr sz="4000"/>
          </a:p>
        </p:txBody>
      </p:sp>
      <p:sp>
        <p:nvSpPr>
          <p:cNvPr id="1672" name="Google Shape;1672;p9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pic>
        <p:nvPicPr>
          <p:cNvPr id="1673" name="Google Shape;1673;p91"/>
          <p:cNvPicPr preferRelativeResize="0"/>
          <p:nvPr/>
        </p:nvPicPr>
        <p:blipFill rotWithShape="1">
          <a:blip r:embed="rId3">
            <a:alphaModFix/>
          </a:blip>
          <a:srcRect/>
          <a:stretch/>
        </p:blipFill>
        <p:spPr>
          <a:xfrm>
            <a:off x="457200" y="2667000"/>
            <a:ext cx="7924800" cy="1905000"/>
          </a:xfrm>
          <a:prstGeom prst="rect">
            <a:avLst/>
          </a:prstGeom>
          <a:solidFill>
            <a:schemeClr val="lt1"/>
          </a:solidFill>
          <a:ln>
            <a:noFill/>
          </a:ln>
        </p:spPr>
      </p:pic>
      <p:sp>
        <p:nvSpPr>
          <p:cNvPr id="1674" name="Google Shape;1674;p91"/>
          <p:cNvSpPr/>
          <p:nvPr/>
        </p:nvSpPr>
        <p:spPr>
          <a:xfrm>
            <a:off x="490380" y="2128016"/>
            <a:ext cx="1600200" cy="762000"/>
          </a:xfrm>
          <a:prstGeom prst="flowChartAlternateProcess">
            <a:avLst/>
          </a:prstGeom>
          <a:gradFill>
            <a:gsLst>
              <a:gs pos="0">
                <a:srgbClr val="5D427D"/>
              </a:gs>
              <a:gs pos="80000">
                <a:srgbClr val="7A57A5"/>
              </a:gs>
              <a:gs pos="100000">
                <a:srgbClr val="7A56A7"/>
              </a:gs>
            </a:gsLst>
            <a:lin ang="16200000" scaled="0"/>
          </a:gradFill>
          <a:ln w="9525" cap="flat" cmpd="sng">
            <a:solidFill>
              <a:srgbClr val="7C5F9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Equivalence Partitioning</a:t>
            </a:r>
            <a:endParaRPr dirty="0"/>
          </a:p>
        </p:txBody>
      </p:sp>
      <p:sp>
        <p:nvSpPr>
          <p:cNvPr id="1675" name="Google Shape;1675;p91"/>
          <p:cNvSpPr/>
          <p:nvPr/>
        </p:nvSpPr>
        <p:spPr>
          <a:xfrm>
            <a:off x="179512" y="4641304"/>
            <a:ext cx="2016224" cy="1222648"/>
          </a:xfrm>
          <a:prstGeom prst="flowChartAlternateProcess">
            <a:avLst/>
          </a:prstGeom>
          <a:gradFill>
            <a:gsLst>
              <a:gs pos="0">
                <a:srgbClr val="992D2B"/>
              </a:gs>
              <a:gs pos="80000">
                <a:srgbClr val="C93D39"/>
              </a:gs>
              <a:gs pos="100000">
                <a:srgbClr val="CD3A36"/>
              </a:gs>
            </a:gsLst>
            <a:lin ang="16200000" scaled="0"/>
          </a:gradFill>
          <a:ln w="9525" cap="flat" cmpd="sng">
            <a:solidFill>
              <a:srgbClr val="BD4B4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228600" marR="0" lvl="0" indent="-228600" algn="l" rtl="0">
              <a:spcBef>
                <a:spcPts val="0"/>
              </a:spcBef>
              <a:spcAft>
                <a:spcPts val="0"/>
              </a:spcAft>
              <a:buClr>
                <a:schemeClr val="lt1"/>
              </a:buClr>
              <a:buSzPts val="1600"/>
              <a:buFont typeface="Calibri"/>
              <a:buAutoNum type="arabicPeriod"/>
            </a:pPr>
            <a:r>
              <a:rPr lang="en-US" sz="1600" dirty="0">
                <a:solidFill>
                  <a:schemeClr val="lt1"/>
                </a:solidFill>
                <a:latin typeface="Calibri"/>
                <a:ea typeface="Calibri"/>
                <a:cs typeface="Calibri"/>
                <a:sym typeface="Calibri"/>
              </a:rPr>
              <a:t>Black Box Testing</a:t>
            </a:r>
            <a:endParaRPr dirty="0"/>
          </a:p>
          <a:p>
            <a:pPr marL="228600" marR="0" lvl="0" indent="-228600" algn="l" rtl="0">
              <a:spcBef>
                <a:spcPts val="0"/>
              </a:spcBef>
              <a:spcAft>
                <a:spcPts val="0"/>
              </a:spcAft>
              <a:buClr>
                <a:schemeClr val="lt1"/>
              </a:buClr>
              <a:buSzPts val="1600"/>
              <a:buFont typeface="Calibri"/>
              <a:buAutoNum type="arabicPeriod"/>
            </a:pPr>
            <a:r>
              <a:rPr lang="en-US" sz="1600" dirty="0">
                <a:solidFill>
                  <a:schemeClr val="lt1"/>
                </a:solidFill>
                <a:latin typeface="Calibri"/>
                <a:ea typeface="Calibri"/>
                <a:cs typeface="Calibri"/>
                <a:sym typeface="Calibri"/>
              </a:rPr>
              <a:t>White Box Testing</a:t>
            </a:r>
            <a:endParaRPr dirty="0"/>
          </a:p>
        </p:txBody>
      </p:sp>
      <p:sp>
        <p:nvSpPr>
          <p:cNvPr id="1676" name="Google Shape;1676;p91"/>
          <p:cNvSpPr/>
          <p:nvPr/>
        </p:nvSpPr>
        <p:spPr>
          <a:xfrm>
            <a:off x="2559240" y="4865270"/>
            <a:ext cx="1600200" cy="762000"/>
          </a:xfrm>
          <a:prstGeom prst="flowChartAlternateProcess">
            <a:avLst/>
          </a:prstGeom>
          <a:gradFill>
            <a:gsLst>
              <a:gs pos="0">
                <a:srgbClr val="C86C1F"/>
              </a:gs>
              <a:gs pos="80000">
                <a:srgbClr val="FF8E29"/>
              </a:gs>
              <a:gs pos="100000">
                <a:srgbClr val="FF8D25"/>
              </a:gs>
            </a:gsLst>
            <a:lin ang="16200000" scaled="0"/>
          </a:gradFill>
          <a:ln w="9525" cap="flat" cmpd="sng">
            <a:solidFill>
              <a:srgbClr val="F5913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Boundary  Value Analysis</a:t>
            </a:r>
            <a:endParaRPr dirty="0"/>
          </a:p>
        </p:txBody>
      </p:sp>
      <p:sp>
        <p:nvSpPr>
          <p:cNvPr id="1677" name="Google Shape;1677;p9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cxnSp>
        <p:nvCxnSpPr>
          <p:cNvPr id="4" name="Straight Arrow Connector 3">
            <a:extLst>
              <a:ext uri="{FF2B5EF4-FFF2-40B4-BE49-F238E27FC236}">
                <a16:creationId xmlns:a16="http://schemas.microsoft.com/office/drawing/2014/main" id="{3321564B-BC56-5AEB-CABE-2705C1E2F710}"/>
              </a:ext>
            </a:extLst>
          </p:cNvPr>
          <p:cNvCxnSpPr>
            <a:cxnSpLocks/>
          </p:cNvCxnSpPr>
          <p:nvPr/>
        </p:nvCxnSpPr>
        <p:spPr>
          <a:xfrm flipV="1">
            <a:off x="627576" y="3055532"/>
            <a:ext cx="662904" cy="1840012"/>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863CE449-E05E-E55F-3ACF-40435746D489}"/>
              </a:ext>
            </a:extLst>
          </p:cNvPr>
          <p:cNvCxnSpPr>
            <a:cxnSpLocks/>
            <a:endCxn id="1676" idx="1"/>
          </p:cNvCxnSpPr>
          <p:nvPr/>
        </p:nvCxnSpPr>
        <p:spPr>
          <a:xfrm>
            <a:off x="2103108" y="4981880"/>
            <a:ext cx="456132" cy="26439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620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74"/>
                                        </p:tgtEl>
                                        <p:attrNameLst>
                                          <p:attrName>style.visibility</p:attrName>
                                        </p:attrNameLst>
                                      </p:cBhvr>
                                      <p:to>
                                        <p:strVal val="visible"/>
                                      </p:to>
                                    </p:set>
                                    <p:anim calcmode="lin" valueType="num">
                                      <p:cBhvr additive="base">
                                        <p:cTn id="7" dur="2000"/>
                                        <p:tgtEl>
                                          <p:spTgt spid="167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75"/>
                                        </p:tgtEl>
                                        <p:attrNameLst>
                                          <p:attrName>style.visibility</p:attrName>
                                        </p:attrNameLst>
                                      </p:cBhvr>
                                      <p:to>
                                        <p:strVal val="visible"/>
                                      </p:to>
                                    </p:set>
                                    <p:anim calcmode="lin" valueType="num">
                                      <p:cBhvr additive="base">
                                        <p:cTn id="12" dur="2000"/>
                                        <p:tgtEl>
                                          <p:spTgt spid="167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76"/>
                                        </p:tgtEl>
                                        <p:attrNameLst>
                                          <p:attrName>style.visibility</p:attrName>
                                        </p:attrNameLst>
                                      </p:cBhvr>
                                      <p:to>
                                        <p:strVal val="visible"/>
                                      </p:to>
                                    </p:set>
                                    <p:anim calcmode="lin" valueType="num">
                                      <p:cBhvr additive="base">
                                        <p:cTn id="17" dur="2000"/>
                                        <p:tgtEl>
                                          <p:spTgt spid="16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6692</Words>
  <Application>Microsoft Office PowerPoint</Application>
  <PresentationFormat>On-screen Show (4:3)</PresentationFormat>
  <Paragraphs>993</Paragraphs>
  <Slides>93</Slides>
  <Notes>91</Notes>
  <HiddenSlides>16</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93</vt:i4>
      </vt:variant>
    </vt:vector>
  </HeadingPairs>
  <TitlesOfParts>
    <vt:vector size="100" baseType="lpstr">
      <vt:lpstr>Libre Baskerville</vt:lpstr>
      <vt:lpstr>Times New Roman</vt:lpstr>
      <vt:lpstr>Calibri</vt:lpstr>
      <vt:lpstr>Arial</vt:lpstr>
      <vt:lpstr>Courier</vt:lpstr>
      <vt:lpstr>Office Theme</vt:lpstr>
      <vt:lpstr>Custom Design</vt:lpstr>
      <vt:lpstr>Module 8:  Software Verification, Validation  and Testing</vt:lpstr>
      <vt:lpstr>Recap on SDLC Phases &amp; Artefacts</vt:lpstr>
      <vt:lpstr>Outline</vt:lpstr>
      <vt:lpstr>Objectives</vt:lpstr>
      <vt:lpstr>Verification vs. Validation  (Boehm, 1979)</vt:lpstr>
      <vt:lpstr>Verification vs. Validation </vt:lpstr>
      <vt:lpstr>V&amp;V Goal</vt:lpstr>
      <vt:lpstr>V&amp;V: Degree-of-Confidence Category</vt:lpstr>
      <vt:lpstr>Verification Technique: Software Inspection </vt:lpstr>
      <vt:lpstr>Software Inspection: Static Testing</vt:lpstr>
      <vt:lpstr>Advantages of Inspections</vt:lpstr>
      <vt:lpstr>Validation Technique: Dynamic Testing</vt:lpstr>
      <vt:lpstr>Testing (Dynamic)</vt:lpstr>
      <vt:lpstr>Inspections vs. Dynamic Testing?</vt:lpstr>
      <vt:lpstr>Inspections vs. Dynamic Testing?</vt:lpstr>
      <vt:lpstr>Recap on Software (Dynamic) Testing</vt:lpstr>
      <vt:lpstr>V&amp;V Technique:  Prototyping</vt:lpstr>
      <vt:lpstr>V&amp;V Technique:  Prototyping</vt:lpstr>
      <vt:lpstr>V&amp;V Technique:  Model Analysis</vt:lpstr>
      <vt:lpstr>Verification Technique:  Model Analysis Example in Basic Cross-Check for UML Model</vt:lpstr>
      <vt:lpstr>Stages of Testing</vt:lpstr>
      <vt:lpstr>PowerPoint Presentation</vt:lpstr>
      <vt:lpstr>Stage 1: Component Test</vt:lpstr>
      <vt:lpstr>Component Test: Object Class Testing</vt:lpstr>
      <vt:lpstr>Object/Class Testing Example: Weather Station Class</vt:lpstr>
      <vt:lpstr>Object/Class Testing Example: Weather Station Class (Cont.)</vt:lpstr>
      <vt:lpstr>Component Test: Interface Testing</vt:lpstr>
      <vt:lpstr>Interface Testing Types</vt:lpstr>
      <vt:lpstr>Layered Architecture - 3 Layers</vt:lpstr>
      <vt:lpstr>Weather Station Subsystems</vt:lpstr>
      <vt:lpstr>Sub-System Interfaces</vt:lpstr>
      <vt:lpstr>Interface Errors</vt:lpstr>
      <vt:lpstr>PowerPoint Presentation</vt:lpstr>
      <vt:lpstr>Stage 2: Integration Test</vt:lpstr>
      <vt:lpstr>Integration Test (cont.)</vt:lpstr>
      <vt:lpstr>Incremental Integration Testing</vt:lpstr>
      <vt:lpstr>PowerPoint Presentation</vt:lpstr>
      <vt:lpstr>Stage 3: System Test</vt:lpstr>
      <vt:lpstr>System Test (cont.)</vt:lpstr>
      <vt:lpstr>Stress Testing</vt:lpstr>
      <vt:lpstr>Performance Testing</vt:lpstr>
      <vt:lpstr>Usability Testing</vt:lpstr>
      <vt:lpstr>PowerPoint Presentation</vt:lpstr>
      <vt:lpstr>Stage 4: Acceptance Test</vt:lpstr>
      <vt:lpstr>Acceptance Test (cont.)</vt:lpstr>
      <vt:lpstr>Acceptance Testing Process</vt:lpstr>
      <vt:lpstr>Types of Acceptance Test</vt:lpstr>
      <vt:lpstr>PowerPoint Presentation</vt:lpstr>
      <vt:lpstr>Test-Case Design Technique:  Black-Box Testing</vt:lpstr>
      <vt:lpstr>Black-Box Testing (Cont.)</vt:lpstr>
      <vt:lpstr>Test Case Design</vt:lpstr>
      <vt:lpstr>What is Requirements-Based Testing? </vt:lpstr>
      <vt:lpstr>Requirements-Based Testing</vt:lpstr>
      <vt:lpstr>Software Testing Process</vt:lpstr>
      <vt:lpstr>Step 1: Collect Requirements</vt:lpstr>
      <vt:lpstr>Step 2: Generate Test Requirements</vt:lpstr>
      <vt:lpstr>Step 3: Design Test Case based on Test Requirements</vt:lpstr>
      <vt:lpstr>Step 4: List out all Test Cases</vt:lpstr>
      <vt:lpstr>Difference Test Scenario/ Steps and Script</vt:lpstr>
      <vt:lpstr>Software Testing Process</vt:lpstr>
      <vt:lpstr>PowerPoint Presentation</vt:lpstr>
      <vt:lpstr>Black-Box Testing Strategies</vt:lpstr>
      <vt:lpstr>Black-Box Testing Strategies 1:  Equivalence Partitioning</vt:lpstr>
      <vt:lpstr>Black-Box Testing Strategies 1:  Equivalence Partitioning (Cont.)</vt:lpstr>
      <vt:lpstr>Black-Box Testing Strategies 1:  Equivalence Partitioning (Cont.)</vt:lpstr>
      <vt:lpstr>Test Cases</vt:lpstr>
      <vt:lpstr>PowerPoint Presentation</vt:lpstr>
      <vt:lpstr>Black-Box Testing Strategies 2:  Boundary Value Analysis (BVA)</vt:lpstr>
      <vt:lpstr>Black-Box Testing Strategies 2:  BVA (Cont.)</vt:lpstr>
      <vt:lpstr>Test Cases </vt:lpstr>
      <vt:lpstr>PowerPoint Presentation</vt:lpstr>
      <vt:lpstr>Test-Case Design Technique:  White-Box Testing</vt:lpstr>
      <vt:lpstr>PowerPoint Presentation</vt:lpstr>
      <vt:lpstr>Test-Case Design Technique:  White-Box Testing (Cont.)</vt:lpstr>
      <vt:lpstr>PowerPoint Presentation</vt:lpstr>
      <vt:lpstr>White-Box Testing Strategies 1:  Basis Path Testing</vt:lpstr>
      <vt:lpstr>White-Box Testing Strategies 1:  Basis Path Testing</vt:lpstr>
      <vt:lpstr>Basis Path Testing Step 1:  Draw Flow Graph</vt:lpstr>
      <vt:lpstr>How to Derive Flow Graph: if</vt:lpstr>
      <vt:lpstr>How to Derive Flow Graph: if-else</vt:lpstr>
      <vt:lpstr>How to Derive Flow Graph: boolean-AND</vt:lpstr>
      <vt:lpstr>How to Derive Flow Graph: boolean-OR</vt:lpstr>
      <vt:lpstr>How to Derive Flow Graph: while</vt:lpstr>
      <vt:lpstr>How to Derive Flow Graph: for</vt:lpstr>
      <vt:lpstr>Example of Basis Path Testing</vt:lpstr>
      <vt:lpstr>Basis Path Testing Step 1:  Draw Flow Graph</vt:lpstr>
      <vt:lpstr>How to Simplify</vt:lpstr>
      <vt:lpstr>Basis Path Testing Step 2:  Determine Cyclomatic Complexity</vt:lpstr>
      <vt:lpstr>Basis Path Testing Step 2:  Determine Cyclomatic Complexity</vt:lpstr>
      <vt:lpstr>Basis Path Testing Step 3:  Determine Independent Path</vt:lpstr>
      <vt:lpstr>Basis Path Testing Step 4:  Prepare the Test Cases</vt:lpstr>
      <vt:lpstr>PowerPoint Presentation</vt:lpstr>
      <vt:lpstr>Software Testing Process and Techniques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Referee</dc:creator>
  <cp:lastModifiedBy>Muhammad Luqman Mohd Shafie</cp:lastModifiedBy>
  <cp:revision>3</cp:revision>
  <dcterms:created xsi:type="dcterms:W3CDTF">2012-07-30T02:22:03Z</dcterms:created>
  <dcterms:modified xsi:type="dcterms:W3CDTF">2025-09-10T02:37:36Z</dcterms:modified>
</cp:coreProperties>
</file>