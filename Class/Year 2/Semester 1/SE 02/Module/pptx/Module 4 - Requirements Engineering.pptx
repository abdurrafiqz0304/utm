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8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340" r:id="rId43"/>
    <p:sldId id="338" r:id="rId44"/>
    <p:sldId id="339"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Lst>
  <p:sldSz cx="9144000" cy="6858000" type="screen4x3"/>
  <p:notesSz cx="6858000" cy="9144000"/>
  <p:embeddedFontLst>
    <p:embeddedFont>
      <p:font typeface="Libre Baskerville" panose="02000000000000000000" pitchFamily="2" charset="0"/>
      <p:regular r:id="rId89"/>
      <p:bold r:id="rId90"/>
      <p:italic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gWHG+br4CrUjzuC8k+3y/SBiQQ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B95D1-B05F-47E4-BDA2-7ECCF897C68A}" v="2" dt="2025-10-27T01:28:32.681"/>
  </p1510:revLst>
</p1510:revInfo>
</file>

<file path=ppt/tableStyles.xml><?xml version="1.0" encoding="utf-8"?>
<a:tblStyleLst xmlns:a="http://schemas.openxmlformats.org/drawingml/2006/main" def="{54ED4AE3-774A-42B7-8420-56C0AD00CE45}">
  <a:tblStyle styleId="{54ED4AE3-774A-42B7-8420-56C0AD00CE4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6369F76B-6215-43FF-8B20-7DCD6F6A8802}" styleName="Table_1">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E8F1F5"/>
          </a:solidFill>
        </a:fill>
      </a:tcStyle>
    </a:wholeTbl>
    <a:band1H>
      <a:tcTxStyle b="off" i="off"/>
      <a:tcStyle>
        <a:tcBdr/>
        <a:fill>
          <a:solidFill>
            <a:srgbClr val="CEE2EA"/>
          </a:solidFill>
        </a:fill>
      </a:tcStyle>
    </a:band1H>
    <a:band2H>
      <a:tcTxStyle b="off" i="off"/>
      <a:tcStyle>
        <a:tcBdr/>
      </a:tcStyle>
    </a:band2H>
    <a:band1V>
      <a:tcTxStyle b="off" i="off"/>
      <a:tcStyle>
        <a:tcBdr/>
        <a:fill>
          <a:solidFill>
            <a:srgbClr val="CEE2EA"/>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25400" cap="flat" cmpd="sng">
              <a:solidFill>
                <a:schemeClr val="accent5"/>
              </a:solidFill>
              <a:prstDash val="solid"/>
              <a:round/>
              <a:headEnd type="none" w="sm" len="sm"/>
              <a:tailEnd type="none" w="sm" len="sm"/>
            </a:ln>
          </a:top>
        </a:tcBdr>
        <a:fill>
          <a:solidFill>
            <a:srgbClr val="E8F1F5"/>
          </a:solidFill>
        </a:fill>
      </a:tcStyle>
    </a:lastRow>
    <a:seCell>
      <a:tcTxStyle b="off" i="off"/>
      <a:tcStyle>
        <a:tcBdr/>
      </a:tcStyle>
    </a:seCell>
    <a:swCell>
      <a:tcTxStyle b="off" i="off"/>
      <a:tcStyle>
        <a:tcBdr/>
      </a:tcStyle>
    </a:swCell>
    <a:firstRow>
      <a:tcTxStyle b="on" i="off"/>
      <a:tcStyle>
        <a:tcBdr/>
        <a:fill>
          <a:solidFill>
            <a:srgbClr val="E8F1F5"/>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65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font" Target="fonts/font1.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2.fntdata"/><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font" Target="fonts/font3.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customschemas.google.com/relationships/presentationmetadata" Target="metadata"/><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Luqman Mohd Shafie" userId="0bf5bc76ece943c7" providerId="LiveId" clId="{89E84985-B747-4F0C-B71E-11167EFCA846}"/>
    <pc:docChg chg="modSld">
      <pc:chgData name="Muhammad Luqman Mohd Shafie" userId="0bf5bc76ece943c7" providerId="LiveId" clId="{89E84985-B747-4F0C-B71E-11167EFCA846}" dt="2025-10-27T01:28:33.428" v="15" actId="20577"/>
      <pc:docMkLst>
        <pc:docMk/>
      </pc:docMkLst>
      <pc:sldChg chg="modNotesTx">
        <pc:chgData name="Muhammad Luqman Mohd Shafie" userId="0bf5bc76ece943c7" providerId="LiveId" clId="{89E84985-B747-4F0C-B71E-11167EFCA846}" dt="2025-10-27T01:28:30.101" v="14" actId="20577"/>
        <pc:sldMkLst>
          <pc:docMk/>
          <pc:sldMk cId="1559731818" sldId="338"/>
        </pc:sldMkLst>
      </pc:sldChg>
      <pc:sldChg chg="modNotesTx">
        <pc:chgData name="Muhammad Luqman Mohd Shafie" userId="0bf5bc76ece943c7" providerId="LiveId" clId="{89E84985-B747-4F0C-B71E-11167EFCA846}" dt="2025-10-27T01:28:33.428" v="15" actId="20577"/>
        <pc:sldMkLst>
          <pc:docMk/>
          <pc:sldMk cId="1033708962" sldId="339"/>
        </pc:sldMkLst>
      </pc:sldChg>
      <pc:sldChg chg="modNotesTx">
        <pc:chgData name="Muhammad Luqman Mohd Shafie" userId="0bf5bc76ece943c7" providerId="LiveId" clId="{89E84985-B747-4F0C-B71E-11167EFCA846}" dt="2025-10-27T01:28:24.503" v="13" actId="20577"/>
        <pc:sldMkLst>
          <pc:docMk/>
          <pc:sldMk cId="2573145919" sldId="3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36" name="Google Shape;13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5" name="Google Shape;435;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Added oct 2025</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41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197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MY" dirty="0"/>
              <a:t>Added oct 2025</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42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993435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MY" dirty="0"/>
              <a:t>Added oct 2025</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43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570883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8" name="Google Shape;49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6" name="Google Shape;51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4" name="Google Shape;544;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0" name="Google Shape;58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9" name="Google Shape;58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7" name="Google Shape;60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6" name="Google Shape;61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5" name="Google Shape;625;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4" name="Google Shape;634;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3" name="Google Shape;643;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0" name="Google Shape;670;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8" name="Google Shape;688;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5" name="Google Shape;715;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880" name="Google Shape;880;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85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8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2" name="Google Shape;22;p8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8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8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8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8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8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8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8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8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8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8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8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8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8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8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8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9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9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5" name="Google Shape;65;p9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6" name="Google Shape;66;p9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9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9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9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92"/>
          <p:cNvSpPr>
            <a:spLocks noGrp="1"/>
          </p:cNvSpPr>
          <p:nvPr>
            <p:ph type="pic" idx="2"/>
          </p:nvPr>
        </p:nvSpPr>
        <p:spPr>
          <a:xfrm>
            <a:off x="1792288" y="612775"/>
            <a:ext cx="5486400" cy="4114800"/>
          </a:xfrm>
          <a:prstGeom prst="rect">
            <a:avLst/>
          </a:prstGeom>
          <a:noFill/>
          <a:ln>
            <a:noFill/>
          </a:ln>
        </p:spPr>
      </p:sp>
      <p:sp>
        <p:nvSpPr>
          <p:cNvPr id="72" name="Google Shape;72;p9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3" name="Google Shape;73;p9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9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9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9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9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9" name="Google Shape;79;p9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9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9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9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9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5" name="Google Shape;85;p9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9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9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83"/>
          <p:cNvPicPr preferRelativeResize="0"/>
          <p:nvPr/>
        </p:nvPicPr>
        <p:blipFill rotWithShape="1">
          <a:blip r:embed="rId13">
            <a:alphaModFix/>
          </a:blip>
          <a:srcRect/>
          <a:stretch/>
        </p:blipFill>
        <p:spPr>
          <a:xfrm>
            <a:off x="-747" y="6487366"/>
            <a:ext cx="9131300" cy="357187"/>
          </a:xfrm>
          <a:prstGeom prst="rect">
            <a:avLst/>
          </a:prstGeom>
          <a:noFill/>
          <a:ln>
            <a:noFill/>
          </a:ln>
        </p:spPr>
      </p:pic>
      <p:sp>
        <p:nvSpPr>
          <p:cNvPr id="11" name="Google Shape;11;p83"/>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 name="Google Shape;12;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3" name="Google Shape;13;p83" descr="header_UTM"/>
          <p:cNvPicPr preferRelativeResize="0"/>
          <p:nvPr/>
        </p:nvPicPr>
        <p:blipFill rotWithShape="1">
          <a:blip r:embed="rId14">
            <a:alphaModFix/>
          </a:blip>
          <a:srcRect/>
          <a:stretch/>
        </p:blipFill>
        <p:spPr>
          <a:xfrm>
            <a:off x="63500" y="106363"/>
            <a:ext cx="1195388" cy="395287"/>
          </a:xfrm>
          <a:prstGeom prst="rect">
            <a:avLst/>
          </a:prstGeom>
          <a:noFill/>
          <a:ln>
            <a:noFill/>
          </a:ln>
        </p:spPr>
      </p:pic>
      <p:pic>
        <p:nvPicPr>
          <p:cNvPr id="14" name="Google Shape;14;p83" descr="header_url"/>
          <p:cNvPicPr preferRelativeResize="0"/>
          <p:nvPr/>
        </p:nvPicPr>
        <p:blipFill rotWithShape="1">
          <a:blip r:embed="rId15">
            <a:alphaModFix/>
          </a:blip>
          <a:srcRect/>
          <a:stretch/>
        </p:blipFill>
        <p:spPr>
          <a:xfrm>
            <a:off x="0" y="1169894"/>
            <a:ext cx="2376488" cy="255588"/>
          </a:xfrm>
          <a:prstGeom prst="rect">
            <a:avLst/>
          </a:prstGeom>
          <a:noFill/>
          <a:ln>
            <a:noFill/>
          </a:ln>
        </p:spPr>
      </p:pic>
      <p:sp>
        <p:nvSpPr>
          <p:cNvPr id="15" name="Google Shape;15;p8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8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8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8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95"/>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5400"/>
              <a:buFont typeface="Arial"/>
              <a:buNone/>
            </a:pPr>
            <a:endParaRPr sz="5400" b="0" i="0" u="none" strike="noStrike" cap="none">
              <a:solidFill>
                <a:schemeClr val="dk1"/>
              </a:solidFill>
              <a:latin typeface="Calibri"/>
              <a:ea typeface="Calibri"/>
              <a:cs typeface="Calibri"/>
              <a:sym typeface="Calibri"/>
            </a:endParaRPr>
          </a:p>
          <a:p>
            <a:pPr marL="342900" marR="0" lvl="0" indent="-342900" algn="ctr" rtl="0">
              <a:lnSpc>
                <a:spcPct val="100000"/>
              </a:lnSpc>
              <a:spcBef>
                <a:spcPts val="1080"/>
              </a:spcBef>
              <a:spcAft>
                <a:spcPts val="0"/>
              </a:spcAft>
              <a:buClr>
                <a:schemeClr val="dk1"/>
              </a:buClr>
              <a:buSzPts val="5400"/>
              <a:buFont typeface="Arial"/>
              <a:buNone/>
            </a:pPr>
            <a:r>
              <a:rPr lang="en-GB" sz="5400" b="1" i="0" u="none" strike="noStrike" cap="none">
                <a:solidFill>
                  <a:schemeClr val="dk1"/>
                </a:solidFill>
                <a:latin typeface="Calibri"/>
                <a:ea typeface="Calibri"/>
                <a:cs typeface="Calibri"/>
                <a:sym typeface="Calibri"/>
              </a:rPr>
              <a:t>Terima Kasih</a:t>
            </a:r>
            <a:endParaRPr sz="1400" b="0" i="0" u="none" strike="noStrike" cap="none">
              <a:solidFill>
                <a:srgbClr val="000000"/>
              </a:solidFill>
              <a:latin typeface="Arial"/>
              <a:ea typeface="Arial"/>
              <a:cs typeface="Arial"/>
              <a:sym typeface="Arial"/>
            </a:endParaRPr>
          </a:p>
          <a:p>
            <a:pPr marL="342900" marR="0" lvl="0" indent="-342900" algn="ctr" rtl="0">
              <a:lnSpc>
                <a:spcPct val="100000"/>
              </a:lnSpc>
              <a:spcBef>
                <a:spcPts val="560"/>
              </a:spcBef>
              <a:spcAft>
                <a:spcPts val="0"/>
              </a:spcAft>
              <a:buClr>
                <a:srgbClr val="C00000"/>
              </a:buClr>
              <a:buSzPts val="2800"/>
              <a:buFont typeface="Arial"/>
              <a:buNone/>
            </a:pPr>
            <a:r>
              <a:rPr lang="en-GB" sz="2800" b="0" i="0" u="none" strike="noStrike" cap="none">
                <a:solidFill>
                  <a:srgbClr val="C00000"/>
                </a:solidFill>
                <a:latin typeface="Calibri"/>
                <a:ea typeface="Calibri"/>
                <a:cs typeface="Calibri"/>
                <a:sym typeface="Calibri"/>
              </a:rPr>
              <a:t>atas keprihatinan anda</a:t>
            </a:r>
            <a:endParaRPr sz="1400" b="0" i="0" u="none" strike="noStrike" cap="none">
              <a:solidFill>
                <a:srgbClr val="000000"/>
              </a:solidFill>
              <a:latin typeface="Arial"/>
              <a:ea typeface="Arial"/>
              <a:cs typeface="Arial"/>
              <a:sym typeface="Arial"/>
            </a:endParaRPr>
          </a:p>
          <a:p>
            <a:pPr marL="342900" marR="0" lvl="0" indent="-342900" algn="ctr" rtl="0">
              <a:lnSpc>
                <a:spcPct val="100000"/>
              </a:lnSpc>
              <a:spcBef>
                <a:spcPts val="560"/>
              </a:spcBef>
              <a:spcAft>
                <a:spcPts val="0"/>
              </a:spcAft>
              <a:buClr>
                <a:schemeClr val="dk1"/>
              </a:buClr>
              <a:buSzPts val="2800"/>
              <a:buFont typeface="Arial"/>
              <a:buNone/>
            </a:pPr>
            <a:endParaRPr sz="2800" b="0" i="0" u="none" strike="noStrike" cap="none">
              <a:solidFill>
                <a:srgbClr val="C00000"/>
              </a:solidFill>
              <a:latin typeface="Calibri"/>
              <a:ea typeface="Calibri"/>
              <a:cs typeface="Calibri"/>
              <a:sym typeface="Calibri"/>
            </a:endParaRPr>
          </a:p>
          <a:p>
            <a:pPr marL="342900" marR="0" lvl="0" indent="-342900" algn="ctr" rtl="0">
              <a:lnSpc>
                <a:spcPct val="100000"/>
              </a:lnSpc>
              <a:spcBef>
                <a:spcPts val="720"/>
              </a:spcBef>
              <a:spcAft>
                <a:spcPts val="0"/>
              </a:spcAft>
              <a:buClr>
                <a:srgbClr val="002060"/>
              </a:buClr>
              <a:buSzPts val="3600"/>
              <a:buFont typeface="Arial"/>
              <a:buNone/>
            </a:pPr>
            <a:r>
              <a:rPr lang="en-GB" sz="3600" b="1" i="0" u="none" strike="noStrike" cap="none">
                <a:solidFill>
                  <a:srgbClr val="002060"/>
                </a:solidFill>
                <a:latin typeface="Libre Baskerville"/>
                <a:ea typeface="Libre Baskerville"/>
                <a:cs typeface="Libre Baskerville"/>
                <a:sym typeface="Libre Baskerville"/>
              </a:rPr>
              <a:t>“I Care, You Care, We Care”</a:t>
            </a:r>
            <a:endParaRPr sz="3600" b="1" i="0" u="none" strike="noStrike" cap="none">
              <a:solidFill>
                <a:srgbClr val="002060"/>
              </a:solidFill>
              <a:latin typeface="Libre Baskerville"/>
              <a:ea typeface="Libre Baskerville"/>
              <a:cs typeface="Libre Baskerville"/>
              <a:sym typeface="Libre Baskerville"/>
            </a:endParaRPr>
          </a:p>
        </p:txBody>
      </p:sp>
      <p:pic>
        <p:nvPicPr>
          <p:cNvPr id="90" name="Google Shape;90;p95"/>
          <p:cNvPicPr preferRelativeResize="0"/>
          <p:nvPr/>
        </p:nvPicPr>
        <p:blipFill rotWithShape="1">
          <a:blip r:embed="rId2">
            <a:alphaModFix/>
          </a:blip>
          <a:srcRect/>
          <a:stretch/>
        </p:blipFill>
        <p:spPr>
          <a:xfrm>
            <a:off x="-747" y="6487366"/>
            <a:ext cx="9131300" cy="357187"/>
          </a:xfrm>
          <a:prstGeom prst="rect">
            <a:avLst/>
          </a:prstGeom>
          <a:noFill/>
          <a:ln>
            <a:noFill/>
          </a:ln>
        </p:spPr>
      </p:pic>
      <p:sp>
        <p:nvSpPr>
          <p:cNvPr id="91" name="Google Shape;91;p95"/>
          <p:cNvSpPr txBox="1">
            <a:spLocks noGrp="1"/>
          </p:cNvSpPr>
          <p:nvPr>
            <p:ph type="dt" idx="10"/>
          </p:nvPr>
        </p:nvSpPr>
        <p:spPr>
          <a:xfrm>
            <a:off x="0" y="6600451"/>
            <a:ext cx="1547664"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95"/>
          <p:cNvSpPr txBox="1">
            <a:spLocks noGrp="1"/>
          </p:cNvSpPr>
          <p:nvPr>
            <p:ph type="sldNum" idx="12"/>
          </p:nvPr>
        </p:nvSpPr>
        <p:spPr>
          <a:xfrm>
            <a:off x="8316416" y="6600451"/>
            <a:ext cx="457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93" name="Google Shape;93;p95"/>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4" name="Google Shape;94;p95" descr="header_UTM"/>
          <p:cNvPicPr preferRelativeResize="0"/>
          <p:nvPr/>
        </p:nvPicPr>
        <p:blipFill rotWithShape="1">
          <a:blip r:embed="rId3">
            <a:alphaModFix/>
          </a:blip>
          <a:srcRect/>
          <a:stretch/>
        </p:blipFill>
        <p:spPr>
          <a:xfrm>
            <a:off x="63500" y="106363"/>
            <a:ext cx="1195388" cy="395287"/>
          </a:xfrm>
          <a:prstGeom prst="rect">
            <a:avLst/>
          </a:prstGeom>
          <a:noFill/>
          <a:ln>
            <a:noFill/>
          </a:ln>
        </p:spPr>
      </p:pic>
      <p:pic>
        <p:nvPicPr>
          <p:cNvPr id="95" name="Google Shape;95;p95" descr="header_url"/>
          <p:cNvPicPr preferRelativeResize="0"/>
          <p:nvPr/>
        </p:nvPicPr>
        <p:blipFill rotWithShape="1">
          <a:blip r:embed="rId4">
            <a:alphaModFix/>
          </a:blip>
          <a:srcRect/>
          <a:stretch/>
        </p:blipFill>
        <p:spPr>
          <a:xfrm>
            <a:off x="0" y="1009650"/>
            <a:ext cx="2376488" cy="388938"/>
          </a:xfrm>
          <a:prstGeom prst="rect">
            <a:avLst/>
          </a:prstGeom>
          <a:noFill/>
          <a:ln>
            <a:noFill/>
          </a:ln>
        </p:spPr>
      </p:pic>
      <p:pic>
        <p:nvPicPr>
          <p:cNvPr id="96" name="Google Shape;96;p95"/>
          <p:cNvPicPr preferRelativeResize="0"/>
          <p:nvPr/>
        </p:nvPicPr>
        <p:blipFill rotWithShape="1">
          <a:blip r:embed="rId5">
            <a:alphaModFix/>
          </a:blip>
          <a:srcRect/>
          <a:stretch/>
        </p:blipFill>
        <p:spPr>
          <a:xfrm>
            <a:off x="1873008" y="53788"/>
            <a:ext cx="580837" cy="438130"/>
          </a:xfrm>
          <a:prstGeom prst="rect">
            <a:avLst/>
          </a:prstGeom>
          <a:noFill/>
          <a:ln>
            <a:noFill/>
          </a:ln>
        </p:spPr>
      </p:pic>
      <p:pic>
        <p:nvPicPr>
          <p:cNvPr id="97" name="Google Shape;97;p95" descr="PNG_newlogo"/>
          <p:cNvPicPr preferRelativeResize="0"/>
          <p:nvPr/>
        </p:nvPicPr>
        <p:blipFill rotWithShape="1">
          <a:blip r:embed="rId6">
            <a:alphaModFix/>
          </a:blip>
          <a:srcRect/>
          <a:stretch/>
        </p:blipFill>
        <p:spPr>
          <a:xfrm>
            <a:off x="1354633" y="26894"/>
            <a:ext cx="504056" cy="477366"/>
          </a:xfrm>
          <a:prstGeom prst="rect">
            <a:avLst/>
          </a:prstGeom>
          <a:noFill/>
          <a:ln>
            <a:noFill/>
          </a:ln>
        </p:spPr>
      </p:pic>
      <p:sp>
        <p:nvSpPr>
          <p:cNvPr id="98" name="Google Shape;98;p95"/>
          <p:cNvSpPr txBox="1">
            <a:spLocks noGrp="1"/>
          </p:cNvSpPr>
          <p:nvPr>
            <p:ph type="ftr" idx="11"/>
          </p:nvPr>
        </p:nvSpPr>
        <p:spPr>
          <a:xfrm>
            <a:off x="2281520" y="6647328"/>
            <a:ext cx="4704928" cy="3651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5.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Module 4: Requirements Engineering</a:t>
            </a:r>
            <a:endParaRPr/>
          </a:p>
        </p:txBody>
      </p:sp>
      <p:sp>
        <p:nvSpPr>
          <p:cNvPr id="104" name="Google Shape;10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2"/>
              </a:buClr>
              <a:buSzPts val="4000"/>
              <a:buNone/>
            </a:pPr>
            <a:r>
              <a:rPr lang="en-GB" sz="4000">
                <a:solidFill>
                  <a:schemeClr val="dk2"/>
                </a:solidFill>
              </a:rPr>
              <a:t>Software Engineering</a:t>
            </a:r>
            <a:endParaRPr/>
          </a:p>
          <a:p>
            <a:pPr marL="0" lvl="0" indent="0" algn="ctr" rtl="0">
              <a:lnSpc>
                <a:spcPct val="100000"/>
              </a:lnSpc>
              <a:spcBef>
                <a:spcPts val="560"/>
              </a:spcBef>
              <a:spcAft>
                <a:spcPts val="0"/>
              </a:spcAft>
              <a:buClr>
                <a:srgbClr val="888888"/>
              </a:buClr>
              <a:buSzPts val="2800"/>
              <a:buNone/>
            </a:pPr>
            <a:r>
              <a:rPr lang="en-GB" sz="2800"/>
              <a:t>Faculty of Computing</a:t>
            </a:r>
            <a:endParaRPr/>
          </a:p>
          <a:p>
            <a:pPr marL="0" lvl="0" indent="0" algn="ctr" rtl="0">
              <a:lnSpc>
                <a:spcPct val="100000"/>
              </a:lnSpc>
              <a:spcBef>
                <a:spcPts val="560"/>
              </a:spcBef>
              <a:spcAft>
                <a:spcPts val="0"/>
              </a:spcAft>
              <a:buClr>
                <a:srgbClr val="888888"/>
              </a:buClr>
              <a:buSzPts val="2800"/>
              <a:buNone/>
            </a:pPr>
            <a:r>
              <a:rPr lang="en-GB" sz="2800"/>
              <a:t>Universiti Teknologi Malaysia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Outline</a:t>
            </a:r>
            <a:endParaRPr/>
          </a:p>
        </p:txBody>
      </p:sp>
      <p:sp>
        <p:nvSpPr>
          <p:cNvPr id="110" name="Google Shape;110;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GB"/>
              <a:t>Types of Requirements</a:t>
            </a:r>
            <a:endParaRPr/>
          </a:p>
          <a:p>
            <a:pPr marL="342900" lvl="0" indent="-342900" algn="l" rtl="0">
              <a:lnSpc>
                <a:spcPct val="100000"/>
              </a:lnSpc>
              <a:spcBef>
                <a:spcPts val="640"/>
              </a:spcBef>
              <a:spcAft>
                <a:spcPts val="0"/>
              </a:spcAft>
              <a:buClr>
                <a:schemeClr val="dk1"/>
              </a:buClr>
              <a:buSzPts val="3200"/>
              <a:buChar char="•"/>
            </a:pPr>
            <a:r>
              <a:rPr lang="en-GB"/>
              <a:t>Functional and Non-Functional Requirements</a:t>
            </a:r>
            <a:endParaRPr/>
          </a:p>
          <a:p>
            <a:pPr marL="342900" lvl="0" indent="-342900" algn="l" rtl="0">
              <a:lnSpc>
                <a:spcPct val="100000"/>
              </a:lnSpc>
              <a:spcBef>
                <a:spcPts val="640"/>
              </a:spcBef>
              <a:spcAft>
                <a:spcPts val="0"/>
              </a:spcAft>
              <a:buClr>
                <a:schemeClr val="dk1"/>
              </a:buClr>
              <a:buSzPts val="3200"/>
              <a:buChar char="•"/>
            </a:pPr>
            <a:r>
              <a:rPr lang="en-GB"/>
              <a:t>Requirements Engineering Process</a:t>
            </a:r>
            <a:endParaRPr/>
          </a:p>
          <a:p>
            <a:pPr marL="742950" lvl="1" indent="-285750" algn="l" rtl="0">
              <a:lnSpc>
                <a:spcPct val="100000"/>
              </a:lnSpc>
              <a:spcBef>
                <a:spcPts val="560"/>
              </a:spcBef>
              <a:spcAft>
                <a:spcPts val="0"/>
              </a:spcAft>
              <a:buClr>
                <a:schemeClr val="dk1"/>
              </a:buClr>
              <a:buSzPts val="2800"/>
              <a:buChar char="–"/>
            </a:pPr>
            <a:r>
              <a:rPr lang="en-GB"/>
              <a:t>Requirements Elicitation</a:t>
            </a:r>
            <a:endParaRPr/>
          </a:p>
          <a:p>
            <a:pPr marL="742950" lvl="1" indent="-285750" algn="l" rtl="0">
              <a:lnSpc>
                <a:spcPct val="100000"/>
              </a:lnSpc>
              <a:spcBef>
                <a:spcPts val="560"/>
              </a:spcBef>
              <a:spcAft>
                <a:spcPts val="0"/>
              </a:spcAft>
              <a:buClr>
                <a:schemeClr val="dk1"/>
              </a:buClr>
              <a:buSzPts val="2800"/>
              <a:buChar char="–"/>
            </a:pPr>
            <a:r>
              <a:rPr lang="en-GB"/>
              <a:t>Requirements Specification</a:t>
            </a:r>
            <a:endParaRPr/>
          </a:p>
          <a:p>
            <a:pPr marL="742950" lvl="1" indent="-285750" algn="l" rtl="0">
              <a:lnSpc>
                <a:spcPct val="100000"/>
              </a:lnSpc>
              <a:spcBef>
                <a:spcPts val="560"/>
              </a:spcBef>
              <a:spcAft>
                <a:spcPts val="0"/>
              </a:spcAft>
              <a:buClr>
                <a:schemeClr val="dk1"/>
              </a:buClr>
              <a:buSzPts val="2800"/>
              <a:buChar char="–"/>
            </a:pPr>
            <a:r>
              <a:rPr lang="en-GB"/>
              <a:t>Requirement Validation</a:t>
            </a:r>
            <a:endParaRPr/>
          </a:p>
          <a:p>
            <a:pPr marL="742950" lvl="1" indent="-285750" algn="l" rtl="0">
              <a:lnSpc>
                <a:spcPct val="100000"/>
              </a:lnSpc>
              <a:spcBef>
                <a:spcPts val="560"/>
              </a:spcBef>
              <a:spcAft>
                <a:spcPts val="0"/>
              </a:spcAft>
              <a:buClr>
                <a:schemeClr val="dk1"/>
              </a:buClr>
              <a:buSzPts val="2800"/>
              <a:buChar char="–"/>
            </a:pPr>
            <a:r>
              <a:rPr lang="en-GB"/>
              <a:t>Requirement Change</a:t>
            </a:r>
            <a:endParaRPr/>
          </a:p>
          <a:p>
            <a:pPr marL="742950" lvl="1" indent="-82550" algn="l" rtl="0">
              <a:lnSpc>
                <a:spcPct val="100000"/>
              </a:lnSpc>
              <a:spcBef>
                <a:spcPts val="640"/>
              </a:spcBef>
              <a:spcAft>
                <a:spcPts val="0"/>
              </a:spcAft>
              <a:buClr>
                <a:schemeClr val="dk1"/>
              </a:buClr>
              <a:buSzPts val="3200"/>
              <a:buNone/>
            </a:pPr>
            <a:endParaRPr sz="3200"/>
          </a:p>
          <a:p>
            <a:pPr marL="742950" lvl="1" indent="-82550" algn="l" rtl="0">
              <a:lnSpc>
                <a:spcPct val="100000"/>
              </a:lnSpc>
              <a:spcBef>
                <a:spcPts val="640"/>
              </a:spcBef>
              <a:spcAft>
                <a:spcPts val="0"/>
              </a:spcAft>
              <a:buClr>
                <a:schemeClr val="dk1"/>
              </a:buClr>
              <a:buSzPts val="3200"/>
              <a:buNone/>
            </a:pPr>
            <a:endParaRPr sz="3200"/>
          </a:p>
        </p:txBody>
      </p:sp>
      <p:sp>
        <p:nvSpPr>
          <p:cNvPr id="111" name="Google Shape;111;p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12" name="Google Shape;112;p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13" name="Google Shape;113;p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a:t>
            </a:fld>
            <a:endParaRPr/>
          </a:p>
        </p:txBody>
      </p:sp>
      <p:sp>
        <p:nvSpPr>
          <p:cNvPr id="114" name="Google Shape;114;p2"/>
          <p:cNvSpPr txBox="1"/>
          <p:nvPr/>
        </p:nvSpPr>
        <p:spPr>
          <a:xfrm>
            <a:off x="609600" y="5715948"/>
            <a:ext cx="839288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00000"/>
                </a:solidFill>
                <a:latin typeface="Calibri"/>
                <a:ea typeface="Calibri"/>
                <a:cs typeface="Calibri"/>
                <a:sym typeface="Calibri"/>
              </a:rPr>
              <a:t>Note: The overall contents of the slide are based on the main reference that is Sommerville (2016) with other references specified directly in respective slides (if any)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Objectives </a:t>
            </a:r>
            <a:endParaRPr/>
          </a:p>
        </p:txBody>
      </p:sp>
      <p:sp>
        <p:nvSpPr>
          <p:cNvPr id="120" name="Google Shape;120;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0" lvl="0" indent="0" algn="just" rtl="0">
              <a:lnSpc>
                <a:spcPct val="100000"/>
              </a:lnSpc>
              <a:spcBef>
                <a:spcPts val="0"/>
              </a:spcBef>
              <a:spcAft>
                <a:spcPts val="0"/>
              </a:spcAft>
              <a:buClr>
                <a:schemeClr val="dk1"/>
              </a:buClr>
              <a:buSzPct val="100000"/>
              <a:buNone/>
            </a:pPr>
            <a:r>
              <a:rPr lang="en-GB" sz="2800"/>
              <a:t>The objectives of this module are:</a:t>
            </a:r>
            <a:endParaRPr/>
          </a:p>
          <a:p>
            <a:pPr marL="342900" lvl="0" indent="-342900" algn="just" rtl="0">
              <a:lnSpc>
                <a:spcPct val="100000"/>
              </a:lnSpc>
              <a:spcBef>
                <a:spcPts val="518"/>
              </a:spcBef>
              <a:spcAft>
                <a:spcPts val="0"/>
              </a:spcAft>
              <a:buClr>
                <a:schemeClr val="dk1"/>
              </a:buClr>
              <a:buSzPct val="100000"/>
              <a:buChar char="•"/>
            </a:pPr>
            <a:r>
              <a:rPr lang="en-GB" sz="2800"/>
              <a:t>To differentiate users and system requirements</a:t>
            </a:r>
            <a:endParaRPr/>
          </a:p>
          <a:p>
            <a:pPr marL="342900" lvl="0" indent="-342900" algn="just" rtl="0">
              <a:lnSpc>
                <a:spcPct val="100000"/>
              </a:lnSpc>
              <a:spcBef>
                <a:spcPts val="518"/>
              </a:spcBef>
              <a:spcAft>
                <a:spcPts val="0"/>
              </a:spcAft>
              <a:buClr>
                <a:schemeClr val="dk1"/>
              </a:buClr>
              <a:buSzPct val="100000"/>
              <a:buChar char="•"/>
            </a:pPr>
            <a:r>
              <a:rPr lang="en-GB" sz="2800"/>
              <a:t>To understand functional requirements (FR) and non-functional requirements (NFR)</a:t>
            </a:r>
            <a:endParaRPr/>
          </a:p>
          <a:p>
            <a:pPr marL="342900" lvl="0" indent="-342900" algn="just" rtl="0">
              <a:lnSpc>
                <a:spcPct val="100000"/>
              </a:lnSpc>
              <a:spcBef>
                <a:spcPts val="518"/>
              </a:spcBef>
              <a:spcAft>
                <a:spcPts val="0"/>
              </a:spcAft>
              <a:buClr>
                <a:schemeClr val="dk1"/>
              </a:buClr>
              <a:buSzPct val="100000"/>
              <a:buChar char="•"/>
            </a:pPr>
            <a:r>
              <a:rPr lang="en-GB" sz="2800"/>
              <a:t>To understand the main requirements engineering activities that are elicitation, analysis and validation</a:t>
            </a:r>
            <a:endParaRPr/>
          </a:p>
          <a:p>
            <a:pPr marL="342900" lvl="0" indent="-342900" algn="just" rtl="0">
              <a:lnSpc>
                <a:spcPct val="100000"/>
              </a:lnSpc>
              <a:spcBef>
                <a:spcPts val="518"/>
              </a:spcBef>
              <a:spcAft>
                <a:spcPts val="0"/>
              </a:spcAft>
              <a:buClr>
                <a:schemeClr val="dk1"/>
              </a:buClr>
              <a:buSzPct val="100000"/>
              <a:buChar char="•"/>
            </a:pPr>
            <a:r>
              <a:rPr lang="en-GB" sz="2800"/>
              <a:t>To know diverse techniques to write requirements specification</a:t>
            </a:r>
            <a:endParaRPr/>
          </a:p>
          <a:p>
            <a:pPr marL="342900" lvl="0" indent="-342900" algn="just" rtl="0">
              <a:lnSpc>
                <a:spcPct val="100000"/>
              </a:lnSpc>
              <a:spcBef>
                <a:spcPts val="518"/>
              </a:spcBef>
              <a:spcAft>
                <a:spcPts val="0"/>
              </a:spcAft>
              <a:buClr>
                <a:schemeClr val="dk1"/>
              </a:buClr>
              <a:buSzPct val="100000"/>
              <a:buChar char="•"/>
            </a:pPr>
            <a:r>
              <a:rPr lang="en-GB" sz="2800"/>
              <a:t>To understand the important of requirements management and how it supports requirement change.</a:t>
            </a:r>
            <a:endParaRPr/>
          </a:p>
          <a:p>
            <a:pPr marL="0" lvl="0" indent="0" algn="just" rtl="0">
              <a:lnSpc>
                <a:spcPct val="100000"/>
              </a:lnSpc>
              <a:spcBef>
                <a:spcPts val="518"/>
              </a:spcBef>
              <a:spcAft>
                <a:spcPts val="0"/>
              </a:spcAft>
              <a:buClr>
                <a:schemeClr val="dk1"/>
              </a:buClr>
              <a:buSzPct val="100000"/>
              <a:buNone/>
            </a:pPr>
            <a:endParaRPr sz="2800"/>
          </a:p>
          <a:p>
            <a:pPr marL="342900" lvl="0" indent="-178435" algn="just" rtl="0">
              <a:lnSpc>
                <a:spcPct val="100000"/>
              </a:lnSpc>
              <a:spcBef>
                <a:spcPts val="518"/>
              </a:spcBef>
              <a:spcAft>
                <a:spcPts val="0"/>
              </a:spcAft>
              <a:buClr>
                <a:schemeClr val="dk1"/>
              </a:buClr>
              <a:buSzPct val="100000"/>
              <a:buNone/>
            </a:pPr>
            <a:endParaRPr sz="2800"/>
          </a:p>
          <a:p>
            <a:pPr marL="342900" lvl="0" indent="-342900" algn="just" rtl="0">
              <a:lnSpc>
                <a:spcPct val="100000"/>
              </a:lnSpc>
              <a:spcBef>
                <a:spcPts val="518"/>
              </a:spcBef>
              <a:spcAft>
                <a:spcPts val="0"/>
              </a:spcAft>
              <a:buClr>
                <a:schemeClr val="dk1"/>
              </a:buClr>
              <a:buSzPct val="100000"/>
              <a:buNone/>
            </a:pPr>
            <a:endParaRPr sz="2800"/>
          </a:p>
          <a:p>
            <a:pPr marL="0" lvl="0" indent="0" algn="just" rtl="0">
              <a:lnSpc>
                <a:spcPct val="100000"/>
              </a:lnSpc>
              <a:spcBef>
                <a:spcPts val="518"/>
              </a:spcBef>
              <a:spcAft>
                <a:spcPts val="0"/>
              </a:spcAft>
              <a:buClr>
                <a:schemeClr val="dk1"/>
              </a:buClr>
              <a:buSzPct val="100000"/>
              <a:buNone/>
            </a:pPr>
            <a:endParaRPr sz="2800"/>
          </a:p>
        </p:txBody>
      </p:sp>
      <p:sp>
        <p:nvSpPr>
          <p:cNvPr id="121" name="Google Shape;121;p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22" name="Google Shape;122;p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23" name="Google Shape;123;p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Recap: Requirements Engineering Process in Software Process Model</a:t>
            </a:r>
            <a:endParaRPr/>
          </a:p>
        </p:txBody>
      </p:sp>
      <p:sp>
        <p:nvSpPr>
          <p:cNvPr id="129" name="Google Shape;129;p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30" name="Google Shape;130;p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31" name="Google Shape;131;p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a:t>
            </a:fld>
            <a:endParaRPr/>
          </a:p>
        </p:txBody>
      </p:sp>
      <p:pic>
        <p:nvPicPr>
          <p:cNvPr id="132" name="Google Shape;132;p4" descr="2.4 RE-process.eps"/>
          <p:cNvPicPr preferRelativeResize="0"/>
          <p:nvPr/>
        </p:nvPicPr>
        <p:blipFill rotWithShape="1">
          <a:blip r:embed="rId3">
            <a:alphaModFix/>
          </a:blip>
          <a:srcRect/>
          <a:stretch/>
        </p:blipFill>
        <p:spPr>
          <a:xfrm>
            <a:off x="1215762" y="1720552"/>
            <a:ext cx="6339334" cy="46040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Requirements in Different Perspectives</a:t>
            </a:r>
            <a:endParaRPr/>
          </a:p>
        </p:txBody>
      </p:sp>
      <p:sp>
        <p:nvSpPr>
          <p:cNvPr id="139" name="Google Shape;139;p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40" name="Google Shape;140;p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41" name="Google Shape;141;p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a:t>
            </a:fld>
            <a:endParaRPr/>
          </a:p>
        </p:txBody>
      </p:sp>
      <p:pic>
        <p:nvPicPr>
          <p:cNvPr id="142" name="Google Shape;142;p5" descr="http://2.bp.blogspot.com/_-2UfGbo6kWA/SGkM6p0Y_yI/AAAAAAAAABg/_dUX0SmzxQc/s1600/software-engineering-explained.png"/>
          <p:cNvPicPr preferRelativeResize="0">
            <a:picLocks noGrp="1"/>
          </p:cNvPicPr>
          <p:nvPr>
            <p:ph type="body" idx="1"/>
          </p:nvPr>
        </p:nvPicPr>
        <p:blipFill rotWithShape="1">
          <a:blip r:embed="rId3">
            <a:alphaModFix/>
          </a:blip>
          <a:srcRect/>
          <a:stretch/>
        </p:blipFill>
        <p:spPr>
          <a:xfrm>
            <a:off x="1340663" y="1483220"/>
            <a:ext cx="6584138" cy="49381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Engineering</a:t>
            </a:r>
            <a:endParaRPr/>
          </a:p>
        </p:txBody>
      </p:sp>
      <p:sp>
        <p:nvSpPr>
          <p:cNvPr id="148" name="Google Shape;148;p6"/>
          <p:cNvSpPr txBox="1">
            <a:spLocks noGrp="1"/>
          </p:cNvSpPr>
          <p:nvPr>
            <p:ph type="body" idx="1"/>
          </p:nvPr>
        </p:nvSpPr>
        <p:spPr>
          <a:xfrm>
            <a:off x="381000" y="1905001"/>
            <a:ext cx="8229600" cy="3886200"/>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00000"/>
              </a:lnSpc>
              <a:spcBef>
                <a:spcPts val="0"/>
              </a:spcBef>
              <a:spcAft>
                <a:spcPts val="0"/>
              </a:spcAft>
              <a:buClr>
                <a:schemeClr val="dk1"/>
              </a:buClr>
              <a:buSzPts val="3200"/>
              <a:buFont typeface="Arial"/>
              <a:buChar char="•"/>
            </a:pPr>
            <a:r>
              <a:rPr lang="en-GB"/>
              <a:t>The </a:t>
            </a:r>
            <a:r>
              <a:rPr lang="en-GB" b="1">
                <a:solidFill>
                  <a:srgbClr val="C00000"/>
                </a:solidFill>
              </a:rPr>
              <a:t>process</a:t>
            </a:r>
            <a:r>
              <a:rPr lang="en-GB"/>
              <a:t> of establishing the </a:t>
            </a:r>
            <a:r>
              <a:rPr lang="en-GB" b="1">
                <a:solidFill>
                  <a:srgbClr val="C00000"/>
                </a:solidFill>
              </a:rPr>
              <a:t>services</a:t>
            </a:r>
            <a:r>
              <a:rPr lang="en-GB"/>
              <a:t> that the customer requires from a system and the </a:t>
            </a:r>
            <a:r>
              <a:rPr lang="en-GB" b="1">
                <a:solidFill>
                  <a:srgbClr val="C00000"/>
                </a:solidFill>
              </a:rPr>
              <a:t>constraints</a:t>
            </a:r>
            <a:r>
              <a:rPr lang="en-GB"/>
              <a:t> under which it operates and is developed.</a:t>
            </a:r>
            <a:endParaRPr/>
          </a:p>
          <a:p>
            <a:pPr marL="342900" lvl="0" indent="-342900" algn="just" rtl="0">
              <a:lnSpc>
                <a:spcPct val="100000"/>
              </a:lnSpc>
              <a:spcBef>
                <a:spcPts val="640"/>
              </a:spcBef>
              <a:spcAft>
                <a:spcPts val="0"/>
              </a:spcAft>
              <a:buClr>
                <a:schemeClr val="dk1"/>
              </a:buClr>
              <a:buSzPts val="3200"/>
              <a:buFont typeface="Arial"/>
              <a:buChar char="•"/>
            </a:pPr>
            <a:r>
              <a:rPr lang="en-GB"/>
              <a:t>The </a:t>
            </a:r>
            <a:r>
              <a:rPr lang="en-GB" b="1">
                <a:solidFill>
                  <a:srgbClr val="C00000"/>
                </a:solidFill>
              </a:rPr>
              <a:t>system requirements</a:t>
            </a:r>
            <a:r>
              <a:rPr lang="en-GB"/>
              <a:t> are the </a:t>
            </a:r>
            <a:r>
              <a:rPr lang="en-GB" b="1">
                <a:solidFill>
                  <a:srgbClr val="C00000"/>
                </a:solidFill>
              </a:rPr>
              <a:t>descriptions</a:t>
            </a:r>
            <a:r>
              <a:rPr lang="en-GB"/>
              <a:t> of the </a:t>
            </a:r>
            <a:r>
              <a:rPr lang="en-GB" b="1">
                <a:solidFill>
                  <a:srgbClr val="C00000"/>
                </a:solidFill>
              </a:rPr>
              <a:t>system services and constraints</a:t>
            </a:r>
            <a:r>
              <a:rPr lang="en-GB"/>
              <a:t> that are generated during the requirements engineering process.</a:t>
            </a:r>
            <a:endParaRPr/>
          </a:p>
        </p:txBody>
      </p:sp>
      <p:sp>
        <p:nvSpPr>
          <p:cNvPr id="149" name="Google Shape;149;p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50" name="Google Shape;150;p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51" name="Google Shape;151;p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What is a Requirement?</a:t>
            </a:r>
            <a:endParaRPr/>
          </a:p>
        </p:txBody>
      </p:sp>
      <p:sp>
        <p:nvSpPr>
          <p:cNvPr id="157" name="Google Shape;157;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just" rtl="0">
              <a:lnSpc>
                <a:spcPct val="90000"/>
              </a:lnSpc>
              <a:spcBef>
                <a:spcPts val="0"/>
              </a:spcBef>
              <a:spcAft>
                <a:spcPts val="0"/>
              </a:spcAft>
              <a:buClr>
                <a:schemeClr val="dk1"/>
              </a:buClr>
              <a:buSzPct val="100000"/>
              <a:buFont typeface="Arial"/>
              <a:buChar char="•"/>
            </a:pPr>
            <a:r>
              <a:rPr lang="en-GB"/>
              <a:t>It may range from a high-level abstract statement of a </a:t>
            </a:r>
            <a:r>
              <a:rPr lang="en-GB" b="1">
                <a:solidFill>
                  <a:srgbClr val="C00000"/>
                </a:solidFill>
              </a:rPr>
              <a:t>service</a:t>
            </a:r>
            <a:r>
              <a:rPr lang="en-GB"/>
              <a:t> or of a system </a:t>
            </a:r>
            <a:r>
              <a:rPr lang="en-GB" b="1">
                <a:solidFill>
                  <a:srgbClr val="C00000"/>
                </a:solidFill>
              </a:rPr>
              <a:t>constraint</a:t>
            </a:r>
            <a:r>
              <a:rPr lang="en-GB"/>
              <a:t> to a detailed mathematical functional specification</a:t>
            </a:r>
            <a:endParaRPr/>
          </a:p>
          <a:p>
            <a:pPr marL="342900" lvl="0" indent="-342900" algn="just" rtl="0">
              <a:lnSpc>
                <a:spcPct val="90000"/>
              </a:lnSpc>
              <a:spcBef>
                <a:spcPts val="592"/>
              </a:spcBef>
              <a:spcAft>
                <a:spcPts val="0"/>
              </a:spcAft>
              <a:buClr>
                <a:schemeClr val="dk1"/>
              </a:buClr>
              <a:buSzPct val="100000"/>
              <a:buFont typeface="Arial"/>
              <a:buChar char="•"/>
            </a:pPr>
            <a:r>
              <a:rPr lang="en-GB"/>
              <a:t>This is inevitable as requirements may serve a dual function:</a:t>
            </a:r>
            <a:endParaRPr/>
          </a:p>
          <a:p>
            <a:pPr marL="742950" lvl="1" indent="-285750" algn="just" rtl="0">
              <a:lnSpc>
                <a:spcPct val="90000"/>
              </a:lnSpc>
              <a:spcBef>
                <a:spcPts val="518"/>
              </a:spcBef>
              <a:spcAft>
                <a:spcPts val="0"/>
              </a:spcAft>
              <a:buClr>
                <a:schemeClr val="dk1"/>
              </a:buClr>
              <a:buSzPct val="100000"/>
              <a:buFont typeface="Arial"/>
              <a:buChar char="–"/>
            </a:pPr>
            <a:r>
              <a:rPr lang="en-GB"/>
              <a:t>May be the basis for a </a:t>
            </a:r>
            <a:r>
              <a:rPr lang="en-GB" b="1">
                <a:solidFill>
                  <a:srgbClr val="C00000"/>
                </a:solidFill>
              </a:rPr>
              <a:t>bid</a:t>
            </a:r>
            <a:r>
              <a:rPr lang="en-GB"/>
              <a:t> for a contract - therefore must be open to interpretation</a:t>
            </a:r>
            <a:endParaRPr/>
          </a:p>
          <a:p>
            <a:pPr marL="742950" lvl="1" indent="-285750" algn="just" rtl="0">
              <a:lnSpc>
                <a:spcPct val="90000"/>
              </a:lnSpc>
              <a:spcBef>
                <a:spcPts val="518"/>
              </a:spcBef>
              <a:spcAft>
                <a:spcPts val="0"/>
              </a:spcAft>
              <a:buClr>
                <a:schemeClr val="dk1"/>
              </a:buClr>
              <a:buSzPct val="100000"/>
              <a:buFont typeface="Arial"/>
              <a:buChar char="–"/>
            </a:pPr>
            <a:r>
              <a:rPr lang="en-GB"/>
              <a:t>May be the basis for the </a:t>
            </a:r>
            <a:r>
              <a:rPr lang="en-GB" b="1">
                <a:solidFill>
                  <a:srgbClr val="C00000"/>
                </a:solidFill>
              </a:rPr>
              <a:t>contract</a:t>
            </a:r>
            <a:r>
              <a:rPr lang="en-GB"/>
              <a:t> itself - therefore must be defined in detail</a:t>
            </a:r>
            <a:endParaRPr/>
          </a:p>
          <a:p>
            <a:pPr marL="742950" lvl="1" indent="-285750" algn="just" rtl="0">
              <a:lnSpc>
                <a:spcPct val="90000"/>
              </a:lnSpc>
              <a:spcBef>
                <a:spcPts val="518"/>
              </a:spcBef>
              <a:spcAft>
                <a:spcPts val="0"/>
              </a:spcAft>
              <a:buClr>
                <a:schemeClr val="dk1"/>
              </a:buClr>
              <a:buSzPct val="100000"/>
              <a:buFont typeface="Arial"/>
              <a:buChar char="–"/>
            </a:pPr>
            <a:r>
              <a:rPr lang="en-GB"/>
              <a:t>Both these statements may be called requirements</a:t>
            </a:r>
            <a:endParaRPr/>
          </a:p>
          <a:p>
            <a:pPr marL="0" lvl="0" indent="0" algn="just" rtl="0">
              <a:lnSpc>
                <a:spcPct val="100000"/>
              </a:lnSpc>
              <a:spcBef>
                <a:spcPts val="592"/>
              </a:spcBef>
              <a:spcAft>
                <a:spcPts val="0"/>
              </a:spcAft>
              <a:buClr>
                <a:schemeClr val="dk1"/>
              </a:buClr>
              <a:buSzPct val="100000"/>
              <a:buNone/>
            </a:pPr>
            <a:endParaRPr/>
          </a:p>
        </p:txBody>
      </p:sp>
      <p:sp>
        <p:nvSpPr>
          <p:cNvPr id="158" name="Google Shape;158;p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59" name="Google Shape;159;p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60" name="Google Shape;160;p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GB"/>
              <a:t>TYPE OF REQUIREMENTS</a:t>
            </a:r>
            <a:endParaRPr/>
          </a:p>
        </p:txBody>
      </p:sp>
      <p:sp>
        <p:nvSpPr>
          <p:cNvPr id="166" name="Google Shape;166;p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67" name="Google Shape;167;p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68" name="Google Shape;168;p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a:t>
            </a:fld>
            <a:endParaRPr/>
          </a:p>
        </p:txBody>
      </p:sp>
      <p:sp>
        <p:nvSpPr>
          <p:cNvPr id="169" name="Google Shape;169;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888888"/>
              </a:buClr>
              <a:buSzPts val="20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Types of Requirement</a:t>
            </a:r>
            <a:endParaRPr/>
          </a:p>
        </p:txBody>
      </p:sp>
      <p:sp>
        <p:nvSpPr>
          <p:cNvPr id="175" name="Google Shape;175;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3000"/>
              <a:buChar char="•"/>
            </a:pPr>
            <a:r>
              <a:rPr lang="en-GB" sz="3000" b="1"/>
              <a:t>User requirements</a:t>
            </a:r>
            <a:endParaRPr/>
          </a:p>
          <a:p>
            <a:pPr marL="742950" lvl="1" indent="-285750" algn="just" rtl="0">
              <a:lnSpc>
                <a:spcPct val="80000"/>
              </a:lnSpc>
              <a:spcBef>
                <a:spcPts val="520"/>
              </a:spcBef>
              <a:spcAft>
                <a:spcPts val="0"/>
              </a:spcAft>
              <a:buClr>
                <a:schemeClr val="dk1"/>
              </a:buClr>
              <a:buSzPts val="2600"/>
              <a:buChar char="–"/>
            </a:pPr>
            <a:r>
              <a:rPr lang="en-GB" sz="2600"/>
              <a:t>Statements in </a:t>
            </a:r>
            <a:r>
              <a:rPr lang="en-GB" sz="2600" b="1">
                <a:solidFill>
                  <a:srgbClr val="C00000"/>
                </a:solidFill>
              </a:rPr>
              <a:t>natural language plus diagrams </a:t>
            </a:r>
            <a:r>
              <a:rPr lang="en-GB" sz="2600"/>
              <a:t>of the services the system provides and its operational constraints</a:t>
            </a:r>
            <a:endParaRPr/>
          </a:p>
          <a:p>
            <a:pPr marL="742950" lvl="1" indent="-285750" algn="just" rtl="0">
              <a:lnSpc>
                <a:spcPct val="80000"/>
              </a:lnSpc>
              <a:spcBef>
                <a:spcPts val="520"/>
              </a:spcBef>
              <a:spcAft>
                <a:spcPts val="0"/>
              </a:spcAft>
              <a:buClr>
                <a:schemeClr val="dk1"/>
              </a:buClr>
              <a:buSzPts val="2600"/>
              <a:buChar char="–"/>
            </a:pPr>
            <a:r>
              <a:rPr lang="en-GB" sz="2600"/>
              <a:t>Written for </a:t>
            </a:r>
            <a:r>
              <a:rPr lang="en-GB" sz="2600" b="1">
                <a:solidFill>
                  <a:srgbClr val="C00000"/>
                </a:solidFill>
              </a:rPr>
              <a:t>customers</a:t>
            </a:r>
            <a:endParaRPr/>
          </a:p>
          <a:p>
            <a:pPr marL="457200" lvl="1" indent="0" algn="just" rtl="0">
              <a:lnSpc>
                <a:spcPct val="80000"/>
              </a:lnSpc>
              <a:spcBef>
                <a:spcPts val="520"/>
              </a:spcBef>
              <a:spcAft>
                <a:spcPts val="0"/>
              </a:spcAft>
              <a:buClr>
                <a:schemeClr val="dk1"/>
              </a:buClr>
              <a:buSzPts val="2600"/>
              <a:buNone/>
            </a:pPr>
            <a:endParaRPr sz="2600"/>
          </a:p>
          <a:p>
            <a:pPr marL="342900" lvl="0" indent="-342900" algn="just" rtl="0">
              <a:lnSpc>
                <a:spcPct val="80000"/>
              </a:lnSpc>
              <a:spcBef>
                <a:spcPts val="600"/>
              </a:spcBef>
              <a:spcAft>
                <a:spcPts val="0"/>
              </a:spcAft>
              <a:buClr>
                <a:schemeClr val="dk1"/>
              </a:buClr>
              <a:buSzPts val="3000"/>
              <a:buChar char="•"/>
            </a:pPr>
            <a:r>
              <a:rPr lang="en-GB" sz="3000" b="1"/>
              <a:t>System requirements</a:t>
            </a:r>
            <a:endParaRPr/>
          </a:p>
          <a:p>
            <a:pPr marL="742950" lvl="1" indent="-285750" algn="just" rtl="0">
              <a:lnSpc>
                <a:spcPct val="80000"/>
              </a:lnSpc>
              <a:spcBef>
                <a:spcPts val="520"/>
              </a:spcBef>
              <a:spcAft>
                <a:spcPts val="0"/>
              </a:spcAft>
              <a:buClr>
                <a:schemeClr val="dk1"/>
              </a:buClr>
              <a:buSzPts val="2600"/>
              <a:buChar char="–"/>
            </a:pPr>
            <a:r>
              <a:rPr lang="en-GB" sz="2600"/>
              <a:t>A </a:t>
            </a:r>
            <a:r>
              <a:rPr lang="en-GB" sz="2600" b="1">
                <a:solidFill>
                  <a:srgbClr val="C00000"/>
                </a:solidFill>
              </a:rPr>
              <a:t>structured document </a:t>
            </a:r>
            <a:r>
              <a:rPr lang="en-GB" sz="2600"/>
              <a:t>setting out detailed descriptions of the system’s functions, services and operational constraints</a:t>
            </a:r>
            <a:endParaRPr/>
          </a:p>
          <a:p>
            <a:pPr marL="742950" lvl="1" indent="-285750" algn="just" rtl="0">
              <a:lnSpc>
                <a:spcPct val="80000"/>
              </a:lnSpc>
              <a:spcBef>
                <a:spcPts val="520"/>
              </a:spcBef>
              <a:spcAft>
                <a:spcPts val="0"/>
              </a:spcAft>
              <a:buClr>
                <a:schemeClr val="dk1"/>
              </a:buClr>
              <a:buSzPts val="2600"/>
              <a:buChar char="–"/>
            </a:pPr>
            <a:r>
              <a:rPr lang="en-GB" sz="2600"/>
              <a:t>Defines what should be implemented so may be part of a contract between </a:t>
            </a:r>
            <a:r>
              <a:rPr lang="en-GB" sz="2600" b="1">
                <a:solidFill>
                  <a:srgbClr val="C00000"/>
                </a:solidFill>
              </a:rPr>
              <a:t>client and contractor</a:t>
            </a:r>
            <a:endParaRPr/>
          </a:p>
          <a:p>
            <a:pPr marL="0" lvl="0" indent="0" algn="just" rtl="0">
              <a:lnSpc>
                <a:spcPct val="100000"/>
              </a:lnSpc>
              <a:spcBef>
                <a:spcPts val="640"/>
              </a:spcBef>
              <a:spcAft>
                <a:spcPts val="0"/>
              </a:spcAft>
              <a:buClr>
                <a:schemeClr val="dk1"/>
              </a:buClr>
              <a:buSzPts val="3200"/>
              <a:buNone/>
            </a:pPr>
            <a:endParaRPr/>
          </a:p>
        </p:txBody>
      </p:sp>
      <p:sp>
        <p:nvSpPr>
          <p:cNvPr id="176" name="Google Shape;176;p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77" name="Google Shape;177;p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78" name="Google Shape;178;p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User and System Requirements </a:t>
            </a:r>
            <a:endParaRPr/>
          </a:p>
        </p:txBody>
      </p:sp>
      <p:pic>
        <p:nvPicPr>
          <p:cNvPr id="184" name="Google Shape;184;p10" descr="4.1 UserSysReqs.eps"/>
          <p:cNvPicPr preferRelativeResize="0"/>
          <p:nvPr/>
        </p:nvPicPr>
        <p:blipFill rotWithShape="1">
          <a:blip r:embed="rId3">
            <a:alphaModFix/>
          </a:blip>
          <a:srcRect/>
          <a:stretch/>
        </p:blipFill>
        <p:spPr>
          <a:xfrm>
            <a:off x="457200" y="1600200"/>
            <a:ext cx="8229601" cy="4876800"/>
          </a:xfrm>
          <a:prstGeom prst="rect">
            <a:avLst/>
          </a:prstGeom>
          <a:noFill/>
          <a:ln>
            <a:noFill/>
          </a:ln>
        </p:spPr>
      </p:pic>
      <p:sp>
        <p:nvSpPr>
          <p:cNvPr id="185" name="Google Shape;185;p1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GB"/>
              <a:t>2021</a:t>
            </a:r>
            <a:endParaRPr/>
          </a:p>
        </p:txBody>
      </p:sp>
      <p:sp>
        <p:nvSpPr>
          <p:cNvPr id="186" name="Google Shape;186;p1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87" name="Google Shape;187;p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200"/>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Readers of Different Types of Requirements Specification </a:t>
            </a:r>
            <a:endParaRPr/>
          </a:p>
        </p:txBody>
      </p:sp>
      <p:sp>
        <p:nvSpPr>
          <p:cNvPr id="193" name="Google Shape;193;p1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194" name="Google Shape;194;p1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195" name="Google Shape;195;p1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11</a:t>
            </a:fld>
            <a:endParaRPr/>
          </a:p>
        </p:txBody>
      </p:sp>
      <p:pic>
        <p:nvPicPr>
          <p:cNvPr id="196" name="Google Shape;196;p11"/>
          <p:cNvPicPr preferRelativeResize="0">
            <a:picLocks noGrp="1"/>
          </p:cNvPicPr>
          <p:nvPr>
            <p:ph type="body" idx="1"/>
          </p:nvPr>
        </p:nvPicPr>
        <p:blipFill rotWithShape="1">
          <a:blip r:embed="rId3">
            <a:alphaModFix/>
          </a:blip>
          <a:srcRect/>
          <a:stretch/>
        </p:blipFill>
        <p:spPr>
          <a:xfrm>
            <a:off x="457200" y="1676400"/>
            <a:ext cx="8229600" cy="4267199"/>
          </a:xfrm>
          <a:prstGeom prst="rect">
            <a:avLst/>
          </a:prstGeom>
          <a:noFill/>
          <a:ln>
            <a:noFill/>
          </a:ln>
        </p:spPr>
      </p:pic>
      <p:sp>
        <p:nvSpPr>
          <p:cNvPr id="197" name="Google Shape;197;p11"/>
          <p:cNvSpPr/>
          <p:nvPr/>
        </p:nvSpPr>
        <p:spPr>
          <a:xfrm>
            <a:off x="7834080" y="1861458"/>
            <a:ext cx="1005120" cy="609600"/>
          </a:xfrm>
          <a:prstGeom prst="lef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98" name="Google Shape;198;p11"/>
          <p:cNvPicPr preferRelativeResize="0"/>
          <p:nvPr/>
        </p:nvPicPr>
        <p:blipFill rotWithShape="1">
          <a:blip r:embed="rId4">
            <a:alphaModFix/>
          </a:blip>
          <a:srcRect/>
          <a:stretch/>
        </p:blipFill>
        <p:spPr>
          <a:xfrm>
            <a:off x="7827150" y="2818747"/>
            <a:ext cx="1021763" cy="634039"/>
          </a:xfrm>
          <a:prstGeom prst="rect">
            <a:avLst/>
          </a:prstGeom>
          <a:noFill/>
          <a:ln>
            <a:noFill/>
          </a:ln>
        </p:spPr>
      </p:pic>
      <p:pic>
        <p:nvPicPr>
          <p:cNvPr id="199" name="Google Shape;199;p11"/>
          <p:cNvPicPr preferRelativeResize="0"/>
          <p:nvPr/>
        </p:nvPicPr>
        <p:blipFill rotWithShape="1">
          <a:blip r:embed="rId5">
            <a:alphaModFix/>
          </a:blip>
          <a:srcRect/>
          <a:stretch/>
        </p:blipFill>
        <p:spPr>
          <a:xfrm>
            <a:off x="7827150" y="4967514"/>
            <a:ext cx="1021763" cy="63403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p:tgtEl>
                                          <p:spTgt spid="197"/>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8"/>
                                        </p:tgtEl>
                                        <p:attrNameLst>
                                          <p:attrName>style.visibility</p:attrName>
                                        </p:attrNameLst>
                                      </p:cBhvr>
                                      <p:to>
                                        <p:strVal val="visible"/>
                                      </p:to>
                                    </p:set>
                                    <p:anim calcmode="lin" valueType="num">
                                      <p:cBhvr additive="base">
                                        <p:cTn id="10" dur="500"/>
                                        <p:tgtEl>
                                          <p:spTgt spid="198"/>
                                        </p:tgtEl>
                                        <p:attrNameLst>
                                          <p:attrName>ppt_x</p:attrName>
                                        </p:attrNameLst>
                                      </p:cBhvr>
                                      <p:tavLst>
                                        <p:tav tm="0">
                                          <p:val>
                                            <p:strVal val="#ppt_x+1"/>
                                          </p:val>
                                        </p:tav>
                                        <p:tav tm="100000">
                                          <p:val>
                                            <p:strVal val="#ppt_x"/>
                                          </p:val>
                                        </p:tav>
                                      </p:tavLst>
                                    </p:anim>
                                  </p:childTnLst>
                                </p:cTn>
                              </p:par>
                              <p:par>
                                <p:cTn id="11" presetID="2" presetClass="entr" presetSubtype="2" fill="hold" nodeType="withEffect">
                                  <p:stCondLst>
                                    <p:cond delay="0"/>
                                  </p:stCondLst>
                                  <p:childTnLst>
                                    <p:set>
                                      <p:cBhvr>
                                        <p:cTn id="12" dur="1" fill="hold">
                                          <p:stCondLst>
                                            <p:cond delay="0"/>
                                          </p:stCondLst>
                                        </p:cTn>
                                        <p:tgtEl>
                                          <p:spTgt spid="199"/>
                                        </p:tgtEl>
                                        <p:attrNameLst>
                                          <p:attrName>style.visibility</p:attrName>
                                        </p:attrNameLst>
                                      </p:cBhvr>
                                      <p:to>
                                        <p:strVal val="visible"/>
                                      </p:to>
                                    </p:set>
                                    <p:anim calcmode="lin" valueType="num">
                                      <p:cBhvr additive="base">
                                        <p:cTn id="13" dur="500"/>
                                        <p:tgtEl>
                                          <p:spTgt spid="19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GB"/>
              <a:t>FUNCTIONAL AND NON-FUNCTIONAL REQUIREMENTS</a:t>
            </a:r>
            <a:endParaRPr/>
          </a:p>
        </p:txBody>
      </p:sp>
      <p:sp>
        <p:nvSpPr>
          <p:cNvPr id="205" name="Google Shape;205;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888888"/>
              </a:buClr>
              <a:buSzPts val="2000"/>
              <a:buNone/>
            </a:pPr>
            <a:endParaRPr/>
          </a:p>
        </p:txBody>
      </p:sp>
      <p:sp>
        <p:nvSpPr>
          <p:cNvPr id="206" name="Google Shape;206;p1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07" name="Google Shape;207;p1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08" name="Google Shape;208;p1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Functional and Non-Functional Requirements</a:t>
            </a:r>
            <a:endParaRPr/>
          </a:p>
        </p:txBody>
      </p:sp>
      <p:sp>
        <p:nvSpPr>
          <p:cNvPr id="214" name="Google Shape;214;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400"/>
              <a:buChar char="•"/>
            </a:pPr>
            <a:r>
              <a:rPr lang="en-GB" sz="2400" b="1"/>
              <a:t>Functional requirements (FR)</a:t>
            </a:r>
            <a:endParaRPr sz="2400" b="1"/>
          </a:p>
          <a:p>
            <a:pPr marL="742950" lvl="1" indent="-285750" algn="just" rtl="0">
              <a:lnSpc>
                <a:spcPct val="80000"/>
              </a:lnSpc>
              <a:spcBef>
                <a:spcPts val="480"/>
              </a:spcBef>
              <a:spcAft>
                <a:spcPts val="0"/>
              </a:spcAft>
              <a:buClr>
                <a:srgbClr val="C00000"/>
              </a:buClr>
              <a:buSzPts val="2400"/>
              <a:buChar char="–"/>
            </a:pPr>
            <a:r>
              <a:rPr lang="en-GB" sz="2400" b="1">
                <a:solidFill>
                  <a:srgbClr val="C00000"/>
                </a:solidFill>
              </a:rPr>
              <a:t>Statements of services</a:t>
            </a:r>
            <a:r>
              <a:rPr lang="en-GB" sz="2400"/>
              <a:t> the system should provide, how the system should </a:t>
            </a:r>
            <a:r>
              <a:rPr lang="en-GB" sz="2400" b="1">
                <a:solidFill>
                  <a:srgbClr val="C00000"/>
                </a:solidFill>
              </a:rPr>
              <a:t>react</a:t>
            </a:r>
            <a:r>
              <a:rPr lang="en-GB" sz="2400"/>
              <a:t> to particular inputs and how the system should </a:t>
            </a:r>
            <a:r>
              <a:rPr lang="en-GB" sz="2400" b="1">
                <a:solidFill>
                  <a:srgbClr val="C00000"/>
                </a:solidFill>
              </a:rPr>
              <a:t>behave</a:t>
            </a:r>
            <a:r>
              <a:rPr lang="en-GB" sz="2400"/>
              <a:t> in particular situations</a:t>
            </a:r>
            <a:endParaRPr/>
          </a:p>
          <a:p>
            <a:pPr marL="742950" lvl="1" indent="-285750" algn="just" rtl="0">
              <a:lnSpc>
                <a:spcPct val="80000"/>
              </a:lnSpc>
              <a:spcBef>
                <a:spcPts val="480"/>
              </a:spcBef>
              <a:spcAft>
                <a:spcPts val="0"/>
              </a:spcAft>
              <a:buClr>
                <a:schemeClr val="dk1"/>
              </a:buClr>
              <a:buSzPts val="2400"/>
              <a:buChar char="–"/>
            </a:pPr>
            <a:r>
              <a:rPr lang="en-GB" sz="2400"/>
              <a:t>May state what the system should not do</a:t>
            </a:r>
            <a:endParaRPr/>
          </a:p>
          <a:p>
            <a:pPr marL="342900" lvl="0" indent="-342900" algn="just" rtl="0">
              <a:lnSpc>
                <a:spcPct val="80000"/>
              </a:lnSpc>
              <a:spcBef>
                <a:spcPts val="480"/>
              </a:spcBef>
              <a:spcAft>
                <a:spcPts val="0"/>
              </a:spcAft>
              <a:buClr>
                <a:schemeClr val="dk1"/>
              </a:buClr>
              <a:buSzPts val="2400"/>
              <a:buChar char="•"/>
            </a:pPr>
            <a:r>
              <a:rPr lang="en-GB" sz="2400" b="1"/>
              <a:t>Non-functional requirements (NFR)</a:t>
            </a:r>
            <a:endParaRPr sz="2400" b="1"/>
          </a:p>
          <a:p>
            <a:pPr marL="742950" lvl="1" indent="-285750" algn="just" rtl="0">
              <a:lnSpc>
                <a:spcPct val="80000"/>
              </a:lnSpc>
              <a:spcBef>
                <a:spcPts val="480"/>
              </a:spcBef>
              <a:spcAft>
                <a:spcPts val="0"/>
              </a:spcAft>
              <a:buClr>
                <a:srgbClr val="C00000"/>
              </a:buClr>
              <a:buSzPts val="2400"/>
              <a:buChar char="–"/>
            </a:pPr>
            <a:r>
              <a:rPr lang="en-GB" sz="2400" b="1">
                <a:solidFill>
                  <a:srgbClr val="C00000"/>
                </a:solidFill>
              </a:rPr>
              <a:t>Constraints on the services </a:t>
            </a:r>
            <a:r>
              <a:rPr lang="en-GB" sz="2400"/>
              <a:t>or functions offered by the system such as timing constraints, constraints on the development process, standards, etc.</a:t>
            </a:r>
            <a:endParaRPr/>
          </a:p>
          <a:p>
            <a:pPr marL="742950" lvl="1" indent="-285750" algn="just" rtl="0">
              <a:lnSpc>
                <a:spcPct val="80000"/>
              </a:lnSpc>
              <a:spcBef>
                <a:spcPts val="480"/>
              </a:spcBef>
              <a:spcAft>
                <a:spcPts val="0"/>
              </a:spcAft>
              <a:buClr>
                <a:schemeClr val="dk1"/>
              </a:buClr>
              <a:buSzPts val="2400"/>
              <a:buChar char="–"/>
            </a:pPr>
            <a:r>
              <a:rPr lang="en-GB" sz="2400"/>
              <a:t>Often apply to the system as a whole rather than individual features or services</a:t>
            </a:r>
            <a:endParaRPr/>
          </a:p>
          <a:p>
            <a:pPr marL="342900" lvl="0" indent="-342900" algn="just" rtl="0">
              <a:lnSpc>
                <a:spcPct val="80000"/>
              </a:lnSpc>
              <a:spcBef>
                <a:spcPts val="480"/>
              </a:spcBef>
              <a:spcAft>
                <a:spcPts val="0"/>
              </a:spcAft>
              <a:buClr>
                <a:schemeClr val="dk1"/>
              </a:buClr>
              <a:buSzPts val="2400"/>
              <a:buChar char="•"/>
            </a:pPr>
            <a:r>
              <a:rPr lang="en-GB" sz="2400"/>
              <a:t>Besides FR and NFR, there are </a:t>
            </a:r>
            <a:r>
              <a:rPr lang="en-GB" sz="2400" b="1">
                <a:solidFill>
                  <a:srgbClr val="C00000"/>
                </a:solidFill>
              </a:rPr>
              <a:t>domain</a:t>
            </a:r>
            <a:r>
              <a:rPr lang="en-GB" sz="2400" b="1"/>
              <a:t> requirements</a:t>
            </a:r>
            <a:endParaRPr/>
          </a:p>
          <a:p>
            <a:pPr marL="742950" lvl="1" indent="-285750" algn="just" rtl="0">
              <a:lnSpc>
                <a:spcPct val="80000"/>
              </a:lnSpc>
              <a:spcBef>
                <a:spcPts val="480"/>
              </a:spcBef>
              <a:spcAft>
                <a:spcPts val="0"/>
              </a:spcAft>
              <a:buClr>
                <a:schemeClr val="dk1"/>
              </a:buClr>
              <a:buSzPts val="2400"/>
              <a:buChar char="–"/>
            </a:pPr>
            <a:r>
              <a:rPr lang="en-GB" sz="2400"/>
              <a:t>Constraints on the system from the domain of operation</a:t>
            </a:r>
            <a:endParaRPr/>
          </a:p>
          <a:p>
            <a:pPr marL="0" lvl="0" indent="0" algn="just" rtl="0">
              <a:lnSpc>
                <a:spcPct val="100000"/>
              </a:lnSpc>
              <a:spcBef>
                <a:spcPts val="640"/>
              </a:spcBef>
              <a:spcAft>
                <a:spcPts val="0"/>
              </a:spcAft>
              <a:buClr>
                <a:schemeClr val="dk1"/>
              </a:buClr>
              <a:buSzPts val="3200"/>
              <a:buNone/>
            </a:pPr>
            <a:endParaRPr/>
          </a:p>
        </p:txBody>
      </p:sp>
      <p:sp>
        <p:nvSpPr>
          <p:cNvPr id="215" name="Google Shape;215;p1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16" name="Google Shape;216;p1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17" name="Google Shape;217;p1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Functional Requirements</a:t>
            </a:r>
            <a:endParaRPr/>
          </a:p>
        </p:txBody>
      </p:sp>
      <p:sp>
        <p:nvSpPr>
          <p:cNvPr id="223" name="Google Shape;22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Describe functionality or system services</a:t>
            </a:r>
            <a:endParaRPr/>
          </a:p>
          <a:p>
            <a:pPr marL="342900" lvl="0" indent="-342900" algn="just" rtl="0">
              <a:lnSpc>
                <a:spcPct val="100000"/>
              </a:lnSpc>
              <a:spcBef>
                <a:spcPts val="560"/>
              </a:spcBef>
              <a:spcAft>
                <a:spcPts val="0"/>
              </a:spcAft>
              <a:buClr>
                <a:schemeClr val="dk1"/>
              </a:buClr>
              <a:buSzPts val="2800"/>
              <a:buFont typeface="Arial"/>
              <a:buChar char="•"/>
            </a:pPr>
            <a:r>
              <a:rPr lang="en-GB" sz="2800"/>
              <a:t>Depend on the type of software, expected users and the type of system where the software is used</a:t>
            </a:r>
            <a:endParaRPr/>
          </a:p>
          <a:p>
            <a:pPr marL="342900" lvl="0" indent="-342900" algn="just" rtl="0">
              <a:lnSpc>
                <a:spcPct val="100000"/>
              </a:lnSpc>
              <a:spcBef>
                <a:spcPts val="560"/>
              </a:spcBef>
              <a:spcAft>
                <a:spcPts val="0"/>
              </a:spcAft>
              <a:buClr>
                <a:schemeClr val="dk1"/>
              </a:buClr>
              <a:buSzPts val="2800"/>
              <a:buFont typeface="Arial"/>
              <a:buChar char="•"/>
            </a:pPr>
            <a:r>
              <a:rPr lang="en-GB" sz="2800"/>
              <a:t>Functional </a:t>
            </a:r>
            <a:r>
              <a:rPr lang="en-GB" sz="2800">
                <a:solidFill>
                  <a:srgbClr val="C00000"/>
                </a:solidFill>
              </a:rPr>
              <a:t>user requirements</a:t>
            </a:r>
            <a:r>
              <a:rPr lang="en-GB" sz="2800"/>
              <a:t> may be high-level statements of what the system should do</a:t>
            </a:r>
            <a:endParaRPr/>
          </a:p>
          <a:p>
            <a:pPr marL="342900" lvl="0" indent="-342900" algn="just" rtl="0">
              <a:lnSpc>
                <a:spcPct val="100000"/>
              </a:lnSpc>
              <a:spcBef>
                <a:spcPts val="560"/>
              </a:spcBef>
              <a:spcAft>
                <a:spcPts val="0"/>
              </a:spcAft>
              <a:buClr>
                <a:schemeClr val="dk1"/>
              </a:buClr>
              <a:buSzPts val="2800"/>
              <a:buFont typeface="Arial"/>
              <a:buChar char="•"/>
            </a:pPr>
            <a:r>
              <a:rPr lang="en-GB" sz="2800"/>
              <a:t>Functional </a:t>
            </a:r>
            <a:r>
              <a:rPr lang="en-GB" sz="2800">
                <a:solidFill>
                  <a:srgbClr val="C00000"/>
                </a:solidFill>
              </a:rPr>
              <a:t>system requirements</a:t>
            </a:r>
            <a:r>
              <a:rPr lang="en-GB" sz="2800"/>
              <a:t> should describe the system services in detail</a:t>
            </a:r>
            <a:endParaRPr/>
          </a:p>
          <a:p>
            <a:pPr marL="0" lvl="0" indent="0" algn="just" rtl="0">
              <a:lnSpc>
                <a:spcPct val="100000"/>
              </a:lnSpc>
              <a:spcBef>
                <a:spcPts val="560"/>
              </a:spcBef>
              <a:spcAft>
                <a:spcPts val="0"/>
              </a:spcAft>
              <a:buClr>
                <a:schemeClr val="dk1"/>
              </a:buClr>
              <a:buSzPts val="2800"/>
              <a:buNone/>
            </a:pPr>
            <a:endParaRPr sz="2800"/>
          </a:p>
        </p:txBody>
      </p:sp>
      <p:sp>
        <p:nvSpPr>
          <p:cNvPr id="224" name="Google Shape;224;p1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25" name="Google Shape;225;p1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26" name="Google Shape;226;p1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Example: Functional Requirements in Mentcare System</a:t>
            </a:r>
            <a:endParaRPr/>
          </a:p>
        </p:txBody>
      </p:sp>
      <p:sp>
        <p:nvSpPr>
          <p:cNvPr id="232" name="Google Shape;232;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GB" sz="2800"/>
              <a:t>A user </a:t>
            </a:r>
            <a:r>
              <a:rPr lang="en-GB" sz="2800">
                <a:solidFill>
                  <a:srgbClr val="C00000"/>
                </a:solidFill>
              </a:rPr>
              <a:t>shall</a:t>
            </a:r>
            <a:r>
              <a:rPr lang="en-GB" sz="2800"/>
              <a:t> be able to search the appointments lists for all clinics</a:t>
            </a:r>
            <a:endParaRPr sz="2800"/>
          </a:p>
          <a:p>
            <a:pPr marL="342900" lvl="0" indent="-342900" algn="just" rtl="0">
              <a:lnSpc>
                <a:spcPct val="90000"/>
              </a:lnSpc>
              <a:spcBef>
                <a:spcPts val="560"/>
              </a:spcBef>
              <a:spcAft>
                <a:spcPts val="0"/>
              </a:spcAft>
              <a:buClr>
                <a:schemeClr val="dk1"/>
              </a:buClr>
              <a:buSzPts val="2800"/>
              <a:buChar char="•"/>
            </a:pPr>
            <a:r>
              <a:rPr lang="en-GB" sz="2800"/>
              <a:t>The system </a:t>
            </a:r>
            <a:r>
              <a:rPr lang="en-GB" sz="2800">
                <a:solidFill>
                  <a:srgbClr val="C00000"/>
                </a:solidFill>
              </a:rPr>
              <a:t>shall</a:t>
            </a:r>
            <a:r>
              <a:rPr lang="en-GB" sz="2800"/>
              <a:t> generate each day, for each clinic, a list of patients who are expected to attend appointments that day</a:t>
            </a:r>
            <a:endParaRPr sz="2800"/>
          </a:p>
          <a:p>
            <a:pPr marL="342900" lvl="0" indent="-342900" algn="just" rtl="0">
              <a:lnSpc>
                <a:spcPct val="90000"/>
              </a:lnSpc>
              <a:spcBef>
                <a:spcPts val="560"/>
              </a:spcBef>
              <a:spcAft>
                <a:spcPts val="0"/>
              </a:spcAft>
              <a:buClr>
                <a:schemeClr val="dk1"/>
              </a:buClr>
              <a:buSzPts val="2800"/>
              <a:buChar char="•"/>
            </a:pPr>
            <a:r>
              <a:rPr lang="en-GB" sz="2800"/>
              <a:t>Each staff member using the system </a:t>
            </a:r>
            <a:r>
              <a:rPr lang="en-GB" sz="2800">
                <a:solidFill>
                  <a:srgbClr val="C00000"/>
                </a:solidFill>
              </a:rPr>
              <a:t>shall</a:t>
            </a:r>
            <a:r>
              <a:rPr lang="en-GB" sz="2800"/>
              <a:t> be uniquely identified by his or her 8-digit employee number</a:t>
            </a:r>
            <a:endParaRPr/>
          </a:p>
          <a:p>
            <a:pPr marL="0" lvl="0" indent="0" algn="just" rtl="0">
              <a:lnSpc>
                <a:spcPct val="100000"/>
              </a:lnSpc>
              <a:spcBef>
                <a:spcPts val="560"/>
              </a:spcBef>
              <a:spcAft>
                <a:spcPts val="0"/>
              </a:spcAft>
              <a:buClr>
                <a:schemeClr val="dk1"/>
              </a:buClr>
              <a:buSzPts val="2800"/>
              <a:buNone/>
            </a:pPr>
            <a:endParaRPr sz="2800"/>
          </a:p>
        </p:txBody>
      </p:sp>
      <p:sp>
        <p:nvSpPr>
          <p:cNvPr id="233" name="Google Shape;233;p1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34" name="Google Shape;234;p1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35" name="Google Shape;235;p1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Imprecision</a:t>
            </a:r>
            <a:endParaRPr/>
          </a:p>
        </p:txBody>
      </p:sp>
      <p:sp>
        <p:nvSpPr>
          <p:cNvPr id="241" name="Google Shape;241;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800"/>
              <a:buChar char="•"/>
            </a:pPr>
            <a:r>
              <a:rPr lang="en-GB" sz="2800"/>
              <a:t>Problems arise when requirements are </a:t>
            </a:r>
            <a:r>
              <a:rPr lang="en-GB" sz="2800" b="1">
                <a:solidFill>
                  <a:srgbClr val="C00000"/>
                </a:solidFill>
              </a:rPr>
              <a:t>not precisely stated</a:t>
            </a:r>
            <a:endParaRPr/>
          </a:p>
          <a:p>
            <a:pPr marL="342900" lvl="0" indent="-342900" algn="just" rtl="0">
              <a:lnSpc>
                <a:spcPct val="80000"/>
              </a:lnSpc>
              <a:spcBef>
                <a:spcPts val="560"/>
              </a:spcBef>
              <a:spcAft>
                <a:spcPts val="0"/>
              </a:spcAft>
              <a:buClr>
                <a:srgbClr val="C00000"/>
              </a:buClr>
              <a:buSzPts val="2800"/>
              <a:buChar char="•"/>
            </a:pPr>
            <a:r>
              <a:rPr lang="en-GB" sz="2800" b="1">
                <a:solidFill>
                  <a:srgbClr val="C00000"/>
                </a:solidFill>
              </a:rPr>
              <a:t>Ambiguous requirements </a:t>
            </a:r>
            <a:r>
              <a:rPr lang="en-GB" sz="2800"/>
              <a:t>may be interpreted in different ways by developers and users</a:t>
            </a:r>
            <a:endParaRPr/>
          </a:p>
          <a:p>
            <a:pPr marL="342900" lvl="0" indent="-342900" algn="just" rtl="0">
              <a:lnSpc>
                <a:spcPct val="80000"/>
              </a:lnSpc>
              <a:spcBef>
                <a:spcPts val="560"/>
              </a:spcBef>
              <a:spcAft>
                <a:spcPts val="0"/>
              </a:spcAft>
              <a:buClr>
                <a:schemeClr val="dk1"/>
              </a:buClr>
              <a:buSzPts val="2800"/>
              <a:buChar char="•"/>
            </a:pPr>
            <a:r>
              <a:rPr lang="en-GB" sz="2800"/>
              <a:t>Consider the term ‘search’ in requirement 1:</a:t>
            </a:r>
            <a:endParaRPr/>
          </a:p>
          <a:p>
            <a:pPr marL="742950" lvl="1" indent="-285750" algn="just" rtl="0">
              <a:lnSpc>
                <a:spcPct val="80000"/>
              </a:lnSpc>
              <a:spcBef>
                <a:spcPts val="560"/>
              </a:spcBef>
              <a:spcAft>
                <a:spcPts val="0"/>
              </a:spcAft>
              <a:buClr>
                <a:schemeClr val="dk1"/>
              </a:buClr>
              <a:buSzPts val="2800"/>
              <a:buChar char="–"/>
            </a:pPr>
            <a:r>
              <a:rPr lang="en-GB"/>
              <a:t>User intention: search for a patient name across all appointments in all clinics</a:t>
            </a:r>
            <a:endParaRPr/>
          </a:p>
          <a:p>
            <a:pPr marL="742950" lvl="1" indent="-285750" algn="just" rtl="0">
              <a:lnSpc>
                <a:spcPct val="80000"/>
              </a:lnSpc>
              <a:spcBef>
                <a:spcPts val="560"/>
              </a:spcBef>
              <a:spcAft>
                <a:spcPts val="0"/>
              </a:spcAft>
              <a:buClr>
                <a:schemeClr val="dk1"/>
              </a:buClr>
              <a:buSzPts val="2800"/>
              <a:buChar char="–"/>
            </a:pPr>
            <a:r>
              <a:rPr lang="en-GB"/>
              <a:t>Developer interpretation: Search for a patient name in an individual clinic. User chooses clinic then search.</a:t>
            </a:r>
            <a:endParaRPr/>
          </a:p>
          <a:p>
            <a:pPr marL="0" lvl="0" indent="0" algn="just" rtl="0">
              <a:lnSpc>
                <a:spcPct val="100000"/>
              </a:lnSpc>
              <a:spcBef>
                <a:spcPts val="560"/>
              </a:spcBef>
              <a:spcAft>
                <a:spcPts val="0"/>
              </a:spcAft>
              <a:buClr>
                <a:schemeClr val="dk1"/>
              </a:buClr>
              <a:buSzPts val="2800"/>
              <a:buNone/>
            </a:pPr>
            <a:endParaRPr sz="2800"/>
          </a:p>
        </p:txBody>
      </p:sp>
      <p:sp>
        <p:nvSpPr>
          <p:cNvPr id="242" name="Google Shape;242;p1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43" name="Google Shape;243;p1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44" name="Google Shape;244;p1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16</a:t>
            </a:fld>
            <a:endParaRPr/>
          </a:p>
        </p:txBody>
      </p:sp>
      <p:sp>
        <p:nvSpPr>
          <p:cNvPr id="245" name="Google Shape;245;p16"/>
          <p:cNvSpPr txBox="1"/>
          <p:nvPr/>
        </p:nvSpPr>
        <p:spPr>
          <a:xfrm>
            <a:off x="1320798" y="5440682"/>
            <a:ext cx="6781800" cy="830997"/>
          </a:xfrm>
          <a:prstGeom prst="rect">
            <a:avLst/>
          </a:prstGeom>
          <a:solidFill>
            <a:srgbClr val="B7CCE4"/>
          </a:solidFill>
          <a:ln w="9525" cap="flat" cmpd="sng">
            <a:solidFill>
              <a:schemeClr val="dk2"/>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0" i="0" u="none" strike="noStrike" cap="none">
                <a:solidFill>
                  <a:schemeClr val="dk1"/>
                </a:solidFill>
                <a:latin typeface="Calibri"/>
                <a:ea typeface="Calibri"/>
                <a:cs typeface="Calibri"/>
                <a:sym typeface="Calibri"/>
              </a:rPr>
              <a:t>A user </a:t>
            </a:r>
            <a:r>
              <a:rPr lang="en-GB" sz="2400" b="0" i="0" u="none" strike="noStrike" cap="none">
                <a:solidFill>
                  <a:srgbClr val="C00000"/>
                </a:solidFill>
                <a:latin typeface="Calibri"/>
                <a:ea typeface="Calibri"/>
                <a:cs typeface="Calibri"/>
                <a:sym typeface="Calibri"/>
              </a:rPr>
              <a:t>shall</a:t>
            </a:r>
            <a:r>
              <a:rPr lang="en-GB" sz="2400" b="0" i="0" u="none" strike="noStrike" cap="none">
                <a:solidFill>
                  <a:schemeClr val="dk1"/>
                </a:solidFill>
                <a:latin typeface="Calibri"/>
                <a:ea typeface="Calibri"/>
                <a:cs typeface="Calibri"/>
                <a:sym typeface="Calibri"/>
              </a:rPr>
              <a:t> be able to search the appointments lists for all clinics</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Completeness and Consistency</a:t>
            </a:r>
            <a:endParaRPr/>
          </a:p>
        </p:txBody>
      </p:sp>
      <p:sp>
        <p:nvSpPr>
          <p:cNvPr id="251" name="Google Shape;25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In principle, requirements should be both </a:t>
            </a:r>
            <a:r>
              <a:rPr lang="en-GB" sz="2800" b="1">
                <a:solidFill>
                  <a:srgbClr val="C00000"/>
                </a:solidFill>
              </a:rPr>
              <a:t>complete</a:t>
            </a:r>
            <a:r>
              <a:rPr lang="en-GB" sz="2800"/>
              <a:t> and </a:t>
            </a:r>
            <a:r>
              <a:rPr lang="en-GB" sz="2800" b="1">
                <a:solidFill>
                  <a:srgbClr val="C00000"/>
                </a:solidFill>
              </a:rPr>
              <a:t>consistent</a:t>
            </a:r>
            <a:endParaRPr sz="2800"/>
          </a:p>
          <a:p>
            <a:pPr marL="342900" lvl="0" indent="-342900" algn="just" rtl="0">
              <a:lnSpc>
                <a:spcPct val="100000"/>
              </a:lnSpc>
              <a:spcBef>
                <a:spcPts val="560"/>
              </a:spcBef>
              <a:spcAft>
                <a:spcPts val="0"/>
              </a:spcAft>
              <a:buClr>
                <a:schemeClr val="dk1"/>
              </a:buClr>
              <a:buSzPts val="2800"/>
              <a:buFont typeface="Arial"/>
              <a:buChar char="•"/>
            </a:pPr>
            <a:r>
              <a:rPr lang="en-GB" sz="2800" b="1"/>
              <a:t>Complete:</a:t>
            </a:r>
            <a:r>
              <a:rPr lang="en-GB" sz="2800"/>
              <a:t> They should include </a:t>
            </a:r>
            <a:r>
              <a:rPr lang="en-GB" sz="2800" b="1">
                <a:solidFill>
                  <a:srgbClr val="C00000"/>
                </a:solidFill>
              </a:rPr>
              <a:t>descriptions of all facilities</a:t>
            </a:r>
            <a:r>
              <a:rPr lang="en-GB" sz="2800">
                <a:solidFill>
                  <a:srgbClr val="C00000"/>
                </a:solidFill>
              </a:rPr>
              <a:t> </a:t>
            </a:r>
            <a:r>
              <a:rPr lang="en-GB" sz="2800"/>
              <a:t>required</a:t>
            </a:r>
            <a:endParaRPr/>
          </a:p>
          <a:p>
            <a:pPr marL="342900" lvl="0" indent="-342900" algn="just" rtl="0">
              <a:lnSpc>
                <a:spcPct val="100000"/>
              </a:lnSpc>
              <a:spcBef>
                <a:spcPts val="560"/>
              </a:spcBef>
              <a:spcAft>
                <a:spcPts val="0"/>
              </a:spcAft>
              <a:buClr>
                <a:schemeClr val="dk1"/>
              </a:buClr>
              <a:buSzPts val="2800"/>
              <a:buFont typeface="Arial"/>
              <a:buChar char="•"/>
            </a:pPr>
            <a:r>
              <a:rPr lang="en-GB" sz="2800" b="1"/>
              <a:t>Consistent:</a:t>
            </a:r>
            <a:r>
              <a:rPr lang="en-GB" sz="2800"/>
              <a:t> There should be </a:t>
            </a:r>
            <a:r>
              <a:rPr lang="en-GB" sz="2800" b="1">
                <a:solidFill>
                  <a:srgbClr val="C00000"/>
                </a:solidFill>
              </a:rPr>
              <a:t>no conflicts or contradictions</a:t>
            </a:r>
            <a:r>
              <a:rPr lang="en-GB" sz="2800"/>
              <a:t> in the descriptions of the system facilities</a:t>
            </a:r>
            <a:endParaRPr/>
          </a:p>
          <a:p>
            <a:pPr marL="342900" lvl="0" indent="-342900" algn="just" rtl="0">
              <a:lnSpc>
                <a:spcPct val="100000"/>
              </a:lnSpc>
              <a:spcBef>
                <a:spcPts val="560"/>
              </a:spcBef>
              <a:spcAft>
                <a:spcPts val="0"/>
              </a:spcAft>
              <a:buClr>
                <a:schemeClr val="dk1"/>
              </a:buClr>
              <a:buSzPts val="2800"/>
              <a:buFont typeface="Arial"/>
              <a:buChar char="•"/>
            </a:pPr>
            <a:r>
              <a:rPr lang="en-GB" sz="2800"/>
              <a:t>In practice, it is impossible to produce a complete and consistent requirements document</a:t>
            </a:r>
            <a:endParaRPr/>
          </a:p>
          <a:p>
            <a:pPr marL="0" lvl="0" indent="0" algn="just" rtl="0">
              <a:lnSpc>
                <a:spcPct val="100000"/>
              </a:lnSpc>
              <a:spcBef>
                <a:spcPts val="560"/>
              </a:spcBef>
              <a:spcAft>
                <a:spcPts val="0"/>
              </a:spcAft>
              <a:buClr>
                <a:schemeClr val="dk1"/>
              </a:buClr>
              <a:buSzPts val="2800"/>
              <a:buNone/>
            </a:pPr>
            <a:endParaRPr sz="2800"/>
          </a:p>
        </p:txBody>
      </p:sp>
      <p:sp>
        <p:nvSpPr>
          <p:cNvPr id="252" name="Google Shape;252;p1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53" name="Google Shape;253;p1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54" name="Google Shape;254;p1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Non-Functional Requirements</a:t>
            </a:r>
            <a:endParaRPr/>
          </a:p>
        </p:txBody>
      </p:sp>
      <p:sp>
        <p:nvSpPr>
          <p:cNvPr id="260" name="Google Shape;260;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Font typeface="Arial"/>
              <a:buChar char="•"/>
            </a:pPr>
            <a:r>
              <a:rPr lang="en-GB" sz="2800"/>
              <a:t>These define </a:t>
            </a:r>
            <a:r>
              <a:rPr lang="en-GB" sz="2800" b="1">
                <a:solidFill>
                  <a:srgbClr val="C00000"/>
                </a:solidFill>
              </a:rPr>
              <a:t>system properties and constraints </a:t>
            </a:r>
            <a:r>
              <a:rPr lang="en-GB" sz="2800"/>
              <a:t>e.g. reliability, response time and storage requirements. Constraints are I/O device capability, system representations, etc.</a:t>
            </a:r>
            <a:endParaRPr/>
          </a:p>
          <a:p>
            <a:pPr marL="342900" lvl="0" indent="-342900" algn="just" rtl="0">
              <a:lnSpc>
                <a:spcPct val="90000"/>
              </a:lnSpc>
              <a:spcBef>
                <a:spcPts val="560"/>
              </a:spcBef>
              <a:spcAft>
                <a:spcPts val="0"/>
              </a:spcAft>
              <a:buClr>
                <a:srgbClr val="C00000"/>
              </a:buClr>
              <a:buSzPts val="2800"/>
              <a:buFont typeface="Arial"/>
              <a:buChar char="•"/>
            </a:pPr>
            <a:r>
              <a:rPr lang="en-GB" sz="2800" b="1">
                <a:solidFill>
                  <a:srgbClr val="C00000"/>
                </a:solidFill>
              </a:rPr>
              <a:t>Process requirements </a:t>
            </a:r>
            <a:r>
              <a:rPr lang="en-GB" sz="2800"/>
              <a:t>may also be specified mandating a particular Integrated Development Environment (IDE), programming language or development method</a:t>
            </a:r>
            <a:endParaRPr/>
          </a:p>
          <a:p>
            <a:pPr marL="342900" lvl="0" indent="-342900" algn="just" rtl="0">
              <a:lnSpc>
                <a:spcPct val="90000"/>
              </a:lnSpc>
              <a:spcBef>
                <a:spcPts val="560"/>
              </a:spcBef>
              <a:spcAft>
                <a:spcPts val="0"/>
              </a:spcAft>
              <a:buClr>
                <a:schemeClr val="dk1"/>
              </a:buClr>
              <a:buSzPts val="2800"/>
              <a:buFont typeface="Arial"/>
              <a:buChar char="•"/>
            </a:pPr>
            <a:r>
              <a:rPr lang="en-GB" sz="2800"/>
              <a:t>Non-functional requirements </a:t>
            </a:r>
            <a:r>
              <a:rPr lang="en-GB" sz="2800" b="1">
                <a:solidFill>
                  <a:srgbClr val="C00000"/>
                </a:solidFill>
              </a:rPr>
              <a:t>may be more critical</a:t>
            </a:r>
            <a:r>
              <a:rPr lang="en-GB" sz="2800"/>
              <a:t> than functional requirements. If these are not met, the system may be useless</a:t>
            </a:r>
            <a:endParaRPr/>
          </a:p>
          <a:p>
            <a:pPr marL="0" lvl="0" indent="0" algn="just" rtl="0">
              <a:lnSpc>
                <a:spcPct val="100000"/>
              </a:lnSpc>
              <a:spcBef>
                <a:spcPts val="560"/>
              </a:spcBef>
              <a:spcAft>
                <a:spcPts val="0"/>
              </a:spcAft>
              <a:buClr>
                <a:schemeClr val="dk1"/>
              </a:buClr>
              <a:buSzPts val="2800"/>
              <a:buNone/>
            </a:pPr>
            <a:endParaRPr sz="2800"/>
          </a:p>
        </p:txBody>
      </p:sp>
      <p:sp>
        <p:nvSpPr>
          <p:cNvPr id="261" name="Google Shape;261;p1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62" name="Google Shape;262;p1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63" name="Google Shape;263;p1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Non-Functional Classifications</a:t>
            </a:r>
            <a:endParaRPr/>
          </a:p>
        </p:txBody>
      </p:sp>
      <p:sp>
        <p:nvSpPr>
          <p:cNvPr id="269" name="Google Shape;269;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just" rtl="0">
              <a:lnSpc>
                <a:spcPct val="100000"/>
              </a:lnSpc>
              <a:spcBef>
                <a:spcPts val="0"/>
              </a:spcBef>
              <a:spcAft>
                <a:spcPts val="0"/>
              </a:spcAft>
              <a:buClr>
                <a:srgbClr val="C00000"/>
              </a:buClr>
              <a:buSzPct val="100000"/>
              <a:buFont typeface="Arial"/>
              <a:buChar char="•"/>
            </a:pPr>
            <a:r>
              <a:rPr lang="en-GB" sz="2800" b="1">
                <a:solidFill>
                  <a:srgbClr val="C00000"/>
                </a:solidFill>
              </a:rPr>
              <a:t>P</a:t>
            </a:r>
            <a:r>
              <a:rPr lang="en-GB" sz="2800"/>
              <a:t>roduct requirements</a:t>
            </a:r>
            <a:endParaRPr/>
          </a:p>
          <a:p>
            <a:pPr marL="742950" lvl="1" indent="-285750" algn="just" rtl="0">
              <a:lnSpc>
                <a:spcPct val="100000"/>
              </a:lnSpc>
              <a:spcBef>
                <a:spcPts val="444"/>
              </a:spcBef>
              <a:spcAft>
                <a:spcPts val="0"/>
              </a:spcAft>
              <a:buClr>
                <a:schemeClr val="dk1"/>
              </a:buClr>
              <a:buSzPct val="100000"/>
              <a:buFont typeface="Arial"/>
              <a:buChar char="–"/>
            </a:pPr>
            <a:r>
              <a:rPr lang="en-GB" sz="2400"/>
              <a:t>Requirements which specify that the delivered product must behave in a particular way e.g. execution speed, reliability, etc.</a:t>
            </a:r>
            <a:endParaRPr/>
          </a:p>
          <a:p>
            <a:pPr marL="342900" lvl="0" indent="-342900" algn="just" rtl="0">
              <a:lnSpc>
                <a:spcPct val="100000"/>
              </a:lnSpc>
              <a:spcBef>
                <a:spcPts val="518"/>
              </a:spcBef>
              <a:spcAft>
                <a:spcPts val="0"/>
              </a:spcAft>
              <a:buClr>
                <a:srgbClr val="C00000"/>
              </a:buClr>
              <a:buSzPct val="100000"/>
              <a:buFont typeface="Arial"/>
              <a:buChar char="•"/>
            </a:pPr>
            <a:r>
              <a:rPr lang="en-GB" sz="2800" b="1">
                <a:solidFill>
                  <a:srgbClr val="C00000"/>
                </a:solidFill>
              </a:rPr>
              <a:t>O</a:t>
            </a:r>
            <a:r>
              <a:rPr lang="en-GB" sz="2800"/>
              <a:t>rganisational requirements</a:t>
            </a:r>
            <a:endParaRPr/>
          </a:p>
          <a:p>
            <a:pPr marL="742950" lvl="1" indent="-285750" algn="just" rtl="0">
              <a:lnSpc>
                <a:spcPct val="100000"/>
              </a:lnSpc>
              <a:spcBef>
                <a:spcPts val="444"/>
              </a:spcBef>
              <a:spcAft>
                <a:spcPts val="0"/>
              </a:spcAft>
              <a:buClr>
                <a:schemeClr val="dk1"/>
              </a:buClr>
              <a:buSzPct val="100000"/>
              <a:buFont typeface="Arial"/>
              <a:buChar char="–"/>
            </a:pPr>
            <a:r>
              <a:rPr lang="en-GB" sz="2400"/>
              <a:t>Requirements which are a consequence of organisational policies and procedures e.g. process standards used, implementation requirements, etc.</a:t>
            </a:r>
            <a:endParaRPr/>
          </a:p>
          <a:p>
            <a:pPr marL="342900" lvl="0" indent="-342900" algn="just" rtl="0">
              <a:lnSpc>
                <a:spcPct val="100000"/>
              </a:lnSpc>
              <a:spcBef>
                <a:spcPts val="518"/>
              </a:spcBef>
              <a:spcAft>
                <a:spcPts val="0"/>
              </a:spcAft>
              <a:buClr>
                <a:srgbClr val="C00000"/>
              </a:buClr>
              <a:buSzPct val="100000"/>
              <a:buFont typeface="Arial"/>
              <a:buChar char="•"/>
            </a:pPr>
            <a:r>
              <a:rPr lang="en-GB" sz="2800" b="1">
                <a:solidFill>
                  <a:srgbClr val="C00000"/>
                </a:solidFill>
              </a:rPr>
              <a:t>E</a:t>
            </a:r>
            <a:r>
              <a:rPr lang="en-GB" sz="2800"/>
              <a:t>xternal requirements</a:t>
            </a:r>
            <a:endParaRPr/>
          </a:p>
          <a:p>
            <a:pPr marL="742950" lvl="1" indent="-285750" algn="just" rtl="0">
              <a:lnSpc>
                <a:spcPct val="100000"/>
              </a:lnSpc>
              <a:spcBef>
                <a:spcPts val="444"/>
              </a:spcBef>
              <a:spcAft>
                <a:spcPts val="0"/>
              </a:spcAft>
              <a:buClr>
                <a:schemeClr val="dk1"/>
              </a:buClr>
              <a:buSzPct val="100000"/>
              <a:buFont typeface="Arial"/>
              <a:buChar char="–"/>
            </a:pPr>
            <a:r>
              <a:rPr lang="en-GB" sz="2400"/>
              <a:t>Requirements which arise from factors which are external to the system and its development process e.g. interoperability requirements, legislative requirements, etc.</a:t>
            </a:r>
            <a:endParaRPr/>
          </a:p>
          <a:p>
            <a:pPr marL="0" lvl="0" indent="0" algn="just" rtl="0">
              <a:lnSpc>
                <a:spcPct val="100000"/>
              </a:lnSpc>
              <a:spcBef>
                <a:spcPts val="592"/>
              </a:spcBef>
              <a:spcAft>
                <a:spcPts val="0"/>
              </a:spcAft>
              <a:buClr>
                <a:schemeClr val="dk1"/>
              </a:buClr>
              <a:buSzPct val="100000"/>
              <a:buNone/>
            </a:pPr>
            <a:endParaRPr/>
          </a:p>
        </p:txBody>
      </p:sp>
      <p:sp>
        <p:nvSpPr>
          <p:cNvPr id="270" name="Google Shape;270;p1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71" name="Google Shape;271;p1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72" name="Google Shape;272;p1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Types of Non-Functional Requirements </a:t>
            </a:r>
            <a:endParaRPr/>
          </a:p>
        </p:txBody>
      </p:sp>
      <p:sp>
        <p:nvSpPr>
          <p:cNvPr id="278" name="Google Shape;278;p2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79" name="Google Shape;279;p2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80" name="Google Shape;280;p2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20</a:t>
            </a:fld>
            <a:endParaRPr/>
          </a:p>
        </p:txBody>
      </p:sp>
      <p:pic>
        <p:nvPicPr>
          <p:cNvPr id="281" name="Google Shape;281;p20"/>
          <p:cNvPicPr preferRelativeResize="0">
            <a:picLocks noGrp="1"/>
          </p:cNvPicPr>
          <p:nvPr>
            <p:ph type="body" idx="1"/>
          </p:nvPr>
        </p:nvPicPr>
        <p:blipFill rotWithShape="1">
          <a:blip r:embed="rId3">
            <a:alphaModFix/>
          </a:blip>
          <a:srcRect/>
          <a:stretch/>
        </p:blipFill>
        <p:spPr>
          <a:xfrm>
            <a:off x="544284" y="1439678"/>
            <a:ext cx="8229600" cy="4808722"/>
          </a:xfrm>
          <a:prstGeom prst="rect">
            <a:avLst/>
          </a:prstGeom>
          <a:noFill/>
          <a:ln>
            <a:noFill/>
          </a:ln>
        </p:spPr>
      </p:pic>
      <p:sp>
        <p:nvSpPr>
          <p:cNvPr id="282" name="Google Shape;282;p20"/>
          <p:cNvSpPr/>
          <p:nvPr/>
        </p:nvSpPr>
        <p:spPr>
          <a:xfrm>
            <a:off x="1531257" y="2412618"/>
            <a:ext cx="1141659"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POE</a:t>
            </a:r>
            <a:endParaRPr sz="1400" b="0" i="0" u="none" strike="noStrike" cap="none">
              <a:solidFill>
                <a:srgbClr val="000000"/>
              </a:solidFill>
              <a:latin typeface="Arial"/>
              <a:ea typeface="Arial"/>
              <a:cs typeface="Arial"/>
              <a:sym typeface="Arial"/>
            </a:endParaRPr>
          </a:p>
        </p:txBody>
      </p:sp>
      <p:sp>
        <p:nvSpPr>
          <p:cNvPr id="283" name="Google Shape;283;p20"/>
          <p:cNvSpPr/>
          <p:nvPr/>
        </p:nvSpPr>
        <p:spPr>
          <a:xfrm>
            <a:off x="-112378" y="3469458"/>
            <a:ext cx="1712578"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UEDS</a:t>
            </a:r>
            <a:endParaRPr sz="1400" b="0" i="0" u="none" strike="noStrike" cap="none">
              <a:solidFill>
                <a:srgbClr val="000000"/>
              </a:solidFill>
              <a:latin typeface="Arial"/>
              <a:ea typeface="Arial"/>
              <a:cs typeface="Arial"/>
              <a:sym typeface="Arial"/>
            </a:endParaRPr>
          </a:p>
        </p:txBody>
      </p:sp>
      <p:sp>
        <p:nvSpPr>
          <p:cNvPr id="284" name="Google Shape;284;p20"/>
          <p:cNvSpPr/>
          <p:nvPr/>
        </p:nvSpPr>
        <p:spPr>
          <a:xfrm>
            <a:off x="2209800" y="4495800"/>
            <a:ext cx="1188146"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EOD</a:t>
            </a:r>
            <a:endParaRPr sz="1400" b="0" i="0" u="none" strike="noStrike" cap="none">
              <a:solidFill>
                <a:srgbClr val="000000"/>
              </a:solidFill>
              <a:latin typeface="Arial"/>
              <a:ea typeface="Arial"/>
              <a:cs typeface="Arial"/>
              <a:sym typeface="Arial"/>
            </a:endParaRPr>
          </a:p>
        </p:txBody>
      </p:sp>
      <p:sp>
        <p:nvSpPr>
          <p:cNvPr id="285" name="Google Shape;285;p20"/>
          <p:cNvSpPr/>
          <p:nvPr/>
        </p:nvSpPr>
        <p:spPr>
          <a:xfrm>
            <a:off x="7847744" y="3425916"/>
            <a:ext cx="1016625"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REL</a:t>
            </a:r>
            <a:endParaRPr sz="1400" b="0" i="0" u="none" strike="noStrike" cap="none">
              <a:solidFill>
                <a:srgbClr val="000000"/>
              </a:solidFill>
              <a:latin typeface="Arial"/>
              <a:ea typeface="Arial"/>
              <a:cs typeface="Arial"/>
              <a:sym typeface="Arial"/>
            </a:endParaRPr>
          </a:p>
        </p:txBody>
      </p:sp>
      <p:sp>
        <p:nvSpPr>
          <p:cNvPr id="286" name="Google Shape;286;p20"/>
          <p:cNvSpPr/>
          <p:nvPr/>
        </p:nvSpPr>
        <p:spPr>
          <a:xfrm>
            <a:off x="78536" y="5478959"/>
            <a:ext cx="750525"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PS</a:t>
            </a:r>
            <a:endParaRPr sz="4400" b="1" i="0" u="none" strike="noStrike" cap="none">
              <a:solidFill>
                <a:srgbClr val="E5B8B7"/>
              </a:solidFill>
              <a:latin typeface="Calibri"/>
              <a:ea typeface="Calibri"/>
              <a:cs typeface="Calibri"/>
              <a:sym typeface="Calibri"/>
            </a:endParaRPr>
          </a:p>
        </p:txBody>
      </p:sp>
      <p:sp>
        <p:nvSpPr>
          <p:cNvPr id="287" name="Google Shape;287;p20"/>
          <p:cNvSpPr/>
          <p:nvPr/>
        </p:nvSpPr>
        <p:spPr>
          <a:xfrm>
            <a:off x="5257800" y="5478959"/>
            <a:ext cx="792205"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GB" sz="4400" b="1" i="0" u="none" strike="noStrike" cap="none">
                <a:solidFill>
                  <a:srgbClr val="E5B8B7"/>
                </a:solidFill>
                <a:latin typeface="Calibri"/>
                <a:ea typeface="Calibri"/>
                <a:cs typeface="Calibri"/>
                <a:sym typeface="Calibri"/>
              </a:rPr>
              <a:t>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Non-Functional Requirements Implementation</a:t>
            </a:r>
            <a:endParaRPr/>
          </a:p>
        </p:txBody>
      </p:sp>
      <p:sp>
        <p:nvSpPr>
          <p:cNvPr id="293" name="Google Shape;293;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600"/>
              <a:buChar char="•"/>
            </a:pPr>
            <a:r>
              <a:rPr lang="en-GB" sz="2600"/>
              <a:t>Non-functional requirements </a:t>
            </a:r>
            <a:r>
              <a:rPr lang="en-GB" sz="2600" b="1">
                <a:solidFill>
                  <a:srgbClr val="C00000"/>
                </a:solidFill>
              </a:rPr>
              <a:t>may affect the overall architecture </a:t>
            </a:r>
            <a:r>
              <a:rPr lang="en-GB" sz="2600"/>
              <a:t>of a system rather than the individual components</a:t>
            </a:r>
            <a:endParaRPr/>
          </a:p>
          <a:p>
            <a:pPr marL="742950" lvl="1" indent="-285750" algn="just" rtl="0">
              <a:lnSpc>
                <a:spcPct val="90000"/>
              </a:lnSpc>
              <a:spcBef>
                <a:spcPts val="440"/>
              </a:spcBef>
              <a:spcAft>
                <a:spcPts val="0"/>
              </a:spcAft>
              <a:buClr>
                <a:schemeClr val="dk1"/>
              </a:buClr>
              <a:buSzPts val="2200"/>
              <a:buChar char="–"/>
            </a:pPr>
            <a:r>
              <a:rPr lang="en-GB" sz="2200"/>
              <a:t>E.g. to ensure that performance requirements are met, developers may have to organize the system to minimize communications between components</a:t>
            </a:r>
            <a:endParaRPr sz="2200"/>
          </a:p>
          <a:p>
            <a:pPr marL="342900" lvl="0" indent="-342900" algn="just" rtl="0">
              <a:lnSpc>
                <a:spcPct val="90000"/>
              </a:lnSpc>
              <a:spcBef>
                <a:spcPts val="520"/>
              </a:spcBef>
              <a:spcAft>
                <a:spcPts val="0"/>
              </a:spcAft>
              <a:buClr>
                <a:schemeClr val="dk1"/>
              </a:buClr>
              <a:buSzPts val="2600"/>
              <a:buChar char="•"/>
            </a:pPr>
            <a:r>
              <a:rPr lang="en-GB" sz="2600"/>
              <a:t>A single non-functional requirement e.g. a security requirement, </a:t>
            </a:r>
            <a:r>
              <a:rPr lang="en-GB" sz="2600" b="1">
                <a:solidFill>
                  <a:srgbClr val="C00000"/>
                </a:solidFill>
              </a:rPr>
              <a:t>may generate a number of related functional requirements </a:t>
            </a:r>
            <a:r>
              <a:rPr lang="en-GB" sz="2600"/>
              <a:t>that define system services that are required</a:t>
            </a:r>
            <a:endParaRPr/>
          </a:p>
          <a:p>
            <a:pPr marL="742950" lvl="1" indent="-285750" algn="just" rtl="0">
              <a:lnSpc>
                <a:spcPct val="90000"/>
              </a:lnSpc>
              <a:spcBef>
                <a:spcPts val="440"/>
              </a:spcBef>
              <a:spcAft>
                <a:spcPts val="0"/>
              </a:spcAft>
              <a:buClr>
                <a:schemeClr val="dk1"/>
              </a:buClr>
              <a:buSzPts val="2200"/>
              <a:buChar char="–"/>
            </a:pPr>
            <a:r>
              <a:rPr lang="en-GB" sz="2200"/>
              <a:t>It may also generate requirements that restrict existing requirements</a:t>
            </a:r>
            <a:endParaRPr/>
          </a:p>
          <a:p>
            <a:pPr marL="0" lvl="0" indent="0" algn="just" rtl="0">
              <a:lnSpc>
                <a:spcPct val="100000"/>
              </a:lnSpc>
              <a:spcBef>
                <a:spcPts val="640"/>
              </a:spcBef>
              <a:spcAft>
                <a:spcPts val="0"/>
              </a:spcAft>
              <a:buClr>
                <a:schemeClr val="dk1"/>
              </a:buClr>
              <a:buSzPts val="3200"/>
              <a:buNone/>
            </a:pPr>
            <a:endParaRPr/>
          </a:p>
        </p:txBody>
      </p:sp>
      <p:sp>
        <p:nvSpPr>
          <p:cNvPr id="294" name="Google Shape;294;p2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295" name="Google Shape;295;p2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296" name="Google Shape;296;p2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2"/>
          <p:cNvSpPr txBox="1">
            <a:spLocks noGrp="1"/>
          </p:cNvSpPr>
          <p:nvPr>
            <p:ph type="title"/>
          </p:nvPr>
        </p:nvSpPr>
        <p:spPr>
          <a:xfrm>
            <a:off x="117143" y="187362"/>
            <a:ext cx="8909713"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Examples of Non-Functional Requirements in the Mentcare System </a:t>
            </a:r>
            <a:endParaRPr/>
          </a:p>
        </p:txBody>
      </p:sp>
      <p:sp>
        <p:nvSpPr>
          <p:cNvPr id="302" name="Google Shape;302;p2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03" name="Google Shape;303;p2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04" name="Google Shape;304;p2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22</a:t>
            </a:fld>
            <a:endParaRPr/>
          </a:p>
        </p:txBody>
      </p:sp>
      <p:graphicFrame>
        <p:nvGraphicFramePr>
          <p:cNvPr id="305" name="Google Shape;305;p22"/>
          <p:cNvGraphicFramePr/>
          <p:nvPr/>
        </p:nvGraphicFramePr>
        <p:xfrm>
          <a:off x="457200" y="1790345"/>
          <a:ext cx="8305800" cy="4038600"/>
        </p:xfrm>
        <a:graphic>
          <a:graphicData uri="http://schemas.openxmlformats.org/drawingml/2006/table">
            <a:tbl>
              <a:tblPr firstRow="1" bandRow="1">
                <a:noFill/>
                <a:tableStyleId>{54ED4AE3-774A-42B7-8420-56C0AD00CE45}</a:tableStyleId>
              </a:tblPr>
              <a:tblGrid>
                <a:gridCol w="8305800">
                  <a:extLst>
                    <a:ext uri="{9D8B030D-6E8A-4147-A177-3AD203B41FA5}">
                      <a16:colId xmlns:a16="http://schemas.microsoft.com/office/drawing/2014/main" val="20000"/>
                    </a:ext>
                  </a:extLst>
                </a:gridCol>
              </a:tblGrid>
              <a:tr h="4038600">
                <a:tc>
                  <a:txBody>
                    <a:bodyPr/>
                    <a:lstStyle/>
                    <a:p>
                      <a:pPr marL="0" marR="0" lvl="0" indent="0" algn="l" rtl="0">
                        <a:lnSpc>
                          <a:spcPct val="100000"/>
                        </a:lnSpc>
                        <a:spcBef>
                          <a:spcPts val="0"/>
                        </a:spcBef>
                        <a:spcAft>
                          <a:spcPts val="0"/>
                        </a:spcAft>
                        <a:buClr>
                          <a:srgbClr val="000000"/>
                        </a:buClr>
                        <a:buSzPts val="1800"/>
                        <a:buFont typeface="Arial"/>
                        <a:buNone/>
                      </a:pPr>
                      <a:r>
                        <a:rPr lang="en-GB" sz="1800" b="1" u="none" strike="noStrike" cap="none"/>
                        <a:t>Product requirement</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GB" sz="1800" b="0" u="none" strike="noStrike" cap="none"/>
                        <a:t>The Mentcare system shall be available to all clinics during normal working hours (Mon–Fri, 0830–17.30). Downtime within normal working hours shall not exceed five seconds in any one day.</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b="0" u="none" strike="noStrike" cap="none"/>
                    </a:p>
                    <a:p>
                      <a:pPr marL="0" marR="0" lvl="0" indent="0" algn="l" rtl="0">
                        <a:lnSpc>
                          <a:spcPct val="100000"/>
                        </a:lnSpc>
                        <a:spcBef>
                          <a:spcPts val="0"/>
                        </a:spcBef>
                        <a:spcAft>
                          <a:spcPts val="0"/>
                        </a:spcAft>
                        <a:buClr>
                          <a:srgbClr val="000000"/>
                        </a:buClr>
                        <a:buSzPts val="1800"/>
                        <a:buFont typeface="Arial"/>
                        <a:buNone/>
                      </a:pPr>
                      <a:r>
                        <a:rPr lang="en-GB" sz="1800" b="1" u="none" strike="noStrike" cap="none"/>
                        <a:t>Organizational requirement</a:t>
                      </a:r>
                      <a:br>
                        <a:rPr lang="en-GB" sz="1800" b="0" u="none" strike="noStrike" cap="none"/>
                      </a:br>
                      <a:r>
                        <a:rPr lang="en-GB" sz="1800" b="0" u="none" strike="noStrike" cap="none"/>
                        <a:t>Users of the Mentcare system shall authenticate themselves using their health authority identity card.</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b="0" u="none" strike="noStrike" cap="none"/>
                    </a:p>
                    <a:p>
                      <a:pPr marL="0" marR="0" lvl="0" indent="0" algn="l" rtl="0">
                        <a:lnSpc>
                          <a:spcPct val="100000"/>
                        </a:lnSpc>
                        <a:spcBef>
                          <a:spcPts val="0"/>
                        </a:spcBef>
                        <a:spcAft>
                          <a:spcPts val="0"/>
                        </a:spcAft>
                        <a:buClr>
                          <a:srgbClr val="000000"/>
                        </a:buClr>
                        <a:buSzPts val="1800"/>
                        <a:buFont typeface="Arial"/>
                        <a:buNone/>
                      </a:pPr>
                      <a:r>
                        <a:rPr lang="en-GB" sz="1800" b="1" u="none" strike="noStrike" cap="none"/>
                        <a:t>External requirement</a:t>
                      </a:r>
                      <a:br>
                        <a:rPr lang="en-GB" sz="1800" b="0" u="none" strike="noStrike" cap="none"/>
                      </a:br>
                      <a:r>
                        <a:rPr lang="en-GB" sz="1800" b="0" u="none" strike="noStrike" cap="none"/>
                        <a:t>The system shall implement patient privacy provisions as set out in HStan-03-2006-priv. </a:t>
                      </a: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Goals and Requirements</a:t>
            </a:r>
            <a:endParaRPr/>
          </a:p>
        </p:txBody>
      </p:sp>
      <p:sp>
        <p:nvSpPr>
          <p:cNvPr id="311" name="Google Shape;311;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en-GB" sz="2800"/>
              <a:t>Non-functional requirements may be very </a:t>
            </a:r>
            <a:r>
              <a:rPr lang="en-GB" sz="2800">
                <a:solidFill>
                  <a:srgbClr val="C00000"/>
                </a:solidFill>
              </a:rPr>
              <a:t>difficult to state precisely</a:t>
            </a:r>
            <a:r>
              <a:rPr lang="en-GB" sz="2800"/>
              <a:t> and imprecise requirements may be difficult to verify</a:t>
            </a:r>
            <a:endParaRPr/>
          </a:p>
          <a:p>
            <a:pPr marL="342900" lvl="0" indent="-342900" algn="l" rtl="0">
              <a:lnSpc>
                <a:spcPct val="100000"/>
              </a:lnSpc>
              <a:spcBef>
                <a:spcPts val="560"/>
              </a:spcBef>
              <a:spcAft>
                <a:spcPts val="0"/>
              </a:spcAft>
              <a:buClr>
                <a:schemeClr val="dk1"/>
              </a:buClr>
              <a:buSzPts val="2800"/>
              <a:buChar char="•"/>
            </a:pPr>
            <a:r>
              <a:rPr lang="en-GB" sz="2800"/>
              <a:t>Goal: A </a:t>
            </a:r>
            <a:r>
              <a:rPr lang="en-GB" sz="2800">
                <a:solidFill>
                  <a:srgbClr val="C00000"/>
                </a:solidFill>
              </a:rPr>
              <a:t>general intention </a:t>
            </a:r>
            <a:r>
              <a:rPr lang="en-GB" sz="2800"/>
              <a:t>of the user such as ease of use</a:t>
            </a:r>
            <a:endParaRPr/>
          </a:p>
          <a:p>
            <a:pPr marL="342900" lvl="0" indent="-342900" algn="l" rtl="0">
              <a:lnSpc>
                <a:spcPct val="100000"/>
              </a:lnSpc>
              <a:spcBef>
                <a:spcPts val="560"/>
              </a:spcBef>
              <a:spcAft>
                <a:spcPts val="0"/>
              </a:spcAft>
              <a:buClr>
                <a:schemeClr val="dk1"/>
              </a:buClr>
              <a:buSzPts val="2800"/>
              <a:buChar char="•"/>
            </a:pPr>
            <a:r>
              <a:rPr lang="en-GB" sz="2800"/>
              <a:t>Verifiable non-functional requirement: A statement using some </a:t>
            </a:r>
            <a:r>
              <a:rPr lang="en-GB" sz="2800">
                <a:solidFill>
                  <a:srgbClr val="C00000"/>
                </a:solidFill>
              </a:rPr>
              <a:t>measures</a:t>
            </a:r>
            <a:r>
              <a:rPr lang="en-GB" sz="2800"/>
              <a:t> that can be objectively tested</a:t>
            </a:r>
            <a:endParaRPr/>
          </a:p>
          <a:p>
            <a:pPr marL="342900" lvl="0" indent="-342900" algn="l" rtl="0">
              <a:lnSpc>
                <a:spcPct val="100000"/>
              </a:lnSpc>
              <a:spcBef>
                <a:spcPts val="560"/>
              </a:spcBef>
              <a:spcAft>
                <a:spcPts val="0"/>
              </a:spcAft>
              <a:buClr>
                <a:schemeClr val="dk1"/>
              </a:buClr>
              <a:buSzPts val="2800"/>
              <a:buChar char="•"/>
            </a:pPr>
            <a:r>
              <a:rPr lang="en-GB" sz="2800"/>
              <a:t>Goals are helpful to developers as they convey the intentions of the system users</a:t>
            </a:r>
            <a:endParaRPr/>
          </a:p>
          <a:p>
            <a:pPr marL="0" lvl="0" indent="0" algn="l" rtl="0">
              <a:lnSpc>
                <a:spcPct val="100000"/>
              </a:lnSpc>
              <a:spcBef>
                <a:spcPts val="560"/>
              </a:spcBef>
              <a:spcAft>
                <a:spcPts val="0"/>
              </a:spcAft>
              <a:buClr>
                <a:schemeClr val="dk1"/>
              </a:buClr>
              <a:buSzPts val="2800"/>
              <a:buNone/>
            </a:pPr>
            <a:endParaRPr sz="2800"/>
          </a:p>
        </p:txBody>
      </p:sp>
      <p:sp>
        <p:nvSpPr>
          <p:cNvPr id="312" name="Google Shape;312;p2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13" name="Google Shape;313;p2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14" name="Google Shape;314;p2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Example: Usability</a:t>
            </a:r>
            <a:r>
              <a:rPr lang="en-GB">
                <a:solidFill>
                  <a:srgbClr val="C00000"/>
                </a:solidFill>
              </a:rPr>
              <a:t> </a:t>
            </a:r>
            <a:r>
              <a:rPr lang="en-GB"/>
              <a:t>Requirements</a:t>
            </a:r>
            <a:endParaRPr/>
          </a:p>
        </p:txBody>
      </p:sp>
      <p:sp>
        <p:nvSpPr>
          <p:cNvPr id="320" name="Google Shape;320;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800"/>
              <a:buChar char="•"/>
            </a:pPr>
            <a:r>
              <a:rPr lang="en-GB" sz="2800"/>
              <a:t>The system </a:t>
            </a:r>
            <a:r>
              <a:rPr lang="en-GB" sz="2800">
                <a:solidFill>
                  <a:srgbClr val="C00000"/>
                </a:solidFill>
              </a:rPr>
              <a:t>should</a:t>
            </a:r>
            <a:r>
              <a:rPr lang="en-GB" sz="2800"/>
              <a:t> be easy to use by medical staff and should be organized in such a way that user errors are minimized. (Goal)</a:t>
            </a:r>
            <a:endParaRPr/>
          </a:p>
          <a:p>
            <a:pPr marL="342900" lvl="0" indent="-342900" algn="l" rtl="0">
              <a:lnSpc>
                <a:spcPct val="100000"/>
              </a:lnSpc>
              <a:spcBef>
                <a:spcPts val="560"/>
              </a:spcBef>
              <a:spcAft>
                <a:spcPts val="0"/>
              </a:spcAft>
              <a:buClr>
                <a:schemeClr val="dk1"/>
              </a:buClr>
              <a:buSzPts val="2800"/>
              <a:buChar char="•"/>
            </a:pPr>
            <a:r>
              <a:rPr lang="en-GB" sz="2800"/>
              <a:t>Medical staff </a:t>
            </a:r>
            <a:r>
              <a:rPr lang="en-GB" sz="2800">
                <a:solidFill>
                  <a:srgbClr val="C00000"/>
                </a:solidFill>
              </a:rPr>
              <a:t>shall </a:t>
            </a:r>
            <a:r>
              <a:rPr lang="en-GB" sz="2800"/>
              <a:t>be able to use all the system functions after four hours of training. After this training, the </a:t>
            </a:r>
            <a:r>
              <a:rPr lang="en-GB" sz="2800">
                <a:solidFill>
                  <a:srgbClr val="C00000"/>
                </a:solidFill>
              </a:rPr>
              <a:t>average number of errors </a:t>
            </a:r>
            <a:r>
              <a:rPr lang="en-GB" sz="2800"/>
              <a:t>made by experienced users </a:t>
            </a:r>
            <a:r>
              <a:rPr lang="en-GB" sz="2800">
                <a:solidFill>
                  <a:srgbClr val="C00000"/>
                </a:solidFill>
              </a:rPr>
              <a:t>shall not exceed two per hour of system use</a:t>
            </a:r>
            <a:r>
              <a:rPr lang="en-GB" sz="2800"/>
              <a:t>. (Testable non-functional requirement)</a:t>
            </a:r>
            <a:endParaRPr sz="2800"/>
          </a:p>
          <a:p>
            <a:pPr marL="342900" lvl="0" indent="-165100" algn="l" rtl="0">
              <a:lnSpc>
                <a:spcPct val="100000"/>
              </a:lnSpc>
              <a:spcBef>
                <a:spcPts val="560"/>
              </a:spcBef>
              <a:spcAft>
                <a:spcPts val="0"/>
              </a:spcAft>
              <a:buClr>
                <a:schemeClr val="dk1"/>
              </a:buClr>
              <a:buSzPts val="2800"/>
              <a:buNone/>
            </a:pPr>
            <a:endParaRPr sz="2800"/>
          </a:p>
          <a:p>
            <a:pPr marL="342900" lvl="0" indent="-165100" algn="l" rtl="0">
              <a:lnSpc>
                <a:spcPct val="100000"/>
              </a:lnSpc>
              <a:spcBef>
                <a:spcPts val="560"/>
              </a:spcBef>
              <a:spcAft>
                <a:spcPts val="0"/>
              </a:spcAft>
              <a:buClr>
                <a:schemeClr val="dk1"/>
              </a:buClr>
              <a:buSzPts val="2800"/>
              <a:buNone/>
            </a:pPr>
            <a:endParaRPr sz="2800"/>
          </a:p>
          <a:p>
            <a:pPr marL="0" lvl="0" indent="0" algn="l" rtl="0">
              <a:lnSpc>
                <a:spcPct val="100000"/>
              </a:lnSpc>
              <a:spcBef>
                <a:spcPts val="560"/>
              </a:spcBef>
              <a:spcAft>
                <a:spcPts val="0"/>
              </a:spcAft>
              <a:buClr>
                <a:schemeClr val="dk1"/>
              </a:buClr>
              <a:buSzPts val="2800"/>
              <a:buNone/>
            </a:pPr>
            <a:endParaRPr sz="2800"/>
          </a:p>
        </p:txBody>
      </p:sp>
      <p:sp>
        <p:nvSpPr>
          <p:cNvPr id="321" name="Google Shape;321;p2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22" name="Google Shape;322;p2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23" name="Google Shape;323;p2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5"/>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Metrics for Measuring Non-Functional Requirements</a:t>
            </a:r>
            <a:endParaRPr/>
          </a:p>
        </p:txBody>
      </p:sp>
      <p:graphicFrame>
        <p:nvGraphicFramePr>
          <p:cNvPr id="329" name="Google Shape;329;p25"/>
          <p:cNvGraphicFramePr/>
          <p:nvPr/>
        </p:nvGraphicFramePr>
        <p:xfrm>
          <a:off x="457200" y="1524000"/>
          <a:ext cx="8229600" cy="4820990"/>
        </p:xfrm>
        <a:graphic>
          <a:graphicData uri="http://schemas.openxmlformats.org/drawingml/2006/table">
            <a:tbl>
              <a:tblPr firstRow="1" bandRow="1">
                <a:noFill/>
                <a:tableStyleId>{54ED4AE3-774A-42B7-8420-56C0AD00CE45}</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solidFill>
                            <a:schemeClr val="dk1"/>
                          </a:solidFill>
                        </a:rPr>
                        <a:t>Metrics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solidFill>
                            <a:schemeClr val="dk1"/>
                          </a:solidFill>
                        </a:rPr>
                        <a:t>Measure </a:t>
                      </a:r>
                      <a:endParaRPr sz="1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Speed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Processed transactions/second</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User/event response time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Screen refresh time</a:t>
                      </a:r>
                      <a:endParaRPr sz="16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Size </a:t>
                      </a:r>
                      <a:endParaRPr sz="16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Mbytes</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Number of ROM chips</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Ease of use</a:t>
                      </a:r>
                      <a:endParaRPr sz="16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Training time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Number of help frames</a:t>
                      </a:r>
                      <a:endParaRPr sz="16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Reliability</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Mean time to failure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Probability of unavailability</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Rate of failure occurrence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Availability</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Robustness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Time to restart after failure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Percentage of events causing failure</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Probability of data corruption on failure</a:t>
                      </a:r>
                      <a:endParaRPr sz="1400" u="none" strike="noStrike" cap="none"/>
                    </a:p>
                  </a:txBody>
                  <a:tcPr marL="91450" marR="91450" marT="45725" marB="45725"/>
                </a:tc>
                <a:extLst>
                  <a:ext uri="{0D108BD9-81ED-4DB2-BD59-A6C34878D82A}">
                    <a16:rowId xmlns:a16="http://schemas.microsoft.com/office/drawing/2014/main" val="10005"/>
                  </a:ext>
                </a:extLst>
              </a:tr>
              <a:tr h="370850">
                <a:tc>
                  <a:txBody>
                    <a:bodyPr/>
                    <a:lstStyle/>
                    <a:p>
                      <a:pPr marL="0" marR="0" lvl="0" indent="0" algn="just" rtl="0">
                        <a:lnSpc>
                          <a:spcPct val="100000"/>
                        </a:lnSpc>
                        <a:spcBef>
                          <a:spcPts val="0"/>
                        </a:spcBef>
                        <a:spcAft>
                          <a:spcPts val="0"/>
                        </a:spcAft>
                        <a:buClr>
                          <a:srgbClr val="000000"/>
                        </a:buClr>
                        <a:buSzPts val="1600"/>
                        <a:buFont typeface="Arial"/>
                        <a:buNone/>
                      </a:pPr>
                      <a:r>
                        <a:rPr lang="en-GB" sz="1600" u="none" strike="noStrike" cap="none"/>
                        <a:t>Portability </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Percentage of target dependent statements</a:t>
                      </a:r>
                      <a:endParaRPr sz="1400" u="none" strike="noStrike" cap="none"/>
                    </a:p>
                    <a:p>
                      <a:pPr marL="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rgbClr val="000000"/>
                          </a:solidFill>
                          <a:latin typeface="Arial"/>
                          <a:ea typeface="Arial"/>
                          <a:cs typeface="Arial"/>
                          <a:sym typeface="Arial"/>
                        </a:rPr>
                        <a:t>Number of target systems</a:t>
                      </a:r>
                      <a:endParaRPr sz="1400" u="none" strike="noStrike" cap="none"/>
                    </a:p>
                  </a:txBody>
                  <a:tcPr marL="91450" marR="91450" marT="45725" marB="45725"/>
                </a:tc>
                <a:extLst>
                  <a:ext uri="{0D108BD9-81ED-4DB2-BD59-A6C34878D82A}">
                    <a16:rowId xmlns:a16="http://schemas.microsoft.com/office/drawing/2014/main" val="10006"/>
                  </a:ext>
                </a:extLst>
              </a:tr>
            </a:tbl>
          </a:graphicData>
        </a:graphic>
      </p:graphicFrame>
      <p:sp>
        <p:nvSpPr>
          <p:cNvPr id="330" name="Google Shape;330;p2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31" name="Google Shape;331;p2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32" name="Google Shape;332;p2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Domain Requirements</a:t>
            </a:r>
            <a:endParaRPr/>
          </a:p>
        </p:txBody>
      </p:sp>
      <p:sp>
        <p:nvSpPr>
          <p:cNvPr id="338" name="Google Shape;338;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GB" sz="2800"/>
              <a:t>System’s operational domain imposes requirements on the system:</a:t>
            </a:r>
            <a:endParaRPr/>
          </a:p>
          <a:p>
            <a:pPr marL="742950" lvl="1" indent="-285750" algn="just" rtl="0">
              <a:lnSpc>
                <a:spcPct val="90000"/>
              </a:lnSpc>
              <a:spcBef>
                <a:spcPts val="480"/>
              </a:spcBef>
              <a:spcAft>
                <a:spcPts val="0"/>
              </a:spcAft>
              <a:buClr>
                <a:schemeClr val="dk1"/>
              </a:buClr>
              <a:buSzPts val="2400"/>
              <a:buChar char="–"/>
            </a:pPr>
            <a:r>
              <a:rPr lang="en-GB" sz="2400"/>
              <a:t>E.g. a train control system has to take into account the braking characteristics in different weather conditions</a:t>
            </a:r>
            <a:endParaRPr/>
          </a:p>
          <a:p>
            <a:pPr marL="342900" lvl="0" indent="-342900" algn="just" rtl="0">
              <a:lnSpc>
                <a:spcPct val="90000"/>
              </a:lnSpc>
              <a:spcBef>
                <a:spcPts val="560"/>
              </a:spcBef>
              <a:spcAft>
                <a:spcPts val="0"/>
              </a:spcAft>
              <a:buClr>
                <a:schemeClr val="dk1"/>
              </a:buClr>
              <a:buSzPts val="2800"/>
              <a:buChar char="•"/>
            </a:pPr>
            <a:r>
              <a:rPr lang="en-GB" sz="2800"/>
              <a:t>Domain requirements could be </a:t>
            </a:r>
            <a:r>
              <a:rPr lang="en-GB" sz="2800">
                <a:solidFill>
                  <a:srgbClr val="C00000"/>
                </a:solidFill>
              </a:rPr>
              <a:t>new functional requirements</a:t>
            </a:r>
            <a:r>
              <a:rPr lang="en-GB" sz="2800"/>
              <a:t>, </a:t>
            </a:r>
            <a:r>
              <a:rPr lang="en-GB" sz="2800">
                <a:solidFill>
                  <a:srgbClr val="C00000"/>
                </a:solidFill>
              </a:rPr>
              <a:t>constraints</a:t>
            </a:r>
            <a:r>
              <a:rPr lang="en-GB" sz="2800"/>
              <a:t> on existing requirements or define </a:t>
            </a:r>
            <a:r>
              <a:rPr lang="en-GB" sz="2800">
                <a:solidFill>
                  <a:srgbClr val="C00000"/>
                </a:solidFill>
              </a:rPr>
              <a:t>specific computations</a:t>
            </a:r>
            <a:endParaRPr sz="2800"/>
          </a:p>
          <a:p>
            <a:pPr marL="342900" lvl="0" indent="-342900" algn="just" rtl="0">
              <a:lnSpc>
                <a:spcPct val="90000"/>
              </a:lnSpc>
              <a:spcBef>
                <a:spcPts val="560"/>
              </a:spcBef>
              <a:spcAft>
                <a:spcPts val="0"/>
              </a:spcAft>
              <a:buClr>
                <a:schemeClr val="dk1"/>
              </a:buClr>
              <a:buSzPts val="2800"/>
              <a:buChar char="•"/>
            </a:pPr>
            <a:r>
              <a:rPr lang="en-GB" sz="2800"/>
              <a:t>If domain requirements are not satisfied, the system may be unworkable</a:t>
            </a:r>
            <a:endParaRPr/>
          </a:p>
          <a:p>
            <a:pPr marL="0" lvl="0" indent="0" algn="just" rtl="0">
              <a:lnSpc>
                <a:spcPct val="100000"/>
              </a:lnSpc>
              <a:spcBef>
                <a:spcPts val="560"/>
              </a:spcBef>
              <a:spcAft>
                <a:spcPts val="0"/>
              </a:spcAft>
              <a:buClr>
                <a:schemeClr val="dk1"/>
              </a:buClr>
              <a:buSzPts val="2800"/>
              <a:buNone/>
            </a:pPr>
            <a:endParaRPr sz="2800"/>
          </a:p>
        </p:txBody>
      </p:sp>
      <p:sp>
        <p:nvSpPr>
          <p:cNvPr id="339" name="Google Shape;339;p2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40" name="Google Shape;340;p2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41" name="Google Shape;341;p2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Example: Train Protection System</a:t>
            </a:r>
            <a:endParaRPr/>
          </a:p>
        </p:txBody>
      </p:sp>
      <p:sp>
        <p:nvSpPr>
          <p:cNvPr id="347" name="Google Shape;347;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Example of a domain requirement for a train protection system: The </a:t>
            </a:r>
            <a:r>
              <a:rPr lang="en-GB" sz="2800">
                <a:solidFill>
                  <a:srgbClr val="C00000"/>
                </a:solidFill>
              </a:rPr>
              <a:t>deceleration of the train shall be computed</a:t>
            </a:r>
            <a:r>
              <a:rPr lang="en-GB" sz="2800"/>
              <a:t> as:</a:t>
            </a:r>
            <a:endParaRPr/>
          </a:p>
          <a:p>
            <a:pPr marL="457200" lvl="1" indent="0" algn="just" rtl="0">
              <a:lnSpc>
                <a:spcPct val="100000"/>
              </a:lnSpc>
              <a:spcBef>
                <a:spcPts val="480"/>
              </a:spcBef>
              <a:spcAft>
                <a:spcPts val="0"/>
              </a:spcAft>
              <a:buClr>
                <a:schemeClr val="dk1"/>
              </a:buClr>
              <a:buSzPts val="2400"/>
              <a:buNone/>
            </a:pPr>
            <a:r>
              <a:rPr lang="en-GB" sz="2400"/>
              <a:t>	</a:t>
            </a:r>
            <a:r>
              <a:rPr lang="en-GB" sz="2400" b="1"/>
              <a:t>Dtrain = Dcontrol + Dgradient </a:t>
            </a:r>
            <a:endParaRPr/>
          </a:p>
          <a:p>
            <a:pPr marL="914400" lvl="2" indent="0" algn="just" rtl="0">
              <a:lnSpc>
                <a:spcPct val="100000"/>
              </a:lnSpc>
              <a:spcBef>
                <a:spcPts val="480"/>
              </a:spcBef>
              <a:spcAft>
                <a:spcPts val="0"/>
              </a:spcAft>
              <a:buClr>
                <a:schemeClr val="dk1"/>
              </a:buClr>
              <a:buSzPts val="2400"/>
              <a:buNone/>
            </a:pPr>
            <a:r>
              <a:rPr lang="en-GB"/>
              <a:t>where Dgradient is 9.81ms2 * compensated gradient/alpha and where the values of 9.81ms2 /alpha are known for different types of train.</a:t>
            </a:r>
            <a:endParaRPr/>
          </a:p>
          <a:p>
            <a:pPr marL="342900" lvl="0" indent="-342900" algn="just" rtl="0">
              <a:lnSpc>
                <a:spcPct val="100000"/>
              </a:lnSpc>
              <a:spcBef>
                <a:spcPts val="560"/>
              </a:spcBef>
              <a:spcAft>
                <a:spcPts val="0"/>
              </a:spcAft>
              <a:buClr>
                <a:schemeClr val="dk1"/>
              </a:buClr>
              <a:buSzPts val="2800"/>
              <a:buFont typeface="Arial"/>
              <a:buChar char="•"/>
            </a:pPr>
            <a:r>
              <a:rPr lang="en-GB" sz="2800"/>
              <a:t>It is </a:t>
            </a:r>
            <a:r>
              <a:rPr lang="en-GB" sz="2800">
                <a:solidFill>
                  <a:srgbClr val="C00000"/>
                </a:solidFill>
              </a:rPr>
              <a:t>difficult for a non-specialist </a:t>
            </a:r>
            <a:r>
              <a:rPr lang="en-GB" sz="2800"/>
              <a:t>to understand the implications of this and how it interacts with other requirements</a:t>
            </a:r>
            <a:endParaRPr/>
          </a:p>
          <a:p>
            <a:pPr marL="0" lvl="0" indent="0" algn="just" rtl="0">
              <a:lnSpc>
                <a:spcPct val="100000"/>
              </a:lnSpc>
              <a:spcBef>
                <a:spcPts val="560"/>
              </a:spcBef>
              <a:spcAft>
                <a:spcPts val="0"/>
              </a:spcAft>
              <a:buClr>
                <a:schemeClr val="dk1"/>
              </a:buClr>
              <a:buSzPts val="2800"/>
              <a:buNone/>
            </a:pPr>
            <a:endParaRPr sz="2800"/>
          </a:p>
        </p:txBody>
      </p:sp>
      <p:sp>
        <p:nvSpPr>
          <p:cNvPr id="348" name="Google Shape;348;p2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49" name="Google Shape;349;p2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50" name="Google Shape;350;p2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Domain Requirements Problems</a:t>
            </a:r>
            <a:endParaRPr/>
          </a:p>
        </p:txBody>
      </p:sp>
      <p:sp>
        <p:nvSpPr>
          <p:cNvPr id="356" name="Google Shape;356;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3200"/>
              <a:buFont typeface="Arial"/>
              <a:buChar char="•"/>
            </a:pPr>
            <a:r>
              <a:rPr lang="en-GB"/>
              <a:t>Understandability:</a:t>
            </a:r>
            <a:endParaRPr/>
          </a:p>
          <a:p>
            <a:pPr marL="742950" lvl="1" indent="-285750" algn="just" rtl="0">
              <a:lnSpc>
                <a:spcPct val="100000"/>
              </a:lnSpc>
              <a:spcBef>
                <a:spcPts val="560"/>
              </a:spcBef>
              <a:spcAft>
                <a:spcPts val="0"/>
              </a:spcAft>
              <a:buClr>
                <a:schemeClr val="dk1"/>
              </a:buClr>
              <a:buSzPts val="2800"/>
              <a:buFont typeface="Arial"/>
              <a:buChar char="–"/>
            </a:pPr>
            <a:r>
              <a:rPr lang="en-GB"/>
              <a:t>Requirements are expressed in the </a:t>
            </a:r>
            <a:r>
              <a:rPr lang="en-GB">
                <a:solidFill>
                  <a:srgbClr val="C00000"/>
                </a:solidFill>
              </a:rPr>
              <a:t>language of the application domain</a:t>
            </a:r>
            <a:endParaRPr/>
          </a:p>
          <a:p>
            <a:pPr marL="742950" lvl="1" indent="-285750" algn="just" rtl="0">
              <a:lnSpc>
                <a:spcPct val="100000"/>
              </a:lnSpc>
              <a:spcBef>
                <a:spcPts val="560"/>
              </a:spcBef>
              <a:spcAft>
                <a:spcPts val="0"/>
              </a:spcAft>
              <a:buClr>
                <a:schemeClr val="dk1"/>
              </a:buClr>
              <a:buSzPts val="2800"/>
              <a:buFont typeface="Arial"/>
              <a:buChar char="–"/>
            </a:pPr>
            <a:r>
              <a:rPr lang="en-GB"/>
              <a:t>This is often not understood by software engineers developing the system</a:t>
            </a:r>
            <a:endParaRPr/>
          </a:p>
          <a:p>
            <a:pPr marL="342900" lvl="0" indent="-342900" algn="just" rtl="0">
              <a:lnSpc>
                <a:spcPct val="100000"/>
              </a:lnSpc>
              <a:spcBef>
                <a:spcPts val="640"/>
              </a:spcBef>
              <a:spcAft>
                <a:spcPts val="0"/>
              </a:spcAft>
              <a:buClr>
                <a:schemeClr val="dk1"/>
              </a:buClr>
              <a:buSzPts val="3200"/>
              <a:buFont typeface="Arial"/>
              <a:buChar char="•"/>
            </a:pPr>
            <a:r>
              <a:rPr lang="en-GB"/>
              <a:t>Implicitness:</a:t>
            </a:r>
            <a:endParaRPr/>
          </a:p>
          <a:p>
            <a:pPr marL="742950" lvl="1" indent="-285750" algn="just" rtl="0">
              <a:lnSpc>
                <a:spcPct val="100000"/>
              </a:lnSpc>
              <a:spcBef>
                <a:spcPts val="560"/>
              </a:spcBef>
              <a:spcAft>
                <a:spcPts val="0"/>
              </a:spcAft>
              <a:buClr>
                <a:schemeClr val="dk1"/>
              </a:buClr>
              <a:buSzPts val="2800"/>
              <a:buFont typeface="Arial"/>
              <a:buChar char="–"/>
            </a:pPr>
            <a:r>
              <a:rPr lang="en-GB"/>
              <a:t>Domain specialists </a:t>
            </a:r>
            <a:r>
              <a:rPr lang="en-GB">
                <a:solidFill>
                  <a:srgbClr val="C00000"/>
                </a:solidFill>
              </a:rPr>
              <a:t>understand the area so well </a:t>
            </a:r>
            <a:r>
              <a:rPr lang="en-GB"/>
              <a:t>that they do not think of making the domain requirements explicit</a:t>
            </a:r>
            <a:endParaRPr/>
          </a:p>
          <a:p>
            <a:pPr marL="0" lvl="0" indent="0" algn="just" rtl="0">
              <a:lnSpc>
                <a:spcPct val="100000"/>
              </a:lnSpc>
              <a:spcBef>
                <a:spcPts val="640"/>
              </a:spcBef>
              <a:spcAft>
                <a:spcPts val="0"/>
              </a:spcAft>
              <a:buClr>
                <a:schemeClr val="dk1"/>
              </a:buClr>
              <a:buSzPts val="3200"/>
              <a:buNone/>
            </a:pPr>
            <a:endParaRPr/>
          </a:p>
        </p:txBody>
      </p:sp>
      <p:sp>
        <p:nvSpPr>
          <p:cNvPr id="357" name="Google Shape;357;p2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58" name="Google Shape;358;p2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59" name="Google Shape;359;p2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GB"/>
              <a:t>REQUIREMENTS ENGINEERING PROCESSES</a:t>
            </a:r>
            <a:endParaRPr/>
          </a:p>
        </p:txBody>
      </p:sp>
      <p:sp>
        <p:nvSpPr>
          <p:cNvPr id="365" name="Google Shape;365;p2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888888"/>
              </a:buClr>
              <a:buSzPts val="2000"/>
              <a:buNone/>
            </a:pPr>
            <a:endParaRPr/>
          </a:p>
        </p:txBody>
      </p:sp>
      <p:sp>
        <p:nvSpPr>
          <p:cNvPr id="366" name="Google Shape;366;p2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67" name="Google Shape;367;p2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68" name="Google Shape;368;p2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Requirements Engineering Processes</a:t>
            </a:r>
            <a:endParaRPr/>
          </a:p>
        </p:txBody>
      </p:sp>
      <p:sp>
        <p:nvSpPr>
          <p:cNvPr id="374" name="Google Shape;374;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90000"/>
              </a:lnSpc>
              <a:spcBef>
                <a:spcPts val="0"/>
              </a:spcBef>
              <a:spcAft>
                <a:spcPts val="0"/>
              </a:spcAft>
              <a:buClr>
                <a:schemeClr val="dk1"/>
              </a:buClr>
              <a:buSzPct val="100000"/>
              <a:buChar char="•"/>
            </a:pPr>
            <a:r>
              <a:rPr lang="en-GB"/>
              <a:t>The processes used for RE vary widely depending on the </a:t>
            </a:r>
            <a:r>
              <a:rPr lang="en-GB">
                <a:solidFill>
                  <a:srgbClr val="C00000"/>
                </a:solidFill>
              </a:rPr>
              <a:t>application domain</a:t>
            </a:r>
            <a:r>
              <a:rPr lang="en-GB"/>
              <a:t>, the </a:t>
            </a:r>
            <a:r>
              <a:rPr lang="en-GB">
                <a:solidFill>
                  <a:srgbClr val="C00000"/>
                </a:solidFill>
              </a:rPr>
              <a:t>people involved </a:t>
            </a:r>
            <a:r>
              <a:rPr lang="en-GB"/>
              <a:t>and the </a:t>
            </a:r>
            <a:r>
              <a:rPr lang="en-GB">
                <a:solidFill>
                  <a:srgbClr val="C00000"/>
                </a:solidFill>
              </a:rPr>
              <a:t>organisation</a:t>
            </a:r>
            <a:r>
              <a:rPr lang="en-GB"/>
              <a:t> developing the requirements</a:t>
            </a:r>
            <a:endParaRPr/>
          </a:p>
          <a:p>
            <a:pPr marL="342900" lvl="0" indent="-342900" algn="l" rtl="0">
              <a:lnSpc>
                <a:spcPct val="90000"/>
              </a:lnSpc>
              <a:spcBef>
                <a:spcPts val="1200"/>
              </a:spcBef>
              <a:spcAft>
                <a:spcPts val="0"/>
              </a:spcAft>
              <a:buClr>
                <a:schemeClr val="dk1"/>
              </a:buClr>
              <a:buSzPct val="100000"/>
              <a:buChar char="•"/>
            </a:pPr>
            <a:r>
              <a:rPr lang="en-GB"/>
              <a:t>However, there are a number of </a:t>
            </a:r>
            <a:r>
              <a:rPr lang="en-GB" b="1">
                <a:solidFill>
                  <a:srgbClr val="C00000"/>
                </a:solidFill>
              </a:rPr>
              <a:t>generic activities </a:t>
            </a:r>
            <a:r>
              <a:rPr lang="en-GB"/>
              <a:t>common to all processes:</a:t>
            </a:r>
            <a:endParaRPr/>
          </a:p>
          <a:p>
            <a:pPr marL="742950" lvl="1" indent="-299085" algn="l" rtl="0">
              <a:lnSpc>
                <a:spcPct val="90000"/>
              </a:lnSpc>
              <a:spcBef>
                <a:spcPts val="1200"/>
              </a:spcBef>
              <a:spcAft>
                <a:spcPts val="0"/>
              </a:spcAft>
              <a:buClr>
                <a:schemeClr val="dk1"/>
              </a:buClr>
              <a:buSzPct val="100000"/>
              <a:buChar char="–"/>
            </a:pPr>
            <a:r>
              <a:rPr lang="en-GB"/>
              <a:t>Requirements elicitation and analysis</a:t>
            </a:r>
            <a:endParaRPr/>
          </a:p>
          <a:p>
            <a:pPr marL="742950" lvl="1" indent="-299085" algn="l" rtl="0">
              <a:lnSpc>
                <a:spcPct val="90000"/>
              </a:lnSpc>
              <a:spcBef>
                <a:spcPts val="1200"/>
              </a:spcBef>
              <a:spcAft>
                <a:spcPts val="0"/>
              </a:spcAft>
              <a:buClr>
                <a:schemeClr val="dk1"/>
              </a:buClr>
              <a:buSzPct val="100000"/>
              <a:buChar char="–"/>
            </a:pPr>
            <a:r>
              <a:rPr lang="en-GB"/>
              <a:t>Requirements specification</a:t>
            </a:r>
            <a:endParaRPr/>
          </a:p>
          <a:p>
            <a:pPr marL="742950" lvl="1" indent="-299085" algn="l" rtl="0">
              <a:lnSpc>
                <a:spcPct val="90000"/>
              </a:lnSpc>
              <a:spcBef>
                <a:spcPts val="1200"/>
              </a:spcBef>
              <a:spcAft>
                <a:spcPts val="0"/>
              </a:spcAft>
              <a:buClr>
                <a:schemeClr val="dk1"/>
              </a:buClr>
              <a:buSzPct val="100000"/>
              <a:buChar char="–"/>
            </a:pPr>
            <a:r>
              <a:rPr lang="en-GB"/>
              <a:t>Requirements validation</a:t>
            </a:r>
            <a:endParaRPr/>
          </a:p>
          <a:p>
            <a:pPr marL="742950" lvl="1" indent="-299085" algn="l" rtl="0">
              <a:lnSpc>
                <a:spcPct val="90000"/>
              </a:lnSpc>
              <a:spcBef>
                <a:spcPts val="1200"/>
              </a:spcBef>
              <a:spcAft>
                <a:spcPts val="0"/>
              </a:spcAft>
              <a:buClr>
                <a:schemeClr val="dk1"/>
              </a:buClr>
              <a:buSzPct val="100000"/>
              <a:buChar char="–"/>
            </a:pPr>
            <a:r>
              <a:rPr lang="en-GB"/>
              <a:t>Requirements change</a:t>
            </a:r>
            <a:endParaRPr/>
          </a:p>
          <a:p>
            <a:pPr marL="342900" lvl="0" indent="-342900" algn="l" rtl="0">
              <a:lnSpc>
                <a:spcPct val="90000"/>
              </a:lnSpc>
              <a:spcBef>
                <a:spcPts val="1200"/>
              </a:spcBef>
              <a:spcAft>
                <a:spcPts val="0"/>
              </a:spcAft>
              <a:buClr>
                <a:schemeClr val="dk1"/>
              </a:buClr>
              <a:buSzPct val="100000"/>
              <a:buChar char="•"/>
            </a:pPr>
            <a:r>
              <a:rPr lang="en-GB"/>
              <a:t>In practice, RE is an </a:t>
            </a:r>
            <a:r>
              <a:rPr lang="en-GB">
                <a:solidFill>
                  <a:srgbClr val="C00000"/>
                </a:solidFill>
              </a:rPr>
              <a:t>iterative activity </a:t>
            </a:r>
            <a:r>
              <a:rPr lang="en-GB"/>
              <a:t>in which these processes are interleaved</a:t>
            </a:r>
            <a:endParaRPr/>
          </a:p>
        </p:txBody>
      </p:sp>
      <p:sp>
        <p:nvSpPr>
          <p:cNvPr id="375" name="Google Shape;375;p3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76" name="Google Shape;376;p3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77" name="Google Shape;377;p3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1"/>
          <p:cNvSpPr txBox="1">
            <a:spLocks noGrp="1"/>
          </p:cNvSpPr>
          <p:nvPr>
            <p:ph type="title"/>
          </p:nvPr>
        </p:nvSpPr>
        <p:spPr>
          <a:xfrm>
            <a:off x="1219200" y="152400"/>
            <a:ext cx="7162801"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A Spiral View: Requirements Engineering Processes</a:t>
            </a:r>
            <a:endParaRPr/>
          </a:p>
        </p:txBody>
      </p:sp>
      <p:sp>
        <p:nvSpPr>
          <p:cNvPr id="383" name="Google Shape;383;p3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384" name="Google Shape;384;p3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385" name="Google Shape;385;p3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31</a:t>
            </a:fld>
            <a:endParaRPr/>
          </a:p>
        </p:txBody>
      </p:sp>
      <p:pic>
        <p:nvPicPr>
          <p:cNvPr id="386" name="Google Shape;386;p31" descr="4.12 ReqEngSpiral.eps"/>
          <p:cNvPicPr preferRelativeResize="0"/>
          <p:nvPr/>
        </p:nvPicPr>
        <p:blipFill rotWithShape="1">
          <a:blip r:embed="rId3">
            <a:alphaModFix/>
          </a:blip>
          <a:srcRect/>
          <a:stretch/>
        </p:blipFill>
        <p:spPr>
          <a:xfrm>
            <a:off x="685800" y="1417637"/>
            <a:ext cx="8000999" cy="516451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Engineering Processes</a:t>
            </a:r>
            <a:endParaRPr/>
          </a:p>
        </p:txBody>
      </p:sp>
      <p:grpSp>
        <p:nvGrpSpPr>
          <p:cNvPr id="392" name="Google Shape;392;p32"/>
          <p:cNvGrpSpPr/>
          <p:nvPr/>
        </p:nvGrpSpPr>
        <p:grpSpPr>
          <a:xfrm>
            <a:off x="461318" y="1600200"/>
            <a:ext cx="8221363" cy="4525963"/>
            <a:chOff x="4118" y="0"/>
            <a:chExt cx="8221363" cy="4525963"/>
          </a:xfrm>
        </p:grpSpPr>
        <p:sp>
          <p:nvSpPr>
            <p:cNvPr id="393" name="Google Shape;393;p32"/>
            <p:cNvSpPr/>
            <p:nvPr/>
          </p:nvSpPr>
          <p:spPr>
            <a:xfrm>
              <a:off x="617219" y="0"/>
              <a:ext cx="6995160" cy="4525963"/>
            </a:xfrm>
            <a:prstGeom prst="rightArrow">
              <a:avLst>
                <a:gd name="adj1" fmla="val 50000"/>
                <a:gd name="adj2" fmla="val 50000"/>
              </a:avLst>
            </a:prstGeom>
            <a:solidFill>
              <a:srgbClr val="CFD7E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32"/>
            <p:cNvSpPr/>
            <p:nvPr/>
          </p:nvSpPr>
          <p:spPr>
            <a:xfrm>
              <a:off x="4118"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32"/>
            <p:cNvSpPr txBox="1"/>
            <p:nvPr/>
          </p:nvSpPr>
          <p:spPr>
            <a:xfrm>
              <a:off x="92494"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Elicitation and Analysis</a:t>
              </a:r>
              <a:endParaRPr sz="1400" b="0" i="0" u="none" strike="noStrike" cap="none">
                <a:solidFill>
                  <a:srgbClr val="000000"/>
                </a:solidFill>
                <a:latin typeface="Arial"/>
                <a:ea typeface="Arial"/>
                <a:cs typeface="Arial"/>
                <a:sym typeface="Arial"/>
              </a:endParaRPr>
            </a:p>
          </p:txBody>
        </p:sp>
        <p:sp>
          <p:nvSpPr>
            <p:cNvPr id="396" name="Google Shape;396;p32"/>
            <p:cNvSpPr/>
            <p:nvPr/>
          </p:nvSpPr>
          <p:spPr>
            <a:xfrm>
              <a:off x="2084222"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32"/>
            <p:cNvSpPr txBox="1"/>
            <p:nvPr/>
          </p:nvSpPr>
          <p:spPr>
            <a:xfrm>
              <a:off x="2172598"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Specification</a:t>
              </a:r>
              <a:endParaRPr sz="1400" b="0" i="0" u="none" strike="noStrike" cap="none">
                <a:solidFill>
                  <a:srgbClr val="000000"/>
                </a:solidFill>
                <a:latin typeface="Arial"/>
                <a:ea typeface="Arial"/>
                <a:cs typeface="Arial"/>
                <a:sym typeface="Arial"/>
              </a:endParaRPr>
            </a:p>
          </p:txBody>
        </p:sp>
        <p:sp>
          <p:nvSpPr>
            <p:cNvPr id="398" name="Google Shape;398;p32"/>
            <p:cNvSpPr/>
            <p:nvPr/>
          </p:nvSpPr>
          <p:spPr>
            <a:xfrm>
              <a:off x="4164326"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32"/>
            <p:cNvSpPr txBox="1"/>
            <p:nvPr/>
          </p:nvSpPr>
          <p:spPr>
            <a:xfrm>
              <a:off x="4252702"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Validation</a:t>
              </a:r>
              <a:endParaRPr sz="1400" b="0" i="0" u="none" strike="noStrike" cap="none">
                <a:solidFill>
                  <a:srgbClr val="000000"/>
                </a:solidFill>
                <a:latin typeface="Arial"/>
                <a:ea typeface="Arial"/>
                <a:cs typeface="Arial"/>
                <a:sym typeface="Arial"/>
              </a:endParaRPr>
            </a:p>
          </p:txBody>
        </p:sp>
        <p:sp>
          <p:nvSpPr>
            <p:cNvPr id="400" name="Google Shape;400;p32"/>
            <p:cNvSpPr/>
            <p:nvPr/>
          </p:nvSpPr>
          <p:spPr>
            <a:xfrm>
              <a:off x="6244430"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32"/>
            <p:cNvSpPr txBox="1"/>
            <p:nvPr/>
          </p:nvSpPr>
          <p:spPr>
            <a:xfrm>
              <a:off x="6332806"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Change</a:t>
              </a:r>
              <a:endParaRPr sz="1400" b="0" i="0" u="none" strike="noStrike" cap="none">
                <a:solidFill>
                  <a:srgbClr val="000000"/>
                </a:solidFill>
                <a:latin typeface="Arial"/>
                <a:ea typeface="Arial"/>
                <a:cs typeface="Arial"/>
                <a:sym typeface="Arial"/>
              </a:endParaRPr>
            </a:p>
          </p:txBody>
        </p:sp>
      </p:grpSp>
      <p:sp>
        <p:nvSpPr>
          <p:cNvPr id="402" name="Google Shape;402;p3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03" name="Google Shape;403;p3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04" name="Google Shape;404;p3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Elicitation and Analysis</a:t>
            </a:r>
            <a:endParaRPr/>
          </a:p>
        </p:txBody>
      </p:sp>
      <p:sp>
        <p:nvSpPr>
          <p:cNvPr id="410" name="Google Shape;410;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GB" sz="2800"/>
              <a:t>Sometimes called requirements elicitation or requirements discovery</a:t>
            </a:r>
            <a:endParaRPr/>
          </a:p>
          <a:p>
            <a:pPr marL="342900" lvl="0" indent="-342900" algn="just" rtl="0">
              <a:lnSpc>
                <a:spcPct val="90000"/>
              </a:lnSpc>
              <a:spcBef>
                <a:spcPts val="560"/>
              </a:spcBef>
              <a:spcAft>
                <a:spcPts val="0"/>
              </a:spcAft>
              <a:buClr>
                <a:schemeClr val="dk1"/>
              </a:buClr>
              <a:buSzPts val="2800"/>
              <a:buChar char="•"/>
            </a:pPr>
            <a:r>
              <a:rPr lang="en-GB" sz="2800"/>
              <a:t>Involves technical staff working with customers to find out about the </a:t>
            </a:r>
            <a:r>
              <a:rPr lang="en-GB" sz="2800" b="1">
                <a:solidFill>
                  <a:srgbClr val="C00000"/>
                </a:solidFill>
              </a:rPr>
              <a:t>application domain</a:t>
            </a:r>
            <a:r>
              <a:rPr lang="en-GB" sz="2800"/>
              <a:t>, the </a:t>
            </a:r>
            <a:r>
              <a:rPr lang="en-GB" sz="2800" b="1">
                <a:solidFill>
                  <a:srgbClr val="C00000"/>
                </a:solidFill>
              </a:rPr>
              <a:t>services</a:t>
            </a:r>
            <a:r>
              <a:rPr lang="en-GB" sz="2800"/>
              <a:t> that the system should provide and the system’s operational </a:t>
            </a:r>
            <a:r>
              <a:rPr lang="en-GB" sz="2800" b="1">
                <a:solidFill>
                  <a:srgbClr val="C00000"/>
                </a:solidFill>
              </a:rPr>
              <a:t>constraints</a:t>
            </a:r>
            <a:endParaRPr sz="2800"/>
          </a:p>
          <a:p>
            <a:pPr marL="342900" lvl="0" indent="-342900" algn="just" rtl="0">
              <a:lnSpc>
                <a:spcPct val="90000"/>
              </a:lnSpc>
              <a:spcBef>
                <a:spcPts val="560"/>
              </a:spcBef>
              <a:spcAft>
                <a:spcPts val="0"/>
              </a:spcAft>
              <a:buClr>
                <a:schemeClr val="dk1"/>
              </a:buClr>
              <a:buSzPts val="2800"/>
              <a:buChar char="•"/>
            </a:pPr>
            <a:r>
              <a:rPr lang="en-GB" sz="2800"/>
              <a:t>May involve end-users, managers, engineers involved in maintenance, domain experts, trade unions, etc. these are called </a:t>
            </a:r>
            <a:r>
              <a:rPr lang="en-GB" sz="2800" b="1">
                <a:solidFill>
                  <a:srgbClr val="C00000"/>
                </a:solidFill>
              </a:rPr>
              <a:t>stakeholders</a:t>
            </a:r>
            <a:endParaRPr sz="2800" i="1"/>
          </a:p>
          <a:p>
            <a:pPr marL="0" lvl="0" indent="0" algn="just" rtl="0">
              <a:lnSpc>
                <a:spcPct val="100000"/>
              </a:lnSpc>
              <a:spcBef>
                <a:spcPts val="560"/>
              </a:spcBef>
              <a:spcAft>
                <a:spcPts val="0"/>
              </a:spcAft>
              <a:buClr>
                <a:schemeClr val="dk1"/>
              </a:buClr>
              <a:buSzPts val="2800"/>
              <a:buNone/>
            </a:pPr>
            <a:endParaRPr sz="2800"/>
          </a:p>
        </p:txBody>
      </p:sp>
      <p:sp>
        <p:nvSpPr>
          <p:cNvPr id="411" name="Google Shape;411;p3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12" name="Google Shape;412;p3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13" name="Google Shape;413;p3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Elicitation and Analysis</a:t>
            </a:r>
            <a:endParaRPr/>
          </a:p>
        </p:txBody>
      </p:sp>
      <p:sp>
        <p:nvSpPr>
          <p:cNvPr id="419" name="Google Shape;419;p34"/>
          <p:cNvSpPr txBox="1">
            <a:spLocks noGrp="1"/>
          </p:cNvSpPr>
          <p:nvPr>
            <p:ph type="body" idx="1"/>
          </p:nvPr>
        </p:nvSpPr>
        <p:spPr>
          <a:xfrm>
            <a:off x="445770" y="1600200"/>
            <a:ext cx="8229600" cy="4572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GB"/>
              <a:t>Software engineers work with </a:t>
            </a:r>
            <a:r>
              <a:rPr lang="en-GB" b="1">
                <a:solidFill>
                  <a:srgbClr val="C00000"/>
                </a:solidFill>
              </a:rPr>
              <a:t>a range of system stakeholders</a:t>
            </a:r>
            <a:r>
              <a:rPr lang="en-GB"/>
              <a:t> to find out about the application domain, the services that the system should provide, the required system performance, hardware constraints, other systems, etc.</a:t>
            </a:r>
            <a:endParaRPr/>
          </a:p>
          <a:p>
            <a:pPr marL="342900" lvl="0" indent="-342900" algn="l" rtl="0">
              <a:lnSpc>
                <a:spcPct val="100000"/>
              </a:lnSpc>
              <a:spcBef>
                <a:spcPts val="592"/>
              </a:spcBef>
              <a:spcAft>
                <a:spcPts val="0"/>
              </a:spcAft>
              <a:buClr>
                <a:srgbClr val="C00000"/>
              </a:buClr>
              <a:buSzPct val="100000"/>
              <a:buChar char="•"/>
            </a:pPr>
            <a:r>
              <a:rPr lang="en-GB" b="1">
                <a:solidFill>
                  <a:srgbClr val="C00000"/>
                </a:solidFill>
              </a:rPr>
              <a:t>Stages</a:t>
            </a:r>
            <a:r>
              <a:rPr lang="en-GB"/>
              <a:t> include:</a:t>
            </a:r>
            <a:endParaRPr/>
          </a:p>
          <a:p>
            <a:pPr marL="742950" lvl="1" indent="-285750" algn="l" rtl="0">
              <a:lnSpc>
                <a:spcPct val="100000"/>
              </a:lnSpc>
              <a:spcBef>
                <a:spcPts val="518"/>
              </a:spcBef>
              <a:spcAft>
                <a:spcPts val="0"/>
              </a:spcAft>
              <a:buClr>
                <a:schemeClr val="dk1"/>
              </a:buClr>
              <a:buSzPct val="100000"/>
              <a:buChar char="–"/>
            </a:pPr>
            <a:r>
              <a:rPr lang="en-GB"/>
              <a:t>Requirements discovery</a:t>
            </a:r>
            <a:endParaRPr/>
          </a:p>
          <a:p>
            <a:pPr marL="742950" lvl="1" indent="-285750" algn="l" rtl="0">
              <a:lnSpc>
                <a:spcPct val="100000"/>
              </a:lnSpc>
              <a:spcBef>
                <a:spcPts val="518"/>
              </a:spcBef>
              <a:spcAft>
                <a:spcPts val="0"/>
              </a:spcAft>
              <a:buClr>
                <a:schemeClr val="dk1"/>
              </a:buClr>
              <a:buSzPct val="100000"/>
              <a:buChar char="–"/>
            </a:pPr>
            <a:r>
              <a:rPr lang="en-GB"/>
              <a:t>Requirements classification and organization</a:t>
            </a:r>
            <a:endParaRPr/>
          </a:p>
          <a:p>
            <a:pPr marL="742950" lvl="1" indent="-285750" algn="l" rtl="0">
              <a:lnSpc>
                <a:spcPct val="100000"/>
              </a:lnSpc>
              <a:spcBef>
                <a:spcPts val="518"/>
              </a:spcBef>
              <a:spcAft>
                <a:spcPts val="0"/>
              </a:spcAft>
              <a:buClr>
                <a:schemeClr val="dk1"/>
              </a:buClr>
              <a:buSzPct val="100000"/>
              <a:buChar char="–"/>
            </a:pPr>
            <a:r>
              <a:rPr lang="en-GB"/>
              <a:t>Requirements prioritization and negotiation</a:t>
            </a:r>
            <a:endParaRPr/>
          </a:p>
          <a:p>
            <a:pPr marL="742950" lvl="1" indent="-285750" algn="l" rtl="0">
              <a:lnSpc>
                <a:spcPct val="100000"/>
              </a:lnSpc>
              <a:spcBef>
                <a:spcPts val="518"/>
              </a:spcBef>
              <a:spcAft>
                <a:spcPts val="0"/>
              </a:spcAft>
              <a:buClr>
                <a:schemeClr val="dk1"/>
              </a:buClr>
              <a:buSzPct val="100000"/>
              <a:buChar char="–"/>
            </a:pPr>
            <a:r>
              <a:rPr lang="en-GB"/>
              <a:t>Requirements specification</a:t>
            </a:r>
            <a:endParaRPr/>
          </a:p>
        </p:txBody>
      </p:sp>
      <p:sp>
        <p:nvSpPr>
          <p:cNvPr id="420" name="Google Shape;420;p3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21" name="Google Shape;421;p3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22" name="Google Shape;422;p3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34</a:t>
            </a:fld>
            <a:endParaRPr/>
          </a:p>
        </p:txBody>
      </p:sp>
      <p:pic>
        <p:nvPicPr>
          <p:cNvPr id="423" name="Google Shape;423;p34" descr="4.13 RequirementsElicitation.eps"/>
          <p:cNvPicPr preferRelativeResize="0"/>
          <p:nvPr/>
        </p:nvPicPr>
        <p:blipFill rotWithShape="1">
          <a:blip r:embed="rId3">
            <a:alphaModFix/>
          </a:blip>
          <a:srcRect/>
          <a:stretch/>
        </p:blipFill>
        <p:spPr>
          <a:xfrm>
            <a:off x="6134100" y="3688324"/>
            <a:ext cx="2971800" cy="198549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Problems of Requirements Elicitation</a:t>
            </a:r>
            <a:endParaRPr/>
          </a:p>
        </p:txBody>
      </p:sp>
      <p:sp>
        <p:nvSpPr>
          <p:cNvPr id="429" name="Google Shape;429;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lnSpc>
                <a:spcPct val="100000"/>
              </a:lnSpc>
              <a:spcBef>
                <a:spcPts val="0"/>
              </a:spcBef>
              <a:spcAft>
                <a:spcPts val="0"/>
              </a:spcAft>
              <a:buClr>
                <a:schemeClr val="dk1"/>
              </a:buClr>
              <a:buSzPct val="100000"/>
              <a:buChar char="•"/>
            </a:pPr>
            <a:r>
              <a:rPr lang="en-GB"/>
              <a:t>Stakeholders </a:t>
            </a:r>
            <a:r>
              <a:rPr lang="en-GB">
                <a:solidFill>
                  <a:srgbClr val="C00000"/>
                </a:solidFill>
              </a:rPr>
              <a:t>do not know </a:t>
            </a:r>
            <a:r>
              <a:rPr lang="en-GB"/>
              <a:t>what they really want</a:t>
            </a:r>
            <a:endParaRPr/>
          </a:p>
          <a:p>
            <a:pPr marL="342900" lvl="0" indent="-342900" algn="just" rtl="0">
              <a:lnSpc>
                <a:spcPct val="100000"/>
              </a:lnSpc>
              <a:spcBef>
                <a:spcPts val="544"/>
              </a:spcBef>
              <a:spcAft>
                <a:spcPts val="0"/>
              </a:spcAft>
              <a:buClr>
                <a:schemeClr val="dk1"/>
              </a:buClr>
              <a:buSzPct val="100000"/>
              <a:buChar char="•"/>
            </a:pPr>
            <a:r>
              <a:rPr lang="en-GB"/>
              <a:t>Stakeholders express requirements in their </a:t>
            </a:r>
            <a:r>
              <a:rPr lang="en-GB">
                <a:solidFill>
                  <a:srgbClr val="C00000"/>
                </a:solidFill>
              </a:rPr>
              <a:t>own terms</a:t>
            </a:r>
            <a:endParaRPr/>
          </a:p>
          <a:p>
            <a:pPr marL="342900" lvl="0" indent="-342900" algn="just" rtl="0">
              <a:lnSpc>
                <a:spcPct val="100000"/>
              </a:lnSpc>
              <a:spcBef>
                <a:spcPts val="544"/>
              </a:spcBef>
              <a:spcAft>
                <a:spcPts val="0"/>
              </a:spcAft>
              <a:buClr>
                <a:schemeClr val="dk1"/>
              </a:buClr>
              <a:buSzPct val="100000"/>
              <a:buChar char="•"/>
            </a:pPr>
            <a:r>
              <a:rPr lang="en-GB"/>
              <a:t>Different stakeholders may have </a:t>
            </a:r>
            <a:r>
              <a:rPr lang="en-GB">
                <a:solidFill>
                  <a:srgbClr val="C00000"/>
                </a:solidFill>
              </a:rPr>
              <a:t>conflicting requirements</a:t>
            </a:r>
            <a:endParaRPr/>
          </a:p>
          <a:p>
            <a:pPr marL="342900" lvl="0" indent="-342900" algn="just" rtl="0">
              <a:lnSpc>
                <a:spcPct val="100000"/>
              </a:lnSpc>
              <a:spcBef>
                <a:spcPts val="544"/>
              </a:spcBef>
              <a:spcAft>
                <a:spcPts val="0"/>
              </a:spcAft>
              <a:buClr>
                <a:srgbClr val="C00000"/>
              </a:buClr>
              <a:buSzPct val="100000"/>
              <a:buChar char="•"/>
            </a:pPr>
            <a:r>
              <a:rPr lang="en-GB">
                <a:solidFill>
                  <a:srgbClr val="C00000"/>
                </a:solidFill>
              </a:rPr>
              <a:t>Organisational and political factors</a:t>
            </a:r>
            <a:r>
              <a:rPr lang="en-GB"/>
              <a:t> may influence the system requirements</a:t>
            </a:r>
            <a:endParaRPr/>
          </a:p>
          <a:p>
            <a:pPr marL="342900" lvl="0" indent="-342900" algn="just" rtl="0">
              <a:lnSpc>
                <a:spcPct val="100000"/>
              </a:lnSpc>
              <a:spcBef>
                <a:spcPts val="544"/>
              </a:spcBef>
              <a:spcAft>
                <a:spcPts val="0"/>
              </a:spcAft>
              <a:buClr>
                <a:schemeClr val="dk1"/>
              </a:buClr>
              <a:buSzPct val="100000"/>
              <a:buChar char="•"/>
            </a:pPr>
            <a:r>
              <a:rPr lang="en-GB"/>
              <a:t>The </a:t>
            </a:r>
            <a:r>
              <a:rPr lang="en-GB">
                <a:solidFill>
                  <a:srgbClr val="C00000"/>
                </a:solidFill>
              </a:rPr>
              <a:t>requirements change </a:t>
            </a:r>
            <a:r>
              <a:rPr lang="en-GB"/>
              <a:t>during the analysis process. </a:t>
            </a:r>
            <a:r>
              <a:rPr lang="en-GB">
                <a:solidFill>
                  <a:srgbClr val="C00000"/>
                </a:solidFill>
              </a:rPr>
              <a:t>New stakeholders</a:t>
            </a:r>
            <a:r>
              <a:rPr lang="en-GB"/>
              <a:t> may emerge and the business environment change</a:t>
            </a:r>
            <a:endParaRPr/>
          </a:p>
          <a:p>
            <a:pPr marL="342900" lvl="0" indent="-342900" algn="just" rtl="0">
              <a:lnSpc>
                <a:spcPct val="100000"/>
              </a:lnSpc>
              <a:spcBef>
                <a:spcPts val="544"/>
              </a:spcBef>
              <a:spcAft>
                <a:spcPts val="0"/>
              </a:spcAft>
              <a:buClr>
                <a:schemeClr val="dk1"/>
              </a:buClr>
              <a:buSzPct val="100000"/>
              <a:buChar char="•"/>
            </a:pPr>
            <a:r>
              <a:rPr lang="en-GB"/>
              <a:t>Therefore, there are range of techniques</a:t>
            </a:r>
            <a:endParaRPr/>
          </a:p>
          <a:p>
            <a:pPr marL="0" lvl="0" indent="0" algn="just" rtl="0">
              <a:lnSpc>
                <a:spcPct val="100000"/>
              </a:lnSpc>
              <a:spcBef>
                <a:spcPts val="544"/>
              </a:spcBef>
              <a:spcAft>
                <a:spcPts val="0"/>
              </a:spcAft>
              <a:buClr>
                <a:schemeClr val="dk1"/>
              </a:buClr>
              <a:buSzPct val="100000"/>
              <a:buNone/>
            </a:pPr>
            <a:endParaRPr/>
          </a:p>
        </p:txBody>
      </p:sp>
      <p:sp>
        <p:nvSpPr>
          <p:cNvPr id="430" name="Google Shape;430;p3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31" name="Google Shape;431;p3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32" name="Google Shape;432;p3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Requirements Elicitation and Analysis: Process Activities</a:t>
            </a:r>
            <a:endParaRPr/>
          </a:p>
        </p:txBody>
      </p:sp>
      <p:sp>
        <p:nvSpPr>
          <p:cNvPr id="438" name="Google Shape;438;p36"/>
          <p:cNvSpPr txBox="1">
            <a:spLocks noGrp="1"/>
          </p:cNvSpPr>
          <p:nvPr>
            <p:ph type="body" idx="1"/>
          </p:nvPr>
        </p:nvSpPr>
        <p:spPr>
          <a:xfrm>
            <a:off x="457200" y="1439678"/>
            <a:ext cx="8229600" cy="468648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Char char="•"/>
            </a:pPr>
            <a:r>
              <a:rPr lang="en-GB" sz="2400" b="1"/>
              <a:t>Requirements discovery</a:t>
            </a:r>
            <a:endParaRPr/>
          </a:p>
          <a:p>
            <a:pPr marL="742950" lvl="1" indent="-285750" algn="l" rtl="0">
              <a:lnSpc>
                <a:spcPct val="90000"/>
              </a:lnSpc>
              <a:spcBef>
                <a:spcPts val="480"/>
              </a:spcBef>
              <a:spcAft>
                <a:spcPts val="0"/>
              </a:spcAft>
              <a:buClr>
                <a:schemeClr val="dk1"/>
              </a:buClr>
              <a:buSzPts val="2400"/>
              <a:buChar char="–"/>
            </a:pPr>
            <a:r>
              <a:rPr lang="en-GB" sz="2400"/>
              <a:t>Interacting with stakeholders to discover their requirements</a:t>
            </a:r>
            <a:endParaRPr/>
          </a:p>
          <a:p>
            <a:pPr marL="742950" lvl="1" indent="-285750" algn="l" rtl="0">
              <a:lnSpc>
                <a:spcPct val="90000"/>
              </a:lnSpc>
              <a:spcBef>
                <a:spcPts val="480"/>
              </a:spcBef>
              <a:spcAft>
                <a:spcPts val="0"/>
              </a:spcAft>
              <a:buClr>
                <a:schemeClr val="dk1"/>
              </a:buClr>
              <a:buSzPts val="2400"/>
              <a:buChar char="–"/>
            </a:pPr>
            <a:r>
              <a:rPr lang="en-GB" sz="2400"/>
              <a:t>Domain requirements are also discovered at this stage</a:t>
            </a:r>
            <a:endParaRPr/>
          </a:p>
          <a:p>
            <a:pPr marL="342900" lvl="0" indent="-342900" algn="l" rtl="0">
              <a:lnSpc>
                <a:spcPct val="90000"/>
              </a:lnSpc>
              <a:spcBef>
                <a:spcPts val="480"/>
              </a:spcBef>
              <a:spcAft>
                <a:spcPts val="0"/>
              </a:spcAft>
              <a:buClr>
                <a:schemeClr val="dk1"/>
              </a:buClr>
              <a:buSzPts val="2400"/>
              <a:buChar char="•"/>
            </a:pPr>
            <a:r>
              <a:rPr lang="en-GB" sz="2400" b="1"/>
              <a:t>Requirements classification and organisation</a:t>
            </a:r>
            <a:endParaRPr/>
          </a:p>
          <a:p>
            <a:pPr marL="742950" lvl="1" indent="-285750" algn="l" rtl="0">
              <a:lnSpc>
                <a:spcPct val="90000"/>
              </a:lnSpc>
              <a:spcBef>
                <a:spcPts val="480"/>
              </a:spcBef>
              <a:spcAft>
                <a:spcPts val="0"/>
              </a:spcAft>
              <a:buClr>
                <a:schemeClr val="dk1"/>
              </a:buClr>
              <a:buSzPts val="2400"/>
              <a:buChar char="–"/>
            </a:pPr>
            <a:r>
              <a:rPr lang="en-GB" sz="2400"/>
              <a:t>Groups related requirements and organises them into coherent clusters</a:t>
            </a:r>
            <a:endParaRPr/>
          </a:p>
          <a:p>
            <a:pPr marL="342900" lvl="0" indent="-342900" algn="l" rtl="0">
              <a:lnSpc>
                <a:spcPct val="90000"/>
              </a:lnSpc>
              <a:spcBef>
                <a:spcPts val="480"/>
              </a:spcBef>
              <a:spcAft>
                <a:spcPts val="0"/>
              </a:spcAft>
              <a:buClr>
                <a:schemeClr val="dk1"/>
              </a:buClr>
              <a:buSzPts val="2400"/>
              <a:buChar char="•"/>
            </a:pPr>
            <a:r>
              <a:rPr lang="en-GB" sz="2400" b="1"/>
              <a:t>Prioritisation and negotiation</a:t>
            </a:r>
            <a:endParaRPr/>
          </a:p>
          <a:p>
            <a:pPr marL="742950" lvl="1" indent="-285750" algn="l" rtl="0">
              <a:lnSpc>
                <a:spcPct val="90000"/>
              </a:lnSpc>
              <a:spcBef>
                <a:spcPts val="480"/>
              </a:spcBef>
              <a:spcAft>
                <a:spcPts val="0"/>
              </a:spcAft>
              <a:buClr>
                <a:schemeClr val="dk1"/>
              </a:buClr>
              <a:buSzPts val="2400"/>
              <a:buChar char="–"/>
            </a:pPr>
            <a:r>
              <a:rPr lang="en-GB" sz="2400"/>
              <a:t>Prioritising requirements and resolving requirements conflicts</a:t>
            </a:r>
            <a:endParaRPr/>
          </a:p>
          <a:p>
            <a:pPr marL="342900" lvl="0" indent="-342900" algn="l" rtl="0">
              <a:lnSpc>
                <a:spcPct val="90000"/>
              </a:lnSpc>
              <a:spcBef>
                <a:spcPts val="480"/>
              </a:spcBef>
              <a:spcAft>
                <a:spcPts val="0"/>
              </a:spcAft>
              <a:buClr>
                <a:schemeClr val="dk1"/>
              </a:buClr>
              <a:buSzPts val="2400"/>
              <a:buChar char="•"/>
            </a:pPr>
            <a:r>
              <a:rPr lang="en-GB" sz="2400" b="1"/>
              <a:t>Requirements specification</a:t>
            </a:r>
            <a:endParaRPr/>
          </a:p>
          <a:p>
            <a:pPr marL="742950" lvl="1" indent="-285750" algn="l" rtl="0">
              <a:lnSpc>
                <a:spcPct val="90000"/>
              </a:lnSpc>
              <a:spcBef>
                <a:spcPts val="480"/>
              </a:spcBef>
              <a:spcAft>
                <a:spcPts val="0"/>
              </a:spcAft>
              <a:buClr>
                <a:schemeClr val="dk1"/>
              </a:buClr>
              <a:buSzPts val="2400"/>
              <a:buChar char="–"/>
            </a:pPr>
            <a:r>
              <a:rPr lang="en-GB" sz="2400"/>
              <a:t>Requirements are documented and input into the next round of the spiral</a:t>
            </a:r>
            <a:endParaRPr/>
          </a:p>
        </p:txBody>
      </p:sp>
      <p:sp>
        <p:nvSpPr>
          <p:cNvPr id="439" name="Google Shape;439;p3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40" name="Google Shape;440;p3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41" name="Google Shape;441;p3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Discovery</a:t>
            </a:r>
            <a:endParaRPr/>
          </a:p>
        </p:txBody>
      </p:sp>
      <p:sp>
        <p:nvSpPr>
          <p:cNvPr id="447" name="Google Shape;44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The process of gathering information about the required and existing systems and distilling the </a:t>
            </a:r>
            <a:r>
              <a:rPr lang="en-GB" sz="2800" b="1">
                <a:solidFill>
                  <a:srgbClr val="C00000"/>
                </a:solidFill>
              </a:rPr>
              <a:t>user and system requirements </a:t>
            </a:r>
            <a:r>
              <a:rPr lang="en-GB" sz="2800"/>
              <a:t>from this information</a:t>
            </a:r>
            <a:endParaRPr/>
          </a:p>
          <a:p>
            <a:pPr marL="342900" lvl="0" indent="-342900" algn="just" rtl="0">
              <a:lnSpc>
                <a:spcPct val="100000"/>
              </a:lnSpc>
              <a:spcBef>
                <a:spcPts val="560"/>
              </a:spcBef>
              <a:spcAft>
                <a:spcPts val="0"/>
              </a:spcAft>
              <a:buClr>
                <a:schemeClr val="dk1"/>
              </a:buClr>
              <a:buSzPts val="2800"/>
              <a:buFont typeface="Arial"/>
              <a:buChar char="•"/>
            </a:pPr>
            <a:r>
              <a:rPr lang="en-GB" sz="2800"/>
              <a:t>Sources of information during requirements discovery phase:</a:t>
            </a:r>
            <a:endParaRPr/>
          </a:p>
          <a:p>
            <a:pPr marL="800100" lvl="1" indent="-342900" algn="just" rtl="0">
              <a:lnSpc>
                <a:spcPct val="100000"/>
              </a:lnSpc>
              <a:spcBef>
                <a:spcPts val="560"/>
              </a:spcBef>
              <a:spcAft>
                <a:spcPts val="0"/>
              </a:spcAft>
              <a:buClr>
                <a:schemeClr val="dk1"/>
              </a:buClr>
              <a:buSzPts val="2800"/>
              <a:buFont typeface="Arial"/>
              <a:buChar char="•"/>
            </a:pPr>
            <a:r>
              <a:rPr lang="en-GB"/>
              <a:t>Documentation</a:t>
            </a:r>
            <a:endParaRPr/>
          </a:p>
          <a:p>
            <a:pPr marL="800100" lvl="1" indent="-342900" algn="just" rtl="0">
              <a:lnSpc>
                <a:spcPct val="100000"/>
              </a:lnSpc>
              <a:spcBef>
                <a:spcPts val="560"/>
              </a:spcBef>
              <a:spcAft>
                <a:spcPts val="0"/>
              </a:spcAft>
              <a:buClr>
                <a:schemeClr val="dk1"/>
              </a:buClr>
              <a:buSzPts val="2800"/>
              <a:buFont typeface="Arial"/>
              <a:buChar char="•"/>
            </a:pPr>
            <a:r>
              <a:rPr lang="en-GB"/>
              <a:t>System stakeholders</a:t>
            </a:r>
            <a:endParaRPr/>
          </a:p>
          <a:p>
            <a:pPr marL="800100" lvl="1" indent="-342900" algn="just" rtl="0">
              <a:lnSpc>
                <a:spcPct val="100000"/>
              </a:lnSpc>
              <a:spcBef>
                <a:spcPts val="560"/>
              </a:spcBef>
              <a:spcAft>
                <a:spcPts val="0"/>
              </a:spcAft>
              <a:buClr>
                <a:schemeClr val="dk1"/>
              </a:buClr>
              <a:buSzPts val="2800"/>
              <a:buFont typeface="Arial"/>
              <a:buChar char="•"/>
            </a:pPr>
            <a:r>
              <a:rPr lang="en-GB"/>
              <a:t>Specification from similar systems</a:t>
            </a:r>
            <a:endParaRPr/>
          </a:p>
          <a:p>
            <a:pPr marL="342900" lvl="0" indent="-342900" algn="just" rtl="0">
              <a:lnSpc>
                <a:spcPct val="100000"/>
              </a:lnSpc>
              <a:spcBef>
                <a:spcPts val="560"/>
              </a:spcBef>
              <a:spcAft>
                <a:spcPts val="0"/>
              </a:spcAft>
              <a:buClr>
                <a:schemeClr val="dk1"/>
              </a:buClr>
              <a:buSzPts val="2800"/>
              <a:buFont typeface="Arial"/>
              <a:buChar char="•"/>
            </a:pPr>
            <a:r>
              <a:rPr lang="en-GB" sz="2800"/>
              <a:t>Systems normally have a range of </a:t>
            </a:r>
            <a:r>
              <a:rPr lang="en-GB" sz="2800" b="1">
                <a:solidFill>
                  <a:srgbClr val="FF0000"/>
                </a:solidFill>
              </a:rPr>
              <a:t>stakeholders</a:t>
            </a:r>
            <a:r>
              <a:rPr lang="en-GB" sz="2800">
                <a:solidFill>
                  <a:srgbClr val="FF0000"/>
                </a:solidFill>
              </a:rPr>
              <a:t>.</a:t>
            </a:r>
            <a:endParaRPr/>
          </a:p>
          <a:p>
            <a:pPr marL="0" lvl="0" indent="0" algn="just" rtl="0">
              <a:lnSpc>
                <a:spcPct val="100000"/>
              </a:lnSpc>
              <a:spcBef>
                <a:spcPts val="560"/>
              </a:spcBef>
              <a:spcAft>
                <a:spcPts val="0"/>
              </a:spcAft>
              <a:buClr>
                <a:schemeClr val="dk1"/>
              </a:buClr>
              <a:buSzPts val="2800"/>
              <a:buNone/>
            </a:pPr>
            <a:endParaRPr sz="2800"/>
          </a:p>
        </p:txBody>
      </p:sp>
      <p:sp>
        <p:nvSpPr>
          <p:cNvPr id="448" name="Google Shape;448;p3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49" name="Google Shape;449;p3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50" name="Google Shape;450;p3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System stakeholders</a:t>
            </a:r>
            <a:endParaRPr/>
          </a:p>
        </p:txBody>
      </p:sp>
      <p:sp>
        <p:nvSpPr>
          <p:cNvPr id="456" name="Google Shape;456;p38"/>
          <p:cNvSpPr txBox="1">
            <a:spLocks noGrp="1"/>
          </p:cNvSpPr>
          <p:nvPr>
            <p:ph type="body" idx="1"/>
          </p:nvPr>
        </p:nvSpPr>
        <p:spPr>
          <a:xfrm>
            <a:off x="457200" y="1600201"/>
            <a:ext cx="8229600" cy="3962400"/>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3000"/>
              <a:buChar char="•"/>
            </a:pPr>
            <a:r>
              <a:rPr lang="en-GB" sz="3000"/>
              <a:t>Any person or organization who is affected by the system in some way and so who has a legitimate interest.</a:t>
            </a:r>
            <a:endParaRPr sz="2600">
              <a:solidFill>
                <a:srgbClr val="C00000"/>
              </a:solidFill>
            </a:endParaRPr>
          </a:p>
          <a:p>
            <a:pPr marL="457200" lvl="1" indent="0" algn="just" rtl="0">
              <a:lnSpc>
                <a:spcPct val="80000"/>
              </a:lnSpc>
              <a:spcBef>
                <a:spcPts val="520"/>
              </a:spcBef>
              <a:spcAft>
                <a:spcPts val="0"/>
              </a:spcAft>
              <a:buClr>
                <a:schemeClr val="dk1"/>
              </a:buClr>
              <a:buSzPts val="2600"/>
              <a:buNone/>
            </a:pPr>
            <a:endParaRPr sz="2600"/>
          </a:p>
          <a:p>
            <a:pPr marL="342900" lvl="0" indent="-342900" algn="just" rtl="0">
              <a:lnSpc>
                <a:spcPct val="80000"/>
              </a:lnSpc>
              <a:spcBef>
                <a:spcPts val="600"/>
              </a:spcBef>
              <a:spcAft>
                <a:spcPts val="0"/>
              </a:spcAft>
              <a:buClr>
                <a:schemeClr val="dk1"/>
              </a:buClr>
              <a:buSzPts val="3000"/>
              <a:buChar char="•"/>
            </a:pPr>
            <a:r>
              <a:rPr lang="en-GB" sz="3000" b="1"/>
              <a:t>Stakeholders types</a:t>
            </a:r>
            <a:endParaRPr/>
          </a:p>
          <a:p>
            <a:pPr marL="742950" lvl="1" indent="-285750" algn="just" rtl="0">
              <a:lnSpc>
                <a:spcPct val="80000"/>
              </a:lnSpc>
              <a:spcBef>
                <a:spcPts val="520"/>
              </a:spcBef>
              <a:spcAft>
                <a:spcPts val="0"/>
              </a:spcAft>
              <a:buClr>
                <a:schemeClr val="dk1"/>
              </a:buClr>
              <a:buSzPts val="2600"/>
              <a:buChar char="–"/>
            </a:pPr>
            <a:r>
              <a:rPr lang="en-GB" sz="2600"/>
              <a:t>End users</a:t>
            </a:r>
            <a:endParaRPr/>
          </a:p>
          <a:p>
            <a:pPr marL="742950" lvl="1" indent="-285750" algn="just" rtl="0">
              <a:lnSpc>
                <a:spcPct val="80000"/>
              </a:lnSpc>
              <a:spcBef>
                <a:spcPts val="520"/>
              </a:spcBef>
              <a:spcAft>
                <a:spcPts val="0"/>
              </a:spcAft>
              <a:buClr>
                <a:schemeClr val="dk1"/>
              </a:buClr>
              <a:buSzPts val="2600"/>
              <a:buChar char="–"/>
            </a:pPr>
            <a:r>
              <a:rPr lang="en-GB" sz="2600"/>
              <a:t>System managers</a:t>
            </a:r>
            <a:endParaRPr/>
          </a:p>
          <a:p>
            <a:pPr marL="742950" lvl="1" indent="-285750" algn="just" rtl="0">
              <a:lnSpc>
                <a:spcPct val="80000"/>
              </a:lnSpc>
              <a:spcBef>
                <a:spcPts val="520"/>
              </a:spcBef>
              <a:spcAft>
                <a:spcPts val="0"/>
              </a:spcAft>
              <a:buClr>
                <a:schemeClr val="dk1"/>
              </a:buClr>
              <a:buSzPts val="2600"/>
              <a:buChar char="–"/>
            </a:pPr>
            <a:r>
              <a:rPr lang="en-GB" sz="2600"/>
              <a:t>System owners</a:t>
            </a:r>
            <a:endParaRPr/>
          </a:p>
          <a:p>
            <a:pPr marL="742950" lvl="1" indent="-285750" algn="just" rtl="0">
              <a:lnSpc>
                <a:spcPct val="80000"/>
              </a:lnSpc>
              <a:spcBef>
                <a:spcPts val="520"/>
              </a:spcBef>
              <a:spcAft>
                <a:spcPts val="0"/>
              </a:spcAft>
              <a:buClr>
                <a:schemeClr val="dk1"/>
              </a:buClr>
              <a:buSzPts val="2600"/>
              <a:buChar char="–"/>
            </a:pPr>
            <a:r>
              <a:rPr lang="en-GB" sz="2600"/>
              <a:t>External stakeholders</a:t>
            </a:r>
            <a:endParaRPr/>
          </a:p>
        </p:txBody>
      </p:sp>
      <p:sp>
        <p:nvSpPr>
          <p:cNvPr id="457" name="Google Shape;457;p3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58" name="Google Shape;458;p3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59" name="Google Shape;459;p3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Example: Stakeholders in the Mentcare System</a:t>
            </a:r>
            <a:endParaRPr/>
          </a:p>
        </p:txBody>
      </p:sp>
      <p:sp>
        <p:nvSpPr>
          <p:cNvPr id="465" name="Google Shape;465;p39"/>
          <p:cNvSpPr txBox="1">
            <a:spLocks noGrp="1"/>
          </p:cNvSpPr>
          <p:nvPr>
            <p:ph type="body" idx="1"/>
          </p:nvPr>
        </p:nvSpPr>
        <p:spPr>
          <a:xfrm>
            <a:off x="381000" y="1752600"/>
            <a:ext cx="8610600" cy="39624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en-GB" sz="2800"/>
              <a:t>Patients</a:t>
            </a:r>
            <a:r>
              <a:rPr lang="en-GB" sz="2800" i="1"/>
              <a:t> </a:t>
            </a:r>
            <a:r>
              <a:rPr lang="en-GB" sz="2800"/>
              <a:t>whose information is recorded in the system.</a:t>
            </a:r>
            <a:endParaRPr sz="2800"/>
          </a:p>
          <a:p>
            <a:pPr marL="342900" lvl="0" indent="-342900" algn="l" rtl="0">
              <a:lnSpc>
                <a:spcPct val="100000"/>
              </a:lnSpc>
              <a:spcBef>
                <a:spcPts val="560"/>
              </a:spcBef>
              <a:spcAft>
                <a:spcPts val="0"/>
              </a:spcAft>
              <a:buClr>
                <a:schemeClr val="dk1"/>
              </a:buClr>
              <a:buSzPts val="2800"/>
              <a:buChar char="•"/>
            </a:pPr>
            <a:r>
              <a:rPr lang="en-GB" sz="2800"/>
              <a:t>Doctors</a:t>
            </a:r>
            <a:r>
              <a:rPr lang="en-GB" sz="2800" i="1"/>
              <a:t> </a:t>
            </a:r>
            <a:r>
              <a:rPr lang="en-GB" sz="2800"/>
              <a:t>who are responsible for assessing and treating patients.</a:t>
            </a:r>
            <a:endParaRPr sz="2800"/>
          </a:p>
          <a:p>
            <a:pPr marL="342900" lvl="0" indent="-342900" algn="l" rtl="0">
              <a:lnSpc>
                <a:spcPct val="100000"/>
              </a:lnSpc>
              <a:spcBef>
                <a:spcPts val="560"/>
              </a:spcBef>
              <a:spcAft>
                <a:spcPts val="0"/>
              </a:spcAft>
              <a:buClr>
                <a:schemeClr val="dk1"/>
              </a:buClr>
              <a:buSzPts val="2800"/>
              <a:buChar char="•"/>
            </a:pPr>
            <a:r>
              <a:rPr lang="en-GB" sz="2800"/>
              <a:t>Nurses who coordinate the consultations with doctors and administer some treatments.</a:t>
            </a:r>
            <a:endParaRPr sz="2800"/>
          </a:p>
          <a:p>
            <a:pPr marL="342900" lvl="0" indent="-342900" algn="l" rtl="0">
              <a:lnSpc>
                <a:spcPct val="100000"/>
              </a:lnSpc>
              <a:spcBef>
                <a:spcPts val="560"/>
              </a:spcBef>
              <a:spcAft>
                <a:spcPts val="0"/>
              </a:spcAft>
              <a:buClr>
                <a:schemeClr val="dk1"/>
              </a:buClr>
              <a:buSzPts val="2800"/>
              <a:buChar char="•"/>
            </a:pPr>
            <a:r>
              <a:rPr lang="en-GB" sz="2800"/>
              <a:t>Medical receptionists</a:t>
            </a:r>
            <a:r>
              <a:rPr lang="en-GB" sz="2800" i="1"/>
              <a:t> </a:t>
            </a:r>
            <a:r>
              <a:rPr lang="en-GB" sz="2800"/>
              <a:t>who manage patients’ appointments.</a:t>
            </a:r>
            <a:endParaRPr sz="2800"/>
          </a:p>
          <a:p>
            <a:pPr marL="342900" lvl="0" indent="-342900" algn="l" rtl="0">
              <a:lnSpc>
                <a:spcPct val="100000"/>
              </a:lnSpc>
              <a:spcBef>
                <a:spcPts val="560"/>
              </a:spcBef>
              <a:spcAft>
                <a:spcPts val="0"/>
              </a:spcAft>
              <a:buClr>
                <a:schemeClr val="dk1"/>
              </a:buClr>
              <a:buSzPts val="2800"/>
              <a:buChar char="•"/>
            </a:pPr>
            <a:r>
              <a:rPr lang="en-GB" sz="2800"/>
              <a:t>IT staff who are responsible for installing and maintaining the system.</a:t>
            </a:r>
            <a:endParaRPr sz="2800"/>
          </a:p>
        </p:txBody>
      </p:sp>
      <p:sp>
        <p:nvSpPr>
          <p:cNvPr id="466" name="Google Shape;466;p3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67" name="Google Shape;467;p3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68" name="Google Shape;468;p3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GB" sz="2800"/>
              <a:t>A medical ethics manager who must ensure that the system meets current ethical guidelines for patient care</a:t>
            </a:r>
            <a:endParaRPr sz="2800"/>
          </a:p>
          <a:p>
            <a:pPr marL="342900" lvl="0" indent="-342900" algn="just" rtl="0">
              <a:lnSpc>
                <a:spcPct val="90000"/>
              </a:lnSpc>
              <a:spcBef>
                <a:spcPts val="560"/>
              </a:spcBef>
              <a:spcAft>
                <a:spcPts val="0"/>
              </a:spcAft>
              <a:buClr>
                <a:schemeClr val="dk1"/>
              </a:buClr>
              <a:buSzPts val="2800"/>
              <a:buChar char="•"/>
            </a:pPr>
            <a:r>
              <a:rPr lang="en-GB" sz="2800"/>
              <a:t>Health care managers</a:t>
            </a:r>
            <a:r>
              <a:rPr lang="en-GB" sz="2800" i="1"/>
              <a:t> </a:t>
            </a:r>
            <a:r>
              <a:rPr lang="en-GB" sz="2800"/>
              <a:t>who obtain management information from the system</a:t>
            </a:r>
            <a:endParaRPr sz="2800"/>
          </a:p>
          <a:p>
            <a:pPr marL="342900" lvl="0" indent="-342900" algn="just" rtl="0">
              <a:lnSpc>
                <a:spcPct val="90000"/>
              </a:lnSpc>
              <a:spcBef>
                <a:spcPts val="560"/>
              </a:spcBef>
              <a:spcAft>
                <a:spcPts val="0"/>
              </a:spcAft>
              <a:buClr>
                <a:schemeClr val="dk1"/>
              </a:buClr>
              <a:buSzPts val="2800"/>
              <a:buChar char="•"/>
            </a:pPr>
            <a:r>
              <a:rPr lang="en-GB" sz="2800"/>
              <a:t>Medical records staff</a:t>
            </a:r>
            <a:r>
              <a:rPr lang="en-GB" sz="2800" i="1"/>
              <a:t> </a:t>
            </a:r>
            <a:r>
              <a:rPr lang="en-GB" sz="2800"/>
              <a:t>who are responsible for ensuring that system information can be maintained and preserved, and that record keeping procedures have been properly implemented</a:t>
            </a:r>
            <a:endParaRPr sz="2800"/>
          </a:p>
          <a:p>
            <a:pPr marL="342900" lvl="0" indent="-165100" algn="just" rtl="0">
              <a:lnSpc>
                <a:spcPct val="90000"/>
              </a:lnSpc>
              <a:spcBef>
                <a:spcPts val="560"/>
              </a:spcBef>
              <a:spcAft>
                <a:spcPts val="0"/>
              </a:spcAft>
              <a:buClr>
                <a:schemeClr val="dk1"/>
              </a:buClr>
              <a:buSzPts val="2800"/>
              <a:buNone/>
            </a:pPr>
            <a:endParaRPr sz="2800"/>
          </a:p>
          <a:p>
            <a:pPr marL="0" lvl="0" indent="0" algn="just" rtl="0">
              <a:lnSpc>
                <a:spcPct val="100000"/>
              </a:lnSpc>
              <a:spcBef>
                <a:spcPts val="560"/>
              </a:spcBef>
              <a:spcAft>
                <a:spcPts val="0"/>
              </a:spcAft>
              <a:buClr>
                <a:schemeClr val="dk1"/>
              </a:buClr>
              <a:buSzPts val="2800"/>
              <a:buNone/>
            </a:pPr>
            <a:endParaRPr sz="2800"/>
          </a:p>
        </p:txBody>
      </p:sp>
      <p:sp>
        <p:nvSpPr>
          <p:cNvPr id="474" name="Google Shape;474;p4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75" name="Google Shape;475;p4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76" name="Google Shape;476;p4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40</a:t>
            </a:fld>
            <a:endParaRPr/>
          </a:p>
        </p:txBody>
      </p:sp>
      <p:sp>
        <p:nvSpPr>
          <p:cNvPr id="477" name="Google Shape;477;p40"/>
          <p:cNvSpPr txBox="1"/>
          <p:nvPr/>
        </p:nvSpPr>
        <p:spPr>
          <a:xfrm>
            <a:off x="685800" y="418915"/>
            <a:ext cx="8229600" cy="1143000"/>
          </a:xfrm>
          <a:prstGeom prst="rect">
            <a:avLst/>
          </a:prstGeom>
          <a:noFill/>
          <a:ln>
            <a:noFill/>
          </a:ln>
        </p:spPr>
        <p:txBody>
          <a:bodyPr spcFirstLastPara="1" wrap="square" lIns="91425" tIns="45700" rIns="91425" bIns="45700" anchor="ctr" anchorCtr="0">
            <a:normAutofit fontScale="90000" lnSpcReduction="20000"/>
          </a:bodyPr>
          <a:lstStyle/>
          <a:p>
            <a:pPr marL="0" marR="0" lvl="0" indent="0" algn="ctr" rtl="0">
              <a:lnSpc>
                <a:spcPct val="100000"/>
              </a:lnSpc>
              <a:spcBef>
                <a:spcPts val="0"/>
              </a:spcBef>
              <a:spcAft>
                <a:spcPts val="0"/>
              </a:spcAft>
              <a:buClr>
                <a:schemeClr val="dk1"/>
              </a:buClr>
              <a:buSzPct val="100000"/>
              <a:buFont typeface="Calibri"/>
              <a:buNone/>
            </a:pPr>
            <a:r>
              <a:rPr lang="en-GB" sz="4400" b="0" i="0" u="none" strike="noStrike" cap="none">
                <a:solidFill>
                  <a:schemeClr val="dk1"/>
                </a:solidFill>
                <a:latin typeface="Calibri"/>
                <a:ea typeface="Calibri"/>
                <a:cs typeface="Calibri"/>
                <a:sym typeface="Calibri"/>
              </a:rPr>
              <a:t>Example: Stakeholders in the Mentcare System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6E2FC-BA3D-AAC6-1367-454D14B0D53C}"/>
              </a:ext>
            </a:extLst>
          </p:cNvPr>
          <p:cNvSpPr>
            <a:spLocks noGrp="1"/>
          </p:cNvSpPr>
          <p:nvPr>
            <p:ph type="title"/>
          </p:nvPr>
        </p:nvSpPr>
        <p:spPr/>
        <p:txBody>
          <a:bodyPr/>
          <a:lstStyle/>
          <a:p>
            <a:r>
              <a:rPr lang="en-MY" dirty="0"/>
              <a:t>User Characteristics and Personas</a:t>
            </a:r>
          </a:p>
        </p:txBody>
      </p:sp>
      <p:sp>
        <p:nvSpPr>
          <p:cNvPr id="3" name="Text Placeholder 2">
            <a:extLst>
              <a:ext uri="{FF2B5EF4-FFF2-40B4-BE49-F238E27FC236}">
                <a16:creationId xmlns:a16="http://schemas.microsoft.com/office/drawing/2014/main" id="{A54AA117-63C6-2ED4-B4A0-2F7609B295A3}"/>
              </a:ext>
            </a:extLst>
          </p:cNvPr>
          <p:cNvSpPr>
            <a:spLocks noGrp="1"/>
          </p:cNvSpPr>
          <p:nvPr>
            <p:ph type="body" idx="1"/>
          </p:nvPr>
        </p:nvSpPr>
        <p:spPr/>
        <p:txBody>
          <a:bodyPr/>
          <a:lstStyle/>
          <a:p>
            <a:r>
              <a:rPr lang="en-MY" dirty="0"/>
              <a:t>RE-related tasks involve end-users in the process</a:t>
            </a:r>
          </a:p>
          <a:p>
            <a:r>
              <a:rPr lang="en-MY" dirty="0"/>
              <a:t>The more users involvements, the greater the likelihood that the requirements specifications will satisfy the users</a:t>
            </a:r>
          </a:p>
          <a:p>
            <a:r>
              <a:rPr lang="en-MY" dirty="0"/>
              <a:t>User Characteristics and Personas are versatile tools and can be used in all RE-related tasks</a:t>
            </a:r>
          </a:p>
        </p:txBody>
      </p:sp>
      <p:sp>
        <p:nvSpPr>
          <p:cNvPr id="4" name="Slide Number Placeholder 3">
            <a:extLst>
              <a:ext uri="{FF2B5EF4-FFF2-40B4-BE49-F238E27FC236}">
                <a16:creationId xmlns:a16="http://schemas.microsoft.com/office/drawing/2014/main" id="{C0EB380E-12AB-12A4-8F93-593D84D154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41</a:t>
            </a:fld>
            <a:endParaRPr lang="en-GB"/>
          </a:p>
        </p:txBody>
      </p:sp>
    </p:spTree>
    <p:extLst>
      <p:ext uri="{BB962C8B-B14F-4D97-AF65-F5344CB8AC3E}">
        <p14:creationId xmlns:p14="http://schemas.microsoft.com/office/powerpoint/2010/main" val="25731459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0B2D-419C-CD7B-383C-F9597A3D1A19}"/>
              </a:ext>
            </a:extLst>
          </p:cNvPr>
          <p:cNvSpPr>
            <a:spLocks noGrp="1"/>
          </p:cNvSpPr>
          <p:nvPr>
            <p:ph type="title"/>
          </p:nvPr>
        </p:nvSpPr>
        <p:spPr/>
        <p:txBody>
          <a:bodyPr/>
          <a:lstStyle/>
          <a:p>
            <a:r>
              <a:rPr lang="en-MY" dirty="0"/>
              <a:t>User Characteristics</a:t>
            </a:r>
          </a:p>
        </p:txBody>
      </p:sp>
      <p:sp>
        <p:nvSpPr>
          <p:cNvPr id="3" name="Text Placeholder 2">
            <a:extLst>
              <a:ext uri="{FF2B5EF4-FFF2-40B4-BE49-F238E27FC236}">
                <a16:creationId xmlns:a16="http://schemas.microsoft.com/office/drawing/2014/main" id="{16B01567-FBD0-24D3-52E3-BD05F71FAADA}"/>
              </a:ext>
            </a:extLst>
          </p:cNvPr>
          <p:cNvSpPr>
            <a:spLocks noGrp="1"/>
          </p:cNvSpPr>
          <p:nvPr>
            <p:ph type="body" idx="1"/>
          </p:nvPr>
        </p:nvSpPr>
        <p:spPr/>
        <p:txBody>
          <a:bodyPr>
            <a:normAutofit/>
          </a:bodyPr>
          <a:lstStyle/>
          <a:p>
            <a:r>
              <a:rPr lang="en-MY" dirty="0"/>
              <a:t>Attributes of the </a:t>
            </a:r>
            <a:r>
              <a:rPr lang="en-MY" i="1" dirty="0"/>
              <a:t>types</a:t>
            </a:r>
            <a:r>
              <a:rPr lang="en-MY" dirty="0"/>
              <a:t> of users who will interact with the system. </a:t>
            </a:r>
          </a:p>
          <a:p>
            <a:pPr lvl="2"/>
            <a:r>
              <a:rPr lang="en-MY" dirty="0"/>
              <a:t>skill level (novice vs expert)</a:t>
            </a:r>
          </a:p>
          <a:p>
            <a:pPr lvl="2"/>
            <a:r>
              <a:rPr lang="en-MY" dirty="0"/>
              <a:t>frequency of use (occasional vs heavy user)</a:t>
            </a:r>
          </a:p>
          <a:p>
            <a:pPr lvl="2"/>
            <a:r>
              <a:rPr lang="en-MY" dirty="0"/>
              <a:t>environment (mobile, desktop, in-office, field)</a:t>
            </a:r>
          </a:p>
          <a:p>
            <a:pPr lvl="2"/>
            <a:r>
              <a:rPr lang="en-MY" dirty="0"/>
              <a:t>accessibility requirements (vision/hearing/physical limitations)</a:t>
            </a:r>
          </a:p>
          <a:p>
            <a:pPr lvl="2"/>
            <a:r>
              <a:rPr lang="en-MY" dirty="0"/>
              <a:t>educational background, language proficiency, etc.</a:t>
            </a:r>
          </a:p>
          <a:p>
            <a:r>
              <a:rPr lang="en-MY" dirty="0"/>
              <a:t>more high-level, abstract compare to Persona</a:t>
            </a:r>
          </a:p>
        </p:txBody>
      </p:sp>
      <p:sp>
        <p:nvSpPr>
          <p:cNvPr id="4" name="Slide Number Placeholder 3">
            <a:extLst>
              <a:ext uri="{FF2B5EF4-FFF2-40B4-BE49-F238E27FC236}">
                <a16:creationId xmlns:a16="http://schemas.microsoft.com/office/drawing/2014/main" id="{C7321059-5B6C-FA0F-A145-36AFDDC232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42</a:t>
            </a:fld>
            <a:endParaRPr lang="en-GB"/>
          </a:p>
        </p:txBody>
      </p:sp>
    </p:spTree>
    <p:extLst>
      <p:ext uri="{BB962C8B-B14F-4D97-AF65-F5344CB8AC3E}">
        <p14:creationId xmlns:p14="http://schemas.microsoft.com/office/powerpoint/2010/main" val="1559731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1FA69-FDB9-1213-B7A9-0E3520E2F218}"/>
              </a:ext>
            </a:extLst>
          </p:cNvPr>
          <p:cNvSpPr>
            <a:spLocks noGrp="1"/>
          </p:cNvSpPr>
          <p:nvPr>
            <p:ph type="title"/>
          </p:nvPr>
        </p:nvSpPr>
        <p:spPr/>
        <p:txBody>
          <a:bodyPr/>
          <a:lstStyle/>
          <a:p>
            <a:r>
              <a:rPr lang="en-MY" dirty="0"/>
              <a:t>Personas</a:t>
            </a:r>
          </a:p>
        </p:txBody>
      </p:sp>
      <p:sp>
        <p:nvSpPr>
          <p:cNvPr id="3" name="Text Placeholder 2">
            <a:extLst>
              <a:ext uri="{FF2B5EF4-FFF2-40B4-BE49-F238E27FC236}">
                <a16:creationId xmlns:a16="http://schemas.microsoft.com/office/drawing/2014/main" id="{34A14E38-CDA4-EB7B-6A2D-9ED0AA56141E}"/>
              </a:ext>
            </a:extLst>
          </p:cNvPr>
          <p:cNvSpPr>
            <a:spLocks noGrp="1"/>
          </p:cNvSpPr>
          <p:nvPr>
            <p:ph type="body" idx="1"/>
          </p:nvPr>
        </p:nvSpPr>
        <p:spPr/>
        <p:txBody>
          <a:bodyPr/>
          <a:lstStyle/>
          <a:p>
            <a:r>
              <a:rPr lang="en-MY" dirty="0"/>
              <a:t>A more detailed </a:t>
            </a:r>
            <a:r>
              <a:rPr lang="en-MY" i="1" dirty="0"/>
              <a:t>fictional</a:t>
            </a:r>
            <a:r>
              <a:rPr lang="en-MY" dirty="0"/>
              <a:t> representation of a user type — a profile that includes name, background, motivations, goals, behaviours, pain-points, etc.</a:t>
            </a:r>
          </a:p>
          <a:p>
            <a:r>
              <a:rPr lang="en-MY" dirty="0"/>
              <a:t>Example :</a:t>
            </a:r>
          </a:p>
          <a:p>
            <a:pPr lvl="1"/>
            <a:r>
              <a:rPr lang="en-MY" dirty="0"/>
              <a:t>“Maria, 45-year school teacher, uses the system twice a day, low comfort with new software, needs fast onboarding..”</a:t>
            </a:r>
          </a:p>
        </p:txBody>
      </p:sp>
      <p:sp>
        <p:nvSpPr>
          <p:cNvPr id="4" name="Slide Number Placeholder 3">
            <a:extLst>
              <a:ext uri="{FF2B5EF4-FFF2-40B4-BE49-F238E27FC236}">
                <a16:creationId xmlns:a16="http://schemas.microsoft.com/office/drawing/2014/main" id="{7712C04E-3237-3F82-52A4-1398E8E828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43</a:t>
            </a:fld>
            <a:endParaRPr lang="en-GB"/>
          </a:p>
        </p:txBody>
      </p:sp>
    </p:spTree>
    <p:extLst>
      <p:ext uri="{BB962C8B-B14F-4D97-AF65-F5344CB8AC3E}">
        <p14:creationId xmlns:p14="http://schemas.microsoft.com/office/powerpoint/2010/main" val="1033708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Techniques to Elicit Requirements</a:t>
            </a:r>
            <a:endParaRPr/>
          </a:p>
        </p:txBody>
      </p:sp>
      <p:sp>
        <p:nvSpPr>
          <p:cNvPr id="483" name="Google Shape;483;p4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C00000"/>
              </a:buClr>
              <a:buSzPts val="3200"/>
              <a:buChar char="•"/>
            </a:pPr>
            <a:r>
              <a:rPr lang="en-GB" b="1">
                <a:solidFill>
                  <a:srgbClr val="C00000"/>
                </a:solidFill>
              </a:rPr>
              <a:t>Interviewing</a:t>
            </a:r>
            <a:r>
              <a:rPr lang="en-GB"/>
              <a:t>: for formal or informal interview with stakeholders</a:t>
            </a:r>
            <a:endParaRPr/>
          </a:p>
          <a:p>
            <a:pPr marL="342900" lvl="0" indent="-342900" algn="l" rtl="0">
              <a:lnSpc>
                <a:spcPct val="100000"/>
              </a:lnSpc>
              <a:spcBef>
                <a:spcPts val="640"/>
              </a:spcBef>
              <a:spcAft>
                <a:spcPts val="0"/>
              </a:spcAft>
              <a:buClr>
                <a:srgbClr val="C00000"/>
              </a:buClr>
              <a:buSzPts val="3200"/>
              <a:buChar char="•"/>
            </a:pPr>
            <a:r>
              <a:rPr lang="en-GB" b="1">
                <a:solidFill>
                  <a:srgbClr val="C00000"/>
                </a:solidFill>
              </a:rPr>
              <a:t>Ethnography</a:t>
            </a:r>
            <a:r>
              <a:rPr lang="en-GB"/>
              <a:t>: to observe operational process in the organization</a:t>
            </a:r>
            <a:endParaRPr/>
          </a:p>
          <a:p>
            <a:pPr marL="342900" lvl="0" indent="-342900" algn="l" rtl="0">
              <a:lnSpc>
                <a:spcPct val="100000"/>
              </a:lnSpc>
              <a:spcBef>
                <a:spcPts val="640"/>
              </a:spcBef>
              <a:spcAft>
                <a:spcPts val="0"/>
              </a:spcAft>
              <a:buClr>
                <a:srgbClr val="C00000"/>
              </a:buClr>
              <a:buSzPts val="3200"/>
              <a:buChar char="•"/>
            </a:pPr>
            <a:r>
              <a:rPr lang="en-GB" b="1">
                <a:solidFill>
                  <a:srgbClr val="C00000"/>
                </a:solidFill>
              </a:rPr>
              <a:t>Stories and Scenarios</a:t>
            </a:r>
            <a:r>
              <a:rPr lang="en-GB"/>
              <a:t>: representing real life examples</a:t>
            </a: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p:txBody>
      </p:sp>
      <p:sp>
        <p:nvSpPr>
          <p:cNvPr id="484" name="Google Shape;484;p4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85" name="Google Shape;485;p4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86" name="Google Shape;486;p4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Interviewing</a:t>
            </a:r>
            <a:endParaRPr/>
          </a:p>
        </p:txBody>
      </p:sp>
      <p:sp>
        <p:nvSpPr>
          <p:cNvPr id="492" name="Google Shape;492;p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600"/>
              <a:buChar char="•"/>
            </a:pPr>
            <a:r>
              <a:rPr lang="en-GB" sz="2600"/>
              <a:t>Formal or informal interviews with stakeholders are part of most RE processes.</a:t>
            </a:r>
            <a:endParaRPr/>
          </a:p>
          <a:p>
            <a:pPr marL="342900" lvl="0" indent="-342900" algn="just" rtl="0">
              <a:lnSpc>
                <a:spcPct val="100000"/>
              </a:lnSpc>
              <a:spcBef>
                <a:spcPts val="520"/>
              </a:spcBef>
              <a:spcAft>
                <a:spcPts val="0"/>
              </a:spcAft>
              <a:buClr>
                <a:schemeClr val="dk1"/>
              </a:buClr>
              <a:buSzPts val="2600"/>
              <a:buChar char="•"/>
            </a:pPr>
            <a:r>
              <a:rPr lang="en-GB" sz="2600" b="1"/>
              <a:t>Types of interview</a:t>
            </a:r>
            <a:r>
              <a:rPr lang="en-GB" sz="2600"/>
              <a:t>:</a:t>
            </a:r>
            <a:endParaRPr/>
          </a:p>
          <a:p>
            <a:pPr marL="742950" lvl="1" indent="-285750" algn="just" rtl="0">
              <a:lnSpc>
                <a:spcPct val="100000"/>
              </a:lnSpc>
              <a:spcBef>
                <a:spcPts val="520"/>
              </a:spcBef>
              <a:spcAft>
                <a:spcPts val="0"/>
              </a:spcAft>
              <a:buClr>
                <a:srgbClr val="FF0000"/>
              </a:buClr>
              <a:buSzPts val="2600"/>
              <a:buChar char="–"/>
            </a:pPr>
            <a:r>
              <a:rPr lang="en-GB" sz="2600">
                <a:solidFill>
                  <a:srgbClr val="FF0000"/>
                </a:solidFill>
              </a:rPr>
              <a:t>Closed interviews </a:t>
            </a:r>
            <a:r>
              <a:rPr lang="en-GB" sz="2600"/>
              <a:t>based on pre-determined list of questions</a:t>
            </a:r>
            <a:endParaRPr/>
          </a:p>
          <a:p>
            <a:pPr marL="742950" lvl="1" indent="-285750" algn="just" rtl="0">
              <a:lnSpc>
                <a:spcPct val="100000"/>
              </a:lnSpc>
              <a:spcBef>
                <a:spcPts val="520"/>
              </a:spcBef>
              <a:spcAft>
                <a:spcPts val="0"/>
              </a:spcAft>
              <a:buClr>
                <a:srgbClr val="FF0000"/>
              </a:buClr>
              <a:buSzPts val="2600"/>
              <a:buChar char="–"/>
            </a:pPr>
            <a:r>
              <a:rPr lang="en-GB" sz="2600">
                <a:solidFill>
                  <a:srgbClr val="FF0000"/>
                </a:solidFill>
              </a:rPr>
              <a:t>Open interviews </a:t>
            </a:r>
            <a:r>
              <a:rPr lang="en-GB" sz="2600"/>
              <a:t>where various issues are explored with stakeholders</a:t>
            </a:r>
            <a:endParaRPr/>
          </a:p>
          <a:p>
            <a:pPr marL="342900" lvl="0" indent="-342900" algn="just" rtl="0">
              <a:lnSpc>
                <a:spcPct val="100000"/>
              </a:lnSpc>
              <a:spcBef>
                <a:spcPts val="520"/>
              </a:spcBef>
              <a:spcAft>
                <a:spcPts val="0"/>
              </a:spcAft>
              <a:buClr>
                <a:schemeClr val="dk1"/>
              </a:buClr>
              <a:buSzPts val="2600"/>
              <a:buChar char="•"/>
            </a:pPr>
            <a:r>
              <a:rPr lang="en-GB" sz="2600"/>
              <a:t>Effective interviewing:</a:t>
            </a:r>
            <a:endParaRPr/>
          </a:p>
          <a:p>
            <a:pPr marL="742950" lvl="1" indent="-285750" algn="just" rtl="0">
              <a:lnSpc>
                <a:spcPct val="100000"/>
              </a:lnSpc>
              <a:spcBef>
                <a:spcPts val="520"/>
              </a:spcBef>
              <a:spcAft>
                <a:spcPts val="0"/>
              </a:spcAft>
              <a:buClr>
                <a:schemeClr val="dk1"/>
              </a:buClr>
              <a:buSzPts val="2600"/>
              <a:buChar char="–"/>
            </a:pPr>
            <a:r>
              <a:rPr lang="en-GB" sz="2600"/>
              <a:t>Be open-minded, avoid pre-conceived ideas about the requirements and are willing to listen to stakeholders </a:t>
            </a:r>
            <a:endParaRPr sz="2600"/>
          </a:p>
          <a:p>
            <a:pPr marL="0" lvl="0" indent="0" algn="just" rtl="0">
              <a:lnSpc>
                <a:spcPct val="100000"/>
              </a:lnSpc>
              <a:spcBef>
                <a:spcPts val="520"/>
              </a:spcBef>
              <a:spcAft>
                <a:spcPts val="0"/>
              </a:spcAft>
              <a:buClr>
                <a:schemeClr val="dk1"/>
              </a:buClr>
              <a:buSzPts val="2600"/>
              <a:buNone/>
            </a:pPr>
            <a:endParaRPr sz="2600"/>
          </a:p>
        </p:txBody>
      </p:sp>
      <p:sp>
        <p:nvSpPr>
          <p:cNvPr id="493" name="Google Shape;493;p4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494" name="Google Shape;494;p4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495" name="Google Shape;495;p4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Interviews in Practice</a:t>
            </a:r>
            <a:endParaRPr/>
          </a:p>
        </p:txBody>
      </p:sp>
      <p:sp>
        <p:nvSpPr>
          <p:cNvPr id="501" name="Google Shape;501;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Char char="•"/>
            </a:pPr>
            <a:r>
              <a:rPr lang="en-GB" sz="2800"/>
              <a:t>Normally a mix of closed and open-ended interviewing.</a:t>
            </a:r>
            <a:endParaRPr/>
          </a:p>
          <a:p>
            <a:pPr marL="342900" lvl="0" indent="-342900" algn="just" rtl="0">
              <a:lnSpc>
                <a:spcPct val="90000"/>
              </a:lnSpc>
              <a:spcBef>
                <a:spcPts val="560"/>
              </a:spcBef>
              <a:spcAft>
                <a:spcPts val="0"/>
              </a:spcAft>
              <a:buClr>
                <a:schemeClr val="dk1"/>
              </a:buClr>
              <a:buSzPts val="2800"/>
              <a:buChar char="•"/>
            </a:pPr>
            <a:r>
              <a:rPr lang="en-GB" sz="2800"/>
              <a:t>Interviews are </a:t>
            </a:r>
            <a:r>
              <a:rPr lang="en-GB" sz="2800">
                <a:solidFill>
                  <a:srgbClr val="C00000"/>
                </a:solidFill>
              </a:rPr>
              <a:t>good for getting an overall understanding </a:t>
            </a:r>
            <a:r>
              <a:rPr lang="en-GB" sz="2800"/>
              <a:t>of what stakeholders do and how they might interact with the system</a:t>
            </a:r>
            <a:endParaRPr/>
          </a:p>
          <a:p>
            <a:pPr marL="342900" lvl="0" indent="-342900" algn="l" rtl="0">
              <a:lnSpc>
                <a:spcPct val="90000"/>
              </a:lnSpc>
              <a:spcBef>
                <a:spcPts val="560"/>
              </a:spcBef>
              <a:spcAft>
                <a:spcPts val="0"/>
              </a:spcAft>
              <a:buClr>
                <a:schemeClr val="dk1"/>
              </a:buClr>
              <a:buSzPts val="2800"/>
              <a:buChar char="•"/>
            </a:pPr>
            <a:r>
              <a:rPr lang="en-GB" sz="2800"/>
              <a:t>Interviewers need to be open-minded without pre-conceived ideas of what the system should do.</a:t>
            </a:r>
            <a:endParaRPr/>
          </a:p>
          <a:p>
            <a:pPr marL="0" lvl="0" indent="0" algn="just" rtl="0">
              <a:lnSpc>
                <a:spcPct val="100000"/>
              </a:lnSpc>
              <a:spcBef>
                <a:spcPts val="560"/>
              </a:spcBef>
              <a:spcAft>
                <a:spcPts val="0"/>
              </a:spcAft>
              <a:buClr>
                <a:schemeClr val="dk1"/>
              </a:buClr>
              <a:buSzPts val="2800"/>
              <a:buNone/>
            </a:pPr>
            <a:endParaRPr sz="2800"/>
          </a:p>
        </p:txBody>
      </p:sp>
      <p:sp>
        <p:nvSpPr>
          <p:cNvPr id="502" name="Google Shape;502;p4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03" name="Google Shape;503;p4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04" name="Google Shape;504;p4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Problems with Interviews</a:t>
            </a:r>
            <a:endParaRPr/>
          </a:p>
        </p:txBody>
      </p:sp>
      <p:sp>
        <p:nvSpPr>
          <p:cNvPr id="510" name="Google Shape;510;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800"/>
              <a:buChar char="•"/>
            </a:pPr>
            <a:r>
              <a:rPr lang="en-GB" sz="2800"/>
              <a:t>Application specialists may use language to describe their work that isn’t easy for the requirements engineer to understand.</a:t>
            </a:r>
            <a:endParaRPr/>
          </a:p>
          <a:p>
            <a:pPr marL="342900" lvl="0" indent="-342900" algn="just" rtl="0">
              <a:lnSpc>
                <a:spcPct val="90000"/>
              </a:lnSpc>
              <a:spcBef>
                <a:spcPts val="560"/>
              </a:spcBef>
              <a:spcAft>
                <a:spcPts val="0"/>
              </a:spcAft>
              <a:buClr>
                <a:schemeClr val="dk1"/>
              </a:buClr>
              <a:buSzPts val="2800"/>
              <a:buChar char="•"/>
            </a:pPr>
            <a:r>
              <a:rPr lang="en-GB" sz="2800"/>
              <a:t>Interviews are </a:t>
            </a:r>
            <a:r>
              <a:rPr lang="en-GB" sz="2800">
                <a:solidFill>
                  <a:srgbClr val="C00000"/>
                </a:solidFill>
              </a:rPr>
              <a:t>not good for understanding domain requirements</a:t>
            </a:r>
            <a:r>
              <a:rPr lang="en-GB" sz="2800"/>
              <a:t>:</a:t>
            </a:r>
            <a:endParaRPr/>
          </a:p>
          <a:p>
            <a:pPr marL="742950" lvl="1" indent="-285750" algn="just" rtl="0">
              <a:lnSpc>
                <a:spcPct val="90000"/>
              </a:lnSpc>
              <a:spcBef>
                <a:spcPts val="560"/>
              </a:spcBef>
              <a:spcAft>
                <a:spcPts val="0"/>
              </a:spcAft>
              <a:buClr>
                <a:schemeClr val="dk1"/>
              </a:buClr>
              <a:buSzPts val="2800"/>
              <a:buChar char="–"/>
            </a:pPr>
            <a:r>
              <a:rPr lang="en-GB"/>
              <a:t>Requirements engineers cannot understand specific domain terminology</a:t>
            </a:r>
            <a:endParaRPr/>
          </a:p>
          <a:p>
            <a:pPr marL="742950" lvl="1" indent="-285750" algn="just" rtl="0">
              <a:lnSpc>
                <a:spcPct val="90000"/>
              </a:lnSpc>
              <a:spcBef>
                <a:spcPts val="560"/>
              </a:spcBef>
              <a:spcAft>
                <a:spcPts val="0"/>
              </a:spcAft>
              <a:buClr>
                <a:schemeClr val="dk1"/>
              </a:buClr>
              <a:buSzPts val="2800"/>
              <a:buChar char="–"/>
            </a:pPr>
            <a:r>
              <a:rPr lang="en-GB"/>
              <a:t>Some domain knowledge is so familiar that people find it hard to articulate or think that it is not worth articulating</a:t>
            </a:r>
            <a:endParaRPr/>
          </a:p>
          <a:p>
            <a:pPr marL="0" lvl="0" indent="0" algn="just" rtl="0">
              <a:lnSpc>
                <a:spcPct val="100000"/>
              </a:lnSpc>
              <a:spcBef>
                <a:spcPts val="560"/>
              </a:spcBef>
              <a:spcAft>
                <a:spcPts val="0"/>
              </a:spcAft>
              <a:buClr>
                <a:schemeClr val="dk1"/>
              </a:buClr>
              <a:buSzPts val="2800"/>
              <a:buNone/>
            </a:pPr>
            <a:endParaRPr sz="2800"/>
          </a:p>
        </p:txBody>
      </p:sp>
      <p:sp>
        <p:nvSpPr>
          <p:cNvPr id="511" name="Google Shape;511;p4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12" name="Google Shape;512;p4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13" name="Google Shape;513;p4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Ethnography</a:t>
            </a:r>
            <a:endParaRPr/>
          </a:p>
        </p:txBody>
      </p:sp>
      <p:sp>
        <p:nvSpPr>
          <p:cNvPr id="519" name="Google Shape;519;p45"/>
          <p:cNvSpPr txBox="1">
            <a:spLocks noGrp="1"/>
          </p:cNvSpPr>
          <p:nvPr>
            <p:ph type="body" idx="1"/>
          </p:nvPr>
        </p:nvSpPr>
        <p:spPr>
          <a:xfrm>
            <a:off x="457200" y="1600201"/>
            <a:ext cx="8229600" cy="3706216"/>
          </a:xfrm>
          <a:prstGeom prst="rect">
            <a:avLst/>
          </a:prstGeom>
          <a:noFill/>
          <a:ln>
            <a:noFill/>
          </a:ln>
        </p:spPr>
        <p:txBody>
          <a:bodyPr spcFirstLastPara="1" wrap="square" lIns="91425" tIns="45700" rIns="91425" bIns="45700" anchor="t" anchorCtr="0">
            <a:normAutofit fontScale="92500"/>
          </a:bodyPr>
          <a:lstStyle/>
          <a:p>
            <a:pPr marL="342900" lvl="0" indent="-342900" algn="just" rtl="0">
              <a:lnSpc>
                <a:spcPct val="100000"/>
              </a:lnSpc>
              <a:spcBef>
                <a:spcPts val="0"/>
              </a:spcBef>
              <a:spcAft>
                <a:spcPts val="0"/>
              </a:spcAft>
              <a:buClr>
                <a:schemeClr val="dk1"/>
              </a:buClr>
              <a:buSzPts val="2800"/>
              <a:buChar char="•"/>
            </a:pPr>
            <a:r>
              <a:rPr lang="en-GB" sz="2800"/>
              <a:t>A social scientist spends a considerable time observing and analysing how people actually work</a:t>
            </a:r>
            <a:endParaRPr/>
          </a:p>
          <a:p>
            <a:pPr marL="342900" lvl="0" indent="-342900" algn="just" rtl="0">
              <a:lnSpc>
                <a:spcPct val="100000"/>
              </a:lnSpc>
              <a:spcBef>
                <a:spcPts val="560"/>
              </a:spcBef>
              <a:spcAft>
                <a:spcPts val="0"/>
              </a:spcAft>
              <a:buClr>
                <a:schemeClr val="dk1"/>
              </a:buClr>
              <a:buSzPts val="2800"/>
              <a:buChar char="•"/>
            </a:pPr>
            <a:r>
              <a:rPr lang="en-GB" sz="2800"/>
              <a:t>People do not have to explain or articulate their work</a:t>
            </a:r>
            <a:endParaRPr/>
          </a:p>
          <a:p>
            <a:pPr marL="342900" lvl="0" indent="-342900" algn="just" rtl="0">
              <a:lnSpc>
                <a:spcPct val="100000"/>
              </a:lnSpc>
              <a:spcBef>
                <a:spcPts val="560"/>
              </a:spcBef>
              <a:spcAft>
                <a:spcPts val="0"/>
              </a:spcAft>
              <a:buClr>
                <a:schemeClr val="dk1"/>
              </a:buClr>
              <a:buSzPts val="2800"/>
              <a:buChar char="•"/>
            </a:pPr>
            <a:r>
              <a:rPr lang="en-GB" sz="2800"/>
              <a:t>Social and organisational factors of importance may be observed</a:t>
            </a:r>
            <a:endParaRPr/>
          </a:p>
          <a:p>
            <a:pPr marL="342900" lvl="0" indent="-342900" algn="just" rtl="0">
              <a:lnSpc>
                <a:spcPct val="100000"/>
              </a:lnSpc>
              <a:spcBef>
                <a:spcPts val="560"/>
              </a:spcBef>
              <a:spcAft>
                <a:spcPts val="0"/>
              </a:spcAft>
              <a:buClr>
                <a:schemeClr val="dk1"/>
              </a:buClr>
              <a:buSzPts val="2800"/>
              <a:buChar char="•"/>
            </a:pPr>
            <a:r>
              <a:rPr lang="en-GB" sz="2800"/>
              <a:t>Ethnographic studies have shown that work is usually richer and more complex than suggested by simple system models</a:t>
            </a:r>
            <a:endParaRPr/>
          </a:p>
          <a:p>
            <a:pPr marL="0" lvl="0" indent="0" algn="just" rtl="0">
              <a:lnSpc>
                <a:spcPct val="100000"/>
              </a:lnSpc>
              <a:spcBef>
                <a:spcPts val="560"/>
              </a:spcBef>
              <a:spcAft>
                <a:spcPts val="0"/>
              </a:spcAft>
              <a:buClr>
                <a:schemeClr val="dk1"/>
              </a:buClr>
              <a:buSzPts val="2800"/>
              <a:buNone/>
            </a:pPr>
            <a:endParaRPr sz="2800"/>
          </a:p>
        </p:txBody>
      </p:sp>
      <p:sp>
        <p:nvSpPr>
          <p:cNvPr id="520" name="Google Shape;520;p4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21" name="Google Shape;521;p4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22" name="Google Shape;522;p4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48</a:t>
            </a:fld>
            <a:endParaRPr/>
          </a:p>
        </p:txBody>
      </p:sp>
      <p:pic>
        <p:nvPicPr>
          <p:cNvPr id="523" name="Google Shape;523;p45"/>
          <p:cNvPicPr preferRelativeResize="0"/>
          <p:nvPr/>
        </p:nvPicPr>
        <p:blipFill rotWithShape="1">
          <a:blip r:embed="rId3">
            <a:alphaModFix/>
          </a:blip>
          <a:srcRect/>
          <a:stretch/>
        </p:blipFill>
        <p:spPr>
          <a:xfrm>
            <a:off x="3146930" y="4796590"/>
            <a:ext cx="5882866" cy="153208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Scope of Ethnography</a:t>
            </a:r>
            <a:endParaRPr/>
          </a:p>
        </p:txBody>
      </p:sp>
      <p:sp>
        <p:nvSpPr>
          <p:cNvPr id="529" name="Google Shape;529;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en-GB" sz="2800"/>
              <a:t>Requirements that are derived from </a:t>
            </a:r>
            <a:r>
              <a:rPr lang="en-GB" sz="2800">
                <a:solidFill>
                  <a:srgbClr val="C00000"/>
                </a:solidFill>
              </a:rPr>
              <a:t>the way that people actually work</a:t>
            </a:r>
            <a:r>
              <a:rPr lang="en-GB" sz="2800"/>
              <a:t> rather than the way which process definitions suggest that they ought to work</a:t>
            </a:r>
            <a:endParaRPr/>
          </a:p>
          <a:p>
            <a:pPr marL="342900" lvl="0" indent="-342900" algn="l" rtl="0">
              <a:lnSpc>
                <a:spcPct val="100000"/>
              </a:lnSpc>
              <a:spcBef>
                <a:spcPts val="560"/>
              </a:spcBef>
              <a:spcAft>
                <a:spcPts val="0"/>
              </a:spcAft>
              <a:buClr>
                <a:schemeClr val="dk1"/>
              </a:buClr>
              <a:buSzPts val="2800"/>
              <a:buChar char="•"/>
            </a:pPr>
            <a:r>
              <a:rPr lang="en-GB" sz="2800"/>
              <a:t>Requirements that are derived from </a:t>
            </a:r>
            <a:r>
              <a:rPr lang="en-GB" sz="2800">
                <a:solidFill>
                  <a:srgbClr val="C00000"/>
                </a:solidFill>
              </a:rPr>
              <a:t>cooperation and awareness</a:t>
            </a:r>
            <a:r>
              <a:rPr lang="en-GB" sz="2800"/>
              <a:t> of other people’s activities</a:t>
            </a:r>
            <a:endParaRPr/>
          </a:p>
          <a:p>
            <a:pPr marL="742950" lvl="1" indent="-285750" algn="l" rtl="0">
              <a:lnSpc>
                <a:spcPct val="100000"/>
              </a:lnSpc>
              <a:spcBef>
                <a:spcPts val="560"/>
              </a:spcBef>
              <a:spcAft>
                <a:spcPts val="0"/>
              </a:spcAft>
              <a:buClr>
                <a:schemeClr val="dk1"/>
              </a:buClr>
              <a:buSzPts val="2800"/>
              <a:buChar char="–"/>
            </a:pPr>
            <a:r>
              <a:rPr lang="en-GB"/>
              <a:t>Awareness of what other people are doing leads to changes in the ways in which we do things</a:t>
            </a:r>
            <a:endParaRPr/>
          </a:p>
          <a:p>
            <a:pPr marL="342900" lvl="0" indent="-342900" algn="l" rtl="0">
              <a:lnSpc>
                <a:spcPct val="100000"/>
              </a:lnSpc>
              <a:spcBef>
                <a:spcPts val="560"/>
              </a:spcBef>
              <a:spcAft>
                <a:spcPts val="0"/>
              </a:spcAft>
              <a:buClr>
                <a:schemeClr val="dk1"/>
              </a:buClr>
              <a:buSzPts val="2800"/>
              <a:buChar char="•"/>
            </a:pPr>
            <a:r>
              <a:rPr lang="en-GB" sz="2800"/>
              <a:t>Ethnography is effective for </a:t>
            </a:r>
            <a:r>
              <a:rPr lang="en-GB" sz="2800">
                <a:solidFill>
                  <a:srgbClr val="C00000"/>
                </a:solidFill>
              </a:rPr>
              <a:t>understanding existing processes but cannot identify new features </a:t>
            </a:r>
            <a:r>
              <a:rPr lang="en-GB" sz="2800"/>
              <a:t>that should be added to a system</a:t>
            </a:r>
            <a:endParaRPr/>
          </a:p>
        </p:txBody>
      </p:sp>
      <p:sp>
        <p:nvSpPr>
          <p:cNvPr id="530" name="Google Shape;530;p4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31" name="Google Shape;531;p4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32" name="Google Shape;532;p4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Stories and Scenarios</a:t>
            </a:r>
            <a:endParaRPr/>
          </a:p>
        </p:txBody>
      </p:sp>
      <p:sp>
        <p:nvSpPr>
          <p:cNvPr id="538" name="Google Shape;538;p4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00000"/>
              </a:lnSpc>
              <a:spcBef>
                <a:spcPts val="0"/>
              </a:spcBef>
              <a:spcAft>
                <a:spcPts val="0"/>
              </a:spcAft>
              <a:buClr>
                <a:schemeClr val="dk1"/>
              </a:buClr>
              <a:buSzPct val="100000"/>
              <a:buFont typeface="Arial"/>
              <a:buChar char="•"/>
            </a:pPr>
            <a:r>
              <a:rPr lang="en-GB" sz="2800"/>
              <a:t>Scenarios and user stories are </a:t>
            </a:r>
            <a:r>
              <a:rPr lang="en-GB" sz="2800">
                <a:solidFill>
                  <a:srgbClr val="C00000"/>
                </a:solidFill>
              </a:rPr>
              <a:t>real-life examples</a:t>
            </a:r>
            <a:r>
              <a:rPr lang="en-GB" sz="2800"/>
              <a:t> of how a system can be used.</a:t>
            </a:r>
            <a:endParaRPr/>
          </a:p>
          <a:p>
            <a:pPr marL="342900" lvl="0" indent="-342900" algn="just" rtl="0">
              <a:lnSpc>
                <a:spcPct val="100000"/>
              </a:lnSpc>
              <a:spcBef>
                <a:spcPts val="518"/>
              </a:spcBef>
              <a:spcAft>
                <a:spcPts val="0"/>
              </a:spcAft>
              <a:buClr>
                <a:schemeClr val="dk1"/>
              </a:buClr>
              <a:buSzPct val="100000"/>
              <a:buFont typeface="Arial"/>
              <a:buChar char="•"/>
            </a:pPr>
            <a:r>
              <a:rPr lang="en-GB" sz="2800"/>
              <a:t>Scenarios is a structured form of user story.</a:t>
            </a:r>
            <a:endParaRPr/>
          </a:p>
          <a:p>
            <a:pPr marL="342900" lvl="0" indent="-342900" algn="just" rtl="0">
              <a:lnSpc>
                <a:spcPct val="100000"/>
              </a:lnSpc>
              <a:spcBef>
                <a:spcPts val="518"/>
              </a:spcBef>
              <a:spcAft>
                <a:spcPts val="0"/>
              </a:spcAft>
              <a:buClr>
                <a:schemeClr val="dk1"/>
              </a:buClr>
              <a:buSzPct val="100000"/>
              <a:buFont typeface="Arial"/>
              <a:buChar char="•"/>
            </a:pPr>
            <a:r>
              <a:rPr lang="en-GB" sz="2800"/>
              <a:t>Scenarios should include:</a:t>
            </a:r>
            <a:endParaRPr/>
          </a:p>
          <a:p>
            <a:pPr marL="742950" lvl="1" indent="-285750" algn="just" rtl="0">
              <a:lnSpc>
                <a:spcPct val="100000"/>
              </a:lnSpc>
              <a:spcBef>
                <a:spcPts val="518"/>
              </a:spcBef>
              <a:spcAft>
                <a:spcPts val="0"/>
              </a:spcAft>
              <a:buClr>
                <a:schemeClr val="dk1"/>
              </a:buClr>
              <a:buSzPct val="100000"/>
              <a:buFont typeface="Arial"/>
              <a:buChar char="–"/>
            </a:pPr>
            <a:r>
              <a:rPr lang="en-GB"/>
              <a:t>A description of the starting situation</a:t>
            </a:r>
            <a:endParaRPr/>
          </a:p>
          <a:p>
            <a:pPr marL="742950" lvl="1" indent="-285750" algn="just" rtl="0">
              <a:lnSpc>
                <a:spcPct val="100000"/>
              </a:lnSpc>
              <a:spcBef>
                <a:spcPts val="518"/>
              </a:spcBef>
              <a:spcAft>
                <a:spcPts val="0"/>
              </a:spcAft>
              <a:buClr>
                <a:schemeClr val="dk1"/>
              </a:buClr>
              <a:buSzPct val="100000"/>
              <a:buFont typeface="Arial"/>
              <a:buChar char="–"/>
            </a:pPr>
            <a:r>
              <a:rPr lang="en-GB"/>
              <a:t>A description of the normal flow of events</a:t>
            </a:r>
            <a:endParaRPr/>
          </a:p>
          <a:p>
            <a:pPr marL="742950" lvl="1" indent="-285750" algn="just" rtl="0">
              <a:lnSpc>
                <a:spcPct val="100000"/>
              </a:lnSpc>
              <a:spcBef>
                <a:spcPts val="518"/>
              </a:spcBef>
              <a:spcAft>
                <a:spcPts val="0"/>
              </a:spcAft>
              <a:buClr>
                <a:schemeClr val="dk1"/>
              </a:buClr>
              <a:buSzPct val="100000"/>
              <a:buFont typeface="Arial"/>
              <a:buChar char="–"/>
            </a:pPr>
            <a:r>
              <a:rPr lang="en-GB"/>
              <a:t>A description of what can go wrong</a:t>
            </a:r>
            <a:endParaRPr/>
          </a:p>
          <a:p>
            <a:pPr marL="742950" lvl="1" indent="-285750" algn="just" rtl="0">
              <a:lnSpc>
                <a:spcPct val="100000"/>
              </a:lnSpc>
              <a:spcBef>
                <a:spcPts val="518"/>
              </a:spcBef>
              <a:spcAft>
                <a:spcPts val="0"/>
              </a:spcAft>
              <a:buClr>
                <a:schemeClr val="dk1"/>
              </a:buClr>
              <a:buSzPct val="100000"/>
              <a:buFont typeface="Arial"/>
              <a:buChar char="–"/>
            </a:pPr>
            <a:r>
              <a:rPr lang="en-GB"/>
              <a:t>Information about other concurrent activities</a:t>
            </a:r>
            <a:endParaRPr/>
          </a:p>
          <a:p>
            <a:pPr marL="742950" lvl="1" indent="-285750" algn="just" rtl="0">
              <a:lnSpc>
                <a:spcPct val="100000"/>
              </a:lnSpc>
              <a:spcBef>
                <a:spcPts val="518"/>
              </a:spcBef>
              <a:spcAft>
                <a:spcPts val="0"/>
              </a:spcAft>
              <a:buClr>
                <a:schemeClr val="dk1"/>
              </a:buClr>
              <a:buSzPct val="100000"/>
              <a:buFont typeface="Arial"/>
              <a:buChar char="–"/>
            </a:pPr>
            <a:r>
              <a:rPr lang="en-GB"/>
              <a:t>A description of the state when the scenario finishes</a:t>
            </a:r>
            <a:endParaRPr/>
          </a:p>
          <a:p>
            <a:pPr marL="0" lvl="0" indent="0" algn="just" rtl="0">
              <a:lnSpc>
                <a:spcPct val="100000"/>
              </a:lnSpc>
              <a:spcBef>
                <a:spcPts val="518"/>
              </a:spcBef>
              <a:spcAft>
                <a:spcPts val="0"/>
              </a:spcAft>
              <a:buClr>
                <a:schemeClr val="dk1"/>
              </a:buClr>
              <a:buSzPct val="100000"/>
              <a:buNone/>
            </a:pPr>
            <a:endParaRPr sz="2800"/>
          </a:p>
        </p:txBody>
      </p:sp>
      <p:sp>
        <p:nvSpPr>
          <p:cNvPr id="539" name="Google Shape;539;p4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40" name="Google Shape;540;p4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41" name="Google Shape;541;p4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Scenario for Collecting Medical History in Mentcare System </a:t>
            </a:r>
            <a:endParaRPr/>
          </a:p>
        </p:txBody>
      </p:sp>
      <p:sp>
        <p:nvSpPr>
          <p:cNvPr id="547" name="Google Shape;547;p4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48" name="Google Shape;548;p4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49" name="Google Shape;549;p4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51</a:t>
            </a:fld>
            <a:endParaRPr/>
          </a:p>
        </p:txBody>
      </p:sp>
      <p:graphicFrame>
        <p:nvGraphicFramePr>
          <p:cNvPr id="550" name="Google Shape;550;p48"/>
          <p:cNvGraphicFramePr/>
          <p:nvPr/>
        </p:nvGraphicFramePr>
        <p:xfrm>
          <a:off x="838200" y="1663546"/>
          <a:ext cx="7467600" cy="4399270"/>
        </p:xfrm>
        <a:graphic>
          <a:graphicData uri="http://schemas.openxmlformats.org/presentationml/2006/ole">
            <mc:AlternateContent xmlns:mc="http://schemas.openxmlformats.org/markup-compatibility/2006">
              <mc:Choice xmlns:v="urn:schemas-microsoft-com:vml" Requires="v">
                <p:oleObj r:id="rId3" imgW="7467600" imgH="4399270" progId="Word.Document.12">
                  <p:embed/>
                </p:oleObj>
              </mc:Choice>
              <mc:Fallback>
                <p:oleObj r:id="rId3" imgW="7467600" imgH="4399270" progId="Word.Document.12">
                  <p:embed/>
                  <p:pic>
                    <p:nvPicPr>
                      <p:cNvPr id="550" name="Google Shape;550;p48"/>
                      <p:cNvPicPr preferRelativeResize="0"/>
                      <p:nvPr/>
                    </p:nvPicPr>
                    <p:blipFill rotWithShape="1">
                      <a:blip r:embed="rId4">
                        <a:alphaModFix/>
                      </a:blip>
                      <a:srcRect/>
                      <a:stretch/>
                    </p:blipFill>
                    <p:spPr>
                      <a:xfrm>
                        <a:off x="838200" y="1663546"/>
                        <a:ext cx="7467600" cy="4399270"/>
                      </a:xfrm>
                      <a:prstGeom prst="rect">
                        <a:avLst/>
                      </a:prstGeom>
                      <a:noFill/>
                      <a:ln>
                        <a:noFill/>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Scenario for Collecting Medical History in Mentcare System </a:t>
            </a:r>
            <a:endParaRPr/>
          </a:p>
        </p:txBody>
      </p:sp>
      <p:sp>
        <p:nvSpPr>
          <p:cNvPr id="556" name="Google Shape;556;p4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57" name="Google Shape;557;p4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58" name="Google Shape;558;p4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52</a:t>
            </a:fld>
            <a:endParaRPr/>
          </a:p>
        </p:txBody>
      </p:sp>
      <p:graphicFrame>
        <p:nvGraphicFramePr>
          <p:cNvPr id="559" name="Google Shape;559;p49"/>
          <p:cNvGraphicFramePr/>
          <p:nvPr/>
        </p:nvGraphicFramePr>
        <p:xfrm>
          <a:off x="800100" y="1610485"/>
          <a:ext cx="7543800" cy="4795064"/>
        </p:xfrm>
        <a:graphic>
          <a:graphicData uri="http://schemas.openxmlformats.org/presentationml/2006/ole">
            <mc:AlternateContent xmlns:mc="http://schemas.openxmlformats.org/markup-compatibility/2006">
              <mc:Choice xmlns:v="urn:schemas-microsoft-com:vml" Requires="v">
                <p:oleObj r:id="rId3" imgW="7543800" imgH="4795064" progId="Word.Document.12">
                  <p:embed/>
                </p:oleObj>
              </mc:Choice>
              <mc:Fallback>
                <p:oleObj r:id="rId3" imgW="7543800" imgH="4795064" progId="Word.Document.12">
                  <p:embed/>
                  <p:pic>
                    <p:nvPicPr>
                      <p:cNvPr id="559" name="Google Shape;559;p49"/>
                      <p:cNvPicPr preferRelativeResize="0"/>
                      <p:nvPr/>
                    </p:nvPicPr>
                    <p:blipFill rotWithShape="1">
                      <a:blip r:embed="rId4">
                        <a:alphaModFix/>
                      </a:blip>
                      <a:srcRect/>
                      <a:stretch/>
                    </p:blipFill>
                    <p:spPr>
                      <a:xfrm>
                        <a:off x="800100" y="1610485"/>
                        <a:ext cx="7543800" cy="4795064"/>
                      </a:xfrm>
                      <a:prstGeom prst="rect">
                        <a:avLst/>
                      </a:prstGeom>
                      <a:noFill/>
                      <a:ln>
                        <a:noFill/>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Engineering Processes</a:t>
            </a:r>
            <a:endParaRPr/>
          </a:p>
        </p:txBody>
      </p:sp>
      <p:grpSp>
        <p:nvGrpSpPr>
          <p:cNvPr id="565" name="Google Shape;565;p50"/>
          <p:cNvGrpSpPr/>
          <p:nvPr/>
        </p:nvGrpSpPr>
        <p:grpSpPr>
          <a:xfrm>
            <a:off x="461318" y="1600200"/>
            <a:ext cx="8221363" cy="4525963"/>
            <a:chOff x="4118" y="0"/>
            <a:chExt cx="8221363" cy="4525963"/>
          </a:xfrm>
        </p:grpSpPr>
        <p:sp>
          <p:nvSpPr>
            <p:cNvPr id="566" name="Google Shape;566;p50"/>
            <p:cNvSpPr/>
            <p:nvPr/>
          </p:nvSpPr>
          <p:spPr>
            <a:xfrm>
              <a:off x="617219" y="0"/>
              <a:ext cx="6995160" cy="4525963"/>
            </a:xfrm>
            <a:prstGeom prst="rightArrow">
              <a:avLst>
                <a:gd name="adj1" fmla="val 50000"/>
                <a:gd name="adj2" fmla="val 50000"/>
              </a:avLst>
            </a:prstGeom>
            <a:solidFill>
              <a:srgbClr val="CFD7E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50"/>
            <p:cNvSpPr/>
            <p:nvPr/>
          </p:nvSpPr>
          <p:spPr>
            <a:xfrm>
              <a:off x="4118"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50"/>
            <p:cNvSpPr txBox="1"/>
            <p:nvPr/>
          </p:nvSpPr>
          <p:spPr>
            <a:xfrm>
              <a:off x="92494"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Elicitation and Analysis</a:t>
              </a:r>
              <a:endParaRPr sz="1400" b="0" i="0" u="none" strike="noStrike" cap="none">
                <a:solidFill>
                  <a:srgbClr val="000000"/>
                </a:solidFill>
                <a:latin typeface="Arial"/>
                <a:ea typeface="Arial"/>
                <a:cs typeface="Arial"/>
                <a:sym typeface="Arial"/>
              </a:endParaRPr>
            </a:p>
          </p:txBody>
        </p:sp>
        <p:sp>
          <p:nvSpPr>
            <p:cNvPr id="569" name="Google Shape;569;p50"/>
            <p:cNvSpPr/>
            <p:nvPr/>
          </p:nvSpPr>
          <p:spPr>
            <a:xfrm>
              <a:off x="2084222"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50"/>
            <p:cNvSpPr txBox="1"/>
            <p:nvPr/>
          </p:nvSpPr>
          <p:spPr>
            <a:xfrm>
              <a:off x="2172598"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Specification</a:t>
              </a:r>
              <a:endParaRPr sz="1400" b="0" i="0" u="none" strike="noStrike" cap="none">
                <a:solidFill>
                  <a:srgbClr val="000000"/>
                </a:solidFill>
                <a:latin typeface="Arial"/>
                <a:ea typeface="Arial"/>
                <a:cs typeface="Arial"/>
                <a:sym typeface="Arial"/>
              </a:endParaRPr>
            </a:p>
          </p:txBody>
        </p:sp>
        <p:sp>
          <p:nvSpPr>
            <p:cNvPr id="571" name="Google Shape;571;p50"/>
            <p:cNvSpPr/>
            <p:nvPr/>
          </p:nvSpPr>
          <p:spPr>
            <a:xfrm>
              <a:off x="4164326"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50"/>
            <p:cNvSpPr txBox="1"/>
            <p:nvPr/>
          </p:nvSpPr>
          <p:spPr>
            <a:xfrm>
              <a:off x="4252702"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Validation</a:t>
              </a:r>
              <a:endParaRPr sz="1400" b="0" i="0" u="none" strike="noStrike" cap="none">
                <a:solidFill>
                  <a:srgbClr val="000000"/>
                </a:solidFill>
                <a:latin typeface="Arial"/>
                <a:ea typeface="Arial"/>
                <a:cs typeface="Arial"/>
                <a:sym typeface="Arial"/>
              </a:endParaRPr>
            </a:p>
          </p:txBody>
        </p:sp>
        <p:sp>
          <p:nvSpPr>
            <p:cNvPr id="573" name="Google Shape;573;p50"/>
            <p:cNvSpPr/>
            <p:nvPr/>
          </p:nvSpPr>
          <p:spPr>
            <a:xfrm>
              <a:off x="6244430"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50"/>
            <p:cNvSpPr txBox="1"/>
            <p:nvPr/>
          </p:nvSpPr>
          <p:spPr>
            <a:xfrm>
              <a:off x="6332806"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Change</a:t>
              </a:r>
              <a:endParaRPr sz="1400" b="0" i="0" u="none" strike="noStrike" cap="none">
                <a:solidFill>
                  <a:srgbClr val="000000"/>
                </a:solidFill>
                <a:latin typeface="Arial"/>
                <a:ea typeface="Arial"/>
                <a:cs typeface="Arial"/>
                <a:sym typeface="Arial"/>
              </a:endParaRPr>
            </a:p>
          </p:txBody>
        </p:sp>
      </p:grpSp>
      <p:sp>
        <p:nvSpPr>
          <p:cNvPr id="575" name="Google Shape;575;p5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76" name="Google Shape;576;p5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77" name="Google Shape;577;p5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Specification</a:t>
            </a:r>
            <a:endParaRPr/>
          </a:p>
        </p:txBody>
      </p:sp>
      <p:sp>
        <p:nvSpPr>
          <p:cNvPr id="583" name="Google Shape;583;p5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00000"/>
              </a:lnSpc>
              <a:spcBef>
                <a:spcPts val="0"/>
              </a:spcBef>
              <a:spcAft>
                <a:spcPts val="0"/>
              </a:spcAft>
              <a:buClr>
                <a:schemeClr val="dk1"/>
              </a:buClr>
              <a:buSzPct val="100000"/>
              <a:buFont typeface="Arial"/>
              <a:buChar char="•"/>
            </a:pPr>
            <a:r>
              <a:rPr lang="en-GB" sz="2800"/>
              <a:t>The process of writing down the user and system requirements in a </a:t>
            </a:r>
            <a:r>
              <a:rPr lang="en-GB" sz="2800">
                <a:solidFill>
                  <a:srgbClr val="FF0000"/>
                </a:solidFill>
              </a:rPr>
              <a:t>requirements document</a:t>
            </a:r>
            <a:r>
              <a:rPr lang="en-GB" sz="2800"/>
              <a:t>.</a:t>
            </a:r>
            <a:endParaRPr/>
          </a:p>
          <a:p>
            <a:pPr marL="342900" lvl="0" indent="-342900" algn="just" rtl="0">
              <a:lnSpc>
                <a:spcPct val="100000"/>
              </a:lnSpc>
              <a:spcBef>
                <a:spcPts val="518"/>
              </a:spcBef>
              <a:spcAft>
                <a:spcPts val="0"/>
              </a:spcAft>
              <a:buClr>
                <a:srgbClr val="C00000"/>
              </a:buClr>
              <a:buSzPct val="100000"/>
              <a:buFont typeface="Arial"/>
              <a:buChar char="•"/>
            </a:pPr>
            <a:r>
              <a:rPr lang="en-GB" sz="2800">
                <a:solidFill>
                  <a:srgbClr val="C00000"/>
                </a:solidFill>
              </a:rPr>
              <a:t>User requirements</a:t>
            </a:r>
            <a:r>
              <a:rPr lang="en-GB" sz="2800"/>
              <a:t> have to be understandable by end-users and customers who do not have a technical background</a:t>
            </a:r>
            <a:endParaRPr/>
          </a:p>
          <a:p>
            <a:pPr marL="342900" lvl="0" indent="-342900" algn="just" rtl="0">
              <a:lnSpc>
                <a:spcPct val="100000"/>
              </a:lnSpc>
              <a:spcBef>
                <a:spcPts val="518"/>
              </a:spcBef>
              <a:spcAft>
                <a:spcPts val="0"/>
              </a:spcAft>
              <a:buClr>
                <a:srgbClr val="C00000"/>
              </a:buClr>
              <a:buSzPct val="100000"/>
              <a:buFont typeface="Arial"/>
              <a:buChar char="•"/>
            </a:pPr>
            <a:r>
              <a:rPr lang="en-GB" sz="2800">
                <a:solidFill>
                  <a:srgbClr val="C00000"/>
                </a:solidFill>
              </a:rPr>
              <a:t>System requirements</a:t>
            </a:r>
            <a:r>
              <a:rPr lang="en-GB" sz="2800"/>
              <a:t> are more detailed requirements and may include more technical information</a:t>
            </a:r>
            <a:endParaRPr/>
          </a:p>
          <a:p>
            <a:pPr marL="342900" lvl="0" indent="-342900" algn="just" rtl="0">
              <a:lnSpc>
                <a:spcPct val="100000"/>
              </a:lnSpc>
              <a:spcBef>
                <a:spcPts val="518"/>
              </a:spcBef>
              <a:spcAft>
                <a:spcPts val="0"/>
              </a:spcAft>
              <a:buClr>
                <a:schemeClr val="dk1"/>
              </a:buClr>
              <a:buSzPct val="100000"/>
              <a:buFont typeface="Arial"/>
              <a:buChar char="•"/>
            </a:pPr>
            <a:r>
              <a:rPr lang="en-GB" sz="2800"/>
              <a:t>The requirements may be </a:t>
            </a:r>
            <a:r>
              <a:rPr lang="en-GB" sz="2800">
                <a:solidFill>
                  <a:srgbClr val="C00000"/>
                </a:solidFill>
              </a:rPr>
              <a:t>part of a contract </a:t>
            </a:r>
            <a:r>
              <a:rPr lang="en-GB" sz="2800"/>
              <a:t>for the system development, thus it is important that these are as complete as possible</a:t>
            </a:r>
            <a:endParaRPr/>
          </a:p>
          <a:p>
            <a:pPr marL="0" lvl="0" indent="0" algn="just" rtl="0">
              <a:lnSpc>
                <a:spcPct val="100000"/>
              </a:lnSpc>
              <a:spcBef>
                <a:spcPts val="592"/>
              </a:spcBef>
              <a:spcAft>
                <a:spcPts val="0"/>
              </a:spcAft>
              <a:buClr>
                <a:schemeClr val="dk1"/>
              </a:buClr>
              <a:buSzPct val="100000"/>
              <a:buNone/>
            </a:pPr>
            <a:endParaRPr/>
          </a:p>
        </p:txBody>
      </p:sp>
      <p:sp>
        <p:nvSpPr>
          <p:cNvPr id="584" name="Google Shape;584;p5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85" name="Google Shape;585;p5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86" name="Google Shape;586;p5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Software Requirements Document</a:t>
            </a:r>
            <a:endParaRPr/>
          </a:p>
        </p:txBody>
      </p:sp>
      <p:sp>
        <p:nvSpPr>
          <p:cNvPr id="592" name="Google Shape;592;p52"/>
          <p:cNvSpPr txBox="1">
            <a:spLocks noGrp="1"/>
          </p:cNvSpPr>
          <p:nvPr>
            <p:ph type="body" idx="1"/>
          </p:nvPr>
        </p:nvSpPr>
        <p:spPr>
          <a:xfrm>
            <a:off x="457200" y="1600200"/>
            <a:ext cx="83820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GB"/>
              <a:t>The software requirements document is the </a:t>
            </a:r>
            <a:r>
              <a:rPr lang="en-GB">
                <a:solidFill>
                  <a:srgbClr val="C00000"/>
                </a:solidFill>
              </a:rPr>
              <a:t>official statement </a:t>
            </a:r>
            <a:r>
              <a:rPr lang="en-GB"/>
              <a:t>of what is required of the system developers - sometimes called the </a:t>
            </a:r>
            <a:r>
              <a:rPr lang="en-GB">
                <a:solidFill>
                  <a:srgbClr val="FF0000"/>
                </a:solidFill>
              </a:rPr>
              <a:t>Software Requirement Specification (SRS).</a:t>
            </a:r>
            <a:endParaRPr/>
          </a:p>
          <a:p>
            <a:pPr marL="342900" lvl="0" indent="-342900" algn="l" rtl="0">
              <a:lnSpc>
                <a:spcPct val="100000"/>
              </a:lnSpc>
              <a:spcBef>
                <a:spcPts val="592"/>
              </a:spcBef>
              <a:spcAft>
                <a:spcPts val="0"/>
              </a:spcAft>
              <a:buClr>
                <a:schemeClr val="dk1"/>
              </a:buClr>
              <a:buSzPct val="100000"/>
              <a:buChar char="•"/>
            </a:pPr>
            <a:r>
              <a:rPr lang="en-GB"/>
              <a:t>Should include both a definition of </a:t>
            </a:r>
            <a:r>
              <a:rPr lang="en-GB">
                <a:solidFill>
                  <a:srgbClr val="C00000"/>
                </a:solidFill>
              </a:rPr>
              <a:t>user requirements </a:t>
            </a:r>
            <a:r>
              <a:rPr lang="en-GB"/>
              <a:t>and a specification of the </a:t>
            </a:r>
            <a:r>
              <a:rPr lang="en-GB">
                <a:solidFill>
                  <a:srgbClr val="C00000"/>
                </a:solidFill>
              </a:rPr>
              <a:t>system requirements</a:t>
            </a:r>
            <a:endParaRPr/>
          </a:p>
          <a:p>
            <a:pPr marL="342900" lvl="0" indent="-342900" algn="l" rtl="0">
              <a:lnSpc>
                <a:spcPct val="100000"/>
              </a:lnSpc>
              <a:spcBef>
                <a:spcPts val="592"/>
              </a:spcBef>
              <a:spcAft>
                <a:spcPts val="0"/>
              </a:spcAft>
              <a:buClr>
                <a:schemeClr val="dk1"/>
              </a:buClr>
              <a:buSzPct val="100000"/>
              <a:buChar char="•"/>
            </a:pPr>
            <a:r>
              <a:rPr lang="en-GB"/>
              <a:t>It is NOT a design document</a:t>
            </a:r>
            <a:endParaRPr/>
          </a:p>
          <a:p>
            <a:pPr marL="342900" lvl="0" indent="-342900" algn="l" rtl="0">
              <a:lnSpc>
                <a:spcPct val="100000"/>
              </a:lnSpc>
              <a:spcBef>
                <a:spcPts val="592"/>
              </a:spcBef>
              <a:spcAft>
                <a:spcPts val="0"/>
              </a:spcAft>
              <a:buClr>
                <a:schemeClr val="dk1"/>
              </a:buClr>
              <a:buSzPct val="100000"/>
              <a:buChar char="•"/>
            </a:pPr>
            <a:r>
              <a:rPr lang="en-GB"/>
              <a:t>As far as possible, it should set of </a:t>
            </a:r>
            <a:r>
              <a:rPr lang="en-GB">
                <a:solidFill>
                  <a:srgbClr val="C00000"/>
                </a:solidFill>
              </a:rPr>
              <a:t>WHAT the system should do </a:t>
            </a:r>
            <a:r>
              <a:rPr lang="en-GB"/>
              <a:t>rather than HOW it should do it</a:t>
            </a:r>
            <a:endParaRPr/>
          </a:p>
          <a:p>
            <a:pPr marL="0" lvl="0" indent="0" algn="l" rtl="0">
              <a:lnSpc>
                <a:spcPct val="100000"/>
              </a:lnSpc>
              <a:spcBef>
                <a:spcPts val="592"/>
              </a:spcBef>
              <a:spcAft>
                <a:spcPts val="0"/>
              </a:spcAft>
              <a:buClr>
                <a:schemeClr val="dk1"/>
              </a:buClr>
              <a:buSzPct val="100000"/>
              <a:buNone/>
            </a:pPr>
            <a:endParaRPr/>
          </a:p>
        </p:txBody>
      </p:sp>
      <p:sp>
        <p:nvSpPr>
          <p:cNvPr id="593" name="Google Shape;593;p5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594" name="Google Shape;594;p5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595" name="Google Shape;595;p5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Agile Methods and Requirements</a:t>
            </a:r>
            <a:endParaRPr/>
          </a:p>
        </p:txBody>
      </p:sp>
      <p:sp>
        <p:nvSpPr>
          <p:cNvPr id="601" name="Google Shape;601;p53"/>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10000"/>
              </a:lnSpc>
              <a:spcBef>
                <a:spcPts val="0"/>
              </a:spcBef>
              <a:spcAft>
                <a:spcPts val="0"/>
              </a:spcAft>
              <a:buClr>
                <a:schemeClr val="dk1"/>
              </a:buClr>
              <a:buSzPts val="2800"/>
              <a:buChar char="•"/>
            </a:pPr>
            <a:r>
              <a:rPr lang="en-GB" sz="2800">
                <a:latin typeface="Calibri"/>
                <a:ea typeface="Calibri"/>
                <a:cs typeface="Calibri"/>
                <a:sym typeface="Calibri"/>
              </a:rPr>
              <a:t>Many agile methods argue that producing a </a:t>
            </a:r>
            <a:r>
              <a:rPr lang="en-GB" sz="2800">
                <a:solidFill>
                  <a:srgbClr val="C00000"/>
                </a:solidFill>
                <a:latin typeface="Calibri"/>
                <a:ea typeface="Calibri"/>
                <a:cs typeface="Calibri"/>
                <a:sym typeface="Calibri"/>
              </a:rPr>
              <a:t>requirements document is a waste of time </a:t>
            </a:r>
            <a:r>
              <a:rPr lang="en-GB" sz="2800">
                <a:latin typeface="Calibri"/>
                <a:ea typeface="Calibri"/>
                <a:cs typeface="Calibri"/>
                <a:sym typeface="Calibri"/>
              </a:rPr>
              <a:t>as requirements change so quickly</a:t>
            </a:r>
            <a:endParaRPr/>
          </a:p>
          <a:p>
            <a:pPr marL="342900" lvl="0" indent="-342900" algn="just" rtl="0">
              <a:lnSpc>
                <a:spcPct val="110000"/>
              </a:lnSpc>
              <a:spcBef>
                <a:spcPts val="672"/>
              </a:spcBef>
              <a:spcAft>
                <a:spcPts val="0"/>
              </a:spcAft>
              <a:buClr>
                <a:schemeClr val="dk1"/>
              </a:buClr>
              <a:buSzPts val="2800"/>
              <a:buChar char="•"/>
            </a:pPr>
            <a:r>
              <a:rPr lang="en-GB" sz="2800">
                <a:latin typeface="Calibri"/>
                <a:ea typeface="Calibri"/>
                <a:cs typeface="Calibri"/>
                <a:sym typeface="Calibri"/>
              </a:rPr>
              <a:t>The document is therefore always out of date</a:t>
            </a:r>
            <a:endParaRPr/>
          </a:p>
          <a:p>
            <a:pPr marL="342900" lvl="0" indent="-342900" algn="just" rtl="0">
              <a:lnSpc>
                <a:spcPct val="110000"/>
              </a:lnSpc>
              <a:spcBef>
                <a:spcPts val="672"/>
              </a:spcBef>
              <a:spcAft>
                <a:spcPts val="0"/>
              </a:spcAft>
              <a:buClr>
                <a:schemeClr val="dk1"/>
              </a:buClr>
              <a:buSzPts val="2800"/>
              <a:buChar char="•"/>
            </a:pPr>
            <a:r>
              <a:rPr lang="en-GB" sz="2800">
                <a:latin typeface="Calibri"/>
                <a:ea typeface="Calibri"/>
                <a:cs typeface="Calibri"/>
                <a:sym typeface="Calibri"/>
              </a:rPr>
              <a:t>Methods such as XP use incremental requirements engineering and express requirements as </a:t>
            </a:r>
            <a:r>
              <a:rPr lang="en-GB" sz="2800">
                <a:solidFill>
                  <a:srgbClr val="C00000"/>
                </a:solidFill>
                <a:latin typeface="Calibri"/>
                <a:ea typeface="Calibri"/>
                <a:cs typeface="Calibri"/>
                <a:sym typeface="Calibri"/>
              </a:rPr>
              <a:t>user stories</a:t>
            </a:r>
            <a:endParaRPr sz="2800">
              <a:latin typeface="Calibri"/>
              <a:ea typeface="Calibri"/>
              <a:cs typeface="Calibri"/>
              <a:sym typeface="Calibri"/>
            </a:endParaRPr>
          </a:p>
          <a:p>
            <a:pPr marL="342900" lvl="0" indent="-342900" algn="just" rtl="0">
              <a:lnSpc>
                <a:spcPct val="110000"/>
              </a:lnSpc>
              <a:spcBef>
                <a:spcPts val="672"/>
              </a:spcBef>
              <a:spcAft>
                <a:spcPts val="0"/>
              </a:spcAft>
              <a:buClr>
                <a:schemeClr val="dk1"/>
              </a:buClr>
              <a:buSzPts val="2800"/>
              <a:buChar char="•"/>
            </a:pPr>
            <a:r>
              <a:rPr lang="en-GB" sz="2800">
                <a:latin typeface="Calibri"/>
                <a:ea typeface="Calibri"/>
                <a:cs typeface="Calibri"/>
                <a:sym typeface="Calibri"/>
              </a:rPr>
              <a:t>This is practical for business systems but </a:t>
            </a:r>
            <a:r>
              <a:rPr lang="en-GB" sz="2800">
                <a:solidFill>
                  <a:srgbClr val="C00000"/>
                </a:solidFill>
                <a:latin typeface="Calibri"/>
                <a:ea typeface="Calibri"/>
                <a:cs typeface="Calibri"/>
                <a:sym typeface="Calibri"/>
              </a:rPr>
              <a:t>problematic for systems that require a lot of pre-delivery analysis </a:t>
            </a:r>
            <a:r>
              <a:rPr lang="en-GB" sz="2800">
                <a:latin typeface="Calibri"/>
                <a:ea typeface="Calibri"/>
                <a:cs typeface="Calibri"/>
                <a:sym typeface="Calibri"/>
              </a:rPr>
              <a:t>(e.g. critical systems) or systems developed by several teams</a:t>
            </a:r>
            <a:endParaRPr/>
          </a:p>
          <a:p>
            <a:pPr marL="0" lvl="0" indent="0" algn="just" rtl="0">
              <a:lnSpc>
                <a:spcPct val="110000"/>
              </a:lnSpc>
              <a:spcBef>
                <a:spcPts val="672"/>
              </a:spcBef>
              <a:spcAft>
                <a:spcPts val="0"/>
              </a:spcAft>
              <a:buClr>
                <a:schemeClr val="dk1"/>
              </a:buClr>
              <a:buSzPts val="2800"/>
              <a:buNone/>
            </a:pPr>
            <a:endParaRPr sz="2800">
              <a:latin typeface="Calibri"/>
              <a:ea typeface="Calibri"/>
              <a:cs typeface="Calibri"/>
              <a:sym typeface="Calibri"/>
            </a:endParaRPr>
          </a:p>
        </p:txBody>
      </p:sp>
      <p:sp>
        <p:nvSpPr>
          <p:cNvPr id="602" name="Google Shape;602;p5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03" name="Google Shape;603;p5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04" name="Google Shape;604;p5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54"/>
          <p:cNvSpPr txBox="1">
            <a:spLocks noGrp="1"/>
          </p:cNvSpPr>
          <p:nvPr>
            <p:ph type="title"/>
          </p:nvPr>
        </p:nvSpPr>
        <p:spPr>
          <a:xfrm>
            <a:off x="5334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Ways of Writing a System Requirements Specification </a:t>
            </a:r>
            <a:endParaRPr/>
          </a:p>
        </p:txBody>
      </p:sp>
      <p:sp>
        <p:nvSpPr>
          <p:cNvPr id="610" name="Google Shape;610;p5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11" name="Google Shape;611;p5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12" name="Google Shape;612;p5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57</a:t>
            </a:fld>
            <a:endParaRPr/>
          </a:p>
        </p:txBody>
      </p:sp>
      <p:graphicFrame>
        <p:nvGraphicFramePr>
          <p:cNvPr id="613" name="Google Shape;613;p54"/>
          <p:cNvGraphicFramePr/>
          <p:nvPr/>
        </p:nvGraphicFramePr>
        <p:xfrm>
          <a:off x="457200" y="1600200"/>
          <a:ext cx="8229600" cy="4724375"/>
        </p:xfrm>
        <a:graphic>
          <a:graphicData uri="http://schemas.openxmlformats.org/drawingml/2006/table">
            <a:tbl>
              <a:tblPr firstRow="1" bandRow="1">
                <a:noFill/>
                <a:tableStyleId>{54ED4AE3-774A-42B7-8420-56C0AD00CE45}</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9325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solidFill>
                            <a:schemeClr val="dk1"/>
                          </a:solidFill>
                          <a:latin typeface="Arial"/>
                          <a:ea typeface="Arial"/>
                          <a:cs typeface="Arial"/>
                          <a:sym typeface="Arial"/>
                        </a:rPr>
                        <a:t>Notation </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solidFill>
                            <a:schemeClr val="dk1"/>
                          </a:solidFill>
                          <a:latin typeface="Arial"/>
                          <a:ea typeface="Arial"/>
                          <a:cs typeface="Arial"/>
                          <a:sym typeface="Arial"/>
                        </a:rPr>
                        <a:t>Description </a:t>
                      </a:r>
                      <a:endParaRPr sz="1400" u="none" strike="noStrike" cap="none"/>
                    </a:p>
                  </a:txBody>
                  <a:tcPr marL="91450" marR="91450" marT="45725" marB="45725"/>
                </a:tc>
                <a:extLst>
                  <a:ext uri="{0D108BD9-81ED-4DB2-BD59-A6C34878D82A}">
                    <a16:rowId xmlns:a16="http://schemas.microsoft.com/office/drawing/2014/main" val="10000"/>
                  </a:ext>
                </a:extLst>
              </a:tr>
              <a:tr h="54947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Arial"/>
                          <a:ea typeface="Arial"/>
                          <a:cs typeface="Arial"/>
                          <a:sym typeface="Arial"/>
                        </a:rPr>
                        <a:t>Natural language</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The requirements are written using numbered sentences in natural language. Each sentence should express one requirement.</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77572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Arial"/>
                          <a:ea typeface="Arial"/>
                          <a:cs typeface="Arial"/>
                          <a:sym typeface="Arial"/>
                        </a:rPr>
                        <a:t>Structured natural language</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The requirements are written in natural language on a standard form or template. Each field provides information about an aspect of the requirement.</a:t>
                      </a:r>
                      <a:endParaRPr sz="1400" u="none" strike="noStrike" cap="none"/>
                    </a:p>
                  </a:txBody>
                  <a:tcPr marL="91450" marR="91450" marT="45725" marB="45725"/>
                </a:tc>
                <a:extLst>
                  <a:ext uri="{0D108BD9-81ED-4DB2-BD59-A6C34878D82A}">
                    <a16:rowId xmlns:a16="http://schemas.microsoft.com/office/drawing/2014/main" val="10002"/>
                  </a:ext>
                </a:extLst>
              </a:tr>
              <a:tr h="100197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Arial"/>
                          <a:ea typeface="Arial"/>
                          <a:cs typeface="Arial"/>
                          <a:sym typeface="Arial"/>
                        </a:rPr>
                        <a:t>Design description language</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endParaRPr sz="1400" u="none" strike="noStrike" cap="none"/>
                    </a:p>
                  </a:txBody>
                  <a:tcPr marL="91450" marR="91450" marT="45725" marB="45725"/>
                </a:tc>
                <a:extLst>
                  <a:ext uri="{0D108BD9-81ED-4DB2-BD59-A6C34878D82A}">
                    <a16:rowId xmlns:a16="http://schemas.microsoft.com/office/drawing/2014/main" val="10003"/>
                  </a:ext>
                </a:extLst>
              </a:tr>
              <a:tr h="77572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Arial"/>
                          <a:ea typeface="Arial"/>
                          <a:cs typeface="Arial"/>
                          <a:sym typeface="Arial"/>
                        </a:rPr>
                        <a:t>Graphical notations</a:t>
                      </a:r>
                      <a:endParaRPr sz="1400" u="none" strike="noStrike" cap="none"/>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Graphical models, supplemented by text annotations, are used to define the functional requirements for the system; UML use case and sequence diagrams are commonly used.</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r h="1228225">
                <a:tc>
                  <a:txBody>
                    <a:bodyPr/>
                    <a:lstStyle/>
                    <a:p>
                      <a:pPr marL="0" marR="0" lvl="0" indent="0" algn="l" rtl="0">
                        <a:lnSpc>
                          <a:spcPct val="100000"/>
                        </a:lnSpc>
                        <a:spcBef>
                          <a:spcPts val="0"/>
                        </a:spcBef>
                        <a:spcAft>
                          <a:spcPts val="0"/>
                        </a:spcAft>
                        <a:buClr>
                          <a:srgbClr val="000000"/>
                        </a:buClr>
                        <a:buSzPts val="1400"/>
                        <a:buFont typeface="Arial"/>
                        <a:buNone/>
                      </a:pPr>
                      <a:r>
                        <a:rPr lang="en-GB" sz="1400" u="none" strike="noStrike" cap="none">
                          <a:latin typeface="Arial"/>
                          <a:ea typeface="Arial"/>
                          <a:cs typeface="Arial"/>
                          <a:sym typeface="Arial"/>
                        </a:rPr>
                        <a:t>Mathematical specifications</a:t>
                      </a:r>
                      <a:endParaRPr sz="1400" u="none" strike="noStrike" cap="none">
                        <a:latin typeface="Arial"/>
                        <a:ea typeface="Arial"/>
                        <a:cs typeface="Arial"/>
                        <a:sym typeface="Arial"/>
                      </a:endParaRPr>
                    </a:p>
                  </a:txBody>
                  <a:tcPr marL="91450" marR="91450" marT="45725" marB="45725"/>
                </a:tc>
                <a:tc>
                  <a:txBody>
                    <a:bodyPr/>
                    <a:lstStyle/>
                    <a:p>
                      <a:pPr marL="0" marR="0" lvl="0" indent="0" algn="just" rtl="0">
                        <a:lnSpc>
                          <a:spcPct val="100000"/>
                        </a:lnSpc>
                        <a:spcBef>
                          <a:spcPts val="0"/>
                        </a:spcBef>
                        <a:spcAft>
                          <a:spcPts val="0"/>
                        </a:spcAft>
                        <a:buClr>
                          <a:srgbClr val="000000"/>
                        </a:buClr>
                        <a:buSzPts val="1400"/>
                        <a:buFont typeface="Arial"/>
                        <a:buNone/>
                      </a:pPr>
                      <a:r>
                        <a:rPr lang="en-GB" sz="1400" b="0" i="0" u="none" strike="noStrike" cap="none">
                          <a:solidFill>
                            <a:srgbClr val="000000"/>
                          </a:solidFill>
                          <a:latin typeface="Arial"/>
                          <a:ea typeface="Arial"/>
                          <a:cs typeface="Arial"/>
                          <a:sym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and Design</a:t>
            </a:r>
            <a:endParaRPr/>
          </a:p>
        </p:txBody>
      </p:sp>
      <p:sp>
        <p:nvSpPr>
          <p:cNvPr id="619" name="Google Shape;619;p5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lnSpc>
                <a:spcPct val="110000"/>
              </a:lnSpc>
              <a:spcBef>
                <a:spcPts val="0"/>
              </a:spcBef>
              <a:spcAft>
                <a:spcPts val="0"/>
              </a:spcAft>
              <a:buClr>
                <a:schemeClr val="dk1"/>
              </a:buClr>
              <a:buSzPct val="100000"/>
              <a:buChar char="•"/>
            </a:pPr>
            <a:r>
              <a:rPr lang="en-GB" sz="2800"/>
              <a:t>In principle, </a:t>
            </a:r>
            <a:r>
              <a:rPr lang="en-GB" sz="2800" b="1">
                <a:solidFill>
                  <a:srgbClr val="C00000"/>
                </a:solidFill>
              </a:rPr>
              <a:t>requirements</a:t>
            </a:r>
            <a:r>
              <a:rPr lang="en-GB" sz="2800"/>
              <a:t> should state </a:t>
            </a:r>
            <a:r>
              <a:rPr lang="en-GB" sz="2800" b="1">
                <a:solidFill>
                  <a:srgbClr val="C00000"/>
                </a:solidFill>
              </a:rPr>
              <a:t>WHAT</a:t>
            </a:r>
            <a:r>
              <a:rPr lang="en-GB" sz="2800"/>
              <a:t> the system should do and the </a:t>
            </a:r>
            <a:r>
              <a:rPr lang="en-GB" sz="2800" b="1">
                <a:solidFill>
                  <a:srgbClr val="C00000"/>
                </a:solidFill>
              </a:rPr>
              <a:t>design</a:t>
            </a:r>
            <a:r>
              <a:rPr lang="en-GB" sz="2800"/>
              <a:t> should describe </a:t>
            </a:r>
            <a:r>
              <a:rPr lang="en-GB" sz="2800" b="1">
                <a:solidFill>
                  <a:srgbClr val="C00000"/>
                </a:solidFill>
              </a:rPr>
              <a:t>HOW</a:t>
            </a:r>
            <a:r>
              <a:rPr lang="en-GB" sz="2800">
                <a:solidFill>
                  <a:srgbClr val="C00000"/>
                </a:solidFill>
              </a:rPr>
              <a:t> </a:t>
            </a:r>
            <a:r>
              <a:rPr lang="en-GB" sz="2800"/>
              <a:t>it does this</a:t>
            </a:r>
            <a:endParaRPr/>
          </a:p>
          <a:p>
            <a:pPr marL="342900" lvl="0" indent="-342900" algn="just" rtl="0">
              <a:lnSpc>
                <a:spcPct val="80000"/>
              </a:lnSpc>
              <a:spcBef>
                <a:spcPts val="1200"/>
              </a:spcBef>
              <a:spcAft>
                <a:spcPts val="0"/>
              </a:spcAft>
              <a:buClr>
                <a:schemeClr val="dk1"/>
              </a:buClr>
              <a:buSzPct val="100000"/>
              <a:buChar char="•"/>
            </a:pPr>
            <a:r>
              <a:rPr lang="en-GB" sz="2800"/>
              <a:t>In practice, requirements and design are inseparable:</a:t>
            </a:r>
            <a:endParaRPr/>
          </a:p>
          <a:p>
            <a:pPr marL="742950" lvl="1" indent="-285750" algn="just" rtl="0">
              <a:lnSpc>
                <a:spcPct val="120000"/>
              </a:lnSpc>
              <a:spcBef>
                <a:spcPts val="1200"/>
              </a:spcBef>
              <a:spcAft>
                <a:spcPts val="0"/>
              </a:spcAft>
              <a:buClr>
                <a:schemeClr val="dk1"/>
              </a:buClr>
              <a:buSzPct val="100000"/>
              <a:buChar char="–"/>
            </a:pPr>
            <a:r>
              <a:rPr lang="en-GB"/>
              <a:t>A system architecture may be designed to structure the requirements</a:t>
            </a:r>
            <a:endParaRPr/>
          </a:p>
          <a:p>
            <a:pPr marL="742950" lvl="1" indent="-285750" algn="just" rtl="0">
              <a:lnSpc>
                <a:spcPct val="120000"/>
              </a:lnSpc>
              <a:spcBef>
                <a:spcPts val="1200"/>
              </a:spcBef>
              <a:spcAft>
                <a:spcPts val="0"/>
              </a:spcAft>
              <a:buClr>
                <a:schemeClr val="dk1"/>
              </a:buClr>
              <a:buSzPct val="100000"/>
              <a:buChar char="–"/>
            </a:pPr>
            <a:r>
              <a:rPr lang="en-GB"/>
              <a:t>The system may inter-operate with other systems that generate design requirements</a:t>
            </a:r>
            <a:endParaRPr/>
          </a:p>
          <a:p>
            <a:pPr marL="742950" lvl="1" indent="-285750" algn="just" rtl="0">
              <a:lnSpc>
                <a:spcPct val="120000"/>
              </a:lnSpc>
              <a:spcBef>
                <a:spcPts val="1200"/>
              </a:spcBef>
              <a:spcAft>
                <a:spcPts val="0"/>
              </a:spcAft>
              <a:buClr>
                <a:schemeClr val="dk1"/>
              </a:buClr>
              <a:buSzPct val="100000"/>
              <a:buChar char="–"/>
            </a:pPr>
            <a:r>
              <a:rPr lang="en-GB"/>
              <a:t>The use of a specific architecture to satisfy non-functional requirements may be a domain requirement</a:t>
            </a:r>
            <a:endParaRPr/>
          </a:p>
          <a:p>
            <a:pPr marL="742950" lvl="1" indent="-285750" algn="just" rtl="0">
              <a:lnSpc>
                <a:spcPct val="120000"/>
              </a:lnSpc>
              <a:spcBef>
                <a:spcPts val="1200"/>
              </a:spcBef>
              <a:spcAft>
                <a:spcPts val="0"/>
              </a:spcAft>
              <a:buClr>
                <a:schemeClr val="dk1"/>
              </a:buClr>
              <a:buSzPct val="100000"/>
              <a:buChar char="–"/>
            </a:pPr>
            <a:r>
              <a:rPr lang="en-GB"/>
              <a:t>This may be the consequence of a regulatory requirement</a:t>
            </a:r>
            <a:endParaRPr/>
          </a:p>
          <a:p>
            <a:pPr marL="0" lvl="0" indent="0" algn="just" rtl="0">
              <a:lnSpc>
                <a:spcPct val="100000"/>
              </a:lnSpc>
              <a:spcBef>
                <a:spcPts val="1200"/>
              </a:spcBef>
              <a:spcAft>
                <a:spcPts val="0"/>
              </a:spcAft>
              <a:buClr>
                <a:schemeClr val="dk1"/>
              </a:buClr>
              <a:buSzPct val="100000"/>
              <a:buNone/>
            </a:pPr>
            <a:endParaRPr/>
          </a:p>
        </p:txBody>
      </p:sp>
      <p:sp>
        <p:nvSpPr>
          <p:cNvPr id="620" name="Google Shape;620;p5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21" name="Google Shape;621;p5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22" name="Google Shape;622;p5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Natural Language Specification</a:t>
            </a:r>
            <a:endParaRPr/>
          </a:p>
        </p:txBody>
      </p:sp>
      <p:sp>
        <p:nvSpPr>
          <p:cNvPr id="628" name="Google Shape;628;p5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GB" sz="2800"/>
              <a:t>Requirements are written as </a:t>
            </a:r>
            <a:r>
              <a:rPr lang="en-GB" sz="2800">
                <a:solidFill>
                  <a:srgbClr val="C00000"/>
                </a:solidFill>
              </a:rPr>
              <a:t>natural language sentences </a:t>
            </a:r>
            <a:r>
              <a:rPr lang="en-GB" sz="2800"/>
              <a:t>supplemented by diagrams and tables</a:t>
            </a:r>
            <a:endParaRPr/>
          </a:p>
          <a:p>
            <a:pPr marL="342900" lvl="0" indent="-342900" algn="just" rtl="0">
              <a:lnSpc>
                <a:spcPct val="100000"/>
              </a:lnSpc>
              <a:spcBef>
                <a:spcPts val="560"/>
              </a:spcBef>
              <a:spcAft>
                <a:spcPts val="0"/>
              </a:spcAft>
              <a:buClr>
                <a:schemeClr val="dk1"/>
              </a:buClr>
              <a:buSzPts val="2800"/>
              <a:buChar char="•"/>
            </a:pPr>
            <a:r>
              <a:rPr lang="en-GB" sz="2800"/>
              <a:t>Used for writing requirements because it is expressive, intuitive and universal</a:t>
            </a:r>
            <a:endParaRPr/>
          </a:p>
          <a:p>
            <a:pPr marL="342900" lvl="0" indent="-342900" algn="just" rtl="0">
              <a:lnSpc>
                <a:spcPct val="100000"/>
              </a:lnSpc>
              <a:spcBef>
                <a:spcPts val="560"/>
              </a:spcBef>
              <a:spcAft>
                <a:spcPts val="0"/>
              </a:spcAft>
              <a:buClr>
                <a:schemeClr val="dk1"/>
              </a:buClr>
              <a:buSzPts val="2800"/>
              <a:buChar char="•"/>
            </a:pPr>
            <a:r>
              <a:rPr lang="en-GB" sz="2800"/>
              <a:t>This means that the requirements can be understood by users and customers</a:t>
            </a:r>
            <a:endParaRPr/>
          </a:p>
        </p:txBody>
      </p:sp>
      <p:sp>
        <p:nvSpPr>
          <p:cNvPr id="629" name="Google Shape;629;p5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30" name="Google Shape;630;p5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31" name="Google Shape;631;p5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Guidelines for Writing Requirements</a:t>
            </a:r>
            <a:endParaRPr/>
          </a:p>
        </p:txBody>
      </p:sp>
      <p:sp>
        <p:nvSpPr>
          <p:cNvPr id="637" name="Google Shape;637;p57"/>
          <p:cNvSpPr txBox="1">
            <a:spLocks noGrp="1"/>
          </p:cNvSpPr>
          <p:nvPr>
            <p:ph type="body" idx="1"/>
          </p:nvPr>
        </p:nvSpPr>
        <p:spPr>
          <a:xfrm>
            <a:off x="457200" y="1439678"/>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Invent a </a:t>
            </a:r>
            <a:r>
              <a:rPr lang="en-GB" sz="2800">
                <a:solidFill>
                  <a:srgbClr val="C00000"/>
                </a:solidFill>
              </a:rPr>
              <a:t>standard format </a:t>
            </a:r>
            <a:r>
              <a:rPr lang="en-GB" sz="2800"/>
              <a:t>and use it for all requirements</a:t>
            </a:r>
            <a:endParaRPr/>
          </a:p>
          <a:p>
            <a:pPr marL="342900" lvl="0" indent="-342900" algn="just" rtl="0">
              <a:lnSpc>
                <a:spcPct val="100000"/>
              </a:lnSpc>
              <a:spcBef>
                <a:spcPts val="560"/>
              </a:spcBef>
              <a:spcAft>
                <a:spcPts val="0"/>
              </a:spcAft>
              <a:buClr>
                <a:schemeClr val="dk1"/>
              </a:buClr>
              <a:buSzPts val="2800"/>
              <a:buFont typeface="Arial"/>
              <a:buChar char="•"/>
            </a:pPr>
            <a:r>
              <a:rPr lang="en-GB" sz="2800"/>
              <a:t>Use language in a consistent way</a:t>
            </a:r>
            <a:endParaRPr/>
          </a:p>
          <a:p>
            <a:pPr marL="342900" lvl="0" indent="-342900" algn="just" rtl="0">
              <a:lnSpc>
                <a:spcPct val="100000"/>
              </a:lnSpc>
              <a:spcBef>
                <a:spcPts val="560"/>
              </a:spcBef>
              <a:spcAft>
                <a:spcPts val="0"/>
              </a:spcAft>
              <a:buClr>
                <a:schemeClr val="dk1"/>
              </a:buClr>
              <a:buSzPts val="2800"/>
              <a:buFont typeface="Arial"/>
              <a:buChar char="•"/>
            </a:pPr>
            <a:r>
              <a:rPr lang="en-GB" sz="2800"/>
              <a:t>Use </a:t>
            </a:r>
            <a:r>
              <a:rPr lang="en-GB" sz="2800" b="1">
                <a:solidFill>
                  <a:srgbClr val="C00000"/>
                </a:solidFill>
              </a:rPr>
              <a:t>shall </a:t>
            </a:r>
            <a:r>
              <a:rPr lang="en-GB" sz="2800"/>
              <a:t>for </a:t>
            </a:r>
            <a:r>
              <a:rPr lang="en-GB" sz="2800" b="1">
                <a:solidFill>
                  <a:srgbClr val="C00000"/>
                </a:solidFill>
              </a:rPr>
              <a:t>mandatory</a:t>
            </a:r>
            <a:r>
              <a:rPr lang="en-GB" sz="2800"/>
              <a:t> requirements, </a:t>
            </a:r>
            <a:r>
              <a:rPr lang="en-GB" sz="2800" b="1">
                <a:solidFill>
                  <a:srgbClr val="C00000"/>
                </a:solidFill>
              </a:rPr>
              <a:t>should</a:t>
            </a:r>
            <a:r>
              <a:rPr lang="en-GB" sz="2800"/>
              <a:t> for </a:t>
            </a:r>
            <a:r>
              <a:rPr lang="en-GB" sz="2800" b="1">
                <a:solidFill>
                  <a:srgbClr val="C00000"/>
                </a:solidFill>
              </a:rPr>
              <a:t>desirable</a:t>
            </a:r>
            <a:r>
              <a:rPr lang="en-GB" sz="2800"/>
              <a:t> requirements</a:t>
            </a:r>
            <a:endParaRPr/>
          </a:p>
          <a:p>
            <a:pPr marL="342900" lvl="0" indent="-342900" algn="just" rtl="0">
              <a:lnSpc>
                <a:spcPct val="100000"/>
              </a:lnSpc>
              <a:spcBef>
                <a:spcPts val="560"/>
              </a:spcBef>
              <a:spcAft>
                <a:spcPts val="0"/>
              </a:spcAft>
              <a:buClr>
                <a:schemeClr val="dk1"/>
              </a:buClr>
              <a:buSzPts val="2800"/>
              <a:buFont typeface="Arial"/>
              <a:buChar char="•"/>
            </a:pPr>
            <a:r>
              <a:rPr lang="en-GB" sz="2800"/>
              <a:t>Use text highlighting to identify key parts of the requirement</a:t>
            </a:r>
            <a:endParaRPr/>
          </a:p>
          <a:p>
            <a:pPr marL="342900" lvl="0" indent="-342900" algn="just" rtl="0">
              <a:lnSpc>
                <a:spcPct val="100000"/>
              </a:lnSpc>
              <a:spcBef>
                <a:spcPts val="560"/>
              </a:spcBef>
              <a:spcAft>
                <a:spcPts val="0"/>
              </a:spcAft>
              <a:buClr>
                <a:schemeClr val="dk1"/>
              </a:buClr>
              <a:buSzPts val="2800"/>
              <a:buFont typeface="Arial"/>
              <a:buChar char="•"/>
            </a:pPr>
            <a:r>
              <a:rPr lang="en-GB" sz="2800"/>
              <a:t>Avoid the use of computer jargon</a:t>
            </a:r>
            <a:endParaRPr/>
          </a:p>
          <a:p>
            <a:pPr marL="342900" lvl="0" indent="-342900" algn="just" rtl="0">
              <a:lnSpc>
                <a:spcPct val="100000"/>
              </a:lnSpc>
              <a:spcBef>
                <a:spcPts val="560"/>
              </a:spcBef>
              <a:spcAft>
                <a:spcPts val="0"/>
              </a:spcAft>
              <a:buClr>
                <a:schemeClr val="dk1"/>
              </a:buClr>
              <a:buSzPts val="2800"/>
              <a:buFont typeface="Arial"/>
              <a:buChar char="•"/>
            </a:pPr>
            <a:r>
              <a:rPr lang="en-GB" sz="2800"/>
              <a:t>Include an explanation (rationale) of why a requirement is necessary</a:t>
            </a:r>
            <a:endParaRPr/>
          </a:p>
          <a:p>
            <a:pPr marL="0" lvl="0" indent="0" algn="just" rtl="0">
              <a:lnSpc>
                <a:spcPct val="100000"/>
              </a:lnSpc>
              <a:spcBef>
                <a:spcPts val="560"/>
              </a:spcBef>
              <a:spcAft>
                <a:spcPts val="0"/>
              </a:spcAft>
              <a:buClr>
                <a:schemeClr val="dk1"/>
              </a:buClr>
              <a:buSzPts val="2800"/>
              <a:buNone/>
            </a:pPr>
            <a:endParaRPr sz="2800"/>
          </a:p>
        </p:txBody>
      </p:sp>
      <p:sp>
        <p:nvSpPr>
          <p:cNvPr id="638" name="Google Shape;638;p5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39" name="Google Shape;639;p5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40" name="Google Shape;640;p5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Problems With Natural Language</a:t>
            </a:r>
            <a:endParaRPr/>
          </a:p>
        </p:txBody>
      </p:sp>
      <p:sp>
        <p:nvSpPr>
          <p:cNvPr id="646" name="Google Shape;646;p5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3200"/>
              <a:buChar char="•"/>
            </a:pPr>
            <a:r>
              <a:rPr lang="en-GB"/>
              <a:t>Lack of clarity </a:t>
            </a:r>
            <a:endParaRPr/>
          </a:p>
          <a:p>
            <a:pPr marL="742950" lvl="1" indent="-285750" algn="just" rtl="0">
              <a:lnSpc>
                <a:spcPct val="100000"/>
              </a:lnSpc>
              <a:spcBef>
                <a:spcPts val="560"/>
              </a:spcBef>
              <a:spcAft>
                <a:spcPts val="0"/>
              </a:spcAft>
              <a:buClr>
                <a:schemeClr val="dk1"/>
              </a:buClr>
              <a:buSzPts val="2800"/>
              <a:buChar char="–"/>
            </a:pPr>
            <a:r>
              <a:rPr lang="en-GB"/>
              <a:t>Precision is difficult without making the document difficult to read</a:t>
            </a:r>
            <a:endParaRPr/>
          </a:p>
          <a:p>
            <a:pPr marL="342900" lvl="0" indent="-342900" algn="just" rtl="0">
              <a:lnSpc>
                <a:spcPct val="100000"/>
              </a:lnSpc>
              <a:spcBef>
                <a:spcPts val="640"/>
              </a:spcBef>
              <a:spcAft>
                <a:spcPts val="0"/>
              </a:spcAft>
              <a:buClr>
                <a:schemeClr val="dk1"/>
              </a:buClr>
              <a:buSzPts val="3200"/>
              <a:buChar char="•"/>
            </a:pPr>
            <a:r>
              <a:rPr lang="en-GB"/>
              <a:t>Requirements confusion</a:t>
            </a:r>
            <a:endParaRPr/>
          </a:p>
          <a:p>
            <a:pPr marL="742950" lvl="1" indent="-285750" algn="just" rtl="0">
              <a:lnSpc>
                <a:spcPct val="100000"/>
              </a:lnSpc>
              <a:spcBef>
                <a:spcPts val="560"/>
              </a:spcBef>
              <a:spcAft>
                <a:spcPts val="0"/>
              </a:spcAft>
              <a:buClr>
                <a:schemeClr val="dk1"/>
              </a:buClr>
              <a:buSzPts val="2800"/>
              <a:buChar char="–"/>
            </a:pPr>
            <a:r>
              <a:rPr lang="en-GB"/>
              <a:t>Functional and non-functional requirements tend to be mixed-up</a:t>
            </a:r>
            <a:endParaRPr/>
          </a:p>
          <a:p>
            <a:pPr marL="342900" lvl="0" indent="-342900" algn="just" rtl="0">
              <a:lnSpc>
                <a:spcPct val="100000"/>
              </a:lnSpc>
              <a:spcBef>
                <a:spcPts val="640"/>
              </a:spcBef>
              <a:spcAft>
                <a:spcPts val="0"/>
              </a:spcAft>
              <a:buClr>
                <a:schemeClr val="dk1"/>
              </a:buClr>
              <a:buSzPts val="3200"/>
              <a:buChar char="•"/>
            </a:pPr>
            <a:r>
              <a:rPr lang="en-GB"/>
              <a:t>Requirements amalgamation (combination)</a:t>
            </a:r>
            <a:endParaRPr/>
          </a:p>
          <a:p>
            <a:pPr marL="742950" lvl="1" indent="-285750" algn="just" rtl="0">
              <a:lnSpc>
                <a:spcPct val="100000"/>
              </a:lnSpc>
              <a:spcBef>
                <a:spcPts val="560"/>
              </a:spcBef>
              <a:spcAft>
                <a:spcPts val="0"/>
              </a:spcAft>
              <a:buClr>
                <a:schemeClr val="dk1"/>
              </a:buClr>
              <a:buSzPts val="2800"/>
              <a:buChar char="–"/>
            </a:pPr>
            <a:r>
              <a:rPr lang="en-GB"/>
              <a:t>Several different requirements may be expressed together</a:t>
            </a:r>
            <a:endParaRPr/>
          </a:p>
          <a:p>
            <a:pPr marL="0" lvl="0" indent="0" algn="just" rtl="0">
              <a:lnSpc>
                <a:spcPct val="100000"/>
              </a:lnSpc>
              <a:spcBef>
                <a:spcPts val="640"/>
              </a:spcBef>
              <a:spcAft>
                <a:spcPts val="0"/>
              </a:spcAft>
              <a:buClr>
                <a:schemeClr val="dk1"/>
              </a:buClr>
              <a:buSzPts val="3200"/>
              <a:buNone/>
            </a:pPr>
            <a:endParaRPr/>
          </a:p>
        </p:txBody>
      </p:sp>
      <p:sp>
        <p:nvSpPr>
          <p:cNvPr id="647" name="Google Shape;647;p5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48" name="Google Shape;648;p5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49" name="Google Shape;649;p5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Example of Requirements for the Insulin Pump Software System </a:t>
            </a:r>
            <a:endParaRPr/>
          </a:p>
        </p:txBody>
      </p:sp>
      <p:graphicFrame>
        <p:nvGraphicFramePr>
          <p:cNvPr id="655" name="Google Shape;655;p59"/>
          <p:cNvGraphicFramePr/>
          <p:nvPr/>
        </p:nvGraphicFramePr>
        <p:xfrm>
          <a:off x="609600" y="1690914"/>
          <a:ext cx="7924800" cy="4480570"/>
        </p:xfrm>
        <a:graphic>
          <a:graphicData uri="http://schemas.openxmlformats.org/drawingml/2006/table">
            <a:tbl>
              <a:tblPr firstRow="1" bandRow="1">
                <a:noFill/>
                <a:tableStyleId>{6369F76B-6215-43FF-8B20-7DCD6F6A8802}</a:tableStyleId>
              </a:tblPr>
              <a:tblGrid>
                <a:gridCol w="79248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2400"/>
                        <a:buFont typeface="Calibri"/>
                        <a:buNone/>
                      </a:pPr>
                      <a:r>
                        <a:rPr lang="en-GB" sz="2400" b="0" u="none" strike="noStrike" cap="none"/>
                        <a:t>3.2 The system </a:t>
                      </a:r>
                      <a:r>
                        <a:rPr lang="en-GB" sz="2400" b="1" u="none" strike="noStrike" cap="none">
                          <a:solidFill>
                            <a:srgbClr val="C00000"/>
                          </a:solidFill>
                        </a:rPr>
                        <a:t>shall measure </a:t>
                      </a:r>
                      <a:r>
                        <a:rPr lang="en-GB" sz="2400" b="0" u="none" strike="noStrike" cap="none"/>
                        <a:t>the blood sugar and deliver insulin, if required, every 10 minutes. </a:t>
                      </a:r>
                      <a:r>
                        <a:rPr lang="en-GB" sz="2400" b="0" i="1" u="none" strike="noStrike" cap="none"/>
                        <a:t>(Changes in blood sugar are relatively slow so more frequent measurement is unnecessary; less frequent measurement could lead to unnecessarily high sugar levels.)</a:t>
                      </a:r>
                      <a:endParaRPr sz="1400" u="none" strike="noStrike" cap="none"/>
                    </a:p>
                    <a:p>
                      <a:pPr marL="0" marR="0" lvl="0" indent="0" algn="l" rtl="0">
                        <a:lnSpc>
                          <a:spcPct val="100000"/>
                        </a:lnSpc>
                        <a:spcBef>
                          <a:spcPts val="0"/>
                        </a:spcBef>
                        <a:spcAft>
                          <a:spcPts val="0"/>
                        </a:spcAft>
                        <a:buClr>
                          <a:schemeClr val="dk1"/>
                        </a:buClr>
                        <a:buSzPts val="2400"/>
                        <a:buFont typeface="Calibri"/>
                        <a:buNone/>
                      </a:pPr>
                      <a:endParaRPr sz="2400" b="0" u="none" strike="noStrike" cap="none"/>
                    </a:p>
                    <a:p>
                      <a:pPr marL="0" marR="0" lvl="0" indent="0" algn="l" rtl="0">
                        <a:lnSpc>
                          <a:spcPct val="100000"/>
                        </a:lnSpc>
                        <a:spcBef>
                          <a:spcPts val="0"/>
                        </a:spcBef>
                        <a:spcAft>
                          <a:spcPts val="0"/>
                        </a:spcAft>
                        <a:buClr>
                          <a:schemeClr val="dk1"/>
                        </a:buClr>
                        <a:buSzPts val="2400"/>
                        <a:buFont typeface="Calibri"/>
                        <a:buNone/>
                      </a:pPr>
                      <a:r>
                        <a:rPr lang="en-GB" sz="2400" b="0" u="none" strike="noStrike" cap="none"/>
                        <a:t>3.6 The system </a:t>
                      </a:r>
                      <a:r>
                        <a:rPr lang="en-GB" sz="2400" b="1" u="none" strike="noStrike" cap="none">
                          <a:solidFill>
                            <a:srgbClr val="C00000"/>
                          </a:solidFill>
                        </a:rPr>
                        <a:t>shall run</a:t>
                      </a:r>
                      <a:r>
                        <a:rPr lang="en-GB" sz="2400" b="0" u="none" strike="noStrike" cap="none">
                          <a:solidFill>
                            <a:srgbClr val="C00000"/>
                          </a:solidFill>
                        </a:rPr>
                        <a:t> </a:t>
                      </a:r>
                      <a:r>
                        <a:rPr lang="en-GB" sz="2400" b="0" u="none" strike="noStrike" cap="none"/>
                        <a:t>a self-test routine every minute with the conditions to be tested and the associated actions defined in Table 1.</a:t>
                      </a:r>
                      <a:r>
                        <a:rPr lang="en-GB" sz="2400" b="0" i="1" u="none" strike="noStrike" cap="none"/>
                        <a:t> (A self-test routine can discover hardware and software problems and alert the user to the fact the normal operation may be impossible.)</a:t>
                      </a:r>
                      <a:endParaRPr sz="2400" u="none" strike="noStrike" cap="none"/>
                    </a:p>
                    <a:p>
                      <a:pPr marL="0" marR="0" lvl="0" indent="0" algn="l" rtl="0">
                        <a:lnSpc>
                          <a:spcPct val="100000"/>
                        </a:lnSpc>
                        <a:spcBef>
                          <a:spcPts val="0"/>
                        </a:spcBef>
                        <a:spcAft>
                          <a:spcPts val="0"/>
                        </a:spcAft>
                        <a:buClr>
                          <a:srgbClr val="000000"/>
                        </a:buClr>
                        <a:buSzPts val="2400"/>
                        <a:buFont typeface="Arial"/>
                        <a:buNone/>
                      </a:pPr>
                      <a:endParaRPr sz="2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656" name="Google Shape;656;p5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57" name="Google Shape;657;p5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58" name="Google Shape;658;p5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Structured Specifications</a:t>
            </a:r>
            <a:endParaRPr/>
          </a:p>
        </p:txBody>
      </p:sp>
      <p:sp>
        <p:nvSpPr>
          <p:cNvPr id="664" name="Google Shape;664;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An approach to writing requirements where the freedom of the requirements writer is limited and requirements are </a:t>
            </a:r>
            <a:r>
              <a:rPr lang="en-GB" sz="2800" b="1">
                <a:solidFill>
                  <a:srgbClr val="C00000"/>
                </a:solidFill>
              </a:rPr>
              <a:t>written in a standard way</a:t>
            </a:r>
            <a:endParaRPr sz="2800"/>
          </a:p>
          <a:p>
            <a:pPr marL="342900" lvl="0" indent="-342900" algn="just" rtl="0">
              <a:lnSpc>
                <a:spcPct val="100000"/>
              </a:lnSpc>
              <a:spcBef>
                <a:spcPts val="560"/>
              </a:spcBef>
              <a:spcAft>
                <a:spcPts val="0"/>
              </a:spcAft>
              <a:buClr>
                <a:schemeClr val="dk1"/>
              </a:buClr>
              <a:buSzPts val="2800"/>
              <a:buFont typeface="Arial"/>
              <a:buChar char="•"/>
            </a:pPr>
            <a:r>
              <a:rPr lang="en-GB" sz="2800"/>
              <a:t>This works well for some types of requirements e.g. requirements for </a:t>
            </a:r>
            <a:r>
              <a:rPr lang="en-GB" sz="2800" b="1">
                <a:solidFill>
                  <a:srgbClr val="C00000"/>
                </a:solidFill>
              </a:rPr>
              <a:t>embedded control system </a:t>
            </a:r>
            <a:r>
              <a:rPr lang="en-GB" sz="2800"/>
              <a:t>but is sometimes too rigid for writing business system requirements</a:t>
            </a:r>
            <a:endParaRPr/>
          </a:p>
          <a:p>
            <a:pPr marL="0" lvl="0" indent="0" algn="just" rtl="0">
              <a:lnSpc>
                <a:spcPct val="100000"/>
              </a:lnSpc>
              <a:spcBef>
                <a:spcPts val="560"/>
              </a:spcBef>
              <a:spcAft>
                <a:spcPts val="0"/>
              </a:spcAft>
              <a:buClr>
                <a:schemeClr val="dk1"/>
              </a:buClr>
              <a:buSzPts val="2800"/>
              <a:buNone/>
            </a:pPr>
            <a:endParaRPr sz="2800"/>
          </a:p>
        </p:txBody>
      </p:sp>
      <p:sp>
        <p:nvSpPr>
          <p:cNvPr id="665" name="Google Shape;665;p6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66" name="Google Shape;666;p6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67" name="Google Shape;667;p6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GB" sz="4000"/>
              <a:t>A Structured Specification of a Requirement for an Insulin Pump… </a:t>
            </a:r>
            <a:endParaRPr sz="4000"/>
          </a:p>
        </p:txBody>
      </p:sp>
      <p:sp>
        <p:nvSpPr>
          <p:cNvPr id="673" name="Google Shape;673;p6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74" name="Google Shape;674;p6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75" name="Google Shape;675;p6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64</a:t>
            </a:fld>
            <a:endParaRPr/>
          </a:p>
        </p:txBody>
      </p:sp>
      <p:graphicFrame>
        <p:nvGraphicFramePr>
          <p:cNvPr id="676" name="Google Shape;676;p61"/>
          <p:cNvGraphicFramePr/>
          <p:nvPr/>
        </p:nvGraphicFramePr>
        <p:xfrm>
          <a:off x="1060779" y="1905000"/>
          <a:ext cx="6968359" cy="3886200"/>
        </p:xfrm>
        <a:graphic>
          <a:graphicData uri="http://schemas.openxmlformats.org/presentationml/2006/ole">
            <mc:AlternateContent xmlns:mc="http://schemas.openxmlformats.org/markup-compatibility/2006">
              <mc:Choice xmlns:v="urn:schemas-microsoft-com:vml" Requires="v">
                <p:oleObj r:id="rId3" imgW="6968359" imgH="3886200" progId="Word.Document.12">
                  <p:embed/>
                </p:oleObj>
              </mc:Choice>
              <mc:Fallback>
                <p:oleObj r:id="rId3" imgW="6968359" imgH="3886200" progId="Word.Document.12">
                  <p:embed/>
                  <p:pic>
                    <p:nvPicPr>
                      <p:cNvPr id="676" name="Google Shape;676;p61"/>
                      <p:cNvPicPr preferRelativeResize="0"/>
                      <p:nvPr/>
                    </p:nvPicPr>
                    <p:blipFill rotWithShape="1">
                      <a:blip r:embed="rId4">
                        <a:alphaModFix/>
                      </a:blip>
                      <a:srcRect/>
                      <a:stretch/>
                    </p:blipFill>
                    <p:spPr>
                      <a:xfrm>
                        <a:off x="1060779" y="1905000"/>
                        <a:ext cx="6968359" cy="3886200"/>
                      </a:xfrm>
                      <a:prstGeom prst="rect">
                        <a:avLst/>
                      </a:prstGeom>
                      <a:noFill/>
                      <a:ln>
                        <a:noFill/>
                      </a:ln>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GB" sz="4000"/>
              <a:t>A Structured Specification of a Requirement for an Insulin Pump </a:t>
            </a:r>
            <a:endParaRPr sz="4000"/>
          </a:p>
        </p:txBody>
      </p:sp>
      <p:sp>
        <p:nvSpPr>
          <p:cNvPr id="682" name="Google Shape;682;p6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83" name="Google Shape;683;p6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84" name="Google Shape;684;p6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65</a:t>
            </a:fld>
            <a:endParaRPr/>
          </a:p>
        </p:txBody>
      </p:sp>
      <p:graphicFrame>
        <p:nvGraphicFramePr>
          <p:cNvPr id="685" name="Google Shape;685;p62"/>
          <p:cNvGraphicFramePr/>
          <p:nvPr/>
        </p:nvGraphicFramePr>
        <p:xfrm>
          <a:off x="1219200" y="1623219"/>
          <a:ext cx="6477000" cy="4876760"/>
        </p:xfrm>
        <a:graphic>
          <a:graphicData uri="http://schemas.openxmlformats.org/presentationml/2006/ole">
            <mc:AlternateContent xmlns:mc="http://schemas.openxmlformats.org/markup-compatibility/2006">
              <mc:Choice xmlns:v="urn:schemas-microsoft-com:vml" Requires="v">
                <p:oleObj r:id="rId3" imgW="6477000" imgH="4876760" progId="Word.Document.12">
                  <p:embed/>
                </p:oleObj>
              </mc:Choice>
              <mc:Fallback>
                <p:oleObj r:id="rId3" imgW="6477000" imgH="4876760" progId="Word.Document.12">
                  <p:embed/>
                  <p:pic>
                    <p:nvPicPr>
                      <p:cNvPr id="685" name="Google Shape;685;p62"/>
                      <p:cNvPicPr preferRelativeResize="0"/>
                      <p:nvPr/>
                    </p:nvPicPr>
                    <p:blipFill rotWithShape="1">
                      <a:blip r:embed="rId4">
                        <a:alphaModFix/>
                      </a:blip>
                      <a:srcRect/>
                      <a:stretch/>
                    </p:blipFill>
                    <p:spPr>
                      <a:xfrm>
                        <a:off x="1219200" y="1623219"/>
                        <a:ext cx="6477000" cy="4876760"/>
                      </a:xfrm>
                      <a:prstGeom prst="rect">
                        <a:avLst/>
                      </a:prstGeom>
                      <a:noFill/>
                      <a:ln>
                        <a:noFill/>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Form-Based Specifications</a:t>
            </a:r>
            <a:endParaRPr/>
          </a:p>
        </p:txBody>
      </p:sp>
      <p:sp>
        <p:nvSpPr>
          <p:cNvPr id="691" name="Google Shape;691;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ct val="100000"/>
              <a:buFont typeface="Arial"/>
              <a:buChar char="•"/>
            </a:pPr>
            <a:r>
              <a:rPr lang="en-GB"/>
              <a:t>Definition of the function or entity</a:t>
            </a:r>
            <a:endParaRPr/>
          </a:p>
          <a:p>
            <a:pPr marL="342900" lvl="0" indent="-342900" algn="l" rtl="0">
              <a:lnSpc>
                <a:spcPct val="100000"/>
              </a:lnSpc>
              <a:spcBef>
                <a:spcPts val="592"/>
              </a:spcBef>
              <a:spcAft>
                <a:spcPts val="0"/>
              </a:spcAft>
              <a:buClr>
                <a:schemeClr val="dk1"/>
              </a:buClr>
              <a:buSzPct val="100000"/>
              <a:buFont typeface="Arial"/>
              <a:buChar char="•"/>
            </a:pPr>
            <a:r>
              <a:rPr lang="en-GB"/>
              <a:t>Description of inputs and where they come from</a:t>
            </a:r>
            <a:endParaRPr/>
          </a:p>
          <a:p>
            <a:pPr marL="342900" lvl="0" indent="-342900" algn="l" rtl="0">
              <a:lnSpc>
                <a:spcPct val="100000"/>
              </a:lnSpc>
              <a:spcBef>
                <a:spcPts val="592"/>
              </a:spcBef>
              <a:spcAft>
                <a:spcPts val="0"/>
              </a:spcAft>
              <a:buClr>
                <a:schemeClr val="dk1"/>
              </a:buClr>
              <a:buSzPct val="100000"/>
              <a:buFont typeface="Arial"/>
              <a:buChar char="•"/>
            </a:pPr>
            <a:r>
              <a:rPr lang="en-GB"/>
              <a:t>Description of outputs and where they go to</a:t>
            </a:r>
            <a:endParaRPr/>
          </a:p>
          <a:p>
            <a:pPr marL="342900" lvl="0" indent="-342900" algn="l" rtl="0">
              <a:lnSpc>
                <a:spcPct val="100000"/>
              </a:lnSpc>
              <a:spcBef>
                <a:spcPts val="592"/>
              </a:spcBef>
              <a:spcAft>
                <a:spcPts val="0"/>
              </a:spcAft>
              <a:buClr>
                <a:schemeClr val="dk1"/>
              </a:buClr>
              <a:buSzPct val="100000"/>
              <a:buFont typeface="Arial"/>
              <a:buChar char="•"/>
            </a:pPr>
            <a:r>
              <a:rPr lang="en-GB"/>
              <a:t>Information about the information needed for the computation and other entities used</a:t>
            </a:r>
            <a:endParaRPr/>
          </a:p>
          <a:p>
            <a:pPr marL="342900" lvl="0" indent="-342900" algn="l" rtl="0">
              <a:lnSpc>
                <a:spcPct val="100000"/>
              </a:lnSpc>
              <a:spcBef>
                <a:spcPts val="592"/>
              </a:spcBef>
              <a:spcAft>
                <a:spcPts val="0"/>
              </a:spcAft>
              <a:buClr>
                <a:schemeClr val="dk1"/>
              </a:buClr>
              <a:buSzPct val="100000"/>
              <a:buFont typeface="Arial"/>
              <a:buChar char="•"/>
            </a:pPr>
            <a:r>
              <a:rPr lang="en-GB"/>
              <a:t>Description of the action to be taken</a:t>
            </a:r>
            <a:endParaRPr/>
          </a:p>
          <a:p>
            <a:pPr marL="342900" lvl="0" indent="-342900" algn="l" rtl="0">
              <a:lnSpc>
                <a:spcPct val="100000"/>
              </a:lnSpc>
              <a:spcBef>
                <a:spcPts val="592"/>
              </a:spcBef>
              <a:spcAft>
                <a:spcPts val="0"/>
              </a:spcAft>
              <a:buClr>
                <a:schemeClr val="dk1"/>
              </a:buClr>
              <a:buSzPct val="100000"/>
              <a:buFont typeface="Arial"/>
              <a:buChar char="•"/>
            </a:pPr>
            <a:r>
              <a:rPr lang="en-GB"/>
              <a:t>Pre and post conditions (if appropriate)</a:t>
            </a:r>
            <a:endParaRPr/>
          </a:p>
          <a:p>
            <a:pPr marL="342900" lvl="0" indent="-342900" algn="l" rtl="0">
              <a:lnSpc>
                <a:spcPct val="100000"/>
              </a:lnSpc>
              <a:spcBef>
                <a:spcPts val="592"/>
              </a:spcBef>
              <a:spcAft>
                <a:spcPts val="0"/>
              </a:spcAft>
              <a:buClr>
                <a:schemeClr val="dk1"/>
              </a:buClr>
              <a:buSzPct val="100000"/>
              <a:buFont typeface="Arial"/>
              <a:buChar char="•"/>
            </a:pPr>
            <a:r>
              <a:rPr lang="en-GB"/>
              <a:t>The side effects (if any) of the function</a:t>
            </a:r>
            <a:endParaRPr/>
          </a:p>
          <a:p>
            <a:pPr marL="0" lvl="0" indent="0" algn="l" rtl="0">
              <a:lnSpc>
                <a:spcPct val="100000"/>
              </a:lnSpc>
              <a:spcBef>
                <a:spcPts val="592"/>
              </a:spcBef>
              <a:spcAft>
                <a:spcPts val="0"/>
              </a:spcAft>
              <a:buClr>
                <a:schemeClr val="dk1"/>
              </a:buClr>
              <a:buSzPct val="100000"/>
              <a:buNone/>
            </a:pPr>
            <a:endParaRPr/>
          </a:p>
        </p:txBody>
      </p:sp>
      <p:sp>
        <p:nvSpPr>
          <p:cNvPr id="692" name="Google Shape;692;p6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693" name="Google Shape;693;p6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694" name="Google Shape;694;p6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Template for Writing Functional Requirements</a:t>
            </a:r>
            <a:endParaRPr/>
          </a:p>
        </p:txBody>
      </p:sp>
      <p:sp>
        <p:nvSpPr>
          <p:cNvPr id="700" name="Google Shape;700;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lnSpc>
                <a:spcPct val="100000"/>
              </a:lnSpc>
              <a:spcBef>
                <a:spcPts val="0"/>
              </a:spcBef>
              <a:spcAft>
                <a:spcPts val="0"/>
              </a:spcAft>
              <a:buClr>
                <a:schemeClr val="dk1"/>
              </a:buClr>
              <a:buSzPct val="100000"/>
              <a:buNone/>
            </a:pPr>
            <a:r>
              <a:rPr lang="en-GB" b="1"/>
              <a:t>Template: Requirements Statement Example</a:t>
            </a:r>
            <a:endParaRPr/>
          </a:p>
          <a:p>
            <a:pPr marL="342900" lvl="0" indent="-342900" algn="just" rtl="0">
              <a:lnSpc>
                <a:spcPct val="100000"/>
              </a:lnSpc>
              <a:spcBef>
                <a:spcPts val="544"/>
              </a:spcBef>
              <a:spcAft>
                <a:spcPts val="0"/>
              </a:spcAft>
              <a:buClr>
                <a:srgbClr val="C00000"/>
              </a:buClr>
              <a:buSzPct val="100000"/>
              <a:buChar char="•"/>
            </a:pPr>
            <a:r>
              <a:rPr lang="en-GB">
                <a:solidFill>
                  <a:srgbClr val="C00000"/>
                </a:solidFill>
              </a:rPr>
              <a:t>The &lt;</a:t>
            </a:r>
            <a:r>
              <a:rPr lang="en-GB" b="1">
                <a:solidFill>
                  <a:srgbClr val="C00000"/>
                </a:solidFill>
              </a:rPr>
              <a:t>user</a:t>
            </a:r>
            <a:r>
              <a:rPr lang="en-GB">
                <a:solidFill>
                  <a:srgbClr val="C00000"/>
                </a:solidFill>
              </a:rPr>
              <a:t>&gt; shall be able to &lt;</a:t>
            </a:r>
            <a:r>
              <a:rPr lang="en-GB" b="1">
                <a:solidFill>
                  <a:srgbClr val="C00000"/>
                </a:solidFill>
              </a:rPr>
              <a:t>capability</a:t>
            </a:r>
            <a:r>
              <a:rPr lang="en-GB">
                <a:solidFill>
                  <a:srgbClr val="C00000"/>
                </a:solidFill>
              </a:rPr>
              <a:t>&gt;</a:t>
            </a:r>
            <a:endParaRPr>
              <a:solidFill>
                <a:srgbClr val="C00000"/>
              </a:solidFill>
            </a:endParaRPr>
          </a:p>
          <a:p>
            <a:pPr marL="342900" lvl="0" indent="-342900" algn="just" rtl="0">
              <a:lnSpc>
                <a:spcPct val="100000"/>
              </a:lnSpc>
              <a:spcBef>
                <a:spcPts val="544"/>
              </a:spcBef>
              <a:spcAft>
                <a:spcPts val="0"/>
              </a:spcAft>
              <a:buClr>
                <a:schemeClr val="dk1"/>
              </a:buClr>
              <a:buSzPct val="100000"/>
              <a:buChar char="•"/>
            </a:pPr>
            <a:r>
              <a:rPr lang="en-GB"/>
              <a:t>The</a:t>
            </a:r>
            <a:r>
              <a:rPr lang="en-GB" b="1"/>
              <a:t> librarian</a:t>
            </a:r>
            <a:r>
              <a:rPr lang="en-GB"/>
              <a:t> shall be able to</a:t>
            </a:r>
            <a:r>
              <a:rPr lang="en-GB" b="1"/>
              <a:t> register library user</a:t>
            </a:r>
            <a:endParaRPr/>
          </a:p>
          <a:p>
            <a:pPr marL="342900" lvl="0" indent="-170180" algn="just" rtl="0">
              <a:lnSpc>
                <a:spcPct val="100000"/>
              </a:lnSpc>
              <a:spcBef>
                <a:spcPts val="544"/>
              </a:spcBef>
              <a:spcAft>
                <a:spcPts val="0"/>
              </a:spcAft>
              <a:buClr>
                <a:schemeClr val="dk1"/>
              </a:buClr>
              <a:buSzPct val="100000"/>
              <a:buNone/>
            </a:pPr>
            <a:endParaRPr/>
          </a:p>
          <a:p>
            <a:pPr marL="342900" lvl="0" indent="-342900" algn="just" rtl="0">
              <a:lnSpc>
                <a:spcPct val="100000"/>
              </a:lnSpc>
              <a:spcBef>
                <a:spcPts val="544"/>
              </a:spcBef>
              <a:spcAft>
                <a:spcPts val="0"/>
              </a:spcAft>
              <a:buClr>
                <a:srgbClr val="C00000"/>
              </a:buClr>
              <a:buSzPct val="100000"/>
              <a:buChar char="•"/>
            </a:pPr>
            <a:r>
              <a:rPr lang="en-GB">
                <a:solidFill>
                  <a:srgbClr val="C00000"/>
                </a:solidFill>
              </a:rPr>
              <a:t>There shall be a &lt;</a:t>
            </a:r>
            <a:r>
              <a:rPr lang="en-GB" b="1">
                <a:solidFill>
                  <a:srgbClr val="C00000"/>
                </a:solidFill>
              </a:rPr>
              <a:t>system functio</a:t>
            </a:r>
            <a:r>
              <a:rPr lang="en-GB">
                <a:solidFill>
                  <a:srgbClr val="C00000"/>
                </a:solidFill>
              </a:rPr>
              <a:t>n&gt;</a:t>
            </a:r>
            <a:endParaRPr>
              <a:solidFill>
                <a:srgbClr val="C00000"/>
              </a:solidFill>
            </a:endParaRPr>
          </a:p>
          <a:p>
            <a:pPr marL="342900" lvl="0" indent="-342900" algn="just" rtl="0">
              <a:lnSpc>
                <a:spcPct val="100000"/>
              </a:lnSpc>
              <a:spcBef>
                <a:spcPts val="544"/>
              </a:spcBef>
              <a:spcAft>
                <a:spcPts val="0"/>
              </a:spcAft>
              <a:buClr>
                <a:schemeClr val="dk1"/>
              </a:buClr>
              <a:buSzPct val="100000"/>
              <a:buChar char="•"/>
            </a:pPr>
            <a:r>
              <a:rPr lang="en-GB"/>
              <a:t>There shall be a</a:t>
            </a:r>
            <a:r>
              <a:rPr lang="en-GB" b="1"/>
              <a:t> library registration information facility</a:t>
            </a:r>
            <a:endParaRPr/>
          </a:p>
          <a:p>
            <a:pPr marL="342900" lvl="0" indent="-170180" algn="just" rtl="0">
              <a:lnSpc>
                <a:spcPct val="100000"/>
              </a:lnSpc>
              <a:spcBef>
                <a:spcPts val="544"/>
              </a:spcBef>
              <a:spcAft>
                <a:spcPts val="0"/>
              </a:spcAft>
              <a:buClr>
                <a:schemeClr val="dk1"/>
              </a:buClr>
              <a:buSzPct val="100000"/>
              <a:buNone/>
            </a:pPr>
            <a:endParaRPr/>
          </a:p>
          <a:p>
            <a:pPr marL="342900" lvl="0" indent="-342900" algn="just" rtl="0">
              <a:lnSpc>
                <a:spcPct val="100000"/>
              </a:lnSpc>
              <a:spcBef>
                <a:spcPts val="544"/>
              </a:spcBef>
              <a:spcAft>
                <a:spcPts val="0"/>
              </a:spcAft>
              <a:buClr>
                <a:srgbClr val="C00000"/>
              </a:buClr>
              <a:buSzPct val="100000"/>
              <a:buChar char="•"/>
            </a:pPr>
            <a:r>
              <a:rPr lang="en-GB">
                <a:solidFill>
                  <a:srgbClr val="C00000"/>
                </a:solidFill>
              </a:rPr>
              <a:t>The &lt;</a:t>
            </a:r>
            <a:r>
              <a:rPr lang="en-GB" b="1">
                <a:solidFill>
                  <a:srgbClr val="C00000"/>
                </a:solidFill>
              </a:rPr>
              <a:t>system function</a:t>
            </a:r>
            <a:r>
              <a:rPr lang="en-GB">
                <a:solidFill>
                  <a:srgbClr val="C00000"/>
                </a:solidFill>
              </a:rPr>
              <a:t>&gt; shall able to &lt;</a:t>
            </a:r>
            <a:r>
              <a:rPr lang="en-GB" b="1">
                <a:solidFill>
                  <a:srgbClr val="C00000"/>
                </a:solidFill>
              </a:rPr>
              <a:t>action</a:t>
            </a:r>
            <a:r>
              <a:rPr lang="en-GB">
                <a:solidFill>
                  <a:srgbClr val="C00000"/>
                </a:solidFill>
              </a:rPr>
              <a:t>&gt; &lt;</a:t>
            </a:r>
            <a:r>
              <a:rPr lang="en-GB" b="1">
                <a:solidFill>
                  <a:srgbClr val="C00000"/>
                </a:solidFill>
              </a:rPr>
              <a:t>entity</a:t>
            </a:r>
            <a:r>
              <a:rPr lang="en-GB">
                <a:solidFill>
                  <a:srgbClr val="C00000"/>
                </a:solidFill>
              </a:rPr>
              <a:t>&gt; </a:t>
            </a:r>
            <a:endParaRPr>
              <a:solidFill>
                <a:srgbClr val="C00000"/>
              </a:solidFill>
            </a:endParaRPr>
          </a:p>
          <a:p>
            <a:pPr marL="342900" lvl="0" indent="-342900" algn="just" rtl="0">
              <a:lnSpc>
                <a:spcPct val="100000"/>
              </a:lnSpc>
              <a:spcBef>
                <a:spcPts val="544"/>
              </a:spcBef>
              <a:spcAft>
                <a:spcPts val="0"/>
              </a:spcAft>
              <a:buClr>
                <a:schemeClr val="dk1"/>
              </a:buClr>
              <a:buSzPct val="100000"/>
              <a:buChar char="•"/>
            </a:pPr>
            <a:r>
              <a:rPr lang="en-GB"/>
              <a:t>The</a:t>
            </a:r>
            <a:r>
              <a:rPr lang="en-GB" b="1"/>
              <a:t> library registration information facility</a:t>
            </a:r>
            <a:r>
              <a:rPr lang="en-GB"/>
              <a:t> shall be able to</a:t>
            </a:r>
            <a:r>
              <a:rPr lang="en-GB" b="1"/>
              <a:t> store information</a:t>
            </a:r>
            <a:r>
              <a:rPr lang="en-GB"/>
              <a:t> </a:t>
            </a:r>
            <a:endParaRPr/>
          </a:p>
          <a:p>
            <a:pPr marL="342900" lvl="0" indent="-342900" algn="just" rtl="0">
              <a:lnSpc>
                <a:spcPct val="100000"/>
              </a:lnSpc>
              <a:spcBef>
                <a:spcPts val="544"/>
              </a:spcBef>
              <a:spcAft>
                <a:spcPts val="0"/>
              </a:spcAft>
              <a:buClr>
                <a:schemeClr val="dk1"/>
              </a:buClr>
              <a:buSzPct val="100000"/>
              <a:buNone/>
            </a:pPr>
            <a:endParaRPr/>
          </a:p>
          <a:p>
            <a:pPr marL="342900" lvl="0" indent="-170180" algn="just" rtl="0">
              <a:lnSpc>
                <a:spcPct val="100000"/>
              </a:lnSpc>
              <a:spcBef>
                <a:spcPts val="544"/>
              </a:spcBef>
              <a:spcAft>
                <a:spcPts val="0"/>
              </a:spcAft>
              <a:buClr>
                <a:schemeClr val="dk1"/>
              </a:buClr>
              <a:buSzPct val="100000"/>
              <a:buNone/>
            </a:pPr>
            <a:endParaRPr/>
          </a:p>
        </p:txBody>
      </p:sp>
      <p:sp>
        <p:nvSpPr>
          <p:cNvPr id="701" name="Google Shape;701;p6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02" name="Google Shape;702;p6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03" name="Google Shape;703;p6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Template for Writing Non-Functional Requirements</a:t>
            </a:r>
            <a:endParaRPr/>
          </a:p>
        </p:txBody>
      </p:sp>
      <p:sp>
        <p:nvSpPr>
          <p:cNvPr id="709" name="Google Shape;709;p65"/>
          <p:cNvSpPr txBox="1">
            <a:spLocks noGrp="1"/>
          </p:cNvSpPr>
          <p:nvPr>
            <p:ph type="body" idx="1"/>
          </p:nvPr>
        </p:nvSpPr>
        <p:spPr>
          <a:xfrm>
            <a:off x="304800" y="1734016"/>
            <a:ext cx="8534400" cy="4525963"/>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800"/>
              <a:buNone/>
            </a:pPr>
            <a:r>
              <a:rPr lang="en-GB" sz="1800"/>
              <a:t>Quality Requirements: </a:t>
            </a:r>
            <a:r>
              <a:rPr lang="en-GB" sz="1800" b="1"/>
              <a:t>Template</a:t>
            </a:r>
            <a:r>
              <a:rPr lang="en-GB" sz="1800"/>
              <a:t> </a:t>
            </a:r>
            <a:r>
              <a:rPr lang="en-GB" sz="1800" b="1"/>
              <a:t>Requirements Statement Example</a:t>
            </a:r>
            <a:endParaRPr/>
          </a:p>
          <a:p>
            <a:pPr marL="342900" lvl="0" indent="-342900" algn="just" rtl="0">
              <a:lnSpc>
                <a:spcPct val="100000"/>
              </a:lnSpc>
              <a:spcBef>
                <a:spcPts val="360"/>
              </a:spcBef>
              <a:spcAft>
                <a:spcPts val="0"/>
              </a:spcAft>
              <a:buClr>
                <a:srgbClr val="C00000"/>
              </a:buClr>
              <a:buSzPts val="1800"/>
              <a:buChar char="•"/>
            </a:pPr>
            <a:r>
              <a:rPr lang="en-GB" sz="1800">
                <a:solidFill>
                  <a:srgbClr val="C00000"/>
                </a:solidFill>
              </a:rPr>
              <a:t>The &lt;</a:t>
            </a:r>
            <a:r>
              <a:rPr lang="en-GB" sz="1800" b="1">
                <a:solidFill>
                  <a:srgbClr val="C00000"/>
                </a:solidFill>
              </a:rPr>
              <a:t>user</a:t>
            </a:r>
            <a:r>
              <a:rPr lang="en-GB" sz="1800">
                <a:solidFill>
                  <a:srgbClr val="C00000"/>
                </a:solidFill>
              </a:rPr>
              <a:t>&gt; shall be able to &lt;</a:t>
            </a:r>
            <a:r>
              <a:rPr lang="en-GB" sz="1800" b="1">
                <a:solidFill>
                  <a:srgbClr val="C00000"/>
                </a:solidFill>
              </a:rPr>
              <a:t>capability</a:t>
            </a:r>
            <a:r>
              <a:rPr lang="en-GB" sz="1800">
                <a:solidFill>
                  <a:srgbClr val="C00000"/>
                </a:solidFill>
              </a:rPr>
              <a:t>&gt; at a minimum rate of &lt;</a:t>
            </a:r>
            <a:r>
              <a:rPr lang="en-GB" sz="1800" b="1">
                <a:solidFill>
                  <a:srgbClr val="C00000"/>
                </a:solidFill>
              </a:rPr>
              <a:t>quantity</a:t>
            </a:r>
            <a:r>
              <a:rPr lang="en-GB" sz="1800">
                <a:solidFill>
                  <a:srgbClr val="C00000"/>
                </a:solidFill>
              </a:rPr>
              <a:t>&gt; times per &lt;</a:t>
            </a:r>
            <a:r>
              <a:rPr lang="en-GB" sz="1800" b="1">
                <a:solidFill>
                  <a:srgbClr val="C00000"/>
                </a:solidFill>
              </a:rPr>
              <a:t>time unit</a:t>
            </a:r>
            <a:r>
              <a:rPr lang="en-GB" sz="1800">
                <a:solidFill>
                  <a:srgbClr val="C00000"/>
                </a:solidFill>
              </a:rPr>
              <a:t>&gt;</a:t>
            </a:r>
            <a:endParaRPr sz="1800">
              <a:solidFill>
                <a:srgbClr val="C00000"/>
              </a:solidFill>
            </a:endParaRPr>
          </a:p>
          <a:p>
            <a:pPr marL="342900" lvl="0" indent="-342900" algn="just" rtl="0">
              <a:lnSpc>
                <a:spcPct val="100000"/>
              </a:lnSpc>
              <a:spcBef>
                <a:spcPts val="360"/>
              </a:spcBef>
              <a:spcAft>
                <a:spcPts val="0"/>
              </a:spcAft>
              <a:buClr>
                <a:schemeClr val="dk1"/>
              </a:buClr>
              <a:buSzPts val="1800"/>
              <a:buChar char="•"/>
            </a:pPr>
            <a:r>
              <a:rPr lang="en-GB" sz="1800"/>
              <a:t>The </a:t>
            </a:r>
            <a:r>
              <a:rPr lang="en-GB" sz="1800" b="1"/>
              <a:t>borrower</a:t>
            </a:r>
            <a:r>
              <a:rPr lang="en-GB" sz="1800"/>
              <a:t> shall be able to </a:t>
            </a:r>
            <a:r>
              <a:rPr lang="en-GB" sz="1800" b="1"/>
              <a:t>renew books</a:t>
            </a:r>
            <a:r>
              <a:rPr lang="en-GB" sz="1800"/>
              <a:t> at a minimum rate of </a:t>
            </a:r>
            <a:r>
              <a:rPr lang="en-GB" sz="1800" b="1"/>
              <a:t>3</a:t>
            </a:r>
            <a:r>
              <a:rPr lang="en-GB" sz="1800"/>
              <a:t> times per</a:t>
            </a:r>
            <a:r>
              <a:rPr lang="en-GB" sz="1800" b="1"/>
              <a:t> borrowing period</a:t>
            </a:r>
            <a:endParaRPr/>
          </a:p>
          <a:p>
            <a:pPr marL="342900" lvl="0" indent="-342900" algn="just" rtl="0">
              <a:lnSpc>
                <a:spcPct val="100000"/>
              </a:lnSpc>
              <a:spcBef>
                <a:spcPts val="960"/>
              </a:spcBef>
              <a:spcAft>
                <a:spcPts val="0"/>
              </a:spcAft>
              <a:buClr>
                <a:srgbClr val="C00000"/>
              </a:buClr>
              <a:buSzPts val="1800"/>
              <a:buChar char="•"/>
            </a:pPr>
            <a:r>
              <a:rPr lang="en-GB" sz="1800">
                <a:solidFill>
                  <a:srgbClr val="C00000"/>
                </a:solidFill>
              </a:rPr>
              <a:t>The &lt;</a:t>
            </a:r>
            <a:r>
              <a:rPr lang="en-GB" sz="1800" b="1">
                <a:solidFill>
                  <a:srgbClr val="C00000"/>
                </a:solidFill>
              </a:rPr>
              <a:t>user</a:t>
            </a:r>
            <a:r>
              <a:rPr lang="en-GB" sz="1800">
                <a:solidFill>
                  <a:srgbClr val="C00000"/>
                </a:solidFill>
              </a:rPr>
              <a:t>&gt; shall be able to &lt;</a:t>
            </a:r>
            <a:r>
              <a:rPr lang="en-GB" sz="1800" b="1">
                <a:solidFill>
                  <a:srgbClr val="C00000"/>
                </a:solidFill>
              </a:rPr>
              <a:t>capability</a:t>
            </a:r>
            <a:r>
              <a:rPr lang="en-GB" sz="1800">
                <a:solidFill>
                  <a:srgbClr val="C00000"/>
                </a:solidFill>
              </a:rPr>
              <a:t>&gt; within &lt;</a:t>
            </a:r>
            <a:r>
              <a:rPr lang="en-GB" sz="1800" b="1">
                <a:solidFill>
                  <a:srgbClr val="C00000"/>
                </a:solidFill>
              </a:rPr>
              <a:t>quantity</a:t>
            </a:r>
            <a:r>
              <a:rPr lang="en-GB" sz="1800">
                <a:solidFill>
                  <a:srgbClr val="C00000"/>
                </a:solidFill>
              </a:rPr>
              <a:t>&gt; &lt;t</a:t>
            </a:r>
            <a:r>
              <a:rPr lang="en-GB" sz="1800" b="1">
                <a:solidFill>
                  <a:srgbClr val="C00000"/>
                </a:solidFill>
              </a:rPr>
              <a:t>ime unit</a:t>
            </a:r>
            <a:r>
              <a:rPr lang="en-GB" sz="1800">
                <a:solidFill>
                  <a:srgbClr val="C00000"/>
                </a:solidFill>
              </a:rPr>
              <a:t>&gt;s from &lt;</a:t>
            </a:r>
            <a:r>
              <a:rPr lang="en-GB" sz="1800" b="1">
                <a:solidFill>
                  <a:srgbClr val="C00000"/>
                </a:solidFill>
              </a:rPr>
              <a:t>event</a:t>
            </a:r>
            <a:r>
              <a:rPr lang="en-GB" sz="1800">
                <a:solidFill>
                  <a:srgbClr val="C00000"/>
                </a:solidFill>
              </a:rPr>
              <a:t>&gt;</a:t>
            </a:r>
            <a:endParaRPr sz="1800">
              <a:solidFill>
                <a:srgbClr val="C00000"/>
              </a:solidFill>
            </a:endParaRPr>
          </a:p>
          <a:p>
            <a:pPr marL="342900" lvl="0" indent="-342900" algn="just" rtl="0">
              <a:lnSpc>
                <a:spcPct val="100000"/>
              </a:lnSpc>
              <a:spcBef>
                <a:spcPts val="360"/>
              </a:spcBef>
              <a:spcAft>
                <a:spcPts val="0"/>
              </a:spcAft>
              <a:buClr>
                <a:schemeClr val="dk1"/>
              </a:buClr>
              <a:buSzPts val="1800"/>
              <a:buChar char="•"/>
            </a:pPr>
            <a:r>
              <a:rPr lang="en-GB" sz="1800"/>
              <a:t>The</a:t>
            </a:r>
            <a:r>
              <a:rPr lang="en-GB" sz="1800" b="1"/>
              <a:t> borrower</a:t>
            </a:r>
            <a:r>
              <a:rPr lang="en-GB" sz="1800"/>
              <a:t> shall be able to</a:t>
            </a:r>
            <a:r>
              <a:rPr lang="en-GB" sz="1800" b="1"/>
              <a:t> renew books </a:t>
            </a:r>
            <a:r>
              <a:rPr lang="en-GB" sz="1800"/>
              <a:t>within </a:t>
            </a:r>
            <a:r>
              <a:rPr lang="en-GB" sz="1800" b="1"/>
              <a:t>10 seconds</a:t>
            </a:r>
            <a:r>
              <a:rPr lang="en-GB" sz="1800"/>
              <a:t> from </a:t>
            </a:r>
            <a:r>
              <a:rPr lang="en-GB" sz="1800" b="1"/>
              <a:t>renewal process</a:t>
            </a:r>
            <a:endParaRPr sz="1800"/>
          </a:p>
          <a:p>
            <a:pPr marL="342900" lvl="0" indent="-342900" algn="just" rtl="0">
              <a:lnSpc>
                <a:spcPct val="100000"/>
              </a:lnSpc>
              <a:spcBef>
                <a:spcPts val="960"/>
              </a:spcBef>
              <a:spcAft>
                <a:spcPts val="0"/>
              </a:spcAft>
              <a:buClr>
                <a:srgbClr val="C00000"/>
              </a:buClr>
              <a:buSzPts val="1800"/>
              <a:buChar char="•"/>
            </a:pPr>
            <a:r>
              <a:rPr lang="en-GB" sz="1800">
                <a:solidFill>
                  <a:srgbClr val="C00000"/>
                </a:solidFill>
              </a:rPr>
              <a:t>The &lt;</a:t>
            </a:r>
            <a:r>
              <a:rPr lang="en-GB" sz="1800" b="1">
                <a:solidFill>
                  <a:srgbClr val="C00000"/>
                </a:solidFill>
              </a:rPr>
              <a:t>system function</a:t>
            </a:r>
            <a:r>
              <a:rPr lang="en-GB" sz="1800">
                <a:solidFill>
                  <a:srgbClr val="C00000"/>
                </a:solidFill>
              </a:rPr>
              <a:t>&gt; shall be able to &lt;</a:t>
            </a:r>
            <a:r>
              <a:rPr lang="en-GB" sz="1800" b="1">
                <a:solidFill>
                  <a:srgbClr val="C00000"/>
                </a:solidFill>
              </a:rPr>
              <a:t>action</a:t>
            </a:r>
            <a:r>
              <a:rPr lang="en-GB" sz="1800">
                <a:solidFill>
                  <a:srgbClr val="C00000"/>
                </a:solidFill>
              </a:rPr>
              <a:t>&gt; &lt;</a:t>
            </a:r>
            <a:r>
              <a:rPr lang="en-GB" sz="1800" b="1">
                <a:solidFill>
                  <a:srgbClr val="C00000"/>
                </a:solidFill>
              </a:rPr>
              <a:t>entity</a:t>
            </a:r>
            <a:r>
              <a:rPr lang="en-GB" sz="1800">
                <a:solidFill>
                  <a:srgbClr val="C00000"/>
                </a:solidFill>
              </a:rPr>
              <a:t>&gt;  at least &lt;</a:t>
            </a:r>
            <a:r>
              <a:rPr lang="en-GB" sz="1800" b="1">
                <a:solidFill>
                  <a:srgbClr val="C00000"/>
                </a:solidFill>
              </a:rPr>
              <a:t>quantity</a:t>
            </a:r>
            <a:r>
              <a:rPr lang="en-GB" sz="1800">
                <a:solidFill>
                  <a:srgbClr val="C00000"/>
                </a:solidFill>
              </a:rPr>
              <a:t>&gt; times per &lt;</a:t>
            </a:r>
            <a:r>
              <a:rPr lang="en-GB" sz="1800" b="1">
                <a:solidFill>
                  <a:srgbClr val="C00000"/>
                </a:solidFill>
              </a:rPr>
              <a:t>time unit</a:t>
            </a:r>
            <a:r>
              <a:rPr lang="en-GB" sz="1800">
                <a:solidFill>
                  <a:srgbClr val="C00000"/>
                </a:solidFill>
              </a:rPr>
              <a:t>&gt;</a:t>
            </a:r>
            <a:endParaRPr sz="1800">
              <a:solidFill>
                <a:srgbClr val="C00000"/>
              </a:solidFill>
            </a:endParaRPr>
          </a:p>
          <a:p>
            <a:pPr marL="342900" lvl="0" indent="-342900" algn="just" rtl="0">
              <a:lnSpc>
                <a:spcPct val="100000"/>
              </a:lnSpc>
              <a:spcBef>
                <a:spcPts val="360"/>
              </a:spcBef>
              <a:spcAft>
                <a:spcPts val="0"/>
              </a:spcAft>
              <a:buClr>
                <a:schemeClr val="dk1"/>
              </a:buClr>
              <a:buSzPts val="1800"/>
              <a:buChar char="•"/>
            </a:pPr>
            <a:r>
              <a:rPr lang="en-GB" sz="1800"/>
              <a:t>The </a:t>
            </a:r>
            <a:r>
              <a:rPr lang="en-GB" sz="1800" b="1"/>
              <a:t>library registration facility</a:t>
            </a:r>
            <a:r>
              <a:rPr lang="en-GB" sz="1800"/>
              <a:t> shall be able to </a:t>
            </a:r>
            <a:r>
              <a:rPr lang="en-GB" sz="1800" b="1"/>
              <a:t>add new user information </a:t>
            </a:r>
            <a:r>
              <a:rPr lang="en-GB" sz="1800"/>
              <a:t>at least </a:t>
            </a:r>
            <a:r>
              <a:rPr lang="en-GB" sz="1800" b="1"/>
              <a:t>15</a:t>
            </a:r>
            <a:r>
              <a:rPr lang="en-GB" sz="1800"/>
              <a:t> times per </a:t>
            </a:r>
            <a:r>
              <a:rPr lang="en-GB" sz="1800" b="1"/>
              <a:t>minute </a:t>
            </a:r>
            <a:endParaRPr/>
          </a:p>
          <a:p>
            <a:pPr marL="342900" lvl="0" indent="-342900" algn="just" rtl="0">
              <a:lnSpc>
                <a:spcPct val="100000"/>
              </a:lnSpc>
              <a:spcBef>
                <a:spcPts val="960"/>
              </a:spcBef>
              <a:spcAft>
                <a:spcPts val="0"/>
              </a:spcAft>
              <a:buClr>
                <a:srgbClr val="C00000"/>
              </a:buClr>
              <a:buSzPts val="1800"/>
              <a:buChar char="•"/>
            </a:pPr>
            <a:r>
              <a:rPr lang="en-GB" sz="1800">
                <a:solidFill>
                  <a:srgbClr val="C00000"/>
                </a:solidFill>
              </a:rPr>
              <a:t>The &lt;</a:t>
            </a:r>
            <a:r>
              <a:rPr lang="en-GB" sz="1800" b="1">
                <a:solidFill>
                  <a:srgbClr val="C00000"/>
                </a:solidFill>
              </a:rPr>
              <a:t>system function</a:t>
            </a:r>
            <a:r>
              <a:rPr lang="en-GB" sz="1800">
                <a:solidFill>
                  <a:srgbClr val="C00000"/>
                </a:solidFill>
              </a:rPr>
              <a:t>&gt; shall not allow &lt;</a:t>
            </a:r>
            <a:r>
              <a:rPr lang="en-GB" sz="1800" b="1">
                <a:solidFill>
                  <a:srgbClr val="C00000"/>
                </a:solidFill>
              </a:rPr>
              <a:t>user</a:t>
            </a:r>
            <a:r>
              <a:rPr lang="en-GB" sz="1800">
                <a:solidFill>
                  <a:srgbClr val="C00000"/>
                </a:solidFill>
              </a:rPr>
              <a:t>&gt; to &lt;</a:t>
            </a:r>
            <a:r>
              <a:rPr lang="en-GB" sz="1800" b="1">
                <a:solidFill>
                  <a:srgbClr val="C00000"/>
                </a:solidFill>
              </a:rPr>
              <a:t>action</a:t>
            </a:r>
            <a:r>
              <a:rPr lang="en-GB" sz="1800">
                <a:solidFill>
                  <a:srgbClr val="C00000"/>
                </a:solidFill>
              </a:rPr>
              <a:t>&gt;</a:t>
            </a:r>
            <a:r>
              <a:rPr lang="en-GB" sz="1800"/>
              <a:t> </a:t>
            </a:r>
            <a:endParaRPr sz="1800"/>
          </a:p>
          <a:p>
            <a:pPr marL="342900" lvl="0" indent="-342900" algn="just" rtl="0">
              <a:lnSpc>
                <a:spcPct val="100000"/>
              </a:lnSpc>
              <a:spcBef>
                <a:spcPts val="360"/>
              </a:spcBef>
              <a:spcAft>
                <a:spcPts val="0"/>
              </a:spcAft>
              <a:buClr>
                <a:schemeClr val="dk1"/>
              </a:buClr>
              <a:buSzPts val="1800"/>
              <a:buChar char="•"/>
            </a:pPr>
            <a:r>
              <a:rPr lang="en-GB" sz="1800"/>
              <a:t>The </a:t>
            </a:r>
            <a:r>
              <a:rPr lang="en-GB" sz="1800" b="1"/>
              <a:t>library system </a:t>
            </a:r>
            <a:r>
              <a:rPr lang="en-GB" sz="1800"/>
              <a:t>shall not allow </a:t>
            </a:r>
            <a:r>
              <a:rPr lang="en-GB" sz="1800" b="1"/>
              <a:t>borrower </a:t>
            </a:r>
            <a:r>
              <a:rPr lang="en-GB" sz="1800"/>
              <a:t>to </a:t>
            </a:r>
            <a:r>
              <a:rPr lang="en-GB" sz="1800" b="1"/>
              <a:t>edit any sensitive data in the system</a:t>
            </a:r>
            <a:endParaRPr sz="1800"/>
          </a:p>
          <a:p>
            <a:pPr marL="0" lvl="0" indent="0" algn="just" rtl="0">
              <a:lnSpc>
                <a:spcPct val="100000"/>
              </a:lnSpc>
              <a:spcBef>
                <a:spcPts val="360"/>
              </a:spcBef>
              <a:spcAft>
                <a:spcPts val="0"/>
              </a:spcAft>
              <a:buClr>
                <a:schemeClr val="dk1"/>
              </a:buClr>
              <a:buSzPts val="1800"/>
              <a:buNone/>
            </a:pPr>
            <a:endParaRPr sz="1800"/>
          </a:p>
        </p:txBody>
      </p:sp>
      <p:sp>
        <p:nvSpPr>
          <p:cNvPr id="710" name="Google Shape;710;p6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11" name="Google Shape;711;p6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12" name="Google Shape;712;p6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Tabular Specification</a:t>
            </a:r>
            <a:endParaRPr/>
          </a:p>
        </p:txBody>
      </p:sp>
      <p:sp>
        <p:nvSpPr>
          <p:cNvPr id="718" name="Google Shape;718;p6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Used to supplement natural language</a:t>
            </a:r>
            <a:endParaRPr/>
          </a:p>
          <a:p>
            <a:pPr marL="342900" lvl="0" indent="-342900" algn="just" rtl="0">
              <a:lnSpc>
                <a:spcPct val="100000"/>
              </a:lnSpc>
              <a:spcBef>
                <a:spcPts val="560"/>
              </a:spcBef>
              <a:spcAft>
                <a:spcPts val="0"/>
              </a:spcAft>
              <a:buClr>
                <a:schemeClr val="dk1"/>
              </a:buClr>
              <a:buSzPts val="2800"/>
              <a:buFont typeface="Arial"/>
              <a:buChar char="•"/>
            </a:pPr>
            <a:r>
              <a:rPr lang="en-GB" sz="2800"/>
              <a:t>Particularly useful when you have to define a number of possible alternative courses of action</a:t>
            </a:r>
            <a:endParaRPr/>
          </a:p>
          <a:p>
            <a:pPr marL="342900" lvl="0" indent="-342900" algn="just" rtl="0">
              <a:lnSpc>
                <a:spcPct val="100000"/>
              </a:lnSpc>
              <a:spcBef>
                <a:spcPts val="560"/>
              </a:spcBef>
              <a:spcAft>
                <a:spcPts val="0"/>
              </a:spcAft>
              <a:buClr>
                <a:schemeClr val="dk1"/>
              </a:buClr>
              <a:buSzPts val="2800"/>
              <a:buFont typeface="Arial"/>
              <a:buChar char="•"/>
            </a:pPr>
            <a:r>
              <a:rPr lang="en-GB" sz="2800"/>
              <a:t>For example, the insulin pump systems bases its computations on the rate of change of blood sugar level and the tabular specification explains how to calculate the insulin requirement for different scenarios</a:t>
            </a:r>
            <a:endParaRPr/>
          </a:p>
          <a:p>
            <a:pPr marL="0" lvl="0" indent="0" algn="just" rtl="0">
              <a:lnSpc>
                <a:spcPct val="100000"/>
              </a:lnSpc>
              <a:spcBef>
                <a:spcPts val="560"/>
              </a:spcBef>
              <a:spcAft>
                <a:spcPts val="0"/>
              </a:spcAft>
              <a:buClr>
                <a:schemeClr val="dk1"/>
              </a:buClr>
              <a:buSzPts val="2800"/>
              <a:buNone/>
            </a:pPr>
            <a:endParaRPr sz="2800"/>
          </a:p>
        </p:txBody>
      </p:sp>
      <p:sp>
        <p:nvSpPr>
          <p:cNvPr id="719" name="Google Shape;719;p6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20" name="Google Shape;720;p6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21" name="Google Shape;721;p6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Tabular Specification of Computation for an Insulin Pump </a:t>
            </a:r>
            <a:endParaRPr/>
          </a:p>
        </p:txBody>
      </p:sp>
      <p:graphicFrame>
        <p:nvGraphicFramePr>
          <p:cNvPr id="727" name="Google Shape;727;p67"/>
          <p:cNvGraphicFramePr/>
          <p:nvPr/>
        </p:nvGraphicFramePr>
        <p:xfrm>
          <a:off x="457200" y="1600200"/>
          <a:ext cx="8229600" cy="4191000"/>
        </p:xfrm>
        <a:graphic>
          <a:graphicData uri="http://schemas.openxmlformats.org/drawingml/2006/table">
            <a:tbl>
              <a:tblPr firstRow="1" bandRow="1">
                <a:noFill/>
                <a:tableStyleId>{54ED4AE3-774A-42B7-8420-56C0AD00CE45}</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83325">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Condition  </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rPr>
                        <a:t>Action </a:t>
                      </a:r>
                      <a:endParaRPr sz="1400" u="none" strike="noStrike" cap="none"/>
                    </a:p>
                  </a:txBody>
                  <a:tcPr marL="91450" marR="91450" marT="45725" marB="45725"/>
                </a:tc>
                <a:extLst>
                  <a:ext uri="{0D108BD9-81ED-4DB2-BD59-A6C34878D82A}">
                    <a16:rowId xmlns:a16="http://schemas.microsoft.com/office/drawing/2014/main" val="10000"/>
                  </a:ext>
                </a:extLst>
              </a:tr>
              <a:tr h="483325">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Sugar level falling (r2 &lt; r1)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CompDose = 0</a:t>
                      </a:r>
                      <a:endParaRPr sz="1800" u="none" strike="noStrike" cap="none"/>
                    </a:p>
                  </a:txBody>
                  <a:tcPr marL="91450" marR="91450" marT="45725" marB="45725"/>
                </a:tc>
                <a:extLst>
                  <a:ext uri="{0D108BD9-81ED-4DB2-BD59-A6C34878D82A}">
                    <a16:rowId xmlns:a16="http://schemas.microsoft.com/office/drawing/2014/main" val="10001"/>
                  </a:ext>
                </a:extLst>
              </a:tr>
              <a:tr h="483325">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Sugar level stable (r2 = r1)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CompDose = 0</a:t>
                      </a:r>
                      <a:endParaRPr sz="1800" u="none" strike="noStrike" cap="none"/>
                    </a:p>
                  </a:txBody>
                  <a:tcPr marL="91450" marR="91450" marT="45725" marB="45725"/>
                </a:tc>
                <a:extLst>
                  <a:ext uri="{0D108BD9-81ED-4DB2-BD59-A6C34878D82A}">
                    <a16:rowId xmlns:a16="http://schemas.microsoft.com/office/drawing/2014/main" val="10002"/>
                  </a:ext>
                </a:extLst>
              </a:tr>
              <a:tr h="1191750">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Sugar level increasing and rate of increase decreasing </a:t>
                      </a:r>
                      <a:br>
                        <a:rPr lang="en-GB" sz="1800" b="0" i="0" u="none" strike="noStrike" cap="none">
                          <a:solidFill>
                            <a:srgbClr val="000000"/>
                          </a:solidFill>
                          <a:latin typeface="Arial"/>
                          <a:ea typeface="Arial"/>
                          <a:cs typeface="Arial"/>
                          <a:sym typeface="Arial"/>
                        </a:rPr>
                      </a:br>
                      <a:r>
                        <a:rPr lang="en-GB" sz="1800" b="0" i="0" u="none" strike="noStrike" cap="none">
                          <a:solidFill>
                            <a:srgbClr val="000000"/>
                          </a:solidFill>
                          <a:latin typeface="Arial"/>
                          <a:ea typeface="Arial"/>
                          <a:cs typeface="Arial"/>
                          <a:sym typeface="Arial"/>
                        </a:rPr>
                        <a:t>((r2 – r1) &lt; (r1 – r0))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CompDose = 0</a:t>
                      </a:r>
                      <a:endParaRPr sz="1400" u="none" strike="noStrike" cap="none"/>
                    </a:p>
                  </a:txBody>
                  <a:tcPr marL="91450" marR="91450" marT="45725" marB="45725"/>
                </a:tc>
                <a:extLst>
                  <a:ext uri="{0D108BD9-81ED-4DB2-BD59-A6C34878D82A}">
                    <a16:rowId xmlns:a16="http://schemas.microsoft.com/office/drawing/2014/main" val="10003"/>
                  </a:ext>
                </a:extLst>
              </a:tr>
              <a:tr h="1549275">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Sugar level increasing and rate of increase stable or increasing </a:t>
                      </a:r>
                      <a:br>
                        <a:rPr lang="en-GB" sz="1800" b="0" i="0" u="none" strike="noStrike" cap="none">
                          <a:solidFill>
                            <a:srgbClr val="000000"/>
                          </a:solidFill>
                          <a:latin typeface="Arial"/>
                          <a:ea typeface="Arial"/>
                          <a:cs typeface="Arial"/>
                          <a:sym typeface="Arial"/>
                        </a:rPr>
                      </a:br>
                      <a:r>
                        <a:rPr lang="en-GB" sz="1800" b="0" i="0" u="none" strike="noStrike" cap="none">
                          <a:solidFill>
                            <a:srgbClr val="000000"/>
                          </a:solidFill>
                          <a:latin typeface="Arial"/>
                          <a:ea typeface="Arial"/>
                          <a:cs typeface="Arial"/>
                          <a:sym typeface="Arial"/>
                        </a:rPr>
                        <a:t>((r2 – r1) ≥ (r1 – r0))</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CompDose = </a:t>
                      </a:r>
                      <a:br>
                        <a:rPr lang="en-GB" sz="1800" b="0" i="0" u="none" strike="noStrike" cap="none">
                          <a:solidFill>
                            <a:srgbClr val="000000"/>
                          </a:solidFill>
                          <a:latin typeface="Arial"/>
                          <a:ea typeface="Arial"/>
                          <a:cs typeface="Arial"/>
                          <a:sym typeface="Arial"/>
                        </a:rPr>
                      </a:br>
                      <a:r>
                        <a:rPr lang="en-GB" sz="1800" b="0" i="0" u="none" strike="noStrike" cap="none">
                          <a:solidFill>
                            <a:srgbClr val="000000"/>
                          </a:solidFill>
                          <a:latin typeface="Arial"/>
                          <a:ea typeface="Arial"/>
                          <a:cs typeface="Arial"/>
                          <a:sym typeface="Arial"/>
                        </a:rPr>
                        <a:t>      round ((r2 – r1)/4)</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If rounded result = 0 then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Arial"/>
                          <a:ea typeface="Arial"/>
                          <a:cs typeface="Arial"/>
                          <a:sym typeface="Arial"/>
                        </a:rPr>
                        <a:t>CompDose = MinimumDose</a:t>
                      </a:r>
                      <a:endParaRPr sz="18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bl>
          </a:graphicData>
        </a:graphic>
      </p:graphicFrame>
      <p:sp>
        <p:nvSpPr>
          <p:cNvPr id="728" name="Google Shape;728;p6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29" name="Google Shape;729;p6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30" name="Google Shape;730;p6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Use Cases</a:t>
            </a:r>
            <a:endParaRPr/>
          </a:p>
        </p:txBody>
      </p:sp>
      <p:sp>
        <p:nvSpPr>
          <p:cNvPr id="736" name="Google Shape;736;p6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800"/>
              <a:buFont typeface="Arial"/>
              <a:buChar char="•"/>
            </a:pPr>
            <a:r>
              <a:rPr lang="en-GB" sz="2800"/>
              <a:t>Use-cases are a </a:t>
            </a:r>
            <a:r>
              <a:rPr lang="en-GB" sz="2800" b="1">
                <a:solidFill>
                  <a:srgbClr val="C00000"/>
                </a:solidFill>
              </a:rPr>
              <a:t>scenario based technique </a:t>
            </a:r>
            <a:r>
              <a:rPr lang="en-GB" sz="2800"/>
              <a:t>in the UML which identify the actors in an interaction and which describe the interaction itself</a:t>
            </a:r>
            <a:endParaRPr/>
          </a:p>
          <a:p>
            <a:pPr marL="342900" lvl="0" indent="-342900" algn="just" rtl="0">
              <a:lnSpc>
                <a:spcPct val="100000"/>
              </a:lnSpc>
              <a:spcBef>
                <a:spcPts val="560"/>
              </a:spcBef>
              <a:spcAft>
                <a:spcPts val="0"/>
              </a:spcAft>
              <a:buClr>
                <a:schemeClr val="dk1"/>
              </a:buClr>
              <a:buSzPts val="2800"/>
              <a:buFont typeface="Arial"/>
              <a:buChar char="•"/>
            </a:pPr>
            <a:r>
              <a:rPr lang="en-GB" sz="2800"/>
              <a:t>A set of use cases should describe all possible interactions with the system</a:t>
            </a:r>
            <a:endParaRPr/>
          </a:p>
          <a:p>
            <a:pPr marL="342900" lvl="0" indent="-342900" algn="just" rtl="0">
              <a:lnSpc>
                <a:spcPct val="100000"/>
              </a:lnSpc>
              <a:spcBef>
                <a:spcPts val="560"/>
              </a:spcBef>
              <a:spcAft>
                <a:spcPts val="0"/>
              </a:spcAft>
              <a:buClr>
                <a:srgbClr val="C00000"/>
              </a:buClr>
              <a:buSzPts val="2800"/>
              <a:buFont typeface="Arial"/>
              <a:buChar char="•"/>
            </a:pPr>
            <a:r>
              <a:rPr lang="en-GB" sz="2800" b="1">
                <a:solidFill>
                  <a:srgbClr val="C00000"/>
                </a:solidFill>
              </a:rPr>
              <a:t>High-level </a:t>
            </a:r>
            <a:r>
              <a:rPr lang="en-GB" sz="2800"/>
              <a:t>graphical model supplemented by more detailed tabular description</a:t>
            </a:r>
            <a:endParaRPr/>
          </a:p>
          <a:p>
            <a:pPr marL="342900" lvl="0" indent="-342900" algn="just" rtl="0">
              <a:lnSpc>
                <a:spcPct val="100000"/>
              </a:lnSpc>
              <a:spcBef>
                <a:spcPts val="560"/>
              </a:spcBef>
              <a:spcAft>
                <a:spcPts val="0"/>
              </a:spcAft>
              <a:buClr>
                <a:srgbClr val="C00000"/>
              </a:buClr>
              <a:buSzPts val="2800"/>
              <a:buFont typeface="Arial"/>
              <a:buChar char="•"/>
            </a:pPr>
            <a:r>
              <a:rPr lang="en-GB" sz="2800" b="1">
                <a:solidFill>
                  <a:srgbClr val="C00000"/>
                </a:solidFill>
              </a:rPr>
              <a:t>Sequence diagrams </a:t>
            </a:r>
            <a:r>
              <a:rPr lang="en-GB" sz="2800"/>
              <a:t>may be used to </a:t>
            </a:r>
            <a:r>
              <a:rPr lang="en-GB" sz="2800" b="1">
                <a:solidFill>
                  <a:srgbClr val="C00000"/>
                </a:solidFill>
              </a:rPr>
              <a:t>add detail to use-cases</a:t>
            </a:r>
            <a:r>
              <a:rPr lang="en-GB" sz="2800"/>
              <a:t> by showing the sequence of event processing in the system</a:t>
            </a:r>
            <a:endParaRPr/>
          </a:p>
          <a:p>
            <a:pPr marL="0" lvl="0" indent="0" algn="just" rtl="0">
              <a:lnSpc>
                <a:spcPct val="100000"/>
              </a:lnSpc>
              <a:spcBef>
                <a:spcPts val="560"/>
              </a:spcBef>
              <a:spcAft>
                <a:spcPts val="0"/>
              </a:spcAft>
              <a:buClr>
                <a:schemeClr val="dk1"/>
              </a:buClr>
              <a:buSzPts val="2800"/>
              <a:buNone/>
            </a:pPr>
            <a:endParaRPr sz="2800"/>
          </a:p>
        </p:txBody>
      </p:sp>
      <p:sp>
        <p:nvSpPr>
          <p:cNvPr id="737" name="Google Shape;737;p6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38" name="Google Shape;738;p6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39" name="Google Shape;739;p6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GB"/>
              <a:t>Use Case Diagram for the </a:t>
            </a:r>
            <a:br>
              <a:rPr lang="en-GB"/>
            </a:br>
            <a:r>
              <a:rPr lang="en-GB"/>
              <a:t>Mentcare System </a:t>
            </a:r>
            <a:endParaRPr/>
          </a:p>
        </p:txBody>
      </p:sp>
      <p:sp>
        <p:nvSpPr>
          <p:cNvPr id="745" name="Google Shape;745;p6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46" name="Google Shape;746;p6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47" name="Google Shape;747;p6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72</a:t>
            </a:fld>
            <a:endParaRPr/>
          </a:p>
        </p:txBody>
      </p:sp>
      <p:pic>
        <p:nvPicPr>
          <p:cNvPr id="748" name="Google Shape;748;p69"/>
          <p:cNvPicPr preferRelativeResize="0">
            <a:picLocks noGrp="1"/>
          </p:cNvPicPr>
          <p:nvPr>
            <p:ph type="body" idx="1"/>
          </p:nvPr>
        </p:nvPicPr>
        <p:blipFill rotWithShape="1">
          <a:blip r:embed="rId3">
            <a:alphaModFix/>
          </a:blip>
          <a:srcRect/>
          <a:stretch/>
        </p:blipFill>
        <p:spPr>
          <a:xfrm>
            <a:off x="2351383" y="1600200"/>
            <a:ext cx="4441233" cy="4525963"/>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Engineering Processes</a:t>
            </a:r>
            <a:endParaRPr/>
          </a:p>
        </p:txBody>
      </p:sp>
      <p:grpSp>
        <p:nvGrpSpPr>
          <p:cNvPr id="754" name="Google Shape;754;p70"/>
          <p:cNvGrpSpPr/>
          <p:nvPr/>
        </p:nvGrpSpPr>
        <p:grpSpPr>
          <a:xfrm>
            <a:off x="461318" y="1600200"/>
            <a:ext cx="8221363" cy="4525963"/>
            <a:chOff x="4118" y="0"/>
            <a:chExt cx="8221363" cy="4525963"/>
          </a:xfrm>
        </p:grpSpPr>
        <p:sp>
          <p:nvSpPr>
            <p:cNvPr id="755" name="Google Shape;755;p70"/>
            <p:cNvSpPr/>
            <p:nvPr/>
          </p:nvSpPr>
          <p:spPr>
            <a:xfrm>
              <a:off x="617219" y="0"/>
              <a:ext cx="6995160" cy="4525963"/>
            </a:xfrm>
            <a:prstGeom prst="rightArrow">
              <a:avLst>
                <a:gd name="adj1" fmla="val 50000"/>
                <a:gd name="adj2" fmla="val 50000"/>
              </a:avLst>
            </a:prstGeom>
            <a:solidFill>
              <a:srgbClr val="CFD7E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70"/>
            <p:cNvSpPr/>
            <p:nvPr/>
          </p:nvSpPr>
          <p:spPr>
            <a:xfrm>
              <a:off x="4118"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70"/>
            <p:cNvSpPr txBox="1"/>
            <p:nvPr/>
          </p:nvSpPr>
          <p:spPr>
            <a:xfrm>
              <a:off x="92494"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Elicitation and Analysis</a:t>
              </a:r>
              <a:endParaRPr sz="1400" b="0" i="0" u="none" strike="noStrike" cap="none">
                <a:solidFill>
                  <a:srgbClr val="000000"/>
                </a:solidFill>
                <a:latin typeface="Arial"/>
                <a:ea typeface="Arial"/>
                <a:cs typeface="Arial"/>
                <a:sym typeface="Arial"/>
              </a:endParaRPr>
            </a:p>
          </p:txBody>
        </p:sp>
        <p:sp>
          <p:nvSpPr>
            <p:cNvPr id="758" name="Google Shape;758;p70"/>
            <p:cNvSpPr/>
            <p:nvPr/>
          </p:nvSpPr>
          <p:spPr>
            <a:xfrm>
              <a:off x="2084222"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70"/>
            <p:cNvSpPr txBox="1"/>
            <p:nvPr/>
          </p:nvSpPr>
          <p:spPr>
            <a:xfrm>
              <a:off x="2172598"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Specification</a:t>
              </a:r>
              <a:endParaRPr sz="1400" b="0" i="0" u="none" strike="noStrike" cap="none">
                <a:solidFill>
                  <a:srgbClr val="000000"/>
                </a:solidFill>
                <a:latin typeface="Arial"/>
                <a:ea typeface="Arial"/>
                <a:cs typeface="Arial"/>
                <a:sym typeface="Arial"/>
              </a:endParaRPr>
            </a:p>
          </p:txBody>
        </p:sp>
        <p:sp>
          <p:nvSpPr>
            <p:cNvPr id="760" name="Google Shape;760;p70"/>
            <p:cNvSpPr/>
            <p:nvPr/>
          </p:nvSpPr>
          <p:spPr>
            <a:xfrm>
              <a:off x="4164326"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70"/>
            <p:cNvSpPr txBox="1"/>
            <p:nvPr/>
          </p:nvSpPr>
          <p:spPr>
            <a:xfrm>
              <a:off x="4252702"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Validation</a:t>
              </a:r>
              <a:endParaRPr sz="1400" b="0" i="0" u="none" strike="noStrike" cap="none">
                <a:solidFill>
                  <a:srgbClr val="000000"/>
                </a:solidFill>
                <a:latin typeface="Arial"/>
                <a:ea typeface="Arial"/>
                <a:cs typeface="Arial"/>
                <a:sym typeface="Arial"/>
              </a:endParaRPr>
            </a:p>
          </p:txBody>
        </p:sp>
        <p:sp>
          <p:nvSpPr>
            <p:cNvPr id="762" name="Google Shape;762;p70"/>
            <p:cNvSpPr/>
            <p:nvPr/>
          </p:nvSpPr>
          <p:spPr>
            <a:xfrm>
              <a:off x="6244430" y="1357788"/>
              <a:ext cx="1981051" cy="18103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70"/>
            <p:cNvSpPr txBox="1"/>
            <p:nvPr/>
          </p:nvSpPr>
          <p:spPr>
            <a:xfrm>
              <a:off x="6332806"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Change</a:t>
              </a:r>
              <a:endParaRPr sz="1400" b="0" i="0" u="none" strike="noStrike" cap="none">
                <a:solidFill>
                  <a:srgbClr val="000000"/>
                </a:solidFill>
                <a:latin typeface="Arial"/>
                <a:ea typeface="Arial"/>
                <a:cs typeface="Arial"/>
                <a:sym typeface="Arial"/>
              </a:endParaRPr>
            </a:p>
          </p:txBody>
        </p:sp>
      </p:grpSp>
      <p:sp>
        <p:nvSpPr>
          <p:cNvPr id="764" name="Google Shape;764;p7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65" name="Google Shape;765;p7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66" name="Google Shape;766;p7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Validation</a:t>
            </a:r>
            <a:endParaRPr/>
          </a:p>
        </p:txBody>
      </p:sp>
      <p:sp>
        <p:nvSpPr>
          <p:cNvPr id="772" name="Google Shape;772;p7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GB" sz="2800"/>
              <a:t>Concerned with demonstrating that the requirements define the system </a:t>
            </a:r>
            <a:r>
              <a:rPr lang="en-GB" sz="2800">
                <a:solidFill>
                  <a:srgbClr val="C00000"/>
                </a:solidFill>
              </a:rPr>
              <a:t>as what the customer really wants</a:t>
            </a:r>
            <a:endParaRPr sz="2800"/>
          </a:p>
          <a:p>
            <a:pPr marL="342900" lvl="0" indent="-342900" algn="just" rtl="0">
              <a:lnSpc>
                <a:spcPct val="100000"/>
              </a:lnSpc>
              <a:spcBef>
                <a:spcPts val="560"/>
              </a:spcBef>
              <a:spcAft>
                <a:spcPts val="0"/>
              </a:spcAft>
              <a:buClr>
                <a:schemeClr val="dk1"/>
              </a:buClr>
              <a:buSzPts val="2800"/>
              <a:buChar char="•"/>
            </a:pPr>
            <a:r>
              <a:rPr lang="en-GB" sz="2800"/>
              <a:t>Requirements error costs are high so validation is very important:</a:t>
            </a:r>
            <a:endParaRPr/>
          </a:p>
          <a:p>
            <a:pPr marL="742950" lvl="1" indent="-285750" algn="just" rtl="0">
              <a:lnSpc>
                <a:spcPct val="100000"/>
              </a:lnSpc>
              <a:spcBef>
                <a:spcPts val="560"/>
              </a:spcBef>
              <a:spcAft>
                <a:spcPts val="0"/>
              </a:spcAft>
              <a:buClr>
                <a:schemeClr val="dk1"/>
              </a:buClr>
              <a:buSzPts val="2800"/>
              <a:buChar char="–"/>
            </a:pPr>
            <a:r>
              <a:rPr lang="en-GB"/>
              <a:t>Fixing a requirements error after delivery may cost up to 100 times the cost of fixing an implementation error</a:t>
            </a:r>
            <a:endParaRPr/>
          </a:p>
          <a:p>
            <a:pPr marL="0" lvl="0" indent="0" algn="just" rtl="0">
              <a:lnSpc>
                <a:spcPct val="100000"/>
              </a:lnSpc>
              <a:spcBef>
                <a:spcPts val="560"/>
              </a:spcBef>
              <a:spcAft>
                <a:spcPts val="0"/>
              </a:spcAft>
              <a:buClr>
                <a:schemeClr val="dk1"/>
              </a:buClr>
              <a:buSzPts val="2800"/>
              <a:buNone/>
            </a:pPr>
            <a:endParaRPr sz="2800"/>
          </a:p>
        </p:txBody>
      </p:sp>
      <p:sp>
        <p:nvSpPr>
          <p:cNvPr id="773" name="Google Shape;773;p7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74" name="Google Shape;774;p7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75" name="Google Shape;775;p7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Checking</a:t>
            </a:r>
            <a:endParaRPr/>
          </a:p>
        </p:txBody>
      </p:sp>
      <p:sp>
        <p:nvSpPr>
          <p:cNvPr id="781" name="Google Shape;781;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a:bodyPr>
          <a:lstStyle/>
          <a:p>
            <a:pPr marL="342900" lvl="0" indent="-342900" algn="l" rtl="0">
              <a:lnSpc>
                <a:spcPct val="100000"/>
              </a:lnSpc>
              <a:spcBef>
                <a:spcPts val="0"/>
              </a:spcBef>
              <a:spcAft>
                <a:spcPts val="0"/>
              </a:spcAft>
              <a:buClr>
                <a:srgbClr val="C00000"/>
              </a:buClr>
              <a:buSzPct val="100000"/>
              <a:buChar char="•"/>
            </a:pPr>
            <a:r>
              <a:rPr lang="en-GB">
                <a:solidFill>
                  <a:srgbClr val="C00000"/>
                </a:solidFill>
              </a:rPr>
              <a:t>Validity</a:t>
            </a:r>
            <a:r>
              <a:rPr lang="en-GB"/>
              <a:t>: Does the system provide the functions which best support the customer’s needs?</a:t>
            </a:r>
            <a:endParaRPr/>
          </a:p>
          <a:p>
            <a:pPr marL="342900" lvl="0" indent="-342900" algn="l" rtl="0">
              <a:lnSpc>
                <a:spcPct val="100000"/>
              </a:lnSpc>
              <a:spcBef>
                <a:spcPts val="592"/>
              </a:spcBef>
              <a:spcAft>
                <a:spcPts val="0"/>
              </a:spcAft>
              <a:buClr>
                <a:srgbClr val="C00000"/>
              </a:buClr>
              <a:buSzPct val="100000"/>
              <a:buChar char="•"/>
            </a:pPr>
            <a:r>
              <a:rPr lang="en-GB">
                <a:solidFill>
                  <a:srgbClr val="C00000"/>
                </a:solidFill>
              </a:rPr>
              <a:t>Consistency</a:t>
            </a:r>
            <a:r>
              <a:rPr lang="en-GB"/>
              <a:t>: Are there any requirements conflicts?</a:t>
            </a:r>
            <a:endParaRPr/>
          </a:p>
          <a:p>
            <a:pPr marL="342900" lvl="0" indent="-342900" algn="l" rtl="0">
              <a:lnSpc>
                <a:spcPct val="100000"/>
              </a:lnSpc>
              <a:spcBef>
                <a:spcPts val="592"/>
              </a:spcBef>
              <a:spcAft>
                <a:spcPts val="0"/>
              </a:spcAft>
              <a:buClr>
                <a:srgbClr val="C00000"/>
              </a:buClr>
              <a:buSzPct val="100000"/>
              <a:buChar char="•"/>
            </a:pPr>
            <a:r>
              <a:rPr lang="en-GB">
                <a:solidFill>
                  <a:srgbClr val="C00000"/>
                </a:solidFill>
              </a:rPr>
              <a:t>Completeness</a:t>
            </a:r>
            <a:r>
              <a:rPr lang="en-GB"/>
              <a:t>: Are all functions required by the customer included?</a:t>
            </a:r>
            <a:endParaRPr/>
          </a:p>
          <a:p>
            <a:pPr marL="342900" lvl="0" indent="-342900" algn="l" rtl="0">
              <a:lnSpc>
                <a:spcPct val="100000"/>
              </a:lnSpc>
              <a:spcBef>
                <a:spcPts val="592"/>
              </a:spcBef>
              <a:spcAft>
                <a:spcPts val="0"/>
              </a:spcAft>
              <a:buClr>
                <a:srgbClr val="C00000"/>
              </a:buClr>
              <a:buSzPct val="100000"/>
              <a:buChar char="•"/>
            </a:pPr>
            <a:r>
              <a:rPr lang="en-GB">
                <a:solidFill>
                  <a:srgbClr val="C00000"/>
                </a:solidFill>
              </a:rPr>
              <a:t>Realism</a:t>
            </a:r>
            <a:r>
              <a:rPr lang="en-GB"/>
              <a:t>: Can the requirements be implemented given available budget and technology?</a:t>
            </a:r>
            <a:endParaRPr/>
          </a:p>
          <a:p>
            <a:pPr marL="342900" lvl="0" indent="-342900" algn="l" rtl="0">
              <a:lnSpc>
                <a:spcPct val="100000"/>
              </a:lnSpc>
              <a:spcBef>
                <a:spcPts val="592"/>
              </a:spcBef>
              <a:spcAft>
                <a:spcPts val="0"/>
              </a:spcAft>
              <a:buClr>
                <a:srgbClr val="C00000"/>
              </a:buClr>
              <a:buSzPct val="100000"/>
              <a:buChar char="•"/>
            </a:pPr>
            <a:r>
              <a:rPr lang="en-GB">
                <a:solidFill>
                  <a:srgbClr val="C00000"/>
                </a:solidFill>
              </a:rPr>
              <a:t>Verifiability</a:t>
            </a:r>
            <a:r>
              <a:rPr lang="en-GB"/>
              <a:t>: Can the requirements be checked?</a:t>
            </a:r>
            <a:endParaRPr/>
          </a:p>
        </p:txBody>
      </p:sp>
      <p:sp>
        <p:nvSpPr>
          <p:cNvPr id="782" name="Google Shape;782;p7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83" name="Google Shape;783;p7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84" name="Google Shape;784;p7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Validation Techniques</a:t>
            </a:r>
            <a:endParaRPr/>
          </a:p>
        </p:txBody>
      </p:sp>
      <p:sp>
        <p:nvSpPr>
          <p:cNvPr id="790" name="Google Shape;790;p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GB" sz="2800" b="1"/>
              <a:t>Requirements reviews</a:t>
            </a:r>
            <a:endParaRPr/>
          </a:p>
          <a:p>
            <a:pPr marL="742950" lvl="1" indent="-285750" algn="just" rtl="0">
              <a:lnSpc>
                <a:spcPct val="100000"/>
              </a:lnSpc>
              <a:spcBef>
                <a:spcPts val="560"/>
              </a:spcBef>
              <a:spcAft>
                <a:spcPts val="0"/>
              </a:spcAft>
              <a:buClr>
                <a:schemeClr val="dk1"/>
              </a:buClr>
              <a:buSzPts val="2800"/>
              <a:buChar char="–"/>
            </a:pPr>
            <a:r>
              <a:rPr lang="en-GB"/>
              <a:t>Systematic manual analysis of the requirements</a:t>
            </a:r>
            <a:endParaRPr/>
          </a:p>
          <a:p>
            <a:pPr marL="342900" lvl="0" indent="-342900" algn="just" rtl="0">
              <a:lnSpc>
                <a:spcPct val="100000"/>
              </a:lnSpc>
              <a:spcBef>
                <a:spcPts val="560"/>
              </a:spcBef>
              <a:spcAft>
                <a:spcPts val="0"/>
              </a:spcAft>
              <a:buClr>
                <a:schemeClr val="dk1"/>
              </a:buClr>
              <a:buSzPts val="2800"/>
              <a:buChar char="•"/>
            </a:pPr>
            <a:r>
              <a:rPr lang="en-GB" sz="2800" b="1"/>
              <a:t>Prototyping</a:t>
            </a:r>
            <a:endParaRPr/>
          </a:p>
          <a:p>
            <a:pPr marL="742950" lvl="1" indent="-285750" algn="just" rtl="0">
              <a:lnSpc>
                <a:spcPct val="100000"/>
              </a:lnSpc>
              <a:spcBef>
                <a:spcPts val="560"/>
              </a:spcBef>
              <a:spcAft>
                <a:spcPts val="0"/>
              </a:spcAft>
              <a:buClr>
                <a:schemeClr val="dk1"/>
              </a:buClr>
              <a:buSzPts val="2800"/>
              <a:buChar char="–"/>
            </a:pPr>
            <a:r>
              <a:rPr lang="en-GB"/>
              <a:t>Using an executable model of the system to check requirements</a:t>
            </a:r>
            <a:endParaRPr/>
          </a:p>
          <a:p>
            <a:pPr marL="342900" lvl="0" indent="-342900" algn="just" rtl="0">
              <a:lnSpc>
                <a:spcPct val="100000"/>
              </a:lnSpc>
              <a:spcBef>
                <a:spcPts val="560"/>
              </a:spcBef>
              <a:spcAft>
                <a:spcPts val="0"/>
              </a:spcAft>
              <a:buClr>
                <a:schemeClr val="dk1"/>
              </a:buClr>
              <a:buSzPts val="2800"/>
              <a:buChar char="•"/>
            </a:pPr>
            <a:r>
              <a:rPr lang="en-GB" sz="2800" b="1"/>
              <a:t>Test-case generation</a:t>
            </a:r>
            <a:endParaRPr/>
          </a:p>
          <a:p>
            <a:pPr marL="742950" lvl="1" indent="-285750" algn="just" rtl="0">
              <a:lnSpc>
                <a:spcPct val="100000"/>
              </a:lnSpc>
              <a:spcBef>
                <a:spcPts val="560"/>
              </a:spcBef>
              <a:spcAft>
                <a:spcPts val="0"/>
              </a:spcAft>
              <a:buClr>
                <a:schemeClr val="dk1"/>
              </a:buClr>
              <a:buSzPts val="2800"/>
              <a:buChar char="–"/>
            </a:pPr>
            <a:r>
              <a:rPr lang="en-GB"/>
              <a:t>Developing tests for requirements to check testability</a:t>
            </a:r>
            <a:endParaRPr/>
          </a:p>
          <a:p>
            <a:pPr marL="342900" lvl="0" indent="-342900" algn="just" rtl="0">
              <a:lnSpc>
                <a:spcPct val="100000"/>
              </a:lnSpc>
              <a:spcBef>
                <a:spcPts val="560"/>
              </a:spcBef>
              <a:spcAft>
                <a:spcPts val="0"/>
              </a:spcAft>
              <a:buClr>
                <a:schemeClr val="dk1"/>
              </a:buClr>
              <a:buSzPts val="2800"/>
              <a:buNone/>
            </a:pPr>
            <a:endParaRPr sz="2800"/>
          </a:p>
          <a:p>
            <a:pPr marL="0" lvl="0" indent="0" algn="just" rtl="0">
              <a:lnSpc>
                <a:spcPct val="100000"/>
              </a:lnSpc>
              <a:spcBef>
                <a:spcPts val="560"/>
              </a:spcBef>
              <a:spcAft>
                <a:spcPts val="0"/>
              </a:spcAft>
              <a:buClr>
                <a:schemeClr val="dk1"/>
              </a:buClr>
              <a:buSzPts val="2800"/>
              <a:buNone/>
            </a:pPr>
            <a:endParaRPr sz="2800"/>
          </a:p>
        </p:txBody>
      </p:sp>
      <p:sp>
        <p:nvSpPr>
          <p:cNvPr id="791" name="Google Shape;791;p7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792" name="Google Shape;792;p7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793" name="Google Shape;793;p7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Reviews</a:t>
            </a:r>
            <a:endParaRPr/>
          </a:p>
        </p:txBody>
      </p:sp>
      <p:sp>
        <p:nvSpPr>
          <p:cNvPr id="799" name="Google Shape;799;p7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GB"/>
              <a:t>Regular reviews should be held while the requirements definition is being formulated</a:t>
            </a:r>
            <a:endParaRPr/>
          </a:p>
          <a:p>
            <a:pPr marL="342900" lvl="0" indent="-342900" algn="l" rtl="0">
              <a:lnSpc>
                <a:spcPct val="100000"/>
              </a:lnSpc>
              <a:spcBef>
                <a:spcPts val="640"/>
              </a:spcBef>
              <a:spcAft>
                <a:spcPts val="0"/>
              </a:spcAft>
              <a:buClr>
                <a:schemeClr val="dk1"/>
              </a:buClr>
              <a:buSzPts val="3200"/>
              <a:buChar char="•"/>
            </a:pPr>
            <a:r>
              <a:rPr lang="en-GB"/>
              <a:t>Both client and contractor staff should be involved in reviews</a:t>
            </a:r>
            <a:endParaRPr/>
          </a:p>
          <a:p>
            <a:pPr marL="342900" lvl="0" indent="-342900" algn="l" rtl="0">
              <a:lnSpc>
                <a:spcPct val="100000"/>
              </a:lnSpc>
              <a:spcBef>
                <a:spcPts val="640"/>
              </a:spcBef>
              <a:spcAft>
                <a:spcPts val="0"/>
              </a:spcAft>
              <a:buClr>
                <a:schemeClr val="dk1"/>
              </a:buClr>
              <a:buSzPts val="3200"/>
              <a:buChar char="•"/>
            </a:pPr>
            <a:r>
              <a:rPr lang="en-GB"/>
              <a:t>Reviews may be </a:t>
            </a:r>
            <a:r>
              <a:rPr lang="en-GB">
                <a:solidFill>
                  <a:srgbClr val="C00000"/>
                </a:solidFill>
              </a:rPr>
              <a:t>formal</a:t>
            </a:r>
            <a:r>
              <a:rPr lang="en-GB"/>
              <a:t> (with completed documents) </a:t>
            </a:r>
            <a:r>
              <a:rPr lang="en-GB">
                <a:solidFill>
                  <a:srgbClr val="C00000"/>
                </a:solidFill>
              </a:rPr>
              <a:t>or informal</a:t>
            </a:r>
            <a:endParaRPr/>
          </a:p>
          <a:p>
            <a:pPr marL="342900" lvl="0" indent="-342900" algn="l" rtl="0">
              <a:lnSpc>
                <a:spcPct val="100000"/>
              </a:lnSpc>
              <a:spcBef>
                <a:spcPts val="640"/>
              </a:spcBef>
              <a:spcAft>
                <a:spcPts val="0"/>
              </a:spcAft>
              <a:buClr>
                <a:schemeClr val="dk1"/>
              </a:buClr>
              <a:buSzPts val="3200"/>
              <a:buChar char="•"/>
            </a:pPr>
            <a:r>
              <a:rPr lang="en-GB"/>
              <a:t>Good communications between developers, customers and users can resolve problems at an early stage</a:t>
            </a:r>
            <a:endParaRPr/>
          </a:p>
        </p:txBody>
      </p:sp>
      <p:sp>
        <p:nvSpPr>
          <p:cNvPr id="800" name="Google Shape;800;p7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01" name="Google Shape;801;p7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02" name="Google Shape;802;p7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Review Checks</a:t>
            </a:r>
            <a:endParaRPr/>
          </a:p>
        </p:txBody>
      </p:sp>
      <p:sp>
        <p:nvSpPr>
          <p:cNvPr id="808" name="Google Shape;808;p7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C00000"/>
              </a:buClr>
              <a:buSzPts val="3000"/>
              <a:buChar char="•"/>
            </a:pPr>
            <a:r>
              <a:rPr lang="en-GB" sz="3000">
                <a:solidFill>
                  <a:srgbClr val="C00000"/>
                </a:solidFill>
              </a:rPr>
              <a:t>Verifiability</a:t>
            </a:r>
            <a:r>
              <a:rPr lang="en-GB" sz="3000"/>
              <a:t>: Is the requirement realistically testable?</a:t>
            </a:r>
            <a:endParaRPr/>
          </a:p>
          <a:p>
            <a:pPr marL="342900" lvl="0" indent="-342900" algn="l" rtl="0">
              <a:lnSpc>
                <a:spcPct val="90000"/>
              </a:lnSpc>
              <a:spcBef>
                <a:spcPts val="600"/>
              </a:spcBef>
              <a:spcAft>
                <a:spcPts val="0"/>
              </a:spcAft>
              <a:buClr>
                <a:srgbClr val="C00000"/>
              </a:buClr>
              <a:buSzPts val="3000"/>
              <a:buChar char="•"/>
            </a:pPr>
            <a:r>
              <a:rPr lang="en-GB" sz="3000">
                <a:solidFill>
                  <a:srgbClr val="C00000"/>
                </a:solidFill>
              </a:rPr>
              <a:t>Comprehensibility</a:t>
            </a:r>
            <a:r>
              <a:rPr lang="en-GB" sz="3000"/>
              <a:t>: Is the requirement properly understood?</a:t>
            </a:r>
            <a:endParaRPr/>
          </a:p>
          <a:p>
            <a:pPr marL="342900" lvl="0" indent="-342900" algn="l" rtl="0">
              <a:lnSpc>
                <a:spcPct val="90000"/>
              </a:lnSpc>
              <a:spcBef>
                <a:spcPts val="600"/>
              </a:spcBef>
              <a:spcAft>
                <a:spcPts val="0"/>
              </a:spcAft>
              <a:buClr>
                <a:srgbClr val="C00000"/>
              </a:buClr>
              <a:buSzPts val="3000"/>
              <a:buChar char="•"/>
            </a:pPr>
            <a:r>
              <a:rPr lang="en-GB" sz="3000">
                <a:solidFill>
                  <a:srgbClr val="C00000"/>
                </a:solidFill>
              </a:rPr>
              <a:t>Traceability</a:t>
            </a:r>
            <a:r>
              <a:rPr lang="en-GB" sz="3000"/>
              <a:t>: Is the origin of the requirement clearly stated?</a:t>
            </a:r>
            <a:endParaRPr/>
          </a:p>
          <a:p>
            <a:pPr marL="342900" lvl="0" indent="-342900" algn="l" rtl="0">
              <a:lnSpc>
                <a:spcPct val="90000"/>
              </a:lnSpc>
              <a:spcBef>
                <a:spcPts val="600"/>
              </a:spcBef>
              <a:spcAft>
                <a:spcPts val="0"/>
              </a:spcAft>
              <a:buClr>
                <a:srgbClr val="C00000"/>
              </a:buClr>
              <a:buSzPts val="3000"/>
              <a:buChar char="•"/>
            </a:pPr>
            <a:r>
              <a:rPr lang="en-GB" sz="3000">
                <a:solidFill>
                  <a:srgbClr val="C00000"/>
                </a:solidFill>
              </a:rPr>
              <a:t>Adaptability</a:t>
            </a:r>
            <a:r>
              <a:rPr lang="en-GB" sz="3000"/>
              <a:t>: Can the requirement be changed without a large impact on other requirements?</a:t>
            </a:r>
            <a:endParaRPr/>
          </a:p>
        </p:txBody>
      </p:sp>
      <p:sp>
        <p:nvSpPr>
          <p:cNvPr id="809" name="Google Shape;809;p7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10" name="Google Shape;810;p7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11" name="Google Shape;811;p7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GB"/>
              <a:t>Requirements Engineering Processes</a:t>
            </a:r>
            <a:endParaRPr/>
          </a:p>
        </p:txBody>
      </p:sp>
      <p:grpSp>
        <p:nvGrpSpPr>
          <p:cNvPr id="817" name="Google Shape;817;p76"/>
          <p:cNvGrpSpPr/>
          <p:nvPr/>
        </p:nvGrpSpPr>
        <p:grpSpPr>
          <a:xfrm>
            <a:off x="461318" y="1600200"/>
            <a:ext cx="8221363" cy="4525963"/>
            <a:chOff x="4118" y="0"/>
            <a:chExt cx="8221363" cy="4525963"/>
          </a:xfrm>
        </p:grpSpPr>
        <p:sp>
          <p:nvSpPr>
            <p:cNvPr id="818" name="Google Shape;818;p76"/>
            <p:cNvSpPr/>
            <p:nvPr/>
          </p:nvSpPr>
          <p:spPr>
            <a:xfrm>
              <a:off x="617219" y="0"/>
              <a:ext cx="6995160" cy="4525963"/>
            </a:xfrm>
            <a:prstGeom prst="rightArrow">
              <a:avLst>
                <a:gd name="adj1" fmla="val 50000"/>
                <a:gd name="adj2" fmla="val 50000"/>
              </a:avLst>
            </a:prstGeom>
            <a:solidFill>
              <a:srgbClr val="CFD7E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76"/>
            <p:cNvSpPr/>
            <p:nvPr/>
          </p:nvSpPr>
          <p:spPr>
            <a:xfrm>
              <a:off x="4118"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76"/>
            <p:cNvSpPr txBox="1"/>
            <p:nvPr/>
          </p:nvSpPr>
          <p:spPr>
            <a:xfrm>
              <a:off x="92494"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Elicitation and Analysis</a:t>
              </a:r>
              <a:endParaRPr sz="1400" b="0" i="0" u="none" strike="noStrike" cap="none">
                <a:solidFill>
                  <a:srgbClr val="000000"/>
                </a:solidFill>
                <a:latin typeface="Arial"/>
                <a:ea typeface="Arial"/>
                <a:cs typeface="Arial"/>
                <a:sym typeface="Arial"/>
              </a:endParaRPr>
            </a:p>
          </p:txBody>
        </p:sp>
        <p:sp>
          <p:nvSpPr>
            <p:cNvPr id="821" name="Google Shape;821;p76"/>
            <p:cNvSpPr/>
            <p:nvPr/>
          </p:nvSpPr>
          <p:spPr>
            <a:xfrm>
              <a:off x="2084222"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76"/>
            <p:cNvSpPr txBox="1"/>
            <p:nvPr/>
          </p:nvSpPr>
          <p:spPr>
            <a:xfrm>
              <a:off x="2172598"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Specification</a:t>
              </a:r>
              <a:endParaRPr sz="1400" b="0" i="0" u="none" strike="noStrike" cap="none">
                <a:solidFill>
                  <a:srgbClr val="000000"/>
                </a:solidFill>
                <a:latin typeface="Arial"/>
                <a:ea typeface="Arial"/>
                <a:cs typeface="Arial"/>
                <a:sym typeface="Arial"/>
              </a:endParaRPr>
            </a:p>
          </p:txBody>
        </p:sp>
        <p:sp>
          <p:nvSpPr>
            <p:cNvPr id="823" name="Google Shape;823;p76"/>
            <p:cNvSpPr/>
            <p:nvPr/>
          </p:nvSpPr>
          <p:spPr>
            <a:xfrm>
              <a:off x="4164326"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76"/>
            <p:cNvSpPr txBox="1"/>
            <p:nvPr/>
          </p:nvSpPr>
          <p:spPr>
            <a:xfrm>
              <a:off x="4252702"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Validation</a:t>
              </a:r>
              <a:endParaRPr sz="1400" b="0" i="0" u="none" strike="noStrike" cap="none">
                <a:solidFill>
                  <a:srgbClr val="000000"/>
                </a:solidFill>
                <a:latin typeface="Arial"/>
                <a:ea typeface="Arial"/>
                <a:cs typeface="Arial"/>
                <a:sym typeface="Arial"/>
              </a:endParaRPr>
            </a:p>
          </p:txBody>
        </p:sp>
        <p:sp>
          <p:nvSpPr>
            <p:cNvPr id="825" name="Google Shape;825;p76"/>
            <p:cNvSpPr/>
            <p:nvPr/>
          </p:nvSpPr>
          <p:spPr>
            <a:xfrm>
              <a:off x="6244430" y="1357788"/>
              <a:ext cx="1981051" cy="1810385"/>
            </a:xfrm>
            <a:prstGeom prst="roundRect">
              <a:avLst>
                <a:gd name="adj" fmla="val 16667"/>
              </a:avLst>
            </a:prstGeom>
            <a:solidFill>
              <a:srgbClr val="FF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76"/>
            <p:cNvSpPr txBox="1"/>
            <p:nvPr/>
          </p:nvSpPr>
          <p:spPr>
            <a:xfrm>
              <a:off x="6332806" y="1446164"/>
              <a:ext cx="1804299" cy="1633633"/>
            </a:xfrm>
            <a:prstGeom prst="rect">
              <a:avLst/>
            </a:prstGeom>
            <a:noFill/>
            <a:ln>
              <a:noFill/>
            </a:ln>
          </p:spPr>
          <p:txBody>
            <a:bodyPr spcFirstLastPara="1" wrap="square" lIns="83800" tIns="83800" rIns="83800" bIns="83800" anchor="ctr" anchorCtr="0">
              <a:noAutofit/>
            </a:bodyPr>
            <a:lstStyle/>
            <a:p>
              <a:pPr marL="0" marR="0" lvl="0" indent="0" algn="ctr" rtl="0">
                <a:lnSpc>
                  <a:spcPct val="90000"/>
                </a:lnSpc>
                <a:spcBef>
                  <a:spcPts val="0"/>
                </a:spcBef>
                <a:spcAft>
                  <a:spcPts val="0"/>
                </a:spcAft>
                <a:buClr>
                  <a:schemeClr val="lt1"/>
                </a:buClr>
                <a:buSzPts val="2200"/>
                <a:buFont typeface="Calibri"/>
                <a:buNone/>
              </a:pPr>
              <a:r>
                <a:rPr lang="en-GB" sz="2200" b="0" i="0" u="none" strike="noStrike" cap="none">
                  <a:solidFill>
                    <a:schemeClr val="lt1"/>
                  </a:solidFill>
                  <a:latin typeface="Calibri"/>
                  <a:ea typeface="Calibri"/>
                  <a:cs typeface="Calibri"/>
                  <a:sym typeface="Calibri"/>
                </a:rPr>
                <a:t>Requirements Change</a:t>
              </a:r>
              <a:endParaRPr sz="1400" b="0" i="0" u="none" strike="noStrike" cap="none">
                <a:solidFill>
                  <a:srgbClr val="000000"/>
                </a:solidFill>
                <a:latin typeface="Arial"/>
                <a:ea typeface="Arial"/>
                <a:cs typeface="Arial"/>
                <a:sym typeface="Arial"/>
              </a:endParaRPr>
            </a:p>
          </p:txBody>
        </p:sp>
      </p:grpSp>
      <p:sp>
        <p:nvSpPr>
          <p:cNvPr id="827" name="Google Shape;827;p7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28" name="Google Shape;828;p7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29" name="Google Shape;829;p7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Changing Requirements</a:t>
            </a:r>
            <a:endParaRPr/>
          </a:p>
        </p:txBody>
      </p:sp>
      <p:sp>
        <p:nvSpPr>
          <p:cNvPr id="835" name="Google Shape;835;p77"/>
          <p:cNvSpPr txBox="1">
            <a:spLocks noGrp="1"/>
          </p:cNvSpPr>
          <p:nvPr>
            <p:ph type="body" idx="1"/>
          </p:nvPr>
        </p:nvSpPr>
        <p:spPr>
          <a:xfrm>
            <a:off x="457200" y="1417638"/>
            <a:ext cx="8229600" cy="4708525"/>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200"/>
              <a:buChar char="•"/>
            </a:pPr>
            <a:r>
              <a:rPr lang="en-GB" sz="2200"/>
              <a:t>The </a:t>
            </a:r>
            <a:r>
              <a:rPr lang="en-GB" sz="2200" b="1">
                <a:solidFill>
                  <a:srgbClr val="C00000"/>
                </a:solidFill>
              </a:rPr>
              <a:t>business and technical environment </a:t>
            </a:r>
            <a:r>
              <a:rPr lang="en-GB" sz="2200"/>
              <a:t>of the system always changes after installation: </a:t>
            </a:r>
            <a:endParaRPr/>
          </a:p>
          <a:p>
            <a:pPr marL="742950" lvl="1" indent="-285750" algn="just" rtl="0">
              <a:lnSpc>
                <a:spcPct val="100000"/>
              </a:lnSpc>
              <a:spcBef>
                <a:spcPts val="440"/>
              </a:spcBef>
              <a:spcAft>
                <a:spcPts val="0"/>
              </a:spcAft>
              <a:buClr>
                <a:schemeClr val="dk1"/>
              </a:buClr>
              <a:buSzPts val="2200"/>
              <a:buChar char="–"/>
            </a:pPr>
            <a:r>
              <a:rPr lang="en-GB" sz="2200"/>
              <a:t>New hardware may be introduced, it may be necessary to interface the system with other systems, business priorities may change (with consequent changes in the system support required), and new legislation and regulations may be introduced that the system must necessarily abide by</a:t>
            </a:r>
            <a:endParaRPr sz="2200"/>
          </a:p>
          <a:p>
            <a:pPr marL="342900" lvl="0" indent="-342900" algn="just" rtl="0">
              <a:lnSpc>
                <a:spcPct val="100000"/>
              </a:lnSpc>
              <a:spcBef>
                <a:spcPts val="440"/>
              </a:spcBef>
              <a:spcAft>
                <a:spcPts val="0"/>
              </a:spcAft>
              <a:buClr>
                <a:schemeClr val="dk1"/>
              </a:buClr>
              <a:buSzPts val="2200"/>
              <a:buChar char="•"/>
            </a:pPr>
            <a:r>
              <a:rPr lang="en-GB" sz="2200"/>
              <a:t>The people who pay for a system and the users of that system are </a:t>
            </a:r>
            <a:r>
              <a:rPr lang="en-GB" sz="2200" b="1">
                <a:solidFill>
                  <a:srgbClr val="C00000"/>
                </a:solidFill>
              </a:rPr>
              <a:t>rarely the same people</a:t>
            </a:r>
            <a:r>
              <a:rPr lang="en-GB" sz="2200"/>
              <a:t>: </a:t>
            </a:r>
            <a:endParaRPr/>
          </a:p>
          <a:p>
            <a:pPr marL="742950" lvl="1" indent="-285750" algn="just" rtl="0">
              <a:lnSpc>
                <a:spcPct val="100000"/>
              </a:lnSpc>
              <a:spcBef>
                <a:spcPts val="440"/>
              </a:spcBef>
              <a:spcAft>
                <a:spcPts val="0"/>
              </a:spcAft>
              <a:buClr>
                <a:schemeClr val="dk1"/>
              </a:buClr>
              <a:buSzPts val="2200"/>
              <a:buChar char="–"/>
            </a:pPr>
            <a:r>
              <a:rPr lang="en-GB" sz="2200"/>
              <a:t>System customers impose requirements because of organizational and budgetary constraints</a:t>
            </a:r>
            <a:endParaRPr/>
          </a:p>
          <a:p>
            <a:pPr marL="742950" lvl="1" indent="-285750" algn="just" rtl="0">
              <a:lnSpc>
                <a:spcPct val="100000"/>
              </a:lnSpc>
              <a:spcBef>
                <a:spcPts val="440"/>
              </a:spcBef>
              <a:spcAft>
                <a:spcPts val="0"/>
              </a:spcAft>
              <a:buClr>
                <a:schemeClr val="dk1"/>
              </a:buClr>
              <a:buSzPts val="2200"/>
              <a:buChar char="–"/>
            </a:pPr>
            <a:r>
              <a:rPr lang="en-GB" sz="2200"/>
              <a:t>These may conflict with end-user requirements and, after delivery, new features may have to be added for user support if the system is to meet its goals</a:t>
            </a:r>
            <a:endParaRPr sz="2200"/>
          </a:p>
          <a:p>
            <a:pPr marL="342900" lvl="0" indent="-203200" algn="just" rtl="0">
              <a:lnSpc>
                <a:spcPct val="100000"/>
              </a:lnSpc>
              <a:spcBef>
                <a:spcPts val="440"/>
              </a:spcBef>
              <a:spcAft>
                <a:spcPts val="0"/>
              </a:spcAft>
              <a:buClr>
                <a:schemeClr val="dk1"/>
              </a:buClr>
              <a:buSzPts val="2200"/>
              <a:buNone/>
            </a:pPr>
            <a:endParaRPr sz="2200"/>
          </a:p>
          <a:p>
            <a:pPr marL="342900" lvl="0" indent="-203200" algn="just" rtl="0">
              <a:lnSpc>
                <a:spcPct val="100000"/>
              </a:lnSpc>
              <a:spcBef>
                <a:spcPts val="440"/>
              </a:spcBef>
              <a:spcAft>
                <a:spcPts val="0"/>
              </a:spcAft>
              <a:buClr>
                <a:schemeClr val="dk1"/>
              </a:buClr>
              <a:buSzPts val="2200"/>
              <a:buNone/>
            </a:pPr>
            <a:endParaRPr sz="2200"/>
          </a:p>
          <a:p>
            <a:pPr marL="0" lvl="0" indent="0" algn="just" rtl="0">
              <a:lnSpc>
                <a:spcPct val="100000"/>
              </a:lnSpc>
              <a:spcBef>
                <a:spcPts val="440"/>
              </a:spcBef>
              <a:spcAft>
                <a:spcPts val="0"/>
              </a:spcAft>
              <a:buClr>
                <a:schemeClr val="dk1"/>
              </a:buClr>
              <a:buSzPts val="2200"/>
              <a:buNone/>
            </a:pPr>
            <a:endParaRPr sz="2200"/>
          </a:p>
        </p:txBody>
      </p:sp>
      <p:sp>
        <p:nvSpPr>
          <p:cNvPr id="836" name="Google Shape;836;p7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37" name="Google Shape;837;p7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38" name="Google Shape;838;p7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Changing Requirements</a:t>
            </a:r>
            <a:endParaRPr/>
          </a:p>
        </p:txBody>
      </p:sp>
      <p:sp>
        <p:nvSpPr>
          <p:cNvPr id="844" name="Google Shape;844;p78"/>
          <p:cNvSpPr txBox="1">
            <a:spLocks noGrp="1"/>
          </p:cNvSpPr>
          <p:nvPr>
            <p:ph type="body" idx="1"/>
          </p:nvPr>
        </p:nvSpPr>
        <p:spPr>
          <a:xfrm>
            <a:off x="457200" y="1600200"/>
            <a:ext cx="8229600" cy="3155315"/>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rgbClr val="C00000"/>
              </a:buClr>
              <a:buSzPts val="2400"/>
              <a:buFont typeface="Arial"/>
              <a:buChar char="•"/>
            </a:pPr>
            <a:r>
              <a:rPr lang="en-GB" sz="2400" b="1">
                <a:solidFill>
                  <a:srgbClr val="C00000"/>
                </a:solidFill>
              </a:rPr>
              <a:t>Large systems </a:t>
            </a:r>
            <a:r>
              <a:rPr lang="en-GB" sz="2400"/>
              <a:t>usually have </a:t>
            </a:r>
            <a:r>
              <a:rPr lang="en-GB" sz="2400" b="1">
                <a:solidFill>
                  <a:srgbClr val="C00000"/>
                </a:solidFill>
              </a:rPr>
              <a:t>a diverse user community</a:t>
            </a:r>
            <a:r>
              <a:rPr lang="en-GB" sz="2400"/>
              <a:t>, with many users having different requirements and priorities that may be conflicting or contradictory</a:t>
            </a:r>
            <a:endParaRPr/>
          </a:p>
          <a:p>
            <a:pPr marL="342900" lvl="0" indent="-342900" algn="just" rtl="0">
              <a:lnSpc>
                <a:spcPct val="100000"/>
              </a:lnSpc>
              <a:spcBef>
                <a:spcPts val="480"/>
              </a:spcBef>
              <a:spcAft>
                <a:spcPts val="0"/>
              </a:spcAft>
              <a:buClr>
                <a:schemeClr val="dk1"/>
              </a:buClr>
              <a:buSzPts val="2400"/>
              <a:buChar char="•"/>
            </a:pPr>
            <a:r>
              <a:rPr lang="en-GB" sz="2400"/>
              <a:t>The final system requirements are inevitably a compromise between them and, with experience, it is often discovered that the balance of support given to different users has to be changed</a:t>
            </a:r>
            <a:endParaRPr/>
          </a:p>
          <a:p>
            <a:pPr marL="0" lvl="0" indent="0" algn="just" rtl="0">
              <a:lnSpc>
                <a:spcPct val="100000"/>
              </a:lnSpc>
              <a:spcBef>
                <a:spcPts val="480"/>
              </a:spcBef>
              <a:spcAft>
                <a:spcPts val="0"/>
              </a:spcAft>
              <a:buClr>
                <a:schemeClr val="dk1"/>
              </a:buClr>
              <a:buSzPts val="2400"/>
              <a:buNone/>
            </a:pPr>
            <a:endParaRPr sz="2400"/>
          </a:p>
        </p:txBody>
      </p:sp>
      <p:sp>
        <p:nvSpPr>
          <p:cNvPr id="845" name="Google Shape;845;p7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46" name="Google Shape;846;p7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47" name="Google Shape;847;p7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81</a:t>
            </a:fld>
            <a:endParaRPr/>
          </a:p>
        </p:txBody>
      </p:sp>
      <p:sp>
        <p:nvSpPr>
          <p:cNvPr id="848" name="Google Shape;848;p78"/>
          <p:cNvSpPr txBox="1"/>
          <p:nvPr/>
        </p:nvSpPr>
        <p:spPr>
          <a:xfrm>
            <a:off x="3352800" y="6001656"/>
            <a:ext cx="243566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Calibri"/>
                <a:ea typeface="Calibri"/>
                <a:cs typeface="Calibri"/>
                <a:sym typeface="Calibri"/>
              </a:rPr>
              <a:t>Requirements evolution</a:t>
            </a:r>
            <a:endParaRPr sz="1400" b="0" i="0" u="none" strike="noStrike" cap="none">
              <a:solidFill>
                <a:srgbClr val="000000"/>
              </a:solidFill>
              <a:latin typeface="Arial"/>
              <a:ea typeface="Arial"/>
              <a:cs typeface="Arial"/>
              <a:sym typeface="Arial"/>
            </a:endParaRPr>
          </a:p>
        </p:txBody>
      </p:sp>
      <p:pic>
        <p:nvPicPr>
          <p:cNvPr id="849" name="Google Shape;849;p78" descr="4.17 ReqEvolution.eps"/>
          <p:cNvPicPr preferRelativeResize="0"/>
          <p:nvPr/>
        </p:nvPicPr>
        <p:blipFill rotWithShape="1">
          <a:blip r:embed="rId3">
            <a:alphaModFix/>
          </a:blip>
          <a:srcRect/>
          <a:stretch/>
        </p:blipFill>
        <p:spPr>
          <a:xfrm>
            <a:off x="2895600" y="4077755"/>
            <a:ext cx="4095750" cy="20574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Requirements Management</a:t>
            </a:r>
            <a:endParaRPr/>
          </a:p>
        </p:txBody>
      </p:sp>
      <p:sp>
        <p:nvSpPr>
          <p:cNvPr id="855" name="Google Shape;855;p79"/>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600"/>
              <a:buChar char="•"/>
            </a:pPr>
            <a:r>
              <a:rPr lang="en-GB" sz="2600"/>
              <a:t>Requirements management is the process of </a:t>
            </a:r>
            <a:r>
              <a:rPr lang="en-GB" sz="2600" b="1">
                <a:solidFill>
                  <a:srgbClr val="C00000"/>
                </a:solidFill>
              </a:rPr>
              <a:t>managing changing requirements </a:t>
            </a:r>
            <a:r>
              <a:rPr lang="en-GB" sz="2600"/>
              <a:t>during the requirements engineering process and system development</a:t>
            </a:r>
            <a:endParaRPr/>
          </a:p>
          <a:p>
            <a:pPr marL="342900" lvl="0" indent="-342900" algn="just" rtl="0">
              <a:lnSpc>
                <a:spcPct val="100000"/>
              </a:lnSpc>
              <a:spcBef>
                <a:spcPts val="600"/>
              </a:spcBef>
              <a:spcAft>
                <a:spcPts val="0"/>
              </a:spcAft>
              <a:buClr>
                <a:schemeClr val="dk1"/>
              </a:buClr>
              <a:buSzPts val="2600"/>
              <a:buChar char="•"/>
            </a:pPr>
            <a:r>
              <a:rPr lang="en-GB" sz="2600"/>
              <a:t>New requirements emerge as a system is being developed and after it has gone into use</a:t>
            </a:r>
            <a:endParaRPr/>
          </a:p>
          <a:p>
            <a:pPr marL="342900" lvl="0" indent="-342900" algn="just" rtl="0">
              <a:lnSpc>
                <a:spcPct val="100000"/>
              </a:lnSpc>
              <a:spcBef>
                <a:spcPts val="600"/>
              </a:spcBef>
              <a:spcAft>
                <a:spcPts val="0"/>
              </a:spcAft>
              <a:buClr>
                <a:schemeClr val="dk1"/>
              </a:buClr>
              <a:buSzPts val="2600"/>
              <a:buChar char="•"/>
            </a:pPr>
            <a:r>
              <a:rPr lang="en-GB" sz="2600"/>
              <a:t>Need to keep track of individual requirements and maintain links between dependent requirements so that you can assess the </a:t>
            </a:r>
            <a:r>
              <a:rPr lang="en-GB" sz="2600" b="1">
                <a:solidFill>
                  <a:srgbClr val="C00000"/>
                </a:solidFill>
              </a:rPr>
              <a:t>impact of requirements changes</a:t>
            </a:r>
            <a:endParaRPr sz="2600"/>
          </a:p>
          <a:p>
            <a:pPr marL="342900" lvl="0" indent="-342900" algn="just" rtl="0">
              <a:lnSpc>
                <a:spcPct val="100000"/>
              </a:lnSpc>
              <a:spcBef>
                <a:spcPts val="600"/>
              </a:spcBef>
              <a:spcAft>
                <a:spcPts val="0"/>
              </a:spcAft>
              <a:buClr>
                <a:schemeClr val="dk1"/>
              </a:buClr>
              <a:buSzPts val="2600"/>
              <a:buChar char="•"/>
            </a:pPr>
            <a:r>
              <a:rPr lang="en-GB" sz="2600"/>
              <a:t>Need to establish a </a:t>
            </a:r>
            <a:r>
              <a:rPr lang="en-GB" sz="2600" b="1">
                <a:solidFill>
                  <a:srgbClr val="C00000"/>
                </a:solidFill>
              </a:rPr>
              <a:t>formal process for making change proposals </a:t>
            </a:r>
            <a:r>
              <a:rPr lang="en-GB" sz="2600"/>
              <a:t>and linking these to system requirements</a:t>
            </a:r>
            <a:endParaRPr sz="2600"/>
          </a:p>
          <a:p>
            <a:pPr marL="0" lvl="0" indent="0" algn="just" rtl="0">
              <a:lnSpc>
                <a:spcPct val="100000"/>
              </a:lnSpc>
              <a:spcBef>
                <a:spcPts val="600"/>
              </a:spcBef>
              <a:spcAft>
                <a:spcPts val="0"/>
              </a:spcAft>
              <a:buClr>
                <a:schemeClr val="dk1"/>
              </a:buClr>
              <a:buSzPts val="2600"/>
              <a:buNone/>
            </a:pPr>
            <a:endParaRPr sz="2600"/>
          </a:p>
        </p:txBody>
      </p:sp>
      <p:sp>
        <p:nvSpPr>
          <p:cNvPr id="856" name="Google Shape;856;p7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57" name="Google Shape;857;p7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58" name="Google Shape;858;p7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Key Points…</a:t>
            </a:r>
            <a:endParaRPr/>
          </a:p>
        </p:txBody>
      </p:sp>
      <p:sp>
        <p:nvSpPr>
          <p:cNvPr id="864" name="Google Shape;864;p8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ts val="2600"/>
              <a:buChar char="•"/>
            </a:pPr>
            <a:r>
              <a:rPr lang="en-GB" sz="2600"/>
              <a:t>Requirements for a software system set out what the system should do and define constraints on its operation and implementation.</a:t>
            </a:r>
            <a:endParaRPr sz="2600"/>
          </a:p>
          <a:p>
            <a:pPr marL="342900" lvl="0" indent="-342900" algn="just" rtl="0">
              <a:lnSpc>
                <a:spcPct val="100000"/>
              </a:lnSpc>
              <a:spcBef>
                <a:spcPts val="520"/>
              </a:spcBef>
              <a:spcAft>
                <a:spcPts val="0"/>
              </a:spcAft>
              <a:buClr>
                <a:schemeClr val="dk1"/>
              </a:buClr>
              <a:buSzPts val="2600"/>
              <a:buChar char="•"/>
            </a:pPr>
            <a:r>
              <a:rPr lang="en-GB" sz="2600"/>
              <a:t>Functional requirements are statements of the services that the system must provide or are descriptions of how some computations must be carried out. </a:t>
            </a:r>
            <a:endParaRPr sz="2600"/>
          </a:p>
          <a:p>
            <a:pPr marL="342900" lvl="0" indent="-342900" algn="just" rtl="0">
              <a:lnSpc>
                <a:spcPct val="100000"/>
              </a:lnSpc>
              <a:spcBef>
                <a:spcPts val="520"/>
              </a:spcBef>
              <a:spcAft>
                <a:spcPts val="0"/>
              </a:spcAft>
              <a:buClr>
                <a:schemeClr val="dk1"/>
              </a:buClr>
              <a:buSzPts val="2600"/>
              <a:buChar char="•"/>
            </a:pPr>
            <a:r>
              <a:rPr lang="en-GB" sz="2600"/>
              <a:t>Non-functional requirements often constrain the system being developed and the development process being used. </a:t>
            </a:r>
            <a:endParaRPr/>
          </a:p>
          <a:p>
            <a:pPr marL="342900" lvl="0" indent="-342900" algn="just" rtl="0">
              <a:lnSpc>
                <a:spcPct val="100000"/>
              </a:lnSpc>
              <a:spcBef>
                <a:spcPts val="520"/>
              </a:spcBef>
              <a:spcAft>
                <a:spcPts val="0"/>
              </a:spcAft>
              <a:buClr>
                <a:schemeClr val="dk1"/>
              </a:buClr>
              <a:buSzPts val="2600"/>
              <a:buChar char="•"/>
            </a:pPr>
            <a:r>
              <a:rPr lang="en-GB" sz="2600"/>
              <a:t>They often relate to the emergent properties of the system and therefore apply to the system as a whole.</a:t>
            </a:r>
            <a:endParaRPr sz="2600"/>
          </a:p>
          <a:p>
            <a:pPr marL="342900" lvl="0" indent="-184150" algn="just" rtl="0">
              <a:lnSpc>
                <a:spcPct val="100000"/>
              </a:lnSpc>
              <a:spcBef>
                <a:spcPts val="500"/>
              </a:spcBef>
              <a:spcAft>
                <a:spcPts val="0"/>
              </a:spcAft>
              <a:buClr>
                <a:schemeClr val="dk1"/>
              </a:buClr>
              <a:buSzPts val="2500"/>
              <a:buNone/>
            </a:pPr>
            <a:endParaRPr sz="2500"/>
          </a:p>
          <a:p>
            <a:pPr marL="0" lvl="0" indent="0" algn="just" rtl="0">
              <a:lnSpc>
                <a:spcPct val="100000"/>
              </a:lnSpc>
              <a:spcBef>
                <a:spcPts val="500"/>
              </a:spcBef>
              <a:spcAft>
                <a:spcPts val="0"/>
              </a:spcAft>
              <a:buClr>
                <a:schemeClr val="dk1"/>
              </a:buClr>
              <a:buSzPts val="2500"/>
              <a:buNone/>
            </a:pPr>
            <a:endParaRPr sz="2500"/>
          </a:p>
        </p:txBody>
      </p:sp>
      <p:sp>
        <p:nvSpPr>
          <p:cNvPr id="865" name="Google Shape;865;p8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66" name="Google Shape;866;p8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67" name="Google Shape;867;p8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Key Points…</a:t>
            </a:r>
            <a:endParaRPr/>
          </a:p>
        </p:txBody>
      </p:sp>
      <p:sp>
        <p:nvSpPr>
          <p:cNvPr id="873" name="Google Shape;873;p8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GB" sz="2800"/>
              <a:t>The requirements engineering process is an iterative process including requirements elicitation, specification and validation.</a:t>
            </a:r>
            <a:endParaRPr/>
          </a:p>
          <a:p>
            <a:pPr marL="342900" lvl="0" indent="-342900" algn="just" rtl="0">
              <a:lnSpc>
                <a:spcPct val="100000"/>
              </a:lnSpc>
              <a:spcBef>
                <a:spcPts val="560"/>
              </a:spcBef>
              <a:spcAft>
                <a:spcPts val="0"/>
              </a:spcAft>
              <a:buClr>
                <a:schemeClr val="dk1"/>
              </a:buClr>
              <a:buSzPts val="2800"/>
              <a:buChar char="•"/>
            </a:pPr>
            <a:r>
              <a:rPr lang="en-GB" sz="2800"/>
              <a:t>Requirements elicitation and analysis is an iterative process that can be represented as a spiral of activities – requirements discovery, requirements classification and organization, requirements negotiation and requirements documentation. </a:t>
            </a:r>
            <a:endParaRPr sz="2800"/>
          </a:p>
        </p:txBody>
      </p:sp>
      <p:sp>
        <p:nvSpPr>
          <p:cNvPr id="874" name="Google Shape;874;p8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75" name="Google Shape;875;p8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76" name="Google Shape;876;p8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GB"/>
              <a:t>Key Points</a:t>
            </a:r>
            <a:endParaRPr/>
          </a:p>
        </p:txBody>
      </p:sp>
      <p:sp>
        <p:nvSpPr>
          <p:cNvPr id="883" name="Google Shape;883;p8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800"/>
              <a:buChar char="•"/>
            </a:pPr>
            <a:r>
              <a:rPr lang="en-GB" sz="2800"/>
              <a:t>Can use a range of techniques for requirements elicitation including interviews, scenarios, use-cases and ethnography.</a:t>
            </a:r>
            <a:endParaRPr/>
          </a:p>
          <a:p>
            <a:pPr marL="342900" lvl="0" indent="-342900" algn="just" rtl="0">
              <a:lnSpc>
                <a:spcPct val="100000"/>
              </a:lnSpc>
              <a:spcBef>
                <a:spcPts val="560"/>
              </a:spcBef>
              <a:spcAft>
                <a:spcPts val="0"/>
              </a:spcAft>
              <a:buClr>
                <a:schemeClr val="dk1"/>
              </a:buClr>
              <a:buSzPts val="2800"/>
              <a:buChar char="•"/>
            </a:pPr>
            <a:r>
              <a:rPr lang="en-GB" sz="2800"/>
              <a:t>Requirements validation is the process of checking the requirements for validity, consistency, completeness, realism and verifiability. </a:t>
            </a:r>
            <a:endParaRPr sz="2800"/>
          </a:p>
          <a:p>
            <a:pPr marL="342900" lvl="0" indent="-342900" algn="just" rtl="0">
              <a:lnSpc>
                <a:spcPct val="100000"/>
              </a:lnSpc>
              <a:spcBef>
                <a:spcPts val="560"/>
              </a:spcBef>
              <a:spcAft>
                <a:spcPts val="0"/>
              </a:spcAft>
              <a:buClr>
                <a:schemeClr val="dk1"/>
              </a:buClr>
              <a:buSzPts val="2800"/>
              <a:buChar char="•"/>
            </a:pPr>
            <a:r>
              <a:rPr lang="en-GB" sz="2800"/>
              <a:t>Business, organizational and technical changes inevitably lead to changes to the requirements for a software system. Requirements management is the process of managing and controlling these changes.</a:t>
            </a:r>
            <a:endParaRPr sz="2800"/>
          </a:p>
          <a:p>
            <a:pPr marL="0" lvl="0" indent="0" algn="just" rtl="0">
              <a:lnSpc>
                <a:spcPct val="100000"/>
              </a:lnSpc>
              <a:spcBef>
                <a:spcPts val="640"/>
              </a:spcBef>
              <a:spcAft>
                <a:spcPts val="0"/>
              </a:spcAft>
              <a:buClr>
                <a:schemeClr val="dk1"/>
              </a:buClr>
              <a:buSzPts val="3200"/>
              <a:buNone/>
            </a:pPr>
            <a:endParaRPr/>
          </a:p>
        </p:txBody>
      </p:sp>
      <p:sp>
        <p:nvSpPr>
          <p:cNvPr id="884" name="Google Shape;884;p8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GB"/>
              <a:t>2021</a:t>
            </a:r>
            <a:endParaRPr/>
          </a:p>
        </p:txBody>
      </p:sp>
      <p:sp>
        <p:nvSpPr>
          <p:cNvPr id="885" name="Google Shape;885;p8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a:t>Software Engineering</a:t>
            </a:r>
            <a:endParaRPr/>
          </a:p>
        </p:txBody>
      </p:sp>
      <p:sp>
        <p:nvSpPr>
          <p:cNvPr id="886" name="Google Shape;886;p8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GB"/>
              <a:t>85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4871</Words>
  <Application>Microsoft Office PowerPoint</Application>
  <PresentationFormat>On-screen Show (4:3)</PresentationFormat>
  <Paragraphs>717</Paragraphs>
  <Slides>85</Slides>
  <Notes>85</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85</vt:i4>
      </vt:variant>
    </vt:vector>
  </HeadingPairs>
  <TitlesOfParts>
    <vt:vector size="91" baseType="lpstr">
      <vt:lpstr>Libre Baskerville</vt:lpstr>
      <vt:lpstr>Arial</vt:lpstr>
      <vt:lpstr>Calibri</vt:lpstr>
      <vt:lpstr>Office Theme</vt:lpstr>
      <vt:lpstr>Custom Design</vt:lpstr>
      <vt:lpstr>Microsoft Word Document</vt:lpstr>
      <vt:lpstr>Module 4: Requirements Engineering</vt:lpstr>
      <vt:lpstr>Outline</vt:lpstr>
      <vt:lpstr>Objectives </vt:lpstr>
      <vt:lpstr>Recap: Requirements Engineering Process in Software Process Model</vt:lpstr>
      <vt:lpstr>Requirements in Different Perspectives</vt:lpstr>
      <vt:lpstr>Requirements Engineering</vt:lpstr>
      <vt:lpstr>What is a Requirement?</vt:lpstr>
      <vt:lpstr>TYPE OF REQUIREMENTS</vt:lpstr>
      <vt:lpstr>Types of Requirement</vt:lpstr>
      <vt:lpstr>User and System Requirements </vt:lpstr>
      <vt:lpstr>Readers of Different Types of Requirements Specification </vt:lpstr>
      <vt:lpstr>FUNCTIONAL AND NON-FUNCTIONAL REQUIREMENTS</vt:lpstr>
      <vt:lpstr>Functional and Non-Functional Requirements</vt:lpstr>
      <vt:lpstr>Functional Requirements</vt:lpstr>
      <vt:lpstr>Example: Functional Requirements in Mentcare System</vt:lpstr>
      <vt:lpstr>Requirements Imprecision</vt:lpstr>
      <vt:lpstr>Requirements Completeness and Consistency</vt:lpstr>
      <vt:lpstr>Non-Functional Requirements</vt:lpstr>
      <vt:lpstr>Non-Functional Classifications</vt:lpstr>
      <vt:lpstr>Types of Non-Functional Requirements </vt:lpstr>
      <vt:lpstr>Non-Functional Requirements Implementation</vt:lpstr>
      <vt:lpstr>Examples of Non-Functional Requirements in the Mentcare System </vt:lpstr>
      <vt:lpstr>Goals and Requirements</vt:lpstr>
      <vt:lpstr>Example: Usability Requirements</vt:lpstr>
      <vt:lpstr>Metrics for Measuring Non-Functional Requirements</vt:lpstr>
      <vt:lpstr>Domain Requirements</vt:lpstr>
      <vt:lpstr>Example: Train Protection System</vt:lpstr>
      <vt:lpstr>Domain Requirements Problems</vt:lpstr>
      <vt:lpstr>REQUIREMENTS ENGINEERING PROCESSES</vt:lpstr>
      <vt:lpstr>Requirements Engineering Processes</vt:lpstr>
      <vt:lpstr>A Spiral View: Requirements Engineering Processes</vt:lpstr>
      <vt:lpstr>Requirements Engineering Processes</vt:lpstr>
      <vt:lpstr>Requirements Elicitation and Analysis</vt:lpstr>
      <vt:lpstr>Requirements Elicitation and Analysis</vt:lpstr>
      <vt:lpstr>Problems of Requirements Elicitation</vt:lpstr>
      <vt:lpstr>Requirements Elicitation and Analysis: Process Activities</vt:lpstr>
      <vt:lpstr>Requirements Discovery</vt:lpstr>
      <vt:lpstr>System stakeholders</vt:lpstr>
      <vt:lpstr>Example: Stakeholders in the Mentcare System</vt:lpstr>
      <vt:lpstr>PowerPoint Presentation</vt:lpstr>
      <vt:lpstr>User Characteristics and Personas</vt:lpstr>
      <vt:lpstr>User Characteristics</vt:lpstr>
      <vt:lpstr>Personas</vt:lpstr>
      <vt:lpstr>Techniques to Elicit Requirements</vt:lpstr>
      <vt:lpstr>Interviewing</vt:lpstr>
      <vt:lpstr>Interviews in Practice</vt:lpstr>
      <vt:lpstr>Problems with Interviews</vt:lpstr>
      <vt:lpstr>Ethnography</vt:lpstr>
      <vt:lpstr>Scope of Ethnography</vt:lpstr>
      <vt:lpstr>Stories and Scenarios</vt:lpstr>
      <vt:lpstr>Scenario for Collecting Medical History in Mentcare System </vt:lpstr>
      <vt:lpstr>Scenario for Collecting Medical History in Mentcare System </vt:lpstr>
      <vt:lpstr>Requirements Engineering Processes</vt:lpstr>
      <vt:lpstr>Requirements Specification</vt:lpstr>
      <vt:lpstr>Software Requirements Document</vt:lpstr>
      <vt:lpstr>Agile Methods and Requirements</vt:lpstr>
      <vt:lpstr>Ways of Writing a System Requirements Specification </vt:lpstr>
      <vt:lpstr>Requirements and Design</vt:lpstr>
      <vt:lpstr>Natural Language Specification</vt:lpstr>
      <vt:lpstr>Guidelines for Writing Requirements</vt:lpstr>
      <vt:lpstr>Problems With Natural Language</vt:lpstr>
      <vt:lpstr>Example of Requirements for the Insulin Pump Software System </vt:lpstr>
      <vt:lpstr>Structured Specifications</vt:lpstr>
      <vt:lpstr>A Structured Specification of a Requirement for an Insulin Pump… </vt:lpstr>
      <vt:lpstr>A Structured Specification of a Requirement for an Insulin Pump </vt:lpstr>
      <vt:lpstr>Form-Based Specifications</vt:lpstr>
      <vt:lpstr>Template for Writing Functional Requirements</vt:lpstr>
      <vt:lpstr>Template for Writing Non-Functional Requirements</vt:lpstr>
      <vt:lpstr>Tabular Specification</vt:lpstr>
      <vt:lpstr>Tabular Specification of Computation for an Insulin Pump </vt:lpstr>
      <vt:lpstr>Use Cases</vt:lpstr>
      <vt:lpstr>Use Case Diagram for the  Mentcare System </vt:lpstr>
      <vt:lpstr>Requirements Engineering Processes</vt:lpstr>
      <vt:lpstr>Requirements Validation</vt:lpstr>
      <vt:lpstr>Requirements Checking</vt:lpstr>
      <vt:lpstr>Requirements Validation Techniques</vt:lpstr>
      <vt:lpstr>Requirements Reviews</vt:lpstr>
      <vt:lpstr>Review Checks</vt:lpstr>
      <vt:lpstr>Requirements Engineering Processes</vt:lpstr>
      <vt:lpstr>Changing Requirements</vt:lpstr>
      <vt:lpstr>Changing Requirements</vt:lpstr>
      <vt:lpstr>Requirements Management</vt:lpstr>
      <vt:lpstr>Key Points…</vt:lpstr>
      <vt:lpstr>Key Points…</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Referee</dc:creator>
  <cp:lastModifiedBy>Muhammad Luqman Mohd Shafie</cp:lastModifiedBy>
  <cp:revision>4</cp:revision>
  <dcterms:created xsi:type="dcterms:W3CDTF">2012-07-30T02:22:03Z</dcterms:created>
  <dcterms:modified xsi:type="dcterms:W3CDTF">2025-10-27T01:28:40Z</dcterms:modified>
</cp:coreProperties>
</file>