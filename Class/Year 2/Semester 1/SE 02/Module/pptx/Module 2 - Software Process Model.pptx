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y="6858000" cx="9144000"/>
  <p:notesSz cx="9144000" cy="6858000"/>
  <p:embeddedFontLst>
    <p:embeddedFont>
      <p:font typeface="Helvetica Neue"/>
      <p:regular r:id="rId79"/>
      <p:bold r:id="rId80"/>
      <p:italic r:id="rId81"/>
      <p:boldItalic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903">
          <p15:clr>
            <a:srgbClr val="A4A3A4"/>
          </p15:clr>
        </p15:guide>
      </p15:sldGuideLst>
    </p:ext>
    <p:ext uri="http://customooxmlschemas.google.com/">
      <go:slidesCustomData xmlns:go="http://customooxmlschemas.google.com/" r:id="rId83" roundtripDataSignature="AMtx7mhS+oGbyJKW0NUYUM9YOJtI1ao1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8AD7437-1B88-4E8B-9887-9161D9851D57}">
  <a:tblStyle styleId="{D8AD7437-1B88-4E8B-9887-9161D9851D5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903"/>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3" Type="http://customschemas.google.com/relationships/presentationmetadata" Target="meta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HelveticaNeue-bold.fntdata"/><Relationship Id="rId82" Type="http://schemas.openxmlformats.org/officeDocument/2006/relationships/font" Target="fonts/HelveticaNeue-boldItalic.fntdata"/><Relationship Id="rId81" Type="http://schemas.openxmlformats.org/officeDocument/2006/relationships/font" Target="fonts/HelveticaNeue-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font" Target="fonts/HelveticaNeue-regular.fntdata"/><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 name="Google Shape;90;p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97" name="Google Shape;97;p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4" name="Google Shape;114;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15" name="Google Shape;115;p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000000"/>
                </a:solidFill>
                <a:latin typeface="Arial"/>
                <a:ea typeface="Arial"/>
                <a:cs typeface="Arial"/>
                <a:sym typeface="Arial"/>
              </a:rPr>
              <a:t>‹#›</a:t>
            </a:fld>
            <a:endParaRPr sz="1200">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7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37" name="Google Shape;137;p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p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7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1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19" name="Google Shape;219;p1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1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7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7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p1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1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4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4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4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4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p1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1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p1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4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p4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p5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 name="Google Shape;354;p5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5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0" name="Google Shape;370;p5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8" name="Google Shape;378;p5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5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7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7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2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9" name="Google Shape;409;p2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7" name="Google Shape;417;p2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5" name="Google Shape;425;p2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3" name="Google Shape;433;p2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2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9" name="Google Shape;449;p2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7" name="Google Shape;457;p2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 name="Google Shape;465;p2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2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3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p3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7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7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4" name="Google Shape;504;p3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Change Anticipation - previously Change Avoidance</a:t>
            </a:r>
            <a:endParaRPr/>
          </a:p>
        </p:txBody>
      </p:sp>
      <p:sp>
        <p:nvSpPr>
          <p:cNvPr id="512" name="Google Shape;512;p3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0" name="Google Shape;520;p3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8" name="Google Shape;528;p3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3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4" name="Google Shape;544;p3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2" name="Google Shape;552;p3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3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9" name="Google Shape;569;p4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7" name="Google Shape;577;p4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5" name="Google Shape;585;p4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3" name="Google Shape;593;p4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7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7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7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7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8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p8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8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8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8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8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8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8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8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8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8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p8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9" name="Google Shape;659;p5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7" name="Google Shape;667;p5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p5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6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61"/>
          <p:cNvSpPr txBox="1"/>
          <p:nvPr>
            <p:ph idx="10" type="dt"/>
          </p:nvPr>
        </p:nvSpPr>
        <p:spPr>
          <a:xfrm>
            <a:off x="457200" y="6598396"/>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1"/>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61"/>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6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62"/>
          <p:cNvSpPr txBox="1"/>
          <p:nvPr>
            <p:ph idx="10" type="dt"/>
          </p:nvPr>
        </p:nvSpPr>
        <p:spPr>
          <a:xfrm>
            <a:off x="457200" y="6598396"/>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2"/>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2"/>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6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63"/>
          <p:cNvSpPr txBox="1"/>
          <p:nvPr>
            <p:ph idx="10" type="dt"/>
          </p:nvPr>
        </p:nvSpPr>
        <p:spPr>
          <a:xfrm>
            <a:off x="457200" y="6598396"/>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3"/>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3"/>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6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1" name="Google Shape;41;p64"/>
          <p:cNvSpPr txBox="1"/>
          <p:nvPr>
            <p:ph idx="10" type="dt"/>
          </p:nvPr>
        </p:nvSpPr>
        <p:spPr>
          <a:xfrm>
            <a:off x="457200" y="6598396"/>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4"/>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4"/>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6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6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6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65"/>
          <p:cNvSpPr txBox="1"/>
          <p:nvPr>
            <p:ph idx="10" type="dt"/>
          </p:nvPr>
        </p:nvSpPr>
        <p:spPr>
          <a:xfrm>
            <a:off x="457200" y="6598396"/>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5"/>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5"/>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6"/>
          <p:cNvSpPr txBox="1"/>
          <p:nvPr>
            <p:ph idx="10" type="dt"/>
          </p:nvPr>
        </p:nvSpPr>
        <p:spPr>
          <a:xfrm>
            <a:off x="457200" y="6598396"/>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6"/>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6"/>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67"/>
          <p:cNvSpPr txBox="1"/>
          <p:nvPr>
            <p:ph idx="10" type="dt"/>
          </p:nvPr>
        </p:nvSpPr>
        <p:spPr>
          <a:xfrm>
            <a:off x="457200" y="6598396"/>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7"/>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67"/>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6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5" name="Google Shape;65;p6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6" name="Google Shape;66;p68"/>
          <p:cNvSpPr txBox="1"/>
          <p:nvPr>
            <p:ph idx="10" type="dt"/>
          </p:nvPr>
        </p:nvSpPr>
        <p:spPr>
          <a:xfrm>
            <a:off x="457200" y="6598396"/>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8"/>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68"/>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6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9"/>
          <p:cNvSpPr/>
          <p:nvPr>
            <p:ph idx="2" type="pic"/>
          </p:nvPr>
        </p:nvSpPr>
        <p:spPr>
          <a:xfrm>
            <a:off x="1792288" y="612775"/>
            <a:ext cx="5486400" cy="4114800"/>
          </a:xfrm>
          <a:prstGeom prst="rect">
            <a:avLst/>
          </a:prstGeom>
          <a:noFill/>
          <a:ln>
            <a:noFill/>
          </a:ln>
        </p:spPr>
      </p:sp>
      <p:sp>
        <p:nvSpPr>
          <p:cNvPr id="72" name="Google Shape;72;p6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3" name="Google Shape;73;p69"/>
          <p:cNvSpPr txBox="1"/>
          <p:nvPr>
            <p:ph idx="10" type="dt"/>
          </p:nvPr>
        </p:nvSpPr>
        <p:spPr>
          <a:xfrm>
            <a:off x="457200" y="6598396"/>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9"/>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69"/>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7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9" name="Google Shape;79;p70"/>
          <p:cNvSpPr txBox="1"/>
          <p:nvPr>
            <p:ph idx="10" type="dt"/>
          </p:nvPr>
        </p:nvSpPr>
        <p:spPr>
          <a:xfrm>
            <a:off x="457200" y="6598396"/>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70"/>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70"/>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7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7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5" name="Google Shape;85;p71"/>
          <p:cNvSpPr txBox="1"/>
          <p:nvPr>
            <p:ph idx="10" type="dt"/>
          </p:nvPr>
        </p:nvSpPr>
        <p:spPr>
          <a:xfrm>
            <a:off x="457200" y="6598396"/>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71"/>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71"/>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5.png"/><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theme" Target="../theme/theme2.xml"/><Relationship Id="rId14" Type="http://schemas.openxmlformats.org/officeDocument/2006/relationships/slideLayout" Target="../slideLayouts/slideLayout1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60"/>
          <p:cNvPicPr preferRelativeResize="0"/>
          <p:nvPr/>
        </p:nvPicPr>
        <p:blipFill rotWithShape="1">
          <a:blip r:embed="rId1">
            <a:alphaModFix/>
          </a:blip>
          <a:srcRect b="0" l="0" r="0" t="0"/>
          <a:stretch/>
        </p:blipFill>
        <p:spPr>
          <a:xfrm>
            <a:off x="-747" y="6487366"/>
            <a:ext cx="9131300" cy="357187"/>
          </a:xfrm>
          <a:prstGeom prst="rect">
            <a:avLst/>
          </a:prstGeom>
          <a:noFill/>
          <a:ln>
            <a:noFill/>
          </a:ln>
        </p:spPr>
      </p:pic>
      <p:sp>
        <p:nvSpPr>
          <p:cNvPr id="11" name="Google Shape;11;p60"/>
          <p:cNvSpPr/>
          <p:nvPr/>
        </p:nvSpPr>
        <p:spPr>
          <a:xfrm>
            <a:off x="0" y="0"/>
            <a:ext cx="9144000" cy="1417638"/>
          </a:xfrm>
          <a:prstGeom prst="rect">
            <a:avLst/>
          </a:prstGeom>
          <a:solidFill>
            <a:srgbClr val="FFE1A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 name="Google Shape;12;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descr="header_UTM" id="13" name="Google Shape;13;p60"/>
          <p:cNvPicPr preferRelativeResize="0"/>
          <p:nvPr/>
        </p:nvPicPr>
        <p:blipFill rotWithShape="1">
          <a:blip r:embed="rId2">
            <a:alphaModFix/>
          </a:blip>
          <a:srcRect b="0" l="0" r="0" t="0"/>
          <a:stretch/>
        </p:blipFill>
        <p:spPr>
          <a:xfrm>
            <a:off x="63500" y="106363"/>
            <a:ext cx="1195388" cy="395287"/>
          </a:xfrm>
          <a:prstGeom prst="rect">
            <a:avLst/>
          </a:prstGeom>
          <a:noFill/>
          <a:ln>
            <a:noFill/>
          </a:ln>
        </p:spPr>
      </p:pic>
      <p:pic>
        <p:nvPicPr>
          <p:cNvPr descr="header_url" id="14" name="Google Shape;14;p60"/>
          <p:cNvPicPr preferRelativeResize="0"/>
          <p:nvPr/>
        </p:nvPicPr>
        <p:blipFill rotWithShape="1">
          <a:blip r:embed="rId3">
            <a:alphaModFix/>
          </a:blip>
          <a:srcRect b="0" l="0" r="0" t="0"/>
          <a:stretch/>
        </p:blipFill>
        <p:spPr>
          <a:xfrm>
            <a:off x="0" y="1169894"/>
            <a:ext cx="2376488" cy="255588"/>
          </a:xfrm>
          <a:prstGeom prst="rect">
            <a:avLst/>
          </a:prstGeom>
          <a:noFill/>
          <a:ln>
            <a:noFill/>
          </a:ln>
        </p:spPr>
      </p:pic>
      <p:sp>
        <p:nvSpPr>
          <p:cNvPr id="15" name="Google Shape;15;p6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 name="Google Shape;16;p60"/>
          <p:cNvSpPr txBox="1"/>
          <p:nvPr>
            <p:ph idx="10" type="dt"/>
          </p:nvPr>
        </p:nvSpPr>
        <p:spPr>
          <a:xfrm>
            <a:off x="457200" y="6598396"/>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 name="Google Shape;17;p60"/>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 name="Google Shape;18;p60"/>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Module 2: Software Process Model</a:t>
            </a:r>
            <a:endParaRPr/>
          </a:p>
        </p:txBody>
      </p:sp>
      <p:sp>
        <p:nvSpPr>
          <p:cNvPr id="93" name="Google Shape;93;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2"/>
              </a:buClr>
              <a:buSzPts val="4000"/>
              <a:buNone/>
            </a:pPr>
            <a:r>
              <a:rPr lang="en-US" sz="4000">
                <a:solidFill>
                  <a:schemeClr val="dk2"/>
                </a:solidFill>
              </a:rPr>
              <a:t>Software Engineering</a:t>
            </a:r>
            <a:endParaRPr/>
          </a:p>
          <a:p>
            <a:pPr indent="0" lvl="0" marL="0" rtl="0" algn="ctr">
              <a:lnSpc>
                <a:spcPct val="100000"/>
              </a:lnSpc>
              <a:spcBef>
                <a:spcPts val="518"/>
              </a:spcBef>
              <a:spcAft>
                <a:spcPts val="0"/>
              </a:spcAft>
              <a:buClr>
                <a:srgbClr val="888888"/>
              </a:buClr>
              <a:buSzPts val="2800"/>
              <a:buNone/>
            </a:pPr>
            <a:r>
              <a:rPr lang="en-US" sz="2800"/>
              <a:t>Faculty of Computing / MJIIT</a:t>
            </a:r>
            <a:endParaRPr/>
          </a:p>
          <a:p>
            <a:pPr indent="0" lvl="0" marL="0" rtl="0" algn="ctr">
              <a:lnSpc>
                <a:spcPct val="100000"/>
              </a:lnSpc>
              <a:spcBef>
                <a:spcPts val="518"/>
              </a:spcBef>
              <a:spcAft>
                <a:spcPts val="0"/>
              </a:spcAft>
              <a:buClr>
                <a:srgbClr val="888888"/>
              </a:buClr>
              <a:buSzPts val="2800"/>
              <a:buNone/>
            </a:pPr>
            <a:r>
              <a:rPr lang="en-US" sz="2800"/>
              <a:t>Universiti Teknologi Malaysia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Outline</a:t>
            </a:r>
            <a:endParaRPr/>
          </a:p>
        </p:txBody>
      </p:sp>
      <p:sp>
        <p:nvSpPr>
          <p:cNvPr id="100" name="Google Shape;100;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Clr>
                <a:schemeClr val="dk1"/>
              </a:buClr>
              <a:buSzPct val="108108"/>
              <a:buChar char="•"/>
            </a:pPr>
            <a:r>
              <a:rPr lang="en-US"/>
              <a:t>Software process</a:t>
            </a:r>
            <a:endParaRPr/>
          </a:p>
          <a:p>
            <a:pPr indent="-342900" lvl="1" marL="800100" rtl="0" algn="l">
              <a:lnSpc>
                <a:spcPct val="100000"/>
              </a:lnSpc>
              <a:spcBef>
                <a:spcPts val="0"/>
              </a:spcBef>
              <a:spcAft>
                <a:spcPts val="0"/>
              </a:spcAft>
              <a:buSzPct val="123552"/>
              <a:buFont typeface="Arial"/>
              <a:buChar char="•"/>
            </a:pPr>
            <a:r>
              <a:rPr lang="en-US"/>
              <a:t>Plan-driven and Agile process</a:t>
            </a:r>
            <a:endParaRPr/>
          </a:p>
          <a:p>
            <a:pPr indent="-342900" lvl="0" marL="342900" rtl="0" algn="l">
              <a:lnSpc>
                <a:spcPct val="100000"/>
              </a:lnSpc>
              <a:spcBef>
                <a:spcPts val="0"/>
              </a:spcBef>
              <a:spcAft>
                <a:spcPts val="0"/>
              </a:spcAft>
              <a:buClr>
                <a:schemeClr val="dk1"/>
              </a:buClr>
              <a:buSzPct val="108108"/>
              <a:buChar char="•"/>
            </a:pPr>
            <a:r>
              <a:rPr lang="en-US"/>
              <a:t>Software process models  </a:t>
            </a:r>
            <a:endParaRPr/>
          </a:p>
          <a:p>
            <a:pPr indent="-342900" lvl="1" marL="800100" rtl="0" algn="l">
              <a:lnSpc>
                <a:spcPct val="100000"/>
              </a:lnSpc>
              <a:spcBef>
                <a:spcPts val="640"/>
              </a:spcBef>
              <a:spcAft>
                <a:spcPts val="0"/>
              </a:spcAft>
              <a:buSzPct val="123552"/>
              <a:buChar char="•"/>
            </a:pPr>
            <a:r>
              <a:rPr lang="en-US"/>
              <a:t>Waterfall model</a:t>
            </a:r>
            <a:endParaRPr/>
          </a:p>
          <a:p>
            <a:pPr indent="-342900" lvl="1" marL="800100" rtl="0" algn="l">
              <a:lnSpc>
                <a:spcPct val="100000"/>
              </a:lnSpc>
              <a:spcBef>
                <a:spcPts val="640"/>
              </a:spcBef>
              <a:spcAft>
                <a:spcPts val="0"/>
              </a:spcAft>
              <a:buSzPct val="123552"/>
              <a:buFont typeface="Arial"/>
              <a:buChar char="•"/>
            </a:pPr>
            <a:r>
              <a:rPr lang="en-US"/>
              <a:t>Incremental model (inc. Boehm’s Spiral model)</a:t>
            </a:r>
            <a:endParaRPr/>
          </a:p>
          <a:p>
            <a:pPr indent="-342900" lvl="1" marL="800100" rtl="0" algn="l">
              <a:lnSpc>
                <a:spcPct val="100000"/>
              </a:lnSpc>
              <a:spcBef>
                <a:spcPts val="640"/>
              </a:spcBef>
              <a:spcAft>
                <a:spcPts val="0"/>
              </a:spcAft>
              <a:buSzPct val="123552"/>
              <a:buChar char="•"/>
            </a:pPr>
            <a:r>
              <a:rPr lang="en-US"/>
              <a:t>Integration and configuration</a:t>
            </a:r>
            <a:endParaRPr/>
          </a:p>
          <a:p>
            <a:pPr indent="-342900" lvl="1" marL="800100" rtl="0" algn="l">
              <a:lnSpc>
                <a:spcPct val="100000"/>
              </a:lnSpc>
              <a:spcBef>
                <a:spcPts val="640"/>
              </a:spcBef>
              <a:spcAft>
                <a:spcPts val="0"/>
              </a:spcAft>
              <a:buSzPct val="123552"/>
              <a:buChar char="•"/>
            </a:pPr>
            <a:r>
              <a:rPr i="1" lang="en-US"/>
              <a:t>The Rational Unified Process (RUP)</a:t>
            </a:r>
            <a:endParaRPr/>
          </a:p>
          <a:p>
            <a:pPr indent="-342900" lvl="0" marL="342900" rtl="0" algn="l">
              <a:lnSpc>
                <a:spcPct val="100000"/>
              </a:lnSpc>
              <a:spcBef>
                <a:spcPts val="640"/>
              </a:spcBef>
              <a:spcAft>
                <a:spcPts val="0"/>
              </a:spcAft>
              <a:buSzPct val="108108"/>
              <a:buChar char="•"/>
            </a:pPr>
            <a:r>
              <a:rPr lang="en-US"/>
              <a:t>Process activities</a:t>
            </a:r>
            <a:endParaRPr/>
          </a:p>
          <a:p>
            <a:pPr indent="-342900" lvl="0" marL="342900" rtl="0" algn="l">
              <a:lnSpc>
                <a:spcPct val="100000"/>
              </a:lnSpc>
              <a:spcBef>
                <a:spcPts val="640"/>
              </a:spcBef>
              <a:spcAft>
                <a:spcPts val="0"/>
              </a:spcAft>
              <a:buSzPct val="108108"/>
              <a:buChar char="•"/>
            </a:pPr>
            <a:r>
              <a:rPr lang="en-US"/>
              <a:t>Coping with change</a:t>
            </a:r>
            <a:endParaRPr/>
          </a:p>
          <a:p>
            <a:pPr indent="-342900" lvl="0" marL="342900" rtl="0" algn="l">
              <a:lnSpc>
                <a:spcPct val="100000"/>
              </a:lnSpc>
              <a:spcBef>
                <a:spcPts val="640"/>
              </a:spcBef>
              <a:spcAft>
                <a:spcPts val="0"/>
              </a:spcAft>
              <a:buSzPct val="108108"/>
              <a:buChar char="•"/>
            </a:pPr>
            <a:r>
              <a:rPr lang="en-US"/>
              <a:t>Process improvement</a:t>
            </a:r>
            <a:endParaRPr/>
          </a:p>
        </p:txBody>
      </p:sp>
      <p:sp>
        <p:nvSpPr>
          <p:cNvPr id="101" name="Google Shape;101;p2"/>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102" name="Google Shape;102;p2"/>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3" name="Google Shape;103;p2"/>
          <p:cNvSpPr txBox="1"/>
          <p:nvPr/>
        </p:nvSpPr>
        <p:spPr>
          <a:xfrm>
            <a:off x="446315" y="5764087"/>
            <a:ext cx="839288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00000"/>
                </a:solidFill>
                <a:latin typeface="Calibri"/>
                <a:ea typeface="Calibri"/>
                <a:cs typeface="Calibri"/>
                <a:sym typeface="Calibri"/>
              </a:rPr>
              <a:t>Note: The overall contents of the slide are based on the main reference that is Sommerville (2016) with other references specified directly in respective slides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Objectives</a:t>
            </a:r>
            <a:endParaRPr/>
          </a:p>
        </p:txBody>
      </p:sp>
      <p:sp>
        <p:nvSpPr>
          <p:cNvPr id="109" name="Google Shape;10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Clr>
                <a:schemeClr val="dk1"/>
              </a:buClr>
              <a:buSzPts val="3200"/>
              <a:buNone/>
            </a:pPr>
            <a:r>
              <a:rPr lang="en-US"/>
              <a:t>The objectives of this module are:</a:t>
            </a:r>
            <a:endParaRPr/>
          </a:p>
          <a:p>
            <a:pPr indent="-342900" lvl="0" marL="342900" rtl="0" algn="l">
              <a:lnSpc>
                <a:spcPct val="100000"/>
              </a:lnSpc>
              <a:spcBef>
                <a:spcPts val="640"/>
              </a:spcBef>
              <a:spcAft>
                <a:spcPts val="0"/>
              </a:spcAft>
              <a:buClr>
                <a:schemeClr val="dk1"/>
              </a:buClr>
              <a:buSzPts val="3200"/>
              <a:buChar char="•"/>
            </a:pPr>
            <a:r>
              <a:rPr lang="en-US"/>
              <a:t>To understand software process, its activities and diverse software process models</a:t>
            </a:r>
            <a:endParaRPr/>
          </a:p>
          <a:p>
            <a:pPr indent="-342900" lvl="0" marL="342900" rtl="0" algn="l">
              <a:lnSpc>
                <a:spcPct val="100000"/>
              </a:lnSpc>
              <a:spcBef>
                <a:spcPts val="640"/>
              </a:spcBef>
              <a:spcAft>
                <a:spcPts val="0"/>
              </a:spcAft>
              <a:buClr>
                <a:schemeClr val="dk1"/>
              </a:buClr>
              <a:buSzPts val="3200"/>
              <a:buChar char="•"/>
            </a:pPr>
            <a:r>
              <a:rPr lang="en-US"/>
              <a:t>To recognise the relation between plan-driven and Agile process</a:t>
            </a:r>
            <a:endParaRPr/>
          </a:p>
          <a:p>
            <a:pPr indent="-342900" lvl="0" marL="342900" rtl="0" algn="l">
              <a:lnSpc>
                <a:spcPct val="100000"/>
              </a:lnSpc>
              <a:spcBef>
                <a:spcPts val="640"/>
              </a:spcBef>
              <a:spcAft>
                <a:spcPts val="0"/>
              </a:spcAft>
              <a:buClr>
                <a:schemeClr val="dk1"/>
              </a:buClr>
              <a:buSzPts val="3200"/>
              <a:buChar char="•"/>
            </a:pPr>
            <a:r>
              <a:rPr lang="en-US"/>
              <a:t>To differentiate the differences among software process models and their uses</a:t>
            </a:r>
            <a:endParaRPr/>
          </a:p>
          <a:p>
            <a:pPr indent="-342900" lvl="0" marL="342900" rtl="0" algn="l">
              <a:lnSpc>
                <a:spcPct val="100000"/>
              </a:lnSpc>
              <a:spcBef>
                <a:spcPts val="640"/>
              </a:spcBef>
              <a:spcAft>
                <a:spcPts val="0"/>
              </a:spcAft>
              <a:buClr>
                <a:schemeClr val="dk1"/>
              </a:buClr>
              <a:buSzPts val="3200"/>
              <a:buChar char="•"/>
            </a:pPr>
            <a:r>
              <a:rPr lang="en-US"/>
              <a:t>To understand spiral model for coping changes and the Rational Unified Process</a:t>
            </a:r>
            <a:endParaRPr/>
          </a:p>
        </p:txBody>
      </p:sp>
      <p:sp>
        <p:nvSpPr>
          <p:cNvPr id="110" name="Google Shape;110;p3"/>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111" name="Google Shape;111;p3"/>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Recap: What is Software Engineering?</a:t>
            </a:r>
            <a:endParaRPr/>
          </a:p>
        </p:txBody>
      </p:sp>
      <p:pic>
        <p:nvPicPr>
          <p:cNvPr id="118" name="Google Shape;118;p4"/>
          <p:cNvPicPr preferRelativeResize="0"/>
          <p:nvPr>
            <p:ph idx="1" type="body"/>
          </p:nvPr>
        </p:nvPicPr>
        <p:blipFill rotWithShape="1">
          <a:blip r:embed="rId3">
            <a:alphaModFix/>
          </a:blip>
          <a:srcRect b="0" l="0" r="0" t="0"/>
          <a:stretch/>
        </p:blipFill>
        <p:spPr>
          <a:xfrm>
            <a:off x="152400" y="1978025"/>
            <a:ext cx="4267200" cy="3581400"/>
          </a:xfrm>
          <a:prstGeom prst="rect">
            <a:avLst/>
          </a:prstGeom>
          <a:noFill/>
          <a:ln>
            <a:noFill/>
          </a:ln>
        </p:spPr>
      </p:pic>
      <p:sp>
        <p:nvSpPr>
          <p:cNvPr id="119" name="Google Shape;119;p4"/>
          <p:cNvSpPr txBox="1"/>
          <p:nvPr>
            <p:ph idx="2" type="body"/>
          </p:nvPr>
        </p:nvSpPr>
        <p:spPr>
          <a:xfrm>
            <a:off x="4572000" y="1469184"/>
            <a:ext cx="4343400" cy="4233116"/>
          </a:xfrm>
          <a:prstGeom prst="rect">
            <a:avLst/>
          </a:prstGeom>
          <a:noFill/>
          <a:ln>
            <a:noFill/>
          </a:ln>
        </p:spPr>
        <p:txBody>
          <a:bodyPr anchorCtr="0" anchor="t" bIns="45700" lIns="91425" spcFirstLastPara="1" rIns="91425" wrap="square" tIns="45700">
            <a:normAutofit fontScale="25000" lnSpcReduction="20000"/>
          </a:bodyPr>
          <a:lstStyle/>
          <a:p>
            <a:pPr indent="-342900" lvl="0" marL="342900" rtl="0" algn="l">
              <a:lnSpc>
                <a:spcPct val="100000"/>
              </a:lnSpc>
              <a:spcBef>
                <a:spcPts val="0"/>
              </a:spcBef>
              <a:spcAft>
                <a:spcPts val="0"/>
              </a:spcAft>
              <a:buClr>
                <a:srgbClr val="366092"/>
              </a:buClr>
              <a:buSzPct val="100000"/>
              <a:buChar char="•"/>
            </a:pPr>
            <a:r>
              <a:rPr b="1" lang="en-US" sz="7200">
                <a:solidFill>
                  <a:srgbClr val="366092"/>
                </a:solidFill>
              </a:rPr>
              <a:t>Quality Focus: </a:t>
            </a:r>
            <a:r>
              <a:rPr lang="en-US" sz="7200"/>
              <a:t>The bedrock that supports software engineering is quality focus where it ensures continuous process improvement culture.</a:t>
            </a:r>
            <a:endParaRPr/>
          </a:p>
          <a:p>
            <a:pPr indent="-342900" lvl="0" marL="342900" rtl="0" algn="l">
              <a:lnSpc>
                <a:spcPct val="100000"/>
              </a:lnSpc>
              <a:spcBef>
                <a:spcPts val="360"/>
              </a:spcBef>
              <a:spcAft>
                <a:spcPts val="0"/>
              </a:spcAft>
              <a:buClr>
                <a:srgbClr val="366092"/>
              </a:buClr>
              <a:buSzPct val="100000"/>
              <a:buChar char="•"/>
            </a:pPr>
            <a:r>
              <a:rPr b="1" lang="en-US" sz="7200">
                <a:solidFill>
                  <a:srgbClr val="366092"/>
                </a:solidFill>
              </a:rPr>
              <a:t>Process :</a:t>
            </a:r>
            <a:r>
              <a:rPr lang="en-US" sz="7200"/>
              <a:t>Foundation for software engineering which enables rational and timely development of computer software</a:t>
            </a:r>
            <a:endParaRPr/>
          </a:p>
          <a:p>
            <a:pPr indent="-342900" lvl="0" marL="342900" rtl="0" algn="l">
              <a:lnSpc>
                <a:spcPct val="100000"/>
              </a:lnSpc>
              <a:spcBef>
                <a:spcPts val="360"/>
              </a:spcBef>
              <a:spcAft>
                <a:spcPts val="0"/>
              </a:spcAft>
              <a:buClr>
                <a:srgbClr val="366092"/>
              </a:buClr>
              <a:buSzPct val="100000"/>
              <a:buChar char="•"/>
            </a:pPr>
            <a:r>
              <a:rPr b="1" lang="en-US" sz="7200">
                <a:solidFill>
                  <a:srgbClr val="366092"/>
                </a:solidFill>
              </a:rPr>
              <a:t>Methods:</a:t>
            </a:r>
            <a:r>
              <a:rPr lang="en-US" sz="7200"/>
              <a:t> provide technical how to’s for building software. Involve different tasks including requirements analysis, design, program construction, testing and support. Methods also include modeling activities</a:t>
            </a:r>
            <a:endParaRPr/>
          </a:p>
          <a:p>
            <a:pPr indent="-342900" lvl="0" marL="342900" rtl="0" algn="l">
              <a:lnSpc>
                <a:spcPct val="100000"/>
              </a:lnSpc>
              <a:spcBef>
                <a:spcPts val="360"/>
              </a:spcBef>
              <a:spcAft>
                <a:spcPts val="0"/>
              </a:spcAft>
              <a:buClr>
                <a:srgbClr val="366092"/>
              </a:buClr>
              <a:buSzPct val="100000"/>
              <a:buChar char="•"/>
            </a:pPr>
            <a:r>
              <a:rPr b="1" lang="en-US" sz="7200">
                <a:solidFill>
                  <a:srgbClr val="366092"/>
                </a:solidFill>
              </a:rPr>
              <a:t>Tools: </a:t>
            </a:r>
            <a:r>
              <a:rPr lang="en-US" sz="7200"/>
              <a:t>provide automated or semi-automated support for the process and methods</a:t>
            </a:r>
            <a:endParaRPr/>
          </a:p>
          <a:p>
            <a:pPr indent="-298450" lvl="0" marL="342900" rtl="0" algn="l">
              <a:lnSpc>
                <a:spcPct val="100000"/>
              </a:lnSpc>
              <a:spcBef>
                <a:spcPts val="140"/>
              </a:spcBef>
              <a:spcAft>
                <a:spcPts val="0"/>
              </a:spcAft>
              <a:buClr>
                <a:schemeClr val="dk1"/>
              </a:buClr>
              <a:buSzPct val="100000"/>
              <a:buNone/>
            </a:pPr>
            <a:r>
              <a:t/>
            </a:r>
            <a:endParaRPr/>
          </a:p>
        </p:txBody>
      </p:sp>
      <p:sp>
        <p:nvSpPr>
          <p:cNvPr id="120" name="Google Shape;120;p4"/>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sz="1200">
                <a:solidFill>
                  <a:srgbClr val="000000"/>
                </a:solidFill>
                <a:latin typeface="Arial"/>
                <a:ea typeface="Arial"/>
                <a:cs typeface="Arial"/>
                <a:sym typeface="Arial"/>
              </a:rPr>
              <a:t>Software Engineering</a:t>
            </a:r>
            <a:endParaRPr/>
          </a:p>
        </p:txBody>
      </p:sp>
      <p:sp>
        <p:nvSpPr>
          <p:cNvPr id="121" name="Google Shape;121;p4"/>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000000"/>
                </a:solidFill>
                <a:latin typeface="Arial"/>
                <a:ea typeface="Arial"/>
                <a:cs typeface="Arial"/>
                <a:sym typeface="Arial"/>
              </a:rPr>
              <a:t>‹#›</a:t>
            </a:fld>
            <a:endParaRPr sz="1200">
              <a:solidFill>
                <a:srgbClr val="000000"/>
              </a:solidFill>
              <a:latin typeface="Arial"/>
              <a:ea typeface="Arial"/>
              <a:cs typeface="Arial"/>
              <a:sym typeface="Arial"/>
            </a:endParaRPr>
          </a:p>
        </p:txBody>
      </p:sp>
      <p:sp>
        <p:nvSpPr>
          <p:cNvPr id="122" name="Google Shape;122;p4"/>
          <p:cNvSpPr/>
          <p:nvPr/>
        </p:nvSpPr>
        <p:spPr>
          <a:xfrm>
            <a:off x="38100" y="5684838"/>
            <a:ext cx="8915400" cy="8925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0000"/>
                </a:solidFill>
                <a:latin typeface="Calibri"/>
                <a:ea typeface="Calibri"/>
                <a:cs typeface="Calibri"/>
                <a:sym typeface="Calibri"/>
              </a:rPr>
              <a:t>Source: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1" lang="en-US" sz="1800" u="none" cap="none" strike="noStrike">
                <a:solidFill>
                  <a:srgbClr val="C00000"/>
                </a:solidFill>
                <a:latin typeface="Calibri"/>
                <a:ea typeface="Calibri"/>
                <a:cs typeface="Calibri"/>
                <a:sym typeface="Calibri"/>
              </a:rPr>
              <a:t>Agarwal, U. (2019).  Software Engineering, Kataria and Sons.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1" lang="en-US" sz="1800" u="none" cap="none" strike="noStrike">
                <a:solidFill>
                  <a:srgbClr val="C00000"/>
                </a:solidFill>
                <a:latin typeface="Calibri"/>
                <a:ea typeface="Calibri"/>
                <a:cs typeface="Calibri"/>
                <a:sym typeface="Calibri"/>
              </a:rPr>
              <a:t>https://www.geeksforgeeks.org/layered-technology-in-software-engineering/</a:t>
            </a:r>
            <a:endParaRPr b="0" i="0" sz="2000" u="none" cap="none" strike="noStrike">
              <a:solidFill>
                <a:srgbClr val="000000"/>
              </a:solidFill>
              <a:latin typeface="Arial"/>
              <a:ea typeface="Arial"/>
              <a:cs typeface="Arial"/>
              <a:sym typeface="Arial"/>
            </a:endParaRPr>
          </a:p>
        </p:txBody>
      </p:sp>
      <p:sp>
        <p:nvSpPr>
          <p:cNvPr id="123" name="Google Shape;123;p4"/>
          <p:cNvSpPr txBox="1"/>
          <p:nvPr/>
        </p:nvSpPr>
        <p:spPr>
          <a:xfrm>
            <a:off x="0" y="1552575"/>
            <a:ext cx="4495800" cy="8318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Software Engineering as Layered Technology</a:t>
            </a:r>
            <a:endParaRPr b="0" i="0" sz="1400" u="none" cap="none" strike="noStrike">
              <a:solidFill>
                <a:srgbClr val="000000"/>
              </a:solidFill>
              <a:latin typeface="Arial"/>
              <a:ea typeface="Arial"/>
              <a:cs typeface="Arial"/>
              <a:sym typeface="Arial"/>
            </a:endParaRPr>
          </a:p>
        </p:txBody>
      </p:sp>
      <p:sp>
        <p:nvSpPr>
          <p:cNvPr id="124" name="Google Shape;124;p4"/>
          <p:cNvSpPr txBox="1"/>
          <p:nvPr/>
        </p:nvSpPr>
        <p:spPr>
          <a:xfrm>
            <a:off x="4572000" y="5458125"/>
            <a:ext cx="4381500" cy="52322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 The layered technology will be the focus in this lecture and throughout the semester</a:t>
            </a:r>
            <a:endParaRPr b="0" i="0" sz="1400" u="none" cap="none" strike="noStrike">
              <a:solidFill>
                <a:srgbClr val="000000"/>
              </a:solidFill>
              <a:latin typeface="Calibri"/>
              <a:ea typeface="Calibri"/>
              <a:cs typeface="Calibri"/>
              <a:sym typeface="Calibri"/>
            </a:endParaRPr>
          </a:p>
        </p:txBody>
      </p:sp>
      <p:cxnSp>
        <p:nvCxnSpPr>
          <p:cNvPr id="125" name="Google Shape;125;p4"/>
          <p:cNvCxnSpPr/>
          <p:nvPr/>
        </p:nvCxnSpPr>
        <p:spPr>
          <a:xfrm>
            <a:off x="152400" y="4149725"/>
            <a:ext cx="458788" cy="0"/>
          </a:xfrm>
          <a:prstGeom prst="straightConnector1">
            <a:avLst/>
          </a:prstGeom>
          <a:noFill/>
          <a:ln cap="flat" cmpd="sng" w="57150">
            <a:solidFill>
              <a:srgbClr val="002060"/>
            </a:solidFill>
            <a:prstDash val="solid"/>
            <a:round/>
            <a:headEnd len="sm" w="sm" type="none"/>
            <a:tailEnd len="med" w="med" type="stealth"/>
          </a:ln>
        </p:spPr>
      </p:cxnSp>
      <p:sp>
        <p:nvSpPr>
          <p:cNvPr id="126" name="Google Shape;126;p4"/>
          <p:cNvSpPr txBox="1"/>
          <p:nvPr/>
        </p:nvSpPr>
        <p:spPr>
          <a:xfrm>
            <a:off x="38100" y="3644900"/>
            <a:ext cx="819150"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Focus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Calibri"/>
              <a:buNone/>
            </a:pPr>
            <a:r>
              <a:rPr lang="en-US"/>
              <a:t>Software Process</a:t>
            </a:r>
            <a:endParaRPr/>
          </a:p>
        </p:txBody>
      </p:sp>
      <p:sp>
        <p:nvSpPr>
          <p:cNvPr id="132" name="Google Shape;132;p7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00"/>
              </a:spcBef>
              <a:spcAft>
                <a:spcPts val="0"/>
              </a:spcAft>
              <a:buClr>
                <a:srgbClr val="888888"/>
              </a:buClr>
              <a:buSzPts val="2000"/>
              <a:buNone/>
            </a:pPr>
            <a:r>
              <a:t/>
            </a:r>
            <a:endParaRPr/>
          </a:p>
        </p:txBody>
      </p:sp>
      <p:sp>
        <p:nvSpPr>
          <p:cNvPr id="133" name="Google Shape;133;p73"/>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The Role of Process</a:t>
            </a:r>
            <a:endParaRPr/>
          </a:p>
        </p:txBody>
      </p:sp>
      <p:sp>
        <p:nvSpPr>
          <p:cNvPr id="140" name="Google Shape;140;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dk1"/>
              </a:buClr>
              <a:buSzPts val="2800"/>
              <a:buNone/>
            </a:pPr>
            <a:r>
              <a:rPr lang="en-US" sz="2800"/>
              <a:t>Even the finest people cannot perform at their best when the process is not understood or operating at its best</a:t>
            </a:r>
            <a:endParaRPr sz="2800"/>
          </a:p>
          <a:p>
            <a:pPr indent="0" lvl="0" marL="0" rtl="0" algn="l">
              <a:lnSpc>
                <a:spcPct val="100000"/>
              </a:lnSpc>
              <a:spcBef>
                <a:spcPts val="640"/>
              </a:spcBef>
              <a:spcAft>
                <a:spcPts val="0"/>
              </a:spcAft>
              <a:buClr>
                <a:schemeClr val="dk1"/>
              </a:buClr>
              <a:buSzPts val="3200"/>
              <a:buNone/>
            </a:pPr>
            <a:r>
              <a:t/>
            </a:r>
            <a:endParaRPr/>
          </a:p>
          <a:p>
            <a:pPr indent="0" lvl="0" marL="0" rtl="0" algn="l">
              <a:lnSpc>
                <a:spcPct val="100000"/>
              </a:lnSpc>
              <a:spcBef>
                <a:spcPts val="640"/>
              </a:spcBef>
              <a:spcAft>
                <a:spcPts val="0"/>
              </a:spcAft>
              <a:buClr>
                <a:schemeClr val="dk1"/>
              </a:buClr>
              <a:buSzPts val="3200"/>
              <a:buNone/>
            </a:pPr>
            <a:r>
              <a:t/>
            </a:r>
            <a:endParaRPr/>
          </a:p>
        </p:txBody>
      </p:sp>
      <p:sp>
        <p:nvSpPr>
          <p:cNvPr id="141" name="Google Shape;141;p5"/>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142" name="Google Shape;142;p5"/>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43" name="Google Shape;143;p5"/>
          <p:cNvPicPr preferRelativeResize="0"/>
          <p:nvPr/>
        </p:nvPicPr>
        <p:blipFill rotWithShape="1">
          <a:blip r:embed="rId3">
            <a:alphaModFix/>
          </a:blip>
          <a:srcRect b="0" l="0" r="0" t="0"/>
          <a:stretch/>
        </p:blipFill>
        <p:spPr>
          <a:xfrm>
            <a:off x="2743200" y="3276600"/>
            <a:ext cx="4100513" cy="2703513"/>
          </a:xfrm>
          <a:prstGeom prst="rect">
            <a:avLst/>
          </a:prstGeom>
          <a:noFill/>
          <a:ln>
            <a:noFill/>
          </a:ln>
        </p:spPr>
      </p:pic>
      <p:sp>
        <p:nvSpPr>
          <p:cNvPr id="144" name="Google Shape;144;p5"/>
          <p:cNvSpPr txBox="1"/>
          <p:nvPr/>
        </p:nvSpPr>
        <p:spPr>
          <a:xfrm>
            <a:off x="304800" y="6248400"/>
            <a:ext cx="2667000" cy="307736"/>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Clr>
                <a:srgbClr val="000000"/>
              </a:buClr>
              <a:buSzPts val="1400"/>
              <a:buFont typeface="Arial"/>
              <a:buNone/>
            </a:pPr>
            <a:r>
              <a:rPr b="1" i="1" lang="en-US" sz="1400" u="none" cap="none" strike="noStrike">
                <a:solidFill>
                  <a:srgbClr val="4C4C4C"/>
                </a:solidFill>
                <a:latin typeface="Helvetica Neue"/>
                <a:ea typeface="Helvetica Neue"/>
                <a:cs typeface="Helvetica Neue"/>
                <a:sym typeface="Helvetica Neue"/>
              </a:rPr>
              <a:t>©2009 J. L. Díaz-Herrera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The Software Process</a:t>
            </a:r>
            <a:endParaRPr/>
          </a:p>
        </p:txBody>
      </p:sp>
      <p:sp>
        <p:nvSpPr>
          <p:cNvPr id="150" name="Google Shape;150;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lang="en-US" sz="2400"/>
              <a:t>A structured set of activities required to develop a </a:t>
            </a:r>
            <a:br>
              <a:rPr lang="en-US" sz="2400"/>
            </a:br>
            <a:r>
              <a:rPr lang="en-US" sz="2400"/>
              <a:t>software system</a:t>
            </a:r>
            <a:endParaRPr/>
          </a:p>
          <a:p>
            <a:pPr indent="-342900" lvl="0" marL="342900" rtl="0" algn="just">
              <a:lnSpc>
                <a:spcPct val="100000"/>
              </a:lnSpc>
              <a:spcBef>
                <a:spcPts val="480"/>
              </a:spcBef>
              <a:spcAft>
                <a:spcPts val="0"/>
              </a:spcAft>
              <a:buClr>
                <a:schemeClr val="dk1"/>
              </a:buClr>
              <a:buSzPts val="2400"/>
              <a:buChar char="•"/>
            </a:pPr>
            <a:r>
              <a:rPr lang="en-US" sz="2400"/>
              <a:t>Many different software processes but all involve (SDIVE):</a:t>
            </a:r>
            <a:endParaRPr/>
          </a:p>
          <a:p>
            <a:pPr indent="-285750" lvl="1" marL="742950" rtl="0" algn="just">
              <a:lnSpc>
                <a:spcPct val="100000"/>
              </a:lnSpc>
              <a:spcBef>
                <a:spcPts val="400"/>
              </a:spcBef>
              <a:spcAft>
                <a:spcPts val="0"/>
              </a:spcAft>
              <a:buClr>
                <a:srgbClr val="C00000"/>
              </a:buClr>
              <a:buSzPts val="2000"/>
              <a:buChar char="–"/>
            </a:pPr>
            <a:r>
              <a:rPr b="1" lang="en-US" sz="2000">
                <a:solidFill>
                  <a:srgbClr val="C00000"/>
                </a:solidFill>
              </a:rPr>
              <a:t>S</a:t>
            </a:r>
            <a:r>
              <a:rPr lang="en-US" sz="2000"/>
              <a:t>pecification – defining what the system should do</a:t>
            </a:r>
            <a:endParaRPr/>
          </a:p>
          <a:p>
            <a:pPr indent="-285750" lvl="1" marL="742950" rtl="0" algn="just">
              <a:lnSpc>
                <a:spcPct val="100000"/>
              </a:lnSpc>
              <a:spcBef>
                <a:spcPts val="400"/>
              </a:spcBef>
              <a:spcAft>
                <a:spcPts val="0"/>
              </a:spcAft>
              <a:buClr>
                <a:srgbClr val="C00000"/>
              </a:buClr>
              <a:buSzPts val="2000"/>
              <a:buChar char="–"/>
            </a:pPr>
            <a:r>
              <a:rPr b="1" lang="en-US" sz="2000">
                <a:solidFill>
                  <a:srgbClr val="C00000"/>
                </a:solidFill>
              </a:rPr>
              <a:t>D</a:t>
            </a:r>
            <a:r>
              <a:rPr lang="en-US" sz="2000"/>
              <a:t>esign and </a:t>
            </a:r>
            <a:r>
              <a:rPr b="1" lang="en-US" sz="2000">
                <a:solidFill>
                  <a:srgbClr val="C00000"/>
                </a:solidFill>
              </a:rPr>
              <a:t>I</a:t>
            </a:r>
            <a:r>
              <a:rPr lang="en-US" sz="2000"/>
              <a:t>mplementation – defining the organization of the system and implementing the system</a:t>
            </a:r>
            <a:endParaRPr/>
          </a:p>
          <a:p>
            <a:pPr indent="-285750" lvl="1" marL="742950" rtl="0" algn="just">
              <a:lnSpc>
                <a:spcPct val="100000"/>
              </a:lnSpc>
              <a:spcBef>
                <a:spcPts val="400"/>
              </a:spcBef>
              <a:spcAft>
                <a:spcPts val="0"/>
              </a:spcAft>
              <a:buClr>
                <a:srgbClr val="C00000"/>
              </a:buClr>
              <a:buSzPts val="2000"/>
              <a:buChar char="–"/>
            </a:pPr>
            <a:r>
              <a:rPr b="1" lang="en-US" sz="2000">
                <a:solidFill>
                  <a:srgbClr val="C00000"/>
                </a:solidFill>
              </a:rPr>
              <a:t>V</a:t>
            </a:r>
            <a:r>
              <a:rPr lang="en-US" sz="2000"/>
              <a:t>alidation – checking that it does what the customer wants</a:t>
            </a:r>
            <a:endParaRPr/>
          </a:p>
          <a:p>
            <a:pPr indent="-285750" lvl="1" marL="742950" rtl="0" algn="just">
              <a:lnSpc>
                <a:spcPct val="100000"/>
              </a:lnSpc>
              <a:spcBef>
                <a:spcPts val="400"/>
              </a:spcBef>
              <a:spcAft>
                <a:spcPts val="0"/>
              </a:spcAft>
              <a:buClr>
                <a:srgbClr val="C00000"/>
              </a:buClr>
              <a:buSzPts val="2000"/>
              <a:buChar char="–"/>
            </a:pPr>
            <a:r>
              <a:rPr b="1" lang="en-US" sz="2000">
                <a:solidFill>
                  <a:srgbClr val="C00000"/>
                </a:solidFill>
              </a:rPr>
              <a:t>E</a:t>
            </a:r>
            <a:r>
              <a:rPr lang="en-US" sz="2000"/>
              <a:t>volution – changing the system in response to changing customer needs</a:t>
            </a:r>
            <a:endParaRPr/>
          </a:p>
          <a:p>
            <a:pPr indent="-342900" lvl="0" marL="342900" rtl="0" algn="just">
              <a:lnSpc>
                <a:spcPct val="100000"/>
              </a:lnSpc>
              <a:spcBef>
                <a:spcPts val="480"/>
              </a:spcBef>
              <a:spcAft>
                <a:spcPts val="0"/>
              </a:spcAft>
              <a:buClr>
                <a:schemeClr val="dk1"/>
              </a:buClr>
              <a:buSzPts val="2400"/>
              <a:buChar char="•"/>
            </a:pPr>
            <a:r>
              <a:rPr lang="en-US" sz="2400"/>
              <a:t>A software process </a:t>
            </a:r>
            <a:r>
              <a:rPr b="1" lang="en-US" sz="2400">
                <a:solidFill>
                  <a:srgbClr val="C00000"/>
                </a:solidFill>
              </a:rPr>
              <a:t>model</a:t>
            </a:r>
            <a:r>
              <a:rPr lang="en-US" sz="2400"/>
              <a:t> is an abstract representation of a process. It presents a description of a process from some particular perspectives.</a:t>
            </a:r>
            <a:endParaRPr/>
          </a:p>
          <a:p>
            <a:pPr indent="0" lvl="0" marL="0" rtl="0" algn="just">
              <a:lnSpc>
                <a:spcPct val="100000"/>
              </a:lnSpc>
              <a:spcBef>
                <a:spcPts val="640"/>
              </a:spcBef>
              <a:spcAft>
                <a:spcPts val="0"/>
              </a:spcAft>
              <a:buClr>
                <a:schemeClr val="dk1"/>
              </a:buClr>
              <a:buSzPts val="3200"/>
              <a:buNone/>
            </a:pPr>
            <a:r>
              <a:t/>
            </a:r>
            <a:endParaRPr/>
          </a:p>
        </p:txBody>
      </p:sp>
      <p:sp>
        <p:nvSpPr>
          <p:cNvPr id="151" name="Google Shape;151;p6"/>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152" name="Google Shape;152;p6"/>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Software Process Descriptions</a:t>
            </a:r>
            <a:endParaRPr/>
          </a:p>
        </p:txBody>
      </p:sp>
      <p:sp>
        <p:nvSpPr>
          <p:cNvPr id="158" name="Google Shape;158;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just">
              <a:lnSpc>
                <a:spcPct val="100000"/>
              </a:lnSpc>
              <a:spcBef>
                <a:spcPts val="0"/>
              </a:spcBef>
              <a:spcAft>
                <a:spcPts val="0"/>
              </a:spcAft>
              <a:buClr>
                <a:schemeClr val="dk1"/>
              </a:buClr>
              <a:buSzPct val="100000"/>
              <a:buChar char="•"/>
            </a:pPr>
            <a:r>
              <a:rPr lang="en-US"/>
              <a:t>When we describe and discuss processes, we usually talk about the </a:t>
            </a:r>
            <a:r>
              <a:rPr b="1" lang="en-US">
                <a:solidFill>
                  <a:srgbClr val="C00000"/>
                </a:solidFill>
              </a:rPr>
              <a:t>activities in these processes </a:t>
            </a:r>
            <a:r>
              <a:rPr lang="en-US"/>
              <a:t>such as specifying a data model, designing a user interface and the ordering of these activities</a:t>
            </a:r>
            <a:endParaRPr/>
          </a:p>
          <a:p>
            <a:pPr indent="-342900" lvl="0" marL="342900" rtl="0" algn="just">
              <a:lnSpc>
                <a:spcPct val="100000"/>
              </a:lnSpc>
              <a:spcBef>
                <a:spcPts val="544"/>
              </a:spcBef>
              <a:spcAft>
                <a:spcPts val="0"/>
              </a:spcAft>
              <a:buClr>
                <a:schemeClr val="dk1"/>
              </a:buClr>
              <a:buSzPct val="100000"/>
              <a:buChar char="•"/>
            </a:pPr>
            <a:r>
              <a:rPr lang="en-US"/>
              <a:t>Process descriptions may also include:</a:t>
            </a:r>
            <a:endParaRPr/>
          </a:p>
          <a:p>
            <a:pPr indent="-285750" lvl="1" marL="742950" rtl="0" algn="just">
              <a:lnSpc>
                <a:spcPct val="100000"/>
              </a:lnSpc>
              <a:spcBef>
                <a:spcPts val="476"/>
              </a:spcBef>
              <a:spcAft>
                <a:spcPts val="0"/>
              </a:spcAft>
              <a:buClr>
                <a:srgbClr val="C00000"/>
              </a:buClr>
              <a:buSzPct val="100000"/>
              <a:buChar char="–"/>
            </a:pPr>
            <a:r>
              <a:rPr b="1" lang="en-US">
                <a:solidFill>
                  <a:srgbClr val="C00000"/>
                </a:solidFill>
              </a:rPr>
              <a:t>Products</a:t>
            </a:r>
            <a:r>
              <a:rPr lang="en-US"/>
              <a:t>, which are the outcomes of a process activity </a:t>
            </a:r>
            <a:endParaRPr/>
          </a:p>
          <a:p>
            <a:pPr indent="-285750" lvl="1" marL="742950" rtl="0" algn="just">
              <a:lnSpc>
                <a:spcPct val="100000"/>
              </a:lnSpc>
              <a:spcBef>
                <a:spcPts val="476"/>
              </a:spcBef>
              <a:spcAft>
                <a:spcPts val="0"/>
              </a:spcAft>
              <a:buClr>
                <a:srgbClr val="C00000"/>
              </a:buClr>
              <a:buSzPct val="100000"/>
              <a:buChar char="–"/>
            </a:pPr>
            <a:r>
              <a:rPr b="1" lang="en-US">
                <a:solidFill>
                  <a:srgbClr val="C00000"/>
                </a:solidFill>
              </a:rPr>
              <a:t>Roles</a:t>
            </a:r>
            <a:r>
              <a:rPr lang="en-US"/>
              <a:t>, which reflect the responsibilities of the people involved in the process</a:t>
            </a:r>
            <a:endParaRPr/>
          </a:p>
          <a:p>
            <a:pPr indent="-285750" lvl="1" marL="742950" rtl="0" algn="just">
              <a:lnSpc>
                <a:spcPct val="100000"/>
              </a:lnSpc>
              <a:spcBef>
                <a:spcPts val="476"/>
              </a:spcBef>
              <a:spcAft>
                <a:spcPts val="0"/>
              </a:spcAft>
              <a:buClr>
                <a:srgbClr val="C00000"/>
              </a:buClr>
              <a:buSzPct val="100000"/>
              <a:buChar char="–"/>
            </a:pPr>
            <a:r>
              <a:rPr b="1" lang="en-US">
                <a:solidFill>
                  <a:srgbClr val="C00000"/>
                </a:solidFill>
              </a:rPr>
              <a:t>Pre- and post-conditions</a:t>
            </a:r>
            <a:r>
              <a:rPr lang="en-US"/>
              <a:t>, which are statements that are true before and after a process activity has been enacted or a product produced   </a:t>
            </a:r>
            <a:endParaRPr/>
          </a:p>
          <a:p>
            <a:pPr indent="0" lvl="0" marL="0" rtl="0" algn="just">
              <a:lnSpc>
                <a:spcPct val="100000"/>
              </a:lnSpc>
              <a:spcBef>
                <a:spcPts val="544"/>
              </a:spcBef>
              <a:spcAft>
                <a:spcPts val="0"/>
              </a:spcAft>
              <a:buClr>
                <a:schemeClr val="dk1"/>
              </a:buClr>
              <a:buSzPct val="100000"/>
              <a:buNone/>
            </a:pPr>
            <a:r>
              <a:t/>
            </a:r>
            <a:endParaRPr/>
          </a:p>
        </p:txBody>
      </p:sp>
      <p:sp>
        <p:nvSpPr>
          <p:cNvPr id="159" name="Google Shape;159;p7"/>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160" name="Google Shape;160;p7"/>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Process Descriptions</a:t>
            </a:r>
            <a:endParaRPr/>
          </a:p>
        </p:txBody>
      </p:sp>
      <p:sp>
        <p:nvSpPr>
          <p:cNvPr id="166" name="Google Shape;166;p8"/>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167" name="Google Shape;167;p8"/>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68" name="Google Shape;168;p8"/>
          <p:cNvGrpSpPr/>
          <p:nvPr/>
        </p:nvGrpSpPr>
        <p:grpSpPr>
          <a:xfrm>
            <a:off x="464433" y="2628037"/>
            <a:ext cx="8215133" cy="1297126"/>
            <a:chOff x="7233" y="1027836"/>
            <a:chExt cx="8215133" cy="1297126"/>
          </a:xfrm>
        </p:grpSpPr>
        <p:sp>
          <p:nvSpPr>
            <p:cNvPr id="169" name="Google Shape;169;p8"/>
            <p:cNvSpPr/>
            <p:nvPr/>
          </p:nvSpPr>
          <p:spPr>
            <a:xfrm>
              <a:off x="7233" y="1027836"/>
              <a:ext cx="2161877" cy="1297126"/>
            </a:xfrm>
            <a:prstGeom prst="roundRect">
              <a:avLst>
                <a:gd fmla="val 10000" name="adj"/>
              </a:avLst>
            </a:prstGeom>
            <a:solidFill>
              <a:srgbClr val="1D497D"/>
            </a:solidFill>
            <a:ln cap="flat" cmpd="sng" w="25400">
              <a:solidFill>
                <a:srgbClr val="EEEC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8"/>
            <p:cNvSpPr txBox="1"/>
            <p:nvPr/>
          </p:nvSpPr>
          <p:spPr>
            <a:xfrm>
              <a:off x="45225" y="1065828"/>
              <a:ext cx="2085893" cy="1221142"/>
            </a:xfrm>
            <a:prstGeom prst="rect">
              <a:avLst/>
            </a:prstGeom>
            <a:noFill/>
            <a:ln>
              <a:noFill/>
            </a:ln>
          </p:spPr>
          <p:txBody>
            <a:bodyPr anchorCtr="0" anchor="ctr" bIns="144775" lIns="144775" spcFirstLastPara="1" rIns="144775" wrap="square" tIns="144775">
              <a:noAutofit/>
            </a:bodyPr>
            <a:lstStyle/>
            <a:p>
              <a:pPr indent="0" lvl="0" marL="0" marR="0" rtl="0" algn="ctr">
                <a:lnSpc>
                  <a:spcPct val="90000"/>
                </a:lnSpc>
                <a:spcBef>
                  <a:spcPts val="0"/>
                </a:spcBef>
                <a:spcAft>
                  <a:spcPts val="0"/>
                </a:spcAft>
                <a:buClr>
                  <a:schemeClr val="lt1"/>
                </a:buClr>
                <a:buSzPts val="3800"/>
                <a:buFont typeface="Calibri"/>
                <a:buNone/>
              </a:pPr>
              <a:r>
                <a:rPr b="0" i="0" lang="en-US" sz="3800" u="none" cap="none" strike="noStrike">
                  <a:solidFill>
                    <a:schemeClr val="lt1"/>
                  </a:solidFill>
                  <a:latin typeface="Calibri"/>
                  <a:ea typeface="Calibri"/>
                  <a:cs typeface="Calibri"/>
                  <a:sym typeface="Calibri"/>
                </a:rPr>
                <a:t>Input</a:t>
              </a:r>
              <a:endParaRPr b="0" i="0" sz="3800" u="none" cap="none" strike="noStrike">
                <a:solidFill>
                  <a:schemeClr val="lt1"/>
                </a:solidFill>
                <a:latin typeface="Calibri"/>
                <a:ea typeface="Calibri"/>
                <a:cs typeface="Calibri"/>
                <a:sym typeface="Calibri"/>
              </a:endParaRPr>
            </a:p>
          </p:txBody>
        </p:sp>
        <p:sp>
          <p:nvSpPr>
            <p:cNvPr id="171" name="Google Shape;171;p8"/>
            <p:cNvSpPr/>
            <p:nvPr/>
          </p:nvSpPr>
          <p:spPr>
            <a:xfrm>
              <a:off x="2385298" y="1408327"/>
              <a:ext cx="458317" cy="536145"/>
            </a:xfrm>
            <a:prstGeom prst="rightArrow">
              <a:avLst>
                <a:gd fmla="val 60000" name="adj1"/>
                <a:gd fmla="val 50000" name="adj2"/>
              </a:avLst>
            </a:prstGeom>
            <a:solidFill>
              <a:srgbClr val="A7AF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8"/>
            <p:cNvSpPr txBox="1"/>
            <p:nvPr/>
          </p:nvSpPr>
          <p:spPr>
            <a:xfrm>
              <a:off x="2385298" y="1515556"/>
              <a:ext cx="320822" cy="321687"/>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300"/>
                <a:buFont typeface="Calibri"/>
                <a:buNone/>
              </a:pPr>
              <a:r>
                <a:t/>
              </a:r>
              <a:endParaRPr b="0" i="0" sz="2300" u="none" cap="none" strike="noStrike">
                <a:solidFill>
                  <a:schemeClr val="lt1"/>
                </a:solidFill>
                <a:latin typeface="Calibri"/>
                <a:ea typeface="Calibri"/>
                <a:cs typeface="Calibri"/>
                <a:sym typeface="Calibri"/>
              </a:endParaRPr>
            </a:p>
          </p:txBody>
        </p:sp>
        <p:sp>
          <p:nvSpPr>
            <p:cNvPr id="173" name="Google Shape;173;p8"/>
            <p:cNvSpPr/>
            <p:nvPr/>
          </p:nvSpPr>
          <p:spPr>
            <a:xfrm>
              <a:off x="3033861" y="1027836"/>
              <a:ext cx="2161877" cy="1297126"/>
            </a:xfrm>
            <a:prstGeom prst="roundRect">
              <a:avLst>
                <a:gd fmla="val 10000" name="adj"/>
              </a:avLst>
            </a:prstGeom>
            <a:solidFill>
              <a:srgbClr val="92D050"/>
            </a:solidFill>
            <a:ln cap="flat" cmpd="sng" w="25400">
              <a:solidFill>
                <a:srgbClr val="EEEC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8"/>
            <p:cNvSpPr txBox="1"/>
            <p:nvPr/>
          </p:nvSpPr>
          <p:spPr>
            <a:xfrm>
              <a:off x="3071853" y="1065828"/>
              <a:ext cx="2085893" cy="1221142"/>
            </a:xfrm>
            <a:prstGeom prst="rect">
              <a:avLst/>
            </a:prstGeom>
            <a:noFill/>
            <a:ln>
              <a:noFill/>
            </a:ln>
          </p:spPr>
          <p:txBody>
            <a:bodyPr anchorCtr="0" anchor="ctr" bIns="144775" lIns="144775" spcFirstLastPara="1" rIns="144775" wrap="square" tIns="144775">
              <a:noAutofit/>
            </a:bodyPr>
            <a:lstStyle/>
            <a:p>
              <a:pPr indent="0" lvl="0" marL="0" marR="0" rtl="0" algn="ctr">
                <a:lnSpc>
                  <a:spcPct val="90000"/>
                </a:lnSpc>
                <a:spcBef>
                  <a:spcPts val="0"/>
                </a:spcBef>
                <a:spcAft>
                  <a:spcPts val="0"/>
                </a:spcAft>
                <a:buClr>
                  <a:schemeClr val="lt1"/>
                </a:buClr>
                <a:buSzPts val="3800"/>
                <a:buFont typeface="Calibri"/>
                <a:buNone/>
              </a:pPr>
              <a:r>
                <a:rPr b="0" i="0" lang="en-US" sz="3800" u="none" cap="none" strike="noStrike">
                  <a:solidFill>
                    <a:schemeClr val="lt1"/>
                  </a:solidFill>
                  <a:latin typeface="Calibri"/>
                  <a:ea typeface="Calibri"/>
                  <a:cs typeface="Calibri"/>
                  <a:sym typeface="Calibri"/>
                </a:rPr>
                <a:t>PROCESS</a:t>
              </a:r>
              <a:endParaRPr b="0" i="0" sz="1400" u="none" cap="none" strike="noStrike">
                <a:solidFill>
                  <a:srgbClr val="000000"/>
                </a:solidFill>
                <a:latin typeface="Arial"/>
                <a:ea typeface="Arial"/>
                <a:cs typeface="Arial"/>
                <a:sym typeface="Arial"/>
              </a:endParaRPr>
            </a:p>
          </p:txBody>
        </p:sp>
        <p:sp>
          <p:nvSpPr>
            <p:cNvPr id="175" name="Google Shape;175;p8"/>
            <p:cNvSpPr/>
            <p:nvPr/>
          </p:nvSpPr>
          <p:spPr>
            <a:xfrm>
              <a:off x="5411926" y="1408327"/>
              <a:ext cx="458317" cy="536145"/>
            </a:xfrm>
            <a:prstGeom prst="rightArrow">
              <a:avLst>
                <a:gd fmla="val 60000" name="adj1"/>
                <a:gd fmla="val 50000" name="adj2"/>
              </a:avLst>
            </a:prstGeom>
            <a:solidFill>
              <a:srgbClr val="A7AF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8"/>
            <p:cNvSpPr txBox="1"/>
            <p:nvPr/>
          </p:nvSpPr>
          <p:spPr>
            <a:xfrm>
              <a:off x="5411926" y="1515556"/>
              <a:ext cx="320822" cy="321687"/>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300"/>
                <a:buFont typeface="Calibri"/>
                <a:buNone/>
              </a:pPr>
              <a:r>
                <a:t/>
              </a:r>
              <a:endParaRPr b="0" i="0" sz="2300" u="none" cap="none" strike="noStrike">
                <a:solidFill>
                  <a:schemeClr val="lt1"/>
                </a:solidFill>
                <a:latin typeface="Calibri"/>
                <a:ea typeface="Calibri"/>
                <a:cs typeface="Calibri"/>
                <a:sym typeface="Calibri"/>
              </a:endParaRPr>
            </a:p>
          </p:txBody>
        </p:sp>
        <p:sp>
          <p:nvSpPr>
            <p:cNvPr id="177" name="Google Shape;177;p8"/>
            <p:cNvSpPr/>
            <p:nvPr/>
          </p:nvSpPr>
          <p:spPr>
            <a:xfrm>
              <a:off x="6060489" y="1027836"/>
              <a:ext cx="2161877" cy="1297126"/>
            </a:xfrm>
            <a:prstGeom prst="roundRect">
              <a:avLst>
                <a:gd fmla="val 10000" name="adj"/>
              </a:avLst>
            </a:prstGeom>
            <a:solidFill>
              <a:srgbClr val="1D497D"/>
            </a:solidFill>
            <a:ln cap="flat" cmpd="sng" w="25400">
              <a:solidFill>
                <a:srgbClr val="EEEC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8"/>
            <p:cNvSpPr txBox="1"/>
            <p:nvPr/>
          </p:nvSpPr>
          <p:spPr>
            <a:xfrm>
              <a:off x="6098481" y="1065828"/>
              <a:ext cx="2085893" cy="1221142"/>
            </a:xfrm>
            <a:prstGeom prst="rect">
              <a:avLst/>
            </a:prstGeom>
            <a:noFill/>
            <a:ln>
              <a:noFill/>
            </a:ln>
          </p:spPr>
          <p:txBody>
            <a:bodyPr anchorCtr="0" anchor="ctr" bIns="144775" lIns="144775" spcFirstLastPara="1" rIns="144775" wrap="square" tIns="144775">
              <a:noAutofit/>
            </a:bodyPr>
            <a:lstStyle/>
            <a:p>
              <a:pPr indent="0" lvl="0" marL="0" marR="0" rtl="0" algn="ctr">
                <a:lnSpc>
                  <a:spcPct val="90000"/>
                </a:lnSpc>
                <a:spcBef>
                  <a:spcPts val="0"/>
                </a:spcBef>
                <a:spcAft>
                  <a:spcPts val="0"/>
                </a:spcAft>
                <a:buClr>
                  <a:schemeClr val="lt1"/>
                </a:buClr>
                <a:buSzPts val="3800"/>
                <a:buFont typeface="Calibri"/>
                <a:buNone/>
              </a:pPr>
              <a:r>
                <a:rPr b="0" i="0" lang="en-US" sz="3800" u="none" cap="none" strike="noStrike">
                  <a:solidFill>
                    <a:schemeClr val="lt1"/>
                  </a:solidFill>
                  <a:latin typeface="Calibri"/>
                  <a:ea typeface="Calibri"/>
                  <a:cs typeface="Calibri"/>
                  <a:sym typeface="Calibri"/>
                </a:rPr>
                <a:t>Output</a:t>
              </a:r>
              <a:endParaRPr b="0" i="0" sz="3800" u="none" cap="none" strike="noStrike">
                <a:solidFill>
                  <a:schemeClr val="lt1"/>
                </a:solidFill>
                <a:latin typeface="Calibri"/>
                <a:ea typeface="Calibri"/>
                <a:cs typeface="Calibri"/>
                <a:sym typeface="Calibri"/>
              </a:endParaRPr>
            </a:p>
          </p:txBody>
        </p:sp>
      </p:grpSp>
      <p:grpSp>
        <p:nvGrpSpPr>
          <p:cNvPr id="179" name="Google Shape;179;p8"/>
          <p:cNvGrpSpPr/>
          <p:nvPr/>
        </p:nvGrpSpPr>
        <p:grpSpPr>
          <a:xfrm>
            <a:off x="4309269" y="4311858"/>
            <a:ext cx="525462" cy="942316"/>
            <a:chOff x="4309269" y="4054553"/>
            <a:chExt cx="525462" cy="1199621"/>
          </a:xfrm>
        </p:grpSpPr>
        <p:sp>
          <p:nvSpPr>
            <p:cNvPr id="180" name="Google Shape;180;p8"/>
            <p:cNvSpPr/>
            <p:nvPr/>
          </p:nvSpPr>
          <p:spPr>
            <a:xfrm rot="-5400000">
              <a:off x="4140200" y="4559643"/>
              <a:ext cx="863600" cy="525462"/>
            </a:xfrm>
            <a:prstGeom prst="flowChartDelay">
              <a:avLst/>
            </a:prstGeom>
            <a:gradFill>
              <a:gsLst>
                <a:gs pos="0">
                  <a:srgbClr val="2D5C97"/>
                </a:gs>
                <a:gs pos="80000">
                  <a:srgbClr val="3C7AC5"/>
                </a:gs>
                <a:gs pos="100000">
                  <a:srgbClr val="397BC9"/>
                </a:gs>
              </a:gsLst>
              <a:lin ang="16200000" scaled="0"/>
            </a:gradFill>
            <a:ln cap="flat" cmpd="sng" w="9525">
              <a:solidFill>
                <a:srgbClr val="4A7DBA"/>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81" name="Google Shape;181;p8"/>
            <p:cNvSpPr/>
            <p:nvPr/>
          </p:nvSpPr>
          <p:spPr>
            <a:xfrm>
              <a:off x="4427537" y="4054553"/>
              <a:ext cx="288925" cy="369887"/>
            </a:xfrm>
            <a:prstGeom prst="ellipse">
              <a:avLst/>
            </a:prstGeom>
            <a:gradFill>
              <a:gsLst>
                <a:gs pos="0">
                  <a:srgbClr val="2D5C97"/>
                </a:gs>
                <a:gs pos="80000">
                  <a:srgbClr val="3C7AC5"/>
                </a:gs>
                <a:gs pos="100000">
                  <a:srgbClr val="397BC9"/>
                </a:gs>
              </a:gsLst>
              <a:lin ang="16200000" scaled="0"/>
            </a:gradFill>
            <a:ln cap="flat" cmpd="sng" w="9525">
              <a:solidFill>
                <a:srgbClr val="4A7DBA"/>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sp>
        <p:nvSpPr>
          <p:cNvPr id="182" name="Google Shape;182;p8"/>
          <p:cNvSpPr txBox="1"/>
          <p:nvPr/>
        </p:nvSpPr>
        <p:spPr>
          <a:xfrm>
            <a:off x="482203" y="4010895"/>
            <a:ext cx="2590800" cy="3796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Pre-condition (if any)</a:t>
            </a:r>
            <a:endParaRPr b="0" i="0" sz="1400" u="none" cap="none" strike="noStrike">
              <a:solidFill>
                <a:srgbClr val="000000"/>
              </a:solidFill>
              <a:latin typeface="Arial"/>
              <a:ea typeface="Arial"/>
              <a:cs typeface="Arial"/>
              <a:sym typeface="Arial"/>
            </a:endParaRPr>
          </a:p>
        </p:txBody>
      </p:sp>
      <p:sp>
        <p:nvSpPr>
          <p:cNvPr id="183" name="Google Shape;183;p8"/>
          <p:cNvSpPr txBox="1"/>
          <p:nvPr/>
        </p:nvSpPr>
        <p:spPr>
          <a:xfrm>
            <a:off x="4233333" y="5281481"/>
            <a:ext cx="13716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Roles </a:t>
            </a:r>
            <a:endParaRPr b="0" i="0" sz="1400" u="none" cap="none" strike="noStrike">
              <a:solidFill>
                <a:srgbClr val="000000"/>
              </a:solidFill>
              <a:latin typeface="Arial"/>
              <a:ea typeface="Arial"/>
              <a:cs typeface="Arial"/>
              <a:sym typeface="Arial"/>
            </a:endParaRPr>
          </a:p>
        </p:txBody>
      </p:sp>
      <p:sp>
        <p:nvSpPr>
          <p:cNvPr id="184" name="Google Shape;184;p8"/>
          <p:cNvSpPr txBox="1"/>
          <p:nvPr/>
        </p:nvSpPr>
        <p:spPr>
          <a:xfrm>
            <a:off x="6587067" y="3916330"/>
            <a:ext cx="2330823"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Product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Post-condition (if any)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Plan-Driven and Agile Processes</a:t>
            </a:r>
            <a:endParaRPr/>
          </a:p>
        </p:txBody>
      </p:sp>
      <p:sp>
        <p:nvSpPr>
          <p:cNvPr id="190" name="Google Shape;190;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lnSpc>
                <a:spcPct val="100000"/>
              </a:lnSpc>
              <a:spcBef>
                <a:spcPts val="0"/>
              </a:spcBef>
              <a:spcAft>
                <a:spcPts val="0"/>
              </a:spcAft>
              <a:buClr>
                <a:schemeClr val="dk1"/>
              </a:buClr>
              <a:buSzPct val="100000"/>
              <a:buChar char="•"/>
            </a:pPr>
            <a:r>
              <a:rPr lang="en-US"/>
              <a:t>Plan-driven processes are processes where all of the process activities are </a:t>
            </a:r>
            <a:r>
              <a:rPr b="1" lang="en-US">
                <a:solidFill>
                  <a:srgbClr val="C00000"/>
                </a:solidFill>
              </a:rPr>
              <a:t>planned in advance </a:t>
            </a:r>
            <a:r>
              <a:rPr lang="en-US"/>
              <a:t>and progress is measured against this plan</a:t>
            </a:r>
            <a:endParaRPr/>
          </a:p>
          <a:p>
            <a:pPr indent="-342900" lvl="0" marL="342900" rtl="0" algn="just">
              <a:lnSpc>
                <a:spcPct val="100000"/>
              </a:lnSpc>
              <a:spcBef>
                <a:spcPts val="592"/>
              </a:spcBef>
              <a:spcAft>
                <a:spcPts val="0"/>
              </a:spcAft>
              <a:buClr>
                <a:schemeClr val="dk1"/>
              </a:buClr>
              <a:buSzPct val="100000"/>
              <a:buChar char="•"/>
            </a:pPr>
            <a:r>
              <a:rPr lang="en-US"/>
              <a:t>In agile processes, </a:t>
            </a:r>
            <a:r>
              <a:rPr b="1" lang="en-US">
                <a:solidFill>
                  <a:srgbClr val="C00000"/>
                </a:solidFill>
              </a:rPr>
              <a:t>planning is incremental, </a:t>
            </a:r>
            <a:r>
              <a:rPr lang="en-US"/>
              <a:t>and it is easier to change the process to reflect changing customer requirements</a:t>
            </a:r>
            <a:endParaRPr/>
          </a:p>
          <a:p>
            <a:pPr indent="-342900" lvl="0" marL="342900" rtl="0" algn="just">
              <a:lnSpc>
                <a:spcPct val="100000"/>
              </a:lnSpc>
              <a:spcBef>
                <a:spcPts val="592"/>
              </a:spcBef>
              <a:spcAft>
                <a:spcPts val="0"/>
              </a:spcAft>
              <a:buClr>
                <a:schemeClr val="dk1"/>
              </a:buClr>
              <a:buSzPct val="100000"/>
              <a:buChar char="•"/>
            </a:pPr>
            <a:r>
              <a:rPr lang="en-US"/>
              <a:t>In practice, most practical processes include elements of both plan-driven and agile approaches</a:t>
            </a:r>
            <a:endParaRPr/>
          </a:p>
          <a:p>
            <a:pPr indent="-342900" lvl="0" marL="342900" rtl="0" algn="just">
              <a:lnSpc>
                <a:spcPct val="100000"/>
              </a:lnSpc>
              <a:spcBef>
                <a:spcPts val="592"/>
              </a:spcBef>
              <a:spcAft>
                <a:spcPts val="0"/>
              </a:spcAft>
              <a:buClr>
                <a:schemeClr val="dk1"/>
              </a:buClr>
              <a:buSzPct val="100000"/>
              <a:buChar char="•"/>
            </a:pPr>
            <a:r>
              <a:rPr lang="en-US"/>
              <a:t>There are no right or wrong software processes</a:t>
            </a:r>
            <a:endParaRPr/>
          </a:p>
          <a:p>
            <a:pPr indent="0" lvl="0" marL="0" rtl="0" algn="just">
              <a:lnSpc>
                <a:spcPct val="100000"/>
              </a:lnSpc>
              <a:spcBef>
                <a:spcPts val="592"/>
              </a:spcBef>
              <a:spcAft>
                <a:spcPts val="0"/>
              </a:spcAft>
              <a:buClr>
                <a:schemeClr val="dk1"/>
              </a:buClr>
              <a:buSzPct val="100000"/>
              <a:buNone/>
            </a:pPr>
            <a:r>
              <a:t/>
            </a:r>
            <a:endParaRPr/>
          </a:p>
        </p:txBody>
      </p:sp>
      <p:sp>
        <p:nvSpPr>
          <p:cNvPr id="191" name="Google Shape;191;p9"/>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192" name="Google Shape;192;p9"/>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7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Calibri"/>
              <a:buNone/>
            </a:pPr>
            <a:r>
              <a:rPr lang="en-US"/>
              <a:t>Software Process Models</a:t>
            </a:r>
            <a:endParaRPr/>
          </a:p>
        </p:txBody>
      </p:sp>
      <p:sp>
        <p:nvSpPr>
          <p:cNvPr id="198" name="Google Shape;198;p7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00"/>
              </a:spcBef>
              <a:spcAft>
                <a:spcPts val="0"/>
              </a:spcAft>
              <a:buClr>
                <a:srgbClr val="888888"/>
              </a:buClr>
              <a:buSzPts val="2000"/>
              <a:buNone/>
            </a:pPr>
            <a:r>
              <a:t/>
            </a:r>
            <a:endParaRPr/>
          </a:p>
        </p:txBody>
      </p:sp>
      <p:sp>
        <p:nvSpPr>
          <p:cNvPr id="199" name="Google Shape;199;p74"/>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Software Process Models</a:t>
            </a:r>
            <a:endParaRPr/>
          </a:p>
        </p:txBody>
      </p:sp>
      <p:sp>
        <p:nvSpPr>
          <p:cNvPr id="205" name="Google Shape;205;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185420" lvl="0" marL="342900" rtl="0" algn="just">
              <a:lnSpc>
                <a:spcPct val="100000"/>
              </a:lnSpc>
              <a:spcBef>
                <a:spcPts val="0"/>
              </a:spcBef>
              <a:spcAft>
                <a:spcPts val="0"/>
              </a:spcAft>
              <a:buClr>
                <a:schemeClr val="dk1"/>
              </a:buClr>
              <a:buSzPct val="100000"/>
              <a:buNone/>
            </a:pPr>
            <a:r>
              <a:t/>
            </a:r>
            <a:endParaRPr/>
          </a:p>
          <a:p>
            <a:pPr indent="-342900" lvl="0" marL="342900" rtl="0" algn="just">
              <a:lnSpc>
                <a:spcPct val="100000"/>
              </a:lnSpc>
              <a:spcBef>
                <a:spcPts val="0"/>
              </a:spcBef>
              <a:spcAft>
                <a:spcPts val="0"/>
              </a:spcAft>
              <a:buClr>
                <a:schemeClr val="dk1"/>
              </a:buClr>
              <a:buSzPct val="100000"/>
              <a:buChar char="•"/>
            </a:pPr>
            <a:r>
              <a:rPr lang="en-US"/>
              <a:t>(1) The waterfall model</a:t>
            </a:r>
            <a:endParaRPr/>
          </a:p>
          <a:p>
            <a:pPr indent="-285750" lvl="1" marL="742950" rtl="0" algn="just">
              <a:lnSpc>
                <a:spcPct val="100000"/>
              </a:lnSpc>
              <a:spcBef>
                <a:spcPts val="476"/>
              </a:spcBef>
              <a:spcAft>
                <a:spcPts val="0"/>
              </a:spcAft>
              <a:buClr>
                <a:schemeClr val="dk1"/>
              </a:buClr>
              <a:buSzPct val="100000"/>
              <a:buChar char="–"/>
            </a:pPr>
            <a:r>
              <a:rPr lang="en-US"/>
              <a:t>Plan-driven model, separate and distinct phases of specification and development</a:t>
            </a:r>
            <a:endParaRPr/>
          </a:p>
          <a:p>
            <a:pPr indent="-342900" lvl="0" marL="342900" rtl="0" algn="just">
              <a:lnSpc>
                <a:spcPct val="100000"/>
              </a:lnSpc>
              <a:spcBef>
                <a:spcPts val="544"/>
              </a:spcBef>
              <a:spcAft>
                <a:spcPts val="0"/>
              </a:spcAft>
              <a:buClr>
                <a:schemeClr val="dk1"/>
              </a:buClr>
              <a:buSzPct val="100000"/>
              <a:buChar char="•"/>
            </a:pPr>
            <a:r>
              <a:rPr lang="en-US"/>
              <a:t>(2) Incremental development</a:t>
            </a:r>
            <a:endParaRPr/>
          </a:p>
          <a:p>
            <a:pPr indent="-285750" lvl="1" marL="742950" rtl="0" algn="just">
              <a:lnSpc>
                <a:spcPct val="100000"/>
              </a:lnSpc>
              <a:spcBef>
                <a:spcPts val="476"/>
              </a:spcBef>
              <a:spcAft>
                <a:spcPts val="0"/>
              </a:spcAft>
              <a:buClr>
                <a:schemeClr val="dk1"/>
              </a:buClr>
              <a:buSzPct val="100000"/>
              <a:buChar char="–"/>
            </a:pPr>
            <a:r>
              <a:rPr lang="en-US"/>
              <a:t>Specification, development and validation are interleaved; may be plan-driven or agile</a:t>
            </a:r>
            <a:endParaRPr/>
          </a:p>
          <a:p>
            <a:pPr indent="-342900" lvl="0" marL="342900" rtl="0" algn="just">
              <a:lnSpc>
                <a:spcPct val="100000"/>
              </a:lnSpc>
              <a:spcBef>
                <a:spcPts val="544"/>
              </a:spcBef>
              <a:spcAft>
                <a:spcPts val="0"/>
              </a:spcAft>
              <a:buClr>
                <a:schemeClr val="dk1"/>
              </a:buClr>
              <a:buSzPct val="100000"/>
              <a:buChar char="•"/>
            </a:pPr>
            <a:r>
              <a:rPr lang="en-US"/>
              <a:t>(3) Integration and configuration</a:t>
            </a:r>
            <a:endParaRPr/>
          </a:p>
          <a:p>
            <a:pPr indent="-285750" lvl="1" marL="742950" rtl="0" algn="just">
              <a:lnSpc>
                <a:spcPct val="100000"/>
              </a:lnSpc>
              <a:spcBef>
                <a:spcPts val="476"/>
              </a:spcBef>
              <a:spcAft>
                <a:spcPts val="0"/>
              </a:spcAft>
              <a:buClr>
                <a:schemeClr val="dk1"/>
              </a:buClr>
              <a:buSzPct val="100000"/>
              <a:buChar char="–"/>
            </a:pPr>
            <a:r>
              <a:rPr lang="en-US"/>
              <a:t>The system is assembled from existing components; may be plan-driven or agile.</a:t>
            </a:r>
            <a:endParaRPr/>
          </a:p>
          <a:p>
            <a:pPr indent="-342900" lvl="0" marL="342900" rtl="0" algn="just">
              <a:lnSpc>
                <a:spcPct val="100000"/>
              </a:lnSpc>
              <a:spcBef>
                <a:spcPts val="544"/>
              </a:spcBef>
              <a:spcAft>
                <a:spcPts val="0"/>
              </a:spcAft>
              <a:buClr>
                <a:schemeClr val="dk1"/>
              </a:buClr>
              <a:buSzPct val="100000"/>
              <a:buChar char="•"/>
            </a:pPr>
            <a:r>
              <a:rPr lang="en-US"/>
              <a:t>In practice, most large systems are developed using a process that incorporates elements from all of these models</a:t>
            </a:r>
            <a:endParaRPr/>
          </a:p>
          <a:p>
            <a:pPr indent="0" lvl="0" marL="0" rtl="0" algn="just">
              <a:lnSpc>
                <a:spcPct val="100000"/>
              </a:lnSpc>
              <a:spcBef>
                <a:spcPts val="544"/>
              </a:spcBef>
              <a:spcAft>
                <a:spcPts val="0"/>
              </a:spcAft>
              <a:buClr>
                <a:schemeClr val="dk1"/>
              </a:buClr>
              <a:buSzPct val="100000"/>
              <a:buNone/>
            </a:pPr>
            <a:r>
              <a:t/>
            </a:r>
            <a:endParaRPr/>
          </a:p>
        </p:txBody>
      </p:sp>
      <p:sp>
        <p:nvSpPr>
          <p:cNvPr id="206" name="Google Shape;206;p10"/>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207" name="Google Shape;207;p10"/>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br>
              <a:rPr lang="en-US"/>
            </a:br>
            <a:r>
              <a:rPr lang="en-US"/>
              <a:t>(1) The Waterfall Model</a:t>
            </a:r>
            <a:br>
              <a:rPr lang="en-US"/>
            </a:br>
            <a:endParaRPr/>
          </a:p>
        </p:txBody>
      </p:sp>
      <p:sp>
        <p:nvSpPr>
          <p:cNvPr id="213" name="Google Shape;213;p11"/>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214" name="Google Shape;214;p11"/>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15" name="Google Shape;215;p11"/>
          <p:cNvPicPr preferRelativeResize="0"/>
          <p:nvPr>
            <p:ph idx="1" type="body"/>
          </p:nvPr>
        </p:nvPicPr>
        <p:blipFill rotWithShape="1">
          <a:blip r:embed="rId3">
            <a:alphaModFix/>
          </a:blip>
          <a:srcRect b="0" l="0" r="0" t="0"/>
          <a:stretch/>
        </p:blipFill>
        <p:spPr>
          <a:xfrm>
            <a:off x="1027953" y="1752600"/>
            <a:ext cx="6820647" cy="406189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Waterfall Model Phases</a:t>
            </a:r>
            <a:endParaRPr/>
          </a:p>
        </p:txBody>
      </p:sp>
      <p:sp>
        <p:nvSpPr>
          <p:cNvPr id="222" name="Google Shape;222;p12"/>
          <p:cNvSpPr txBox="1"/>
          <p:nvPr>
            <p:ph idx="1" type="body"/>
          </p:nvPr>
        </p:nvSpPr>
        <p:spPr>
          <a:xfrm>
            <a:off x="457200" y="1600200"/>
            <a:ext cx="8229600" cy="47244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Clr>
                <a:schemeClr val="dk1"/>
              </a:buClr>
              <a:buSzPct val="100000"/>
              <a:buChar char="•"/>
            </a:pPr>
            <a:r>
              <a:rPr lang="en-US"/>
              <a:t>There are separate identified phases in the waterfall model:</a:t>
            </a:r>
            <a:endParaRPr/>
          </a:p>
          <a:p>
            <a:pPr indent="-285750" lvl="1" marL="742950" rtl="0" algn="just">
              <a:lnSpc>
                <a:spcPct val="100000"/>
              </a:lnSpc>
              <a:spcBef>
                <a:spcPts val="476"/>
              </a:spcBef>
              <a:spcAft>
                <a:spcPts val="0"/>
              </a:spcAft>
              <a:buClr>
                <a:schemeClr val="dk1"/>
              </a:buClr>
              <a:buSzPct val="100000"/>
              <a:buChar char="–"/>
            </a:pPr>
            <a:r>
              <a:rPr lang="en-US"/>
              <a:t>Requirements analysis and definition</a:t>
            </a:r>
            <a:endParaRPr/>
          </a:p>
          <a:p>
            <a:pPr indent="-285750" lvl="1" marL="742950" rtl="0" algn="just">
              <a:lnSpc>
                <a:spcPct val="100000"/>
              </a:lnSpc>
              <a:spcBef>
                <a:spcPts val="476"/>
              </a:spcBef>
              <a:spcAft>
                <a:spcPts val="0"/>
              </a:spcAft>
              <a:buClr>
                <a:schemeClr val="dk1"/>
              </a:buClr>
              <a:buSzPct val="100000"/>
              <a:buChar char="–"/>
            </a:pPr>
            <a:r>
              <a:rPr lang="en-US"/>
              <a:t>System and software design</a:t>
            </a:r>
            <a:endParaRPr/>
          </a:p>
          <a:p>
            <a:pPr indent="-285750" lvl="1" marL="742950" rtl="0" algn="just">
              <a:lnSpc>
                <a:spcPct val="100000"/>
              </a:lnSpc>
              <a:spcBef>
                <a:spcPts val="476"/>
              </a:spcBef>
              <a:spcAft>
                <a:spcPts val="0"/>
              </a:spcAft>
              <a:buClr>
                <a:schemeClr val="dk1"/>
              </a:buClr>
              <a:buSzPct val="100000"/>
              <a:buChar char="–"/>
            </a:pPr>
            <a:r>
              <a:rPr lang="en-US"/>
              <a:t>Implementation and unit testing</a:t>
            </a:r>
            <a:endParaRPr/>
          </a:p>
          <a:p>
            <a:pPr indent="-285750" lvl="1" marL="742950" rtl="0" algn="just">
              <a:lnSpc>
                <a:spcPct val="100000"/>
              </a:lnSpc>
              <a:spcBef>
                <a:spcPts val="476"/>
              </a:spcBef>
              <a:spcAft>
                <a:spcPts val="0"/>
              </a:spcAft>
              <a:buClr>
                <a:schemeClr val="dk1"/>
              </a:buClr>
              <a:buSzPct val="100000"/>
              <a:buChar char="–"/>
            </a:pPr>
            <a:r>
              <a:rPr lang="en-US"/>
              <a:t>Integration and system testing</a:t>
            </a:r>
            <a:endParaRPr/>
          </a:p>
          <a:p>
            <a:pPr indent="-285750" lvl="1" marL="742950" rtl="0" algn="just">
              <a:lnSpc>
                <a:spcPct val="100000"/>
              </a:lnSpc>
              <a:spcBef>
                <a:spcPts val="476"/>
              </a:spcBef>
              <a:spcAft>
                <a:spcPts val="0"/>
              </a:spcAft>
              <a:buClr>
                <a:schemeClr val="dk1"/>
              </a:buClr>
              <a:buSzPct val="100000"/>
              <a:buChar char="–"/>
            </a:pPr>
            <a:r>
              <a:rPr lang="en-US"/>
              <a:t>Operation and maintenance</a:t>
            </a:r>
            <a:endParaRPr/>
          </a:p>
          <a:p>
            <a:pPr indent="-342900" lvl="0" marL="342900" rtl="0" algn="just">
              <a:lnSpc>
                <a:spcPct val="100000"/>
              </a:lnSpc>
              <a:spcBef>
                <a:spcPts val="544"/>
              </a:spcBef>
              <a:spcAft>
                <a:spcPts val="0"/>
              </a:spcAft>
              <a:buClr>
                <a:schemeClr val="dk1"/>
              </a:buClr>
              <a:buSzPct val="100000"/>
              <a:buChar char="•"/>
            </a:pPr>
            <a:r>
              <a:rPr lang="en-US"/>
              <a:t>The </a:t>
            </a:r>
            <a:r>
              <a:rPr b="1" lang="en-US">
                <a:solidFill>
                  <a:srgbClr val="C00000"/>
                </a:solidFill>
              </a:rPr>
              <a:t>main drawback </a:t>
            </a:r>
            <a:r>
              <a:rPr lang="en-US"/>
              <a:t>of the waterfall model is the difficulty of accommodating change after the process is underway</a:t>
            </a:r>
            <a:endParaRPr/>
          </a:p>
          <a:p>
            <a:pPr indent="-342900" lvl="0" marL="342900" rtl="0" algn="just">
              <a:lnSpc>
                <a:spcPct val="100000"/>
              </a:lnSpc>
              <a:spcBef>
                <a:spcPts val="544"/>
              </a:spcBef>
              <a:spcAft>
                <a:spcPts val="0"/>
              </a:spcAft>
              <a:buClr>
                <a:schemeClr val="dk1"/>
              </a:buClr>
              <a:buSzPct val="100000"/>
              <a:buChar char="•"/>
            </a:pPr>
            <a:r>
              <a:rPr lang="en-US"/>
              <a:t>In principle, a phase has to be complete before moving onto the next phase</a:t>
            </a:r>
            <a:endParaRPr/>
          </a:p>
          <a:p>
            <a:pPr indent="0" lvl="0" marL="0" rtl="0" algn="just">
              <a:lnSpc>
                <a:spcPct val="100000"/>
              </a:lnSpc>
              <a:spcBef>
                <a:spcPts val="544"/>
              </a:spcBef>
              <a:spcAft>
                <a:spcPts val="0"/>
              </a:spcAft>
              <a:buClr>
                <a:schemeClr val="dk1"/>
              </a:buClr>
              <a:buSzPct val="100000"/>
              <a:buNone/>
            </a:pPr>
            <a:r>
              <a:t/>
            </a:r>
            <a:endParaRPr/>
          </a:p>
        </p:txBody>
      </p:sp>
      <p:sp>
        <p:nvSpPr>
          <p:cNvPr id="223" name="Google Shape;223;p12"/>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224" name="Google Shape;224;p12"/>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Waterfall Model Problems</a:t>
            </a:r>
            <a:endParaRPr/>
          </a:p>
        </p:txBody>
      </p:sp>
      <p:sp>
        <p:nvSpPr>
          <p:cNvPr id="230" name="Google Shape;230;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Clr>
                <a:schemeClr val="dk1"/>
              </a:buClr>
              <a:buSzPct val="100000"/>
              <a:buChar char="•"/>
            </a:pPr>
            <a:r>
              <a:rPr lang="en-US"/>
              <a:t>Inflexible partitioning of the project into distinct stages makes it difficult to respond to changing customer requirements</a:t>
            </a:r>
            <a:endParaRPr/>
          </a:p>
          <a:p>
            <a:pPr indent="-285750" lvl="1" marL="742950" rtl="0" algn="just">
              <a:lnSpc>
                <a:spcPct val="100000"/>
              </a:lnSpc>
              <a:spcBef>
                <a:spcPts val="518"/>
              </a:spcBef>
              <a:spcAft>
                <a:spcPts val="0"/>
              </a:spcAft>
              <a:buClr>
                <a:schemeClr val="dk1"/>
              </a:buClr>
              <a:buSzPct val="100000"/>
              <a:buChar char="–"/>
            </a:pPr>
            <a:r>
              <a:rPr lang="en-US"/>
              <a:t>Therefore, this model is </a:t>
            </a:r>
            <a:r>
              <a:rPr b="1" lang="en-US">
                <a:solidFill>
                  <a:srgbClr val="C00000"/>
                </a:solidFill>
              </a:rPr>
              <a:t>only appropriate when the requirements are well-understood and changes will be fairly limited</a:t>
            </a:r>
            <a:r>
              <a:rPr lang="en-US"/>
              <a:t> during the design process</a:t>
            </a:r>
            <a:endParaRPr/>
          </a:p>
          <a:p>
            <a:pPr indent="-285750" lvl="1" marL="742950" rtl="0" algn="just">
              <a:lnSpc>
                <a:spcPct val="100000"/>
              </a:lnSpc>
              <a:spcBef>
                <a:spcPts val="518"/>
              </a:spcBef>
              <a:spcAft>
                <a:spcPts val="0"/>
              </a:spcAft>
              <a:buClr>
                <a:schemeClr val="dk1"/>
              </a:buClr>
              <a:buSzPct val="100000"/>
              <a:buChar char="–"/>
            </a:pPr>
            <a:r>
              <a:rPr lang="en-US"/>
              <a:t>Few business systems have stable requirements</a:t>
            </a:r>
            <a:endParaRPr/>
          </a:p>
          <a:p>
            <a:pPr indent="-342900" lvl="0" marL="342900" rtl="0" algn="just">
              <a:lnSpc>
                <a:spcPct val="100000"/>
              </a:lnSpc>
              <a:spcBef>
                <a:spcPts val="592"/>
              </a:spcBef>
              <a:spcAft>
                <a:spcPts val="0"/>
              </a:spcAft>
              <a:buClr>
                <a:schemeClr val="dk1"/>
              </a:buClr>
              <a:buSzPct val="100000"/>
              <a:buChar char="•"/>
            </a:pPr>
            <a:r>
              <a:rPr lang="en-US"/>
              <a:t>The waterfall model is </a:t>
            </a:r>
            <a:r>
              <a:rPr b="1" lang="en-US">
                <a:solidFill>
                  <a:srgbClr val="C00000"/>
                </a:solidFill>
              </a:rPr>
              <a:t>mostly used for embedded systems </a:t>
            </a:r>
            <a:r>
              <a:rPr lang="en-US"/>
              <a:t>(software must interface with hardware), </a:t>
            </a:r>
            <a:r>
              <a:rPr b="1" lang="en-US">
                <a:solidFill>
                  <a:srgbClr val="C00000"/>
                </a:solidFill>
              </a:rPr>
              <a:t>critical systems, and large systems</a:t>
            </a:r>
            <a:r>
              <a:rPr lang="en-US"/>
              <a:t> (system is developed at several sites)</a:t>
            </a:r>
            <a:endParaRPr/>
          </a:p>
          <a:p>
            <a:pPr indent="-285750" lvl="1" marL="742950" rtl="0" algn="just">
              <a:lnSpc>
                <a:spcPct val="100000"/>
              </a:lnSpc>
              <a:spcBef>
                <a:spcPts val="518"/>
              </a:spcBef>
              <a:spcAft>
                <a:spcPts val="0"/>
              </a:spcAft>
              <a:buClr>
                <a:schemeClr val="dk1"/>
              </a:buClr>
              <a:buSzPct val="100000"/>
              <a:buChar char="–"/>
            </a:pPr>
            <a:r>
              <a:rPr lang="en-US"/>
              <a:t>In those circumstances, the </a:t>
            </a:r>
            <a:r>
              <a:rPr b="1" lang="en-US">
                <a:solidFill>
                  <a:srgbClr val="C00000"/>
                </a:solidFill>
              </a:rPr>
              <a:t>plan-driven</a:t>
            </a:r>
            <a:r>
              <a:rPr lang="en-US"/>
              <a:t> nature of the waterfall model helps coordinate the work</a:t>
            </a:r>
            <a:endParaRPr/>
          </a:p>
          <a:p>
            <a:pPr indent="0" lvl="0" marL="0" rtl="0" algn="just">
              <a:lnSpc>
                <a:spcPct val="100000"/>
              </a:lnSpc>
              <a:spcBef>
                <a:spcPts val="592"/>
              </a:spcBef>
              <a:spcAft>
                <a:spcPts val="0"/>
              </a:spcAft>
              <a:buClr>
                <a:schemeClr val="dk1"/>
              </a:buClr>
              <a:buSzPct val="100000"/>
              <a:buNone/>
            </a:pPr>
            <a:r>
              <a:t/>
            </a:r>
            <a:endParaRPr/>
          </a:p>
        </p:txBody>
      </p:sp>
      <p:sp>
        <p:nvSpPr>
          <p:cNvPr id="231" name="Google Shape;231;p13"/>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232" name="Google Shape;232;p13"/>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(2) Incremental Development </a:t>
            </a:r>
            <a:endParaRPr/>
          </a:p>
        </p:txBody>
      </p:sp>
      <p:sp>
        <p:nvSpPr>
          <p:cNvPr id="238" name="Google Shape;238;p14"/>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239" name="Google Shape;239;p14"/>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40" name="Google Shape;240;p14"/>
          <p:cNvPicPr preferRelativeResize="0"/>
          <p:nvPr>
            <p:ph idx="1" type="body"/>
          </p:nvPr>
        </p:nvPicPr>
        <p:blipFill rotWithShape="1">
          <a:blip r:embed="rId3">
            <a:alphaModFix/>
          </a:blip>
          <a:srcRect b="0" l="0" r="0" t="0"/>
          <a:stretch/>
        </p:blipFill>
        <p:spPr>
          <a:xfrm>
            <a:off x="914400" y="1791101"/>
            <a:ext cx="7239000" cy="410099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Incremental Development </a:t>
            </a:r>
            <a:endParaRPr/>
          </a:p>
        </p:txBody>
      </p:sp>
      <p:sp>
        <p:nvSpPr>
          <p:cNvPr id="246" name="Google Shape;246;p7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457200" rtl="0" algn="l">
              <a:lnSpc>
                <a:spcPct val="100000"/>
              </a:lnSpc>
              <a:spcBef>
                <a:spcPts val="360"/>
              </a:spcBef>
              <a:spcAft>
                <a:spcPts val="0"/>
              </a:spcAft>
              <a:buClr>
                <a:schemeClr val="dk1"/>
              </a:buClr>
              <a:buSzPct val="66176"/>
              <a:buChar char="•"/>
            </a:pPr>
            <a:r>
              <a:rPr lang="en-US"/>
              <a:t>In a plan-driven approach, the system increments are identified in advance</a:t>
            </a:r>
            <a:endParaRPr/>
          </a:p>
          <a:p>
            <a:pPr indent="-342900" lvl="0" marL="457200" rtl="0" algn="l">
              <a:lnSpc>
                <a:spcPct val="100000"/>
              </a:lnSpc>
              <a:spcBef>
                <a:spcPts val="360"/>
              </a:spcBef>
              <a:spcAft>
                <a:spcPts val="0"/>
              </a:spcAft>
              <a:buClr>
                <a:schemeClr val="dk1"/>
              </a:buClr>
              <a:buSzPct val="66176"/>
              <a:buChar char="•"/>
            </a:pPr>
            <a:r>
              <a:rPr lang="en-US"/>
              <a:t>If an agile approach is adopted, the early increments are identified, but the development of later increments depends on progress and customer priorities</a:t>
            </a:r>
            <a:endParaRPr/>
          </a:p>
          <a:p>
            <a:pPr indent="-342900" lvl="0" marL="457200" rtl="0" algn="l">
              <a:lnSpc>
                <a:spcPct val="100000"/>
              </a:lnSpc>
              <a:spcBef>
                <a:spcPts val="360"/>
              </a:spcBef>
              <a:spcAft>
                <a:spcPts val="0"/>
              </a:spcAft>
              <a:buClr>
                <a:schemeClr val="dk1"/>
              </a:buClr>
              <a:buSzPct val="66176"/>
              <a:buChar char="•"/>
            </a:pPr>
            <a:r>
              <a:rPr lang="en-US"/>
              <a:t>Each increment or version of the system incorporates some of the functionality that is needed by the customer</a:t>
            </a:r>
            <a:endParaRPr/>
          </a:p>
          <a:p>
            <a:pPr indent="-342900" lvl="0" marL="457200" rtl="0" algn="l">
              <a:lnSpc>
                <a:spcPct val="100000"/>
              </a:lnSpc>
              <a:spcBef>
                <a:spcPts val="360"/>
              </a:spcBef>
              <a:spcAft>
                <a:spcPts val="0"/>
              </a:spcAft>
              <a:buClr>
                <a:schemeClr val="dk1"/>
              </a:buClr>
              <a:buSzPct val="66176"/>
              <a:buChar char="•"/>
            </a:pPr>
            <a:r>
              <a:rPr lang="en-US"/>
              <a:t>Generally, the early increments of the system include the most important or most urgently required functionality.</a:t>
            </a:r>
            <a:endParaRPr/>
          </a:p>
        </p:txBody>
      </p:sp>
      <p:sp>
        <p:nvSpPr>
          <p:cNvPr id="247" name="Google Shape;247;p75"/>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Incremental Development Benefits</a:t>
            </a:r>
            <a:endParaRPr/>
          </a:p>
        </p:txBody>
      </p:sp>
      <p:sp>
        <p:nvSpPr>
          <p:cNvPr id="253" name="Google Shape;253;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Clr>
                <a:schemeClr val="dk1"/>
              </a:buClr>
              <a:buSzPct val="100000"/>
              <a:buChar char="•"/>
            </a:pPr>
            <a:r>
              <a:rPr lang="en-US"/>
              <a:t>The </a:t>
            </a:r>
            <a:r>
              <a:rPr b="1" lang="en-US">
                <a:solidFill>
                  <a:srgbClr val="C00000"/>
                </a:solidFill>
              </a:rPr>
              <a:t>cost of accommodating changing </a:t>
            </a:r>
            <a:r>
              <a:rPr lang="en-US"/>
              <a:t>customer requirements is </a:t>
            </a:r>
            <a:r>
              <a:rPr b="1" lang="en-US">
                <a:solidFill>
                  <a:srgbClr val="C00000"/>
                </a:solidFill>
              </a:rPr>
              <a:t>reduced</a:t>
            </a:r>
            <a:endParaRPr/>
          </a:p>
          <a:p>
            <a:pPr indent="-285750" lvl="1" marL="742950" rtl="0" algn="just">
              <a:lnSpc>
                <a:spcPct val="100000"/>
              </a:lnSpc>
              <a:spcBef>
                <a:spcPts val="476"/>
              </a:spcBef>
              <a:spcAft>
                <a:spcPts val="0"/>
              </a:spcAft>
              <a:buClr>
                <a:schemeClr val="dk1"/>
              </a:buClr>
              <a:buSzPct val="100000"/>
              <a:buChar char="–"/>
            </a:pPr>
            <a:r>
              <a:rPr lang="en-US"/>
              <a:t>The amount of analysis and documentation that has to be redone is much less than is required with the waterfall model</a:t>
            </a:r>
            <a:endParaRPr/>
          </a:p>
          <a:p>
            <a:pPr indent="-342900" lvl="0" marL="342900" rtl="0" algn="just">
              <a:lnSpc>
                <a:spcPct val="100000"/>
              </a:lnSpc>
              <a:spcBef>
                <a:spcPts val="544"/>
              </a:spcBef>
              <a:spcAft>
                <a:spcPts val="0"/>
              </a:spcAft>
              <a:buClr>
                <a:schemeClr val="dk1"/>
              </a:buClr>
              <a:buSzPct val="100000"/>
              <a:buChar char="•"/>
            </a:pPr>
            <a:r>
              <a:rPr lang="en-US"/>
              <a:t>It is </a:t>
            </a:r>
            <a:r>
              <a:rPr b="1" lang="en-US">
                <a:solidFill>
                  <a:srgbClr val="C00000"/>
                </a:solidFill>
              </a:rPr>
              <a:t>easier to get customer feedback </a:t>
            </a:r>
            <a:r>
              <a:rPr lang="en-US"/>
              <a:t>on the development work that has been done</a:t>
            </a:r>
            <a:endParaRPr/>
          </a:p>
          <a:p>
            <a:pPr indent="-285750" lvl="1" marL="742950" rtl="0" algn="just">
              <a:lnSpc>
                <a:spcPct val="100000"/>
              </a:lnSpc>
              <a:spcBef>
                <a:spcPts val="476"/>
              </a:spcBef>
              <a:spcAft>
                <a:spcPts val="0"/>
              </a:spcAft>
              <a:buClr>
                <a:schemeClr val="dk1"/>
              </a:buClr>
              <a:buSzPct val="100000"/>
              <a:buChar char="–"/>
            </a:pPr>
            <a:r>
              <a:rPr lang="en-US"/>
              <a:t>Customers can comment on demonstrations of the software and see how much has been implemented</a:t>
            </a:r>
            <a:endParaRPr/>
          </a:p>
          <a:p>
            <a:pPr indent="-342900" lvl="0" marL="342900" rtl="0" algn="just">
              <a:lnSpc>
                <a:spcPct val="100000"/>
              </a:lnSpc>
              <a:spcBef>
                <a:spcPts val="544"/>
              </a:spcBef>
              <a:spcAft>
                <a:spcPts val="0"/>
              </a:spcAft>
              <a:buClr>
                <a:schemeClr val="dk1"/>
              </a:buClr>
              <a:buSzPct val="100000"/>
              <a:buChar char="•"/>
            </a:pPr>
            <a:r>
              <a:rPr lang="en-US"/>
              <a:t>More </a:t>
            </a:r>
            <a:r>
              <a:rPr b="1" lang="en-US">
                <a:solidFill>
                  <a:srgbClr val="C00000"/>
                </a:solidFill>
              </a:rPr>
              <a:t>rapid delivery and deployment </a:t>
            </a:r>
            <a:r>
              <a:rPr lang="en-US"/>
              <a:t>of useful software to the customer is possible</a:t>
            </a:r>
            <a:endParaRPr/>
          </a:p>
          <a:p>
            <a:pPr indent="-285750" lvl="1" marL="742950" rtl="0" algn="just">
              <a:lnSpc>
                <a:spcPct val="100000"/>
              </a:lnSpc>
              <a:spcBef>
                <a:spcPts val="476"/>
              </a:spcBef>
              <a:spcAft>
                <a:spcPts val="0"/>
              </a:spcAft>
              <a:buClr>
                <a:schemeClr val="dk1"/>
              </a:buClr>
              <a:buSzPct val="100000"/>
              <a:buChar char="–"/>
            </a:pPr>
            <a:r>
              <a:rPr lang="en-US"/>
              <a:t>Customers are able to use and gain value from the software earlier than is possible with a waterfall process</a:t>
            </a:r>
            <a:endParaRPr/>
          </a:p>
          <a:p>
            <a:pPr indent="0" lvl="0" marL="0" rtl="0" algn="just">
              <a:lnSpc>
                <a:spcPct val="100000"/>
              </a:lnSpc>
              <a:spcBef>
                <a:spcPts val="544"/>
              </a:spcBef>
              <a:spcAft>
                <a:spcPts val="0"/>
              </a:spcAft>
              <a:buClr>
                <a:schemeClr val="dk1"/>
              </a:buClr>
              <a:buSzPct val="100000"/>
              <a:buNone/>
            </a:pPr>
            <a:r>
              <a:t/>
            </a:r>
            <a:endParaRPr/>
          </a:p>
        </p:txBody>
      </p:sp>
      <p:sp>
        <p:nvSpPr>
          <p:cNvPr id="254" name="Google Shape;254;p15"/>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255" name="Google Shape;255;p15"/>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Incremental Development Problems</a:t>
            </a:r>
            <a:endParaRPr/>
          </a:p>
        </p:txBody>
      </p:sp>
      <p:sp>
        <p:nvSpPr>
          <p:cNvPr id="261" name="Google Shape;261;p16"/>
          <p:cNvSpPr txBox="1"/>
          <p:nvPr>
            <p:ph idx="1" type="body"/>
          </p:nvPr>
        </p:nvSpPr>
        <p:spPr>
          <a:xfrm>
            <a:off x="457200" y="1600200"/>
            <a:ext cx="8229600" cy="4959911"/>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100000"/>
              </a:lnSpc>
              <a:spcBef>
                <a:spcPts val="0"/>
              </a:spcBef>
              <a:spcAft>
                <a:spcPts val="0"/>
              </a:spcAft>
              <a:buClr>
                <a:schemeClr val="dk1"/>
              </a:buClr>
              <a:buSzPct val="100000"/>
              <a:buChar char="•"/>
            </a:pPr>
            <a:r>
              <a:rPr lang="en-US"/>
              <a:t>The </a:t>
            </a:r>
            <a:r>
              <a:rPr b="1" lang="en-US">
                <a:solidFill>
                  <a:srgbClr val="C00000"/>
                </a:solidFill>
              </a:rPr>
              <a:t>process is not visible</a:t>
            </a:r>
            <a:endParaRPr/>
          </a:p>
          <a:p>
            <a:pPr indent="-285750" lvl="1" marL="742950" rtl="0" algn="just">
              <a:lnSpc>
                <a:spcPct val="100000"/>
              </a:lnSpc>
              <a:spcBef>
                <a:spcPts val="518"/>
              </a:spcBef>
              <a:spcAft>
                <a:spcPts val="0"/>
              </a:spcAft>
              <a:buClr>
                <a:schemeClr val="dk1"/>
              </a:buClr>
              <a:buSzPct val="100000"/>
              <a:buChar char="–"/>
            </a:pPr>
            <a:r>
              <a:rPr lang="en-US"/>
              <a:t>Managers need regular deliverables to measure progress</a:t>
            </a:r>
            <a:endParaRPr/>
          </a:p>
          <a:p>
            <a:pPr indent="-285750" lvl="1" marL="742950" rtl="0" algn="just">
              <a:lnSpc>
                <a:spcPct val="100000"/>
              </a:lnSpc>
              <a:spcBef>
                <a:spcPts val="518"/>
              </a:spcBef>
              <a:spcAft>
                <a:spcPts val="0"/>
              </a:spcAft>
              <a:buClr>
                <a:schemeClr val="dk1"/>
              </a:buClr>
              <a:buSzPct val="100000"/>
              <a:buChar char="–"/>
            </a:pPr>
            <a:r>
              <a:rPr lang="en-US"/>
              <a:t>If systems are developed quickly, it is not cost-effective to produce documents that reflect every version of the system</a:t>
            </a:r>
            <a:endParaRPr/>
          </a:p>
          <a:p>
            <a:pPr indent="-342900" lvl="0" marL="342900" rtl="0" algn="just">
              <a:lnSpc>
                <a:spcPct val="100000"/>
              </a:lnSpc>
              <a:spcBef>
                <a:spcPts val="592"/>
              </a:spcBef>
              <a:spcAft>
                <a:spcPts val="0"/>
              </a:spcAft>
              <a:buClr>
                <a:schemeClr val="dk1"/>
              </a:buClr>
              <a:buSzPct val="100000"/>
              <a:buChar char="•"/>
            </a:pPr>
            <a:r>
              <a:rPr lang="en-US"/>
              <a:t>System </a:t>
            </a:r>
            <a:r>
              <a:rPr b="1" lang="en-US">
                <a:solidFill>
                  <a:srgbClr val="C00000"/>
                </a:solidFill>
              </a:rPr>
              <a:t>structure tends to degrade </a:t>
            </a:r>
            <a:r>
              <a:rPr lang="en-US"/>
              <a:t>as new increments are added </a:t>
            </a:r>
            <a:endParaRPr/>
          </a:p>
          <a:p>
            <a:pPr indent="-285750" lvl="1" marL="742950" rtl="0" algn="just">
              <a:lnSpc>
                <a:spcPct val="100000"/>
              </a:lnSpc>
              <a:spcBef>
                <a:spcPts val="518"/>
              </a:spcBef>
              <a:spcAft>
                <a:spcPts val="0"/>
              </a:spcAft>
              <a:buClr>
                <a:schemeClr val="dk1"/>
              </a:buClr>
              <a:buSzPct val="100000"/>
              <a:buChar char="–"/>
            </a:pPr>
            <a:r>
              <a:rPr lang="en-US"/>
              <a:t>Unless time and money is spent on refactoring to improve the software, regular change tends to corrupt its structure</a:t>
            </a:r>
            <a:endParaRPr/>
          </a:p>
          <a:p>
            <a:pPr indent="-285750" lvl="1" marL="742950" rtl="0" algn="just">
              <a:lnSpc>
                <a:spcPct val="100000"/>
              </a:lnSpc>
              <a:spcBef>
                <a:spcPts val="518"/>
              </a:spcBef>
              <a:spcAft>
                <a:spcPts val="0"/>
              </a:spcAft>
              <a:buClr>
                <a:schemeClr val="dk1"/>
              </a:buClr>
              <a:buSzPct val="100000"/>
              <a:buChar char="–"/>
            </a:pPr>
            <a:r>
              <a:rPr lang="en-US"/>
              <a:t>Incorporating further software changes becomes increasingly difficult and costly</a:t>
            </a:r>
            <a:endParaRPr/>
          </a:p>
          <a:p>
            <a:pPr indent="0" lvl="0" marL="0" rtl="0" algn="just">
              <a:lnSpc>
                <a:spcPct val="100000"/>
              </a:lnSpc>
              <a:spcBef>
                <a:spcPts val="592"/>
              </a:spcBef>
              <a:spcAft>
                <a:spcPts val="0"/>
              </a:spcAft>
              <a:buClr>
                <a:schemeClr val="dk1"/>
              </a:buClr>
              <a:buSzPct val="100000"/>
              <a:buNone/>
            </a:pPr>
            <a:r>
              <a:t/>
            </a:r>
            <a:endParaRPr/>
          </a:p>
        </p:txBody>
      </p:sp>
      <p:sp>
        <p:nvSpPr>
          <p:cNvPr id="262" name="Google Shape;262;p16"/>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263" name="Google Shape;263;p16"/>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Boehm’s Spiral Model</a:t>
            </a:r>
            <a:endParaRPr/>
          </a:p>
        </p:txBody>
      </p:sp>
      <p:sp>
        <p:nvSpPr>
          <p:cNvPr id="269" name="Google Shape;269;p44"/>
          <p:cNvSpPr txBox="1"/>
          <p:nvPr>
            <p:ph idx="1" type="body"/>
          </p:nvPr>
        </p:nvSpPr>
        <p:spPr>
          <a:xfrm>
            <a:off x="457200" y="1600201"/>
            <a:ext cx="8229600" cy="41910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lnSpc>
                <a:spcPct val="100000"/>
              </a:lnSpc>
              <a:spcBef>
                <a:spcPts val="0"/>
              </a:spcBef>
              <a:spcAft>
                <a:spcPts val="0"/>
              </a:spcAft>
              <a:buClr>
                <a:schemeClr val="dk1"/>
              </a:buClr>
              <a:buSzPct val="100000"/>
              <a:buChar char="•"/>
            </a:pPr>
            <a:r>
              <a:rPr lang="en-US"/>
              <a:t>Process is represented as a spiral rather than as a sequence of activities with backtracking</a:t>
            </a:r>
            <a:endParaRPr/>
          </a:p>
          <a:p>
            <a:pPr indent="-342900" lvl="0" marL="342900" rtl="0" algn="just">
              <a:lnSpc>
                <a:spcPct val="100000"/>
              </a:lnSpc>
              <a:spcBef>
                <a:spcPts val="592"/>
              </a:spcBef>
              <a:spcAft>
                <a:spcPts val="0"/>
              </a:spcAft>
              <a:buClr>
                <a:schemeClr val="dk1"/>
              </a:buClr>
              <a:buSzPct val="100000"/>
              <a:buChar char="•"/>
            </a:pPr>
            <a:r>
              <a:rPr lang="en-US"/>
              <a:t>Each loop in the </a:t>
            </a:r>
            <a:r>
              <a:rPr b="1" lang="en-US">
                <a:solidFill>
                  <a:srgbClr val="C00000"/>
                </a:solidFill>
              </a:rPr>
              <a:t>spiral represents a phase </a:t>
            </a:r>
            <a:r>
              <a:rPr lang="en-US"/>
              <a:t>in the process </a:t>
            </a:r>
            <a:endParaRPr/>
          </a:p>
          <a:p>
            <a:pPr indent="-342900" lvl="0" marL="342900" rtl="0" algn="just">
              <a:lnSpc>
                <a:spcPct val="100000"/>
              </a:lnSpc>
              <a:spcBef>
                <a:spcPts val="592"/>
              </a:spcBef>
              <a:spcAft>
                <a:spcPts val="0"/>
              </a:spcAft>
              <a:buClr>
                <a:schemeClr val="dk1"/>
              </a:buClr>
              <a:buSzPct val="100000"/>
              <a:buChar char="•"/>
            </a:pPr>
            <a:r>
              <a:rPr lang="en-US"/>
              <a:t>No fixed phases such as specification or design</a:t>
            </a:r>
            <a:endParaRPr/>
          </a:p>
          <a:p>
            <a:pPr indent="-285750" lvl="1" marL="742950" rtl="0" algn="just">
              <a:lnSpc>
                <a:spcPct val="100000"/>
              </a:lnSpc>
              <a:spcBef>
                <a:spcPts val="518"/>
              </a:spcBef>
              <a:spcAft>
                <a:spcPts val="0"/>
              </a:spcAft>
              <a:buClr>
                <a:schemeClr val="dk1"/>
              </a:buClr>
              <a:buSzPct val="100000"/>
              <a:buChar char="–"/>
            </a:pPr>
            <a:r>
              <a:rPr lang="en-US"/>
              <a:t>loops in the spiral are chosen depending on what is required</a:t>
            </a:r>
            <a:endParaRPr/>
          </a:p>
          <a:p>
            <a:pPr indent="-342900" lvl="0" marL="342900" rtl="0" algn="just">
              <a:lnSpc>
                <a:spcPct val="100000"/>
              </a:lnSpc>
              <a:spcBef>
                <a:spcPts val="592"/>
              </a:spcBef>
              <a:spcAft>
                <a:spcPts val="0"/>
              </a:spcAft>
              <a:buClr>
                <a:srgbClr val="C00000"/>
              </a:buClr>
              <a:buSzPct val="100000"/>
              <a:buChar char="•"/>
            </a:pPr>
            <a:r>
              <a:rPr b="1" lang="en-US">
                <a:solidFill>
                  <a:srgbClr val="C00000"/>
                </a:solidFill>
              </a:rPr>
              <a:t>Risks</a:t>
            </a:r>
            <a:r>
              <a:rPr lang="en-US"/>
              <a:t> are explicitly assessed and resolved throughout the process</a:t>
            </a:r>
            <a:endParaRPr/>
          </a:p>
          <a:p>
            <a:pPr indent="0" lvl="0" marL="0" rtl="0" algn="just">
              <a:lnSpc>
                <a:spcPct val="100000"/>
              </a:lnSpc>
              <a:spcBef>
                <a:spcPts val="592"/>
              </a:spcBef>
              <a:spcAft>
                <a:spcPts val="0"/>
              </a:spcAft>
              <a:buClr>
                <a:schemeClr val="dk1"/>
              </a:buClr>
              <a:buSzPct val="100000"/>
              <a:buNone/>
            </a:pPr>
            <a:r>
              <a:t/>
            </a:r>
            <a:endParaRPr/>
          </a:p>
        </p:txBody>
      </p:sp>
      <p:sp>
        <p:nvSpPr>
          <p:cNvPr id="270" name="Google Shape;270;p44"/>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271" name="Google Shape;271;p44"/>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Boehm’s Spiral Model of the Software Process </a:t>
            </a:r>
            <a:endParaRPr/>
          </a:p>
        </p:txBody>
      </p:sp>
      <p:sp>
        <p:nvSpPr>
          <p:cNvPr id="277" name="Google Shape;277;p45"/>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278" name="Google Shape;278;p45"/>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79" name="Google Shape;279;p45"/>
          <p:cNvPicPr preferRelativeResize="0"/>
          <p:nvPr>
            <p:ph idx="1" type="body"/>
          </p:nvPr>
        </p:nvPicPr>
        <p:blipFill rotWithShape="1">
          <a:blip r:embed="rId3">
            <a:alphaModFix/>
          </a:blip>
          <a:srcRect b="0" l="0" r="0" t="0"/>
          <a:stretch/>
        </p:blipFill>
        <p:spPr>
          <a:xfrm>
            <a:off x="457200" y="1665581"/>
            <a:ext cx="8229600" cy="458281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Spiral Model Sectors</a:t>
            </a:r>
            <a:endParaRPr/>
          </a:p>
        </p:txBody>
      </p:sp>
      <p:sp>
        <p:nvSpPr>
          <p:cNvPr id="285" name="Google Shape;285;p46"/>
          <p:cNvSpPr txBox="1"/>
          <p:nvPr>
            <p:ph idx="1" type="body"/>
          </p:nvPr>
        </p:nvSpPr>
        <p:spPr>
          <a:xfrm>
            <a:off x="457200" y="1600200"/>
            <a:ext cx="8229600" cy="47244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lnSpc>
                <a:spcPct val="100000"/>
              </a:lnSpc>
              <a:spcBef>
                <a:spcPts val="0"/>
              </a:spcBef>
              <a:spcAft>
                <a:spcPts val="0"/>
              </a:spcAft>
              <a:buClr>
                <a:schemeClr val="dk1"/>
              </a:buClr>
              <a:buSzPct val="100000"/>
              <a:buChar char="•"/>
            </a:pPr>
            <a:r>
              <a:rPr lang="en-US"/>
              <a:t>Objective setting</a:t>
            </a:r>
            <a:endParaRPr/>
          </a:p>
          <a:p>
            <a:pPr indent="-285750" lvl="1" marL="742950" rtl="0" algn="just">
              <a:lnSpc>
                <a:spcPct val="100000"/>
              </a:lnSpc>
              <a:spcBef>
                <a:spcPts val="518"/>
              </a:spcBef>
              <a:spcAft>
                <a:spcPts val="0"/>
              </a:spcAft>
              <a:buClr>
                <a:schemeClr val="dk1"/>
              </a:buClr>
              <a:buSzPct val="100000"/>
              <a:buChar char="–"/>
            </a:pPr>
            <a:r>
              <a:rPr lang="en-US"/>
              <a:t>Specific objectives for the phase are identified</a:t>
            </a:r>
            <a:endParaRPr/>
          </a:p>
          <a:p>
            <a:pPr indent="-342900" lvl="0" marL="342900" rtl="0" algn="just">
              <a:lnSpc>
                <a:spcPct val="100000"/>
              </a:lnSpc>
              <a:spcBef>
                <a:spcPts val="592"/>
              </a:spcBef>
              <a:spcAft>
                <a:spcPts val="0"/>
              </a:spcAft>
              <a:buClr>
                <a:schemeClr val="dk1"/>
              </a:buClr>
              <a:buSzPct val="100000"/>
              <a:buChar char="•"/>
            </a:pPr>
            <a:r>
              <a:rPr lang="en-US"/>
              <a:t>Risk assessment and reduction</a:t>
            </a:r>
            <a:endParaRPr/>
          </a:p>
          <a:p>
            <a:pPr indent="-285750" lvl="1" marL="742950" rtl="0" algn="just">
              <a:lnSpc>
                <a:spcPct val="100000"/>
              </a:lnSpc>
              <a:spcBef>
                <a:spcPts val="518"/>
              </a:spcBef>
              <a:spcAft>
                <a:spcPts val="0"/>
              </a:spcAft>
              <a:buClr>
                <a:schemeClr val="dk1"/>
              </a:buClr>
              <a:buSzPct val="100000"/>
              <a:buChar char="–"/>
            </a:pPr>
            <a:r>
              <a:rPr lang="en-US"/>
              <a:t>Risks are assessed and activities put in place to reduce the key risks</a:t>
            </a:r>
            <a:endParaRPr/>
          </a:p>
          <a:p>
            <a:pPr indent="-342900" lvl="0" marL="342900" rtl="0" algn="just">
              <a:lnSpc>
                <a:spcPct val="100000"/>
              </a:lnSpc>
              <a:spcBef>
                <a:spcPts val="592"/>
              </a:spcBef>
              <a:spcAft>
                <a:spcPts val="0"/>
              </a:spcAft>
              <a:buClr>
                <a:schemeClr val="dk1"/>
              </a:buClr>
              <a:buSzPct val="100000"/>
              <a:buChar char="•"/>
            </a:pPr>
            <a:r>
              <a:rPr lang="en-US"/>
              <a:t>Development and validation</a:t>
            </a:r>
            <a:endParaRPr/>
          </a:p>
          <a:p>
            <a:pPr indent="-285750" lvl="1" marL="742950" rtl="0" algn="just">
              <a:lnSpc>
                <a:spcPct val="100000"/>
              </a:lnSpc>
              <a:spcBef>
                <a:spcPts val="518"/>
              </a:spcBef>
              <a:spcAft>
                <a:spcPts val="0"/>
              </a:spcAft>
              <a:buClr>
                <a:schemeClr val="dk1"/>
              </a:buClr>
              <a:buSzPct val="100000"/>
              <a:buChar char="–"/>
            </a:pPr>
            <a:r>
              <a:rPr lang="en-US"/>
              <a:t>A development model for the system is chosen  which can be any of the generic models</a:t>
            </a:r>
            <a:endParaRPr/>
          </a:p>
          <a:p>
            <a:pPr indent="-342900" lvl="0" marL="342900" rtl="0" algn="just">
              <a:lnSpc>
                <a:spcPct val="100000"/>
              </a:lnSpc>
              <a:spcBef>
                <a:spcPts val="592"/>
              </a:spcBef>
              <a:spcAft>
                <a:spcPts val="0"/>
              </a:spcAft>
              <a:buClr>
                <a:schemeClr val="dk1"/>
              </a:buClr>
              <a:buSzPct val="100000"/>
              <a:buChar char="•"/>
            </a:pPr>
            <a:r>
              <a:rPr lang="en-US"/>
              <a:t>Planning</a:t>
            </a:r>
            <a:endParaRPr/>
          </a:p>
          <a:p>
            <a:pPr indent="-285750" lvl="1" marL="742950" rtl="0" algn="just">
              <a:lnSpc>
                <a:spcPct val="100000"/>
              </a:lnSpc>
              <a:spcBef>
                <a:spcPts val="518"/>
              </a:spcBef>
              <a:spcAft>
                <a:spcPts val="0"/>
              </a:spcAft>
              <a:buClr>
                <a:schemeClr val="dk1"/>
              </a:buClr>
              <a:buSzPct val="100000"/>
              <a:buChar char="–"/>
            </a:pPr>
            <a:r>
              <a:rPr lang="en-US"/>
              <a:t>The project is reviewed and the next phase of the spiral is planned</a:t>
            </a:r>
            <a:endParaRPr/>
          </a:p>
          <a:p>
            <a:pPr indent="0" lvl="0" marL="0" rtl="0" algn="just">
              <a:lnSpc>
                <a:spcPct val="100000"/>
              </a:lnSpc>
              <a:spcBef>
                <a:spcPts val="592"/>
              </a:spcBef>
              <a:spcAft>
                <a:spcPts val="0"/>
              </a:spcAft>
              <a:buClr>
                <a:schemeClr val="dk1"/>
              </a:buClr>
              <a:buSzPct val="100000"/>
              <a:buNone/>
            </a:pPr>
            <a:r>
              <a:t/>
            </a:r>
            <a:endParaRPr/>
          </a:p>
        </p:txBody>
      </p:sp>
      <p:sp>
        <p:nvSpPr>
          <p:cNvPr id="286" name="Google Shape;286;p46"/>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287" name="Google Shape;287;p46"/>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Spiral Model Usage</a:t>
            </a:r>
            <a:endParaRPr/>
          </a:p>
        </p:txBody>
      </p:sp>
      <p:sp>
        <p:nvSpPr>
          <p:cNvPr id="293" name="Google Shape;293;p47"/>
          <p:cNvSpPr txBox="1"/>
          <p:nvPr>
            <p:ph idx="1" type="body"/>
          </p:nvPr>
        </p:nvSpPr>
        <p:spPr>
          <a:xfrm>
            <a:off x="457200" y="1600201"/>
            <a:ext cx="8229600" cy="342900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3200"/>
              <a:buChar char="•"/>
            </a:pPr>
            <a:r>
              <a:rPr lang="en-US"/>
              <a:t>Spiral model has been very influential in helping people think about iteration in software processes and introducing the </a:t>
            </a:r>
            <a:r>
              <a:rPr b="1" lang="en-US">
                <a:solidFill>
                  <a:srgbClr val="C00000"/>
                </a:solidFill>
              </a:rPr>
              <a:t>risk-driven approach</a:t>
            </a:r>
            <a:r>
              <a:rPr lang="en-US">
                <a:solidFill>
                  <a:srgbClr val="C00000"/>
                </a:solidFill>
              </a:rPr>
              <a:t> </a:t>
            </a:r>
            <a:r>
              <a:rPr lang="en-US"/>
              <a:t>to development</a:t>
            </a:r>
            <a:endParaRPr/>
          </a:p>
          <a:p>
            <a:pPr indent="-342900" lvl="0" marL="342900" rtl="0" algn="just">
              <a:lnSpc>
                <a:spcPct val="100000"/>
              </a:lnSpc>
              <a:spcBef>
                <a:spcPts val="640"/>
              </a:spcBef>
              <a:spcAft>
                <a:spcPts val="0"/>
              </a:spcAft>
              <a:buClr>
                <a:schemeClr val="dk1"/>
              </a:buClr>
              <a:buSzPts val="3200"/>
              <a:buChar char="•"/>
            </a:pPr>
            <a:r>
              <a:rPr lang="en-US"/>
              <a:t>In practice, however, the model is rarely used as published for practical software development</a:t>
            </a:r>
            <a:endParaRPr/>
          </a:p>
          <a:p>
            <a:pPr indent="0" lvl="0" marL="0" rtl="0" algn="just">
              <a:lnSpc>
                <a:spcPct val="100000"/>
              </a:lnSpc>
              <a:spcBef>
                <a:spcPts val="640"/>
              </a:spcBef>
              <a:spcAft>
                <a:spcPts val="0"/>
              </a:spcAft>
              <a:buClr>
                <a:schemeClr val="dk1"/>
              </a:buClr>
              <a:buSzPts val="3200"/>
              <a:buNone/>
            </a:pPr>
            <a:r>
              <a:t/>
            </a:r>
            <a:endParaRPr/>
          </a:p>
        </p:txBody>
      </p:sp>
      <p:sp>
        <p:nvSpPr>
          <p:cNvPr id="294" name="Google Shape;294;p47"/>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295" name="Google Shape;295;p47"/>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(3) Integration and configuration</a:t>
            </a:r>
            <a:endParaRPr/>
          </a:p>
        </p:txBody>
      </p:sp>
      <p:sp>
        <p:nvSpPr>
          <p:cNvPr id="301" name="Google Shape;301;p18"/>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302" name="Google Shape;302;p18"/>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03" name="Google Shape;303;p18"/>
          <p:cNvPicPr preferRelativeResize="0"/>
          <p:nvPr/>
        </p:nvPicPr>
        <p:blipFill>
          <a:blip r:embed="rId3">
            <a:alphaModFix/>
          </a:blip>
          <a:stretch>
            <a:fillRect/>
          </a:stretch>
        </p:blipFill>
        <p:spPr>
          <a:xfrm>
            <a:off x="152400" y="2198425"/>
            <a:ext cx="8839200" cy="4659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Integration and configuration</a:t>
            </a:r>
            <a:endParaRPr/>
          </a:p>
        </p:txBody>
      </p:sp>
      <p:sp>
        <p:nvSpPr>
          <p:cNvPr id="309" name="Google Shape;309;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100000"/>
              </a:lnSpc>
              <a:spcBef>
                <a:spcPts val="0"/>
              </a:spcBef>
              <a:spcAft>
                <a:spcPts val="0"/>
              </a:spcAft>
              <a:buClr>
                <a:schemeClr val="dk1"/>
              </a:buClr>
              <a:buSzPct val="100000"/>
              <a:buChar char="•"/>
            </a:pPr>
            <a:r>
              <a:rPr lang="en-US"/>
              <a:t>Based on systematic reuse where systems are integrated from existing components or COTS (</a:t>
            </a:r>
            <a:r>
              <a:rPr lang="en-US">
                <a:solidFill>
                  <a:srgbClr val="C00000"/>
                </a:solidFill>
              </a:rPr>
              <a:t>Commercial-off-the-shelf</a:t>
            </a:r>
            <a:r>
              <a:rPr lang="en-US"/>
              <a:t>) systems</a:t>
            </a:r>
            <a:endParaRPr/>
          </a:p>
          <a:p>
            <a:pPr indent="-342900" lvl="0" marL="342900" rtl="0" algn="just">
              <a:lnSpc>
                <a:spcPct val="100000"/>
              </a:lnSpc>
              <a:spcBef>
                <a:spcPts val="592"/>
              </a:spcBef>
              <a:spcAft>
                <a:spcPts val="0"/>
              </a:spcAft>
              <a:buClr>
                <a:schemeClr val="dk1"/>
              </a:buClr>
              <a:buSzPct val="100000"/>
              <a:buChar char="•"/>
            </a:pPr>
            <a:r>
              <a:rPr lang="en-US"/>
              <a:t>Process stages:</a:t>
            </a:r>
            <a:endParaRPr/>
          </a:p>
          <a:p>
            <a:pPr indent="-393065" lvl="1" marL="914400" rtl="0" algn="l">
              <a:lnSpc>
                <a:spcPct val="115000"/>
              </a:lnSpc>
              <a:spcBef>
                <a:spcPts val="0"/>
              </a:spcBef>
              <a:spcAft>
                <a:spcPts val="0"/>
              </a:spcAft>
              <a:buSzPct val="116666"/>
              <a:buChar char="–"/>
            </a:pPr>
            <a:r>
              <a:rPr lang="en-US" sz="2400">
                <a:latin typeface="Arial"/>
                <a:ea typeface="Arial"/>
                <a:cs typeface="Arial"/>
                <a:sym typeface="Arial"/>
              </a:rPr>
              <a:t>Requirements specification</a:t>
            </a:r>
            <a:endParaRPr sz="2400">
              <a:latin typeface="Arial"/>
              <a:ea typeface="Arial"/>
              <a:cs typeface="Arial"/>
              <a:sym typeface="Arial"/>
            </a:endParaRPr>
          </a:p>
          <a:p>
            <a:pPr indent="-393065" lvl="1" marL="914400" rtl="0" algn="l">
              <a:lnSpc>
                <a:spcPct val="115000"/>
              </a:lnSpc>
              <a:spcBef>
                <a:spcPts val="0"/>
              </a:spcBef>
              <a:spcAft>
                <a:spcPts val="0"/>
              </a:spcAft>
              <a:buSzPct val="116666"/>
              <a:buChar char="–"/>
            </a:pPr>
            <a:r>
              <a:rPr lang="en-US" sz="2400">
                <a:latin typeface="Arial"/>
                <a:ea typeface="Arial"/>
                <a:cs typeface="Arial"/>
                <a:sym typeface="Arial"/>
              </a:rPr>
              <a:t>Software discovery and evaluation</a:t>
            </a:r>
            <a:endParaRPr sz="2400">
              <a:latin typeface="Arial"/>
              <a:ea typeface="Arial"/>
              <a:cs typeface="Arial"/>
              <a:sym typeface="Arial"/>
            </a:endParaRPr>
          </a:p>
          <a:p>
            <a:pPr indent="-393065" lvl="1" marL="914400" rtl="0" algn="l">
              <a:lnSpc>
                <a:spcPct val="115000"/>
              </a:lnSpc>
              <a:spcBef>
                <a:spcPts val="0"/>
              </a:spcBef>
              <a:spcAft>
                <a:spcPts val="0"/>
              </a:spcAft>
              <a:buSzPct val="116666"/>
              <a:buChar char="–"/>
            </a:pPr>
            <a:r>
              <a:rPr lang="en-US" sz="2400">
                <a:latin typeface="Arial"/>
                <a:ea typeface="Arial"/>
                <a:cs typeface="Arial"/>
                <a:sym typeface="Arial"/>
              </a:rPr>
              <a:t>Requirements refinement</a:t>
            </a:r>
            <a:endParaRPr sz="2400">
              <a:latin typeface="Arial"/>
              <a:ea typeface="Arial"/>
              <a:cs typeface="Arial"/>
              <a:sym typeface="Arial"/>
            </a:endParaRPr>
          </a:p>
          <a:p>
            <a:pPr indent="-393065" lvl="1" marL="914400" rtl="0" algn="l">
              <a:lnSpc>
                <a:spcPct val="115000"/>
              </a:lnSpc>
              <a:spcBef>
                <a:spcPts val="0"/>
              </a:spcBef>
              <a:spcAft>
                <a:spcPts val="0"/>
              </a:spcAft>
              <a:buSzPct val="116666"/>
              <a:buChar char="–"/>
            </a:pPr>
            <a:r>
              <a:rPr lang="en-US" sz="2400">
                <a:latin typeface="Arial"/>
                <a:ea typeface="Arial"/>
                <a:cs typeface="Arial"/>
                <a:sym typeface="Arial"/>
              </a:rPr>
              <a:t>Application system configuration</a:t>
            </a:r>
            <a:endParaRPr sz="2400">
              <a:latin typeface="Arial"/>
              <a:ea typeface="Arial"/>
              <a:cs typeface="Arial"/>
              <a:sym typeface="Arial"/>
            </a:endParaRPr>
          </a:p>
          <a:p>
            <a:pPr indent="-393065" lvl="1" marL="914400" rtl="0" algn="l">
              <a:lnSpc>
                <a:spcPct val="115000"/>
              </a:lnSpc>
              <a:spcBef>
                <a:spcPts val="0"/>
              </a:spcBef>
              <a:spcAft>
                <a:spcPts val="0"/>
              </a:spcAft>
              <a:buSzPct val="116666"/>
              <a:buChar char="–"/>
            </a:pPr>
            <a:r>
              <a:rPr lang="en-US" sz="2400">
                <a:latin typeface="Arial"/>
                <a:ea typeface="Arial"/>
                <a:cs typeface="Arial"/>
                <a:sym typeface="Arial"/>
              </a:rPr>
              <a:t>Component adaptation and integration</a:t>
            </a:r>
            <a:endParaRPr/>
          </a:p>
          <a:p>
            <a:pPr indent="-342900" lvl="0" marL="342900" rtl="0" algn="just">
              <a:lnSpc>
                <a:spcPct val="100000"/>
              </a:lnSpc>
              <a:spcBef>
                <a:spcPts val="592"/>
              </a:spcBef>
              <a:spcAft>
                <a:spcPts val="0"/>
              </a:spcAft>
              <a:buClr>
                <a:schemeClr val="dk1"/>
              </a:buClr>
              <a:buSzPct val="100000"/>
              <a:buChar char="•"/>
            </a:pPr>
            <a:r>
              <a:rPr lang="en-US"/>
              <a:t>Reuse is now the standard approach for building many types of business system</a:t>
            </a:r>
            <a:endParaRPr/>
          </a:p>
        </p:txBody>
      </p:sp>
      <p:sp>
        <p:nvSpPr>
          <p:cNvPr id="310" name="Google Shape;310;p17"/>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311" name="Google Shape;311;p17"/>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1111"/>
              <a:buFont typeface="Calibri"/>
              <a:buNone/>
            </a:pPr>
            <a:r>
              <a:rPr lang="en-US"/>
              <a:t>Types of Reusable Software Components</a:t>
            </a:r>
            <a:endParaRPr/>
          </a:p>
        </p:txBody>
      </p:sp>
      <p:sp>
        <p:nvSpPr>
          <p:cNvPr id="317" name="Google Shape;31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b="1" lang="en-US"/>
              <a:t>Web services </a:t>
            </a:r>
            <a:r>
              <a:rPr lang="en-US"/>
              <a:t>that are </a:t>
            </a:r>
            <a:r>
              <a:rPr lang="en-US">
                <a:solidFill>
                  <a:srgbClr val="C00000"/>
                </a:solidFill>
              </a:rPr>
              <a:t>developed according to service standards </a:t>
            </a:r>
            <a:r>
              <a:rPr lang="en-US"/>
              <a:t>and which are available for remote invocation</a:t>
            </a:r>
            <a:endParaRPr/>
          </a:p>
          <a:p>
            <a:pPr indent="-342900" lvl="0" marL="342900" rtl="0" algn="just">
              <a:lnSpc>
                <a:spcPct val="100000"/>
              </a:lnSpc>
              <a:spcBef>
                <a:spcPts val="640"/>
              </a:spcBef>
              <a:spcAft>
                <a:spcPts val="0"/>
              </a:spcAft>
              <a:buClr>
                <a:schemeClr val="dk1"/>
              </a:buClr>
              <a:buSzPts val="3200"/>
              <a:buChar char="•"/>
            </a:pPr>
            <a:r>
              <a:rPr lang="en-US"/>
              <a:t>Collections of objects that are developed as a </a:t>
            </a:r>
            <a:r>
              <a:rPr b="1" lang="en-US">
                <a:solidFill>
                  <a:srgbClr val="C00000"/>
                </a:solidFill>
              </a:rPr>
              <a:t>package</a:t>
            </a:r>
            <a:r>
              <a:rPr lang="en-US"/>
              <a:t> to be integrated with a component framework such as .NET or J2EE</a:t>
            </a:r>
            <a:endParaRPr/>
          </a:p>
          <a:p>
            <a:pPr indent="-342900" lvl="0" marL="342900" rtl="0" algn="just">
              <a:lnSpc>
                <a:spcPct val="100000"/>
              </a:lnSpc>
              <a:spcBef>
                <a:spcPts val="640"/>
              </a:spcBef>
              <a:spcAft>
                <a:spcPts val="0"/>
              </a:spcAft>
              <a:buClr>
                <a:schemeClr val="dk1"/>
              </a:buClr>
              <a:buSzPts val="3200"/>
              <a:buChar char="•"/>
            </a:pPr>
            <a:r>
              <a:rPr b="1" lang="en-US"/>
              <a:t>Stand-alone software systems </a:t>
            </a:r>
            <a:r>
              <a:rPr lang="en-US"/>
              <a:t>(COTS) that are configured for use in a particular environment</a:t>
            </a:r>
            <a:endParaRPr/>
          </a:p>
          <a:p>
            <a:pPr indent="-139700" lvl="0" marL="342900" rtl="0" algn="just">
              <a:lnSpc>
                <a:spcPct val="100000"/>
              </a:lnSpc>
              <a:spcBef>
                <a:spcPts val="640"/>
              </a:spcBef>
              <a:spcAft>
                <a:spcPts val="0"/>
              </a:spcAft>
              <a:buClr>
                <a:schemeClr val="dk1"/>
              </a:buClr>
              <a:buSzPts val="3200"/>
              <a:buNone/>
            </a:pPr>
            <a:r>
              <a:t/>
            </a:r>
            <a:endParaRPr/>
          </a:p>
          <a:p>
            <a:pPr indent="0" lvl="0" marL="0" rtl="0" algn="just">
              <a:lnSpc>
                <a:spcPct val="100000"/>
              </a:lnSpc>
              <a:spcBef>
                <a:spcPts val="640"/>
              </a:spcBef>
              <a:spcAft>
                <a:spcPts val="0"/>
              </a:spcAft>
              <a:buClr>
                <a:schemeClr val="dk1"/>
              </a:buClr>
              <a:buSzPts val="3200"/>
              <a:buNone/>
            </a:pPr>
            <a:r>
              <a:t/>
            </a:r>
            <a:endParaRPr/>
          </a:p>
        </p:txBody>
      </p:sp>
      <p:sp>
        <p:nvSpPr>
          <p:cNvPr id="318" name="Google Shape;318;p19"/>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319" name="Google Shape;319;p19"/>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1111"/>
              <a:buFont typeface="Calibri"/>
              <a:buNone/>
            </a:pPr>
            <a:r>
              <a:rPr lang="en-US"/>
              <a:t>Extra: Rational Unified Process (RUP)</a:t>
            </a:r>
            <a:endParaRPr/>
          </a:p>
        </p:txBody>
      </p:sp>
      <p:sp>
        <p:nvSpPr>
          <p:cNvPr id="325" name="Google Shape;325;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3200"/>
              <a:buChar char="•"/>
            </a:pPr>
            <a:r>
              <a:rPr lang="en-US"/>
              <a:t>A modern generic process derived from the work on the UML and associated process</a:t>
            </a:r>
            <a:endParaRPr/>
          </a:p>
          <a:p>
            <a:pPr indent="-342900" lvl="0" marL="342900" rtl="0" algn="just">
              <a:lnSpc>
                <a:spcPct val="100000"/>
              </a:lnSpc>
              <a:spcBef>
                <a:spcPts val="640"/>
              </a:spcBef>
              <a:spcAft>
                <a:spcPts val="0"/>
              </a:spcAft>
              <a:buClr>
                <a:schemeClr val="dk1"/>
              </a:buClr>
              <a:buSzPts val="3200"/>
              <a:buChar char="•"/>
            </a:pPr>
            <a:r>
              <a:rPr lang="en-US"/>
              <a:t>Brings together aspects of the 3 generic process models discussed previously</a:t>
            </a:r>
            <a:endParaRPr/>
          </a:p>
          <a:p>
            <a:pPr indent="-342900" lvl="0" marL="342900" rtl="0" algn="just">
              <a:lnSpc>
                <a:spcPct val="100000"/>
              </a:lnSpc>
              <a:spcBef>
                <a:spcPts val="640"/>
              </a:spcBef>
              <a:spcAft>
                <a:spcPts val="0"/>
              </a:spcAft>
              <a:buClr>
                <a:schemeClr val="dk1"/>
              </a:buClr>
              <a:buSzPts val="3200"/>
              <a:buChar char="•"/>
            </a:pPr>
            <a:r>
              <a:rPr lang="en-US"/>
              <a:t>Normally described from 3 perspectives:</a:t>
            </a:r>
            <a:endParaRPr/>
          </a:p>
          <a:p>
            <a:pPr indent="-285750" lvl="1" marL="742950" rtl="0" algn="just">
              <a:lnSpc>
                <a:spcPct val="100000"/>
              </a:lnSpc>
              <a:spcBef>
                <a:spcPts val="560"/>
              </a:spcBef>
              <a:spcAft>
                <a:spcPts val="0"/>
              </a:spcAft>
              <a:buClr>
                <a:schemeClr val="dk1"/>
              </a:buClr>
              <a:buSzPts val="2800"/>
              <a:buChar char="–"/>
            </a:pPr>
            <a:r>
              <a:rPr lang="en-US"/>
              <a:t>A </a:t>
            </a:r>
            <a:r>
              <a:rPr b="1" lang="en-US">
                <a:solidFill>
                  <a:srgbClr val="C00000"/>
                </a:solidFill>
              </a:rPr>
              <a:t>dynamic</a:t>
            </a:r>
            <a:r>
              <a:rPr lang="en-US"/>
              <a:t> perspective that shows phases over time</a:t>
            </a:r>
            <a:endParaRPr/>
          </a:p>
          <a:p>
            <a:pPr indent="-285750" lvl="1" marL="742950" rtl="0" algn="just">
              <a:lnSpc>
                <a:spcPct val="100000"/>
              </a:lnSpc>
              <a:spcBef>
                <a:spcPts val="560"/>
              </a:spcBef>
              <a:spcAft>
                <a:spcPts val="0"/>
              </a:spcAft>
              <a:buClr>
                <a:schemeClr val="dk1"/>
              </a:buClr>
              <a:buSzPts val="2800"/>
              <a:buChar char="–"/>
            </a:pPr>
            <a:r>
              <a:rPr lang="en-US"/>
              <a:t>A </a:t>
            </a:r>
            <a:r>
              <a:rPr b="1" lang="en-US">
                <a:solidFill>
                  <a:srgbClr val="C00000"/>
                </a:solidFill>
              </a:rPr>
              <a:t>static</a:t>
            </a:r>
            <a:r>
              <a:rPr lang="en-US"/>
              <a:t> perspective that shows process activities</a:t>
            </a:r>
            <a:endParaRPr/>
          </a:p>
          <a:p>
            <a:pPr indent="-285750" lvl="1" marL="742950" rtl="0" algn="just">
              <a:lnSpc>
                <a:spcPct val="100000"/>
              </a:lnSpc>
              <a:spcBef>
                <a:spcPts val="560"/>
              </a:spcBef>
              <a:spcAft>
                <a:spcPts val="0"/>
              </a:spcAft>
              <a:buClr>
                <a:schemeClr val="dk1"/>
              </a:buClr>
              <a:buSzPts val="2800"/>
              <a:buChar char="–"/>
            </a:pPr>
            <a:r>
              <a:rPr lang="en-US"/>
              <a:t>A </a:t>
            </a:r>
            <a:r>
              <a:rPr b="1" lang="en-US">
                <a:solidFill>
                  <a:srgbClr val="C00000"/>
                </a:solidFill>
              </a:rPr>
              <a:t>practice</a:t>
            </a:r>
            <a:r>
              <a:rPr lang="en-US"/>
              <a:t> perspective that suggests good practice</a:t>
            </a:r>
            <a:endParaRPr/>
          </a:p>
          <a:p>
            <a:pPr indent="0" lvl="0" marL="0" rtl="0" algn="just">
              <a:lnSpc>
                <a:spcPct val="100000"/>
              </a:lnSpc>
              <a:spcBef>
                <a:spcPts val="640"/>
              </a:spcBef>
              <a:spcAft>
                <a:spcPts val="0"/>
              </a:spcAft>
              <a:buClr>
                <a:schemeClr val="dk1"/>
              </a:buClr>
              <a:buSzPts val="3200"/>
              <a:buNone/>
            </a:pPr>
            <a:r>
              <a:t/>
            </a:r>
            <a:endParaRPr/>
          </a:p>
        </p:txBody>
      </p:sp>
      <p:sp>
        <p:nvSpPr>
          <p:cNvPr id="326" name="Google Shape;326;p48"/>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327" name="Google Shape;327;p48"/>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Phases in the RUP</a:t>
            </a:r>
            <a:endParaRPr/>
          </a:p>
        </p:txBody>
      </p:sp>
      <p:sp>
        <p:nvSpPr>
          <p:cNvPr id="333" name="Google Shape;333;p49"/>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334" name="Google Shape;334;p49"/>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35" name="Google Shape;335;p49"/>
          <p:cNvPicPr preferRelativeResize="0"/>
          <p:nvPr>
            <p:ph idx="1" type="body"/>
          </p:nvPr>
        </p:nvPicPr>
        <p:blipFill rotWithShape="1">
          <a:blip r:embed="rId3">
            <a:alphaModFix/>
          </a:blip>
          <a:srcRect b="0" l="0" r="0" t="0"/>
          <a:stretch/>
        </p:blipFill>
        <p:spPr>
          <a:xfrm>
            <a:off x="609600" y="1981200"/>
            <a:ext cx="7870371" cy="335219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latin typeface="Calibri"/>
                <a:ea typeface="Calibri"/>
                <a:cs typeface="Calibri"/>
                <a:sym typeface="Calibri"/>
              </a:rPr>
              <a:t>Iterative and Incremental Process in RUP</a:t>
            </a:r>
            <a:endParaRPr>
              <a:latin typeface="Calibri"/>
              <a:ea typeface="Calibri"/>
              <a:cs typeface="Calibri"/>
              <a:sym typeface="Calibri"/>
            </a:endParaRPr>
          </a:p>
        </p:txBody>
      </p:sp>
      <p:sp>
        <p:nvSpPr>
          <p:cNvPr id="341" name="Google Shape;341;p50"/>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342" name="Google Shape;342;p50"/>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http://blog.sylvainliege.com/wp-content/uploads/2013/01/UP-iterations.gif" id="343" name="Google Shape;343;p50"/>
          <p:cNvPicPr preferRelativeResize="0"/>
          <p:nvPr>
            <p:ph idx="1" type="body"/>
          </p:nvPr>
        </p:nvPicPr>
        <p:blipFill rotWithShape="1">
          <a:blip r:embed="rId3">
            <a:alphaModFix/>
          </a:blip>
          <a:srcRect b="0" l="0" r="0" t="0"/>
          <a:stretch/>
        </p:blipFill>
        <p:spPr>
          <a:xfrm>
            <a:off x="457200" y="1439678"/>
            <a:ext cx="8229599" cy="496112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RUP Phases</a:t>
            </a:r>
            <a:endParaRPr/>
          </a:p>
        </p:txBody>
      </p:sp>
      <p:sp>
        <p:nvSpPr>
          <p:cNvPr id="349" name="Google Shape;349;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3200"/>
              <a:buChar char="•"/>
            </a:pPr>
            <a:r>
              <a:rPr lang="en-US"/>
              <a:t>Inception</a:t>
            </a:r>
            <a:endParaRPr/>
          </a:p>
          <a:p>
            <a:pPr indent="-285750" lvl="1" marL="742950" rtl="0" algn="just">
              <a:lnSpc>
                <a:spcPct val="100000"/>
              </a:lnSpc>
              <a:spcBef>
                <a:spcPts val="560"/>
              </a:spcBef>
              <a:spcAft>
                <a:spcPts val="0"/>
              </a:spcAft>
              <a:buClr>
                <a:schemeClr val="dk1"/>
              </a:buClr>
              <a:buSzPts val="2800"/>
              <a:buChar char="–"/>
            </a:pPr>
            <a:r>
              <a:rPr lang="en-US"/>
              <a:t>Establish the business case for the system</a:t>
            </a:r>
            <a:endParaRPr/>
          </a:p>
          <a:p>
            <a:pPr indent="-342900" lvl="0" marL="342900" rtl="0" algn="just">
              <a:lnSpc>
                <a:spcPct val="100000"/>
              </a:lnSpc>
              <a:spcBef>
                <a:spcPts val="640"/>
              </a:spcBef>
              <a:spcAft>
                <a:spcPts val="0"/>
              </a:spcAft>
              <a:buClr>
                <a:schemeClr val="dk1"/>
              </a:buClr>
              <a:buSzPts val="3200"/>
              <a:buChar char="•"/>
            </a:pPr>
            <a:r>
              <a:rPr lang="en-US"/>
              <a:t>Elaboration</a:t>
            </a:r>
            <a:endParaRPr/>
          </a:p>
          <a:p>
            <a:pPr indent="-285750" lvl="1" marL="742950" rtl="0" algn="just">
              <a:lnSpc>
                <a:spcPct val="100000"/>
              </a:lnSpc>
              <a:spcBef>
                <a:spcPts val="560"/>
              </a:spcBef>
              <a:spcAft>
                <a:spcPts val="0"/>
              </a:spcAft>
              <a:buClr>
                <a:schemeClr val="dk1"/>
              </a:buClr>
              <a:buSzPts val="2800"/>
              <a:buChar char="–"/>
            </a:pPr>
            <a:r>
              <a:rPr lang="en-US"/>
              <a:t>Develop an understanding of the problem domain and the system architecture</a:t>
            </a:r>
            <a:endParaRPr/>
          </a:p>
          <a:p>
            <a:pPr indent="-342900" lvl="0" marL="342900" rtl="0" algn="just">
              <a:lnSpc>
                <a:spcPct val="100000"/>
              </a:lnSpc>
              <a:spcBef>
                <a:spcPts val="640"/>
              </a:spcBef>
              <a:spcAft>
                <a:spcPts val="0"/>
              </a:spcAft>
              <a:buClr>
                <a:schemeClr val="dk1"/>
              </a:buClr>
              <a:buSzPts val="3200"/>
              <a:buChar char="•"/>
            </a:pPr>
            <a:r>
              <a:rPr lang="en-US"/>
              <a:t>Construction</a:t>
            </a:r>
            <a:endParaRPr/>
          </a:p>
          <a:p>
            <a:pPr indent="-285750" lvl="1" marL="742950" rtl="0" algn="just">
              <a:lnSpc>
                <a:spcPct val="100000"/>
              </a:lnSpc>
              <a:spcBef>
                <a:spcPts val="560"/>
              </a:spcBef>
              <a:spcAft>
                <a:spcPts val="0"/>
              </a:spcAft>
              <a:buClr>
                <a:schemeClr val="dk1"/>
              </a:buClr>
              <a:buSzPts val="2800"/>
              <a:buChar char="–"/>
            </a:pPr>
            <a:r>
              <a:rPr lang="en-US"/>
              <a:t>System design, programming and testing</a:t>
            </a:r>
            <a:endParaRPr/>
          </a:p>
          <a:p>
            <a:pPr indent="-342900" lvl="0" marL="342900" rtl="0" algn="just">
              <a:lnSpc>
                <a:spcPct val="100000"/>
              </a:lnSpc>
              <a:spcBef>
                <a:spcPts val="640"/>
              </a:spcBef>
              <a:spcAft>
                <a:spcPts val="0"/>
              </a:spcAft>
              <a:buClr>
                <a:schemeClr val="dk1"/>
              </a:buClr>
              <a:buSzPts val="3200"/>
              <a:buChar char="•"/>
            </a:pPr>
            <a:r>
              <a:rPr lang="en-US"/>
              <a:t>Transition</a:t>
            </a:r>
            <a:endParaRPr/>
          </a:p>
          <a:p>
            <a:pPr indent="-285750" lvl="1" marL="742950" rtl="0" algn="just">
              <a:lnSpc>
                <a:spcPct val="100000"/>
              </a:lnSpc>
              <a:spcBef>
                <a:spcPts val="560"/>
              </a:spcBef>
              <a:spcAft>
                <a:spcPts val="0"/>
              </a:spcAft>
              <a:buClr>
                <a:schemeClr val="dk1"/>
              </a:buClr>
              <a:buSzPts val="2800"/>
              <a:buChar char="–"/>
            </a:pPr>
            <a:r>
              <a:rPr lang="en-US"/>
              <a:t>Deploy the system in its operating environment</a:t>
            </a:r>
            <a:endParaRPr/>
          </a:p>
          <a:p>
            <a:pPr indent="0" lvl="0" marL="0" rtl="0" algn="just">
              <a:lnSpc>
                <a:spcPct val="100000"/>
              </a:lnSpc>
              <a:spcBef>
                <a:spcPts val="640"/>
              </a:spcBef>
              <a:spcAft>
                <a:spcPts val="0"/>
              </a:spcAft>
              <a:buClr>
                <a:schemeClr val="dk1"/>
              </a:buClr>
              <a:buSzPts val="3200"/>
              <a:buNone/>
            </a:pPr>
            <a:r>
              <a:t/>
            </a:r>
            <a:endParaRPr/>
          </a:p>
        </p:txBody>
      </p:sp>
      <p:sp>
        <p:nvSpPr>
          <p:cNvPr id="350" name="Google Shape;350;p51"/>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351" name="Google Shape;351;p51"/>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RUP Iteration</a:t>
            </a:r>
            <a:endParaRPr/>
          </a:p>
        </p:txBody>
      </p:sp>
      <p:sp>
        <p:nvSpPr>
          <p:cNvPr id="357" name="Google Shape;357;p5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n-US"/>
              <a:t>In-phase iteration</a:t>
            </a:r>
            <a:endParaRPr/>
          </a:p>
          <a:p>
            <a:pPr indent="-285750" lvl="1" marL="742950" rtl="0" algn="just">
              <a:lnSpc>
                <a:spcPct val="100000"/>
              </a:lnSpc>
              <a:spcBef>
                <a:spcPts val="560"/>
              </a:spcBef>
              <a:spcAft>
                <a:spcPts val="0"/>
              </a:spcAft>
              <a:buClr>
                <a:schemeClr val="dk1"/>
              </a:buClr>
              <a:buSzPts val="2800"/>
              <a:buChar char="–"/>
            </a:pPr>
            <a:r>
              <a:rPr lang="en-US"/>
              <a:t>Each phase is iterative with results developed incrementally</a:t>
            </a:r>
            <a:endParaRPr/>
          </a:p>
          <a:p>
            <a:pPr indent="0" lvl="1" marL="457200" rtl="0" algn="just">
              <a:lnSpc>
                <a:spcPct val="100000"/>
              </a:lnSpc>
              <a:spcBef>
                <a:spcPts val="560"/>
              </a:spcBef>
              <a:spcAft>
                <a:spcPts val="0"/>
              </a:spcAft>
              <a:buClr>
                <a:schemeClr val="dk1"/>
              </a:buClr>
              <a:buSzPts val="2800"/>
              <a:buNone/>
            </a:pPr>
            <a:r>
              <a:t/>
            </a:r>
            <a:endParaRPr/>
          </a:p>
          <a:p>
            <a:pPr indent="-342900" lvl="0" marL="342900" rtl="0" algn="just">
              <a:lnSpc>
                <a:spcPct val="100000"/>
              </a:lnSpc>
              <a:spcBef>
                <a:spcPts val="640"/>
              </a:spcBef>
              <a:spcAft>
                <a:spcPts val="0"/>
              </a:spcAft>
              <a:buClr>
                <a:schemeClr val="dk1"/>
              </a:buClr>
              <a:buSzPts val="3200"/>
              <a:buChar char="•"/>
            </a:pPr>
            <a:r>
              <a:rPr lang="en-US"/>
              <a:t>Cross-phase iteration</a:t>
            </a:r>
            <a:endParaRPr/>
          </a:p>
          <a:p>
            <a:pPr indent="-285750" lvl="1" marL="742950" rtl="0" algn="just">
              <a:lnSpc>
                <a:spcPct val="100000"/>
              </a:lnSpc>
              <a:spcBef>
                <a:spcPts val="560"/>
              </a:spcBef>
              <a:spcAft>
                <a:spcPts val="0"/>
              </a:spcAft>
              <a:buClr>
                <a:schemeClr val="dk1"/>
              </a:buClr>
              <a:buSzPts val="2800"/>
              <a:buChar char="–"/>
            </a:pPr>
            <a:r>
              <a:rPr lang="en-US"/>
              <a:t>As shown by the loop in the RUP model, the whole set of phases may be enacted incrementally</a:t>
            </a:r>
            <a:endParaRPr/>
          </a:p>
          <a:p>
            <a:pPr indent="-139700" lvl="0" marL="342900" rtl="0" algn="just">
              <a:lnSpc>
                <a:spcPct val="100000"/>
              </a:lnSpc>
              <a:spcBef>
                <a:spcPts val="640"/>
              </a:spcBef>
              <a:spcAft>
                <a:spcPts val="0"/>
              </a:spcAft>
              <a:buClr>
                <a:schemeClr val="dk1"/>
              </a:buClr>
              <a:buSzPts val="3200"/>
              <a:buNone/>
            </a:pPr>
            <a:r>
              <a:t/>
            </a:r>
            <a:endParaRPr/>
          </a:p>
          <a:p>
            <a:pPr indent="0" lvl="0" marL="0" rtl="0" algn="just">
              <a:lnSpc>
                <a:spcPct val="100000"/>
              </a:lnSpc>
              <a:spcBef>
                <a:spcPts val="640"/>
              </a:spcBef>
              <a:spcAft>
                <a:spcPts val="0"/>
              </a:spcAft>
              <a:buClr>
                <a:schemeClr val="dk1"/>
              </a:buClr>
              <a:buSzPts val="3200"/>
              <a:buNone/>
            </a:pPr>
            <a:r>
              <a:t/>
            </a:r>
            <a:endParaRPr/>
          </a:p>
        </p:txBody>
      </p:sp>
      <p:sp>
        <p:nvSpPr>
          <p:cNvPr id="358" name="Google Shape;358;p52"/>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359" name="Google Shape;359;p52"/>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Static Workflows in the RUP…</a:t>
            </a:r>
            <a:endParaRPr/>
          </a:p>
        </p:txBody>
      </p:sp>
      <p:graphicFrame>
        <p:nvGraphicFramePr>
          <p:cNvPr id="365" name="Google Shape;365;p53"/>
          <p:cNvGraphicFramePr/>
          <p:nvPr/>
        </p:nvGraphicFramePr>
        <p:xfrm>
          <a:off x="450477" y="1600200"/>
          <a:ext cx="3000000" cy="3000000"/>
        </p:xfrm>
        <a:graphic>
          <a:graphicData uri="http://schemas.openxmlformats.org/drawingml/2006/table">
            <a:tbl>
              <a:tblPr bandRow="1" firstRow="1">
                <a:noFill/>
                <a:tableStyleId>{D8AD7437-1B88-4E8B-9887-9161D9851D57}</a:tableStyleId>
              </a:tblPr>
              <a:tblGrid>
                <a:gridCol w="2438400"/>
                <a:gridCol w="5791200"/>
              </a:tblGrid>
              <a:tr h="4120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Workflow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Description </a:t>
                      </a:r>
                      <a:endParaRPr sz="1400" u="none" cap="none" strike="noStrike"/>
                    </a:p>
                  </a:txBody>
                  <a:tcPr marT="45725" marB="45725" marR="91450" marL="91450"/>
                </a:tc>
              </a:tr>
              <a:tr h="728975">
                <a:tc>
                  <a:txBody>
                    <a:bodyPr/>
                    <a:lstStyle/>
                    <a:p>
                      <a:pPr indent="0" lvl="0" marL="0" marR="0" rtl="0" algn="just">
                        <a:lnSpc>
                          <a:spcPct val="100000"/>
                        </a:lnSpc>
                        <a:spcBef>
                          <a:spcPts val="0"/>
                        </a:spcBef>
                        <a:spcAft>
                          <a:spcPts val="0"/>
                        </a:spcAft>
                        <a:buClr>
                          <a:srgbClr val="000000"/>
                        </a:buClr>
                        <a:buSzPts val="2000"/>
                        <a:buFont typeface="Arial"/>
                        <a:buNone/>
                      </a:pPr>
                      <a:r>
                        <a:rPr lang="en-US" sz="2000" u="none" cap="none" strike="noStrike"/>
                        <a:t>Business modelling</a:t>
                      </a:r>
                      <a:endParaRPr sz="2000" u="none" cap="none" strike="noStrike"/>
                    </a:p>
                  </a:txBody>
                  <a:tcPr marT="45725" marB="45725" marR="91450" marL="91450"/>
                </a:tc>
                <a:tc>
                  <a:txBody>
                    <a:bodyPr/>
                    <a:lstStyle/>
                    <a:p>
                      <a:pPr indent="0" lvl="0" marL="0" marR="0" rtl="0" algn="just">
                        <a:lnSpc>
                          <a:spcPct val="100000"/>
                        </a:lnSpc>
                        <a:spcBef>
                          <a:spcPts val="0"/>
                        </a:spcBef>
                        <a:spcAft>
                          <a:spcPts val="0"/>
                        </a:spcAft>
                        <a:buClr>
                          <a:srgbClr val="000000"/>
                        </a:buClr>
                        <a:buSzPts val="2000"/>
                        <a:buFont typeface="Arial"/>
                        <a:buNone/>
                      </a:pPr>
                      <a:r>
                        <a:rPr lang="en-US" sz="2000" u="none" cap="none" strike="noStrike"/>
                        <a:t>The business processes are modelled using business use cases.</a:t>
                      </a:r>
                      <a:endParaRPr sz="2000" u="none" cap="none" strike="noStrike">
                        <a:solidFill>
                          <a:srgbClr val="000000"/>
                        </a:solidFill>
                        <a:latin typeface="Arial"/>
                        <a:ea typeface="Arial"/>
                        <a:cs typeface="Arial"/>
                        <a:sym typeface="Arial"/>
                      </a:endParaRPr>
                    </a:p>
                  </a:txBody>
                  <a:tcPr marT="45725" marB="45725" marR="91450" marL="91450"/>
                </a:tc>
              </a:tr>
              <a:tr h="1045925">
                <a:tc>
                  <a:txBody>
                    <a:bodyPr/>
                    <a:lstStyle/>
                    <a:p>
                      <a:pPr indent="0" lvl="0" marL="0" marR="0" rtl="0" algn="just">
                        <a:lnSpc>
                          <a:spcPct val="100000"/>
                        </a:lnSpc>
                        <a:spcBef>
                          <a:spcPts val="0"/>
                        </a:spcBef>
                        <a:spcAft>
                          <a:spcPts val="0"/>
                        </a:spcAft>
                        <a:buClr>
                          <a:srgbClr val="000000"/>
                        </a:buClr>
                        <a:buSzPts val="2000"/>
                        <a:buFont typeface="Arial"/>
                        <a:buNone/>
                      </a:pPr>
                      <a:r>
                        <a:rPr lang="en-US" sz="2000" u="none" cap="none" strike="noStrike"/>
                        <a:t>Requirements </a:t>
                      </a:r>
                      <a:endParaRPr sz="1400" u="none" cap="none" strike="noStrike"/>
                    </a:p>
                  </a:txBody>
                  <a:tcPr marT="45725" marB="45725" marR="91450" marL="91450"/>
                </a:tc>
                <a:tc>
                  <a:txBody>
                    <a:bodyPr/>
                    <a:lstStyle/>
                    <a:p>
                      <a:pPr indent="0" lvl="0" marL="0" marR="0" rtl="0" algn="just">
                        <a:lnSpc>
                          <a:spcPct val="100000"/>
                        </a:lnSpc>
                        <a:spcBef>
                          <a:spcPts val="0"/>
                        </a:spcBef>
                        <a:spcAft>
                          <a:spcPts val="0"/>
                        </a:spcAft>
                        <a:buClr>
                          <a:schemeClr val="dk1"/>
                        </a:buClr>
                        <a:buSzPts val="2000"/>
                        <a:buFont typeface="Calibri"/>
                        <a:buNone/>
                      </a:pPr>
                      <a:r>
                        <a:rPr lang="en-US" sz="2000" u="none" cap="none" strike="noStrike"/>
                        <a:t>Actors who interact with the system are identified and use cases are developed to model the system requirements.</a:t>
                      </a:r>
                      <a:endParaRPr sz="2000" u="none" cap="none" strike="noStrike"/>
                    </a:p>
                  </a:txBody>
                  <a:tcPr marT="45725" marB="45725" marR="91450" marL="91450"/>
                </a:tc>
              </a:tr>
              <a:tr h="1045925">
                <a:tc>
                  <a:txBody>
                    <a:bodyPr/>
                    <a:lstStyle/>
                    <a:p>
                      <a:pPr indent="0" lvl="0" marL="0" marR="0" rtl="0" algn="just">
                        <a:lnSpc>
                          <a:spcPct val="100000"/>
                        </a:lnSpc>
                        <a:spcBef>
                          <a:spcPts val="0"/>
                        </a:spcBef>
                        <a:spcAft>
                          <a:spcPts val="0"/>
                        </a:spcAft>
                        <a:buClr>
                          <a:srgbClr val="000000"/>
                        </a:buClr>
                        <a:buSzPts val="2000"/>
                        <a:buFont typeface="Arial"/>
                        <a:buNone/>
                      </a:pPr>
                      <a:r>
                        <a:rPr lang="en-US" sz="2000" u="none" cap="none" strike="noStrike"/>
                        <a:t>Analysis and Design</a:t>
                      </a:r>
                      <a:endParaRPr sz="2000" u="none" cap="none" strike="noStrike"/>
                    </a:p>
                  </a:txBody>
                  <a:tcPr marT="45725" marB="45725" marR="91450" marL="91450"/>
                </a:tc>
                <a:tc>
                  <a:txBody>
                    <a:bodyPr/>
                    <a:lstStyle/>
                    <a:p>
                      <a:pPr indent="0" lvl="0" marL="0" marR="0" rtl="0" algn="just">
                        <a:lnSpc>
                          <a:spcPct val="100000"/>
                        </a:lnSpc>
                        <a:spcBef>
                          <a:spcPts val="0"/>
                        </a:spcBef>
                        <a:spcAft>
                          <a:spcPts val="0"/>
                        </a:spcAft>
                        <a:buClr>
                          <a:schemeClr val="dk1"/>
                        </a:buClr>
                        <a:buSzPts val="2000"/>
                        <a:buFont typeface="Calibri"/>
                        <a:buNone/>
                      </a:pPr>
                      <a:r>
                        <a:rPr lang="en-US" sz="2000" u="none" cap="none" strike="noStrike"/>
                        <a:t>A design model is created and documented using architectural models, component models, object models and sequence models.</a:t>
                      </a:r>
                      <a:endParaRPr sz="2000" u="none" cap="none" strike="noStrike"/>
                    </a:p>
                  </a:txBody>
                  <a:tcPr marT="45725" marB="45725" marR="91450" marL="91450"/>
                </a:tc>
              </a:tr>
              <a:tr h="1362875">
                <a:tc>
                  <a:txBody>
                    <a:bodyPr/>
                    <a:lstStyle/>
                    <a:p>
                      <a:pPr indent="0" lvl="0" marL="0" marR="0" rtl="0" algn="just">
                        <a:lnSpc>
                          <a:spcPct val="100000"/>
                        </a:lnSpc>
                        <a:spcBef>
                          <a:spcPts val="0"/>
                        </a:spcBef>
                        <a:spcAft>
                          <a:spcPts val="0"/>
                        </a:spcAft>
                        <a:buClr>
                          <a:srgbClr val="000000"/>
                        </a:buClr>
                        <a:buSzPts val="2000"/>
                        <a:buFont typeface="Arial"/>
                        <a:buNone/>
                      </a:pPr>
                      <a:r>
                        <a:rPr lang="en-US" sz="2000" u="none" cap="none" strike="noStrike"/>
                        <a:t>Implementation </a:t>
                      </a:r>
                      <a:endParaRPr sz="1400" u="none" cap="none" strike="noStrike"/>
                    </a:p>
                  </a:txBody>
                  <a:tcPr marT="45725" marB="45725" marR="91450" marL="91450"/>
                </a:tc>
                <a:tc>
                  <a:txBody>
                    <a:bodyPr/>
                    <a:lstStyle/>
                    <a:p>
                      <a:pPr indent="0" lvl="0" marL="0" marR="0" rtl="0" algn="just">
                        <a:lnSpc>
                          <a:spcPct val="100000"/>
                        </a:lnSpc>
                        <a:spcBef>
                          <a:spcPts val="0"/>
                        </a:spcBef>
                        <a:spcAft>
                          <a:spcPts val="0"/>
                        </a:spcAft>
                        <a:buClr>
                          <a:srgbClr val="000000"/>
                        </a:buClr>
                        <a:buSzPts val="2000"/>
                        <a:buFont typeface="Arial"/>
                        <a:buNone/>
                      </a:pPr>
                      <a:r>
                        <a:rPr lang="en-US" sz="2000" u="none" cap="none" strike="noStrike"/>
                        <a:t>The components in the system are implemented and structured into implementation sub-systems. Automatic code generation from design models helps accelerate this process.</a:t>
                      </a:r>
                      <a:endParaRPr sz="2000" u="none" cap="none" strike="noStrike">
                        <a:solidFill>
                          <a:srgbClr val="000000"/>
                        </a:solidFill>
                        <a:latin typeface="Arial"/>
                        <a:ea typeface="Arial"/>
                        <a:cs typeface="Arial"/>
                        <a:sym typeface="Arial"/>
                      </a:endParaRPr>
                    </a:p>
                  </a:txBody>
                  <a:tcPr marT="45725" marB="45725" marR="91450" marL="91450"/>
                </a:tc>
              </a:tr>
            </a:tbl>
          </a:graphicData>
        </a:graphic>
      </p:graphicFrame>
      <p:sp>
        <p:nvSpPr>
          <p:cNvPr id="366" name="Google Shape;366;p53"/>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367" name="Google Shape;367;p53"/>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Static Workflows in the RUP</a:t>
            </a:r>
            <a:endParaRPr/>
          </a:p>
        </p:txBody>
      </p:sp>
      <p:graphicFrame>
        <p:nvGraphicFramePr>
          <p:cNvPr id="373" name="Google Shape;373;p54"/>
          <p:cNvGraphicFramePr/>
          <p:nvPr/>
        </p:nvGraphicFramePr>
        <p:xfrm>
          <a:off x="457200" y="1600200"/>
          <a:ext cx="3000000" cy="3000000"/>
        </p:xfrm>
        <a:graphic>
          <a:graphicData uri="http://schemas.openxmlformats.org/drawingml/2006/table">
            <a:tbl>
              <a:tblPr bandRow="1" firstRow="1">
                <a:noFill/>
                <a:tableStyleId>{D8AD7437-1B88-4E8B-9887-9161D9851D57}</a:tableStyleId>
              </a:tblPr>
              <a:tblGrid>
                <a:gridCol w="2438400"/>
                <a:gridCol w="5791200"/>
              </a:tblGrid>
              <a:tr h="3708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Workflow </a:t>
                      </a:r>
                      <a:endParaRPr sz="20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Description </a:t>
                      </a:r>
                      <a:endParaRPr sz="1400" u="none" cap="none" strike="noStrike"/>
                    </a:p>
                  </a:txBody>
                  <a:tcPr marT="45725" marB="45725" marR="91450" marL="91450"/>
                </a:tc>
              </a:tr>
              <a:tr h="370850">
                <a:tc>
                  <a:txBody>
                    <a:bodyPr/>
                    <a:lstStyle/>
                    <a:p>
                      <a:pPr indent="0" lvl="0" marL="0" marR="0" rtl="0" algn="just">
                        <a:lnSpc>
                          <a:spcPct val="100000"/>
                        </a:lnSpc>
                        <a:spcBef>
                          <a:spcPts val="0"/>
                        </a:spcBef>
                        <a:spcAft>
                          <a:spcPts val="0"/>
                        </a:spcAft>
                        <a:buClr>
                          <a:srgbClr val="000000"/>
                        </a:buClr>
                        <a:buSzPts val="2000"/>
                        <a:buFont typeface="Arial"/>
                        <a:buNone/>
                      </a:pPr>
                      <a:r>
                        <a:rPr lang="en-US" sz="2000" u="none" cap="none" strike="noStrike"/>
                        <a:t>Testing </a:t>
                      </a:r>
                      <a:endParaRPr sz="1400" u="none" cap="none" strike="noStrike"/>
                    </a:p>
                  </a:txBody>
                  <a:tcPr marT="45725" marB="45725" marR="91450" marL="91450"/>
                </a:tc>
                <a:tc>
                  <a:txBody>
                    <a:bodyPr/>
                    <a:lstStyle/>
                    <a:p>
                      <a:pPr indent="0" lvl="0" marL="0" marR="0" rtl="0" algn="just">
                        <a:lnSpc>
                          <a:spcPct val="100000"/>
                        </a:lnSpc>
                        <a:spcBef>
                          <a:spcPts val="0"/>
                        </a:spcBef>
                        <a:spcAft>
                          <a:spcPts val="0"/>
                        </a:spcAft>
                        <a:buClr>
                          <a:schemeClr val="dk1"/>
                        </a:buClr>
                        <a:buSzPts val="2000"/>
                        <a:buFont typeface="Calibri"/>
                        <a:buNone/>
                      </a:pPr>
                      <a:r>
                        <a:rPr lang="en-US" sz="2000" u="none" cap="none" strike="noStrike"/>
                        <a:t>Testing is an iterative process that is carried out in conjunction with implementation. System testing follows the completion of the implementation.</a:t>
                      </a:r>
                      <a:endParaRPr sz="2000" u="none" cap="none" strike="noStrike"/>
                    </a:p>
                  </a:txBody>
                  <a:tcPr marT="45725" marB="45725" marR="91450" marL="91450"/>
                </a:tc>
              </a:tr>
              <a:tr h="370850">
                <a:tc>
                  <a:txBody>
                    <a:bodyPr/>
                    <a:lstStyle/>
                    <a:p>
                      <a:pPr indent="0" lvl="0" marL="0" marR="0" rtl="0" algn="just">
                        <a:lnSpc>
                          <a:spcPct val="100000"/>
                        </a:lnSpc>
                        <a:spcBef>
                          <a:spcPts val="0"/>
                        </a:spcBef>
                        <a:spcAft>
                          <a:spcPts val="0"/>
                        </a:spcAft>
                        <a:buClr>
                          <a:srgbClr val="000000"/>
                        </a:buClr>
                        <a:buSzPts val="2000"/>
                        <a:buFont typeface="Arial"/>
                        <a:buNone/>
                      </a:pPr>
                      <a:r>
                        <a:rPr lang="en-US" sz="2000" u="none" cap="none" strike="noStrike"/>
                        <a:t>Deployment </a:t>
                      </a:r>
                      <a:endParaRPr sz="1400" u="none" cap="none" strike="noStrike"/>
                    </a:p>
                  </a:txBody>
                  <a:tcPr marT="45725" marB="45725" marR="91450" marL="91450"/>
                </a:tc>
                <a:tc>
                  <a:txBody>
                    <a:bodyPr/>
                    <a:lstStyle/>
                    <a:p>
                      <a:pPr indent="0" lvl="0" marL="0" marR="0" rtl="0" algn="just">
                        <a:lnSpc>
                          <a:spcPct val="100000"/>
                        </a:lnSpc>
                        <a:spcBef>
                          <a:spcPts val="0"/>
                        </a:spcBef>
                        <a:spcAft>
                          <a:spcPts val="0"/>
                        </a:spcAft>
                        <a:buClr>
                          <a:srgbClr val="000000"/>
                        </a:buClr>
                        <a:buSzPts val="2000"/>
                        <a:buFont typeface="Arial"/>
                        <a:buNone/>
                      </a:pPr>
                      <a:r>
                        <a:rPr lang="en-US" sz="2000" u="none" cap="none" strike="noStrike"/>
                        <a:t>A product release is created, distributed to users and installed in their workplace.</a:t>
                      </a:r>
                      <a:endParaRPr sz="2000" u="none" cap="none" strike="noStrike">
                        <a:solidFill>
                          <a:srgbClr val="000000"/>
                        </a:solidFill>
                        <a:latin typeface="Arial"/>
                        <a:ea typeface="Arial"/>
                        <a:cs typeface="Arial"/>
                        <a:sym typeface="Arial"/>
                      </a:endParaRPr>
                    </a:p>
                  </a:txBody>
                  <a:tcPr marT="45725" marB="45725" marR="91450" marL="91450"/>
                </a:tc>
              </a:tr>
              <a:tr h="370850">
                <a:tc>
                  <a:txBody>
                    <a:bodyPr/>
                    <a:lstStyle/>
                    <a:p>
                      <a:pPr indent="0" lvl="0" marL="0" marR="0" rtl="0" algn="just">
                        <a:lnSpc>
                          <a:spcPct val="100000"/>
                        </a:lnSpc>
                        <a:spcBef>
                          <a:spcPts val="0"/>
                        </a:spcBef>
                        <a:spcAft>
                          <a:spcPts val="0"/>
                        </a:spcAft>
                        <a:buClr>
                          <a:srgbClr val="000000"/>
                        </a:buClr>
                        <a:buSzPts val="2000"/>
                        <a:buFont typeface="Arial"/>
                        <a:buNone/>
                      </a:pPr>
                      <a:r>
                        <a:rPr lang="en-US" sz="2000" u="none" cap="none" strike="noStrike"/>
                        <a:t>Configuration and Change Management</a:t>
                      </a:r>
                      <a:endParaRPr sz="1400" u="none" cap="none" strike="noStrike"/>
                    </a:p>
                  </a:txBody>
                  <a:tcPr marT="45725" marB="45725" marR="91450" marL="91450"/>
                </a:tc>
                <a:tc>
                  <a:txBody>
                    <a:bodyPr/>
                    <a:lstStyle/>
                    <a:p>
                      <a:pPr indent="0" lvl="0" marL="0" marR="0" rtl="0" algn="just">
                        <a:lnSpc>
                          <a:spcPct val="100000"/>
                        </a:lnSpc>
                        <a:spcBef>
                          <a:spcPts val="0"/>
                        </a:spcBef>
                        <a:spcAft>
                          <a:spcPts val="0"/>
                        </a:spcAft>
                        <a:buClr>
                          <a:srgbClr val="000000"/>
                        </a:buClr>
                        <a:buSzPts val="2000"/>
                        <a:buFont typeface="Arial"/>
                        <a:buNone/>
                      </a:pPr>
                      <a:r>
                        <a:rPr lang="en-US" sz="2000" u="none" cap="none" strike="noStrike"/>
                        <a:t>This supporting workflow manages changes to the system.</a:t>
                      </a:r>
                      <a:endParaRPr sz="2000" u="none" cap="none" strike="noStrike">
                        <a:solidFill>
                          <a:srgbClr val="000000"/>
                        </a:solidFill>
                        <a:latin typeface="Arial"/>
                        <a:ea typeface="Arial"/>
                        <a:cs typeface="Arial"/>
                        <a:sym typeface="Arial"/>
                      </a:endParaRPr>
                    </a:p>
                  </a:txBody>
                  <a:tcPr marT="45725" marB="45725" marR="91450" marL="91450"/>
                </a:tc>
              </a:tr>
              <a:tr h="370850">
                <a:tc>
                  <a:txBody>
                    <a:bodyPr/>
                    <a:lstStyle/>
                    <a:p>
                      <a:pPr indent="0" lvl="0" marL="0" marR="0" rtl="0" algn="just">
                        <a:lnSpc>
                          <a:spcPct val="100000"/>
                        </a:lnSpc>
                        <a:spcBef>
                          <a:spcPts val="0"/>
                        </a:spcBef>
                        <a:spcAft>
                          <a:spcPts val="0"/>
                        </a:spcAft>
                        <a:buClr>
                          <a:srgbClr val="000000"/>
                        </a:buClr>
                        <a:buSzPts val="2000"/>
                        <a:buFont typeface="Arial"/>
                        <a:buNone/>
                      </a:pPr>
                      <a:r>
                        <a:rPr lang="en-US" sz="2000" u="none" cap="none" strike="noStrike"/>
                        <a:t>Project Management</a:t>
                      </a:r>
                      <a:endParaRPr sz="1400" u="none" cap="none" strike="noStrike"/>
                    </a:p>
                  </a:txBody>
                  <a:tcPr marT="45725" marB="45725" marR="91450" marL="91450"/>
                </a:tc>
                <a:tc>
                  <a:txBody>
                    <a:bodyPr/>
                    <a:lstStyle/>
                    <a:p>
                      <a:pPr indent="0" lvl="0" marL="0" marR="0" rtl="0" algn="just">
                        <a:lnSpc>
                          <a:spcPct val="100000"/>
                        </a:lnSpc>
                        <a:spcBef>
                          <a:spcPts val="0"/>
                        </a:spcBef>
                        <a:spcAft>
                          <a:spcPts val="0"/>
                        </a:spcAft>
                        <a:buClr>
                          <a:schemeClr val="dk1"/>
                        </a:buClr>
                        <a:buSzPts val="2000"/>
                        <a:buFont typeface="Calibri"/>
                        <a:buNone/>
                      </a:pPr>
                      <a:r>
                        <a:rPr lang="en-US" sz="2000" u="none" cap="none" strike="noStrike"/>
                        <a:t>This supporting workflow manages the system development.</a:t>
                      </a:r>
                      <a:endParaRPr sz="2000" u="none" cap="none" strike="noStrike"/>
                    </a:p>
                  </a:txBody>
                  <a:tcPr marT="45725" marB="45725" marR="91450" marL="91450"/>
                </a:tc>
              </a:tr>
              <a:tr h="370850">
                <a:tc>
                  <a:txBody>
                    <a:bodyPr/>
                    <a:lstStyle/>
                    <a:p>
                      <a:pPr indent="0" lvl="0" marL="0" marR="0" rtl="0" algn="just">
                        <a:lnSpc>
                          <a:spcPct val="100000"/>
                        </a:lnSpc>
                        <a:spcBef>
                          <a:spcPts val="0"/>
                        </a:spcBef>
                        <a:spcAft>
                          <a:spcPts val="0"/>
                        </a:spcAft>
                        <a:buClr>
                          <a:srgbClr val="000000"/>
                        </a:buClr>
                        <a:buSzPts val="2000"/>
                        <a:buFont typeface="Arial"/>
                        <a:buNone/>
                      </a:pPr>
                      <a:r>
                        <a:rPr lang="en-US" sz="2000" u="none" cap="none" strike="noStrike"/>
                        <a:t>Environment </a:t>
                      </a:r>
                      <a:endParaRPr sz="1400" u="none" cap="none" strike="noStrike"/>
                    </a:p>
                  </a:txBody>
                  <a:tcPr marT="45725" marB="45725" marR="91450" marL="91450"/>
                </a:tc>
                <a:tc>
                  <a:txBody>
                    <a:bodyPr/>
                    <a:lstStyle/>
                    <a:p>
                      <a:pPr indent="0" lvl="0" marL="0" marR="0" rtl="0" algn="just">
                        <a:lnSpc>
                          <a:spcPct val="100000"/>
                        </a:lnSpc>
                        <a:spcBef>
                          <a:spcPts val="0"/>
                        </a:spcBef>
                        <a:spcAft>
                          <a:spcPts val="0"/>
                        </a:spcAft>
                        <a:buClr>
                          <a:srgbClr val="000000"/>
                        </a:buClr>
                        <a:buSzPts val="2000"/>
                        <a:buFont typeface="Arial"/>
                        <a:buNone/>
                      </a:pPr>
                      <a:r>
                        <a:rPr lang="en-US" sz="2000" u="none" cap="none" strike="noStrike"/>
                        <a:t>This workflow is concerned with making appropriate software tools available to the software development team.</a:t>
                      </a:r>
                      <a:endParaRPr sz="2000" u="none" cap="none" strike="noStrike">
                        <a:solidFill>
                          <a:srgbClr val="000000"/>
                        </a:solidFill>
                        <a:latin typeface="Arial"/>
                        <a:ea typeface="Arial"/>
                        <a:cs typeface="Arial"/>
                        <a:sym typeface="Arial"/>
                      </a:endParaRPr>
                    </a:p>
                  </a:txBody>
                  <a:tcPr marT="45725" marB="45725" marR="91450" marL="91450"/>
                </a:tc>
              </a:tr>
            </a:tbl>
          </a:graphicData>
        </a:graphic>
      </p:graphicFrame>
      <p:sp>
        <p:nvSpPr>
          <p:cNvPr id="374" name="Google Shape;374;p54"/>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375" name="Google Shape;375;p54"/>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RUP Good Practice…</a:t>
            </a:r>
            <a:endParaRPr/>
          </a:p>
        </p:txBody>
      </p:sp>
      <p:sp>
        <p:nvSpPr>
          <p:cNvPr id="381" name="Google Shape;381;p5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n-US"/>
              <a:t>Develop software iteratively</a:t>
            </a:r>
            <a:endParaRPr/>
          </a:p>
          <a:p>
            <a:pPr indent="-285750" lvl="1" marL="742950" rtl="0" algn="just">
              <a:lnSpc>
                <a:spcPct val="100000"/>
              </a:lnSpc>
              <a:spcBef>
                <a:spcPts val="560"/>
              </a:spcBef>
              <a:spcAft>
                <a:spcPts val="0"/>
              </a:spcAft>
              <a:buClr>
                <a:schemeClr val="dk1"/>
              </a:buClr>
              <a:buSzPts val="2800"/>
              <a:buChar char="–"/>
            </a:pPr>
            <a:r>
              <a:rPr lang="en-US"/>
              <a:t>Plan increments based on customer priorities and deliver highest priority increments first</a:t>
            </a:r>
            <a:endParaRPr/>
          </a:p>
          <a:p>
            <a:pPr indent="-342900" lvl="0" marL="342900" rtl="0" algn="just">
              <a:lnSpc>
                <a:spcPct val="100000"/>
              </a:lnSpc>
              <a:spcBef>
                <a:spcPts val="640"/>
              </a:spcBef>
              <a:spcAft>
                <a:spcPts val="0"/>
              </a:spcAft>
              <a:buClr>
                <a:schemeClr val="dk1"/>
              </a:buClr>
              <a:buSzPts val="3200"/>
              <a:buChar char="•"/>
            </a:pPr>
            <a:r>
              <a:rPr lang="en-US"/>
              <a:t>Manage requirements</a:t>
            </a:r>
            <a:endParaRPr/>
          </a:p>
          <a:p>
            <a:pPr indent="-285750" lvl="1" marL="742950" rtl="0" algn="just">
              <a:lnSpc>
                <a:spcPct val="100000"/>
              </a:lnSpc>
              <a:spcBef>
                <a:spcPts val="560"/>
              </a:spcBef>
              <a:spcAft>
                <a:spcPts val="0"/>
              </a:spcAft>
              <a:buClr>
                <a:schemeClr val="dk1"/>
              </a:buClr>
              <a:buSzPts val="2800"/>
              <a:buChar char="–"/>
            </a:pPr>
            <a:r>
              <a:rPr lang="en-US"/>
              <a:t>Explicitly document customer requirements and keep track of changes to these requirements</a:t>
            </a:r>
            <a:endParaRPr/>
          </a:p>
          <a:p>
            <a:pPr indent="-342900" lvl="0" marL="342900" rtl="0" algn="just">
              <a:lnSpc>
                <a:spcPct val="100000"/>
              </a:lnSpc>
              <a:spcBef>
                <a:spcPts val="640"/>
              </a:spcBef>
              <a:spcAft>
                <a:spcPts val="0"/>
              </a:spcAft>
              <a:buClr>
                <a:schemeClr val="dk1"/>
              </a:buClr>
              <a:buSzPts val="3200"/>
              <a:buChar char="•"/>
            </a:pPr>
            <a:r>
              <a:rPr lang="en-US"/>
              <a:t>Use component-based architectures</a:t>
            </a:r>
            <a:endParaRPr/>
          </a:p>
          <a:p>
            <a:pPr indent="-285750" lvl="1" marL="742950" rtl="0" algn="just">
              <a:lnSpc>
                <a:spcPct val="100000"/>
              </a:lnSpc>
              <a:spcBef>
                <a:spcPts val="560"/>
              </a:spcBef>
              <a:spcAft>
                <a:spcPts val="0"/>
              </a:spcAft>
              <a:buClr>
                <a:schemeClr val="dk1"/>
              </a:buClr>
              <a:buSzPts val="2800"/>
              <a:buChar char="–"/>
            </a:pPr>
            <a:r>
              <a:rPr lang="en-US"/>
              <a:t>Organize the system architecture as a set of reusable components</a:t>
            </a:r>
            <a:endParaRPr/>
          </a:p>
          <a:p>
            <a:pPr indent="0" lvl="0" marL="0" rtl="0" algn="just">
              <a:lnSpc>
                <a:spcPct val="100000"/>
              </a:lnSpc>
              <a:spcBef>
                <a:spcPts val="640"/>
              </a:spcBef>
              <a:spcAft>
                <a:spcPts val="0"/>
              </a:spcAft>
              <a:buClr>
                <a:schemeClr val="dk1"/>
              </a:buClr>
              <a:buSzPts val="3200"/>
              <a:buNone/>
            </a:pPr>
            <a:r>
              <a:t/>
            </a:r>
            <a:endParaRPr/>
          </a:p>
        </p:txBody>
      </p:sp>
      <p:sp>
        <p:nvSpPr>
          <p:cNvPr id="382" name="Google Shape;382;p55"/>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383" name="Google Shape;383;p55"/>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RUP Good Practice</a:t>
            </a:r>
            <a:endParaRPr/>
          </a:p>
        </p:txBody>
      </p:sp>
      <p:sp>
        <p:nvSpPr>
          <p:cNvPr id="389" name="Google Shape;389;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lnSpc>
                <a:spcPct val="100000"/>
              </a:lnSpc>
              <a:spcBef>
                <a:spcPts val="0"/>
              </a:spcBef>
              <a:spcAft>
                <a:spcPts val="0"/>
              </a:spcAft>
              <a:buClr>
                <a:schemeClr val="dk1"/>
              </a:buClr>
              <a:buSzPct val="100000"/>
              <a:buChar char="•"/>
            </a:pPr>
            <a:r>
              <a:rPr lang="en-US"/>
              <a:t>Visually model software</a:t>
            </a:r>
            <a:endParaRPr/>
          </a:p>
          <a:p>
            <a:pPr indent="-285750" lvl="1" marL="742950" rtl="0" algn="just">
              <a:lnSpc>
                <a:spcPct val="100000"/>
              </a:lnSpc>
              <a:spcBef>
                <a:spcPts val="518"/>
              </a:spcBef>
              <a:spcAft>
                <a:spcPts val="0"/>
              </a:spcAft>
              <a:buClr>
                <a:schemeClr val="dk1"/>
              </a:buClr>
              <a:buSzPct val="100000"/>
              <a:buChar char="–"/>
            </a:pPr>
            <a:r>
              <a:rPr lang="en-US"/>
              <a:t>Use graphical UML models to present static and dynamic views of the software</a:t>
            </a:r>
            <a:endParaRPr/>
          </a:p>
          <a:p>
            <a:pPr indent="-342900" lvl="0" marL="342900" rtl="0" algn="just">
              <a:lnSpc>
                <a:spcPct val="100000"/>
              </a:lnSpc>
              <a:spcBef>
                <a:spcPts val="592"/>
              </a:spcBef>
              <a:spcAft>
                <a:spcPts val="0"/>
              </a:spcAft>
              <a:buClr>
                <a:schemeClr val="dk1"/>
              </a:buClr>
              <a:buSzPct val="100000"/>
              <a:buChar char="•"/>
            </a:pPr>
            <a:r>
              <a:rPr lang="en-US"/>
              <a:t>Verify software quality</a:t>
            </a:r>
            <a:endParaRPr/>
          </a:p>
          <a:p>
            <a:pPr indent="-285750" lvl="1" marL="742950" rtl="0" algn="just">
              <a:lnSpc>
                <a:spcPct val="100000"/>
              </a:lnSpc>
              <a:spcBef>
                <a:spcPts val="518"/>
              </a:spcBef>
              <a:spcAft>
                <a:spcPts val="0"/>
              </a:spcAft>
              <a:buClr>
                <a:schemeClr val="dk1"/>
              </a:buClr>
              <a:buSzPct val="100000"/>
              <a:buChar char="–"/>
            </a:pPr>
            <a:r>
              <a:rPr lang="en-US"/>
              <a:t>Ensure that the software meet’s organizational quality standards</a:t>
            </a:r>
            <a:endParaRPr/>
          </a:p>
          <a:p>
            <a:pPr indent="-342900" lvl="0" marL="342900" rtl="0" algn="just">
              <a:lnSpc>
                <a:spcPct val="100000"/>
              </a:lnSpc>
              <a:spcBef>
                <a:spcPts val="592"/>
              </a:spcBef>
              <a:spcAft>
                <a:spcPts val="0"/>
              </a:spcAft>
              <a:buClr>
                <a:schemeClr val="dk1"/>
              </a:buClr>
              <a:buSzPct val="100000"/>
              <a:buChar char="•"/>
            </a:pPr>
            <a:r>
              <a:rPr lang="en-US"/>
              <a:t>Control changes to software</a:t>
            </a:r>
            <a:endParaRPr/>
          </a:p>
          <a:p>
            <a:pPr indent="-285750" lvl="1" marL="742950" rtl="0" algn="just">
              <a:lnSpc>
                <a:spcPct val="100000"/>
              </a:lnSpc>
              <a:spcBef>
                <a:spcPts val="518"/>
              </a:spcBef>
              <a:spcAft>
                <a:spcPts val="0"/>
              </a:spcAft>
              <a:buClr>
                <a:schemeClr val="dk1"/>
              </a:buClr>
              <a:buSzPct val="100000"/>
              <a:buChar char="–"/>
            </a:pPr>
            <a:r>
              <a:rPr lang="en-US"/>
              <a:t>Manage software changes using a change management system and configuration management tools</a:t>
            </a:r>
            <a:endParaRPr/>
          </a:p>
          <a:p>
            <a:pPr indent="0" lvl="0" marL="0" rtl="0" algn="just">
              <a:lnSpc>
                <a:spcPct val="100000"/>
              </a:lnSpc>
              <a:spcBef>
                <a:spcPts val="592"/>
              </a:spcBef>
              <a:spcAft>
                <a:spcPts val="0"/>
              </a:spcAft>
              <a:buClr>
                <a:schemeClr val="dk1"/>
              </a:buClr>
              <a:buSzPct val="100000"/>
              <a:buNone/>
            </a:pPr>
            <a:r>
              <a:t/>
            </a:r>
            <a:endParaRPr/>
          </a:p>
        </p:txBody>
      </p:sp>
      <p:sp>
        <p:nvSpPr>
          <p:cNvPr id="390" name="Google Shape;390;p56"/>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391" name="Google Shape;391;p56"/>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7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Calibri"/>
              <a:buNone/>
            </a:pPr>
            <a:r>
              <a:rPr lang="en-US"/>
              <a:t>Process Activities</a:t>
            </a:r>
            <a:endParaRPr/>
          </a:p>
        </p:txBody>
      </p:sp>
      <p:sp>
        <p:nvSpPr>
          <p:cNvPr id="397" name="Google Shape;397;p7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00"/>
              </a:spcBef>
              <a:spcAft>
                <a:spcPts val="0"/>
              </a:spcAft>
              <a:buClr>
                <a:srgbClr val="888888"/>
              </a:buClr>
              <a:buSzPts val="2000"/>
              <a:buNone/>
            </a:pPr>
            <a:r>
              <a:t/>
            </a:r>
            <a:endParaRPr/>
          </a:p>
        </p:txBody>
      </p:sp>
      <p:sp>
        <p:nvSpPr>
          <p:cNvPr id="398" name="Google Shape;398;p76"/>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Process Activities</a:t>
            </a:r>
            <a:endParaRPr/>
          </a:p>
        </p:txBody>
      </p:sp>
      <p:sp>
        <p:nvSpPr>
          <p:cNvPr id="404" name="Google Shape;404;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100000"/>
              </a:lnSpc>
              <a:spcBef>
                <a:spcPts val="0"/>
              </a:spcBef>
              <a:spcAft>
                <a:spcPts val="0"/>
              </a:spcAft>
              <a:buClr>
                <a:schemeClr val="dk1"/>
              </a:buClr>
              <a:buSzPct val="100000"/>
              <a:buChar char="•"/>
            </a:pPr>
            <a:r>
              <a:rPr lang="en-US"/>
              <a:t>Real software processes are inter-leaved sequences of technical, collaborative and managerial activities with the overall goal of specifying, designing, implementing and testing a software system</a:t>
            </a:r>
            <a:endParaRPr/>
          </a:p>
          <a:p>
            <a:pPr indent="-342900" lvl="0" marL="342900" rtl="0" algn="just">
              <a:lnSpc>
                <a:spcPct val="100000"/>
              </a:lnSpc>
              <a:spcBef>
                <a:spcPts val="592"/>
              </a:spcBef>
              <a:spcAft>
                <a:spcPts val="0"/>
              </a:spcAft>
              <a:buClr>
                <a:schemeClr val="dk1"/>
              </a:buClr>
              <a:buSzPct val="100000"/>
              <a:buChar char="•"/>
            </a:pPr>
            <a:r>
              <a:rPr lang="en-US"/>
              <a:t>The four basic process activities of </a:t>
            </a:r>
            <a:r>
              <a:rPr b="1" lang="en-US">
                <a:solidFill>
                  <a:srgbClr val="C00000"/>
                </a:solidFill>
              </a:rPr>
              <a:t>(i) specification, (ii) development, (iii) validation and (iv) evolution </a:t>
            </a:r>
            <a:r>
              <a:rPr lang="en-US"/>
              <a:t>are organized differently in different development processes. In the waterfall model, they are organized in sequence, whereas in incremental development they are inter-leaved</a:t>
            </a:r>
            <a:endParaRPr/>
          </a:p>
          <a:p>
            <a:pPr indent="0" lvl="0" marL="0" rtl="0" algn="just">
              <a:lnSpc>
                <a:spcPct val="100000"/>
              </a:lnSpc>
              <a:spcBef>
                <a:spcPts val="592"/>
              </a:spcBef>
              <a:spcAft>
                <a:spcPts val="0"/>
              </a:spcAft>
              <a:buClr>
                <a:schemeClr val="dk1"/>
              </a:buClr>
              <a:buSzPct val="100000"/>
              <a:buNone/>
            </a:pPr>
            <a:r>
              <a:t/>
            </a:r>
            <a:endParaRPr/>
          </a:p>
        </p:txBody>
      </p:sp>
      <p:sp>
        <p:nvSpPr>
          <p:cNvPr id="405" name="Google Shape;405;p20"/>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406" name="Google Shape;406;p20"/>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 Software Specification</a:t>
            </a:r>
            <a:endParaRPr/>
          </a:p>
        </p:txBody>
      </p:sp>
      <p:sp>
        <p:nvSpPr>
          <p:cNvPr id="412" name="Google Shape;412;p21"/>
          <p:cNvSpPr txBox="1"/>
          <p:nvPr>
            <p:ph idx="1" type="body"/>
          </p:nvPr>
        </p:nvSpPr>
        <p:spPr>
          <a:xfrm>
            <a:off x="457200" y="1600200"/>
            <a:ext cx="8229600" cy="47244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Clr>
                <a:schemeClr val="dk1"/>
              </a:buClr>
              <a:buSzPct val="100000"/>
              <a:buChar char="•"/>
            </a:pPr>
            <a:r>
              <a:rPr lang="en-US"/>
              <a:t>The process of establishing what </a:t>
            </a:r>
            <a:r>
              <a:rPr b="1" lang="en-US">
                <a:solidFill>
                  <a:srgbClr val="C00000"/>
                </a:solidFill>
              </a:rPr>
              <a:t>services</a:t>
            </a:r>
            <a:r>
              <a:rPr lang="en-US"/>
              <a:t> are required and the </a:t>
            </a:r>
            <a:r>
              <a:rPr b="1" lang="en-US">
                <a:solidFill>
                  <a:srgbClr val="C00000"/>
                </a:solidFill>
              </a:rPr>
              <a:t>constraints</a:t>
            </a:r>
            <a:r>
              <a:rPr lang="en-US"/>
              <a:t> on the system’s operation and development</a:t>
            </a:r>
            <a:endParaRPr/>
          </a:p>
          <a:p>
            <a:pPr indent="-342900" lvl="0" marL="342900" rtl="0" algn="just">
              <a:lnSpc>
                <a:spcPct val="100000"/>
              </a:lnSpc>
              <a:spcBef>
                <a:spcPts val="544"/>
              </a:spcBef>
              <a:spcAft>
                <a:spcPts val="0"/>
              </a:spcAft>
              <a:buClr>
                <a:schemeClr val="dk1"/>
              </a:buClr>
              <a:buSzPct val="100000"/>
              <a:buChar char="•"/>
            </a:pPr>
            <a:r>
              <a:rPr lang="en-US"/>
              <a:t>Requirements engineering process:</a:t>
            </a:r>
            <a:endParaRPr/>
          </a:p>
          <a:p>
            <a:pPr indent="-285750" lvl="1" marL="742950" rtl="0" algn="just">
              <a:lnSpc>
                <a:spcPct val="100000"/>
              </a:lnSpc>
              <a:spcBef>
                <a:spcPts val="476"/>
              </a:spcBef>
              <a:spcAft>
                <a:spcPts val="0"/>
              </a:spcAft>
              <a:buClr>
                <a:schemeClr val="dk1"/>
              </a:buClr>
              <a:buSzPct val="100000"/>
              <a:buChar char="–"/>
            </a:pPr>
            <a:r>
              <a:rPr lang="en-US">
                <a:solidFill>
                  <a:srgbClr val="7F7F7F"/>
                </a:solidFill>
              </a:rPr>
              <a:t>Feasibility study (short term)</a:t>
            </a:r>
            <a:endParaRPr/>
          </a:p>
          <a:p>
            <a:pPr indent="-228600" lvl="2" marL="1143000" rtl="0" algn="just">
              <a:lnSpc>
                <a:spcPct val="100000"/>
              </a:lnSpc>
              <a:spcBef>
                <a:spcPts val="408"/>
              </a:spcBef>
              <a:spcAft>
                <a:spcPts val="0"/>
              </a:spcAft>
              <a:buClr>
                <a:schemeClr val="dk1"/>
              </a:buClr>
              <a:buSzPct val="100000"/>
              <a:buChar char="•"/>
            </a:pPr>
            <a:r>
              <a:rPr lang="en-US">
                <a:solidFill>
                  <a:srgbClr val="7F7F7F"/>
                </a:solidFill>
              </a:rPr>
              <a:t>Is it technically and financially feasible to build the system?</a:t>
            </a:r>
            <a:endParaRPr/>
          </a:p>
          <a:p>
            <a:pPr indent="-514350" lvl="1" marL="971550" rtl="0" algn="just">
              <a:lnSpc>
                <a:spcPct val="100000"/>
              </a:lnSpc>
              <a:spcBef>
                <a:spcPts val="476"/>
              </a:spcBef>
              <a:spcAft>
                <a:spcPts val="0"/>
              </a:spcAft>
              <a:buClr>
                <a:schemeClr val="dk1"/>
              </a:buClr>
              <a:buSzPct val="100000"/>
              <a:buFont typeface="Arial"/>
              <a:buAutoNum type="arabicPeriod"/>
            </a:pPr>
            <a:r>
              <a:rPr lang="en-US"/>
              <a:t>Requirements elicitation and analysis</a:t>
            </a:r>
            <a:endParaRPr/>
          </a:p>
          <a:p>
            <a:pPr indent="-457200" lvl="2" marL="1371600" rtl="0" algn="just">
              <a:lnSpc>
                <a:spcPct val="100000"/>
              </a:lnSpc>
              <a:spcBef>
                <a:spcPts val="408"/>
              </a:spcBef>
              <a:spcAft>
                <a:spcPts val="0"/>
              </a:spcAft>
              <a:buSzPct val="100000"/>
              <a:buChar char="•"/>
            </a:pPr>
            <a:r>
              <a:rPr lang="en-US"/>
              <a:t>What do the system stakeholders require or expect from the system?</a:t>
            </a:r>
            <a:endParaRPr/>
          </a:p>
          <a:p>
            <a:pPr indent="-514350" lvl="1" marL="971550" rtl="0" algn="just">
              <a:lnSpc>
                <a:spcPct val="100000"/>
              </a:lnSpc>
              <a:spcBef>
                <a:spcPts val="476"/>
              </a:spcBef>
              <a:spcAft>
                <a:spcPts val="0"/>
              </a:spcAft>
              <a:buClr>
                <a:schemeClr val="dk1"/>
              </a:buClr>
              <a:buSzPct val="100000"/>
              <a:buFont typeface="Arial"/>
              <a:buAutoNum type="arabicPeriod"/>
            </a:pPr>
            <a:r>
              <a:rPr lang="en-US"/>
              <a:t>Requirements specification	</a:t>
            </a:r>
            <a:endParaRPr/>
          </a:p>
          <a:p>
            <a:pPr indent="-457200" lvl="2" marL="1371600" rtl="0" algn="just">
              <a:lnSpc>
                <a:spcPct val="100000"/>
              </a:lnSpc>
              <a:spcBef>
                <a:spcPts val="408"/>
              </a:spcBef>
              <a:spcAft>
                <a:spcPts val="0"/>
              </a:spcAft>
              <a:buSzPct val="100000"/>
              <a:buChar char="•"/>
            </a:pPr>
            <a:r>
              <a:rPr lang="en-US"/>
              <a:t>Defining the requirements in detail</a:t>
            </a:r>
            <a:endParaRPr/>
          </a:p>
          <a:p>
            <a:pPr indent="-514350" lvl="1" marL="971550" rtl="0" algn="just">
              <a:lnSpc>
                <a:spcPct val="100000"/>
              </a:lnSpc>
              <a:spcBef>
                <a:spcPts val="476"/>
              </a:spcBef>
              <a:spcAft>
                <a:spcPts val="0"/>
              </a:spcAft>
              <a:buClr>
                <a:schemeClr val="dk1"/>
              </a:buClr>
              <a:buSzPct val="100000"/>
              <a:buFont typeface="Arial"/>
              <a:buAutoNum type="arabicPeriod"/>
            </a:pPr>
            <a:r>
              <a:rPr lang="en-US"/>
              <a:t>Requirements validation</a:t>
            </a:r>
            <a:endParaRPr/>
          </a:p>
          <a:p>
            <a:pPr indent="-457200" lvl="2" marL="1371600" rtl="0" algn="just">
              <a:lnSpc>
                <a:spcPct val="100000"/>
              </a:lnSpc>
              <a:spcBef>
                <a:spcPts val="408"/>
              </a:spcBef>
              <a:spcAft>
                <a:spcPts val="0"/>
              </a:spcAft>
              <a:buSzPct val="100000"/>
              <a:buChar char="•"/>
            </a:pPr>
            <a:r>
              <a:rPr lang="en-US"/>
              <a:t>Checking the validity of the requirements</a:t>
            </a:r>
            <a:endParaRPr/>
          </a:p>
          <a:p>
            <a:pPr indent="0" lvl="0" marL="0" rtl="0" algn="just">
              <a:lnSpc>
                <a:spcPct val="100000"/>
              </a:lnSpc>
              <a:spcBef>
                <a:spcPts val="544"/>
              </a:spcBef>
              <a:spcAft>
                <a:spcPts val="0"/>
              </a:spcAft>
              <a:buClr>
                <a:schemeClr val="dk1"/>
              </a:buClr>
              <a:buSzPct val="100000"/>
              <a:buNone/>
            </a:pPr>
            <a:r>
              <a:t/>
            </a:r>
            <a:endParaRPr/>
          </a:p>
        </p:txBody>
      </p:sp>
      <p:sp>
        <p:nvSpPr>
          <p:cNvPr id="413" name="Google Shape;413;p21"/>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414" name="Google Shape;414;p21"/>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The Requirements Engineering Process</a:t>
            </a:r>
            <a:endParaRPr/>
          </a:p>
        </p:txBody>
      </p:sp>
      <p:sp>
        <p:nvSpPr>
          <p:cNvPr id="420" name="Google Shape;420;p22"/>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421" name="Google Shape;421;p22"/>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Diagram&#10;&#10;Description automatically generated" id="422" name="Google Shape;422;p22"/>
          <p:cNvPicPr preferRelativeResize="0"/>
          <p:nvPr/>
        </p:nvPicPr>
        <p:blipFill rotWithShape="1">
          <a:blip r:embed="rId3">
            <a:alphaModFix/>
          </a:blip>
          <a:srcRect b="0" l="0" r="0" t="0"/>
          <a:stretch/>
        </p:blipFill>
        <p:spPr>
          <a:xfrm>
            <a:off x="1352271" y="1764325"/>
            <a:ext cx="6439457" cy="450942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(ii) Software Design and Implementation</a:t>
            </a:r>
            <a:endParaRPr/>
          </a:p>
        </p:txBody>
      </p:sp>
      <p:sp>
        <p:nvSpPr>
          <p:cNvPr id="428" name="Google Shape;428;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just">
              <a:lnSpc>
                <a:spcPct val="100000"/>
              </a:lnSpc>
              <a:spcBef>
                <a:spcPts val="0"/>
              </a:spcBef>
              <a:spcAft>
                <a:spcPts val="0"/>
              </a:spcAft>
              <a:buClr>
                <a:schemeClr val="dk1"/>
              </a:buClr>
              <a:buSzPct val="100000"/>
              <a:buChar char="•"/>
            </a:pPr>
            <a:r>
              <a:rPr lang="en-US"/>
              <a:t>The process of converting the system specification into an executable system</a:t>
            </a:r>
            <a:endParaRPr/>
          </a:p>
          <a:p>
            <a:pPr indent="-342900" lvl="0" marL="342900" rtl="0" algn="just">
              <a:lnSpc>
                <a:spcPct val="100000"/>
              </a:lnSpc>
              <a:spcBef>
                <a:spcPts val="592"/>
              </a:spcBef>
              <a:spcAft>
                <a:spcPts val="0"/>
              </a:spcAft>
              <a:buClr>
                <a:schemeClr val="dk1"/>
              </a:buClr>
              <a:buSzPct val="100000"/>
              <a:buChar char="•"/>
            </a:pPr>
            <a:r>
              <a:rPr lang="en-US"/>
              <a:t>Software design</a:t>
            </a:r>
            <a:endParaRPr/>
          </a:p>
          <a:p>
            <a:pPr indent="-285750" lvl="1" marL="742950" rtl="0" algn="just">
              <a:lnSpc>
                <a:spcPct val="100000"/>
              </a:lnSpc>
              <a:spcBef>
                <a:spcPts val="518"/>
              </a:spcBef>
              <a:spcAft>
                <a:spcPts val="0"/>
              </a:spcAft>
              <a:buClr>
                <a:schemeClr val="dk1"/>
              </a:buClr>
              <a:buSzPct val="100000"/>
              <a:buChar char="–"/>
            </a:pPr>
            <a:r>
              <a:rPr lang="en-US"/>
              <a:t>Design a software structure that realises the specification</a:t>
            </a:r>
            <a:endParaRPr/>
          </a:p>
          <a:p>
            <a:pPr indent="-342900" lvl="0" marL="342900" rtl="0" algn="just">
              <a:lnSpc>
                <a:spcPct val="100000"/>
              </a:lnSpc>
              <a:spcBef>
                <a:spcPts val="592"/>
              </a:spcBef>
              <a:spcAft>
                <a:spcPts val="0"/>
              </a:spcAft>
              <a:buClr>
                <a:schemeClr val="dk1"/>
              </a:buClr>
              <a:buSzPct val="100000"/>
              <a:buChar char="•"/>
            </a:pPr>
            <a:r>
              <a:rPr lang="en-US"/>
              <a:t>Implementation</a:t>
            </a:r>
            <a:endParaRPr/>
          </a:p>
          <a:p>
            <a:pPr indent="-285750" lvl="1" marL="742950" rtl="0" algn="just">
              <a:lnSpc>
                <a:spcPct val="100000"/>
              </a:lnSpc>
              <a:spcBef>
                <a:spcPts val="518"/>
              </a:spcBef>
              <a:spcAft>
                <a:spcPts val="0"/>
              </a:spcAft>
              <a:buClr>
                <a:schemeClr val="dk1"/>
              </a:buClr>
              <a:buSzPct val="100000"/>
              <a:buChar char="–"/>
            </a:pPr>
            <a:r>
              <a:rPr lang="en-US"/>
              <a:t>Translate this structure into an executable program</a:t>
            </a:r>
            <a:endParaRPr/>
          </a:p>
          <a:p>
            <a:pPr indent="-342900" lvl="0" marL="342900" rtl="0" algn="just">
              <a:lnSpc>
                <a:spcPct val="100000"/>
              </a:lnSpc>
              <a:spcBef>
                <a:spcPts val="592"/>
              </a:spcBef>
              <a:spcAft>
                <a:spcPts val="0"/>
              </a:spcAft>
              <a:buClr>
                <a:schemeClr val="dk1"/>
              </a:buClr>
              <a:buSzPct val="100000"/>
              <a:buChar char="•"/>
            </a:pPr>
            <a:r>
              <a:rPr lang="en-US"/>
              <a:t>The activities of design and implementation are closely related and may be inter-leaved</a:t>
            </a:r>
            <a:endParaRPr/>
          </a:p>
          <a:p>
            <a:pPr indent="0" lvl="0" marL="0" rtl="0" algn="just">
              <a:lnSpc>
                <a:spcPct val="100000"/>
              </a:lnSpc>
              <a:spcBef>
                <a:spcPts val="592"/>
              </a:spcBef>
              <a:spcAft>
                <a:spcPts val="0"/>
              </a:spcAft>
              <a:buClr>
                <a:schemeClr val="dk1"/>
              </a:buClr>
              <a:buSzPct val="100000"/>
              <a:buNone/>
            </a:pPr>
            <a:r>
              <a:t/>
            </a:r>
            <a:endParaRPr/>
          </a:p>
        </p:txBody>
      </p:sp>
      <p:sp>
        <p:nvSpPr>
          <p:cNvPr id="429" name="Google Shape;429;p23"/>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430" name="Google Shape;430;p23"/>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A General Model of the Design Process</a:t>
            </a:r>
            <a:endParaRPr/>
          </a:p>
        </p:txBody>
      </p:sp>
      <p:sp>
        <p:nvSpPr>
          <p:cNvPr id="436" name="Google Shape;436;p24"/>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437" name="Google Shape;437;p24"/>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Diagram&#10;&#10;Description automatically generated" id="438" name="Google Shape;438;p24"/>
          <p:cNvPicPr preferRelativeResize="0"/>
          <p:nvPr/>
        </p:nvPicPr>
        <p:blipFill rotWithShape="1">
          <a:blip r:embed="rId3">
            <a:alphaModFix/>
          </a:blip>
          <a:srcRect b="0" l="0" r="0" t="0"/>
          <a:stretch/>
        </p:blipFill>
        <p:spPr>
          <a:xfrm>
            <a:off x="1904627" y="1417638"/>
            <a:ext cx="5321300" cy="51181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Design Activities</a:t>
            </a:r>
            <a:endParaRPr/>
          </a:p>
        </p:txBody>
      </p:sp>
      <p:sp>
        <p:nvSpPr>
          <p:cNvPr id="444" name="Google Shape;444;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just">
              <a:lnSpc>
                <a:spcPct val="100000"/>
              </a:lnSpc>
              <a:spcBef>
                <a:spcPts val="0"/>
              </a:spcBef>
              <a:spcAft>
                <a:spcPts val="0"/>
              </a:spcAft>
              <a:buClr>
                <a:srgbClr val="C00000"/>
              </a:buClr>
              <a:buSzPct val="100000"/>
              <a:buChar char="•"/>
            </a:pPr>
            <a:r>
              <a:rPr b="1" lang="en-US">
                <a:solidFill>
                  <a:srgbClr val="C00000"/>
                </a:solidFill>
              </a:rPr>
              <a:t>Architectural design:</a:t>
            </a:r>
            <a:r>
              <a:rPr lang="en-US"/>
              <a:t> identify the overall structure of the system, the principal components (sometimes called sub-systems or modules), their relationships and how they are distributed</a:t>
            </a:r>
            <a:endParaRPr/>
          </a:p>
          <a:p>
            <a:pPr indent="-342900" lvl="0" marL="342900" rtl="0" algn="just">
              <a:lnSpc>
                <a:spcPct val="100000"/>
              </a:lnSpc>
              <a:spcBef>
                <a:spcPts val="544"/>
              </a:spcBef>
              <a:spcAft>
                <a:spcPts val="0"/>
              </a:spcAft>
              <a:buClr>
                <a:srgbClr val="C00000"/>
              </a:buClr>
              <a:buSzPct val="100000"/>
              <a:buChar char="•"/>
            </a:pPr>
            <a:r>
              <a:rPr b="1" lang="en-US">
                <a:solidFill>
                  <a:srgbClr val="C00000"/>
                </a:solidFill>
              </a:rPr>
              <a:t>Interface design:</a:t>
            </a:r>
            <a:r>
              <a:rPr lang="en-US"/>
              <a:t> define the interfaces between system components</a:t>
            </a:r>
            <a:endParaRPr/>
          </a:p>
          <a:p>
            <a:pPr indent="-342900" lvl="0" marL="342900" rtl="0" algn="just">
              <a:lnSpc>
                <a:spcPct val="100000"/>
              </a:lnSpc>
              <a:spcBef>
                <a:spcPts val="544"/>
              </a:spcBef>
              <a:spcAft>
                <a:spcPts val="0"/>
              </a:spcAft>
              <a:buClr>
                <a:srgbClr val="C00000"/>
              </a:buClr>
              <a:buSzPct val="100000"/>
              <a:buChar char="•"/>
            </a:pPr>
            <a:r>
              <a:rPr b="1" lang="en-US">
                <a:solidFill>
                  <a:srgbClr val="C00000"/>
                </a:solidFill>
              </a:rPr>
              <a:t>Component design:</a:t>
            </a:r>
            <a:r>
              <a:rPr lang="en-US"/>
              <a:t> take each system component and design how it will operate</a:t>
            </a:r>
            <a:endParaRPr/>
          </a:p>
          <a:p>
            <a:pPr indent="-342900" lvl="0" marL="342900" rtl="0" algn="just">
              <a:lnSpc>
                <a:spcPct val="100000"/>
              </a:lnSpc>
              <a:spcBef>
                <a:spcPts val="544"/>
              </a:spcBef>
              <a:spcAft>
                <a:spcPts val="0"/>
              </a:spcAft>
              <a:buClr>
                <a:srgbClr val="C00000"/>
              </a:buClr>
              <a:buSzPct val="100000"/>
              <a:buChar char="•"/>
            </a:pPr>
            <a:r>
              <a:rPr b="1" lang="en-US">
                <a:solidFill>
                  <a:srgbClr val="C00000"/>
                </a:solidFill>
              </a:rPr>
              <a:t>Database design:</a:t>
            </a:r>
            <a:r>
              <a:rPr lang="en-US"/>
              <a:t> design the system data structures and how these are to be represented in a database</a:t>
            </a:r>
            <a:endParaRPr/>
          </a:p>
          <a:p>
            <a:pPr indent="-170180" lvl="0" marL="342900" rtl="0" algn="just">
              <a:lnSpc>
                <a:spcPct val="100000"/>
              </a:lnSpc>
              <a:spcBef>
                <a:spcPts val="544"/>
              </a:spcBef>
              <a:spcAft>
                <a:spcPts val="0"/>
              </a:spcAft>
              <a:buClr>
                <a:schemeClr val="dk1"/>
              </a:buClr>
              <a:buSzPct val="100000"/>
              <a:buNone/>
            </a:pPr>
            <a:r>
              <a:t/>
            </a:r>
            <a:endParaRPr/>
          </a:p>
          <a:p>
            <a:pPr indent="0" lvl="0" marL="0" rtl="0" algn="just">
              <a:lnSpc>
                <a:spcPct val="100000"/>
              </a:lnSpc>
              <a:spcBef>
                <a:spcPts val="544"/>
              </a:spcBef>
              <a:spcAft>
                <a:spcPts val="0"/>
              </a:spcAft>
              <a:buClr>
                <a:schemeClr val="dk1"/>
              </a:buClr>
              <a:buSzPct val="100000"/>
              <a:buNone/>
            </a:pPr>
            <a:r>
              <a:t/>
            </a:r>
            <a:endParaRPr/>
          </a:p>
        </p:txBody>
      </p:sp>
      <p:sp>
        <p:nvSpPr>
          <p:cNvPr id="445" name="Google Shape;445;p25"/>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446" name="Google Shape;446;p25"/>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(iii) Software Validation</a:t>
            </a:r>
            <a:endParaRPr/>
          </a:p>
        </p:txBody>
      </p:sp>
      <p:sp>
        <p:nvSpPr>
          <p:cNvPr id="452" name="Google Shape;452;p26"/>
          <p:cNvSpPr txBox="1"/>
          <p:nvPr>
            <p:ph idx="1" type="body"/>
          </p:nvPr>
        </p:nvSpPr>
        <p:spPr>
          <a:xfrm>
            <a:off x="457200" y="1600201"/>
            <a:ext cx="8229600" cy="44196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100000"/>
              </a:lnSpc>
              <a:spcBef>
                <a:spcPts val="0"/>
              </a:spcBef>
              <a:spcAft>
                <a:spcPts val="0"/>
              </a:spcAft>
              <a:buClr>
                <a:schemeClr val="dk1"/>
              </a:buClr>
              <a:buSzPct val="100000"/>
              <a:buChar char="•"/>
            </a:pPr>
            <a:r>
              <a:rPr lang="en-US"/>
              <a:t>Verification and validation (V &amp; V) is intended to show that a system </a:t>
            </a:r>
            <a:r>
              <a:rPr lang="en-US">
                <a:solidFill>
                  <a:srgbClr val="C00000"/>
                </a:solidFill>
              </a:rPr>
              <a:t>conforms to its specification </a:t>
            </a:r>
            <a:r>
              <a:rPr lang="en-US"/>
              <a:t>and meets the requirements of the system customer</a:t>
            </a:r>
            <a:endParaRPr/>
          </a:p>
          <a:p>
            <a:pPr indent="-342900" lvl="0" marL="342900" rtl="0" algn="just">
              <a:lnSpc>
                <a:spcPct val="100000"/>
              </a:lnSpc>
              <a:spcBef>
                <a:spcPts val="592"/>
              </a:spcBef>
              <a:spcAft>
                <a:spcPts val="0"/>
              </a:spcAft>
              <a:buClr>
                <a:schemeClr val="dk1"/>
              </a:buClr>
              <a:buSzPct val="100000"/>
              <a:buChar char="•"/>
            </a:pPr>
            <a:r>
              <a:rPr lang="en-US"/>
              <a:t>Involves </a:t>
            </a:r>
            <a:r>
              <a:rPr lang="en-US">
                <a:solidFill>
                  <a:srgbClr val="C00000"/>
                </a:solidFill>
              </a:rPr>
              <a:t>checking and review processes </a:t>
            </a:r>
            <a:r>
              <a:rPr lang="en-US"/>
              <a:t>and system testing</a:t>
            </a:r>
            <a:endParaRPr/>
          </a:p>
          <a:p>
            <a:pPr indent="-342900" lvl="0" marL="342900" rtl="0" algn="just">
              <a:lnSpc>
                <a:spcPct val="100000"/>
              </a:lnSpc>
              <a:spcBef>
                <a:spcPts val="592"/>
              </a:spcBef>
              <a:spcAft>
                <a:spcPts val="0"/>
              </a:spcAft>
              <a:buClr>
                <a:schemeClr val="dk1"/>
              </a:buClr>
              <a:buSzPct val="100000"/>
              <a:buChar char="•"/>
            </a:pPr>
            <a:r>
              <a:rPr lang="en-US"/>
              <a:t>System testing involves </a:t>
            </a:r>
            <a:r>
              <a:rPr lang="en-US">
                <a:solidFill>
                  <a:srgbClr val="C00000"/>
                </a:solidFill>
              </a:rPr>
              <a:t>executing the system with test cases</a:t>
            </a:r>
            <a:r>
              <a:rPr lang="en-US"/>
              <a:t> that are derived from the specification of the real data to be processed by the system</a:t>
            </a:r>
            <a:endParaRPr/>
          </a:p>
          <a:p>
            <a:pPr indent="-342900" lvl="0" marL="342900" rtl="0" algn="just">
              <a:lnSpc>
                <a:spcPct val="100000"/>
              </a:lnSpc>
              <a:spcBef>
                <a:spcPts val="592"/>
              </a:spcBef>
              <a:spcAft>
                <a:spcPts val="0"/>
              </a:spcAft>
              <a:buClr>
                <a:schemeClr val="dk1"/>
              </a:buClr>
              <a:buSzPct val="100000"/>
              <a:buChar char="•"/>
            </a:pPr>
            <a:r>
              <a:rPr lang="en-US"/>
              <a:t>Testing is the most commonly used V &amp; V activity</a:t>
            </a:r>
            <a:endParaRPr/>
          </a:p>
          <a:p>
            <a:pPr indent="0" lvl="0" marL="0" rtl="0" algn="just">
              <a:lnSpc>
                <a:spcPct val="100000"/>
              </a:lnSpc>
              <a:spcBef>
                <a:spcPts val="592"/>
              </a:spcBef>
              <a:spcAft>
                <a:spcPts val="0"/>
              </a:spcAft>
              <a:buClr>
                <a:schemeClr val="dk1"/>
              </a:buClr>
              <a:buSzPct val="100000"/>
              <a:buNone/>
            </a:pPr>
            <a:r>
              <a:t/>
            </a:r>
            <a:endParaRPr/>
          </a:p>
        </p:txBody>
      </p:sp>
      <p:sp>
        <p:nvSpPr>
          <p:cNvPr id="453" name="Google Shape;453;p26"/>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454" name="Google Shape;454;p26"/>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br>
              <a:rPr lang="en-US"/>
            </a:br>
            <a:r>
              <a:rPr lang="en-US"/>
              <a:t>Stages of Testing</a:t>
            </a:r>
            <a:br>
              <a:rPr lang="en-US"/>
            </a:br>
            <a:endParaRPr/>
          </a:p>
        </p:txBody>
      </p:sp>
      <p:sp>
        <p:nvSpPr>
          <p:cNvPr id="460" name="Google Shape;460;p27"/>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461" name="Google Shape;461;p27"/>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Graphical user interface, text, application, chat or text message&#10;&#10;Description automatically generated" id="462" name="Google Shape;462;p27"/>
          <p:cNvPicPr preferRelativeResize="0"/>
          <p:nvPr/>
        </p:nvPicPr>
        <p:blipFill rotWithShape="1">
          <a:blip r:embed="rId3">
            <a:alphaModFix/>
          </a:blip>
          <a:srcRect b="0" l="0" r="0" t="0"/>
          <a:stretch/>
        </p:blipFill>
        <p:spPr>
          <a:xfrm>
            <a:off x="187723" y="2355089"/>
            <a:ext cx="8499077" cy="267519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Testing Stages</a:t>
            </a:r>
            <a:endParaRPr/>
          </a:p>
        </p:txBody>
      </p:sp>
      <p:sp>
        <p:nvSpPr>
          <p:cNvPr id="468" name="Google Shape;468;p28"/>
          <p:cNvSpPr txBox="1"/>
          <p:nvPr>
            <p:ph idx="1" type="body"/>
          </p:nvPr>
        </p:nvSpPr>
        <p:spPr>
          <a:xfrm>
            <a:off x="457200" y="1600200"/>
            <a:ext cx="8229600" cy="47244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100000"/>
              </a:lnSpc>
              <a:spcBef>
                <a:spcPts val="0"/>
              </a:spcBef>
              <a:spcAft>
                <a:spcPts val="0"/>
              </a:spcAft>
              <a:buClr>
                <a:schemeClr val="dk1"/>
              </a:buClr>
              <a:buSzPct val="100000"/>
              <a:buChar char="•"/>
            </a:pPr>
            <a:r>
              <a:rPr lang="en-US"/>
              <a:t>Development or component testing</a:t>
            </a:r>
            <a:endParaRPr/>
          </a:p>
          <a:p>
            <a:pPr indent="-285750" lvl="1" marL="742950" rtl="0" algn="just">
              <a:lnSpc>
                <a:spcPct val="100000"/>
              </a:lnSpc>
              <a:spcBef>
                <a:spcPts val="518"/>
              </a:spcBef>
              <a:spcAft>
                <a:spcPts val="0"/>
              </a:spcAft>
              <a:buClr>
                <a:schemeClr val="dk1"/>
              </a:buClr>
              <a:buSzPct val="100000"/>
              <a:buChar char="–"/>
            </a:pPr>
            <a:r>
              <a:rPr lang="en-US"/>
              <a:t>Individual components are </a:t>
            </a:r>
            <a:r>
              <a:rPr lang="en-US">
                <a:solidFill>
                  <a:srgbClr val="C00000"/>
                </a:solidFill>
              </a:rPr>
              <a:t>tested independently</a:t>
            </a:r>
            <a:endParaRPr/>
          </a:p>
          <a:p>
            <a:pPr indent="-285750" lvl="1" marL="742950" rtl="0" algn="just">
              <a:lnSpc>
                <a:spcPct val="100000"/>
              </a:lnSpc>
              <a:spcBef>
                <a:spcPts val="518"/>
              </a:spcBef>
              <a:spcAft>
                <a:spcPts val="0"/>
              </a:spcAft>
              <a:buClr>
                <a:schemeClr val="dk1"/>
              </a:buClr>
              <a:buSzPct val="100000"/>
              <a:buChar char="–"/>
            </a:pPr>
            <a:r>
              <a:rPr lang="en-US"/>
              <a:t>Components may be functions or objects or coherent groupings of these entities</a:t>
            </a:r>
            <a:endParaRPr/>
          </a:p>
          <a:p>
            <a:pPr indent="-342900" lvl="0" marL="342900" rtl="0" algn="just">
              <a:lnSpc>
                <a:spcPct val="100000"/>
              </a:lnSpc>
              <a:spcBef>
                <a:spcPts val="592"/>
              </a:spcBef>
              <a:spcAft>
                <a:spcPts val="0"/>
              </a:spcAft>
              <a:buClr>
                <a:schemeClr val="dk1"/>
              </a:buClr>
              <a:buSzPct val="100000"/>
              <a:buChar char="•"/>
            </a:pPr>
            <a:r>
              <a:rPr lang="en-US"/>
              <a:t>System testing</a:t>
            </a:r>
            <a:endParaRPr/>
          </a:p>
          <a:p>
            <a:pPr indent="-285750" lvl="1" marL="742950" rtl="0" algn="just">
              <a:lnSpc>
                <a:spcPct val="100000"/>
              </a:lnSpc>
              <a:spcBef>
                <a:spcPts val="518"/>
              </a:spcBef>
              <a:spcAft>
                <a:spcPts val="0"/>
              </a:spcAft>
              <a:buClr>
                <a:schemeClr val="dk1"/>
              </a:buClr>
              <a:buSzPct val="100000"/>
              <a:buChar char="–"/>
            </a:pPr>
            <a:r>
              <a:rPr lang="en-US"/>
              <a:t>Testing of the system </a:t>
            </a:r>
            <a:r>
              <a:rPr lang="en-US">
                <a:solidFill>
                  <a:srgbClr val="C00000"/>
                </a:solidFill>
              </a:rPr>
              <a:t>as a whole</a:t>
            </a:r>
            <a:endParaRPr/>
          </a:p>
          <a:p>
            <a:pPr indent="-285750" lvl="1" marL="742950" rtl="0" algn="just">
              <a:lnSpc>
                <a:spcPct val="100000"/>
              </a:lnSpc>
              <a:spcBef>
                <a:spcPts val="518"/>
              </a:spcBef>
              <a:spcAft>
                <a:spcPts val="0"/>
              </a:spcAft>
              <a:buClr>
                <a:schemeClr val="dk1"/>
              </a:buClr>
              <a:buSzPct val="100000"/>
              <a:buChar char="–"/>
            </a:pPr>
            <a:r>
              <a:rPr lang="en-US"/>
              <a:t>Testing of emergent properties is particularly important</a:t>
            </a:r>
            <a:endParaRPr/>
          </a:p>
          <a:p>
            <a:pPr indent="-342900" lvl="0" marL="342900" rtl="0" algn="just">
              <a:lnSpc>
                <a:spcPct val="100000"/>
              </a:lnSpc>
              <a:spcBef>
                <a:spcPts val="592"/>
              </a:spcBef>
              <a:spcAft>
                <a:spcPts val="0"/>
              </a:spcAft>
              <a:buClr>
                <a:schemeClr val="dk1"/>
              </a:buClr>
              <a:buSzPct val="100000"/>
              <a:buChar char="•"/>
            </a:pPr>
            <a:r>
              <a:rPr lang="en-US"/>
              <a:t>Customer testing</a:t>
            </a:r>
            <a:endParaRPr/>
          </a:p>
          <a:p>
            <a:pPr indent="-285750" lvl="1" marL="742950" rtl="0" algn="just">
              <a:lnSpc>
                <a:spcPct val="100000"/>
              </a:lnSpc>
              <a:spcBef>
                <a:spcPts val="518"/>
              </a:spcBef>
              <a:spcAft>
                <a:spcPts val="0"/>
              </a:spcAft>
              <a:buClr>
                <a:schemeClr val="dk1"/>
              </a:buClr>
              <a:buSzPct val="100000"/>
              <a:buChar char="–"/>
            </a:pPr>
            <a:r>
              <a:rPr lang="en-US"/>
              <a:t>Testing with </a:t>
            </a:r>
            <a:r>
              <a:rPr lang="en-US">
                <a:solidFill>
                  <a:srgbClr val="C00000"/>
                </a:solidFill>
              </a:rPr>
              <a:t>customer data</a:t>
            </a:r>
            <a:r>
              <a:rPr lang="en-US"/>
              <a:t> to check that the system meets the customer’s needs before the system is accepted for operational use</a:t>
            </a:r>
            <a:endParaRPr/>
          </a:p>
          <a:p>
            <a:pPr indent="0" lvl="0" marL="0" rtl="0" algn="just">
              <a:lnSpc>
                <a:spcPct val="100000"/>
              </a:lnSpc>
              <a:spcBef>
                <a:spcPts val="592"/>
              </a:spcBef>
              <a:spcAft>
                <a:spcPts val="0"/>
              </a:spcAft>
              <a:buClr>
                <a:schemeClr val="dk1"/>
              </a:buClr>
              <a:buSzPct val="100000"/>
              <a:buNone/>
            </a:pPr>
            <a:r>
              <a:t/>
            </a:r>
            <a:endParaRPr/>
          </a:p>
        </p:txBody>
      </p:sp>
      <p:sp>
        <p:nvSpPr>
          <p:cNvPr id="469" name="Google Shape;469;p28"/>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470" name="Google Shape;470;p28"/>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Testing Phases in a </a:t>
            </a:r>
            <a:r>
              <a:rPr b="1" lang="en-US"/>
              <a:t>Plan-Driven</a:t>
            </a:r>
            <a:r>
              <a:rPr lang="en-US"/>
              <a:t> Software Process</a:t>
            </a:r>
            <a:endParaRPr/>
          </a:p>
        </p:txBody>
      </p:sp>
      <p:sp>
        <p:nvSpPr>
          <p:cNvPr id="476" name="Google Shape;476;p29"/>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477" name="Google Shape;477;p29"/>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Diagram&#10;&#10;Description automatically generated" id="478" name="Google Shape;478;p29"/>
          <p:cNvPicPr preferRelativeResize="0"/>
          <p:nvPr/>
        </p:nvPicPr>
        <p:blipFill rotWithShape="1">
          <a:blip r:embed="rId3">
            <a:alphaModFix/>
          </a:blip>
          <a:srcRect b="0" l="0" r="0" t="0"/>
          <a:stretch/>
        </p:blipFill>
        <p:spPr>
          <a:xfrm>
            <a:off x="286750" y="2115204"/>
            <a:ext cx="8570499" cy="32194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(iv) Software Evolution</a:t>
            </a:r>
            <a:endParaRPr/>
          </a:p>
        </p:txBody>
      </p:sp>
      <p:sp>
        <p:nvSpPr>
          <p:cNvPr id="484" name="Google Shape;484;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800"/>
              <a:buChar char="•"/>
            </a:pPr>
            <a:r>
              <a:rPr lang="en-US" sz="2800"/>
              <a:t>Software is inherently flexible and can change</a:t>
            </a:r>
            <a:endParaRPr/>
          </a:p>
          <a:p>
            <a:pPr indent="-342900" lvl="0" marL="342900" rtl="0" algn="just">
              <a:lnSpc>
                <a:spcPct val="100000"/>
              </a:lnSpc>
              <a:spcBef>
                <a:spcPts val="560"/>
              </a:spcBef>
              <a:spcAft>
                <a:spcPts val="0"/>
              </a:spcAft>
              <a:buClr>
                <a:schemeClr val="dk1"/>
              </a:buClr>
              <a:buSzPts val="2800"/>
              <a:buChar char="•"/>
            </a:pPr>
            <a:r>
              <a:rPr lang="en-US" sz="2800"/>
              <a:t>As requirements change through </a:t>
            </a:r>
            <a:r>
              <a:rPr lang="en-US" sz="2800">
                <a:solidFill>
                  <a:srgbClr val="C00000"/>
                </a:solidFill>
              </a:rPr>
              <a:t>changing business circumstances</a:t>
            </a:r>
            <a:r>
              <a:rPr lang="en-US" sz="2800"/>
              <a:t>, the software that supports the business must also evolve and change</a:t>
            </a:r>
            <a:endParaRPr/>
          </a:p>
          <a:p>
            <a:pPr indent="-342900" lvl="0" marL="342900" rtl="0" algn="just">
              <a:lnSpc>
                <a:spcPct val="100000"/>
              </a:lnSpc>
              <a:spcBef>
                <a:spcPts val="560"/>
              </a:spcBef>
              <a:spcAft>
                <a:spcPts val="0"/>
              </a:spcAft>
              <a:buClr>
                <a:schemeClr val="dk1"/>
              </a:buClr>
              <a:buSzPts val="2800"/>
              <a:buChar char="•"/>
            </a:pPr>
            <a:r>
              <a:rPr lang="en-US" sz="2800"/>
              <a:t>Although there has been a demarcation (separation) between development and evolution (maintenance) this is increasingly irrelevant as fewer and fewer systems are completely new, and it makes much more sense to see development and maintenance as continuum</a:t>
            </a:r>
            <a:endParaRPr/>
          </a:p>
          <a:p>
            <a:pPr indent="0" lvl="0" marL="0" rtl="0" algn="just">
              <a:lnSpc>
                <a:spcPct val="100000"/>
              </a:lnSpc>
              <a:spcBef>
                <a:spcPts val="560"/>
              </a:spcBef>
              <a:spcAft>
                <a:spcPts val="0"/>
              </a:spcAft>
              <a:buClr>
                <a:schemeClr val="dk1"/>
              </a:buClr>
              <a:buSzPts val="2800"/>
              <a:buNone/>
            </a:pPr>
            <a:r>
              <a:t/>
            </a:r>
            <a:endParaRPr sz="2800"/>
          </a:p>
        </p:txBody>
      </p:sp>
      <p:sp>
        <p:nvSpPr>
          <p:cNvPr id="485" name="Google Shape;485;p30"/>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486" name="Google Shape;486;p30"/>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System Evolution </a:t>
            </a:r>
            <a:endParaRPr/>
          </a:p>
        </p:txBody>
      </p:sp>
      <p:sp>
        <p:nvSpPr>
          <p:cNvPr id="492" name="Google Shape;492;p31"/>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493" name="Google Shape;493;p31"/>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494" name="Google Shape;494;p31"/>
          <p:cNvPicPr preferRelativeResize="0"/>
          <p:nvPr>
            <p:ph idx="1" type="body"/>
          </p:nvPr>
        </p:nvPicPr>
        <p:blipFill rotWithShape="1">
          <a:blip r:embed="rId3">
            <a:alphaModFix/>
          </a:blip>
          <a:srcRect b="0" l="0" r="0" t="0"/>
          <a:stretch/>
        </p:blipFill>
        <p:spPr>
          <a:xfrm>
            <a:off x="642851" y="1954876"/>
            <a:ext cx="7705898" cy="334864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Calibri"/>
              <a:buNone/>
            </a:pPr>
            <a:r>
              <a:rPr lang="en-US"/>
              <a:t>Coping with Change</a:t>
            </a:r>
            <a:endParaRPr/>
          </a:p>
        </p:txBody>
      </p:sp>
      <p:sp>
        <p:nvSpPr>
          <p:cNvPr id="500" name="Google Shape;500;p7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00"/>
              </a:spcBef>
              <a:spcAft>
                <a:spcPts val="0"/>
              </a:spcAft>
              <a:buClr>
                <a:srgbClr val="888888"/>
              </a:buClr>
              <a:buSzPts val="2000"/>
              <a:buNone/>
            </a:pPr>
            <a:r>
              <a:t/>
            </a:r>
            <a:endParaRPr/>
          </a:p>
        </p:txBody>
      </p:sp>
      <p:sp>
        <p:nvSpPr>
          <p:cNvPr id="501" name="Google Shape;501;p77"/>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Coping with Change</a:t>
            </a:r>
            <a:endParaRPr/>
          </a:p>
        </p:txBody>
      </p:sp>
      <p:sp>
        <p:nvSpPr>
          <p:cNvPr id="507" name="Google Shape;507;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lnSpc>
                <a:spcPct val="100000"/>
              </a:lnSpc>
              <a:spcBef>
                <a:spcPts val="0"/>
              </a:spcBef>
              <a:spcAft>
                <a:spcPts val="0"/>
              </a:spcAft>
              <a:buClr>
                <a:schemeClr val="dk1"/>
              </a:buClr>
              <a:buSzPct val="100000"/>
              <a:buChar char="•"/>
            </a:pPr>
            <a:r>
              <a:rPr lang="en-US"/>
              <a:t>Change is inevitable in all large software projects.</a:t>
            </a:r>
            <a:endParaRPr/>
          </a:p>
          <a:p>
            <a:pPr indent="-285750" lvl="1" marL="742950" rtl="0" algn="just">
              <a:lnSpc>
                <a:spcPct val="100000"/>
              </a:lnSpc>
              <a:spcBef>
                <a:spcPts val="518"/>
              </a:spcBef>
              <a:spcAft>
                <a:spcPts val="0"/>
              </a:spcAft>
              <a:buClr>
                <a:srgbClr val="C00000"/>
              </a:buClr>
              <a:buSzPct val="100000"/>
              <a:buChar char="–"/>
            </a:pPr>
            <a:r>
              <a:rPr b="1" lang="en-US">
                <a:solidFill>
                  <a:srgbClr val="C00000"/>
                </a:solidFill>
              </a:rPr>
              <a:t>Business changes</a:t>
            </a:r>
            <a:r>
              <a:rPr lang="en-US"/>
              <a:t> lead to new and changed system requirements</a:t>
            </a:r>
            <a:endParaRPr/>
          </a:p>
          <a:p>
            <a:pPr indent="-285750" lvl="1" marL="742950" rtl="0" algn="just">
              <a:lnSpc>
                <a:spcPct val="100000"/>
              </a:lnSpc>
              <a:spcBef>
                <a:spcPts val="518"/>
              </a:spcBef>
              <a:spcAft>
                <a:spcPts val="0"/>
              </a:spcAft>
              <a:buClr>
                <a:srgbClr val="C00000"/>
              </a:buClr>
              <a:buSzPct val="100000"/>
              <a:buChar char="–"/>
            </a:pPr>
            <a:r>
              <a:rPr b="1" lang="en-US">
                <a:solidFill>
                  <a:srgbClr val="C00000"/>
                </a:solidFill>
              </a:rPr>
              <a:t>New technologies</a:t>
            </a:r>
            <a:r>
              <a:rPr lang="en-US"/>
              <a:t> open up new possibilities for improving implementations</a:t>
            </a:r>
            <a:endParaRPr/>
          </a:p>
          <a:p>
            <a:pPr indent="-285750" lvl="1" marL="742950" rtl="0" algn="just">
              <a:lnSpc>
                <a:spcPct val="100000"/>
              </a:lnSpc>
              <a:spcBef>
                <a:spcPts val="518"/>
              </a:spcBef>
              <a:spcAft>
                <a:spcPts val="0"/>
              </a:spcAft>
              <a:buClr>
                <a:srgbClr val="C00000"/>
              </a:buClr>
              <a:buSzPct val="100000"/>
              <a:buChar char="–"/>
            </a:pPr>
            <a:r>
              <a:rPr b="1" lang="en-US">
                <a:solidFill>
                  <a:srgbClr val="C00000"/>
                </a:solidFill>
              </a:rPr>
              <a:t>Changing platforms</a:t>
            </a:r>
            <a:r>
              <a:rPr lang="en-US"/>
              <a:t> require application changes</a:t>
            </a:r>
            <a:endParaRPr/>
          </a:p>
          <a:p>
            <a:pPr indent="-342900" lvl="0" marL="342900" rtl="0" algn="just">
              <a:lnSpc>
                <a:spcPct val="100000"/>
              </a:lnSpc>
              <a:spcBef>
                <a:spcPts val="592"/>
              </a:spcBef>
              <a:spcAft>
                <a:spcPts val="0"/>
              </a:spcAft>
              <a:buClr>
                <a:schemeClr val="dk1"/>
              </a:buClr>
              <a:buSzPct val="100000"/>
              <a:buChar char="•"/>
            </a:pPr>
            <a:r>
              <a:rPr lang="en-US"/>
              <a:t>Change leads to rework so the costs of change include both rework (e.g. re-analyzing requirements) as well as the costs of implementing new functionality</a:t>
            </a:r>
            <a:endParaRPr/>
          </a:p>
          <a:p>
            <a:pPr indent="0" lvl="0" marL="0" rtl="0" algn="just">
              <a:lnSpc>
                <a:spcPct val="100000"/>
              </a:lnSpc>
              <a:spcBef>
                <a:spcPts val="592"/>
              </a:spcBef>
              <a:spcAft>
                <a:spcPts val="0"/>
              </a:spcAft>
              <a:buClr>
                <a:schemeClr val="dk1"/>
              </a:buClr>
              <a:buSzPct val="100000"/>
              <a:buNone/>
            </a:pPr>
            <a:r>
              <a:t/>
            </a:r>
            <a:endParaRPr/>
          </a:p>
        </p:txBody>
      </p:sp>
      <p:sp>
        <p:nvSpPr>
          <p:cNvPr id="508" name="Google Shape;508;p32"/>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509" name="Google Shape;509;p32"/>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1111"/>
              <a:buFont typeface="Calibri"/>
              <a:buNone/>
            </a:pPr>
            <a:r>
              <a:rPr lang="en-US"/>
              <a:t>Approach to Reduce Costs of Rework</a:t>
            </a:r>
            <a:endParaRPr/>
          </a:p>
        </p:txBody>
      </p:sp>
      <p:sp>
        <p:nvSpPr>
          <p:cNvPr id="515" name="Google Shape;515;p33"/>
          <p:cNvSpPr txBox="1"/>
          <p:nvPr>
            <p:ph idx="1" type="body"/>
          </p:nvPr>
        </p:nvSpPr>
        <p:spPr>
          <a:xfrm>
            <a:off x="228600" y="1600200"/>
            <a:ext cx="8610600" cy="4800600"/>
          </a:xfrm>
          <a:prstGeom prst="rect">
            <a:avLst/>
          </a:prstGeom>
          <a:noFill/>
          <a:ln>
            <a:noFill/>
          </a:ln>
        </p:spPr>
        <p:txBody>
          <a:bodyPr anchorCtr="0" anchor="t" bIns="45700" lIns="91425" spcFirstLastPara="1" rIns="91425" wrap="square" tIns="45700">
            <a:noAutofit/>
          </a:bodyPr>
          <a:lstStyle/>
          <a:p>
            <a:pPr indent="-457200" lvl="0" marL="457200" rtl="0" algn="just">
              <a:lnSpc>
                <a:spcPct val="100000"/>
              </a:lnSpc>
              <a:spcBef>
                <a:spcPts val="0"/>
              </a:spcBef>
              <a:spcAft>
                <a:spcPts val="0"/>
              </a:spcAft>
              <a:buClr>
                <a:schemeClr val="dk1"/>
              </a:buClr>
              <a:buSzPts val="2400"/>
              <a:buFont typeface="Arial"/>
              <a:buAutoNum type="arabicPeriod"/>
            </a:pPr>
            <a:r>
              <a:rPr lang="en-US" sz="2400"/>
              <a:t>Change </a:t>
            </a:r>
            <a:r>
              <a:rPr b="1" lang="en-US" sz="2400">
                <a:solidFill>
                  <a:srgbClr val="C00000"/>
                </a:solidFill>
              </a:rPr>
              <a:t>anticipation</a:t>
            </a:r>
            <a:r>
              <a:rPr lang="en-US" sz="2400"/>
              <a:t>, where the software process includes activities that can anticipate possible changes before significant rework is required </a:t>
            </a:r>
            <a:endParaRPr/>
          </a:p>
          <a:p>
            <a:pPr indent="-285750" lvl="1" marL="742950" rtl="0" algn="just">
              <a:lnSpc>
                <a:spcPct val="100000"/>
              </a:lnSpc>
              <a:spcBef>
                <a:spcPts val="480"/>
              </a:spcBef>
              <a:spcAft>
                <a:spcPts val="0"/>
              </a:spcAft>
              <a:buClr>
                <a:schemeClr val="dk1"/>
              </a:buClr>
              <a:buSzPts val="2400"/>
              <a:buChar char="–"/>
            </a:pPr>
            <a:r>
              <a:rPr lang="en-US" sz="2400"/>
              <a:t>E.g. a </a:t>
            </a:r>
            <a:r>
              <a:rPr b="1" lang="en-US" sz="2400">
                <a:solidFill>
                  <a:srgbClr val="C00000"/>
                </a:solidFill>
              </a:rPr>
              <a:t>prototype</a:t>
            </a:r>
            <a:r>
              <a:rPr lang="en-US" sz="2400"/>
              <a:t> system may be developed to show some key features of the system to customers</a:t>
            </a:r>
            <a:endParaRPr/>
          </a:p>
          <a:p>
            <a:pPr indent="-457200" lvl="0" marL="457200" rtl="0" algn="just">
              <a:lnSpc>
                <a:spcPct val="100000"/>
              </a:lnSpc>
              <a:spcBef>
                <a:spcPts val="480"/>
              </a:spcBef>
              <a:spcAft>
                <a:spcPts val="0"/>
              </a:spcAft>
              <a:buClr>
                <a:schemeClr val="dk1"/>
              </a:buClr>
              <a:buSzPts val="2400"/>
              <a:buFont typeface="Arial"/>
              <a:buAutoNum type="arabicPeriod"/>
            </a:pPr>
            <a:r>
              <a:rPr lang="en-US" sz="2400"/>
              <a:t>Change </a:t>
            </a:r>
            <a:r>
              <a:rPr b="1" lang="en-US" sz="2400">
                <a:solidFill>
                  <a:srgbClr val="C00000"/>
                </a:solidFill>
              </a:rPr>
              <a:t>tolerance</a:t>
            </a:r>
            <a:r>
              <a:rPr lang="en-US" sz="2400"/>
              <a:t>, where the process is designed so that changes can be accommodated at relatively low cost</a:t>
            </a:r>
            <a:endParaRPr/>
          </a:p>
          <a:p>
            <a:pPr indent="-285750" lvl="1" marL="742950" rtl="0" algn="just">
              <a:lnSpc>
                <a:spcPct val="100000"/>
              </a:lnSpc>
              <a:spcBef>
                <a:spcPts val="480"/>
              </a:spcBef>
              <a:spcAft>
                <a:spcPts val="0"/>
              </a:spcAft>
              <a:buClr>
                <a:schemeClr val="dk1"/>
              </a:buClr>
              <a:buSzPts val="2400"/>
              <a:buChar char="–"/>
            </a:pPr>
            <a:r>
              <a:rPr lang="en-US" sz="2400"/>
              <a:t>This normally involves some form of </a:t>
            </a:r>
            <a:r>
              <a:rPr b="1" lang="en-US" sz="2400">
                <a:solidFill>
                  <a:srgbClr val="C00000"/>
                </a:solidFill>
              </a:rPr>
              <a:t>incremental development, </a:t>
            </a:r>
            <a:r>
              <a:rPr lang="en-US" sz="2400"/>
              <a:t>which proposed changes may be implemented in increments that have not yet been developed</a:t>
            </a:r>
            <a:endParaRPr/>
          </a:p>
          <a:p>
            <a:pPr indent="-285750" lvl="1" marL="742950" rtl="0" algn="just">
              <a:lnSpc>
                <a:spcPct val="100000"/>
              </a:lnSpc>
              <a:spcBef>
                <a:spcPts val="480"/>
              </a:spcBef>
              <a:spcAft>
                <a:spcPts val="0"/>
              </a:spcAft>
              <a:buClr>
                <a:schemeClr val="dk1"/>
              </a:buClr>
              <a:buSzPts val="2400"/>
              <a:buChar char="–"/>
            </a:pPr>
            <a:r>
              <a:rPr lang="en-US" sz="2400"/>
              <a:t>If this is impossible, then only a single increment (a small part of the system) may have be altered to incorporate the change</a:t>
            </a:r>
            <a:endParaRPr/>
          </a:p>
          <a:p>
            <a:pPr indent="-190500" lvl="0" marL="342900" rtl="0" algn="just">
              <a:lnSpc>
                <a:spcPct val="100000"/>
              </a:lnSpc>
              <a:spcBef>
                <a:spcPts val="480"/>
              </a:spcBef>
              <a:spcAft>
                <a:spcPts val="0"/>
              </a:spcAft>
              <a:buClr>
                <a:schemeClr val="dk1"/>
              </a:buClr>
              <a:buSzPts val="2400"/>
              <a:buNone/>
            </a:pPr>
            <a:r>
              <a:t/>
            </a:r>
            <a:endParaRPr sz="2400"/>
          </a:p>
          <a:p>
            <a:pPr indent="0" lvl="0" marL="0" rtl="0" algn="just">
              <a:lnSpc>
                <a:spcPct val="100000"/>
              </a:lnSpc>
              <a:spcBef>
                <a:spcPts val="480"/>
              </a:spcBef>
              <a:spcAft>
                <a:spcPts val="0"/>
              </a:spcAft>
              <a:buClr>
                <a:schemeClr val="dk1"/>
              </a:buClr>
              <a:buSzPts val="2400"/>
              <a:buNone/>
            </a:pPr>
            <a:r>
              <a:t/>
            </a:r>
            <a:endParaRPr sz="2400"/>
          </a:p>
        </p:txBody>
      </p:sp>
      <p:sp>
        <p:nvSpPr>
          <p:cNvPr id="516" name="Google Shape;516;p33"/>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517" name="Google Shape;517;p33"/>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1111"/>
              <a:buFont typeface="Calibri"/>
              <a:buNone/>
            </a:pPr>
            <a:r>
              <a:rPr lang="en-US"/>
              <a:t>Ways to cope: </a:t>
            </a:r>
            <a:br>
              <a:rPr lang="en-US"/>
            </a:br>
            <a:r>
              <a:rPr lang="en-US"/>
              <a:t>(1) Software Prototyping</a:t>
            </a:r>
            <a:endParaRPr/>
          </a:p>
        </p:txBody>
      </p:sp>
      <p:sp>
        <p:nvSpPr>
          <p:cNvPr id="523" name="Google Shape;523;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lnSpc>
                <a:spcPct val="100000"/>
              </a:lnSpc>
              <a:spcBef>
                <a:spcPts val="0"/>
              </a:spcBef>
              <a:spcAft>
                <a:spcPts val="0"/>
              </a:spcAft>
              <a:buClr>
                <a:schemeClr val="dk1"/>
              </a:buClr>
              <a:buSzPct val="100000"/>
              <a:buChar char="•"/>
            </a:pPr>
            <a:r>
              <a:rPr lang="en-US"/>
              <a:t>A prototype is an initial version of a system used to demonstrate concepts and try out design options.</a:t>
            </a:r>
            <a:endParaRPr/>
          </a:p>
          <a:p>
            <a:pPr indent="0" lvl="0" marL="0" rtl="0" algn="just">
              <a:lnSpc>
                <a:spcPct val="100000"/>
              </a:lnSpc>
              <a:spcBef>
                <a:spcPts val="592"/>
              </a:spcBef>
              <a:spcAft>
                <a:spcPts val="0"/>
              </a:spcAft>
              <a:buClr>
                <a:schemeClr val="dk1"/>
              </a:buClr>
              <a:buSzPct val="100000"/>
              <a:buNone/>
            </a:pPr>
            <a:r>
              <a:t/>
            </a:r>
            <a:endParaRPr/>
          </a:p>
          <a:p>
            <a:pPr indent="-342900" lvl="0" marL="342900" rtl="0" algn="just">
              <a:lnSpc>
                <a:spcPct val="100000"/>
              </a:lnSpc>
              <a:spcBef>
                <a:spcPts val="592"/>
              </a:spcBef>
              <a:spcAft>
                <a:spcPts val="0"/>
              </a:spcAft>
              <a:buClr>
                <a:schemeClr val="dk1"/>
              </a:buClr>
              <a:buSzPct val="100000"/>
              <a:buChar char="•"/>
            </a:pPr>
            <a:r>
              <a:rPr lang="en-US"/>
              <a:t>A prototype can be used in:</a:t>
            </a:r>
            <a:endParaRPr/>
          </a:p>
          <a:p>
            <a:pPr indent="-285750" lvl="1" marL="742950" rtl="0" algn="just">
              <a:lnSpc>
                <a:spcPct val="100000"/>
              </a:lnSpc>
              <a:spcBef>
                <a:spcPts val="518"/>
              </a:spcBef>
              <a:spcAft>
                <a:spcPts val="0"/>
              </a:spcAft>
              <a:buClr>
                <a:schemeClr val="dk1"/>
              </a:buClr>
              <a:buSzPct val="100000"/>
              <a:buChar char="–"/>
            </a:pPr>
            <a:r>
              <a:rPr lang="en-US"/>
              <a:t>The </a:t>
            </a:r>
            <a:r>
              <a:rPr b="1" lang="en-US">
                <a:solidFill>
                  <a:srgbClr val="C00000"/>
                </a:solidFill>
              </a:rPr>
              <a:t>requirements engineering process </a:t>
            </a:r>
            <a:r>
              <a:rPr lang="en-US"/>
              <a:t>to help with requirements elicitation and validation;</a:t>
            </a:r>
            <a:endParaRPr/>
          </a:p>
          <a:p>
            <a:pPr indent="-285750" lvl="1" marL="742950" rtl="0" algn="just">
              <a:lnSpc>
                <a:spcPct val="100000"/>
              </a:lnSpc>
              <a:spcBef>
                <a:spcPts val="518"/>
              </a:spcBef>
              <a:spcAft>
                <a:spcPts val="0"/>
              </a:spcAft>
              <a:buClr>
                <a:schemeClr val="dk1"/>
              </a:buClr>
              <a:buSzPct val="100000"/>
              <a:buChar char="–"/>
            </a:pPr>
            <a:r>
              <a:rPr lang="en-US"/>
              <a:t>In </a:t>
            </a:r>
            <a:r>
              <a:rPr b="1" lang="en-US">
                <a:solidFill>
                  <a:srgbClr val="C00000"/>
                </a:solidFill>
              </a:rPr>
              <a:t>design processes</a:t>
            </a:r>
            <a:r>
              <a:rPr b="1" lang="en-US"/>
              <a:t> </a:t>
            </a:r>
            <a:r>
              <a:rPr lang="en-US"/>
              <a:t>to explore options and develop a UI design;</a:t>
            </a:r>
            <a:endParaRPr/>
          </a:p>
          <a:p>
            <a:pPr indent="-285750" lvl="1" marL="742950" rtl="0" algn="just">
              <a:lnSpc>
                <a:spcPct val="100000"/>
              </a:lnSpc>
              <a:spcBef>
                <a:spcPts val="518"/>
              </a:spcBef>
              <a:spcAft>
                <a:spcPts val="0"/>
              </a:spcAft>
              <a:buClr>
                <a:schemeClr val="dk1"/>
              </a:buClr>
              <a:buSzPct val="100000"/>
              <a:buChar char="–"/>
            </a:pPr>
            <a:r>
              <a:rPr lang="en-US"/>
              <a:t>In the </a:t>
            </a:r>
            <a:r>
              <a:rPr b="1" lang="en-US">
                <a:solidFill>
                  <a:srgbClr val="C00000"/>
                </a:solidFill>
              </a:rPr>
              <a:t>testing process </a:t>
            </a:r>
            <a:r>
              <a:rPr lang="en-US"/>
              <a:t>to run back-to-back tests.</a:t>
            </a:r>
            <a:endParaRPr/>
          </a:p>
          <a:p>
            <a:pPr indent="0" lvl="0" marL="0" rtl="0" algn="just">
              <a:lnSpc>
                <a:spcPct val="100000"/>
              </a:lnSpc>
              <a:spcBef>
                <a:spcPts val="592"/>
              </a:spcBef>
              <a:spcAft>
                <a:spcPts val="0"/>
              </a:spcAft>
              <a:buClr>
                <a:schemeClr val="dk1"/>
              </a:buClr>
              <a:buSzPct val="100000"/>
              <a:buNone/>
            </a:pPr>
            <a:r>
              <a:t/>
            </a:r>
            <a:endParaRPr/>
          </a:p>
        </p:txBody>
      </p:sp>
      <p:sp>
        <p:nvSpPr>
          <p:cNvPr id="524" name="Google Shape;524;p34"/>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525" name="Google Shape;525;p34"/>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Benefits of Prototyping</a:t>
            </a:r>
            <a:endParaRPr/>
          </a:p>
        </p:txBody>
      </p:sp>
      <p:sp>
        <p:nvSpPr>
          <p:cNvPr id="531" name="Google Shape;531;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n-US"/>
              <a:t>Improved system usability</a:t>
            </a:r>
            <a:endParaRPr/>
          </a:p>
          <a:p>
            <a:pPr indent="-342900" lvl="0" marL="342900" rtl="0" algn="just">
              <a:lnSpc>
                <a:spcPct val="100000"/>
              </a:lnSpc>
              <a:spcBef>
                <a:spcPts val="640"/>
              </a:spcBef>
              <a:spcAft>
                <a:spcPts val="0"/>
              </a:spcAft>
              <a:buClr>
                <a:schemeClr val="dk1"/>
              </a:buClr>
              <a:buSzPts val="3200"/>
              <a:buChar char="•"/>
            </a:pPr>
            <a:r>
              <a:rPr lang="en-US"/>
              <a:t>A closer match to users’ real needs</a:t>
            </a:r>
            <a:endParaRPr/>
          </a:p>
          <a:p>
            <a:pPr indent="-342900" lvl="0" marL="342900" rtl="0" algn="just">
              <a:lnSpc>
                <a:spcPct val="100000"/>
              </a:lnSpc>
              <a:spcBef>
                <a:spcPts val="640"/>
              </a:spcBef>
              <a:spcAft>
                <a:spcPts val="0"/>
              </a:spcAft>
              <a:buClr>
                <a:schemeClr val="dk1"/>
              </a:buClr>
              <a:buSzPts val="3200"/>
              <a:buChar char="•"/>
            </a:pPr>
            <a:r>
              <a:rPr lang="en-US"/>
              <a:t>Improved design quality</a:t>
            </a:r>
            <a:endParaRPr/>
          </a:p>
          <a:p>
            <a:pPr indent="-342900" lvl="0" marL="342900" rtl="0" algn="just">
              <a:lnSpc>
                <a:spcPct val="100000"/>
              </a:lnSpc>
              <a:spcBef>
                <a:spcPts val="640"/>
              </a:spcBef>
              <a:spcAft>
                <a:spcPts val="0"/>
              </a:spcAft>
              <a:buClr>
                <a:schemeClr val="dk1"/>
              </a:buClr>
              <a:buSzPts val="3200"/>
              <a:buChar char="•"/>
            </a:pPr>
            <a:r>
              <a:rPr lang="en-US"/>
              <a:t>Improved maintainability</a:t>
            </a:r>
            <a:endParaRPr/>
          </a:p>
          <a:p>
            <a:pPr indent="-342900" lvl="0" marL="342900" rtl="0" algn="just">
              <a:lnSpc>
                <a:spcPct val="100000"/>
              </a:lnSpc>
              <a:spcBef>
                <a:spcPts val="640"/>
              </a:spcBef>
              <a:spcAft>
                <a:spcPts val="0"/>
              </a:spcAft>
              <a:buClr>
                <a:schemeClr val="dk1"/>
              </a:buClr>
              <a:buSzPts val="3200"/>
              <a:buChar char="•"/>
            </a:pPr>
            <a:r>
              <a:rPr lang="en-US"/>
              <a:t>Reduced development effort</a:t>
            </a:r>
            <a:endParaRPr/>
          </a:p>
          <a:p>
            <a:pPr indent="0" lvl="0" marL="0" rtl="0" algn="just">
              <a:lnSpc>
                <a:spcPct val="100000"/>
              </a:lnSpc>
              <a:spcBef>
                <a:spcPts val="640"/>
              </a:spcBef>
              <a:spcAft>
                <a:spcPts val="0"/>
              </a:spcAft>
              <a:buClr>
                <a:schemeClr val="dk1"/>
              </a:buClr>
              <a:buSzPts val="3200"/>
              <a:buNone/>
            </a:pPr>
            <a:r>
              <a:t/>
            </a:r>
            <a:endParaRPr/>
          </a:p>
        </p:txBody>
      </p:sp>
      <p:sp>
        <p:nvSpPr>
          <p:cNvPr id="532" name="Google Shape;532;p35"/>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533" name="Google Shape;533;p35"/>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The Process of Prototype Development</a:t>
            </a:r>
            <a:endParaRPr/>
          </a:p>
        </p:txBody>
      </p:sp>
      <p:sp>
        <p:nvSpPr>
          <p:cNvPr id="539" name="Google Shape;539;p36"/>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540" name="Google Shape;540;p36"/>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541" name="Google Shape;541;p36"/>
          <p:cNvPicPr preferRelativeResize="0"/>
          <p:nvPr>
            <p:ph idx="1" type="body"/>
          </p:nvPr>
        </p:nvPicPr>
        <p:blipFill rotWithShape="1">
          <a:blip r:embed="rId3">
            <a:alphaModFix/>
          </a:blip>
          <a:srcRect b="0" l="0" r="0" t="0"/>
          <a:stretch/>
        </p:blipFill>
        <p:spPr>
          <a:xfrm>
            <a:off x="457200" y="2438400"/>
            <a:ext cx="8229600" cy="30480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Prototype Development</a:t>
            </a:r>
            <a:endParaRPr/>
          </a:p>
        </p:txBody>
      </p:sp>
      <p:sp>
        <p:nvSpPr>
          <p:cNvPr id="547" name="Google Shape;547;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n-US"/>
              <a:t>May be based on rapid prototyping languages or tools</a:t>
            </a:r>
            <a:endParaRPr/>
          </a:p>
          <a:p>
            <a:pPr indent="-342900" lvl="0" marL="342900" rtl="0" algn="just">
              <a:lnSpc>
                <a:spcPct val="100000"/>
              </a:lnSpc>
              <a:spcBef>
                <a:spcPts val="640"/>
              </a:spcBef>
              <a:spcAft>
                <a:spcPts val="0"/>
              </a:spcAft>
              <a:buClr>
                <a:schemeClr val="dk1"/>
              </a:buClr>
              <a:buSzPts val="3200"/>
              <a:buChar char="•"/>
            </a:pPr>
            <a:r>
              <a:rPr lang="en-US"/>
              <a:t>May involve leaving out functionality:</a:t>
            </a:r>
            <a:endParaRPr/>
          </a:p>
          <a:p>
            <a:pPr indent="-285750" lvl="1" marL="742950" rtl="0" algn="just">
              <a:lnSpc>
                <a:spcPct val="100000"/>
              </a:lnSpc>
              <a:spcBef>
                <a:spcPts val="560"/>
              </a:spcBef>
              <a:spcAft>
                <a:spcPts val="0"/>
              </a:spcAft>
              <a:buClr>
                <a:schemeClr val="dk1"/>
              </a:buClr>
              <a:buSzPts val="2800"/>
              <a:buChar char="–"/>
            </a:pPr>
            <a:r>
              <a:rPr lang="en-US"/>
              <a:t>Prototype should focus on areas of the product that are </a:t>
            </a:r>
            <a:r>
              <a:rPr b="1" lang="en-US">
                <a:solidFill>
                  <a:srgbClr val="C00000"/>
                </a:solidFill>
              </a:rPr>
              <a:t>not well-understood</a:t>
            </a:r>
            <a:endParaRPr/>
          </a:p>
          <a:p>
            <a:pPr indent="-285750" lvl="1" marL="742950" rtl="0" algn="just">
              <a:lnSpc>
                <a:spcPct val="100000"/>
              </a:lnSpc>
              <a:spcBef>
                <a:spcPts val="560"/>
              </a:spcBef>
              <a:spcAft>
                <a:spcPts val="0"/>
              </a:spcAft>
              <a:buClr>
                <a:schemeClr val="dk1"/>
              </a:buClr>
              <a:buSzPts val="2800"/>
              <a:buChar char="–"/>
            </a:pPr>
            <a:r>
              <a:rPr lang="en-US"/>
              <a:t>Error </a:t>
            </a:r>
            <a:r>
              <a:rPr b="1" lang="en-US">
                <a:solidFill>
                  <a:srgbClr val="C00000"/>
                </a:solidFill>
              </a:rPr>
              <a:t>checking and recovery </a:t>
            </a:r>
            <a:r>
              <a:rPr lang="en-US"/>
              <a:t>may </a:t>
            </a:r>
            <a:r>
              <a:rPr b="1" lang="en-US">
                <a:solidFill>
                  <a:srgbClr val="C00000"/>
                </a:solidFill>
              </a:rPr>
              <a:t>not be included </a:t>
            </a:r>
            <a:r>
              <a:rPr lang="en-US"/>
              <a:t>in the prototype</a:t>
            </a:r>
            <a:endParaRPr/>
          </a:p>
          <a:p>
            <a:pPr indent="-285750" lvl="1" marL="742950" rtl="0" algn="just">
              <a:lnSpc>
                <a:spcPct val="100000"/>
              </a:lnSpc>
              <a:spcBef>
                <a:spcPts val="560"/>
              </a:spcBef>
              <a:spcAft>
                <a:spcPts val="0"/>
              </a:spcAft>
              <a:buClr>
                <a:schemeClr val="dk1"/>
              </a:buClr>
              <a:buSzPts val="2800"/>
              <a:buChar char="–"/>
            </a:pPr>
            <a:r>
              <a:rPr lang="en-US"/>
              <a:t>Focus on </a:t>
            </a:r>
            <a:r>
              <a:rPr b="1" lang="en-US">
                <a:solidFill>
                  <a:srgbClr val="C00000"/>
                </a:solidFill>
              </a:rPr>
              <a:t>functional</a:t>
            </a:r>
            <a:r>
              <a:rPr lang="en-US">
                <a:solidFill>
                  <a:srgbClr val="C00000"/>
                </a:solidFill>
              </a:rPr>
              <a:t> </a:t>
            </a:r>
            <a:r>
              <a:rPr lang="en-US"/>
              <a:t>rather than non-functional requirements such as reliability and security</a:t>
            </a:r>
            <a:endParaRPr/>
          </a:p>
          <a:p>
            <a:pPr indent="0" lvl="0" marL="0" rtl="0" algn="just">
              <a:lnSpc>
                <a:spcPct val="100000"/>
              </a:lnSpc>
              <a:spcBef>
                <a:spcPts val="640"/>
              </a:spcBef>
              <a:spcAft>
                <a:spcPts val="0"/>
              </a:spcAft>
              <a:buClr>
                <a:schemeClr val="dk1"/>
              </a:buClr>
              <a:buSzPts val="3200"/>
              <a:buNone/>
            </a:pPr>
            <a:r>
              <a:t/>
            </a:r>
            <a:endParaRPr/>
          </a:p>
        </p:txBody>
      </p:sp>
      <p:sp>
        <p:nvSpPr>
          <p:cNvPr id="548" name="Google Shape;548;p37"/>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549" name="Google Shape;549;p37"/>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Throw-Away Prototypes</a:t>
            </a:r>
            <a:endParaRPr/>
          </a:p>
        </p:txBody>
      </p:sp>
      <p:sp>
        <p:nvSpPr>
          <p:cNvPr id="555" name="Google Shape;555;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3200"/>
              <a:buChar char="•"/>
            </a:pPr>
            <a:r>
              <a:rPr lang="en-US"/>
              <a:t>Prototypes should be </a:t>
            </a:r>
            <a:r>
              <a:rPr b="1" lang="en-US">
                <a:solidFill>
                  <a:srgbClr val="C00000"/>
                </a:solidFill>
              </a:rPr>
              <a:t>discarded after development </a:t>
            </a:r>
            <a:r>
              <a:rPr lang="en-US"/>
              <a:t>as they are not a good basis for a production system:</a:t>
            </a:r>
            <a:endParaRPr/>
          </a:p>
          <a:p>
            <a:pPr indent="-285750" lvl="1" marL="742950" rtl="0" algn="just">
              <a:lnSpc>
                <a:spcPct val="100000"/>
              </a:lnSpc>
              <a:spcBef>
                <a:spcPts val="560"/>
              </a:spcBef>
              <a:spcAft>
                <a:spcPts val="0"/>
              </a:spcAft>
              <a:buClr>
                <a:schemeClr val="dk1"/>
              </a:buClr>
              <a:buSzPts val="2800"/>
              <a:buChar char="–"/>
            </a:pPr>
            <a:r>
              <a:rPr lang="en-US"/>
              <a:t>It may be impossible to tune the system to meet non-functional requirements</a:t>
            </a:r>
            <a:endParaRPr/>
          </a:p>
          <a:p>
            <a:pPr indent="-285750" lvl="1" marL="742950" rtl="0" algn="just">
              <a:lnSpc>
                <a:spcPct val="100000"/>
              </a:lnSpc>
              <a:spcBef>
                <a:spcPts val="560"/>
              </a:spcBef>
              <a:spcAft>
                <a:spcPts val="0"/>
              </a:spcAft>
              <a:buClr>
                <a:schemeClr val="dk1"/>
              </a:buClr>
              <a:buSzPts val="2800"/>
              <a:buChar char="–"/>
            </a:pPr>
            <a:r>
              <a:rPr lang="en-US"/>
              <a:t>Prototypes are normally undocumented</a:t>
            </a:r>
            <a:endParaRPr/>
          </a:p>
          <a:p>
            <a:pPr indent="-285750" lvl="1" marL="742950" rtl="0" algn="just">
              <a:lnSpc>
                <a:spcPct val="100000"/>
              </a:lnSpc>
              <a:spcBef>
                <a:spcPts val="560"/>
              </a:spcBef>
              <a:spcAft>
                <a:spcPts val="0"/>
              </a:spcAft>
              <a:buClr>
                <a:schemeClr val="dk1"/>
              </a:buClr>
              <a:buSzPts val="2800"/>
              <a:buChar char="–"/>
            </a:pPr>
            <a:r>
              <a:rPr lang="en-US"/>
              <a:t>The prototype structure is usually degraded through rapid change</a:t>
            </a:r>
            <a:endParaRPr/>
          </a:p>
          <a:p>
            <a:pPr indent="-285750" lvl="1" marL="742950" rtl="0" algn="just">
              <a:lnSpc>
                <a:spcPct val="100000"/>
              </a:lnSpc>
              <a:spcBef>
                <a:spcPts val="560"/>
              </a:spcBef>
              <a:spcAft>
                <a:spcPts val="0"/>
              </a:spcAft>
              <a:buClr>
                <a:schemeClr val="dk1"/>
              </a:buClr>
              <a:buSzPts val="2800"/>
              <a:buChar char="–"/>
            </a:pPr>
            <a:r>
              <a:rPr lang="en-US"/>
              <a:t>The prototype probably will not meet normal organizational quality standards</a:t>
            </a:r>
            <a:endParaRPr/>
          </a:p>
        </p:txBody>
      </p:sp>
      <p:sp>
        <p:nvSpPr>
          <p:cNvPr id="556" name="Google Shape;556;p38"/>
          <p:cNvSpPr txBox="1"/>
          <p:nvPr>
            <p:ph idx="10" type="dt"/>
          </p:nvPr>
        </p:nvSpPr>
        <p:spPr>
          <a:xfrm>
            <a:off x="457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2021</a:t>
            </a:r>
            <a:endParaRPr/>
          </a:p>
        </p:txBody>
      </p:sp>
      <p:sp>
        <p:nvSpPr>
          <p:cNvPr id="557" name="Google Shape;557;p38"/>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558" name="Google Shape;558;p38"/>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1111"/>
              <a:buFont typeface="Calibri"/>
              <a:buNone/>
            </a:pPr>
            <a:r>
              <a:rPr lang="en-US"/>
              <a:t>Ways to cope: </a:t>
            </a:r>
            <a:br>
              <a:rPr lang="en-US"/>
            </a:br>
            <a:r>
              <a:rPr lang="en-US"/>
              <a:t>(2) Incremental Delivery</a:t>
            </a:r>
            <a:endParaRPr/>
          </a:p>
        </p:txBody>
      </p:sp>
      <p:sp>
        <p:nvSpPr>
          <p:cNvPr id="564" name="Google Shape;564;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100000"/>
              </a:lnSpc>
              <a:spcBef>
                <a:spcPts val="0"/>
              </a:spcBef>
              <a:spcAft>
                <a:spcPts val="0"/>
              </a:spcAft>
              <a:buClr>
                <a:schemeClr val="dk1"/>
              </a:buClr>
              <a:buSzPct val="100000"/>
              <a:buChar char="•"/>
            </a:pPr>
            <a:r>
              <a:rPr lang="en-US"/>
              <a:t>Rather than deliver the system as a single delivery, the development and delivery is </a:t>
            </a:r>
            <a:r>
              <a:rPr b="1" lang="en-US">
                <a:solidFill>
                  <a:srgbClr val="C00000"/>
                </a:solidFill>
              </a:rPr>
              <a:t>broken down into increments</a:t>
            </a:r>
            <a:r>
              <a:rPr lang="en-US"/>
              <a:t> with each increment delivering part of the required functionality</a:t>
            </a:r>
            <a:endParaRPr/>
          </a:p>
          <a:p>
            <a:pPr indent="-342900" lvl="0" marL="342900" rtl="0" algn="just">
              <a:lnSpc>
                <a:spcPct val="100000"/>
              </a:lnSpc>
              <a:spcBef>
                <a:spcPts val="592"/>
              </a:spcBef>
              <a:spcAft>
                <a:spcPts val="0"/>
              </a:spcAft>
              <a:buClr>
                <a:schemeClr val="dk1"/>
              </a:buClr>
              <a:buSzPct val="100000"/>
              <a:buChar char="•"/>
            </a:pPr>
            <a:r>
              <a:rPr lang="en-US"/>
              <a:t>User requirements are </a:t>
            </a:r>
            <a:r>
              <a:rPr b="1" lang="en-US">
                <a:solidFill>
                  <a:srgbClr val="C00000"/>
                </a:solidFill>
              </a:rPr>
              <a:t>prioritised</a:t>
            </a:r>
            <a:r>
              <a:rPr lang="en-US"/>
              <a:t> and the highest priority requirements are included in early increments</a:t>
            </a:r>
            <a:endParaRPr/>
          </a:p>
          <a:p>
            <a:pPr indent="-342900" lvl="0" marL="342900" rtl="0" algn="just">
              <a:lnSpc>
                <a:spcPct val="100000"/>
              </a:lnSpc>
              <a:spcBef>
                <a:spcPts val="592"/>
              </a:spcBef>
              <a:spcAft>
                <a:spcPts val="0"/>
              </a:spcAft>
              <a:buClr>
                <a:schemeClr val="dk1"/>
              </a:buClr>
              <a:buSzPct val="100000"/>
              <a:buChar char="•"/>
            </a:pPr>
            <a:r>
              <a:rPr lang="en-US"/>
              <a:t>Once the </a:t>
            </a:r>
            <a:r>
              <a:rPr b="1" lang="en-US">
                <a:solidFill>
                  <a:srgbClr val="C00000"/>
                </a:solidFill>
              </a:rPr>
              <a:t>development of an increment is started</a:t>
            </a:r>
            <a:r>
              <a:rPr lang="en-US"/>
              <a:t>, the </a:t>
            </a:r>
            <a:r>
              <a:rPr b="1" lang="en-US">
                <a:solidFill>
                  <a:srgbClr val="C00000"/>
                </a:solidFill>
              </a:rPr>
              <a:t>requirements are frozen </a:t>
            </a:r>
            <a:r>
              <a:rPr lang="en-US"/>
              <a:t>though requirements for later increments can continue to evolve</a:t>
            </a:r>
            <a:endParaRPr/>
          </a:p>
          <a:p>
            <a:pPr indent="0" lvl="0" marL="0" rtl="0" algn="just">
              <a:lnSpc>
                <a:spcPct val="100000"/>
              </a:lnSpc>
              <a:spcBef>
                <a:spcPts val="592"/>
              </a:spcBef>
              <a:spcAft>
                <a:spcPts val="0"/>
              </a:spcAft>
              <a:buClr>
                <a:schemeClr val="dk1"/>
              </a:buClr>
              <a:buSzPct val="100000"/>
              <a:buNone/>
            </a:pPr>
            <a:r>
              <a:t/>
            </a:r>
            <a:endParaRPr/>
          </a:p>
        </p:txBody>
      </p:sp>
      <p:sp>
        <p:nvSpPr>
          <p:cNvPr id="565" name="Google Shape;565;p39"/>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566" name="Google Shape;566;p39"/>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Incremental Development and Delivery</a:t>
            </a:r>
            <a:endParaRPr/>
          </a:p>
        </p:txBody>
      </p:sp>
      <p:sp>
        <p:nvSpPr>
          <p:cNvPr id="572" name="Google Shape;572;p40"/>
          <p:cNvSpPr txBox="1"/>
          <p:nvPr>
            <p:ph idx="1" type="body"/>
          </p:nvPr>
        </p:nvSpPr>
        <p:spPr>
          <a:xfrm>
            <a:off x="457200" y="1439678"/>
            <a:ext cx="8382000" cy="496112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Char char="•"/>
            </a:pPr>
            <a:r>
              <a:rPr lang="en-US" sz="2400"/>
              <a:t>Incremental development:</a:t>
            </a:r>
            <a:endParaRPr/>
          </a:p>
          <a:p>
            <a:pPr indent="-285750" lvl="1" marL="742950" rtl="0" algn="just">
              <a:lnSpc>
                <a:spcPct val="100000"/>
              </a:lnSpc>
              <a:spcBef>
                <a:spcPts val="480"/>
              </a:spcBef>
              <a:spcAft>
                <a:spcPts val="0"/>
              </a:spcAft>
              <a:buClr>
                <a:schemeClr val="dk1"/>
              </a:buClr>
              <a:buSzPts val="2400"/>
              <a:buChar char="–"/>
            </a:pPr>
            <a:r>
              <a:rPr lang="en-US" sz="2400"/>
              <a:t>Develop the system in increments and evaluate each increment before proceeding to the development of the next increment</a:t>
            </a:r>
            <a:endParaRPr/>
          </a:p>
          <a:p>
            <a:pPr indent="-285750" lvl="1" marL="742950" rtl="0" algn="just">
              <a:lnSpc>
                <a:spcPct val="100000"/>
              </a:lnSpc>
              <a:spcBef>
                <a:spcPts val="480"/>
              </a:spcBef>
              <a:spcAft>
                <a:spcPts val="0"/>
              </a:spcAft>
              <a:buClr>
                <a:schemeClr val="dk1"/>
              </a:buClr>
              <a:buSzPts val="2400"/>
              <a:buChar char="–"/>
            </a:pPr>
            <a:r>
              <a:rPr lang="en-US" sz="2400"/>
              <a:t>Normal approach used in </a:t>
            </a:r>
            <a:r>
              <a:rPr b="1" lang="en-US" sz="2400">
                <a:solidFill>
                  <a:srgbClr val="C00000"/>
                </a:solidFill>
              </a:rPr>
              <a:t>agile methods</a:t>
            </a:r>
            <a:endParaRPr sz="2400"/>
          </a:p>
          <a:p>
            <a:pPr indent="-285750" lvl="1" marL="742950" rtl="0" algn="just">
              <a:lnSpc>
                <a:spcPct val="100000"/>
              </a:lnSpc>
              <a:spcBef>
                <a:spcPts val="480"/>
              </a:spcBef>
              <a:spcAft>
                <a:spcPts val="0"/>
              </a:spcAft>
              <a:buClr>
                <a:schemeClr val="dk1"/>
              </a:buClr>
              <a:buSzPts val="2400"/>
              <a:buChar char="–"/>
            </a:pPr>
            <a:r>
              <a:rPr lang="en-US" sz="2400"/>
              <a:t>Evaluation done by user/customer proxy</a:t>
            </a:r>
            <a:endParaRPr/>
          </a:p>
          <a:p>
            <a:pPr indent="-342900" lvl="0" marL="342900" rtl="0" algn="just">
              <a:lnSpc>
                <a:spcPct val="100000"/>
              </a:lnSpc>
              <a:spcBef>
                <a:spcPts val="480"/>
              </a:spcBef>
              <a:spcAft>
                <a:spcPts val="0"/>
              </a:spcAft>
              <a:buClr>
                <a:schemeClr val="dk1"/>
              </a:buClr>
              <a:buSzPts val="2400"/>
              <a:buChar char="•"/>
            </a:pPr>
            <a:r>
              <a:rPr lang="en-US" sz="2400"/>
              <a:t>Incremental delivery:</a:t>
            </a:r>
            <a:endParaRPr/>
          </a:p>
          <a:p>
            <a:pPr indent="-285750" lvl="1" marL="742950" rtl="0" algn="just">
              <a:lnSpc>
                <a:spcPct val="100000"/>
              </a:lnSpc>
              <a:spcBef>
                <a:spcPts val="480"/>
              </a:spcBef>
              <a:spcAft>
                <a:spcPts val="0"/>
              </a:spcAft>
              <a:buClr>
                <a:schemeClr val="dk1"/>
              </a:buClr>
              <a:buSzPts val="2400"/>
              <a:buChar char="–"/>
            </a:pPr>
            <a:r>
              <a:rPr lang="en-US" sz="2400"/>
              <a:t>Deploy an increment for use by end-users</a:t>
            </a:r>
            <a:endParaRPr/>
          </a:p>
          <a:p>
            <a:pPr indent="-285750" lvl="1" marL="742950" rtl="0" algn="just">
              <a:lnSpc>
                <a:spcPct val="100000"/>
              </a:lnSpc>
              <a:spcBef>
                <a:spcPts val="480"/>
              </a:spcBef>
              <a:spcAft>
                <a:spcPts val="0"/>
              </a:spcAft>
              <a:buClr>
                <a:schemeClr val="dk1"/>
              </a:buClr>
              <a:buSzPts val="2400"/>
              <a:buChar char="–"/>
            </a:pPr>
            <a:r>
              <a:rPr lang="en-US" sz="2400"/>
              <a:t>More realistic evaluation about practical use of software</a:t>
            </a:r>
            <a:endParaRPr/>
          </a:p>
          <a:p>
            <a:pPr indent="-285750" lvl="1" marL="742950" rtl="0" algn="just">
              <a:lnSpc>
                <a:spcPct val="100000"/>
              </a:lnSpc>
              <a:spcBef>
                <a:spcPts val="480"/>
              </a:spcBef>
              <a:spcAft>
                <a:spcPts val="0"/>
              </a:spcAft>
              <a:buClr>
                <a:schemeClr val="dk1"/>
              </a:buClr>
              <a:buSzPts val="2400"/>
              <a:buChar char="–"/>
            </a:pPr>
            <a:r>
              <a:rPr lang="en-US" sz="2400"/>
              <a:t>Difficult to implement for replacement systems as increments have less functionality than the system being replaced</a:t>
            </a:r>
            <a:endParaRPr/>
          </a:p>
          <a:p>
            <a:pPr indent="-133350" lvl="1" marL="742950" rtl="0" algn="just">
              <a:lnSpc>
                <a:spcPct val="100000"/>
              </a:lnSpc>
              <a:spcBef>
                <a:spcPts val="480"/>
              </a:spcBef>
              <a:spcAft>
                <a:spcPts val="0"/>
              </a:spcAft>
              <a:buClr>
                <a:schemeClr val="dk1"/>
              </a:buClr>
              <a:buSzPts val="2400"/>
              <a:buNone/>
            </a:pPr>
            <a:r>
              <a:t/>
            </a:r>
            <a:endParaRPr sz="2400"/>
          </a:p>
          <a:p>
            <a:pPr indent="0" lvl="0" marL="0" rtl="0" algn="just">
              <a:lnSpc>
                <a:spcPct val="100000"/>
              </a:lnSpc>
              <a:spcBef>
                <a:spcPts val="480"/>
              </a:spcBef>
              <a:spcAft>
                <a:spcPts val="0"/>
              </a:spcAft>
              <a:buClr>
                <a:schemeClr val="dk1"/>
              </a:buClr>
              <a:buSzPts val="2400"/>
              <a:buNone/>
            </a:pPr>
            <a:r>
              <a:t/>
            </a:r>
            <a:endParaRPr sz="2400"/>
          </a:p>
        </p:txBody>
      </p:sp>
      <p:sp>
        <p:nvSpPr>
          <p:cNvPr id="573" name="Google Shape;573;p40"/>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574" name="Google Shape;574;p40"/>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Incremental Delivery </a:t>
            </a:r>
            <a:endParaRPr/>
          </a:p>
        </p:txBody>
      </p:sp>
      <p:sp>
        <p:nvSpPr>
          <p:cNvPr id="580" name="Google Shape;580;p41"/>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581" name="Google Shape;581;p41"/>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582" name="Google Shape;582;p41"/>
          <p:cNvPicPr preferRelativeResize="0"/>
          <p:nvPr>
            <p:ph idx="1" type="body"/>
          </p:nvPr>
        </p:nvPicPr>
        <p:blipFill rotWithShape="1">
          <a:blip r:embed="rId3">
            <a:alphaModFix/>
          </a:blip>
          <a:srcRect b="0" l="0" r="0" t="0"/>
          <a:stretch/>
        </p:blipFill>
        <p:spPr>
          <a:xfrm>
            <a:off x="457200" y="1905000"/>
            <a:ext cx="8229600" cy="3733799"/>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Incremental Delivery Advantages</a:t>
            </a:r>
            <a:endParaRPr/>
          </a:p>
        </p:txBody>
      </p:sp>
      <p:sp>
        <p:nvSpPr>
          <p:cNvPr id="588" name="Google Shape;588;p42"/>
          <p:cNvSpPr txBox="1"/>
          <p:nvPr>
            <p:ph idx="1" type="body"/>
          </p:nvPr>
        </p:nvSpPr>
        <p:spPr>
          <a:xfrm>
            <a:off x="457200" y="1600201"/>
            <a:ext cx="8229600" cy="419100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3200"/>
              <a:buChar char="•"/>
            </a:pPr>
            <a:r>
              <a:rPr lang="en-US"/>
              <a:t>Customer value can be delivered with each increment so system functionality is available earlier</a:t>
            </a:r>
            <a:endParaRPr/>
          </a:p>
          <a:p>
            <a:pPr indent="-342900" lvl="0" marL="342900" rtl="0" algn="just">
              <a:lnSpc>
                <a:spcPct val="100000"/>
              </a:lnSpc>
              <a:spcBef>
                <a:spcPts val="640"/>
              </a:spcBef>
              <a:spcAft>
                <a:spcPts val="0"/>
              </a:spcAft>
              <a:buClr>
                <a:schemeClr val="dk1"/>
              </a:buClr>
              <a:buSzPts val="3200"/>
              <a:buChar char="•"/>
            </a:pPr>
            <a:r>
              <a:rPr lang="en-US"/>
              <a:t>Early increments </a:t>
            </a:r>
            <a:r>
              <a:rPr b="1" lang="en-US">
                <a:solidFill>
                  <a:srgbClr val="C00000"/>
                </a:solidFill>
              </a:rPr>
              <a:t>act as a prototype </a:t>
            </a:r>
            <a:r>
              <a:rPr lang="en-US"/>
              <a:t>to help elicit requirements for later increments</a:t>
            </a:r>
            <a:endParaRPr/>
          </a:p>
          <a:p>
            <a:pPr indent="-342900" lvl="0" marL="342900" rtl="0" algn="just">
              <a:lnSpc>
                <a:spcPct val="100000"/>
              </a:lnSpc>
              <a:spcBef>
                <a:spcPts val="640"/>
              </a:spcBef>
              <a:spcAft>
                <a:spcPts val="0"/>
              </a:spcAft>
              <a:buClr>
                <a:schemeClr val="dk1"/>
              </a:buClr>
              <a:buSzPts val="3200"/>
              <a:buChar char="•"/>
            </a:pPr>
            <a:r>
              <a:rPr lang="en-US"/>
              <a:t>Lower risk of overall project failure</a:t>
            </a:r>
            <a:endParaRPr/>
          </a:p>
          <a:p>
            <a:pPr indent="-342900" lvl="0" marL="342900" rtl="0" algn="just">
              <a:lnSpc>
                <a:spcPct val="100000"/>
              </a:lnSpc>
              <a:spcBef>
                <a:spcPts val="640"/>
              </a:spcBef>
              <a:spcAft>
                <a:spcPts val="0"/>
              </a:spcAft>
              <a:buClr>
                <a:schemeClr val="dk1"/>
              </a:buClr>
              <a:buSzPts val="3200"/>
              <a:buChar char="•"/>
            </a:pPr>
            <a:r>
              <a:rPr lang="en-US"/>
              <a:t>The </a:t>
            </a:r>
            <a:r>
              <a:rPr b="1" lang="en-US">
                <a:solidFill>
                  <a:srgbClr val="C00000"/>
                </a:solidFill>
              </a:rPr>
              <a:t>highest priority </a:t>
            </a:r>
            <a:r>
              <a:rPr lang="en-US"/>
              <a:t>system services tend to receive the </a:t>
            </a:r>
            <a:r>
              <a:rPr b="1" lang="en-US">
                <a:solidFill>
                  <a:srgbClr val="C00000"/>
                </a:solidFill>
              </a:rPr>
              <a:t>most testing</a:t>
            </a:r>
            <a:endParaRPr/>
          </a:p>
          <a:p>
            <a:pPr indent="0" lvl="0" marL="0" rtl="0" algn="just">
              <a:lnSpc>
                <a:spcPct val="100000"/>
              </a:lnSpc>
              <a:spcBef>
                <a:spcPts val="640"/>
              </a:spcBef>
              <a:spcAft>
                <a:spcPts val="0"/>
              </a:spcAft>
              <a:buClr>
                <a:schemeClr val="dk1"/>
              </a:buClr>
              <a:buSzPts val="3200"/>
              <a:buNone/>
            </a:pPr>
            <a:r>
              <a:t/>
            </a:r>
            <a:endParaRPr/>
          </a:p>
        </p:txBody>
      </p:sp>
      <p:sp>
        <p:nvSpPr>
          <p:cNvPr id="589" name="Google Shape;589;p42"/>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590" name="Google Shape;590;p42"/>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Incremental Delivery Problems</a:t>
            </a:r>
            <a:endParaRPr/>
          </a:p>
        </p:txBody>
      </p:sp>
      <p:sp>
        <p:nvSpPr>
          <p:cNvPr id="596" name="Google Shape;596;p43"/>
          <p:cNvSpPr txBox="1"/>
          <p:nvPr>
            <p:ph idx="1" type="body"/>
          </p:nvPr>
        </p:nvSpPr>
        <p:spPr>
          <a:xfrm>
            <a:off x="457200" y="1600200"/>
            <a:ext cx="8229600" cy="48006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100000"/>
              </a:lnSpc>
              <a:spcBef>
                <a:spcPts val="0"/>
              </a:spcBef>
              <a:spcAft>
                <a:spcPts val="0"/>
              </a:spcAft>
              <a:buClr>
                <a:schemeClr val="dk1"/>
              </a:buClr>
              <a:buSzPct val="100000"/>
              <a:buChar char="•"/>
            </a:pPr>
            <a:r>
              <a:rPr lang="en-US"/>
              <a:t>Most systems require a set of basic facilities that are used by different parts of the system</a:t>
            </a:r>
            <a:endParaRPr/>
          </a:p>
          <a:p>
            <a:pPr indent="-285750" lvl="1" marL="742950" rtl="0" algn="just">
              <a:lnSpc>
                <a:spcPct val="100000"/>
              </a:lnSpc>
              <a:spcBef>
                <a:spcPts val="518"/>
              </a:spcBef>
              <a:spcAft>
                <a:spcPts val="0"/>
              </a:spcAft>
              <a:buClr>
                <a:schemeClr val="dk1"/>
              </a:buClr>
              <a:buSzPct val="100000"/>
              <a:buChar char="–"/>
            </a:pPr>
            <a:r>
              <a:rPr lang="en-US"/>
              <a:t>As requirements are not defined in detail until an increment is to be implemented, it can be </a:t>
            </a:r>
            <a:r>
              <a:rPr b="1" lang="en-US">
                <a:solidFill>
                  <a:srgbClr val="C00000"/>
                </a:solidFill>
              </a:rPr>
              <a:t>hard to identify common facilitie</a:t>
            </a:r>
            <a:r>
              <a:rPr lang="en-US">
                <a:solidFill>
                  <a:srgbClr val="C00000"/>
                </a:solidFill>
              </a:rPr>
              <a:t>s </a:t>
            </a:r>
            <a:r>
              <a:rPr lang="en-US"/>
              <a:t>that are needed by all increments </a:t>
            </a:r>
            <a:endParaRPr/>
          </a:p>
          <a:p>
            <a:pPr indent="-342900" lvl="0" marL="342900" rtl="0" algn="just">
              <a:lnSpc>
                <a:spcPct val="100000"/>
              </a:lnSpc>
              <a:spcBef>
                <a:spcPts val="592"/>
              </a:spcBef>
              <a:spcAft>
                <a:spcPts val="0"/>
              </a:spcAft>
              <a:buClr>
                <a:schemeClr val="dk1"/>
              </a:buClr>
              <a:buSzPct val="100000"/>
              <a:buChar char="•"/>
            </a:pPr>
            <a:r>
              <a:rPr lang="en-US"/>
              <a:t>The essence of iterative processes is that the specification is developed in conjunction with the software</a:t>
            </a:r>
            <a:endParaRPr/>
          </a:p>
          <a:p>
            <a:pPr indent="-285750" lvl="1" marL="742950" rtl="0" algn="just">
              <a:lnSpc>
                <a:spcPct val="100000"/>
              </a:lnSpc>
              <a:spcBef>
                <a:spcPts val="518"/>
              </a:spcBef>
              <a:spcAft>
                <a:spcPts val="0"/>
              </a:spcAft>
              <a:buClr>
                <a:schemeClr val="dk1"/>
              </a:buClr>
              <a:buSzPct val="100000"/>
              <a:buChar char="–"/>
            </a:pPr>
            <a:r>
              <a:rPr lang="en-US"/>
              <a:t>However, this </a:t>
            </a:r>
            <a:r>
              <a:rPr b="1" lang="en-US">
                <a:solidFill>
                  <a:srgbClr val="C00000"/>
                </a:solidFill>
              </a:rPr>
              <a:t>conflicts with the procurement model </a:t>
            </a:r>
            <a:r>
              <a:rPr lang="en-US"/>
              <a:t>of many organizations, where the complete system specification is part of the system development contract</a:t>
            </a:r>
            <a:endParaRPr/>
          </a:p>
          <a:p>
            <a:pPr indent="-154940" lvl="0" marL="342900" rtl="0" algn="just">
              <a:lnSpc>
                <a:spcPct val="100000"/>
              </a:lnSpc>
              <a:spcBef>
                <a:spcPts val="592"/>
              </a:spcBef>
              <a:spcAft>
                <a:spcPts val="0"/>
              </a:spcAft>
              <a:buClr>
                <a:schemeClr val="dk1"/>
              </a:buClr>
              <a:buSzPct val="100000"/>
              <a:buNone/>
            </a:pPr>
            <a:r>
              <a:t/>
            </a:r>
            <a:endParaRPr/>
          </a:p>
          <a:p>
            <a:pPr indent="0" lvl="0" marL="0" rtl="0" algn="just">
              <a:lnSpc>
                <a:spcPct val="100000"/>
              </a:lnSpc>
              <a:spcBef>
                <a:spcPts val="592"/>
              </a:spcBef>
              <a:spcAft>
                <a:spcPts val="0"/>
              </a:spcAft>
              <a:buClr>
                <a:schemeClr val="dk1"/>
              </a:buClr>
              <a:buSzPct val="100000"/>
              <a:buNone/>
            </a:pPr>
            <a:r>
              <a:t/>
            </a:r>
            <a:endParaRPr/>
          </a:p>
        </p:txBody>
      </p:sp>
      <p:sp>
        <p:nvSpPr>
          <p:cNvPr id="597" name="Google Shape;597;p43"/>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598" name="Google Shape;598;p43"/>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7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Calibri"/>
              <a:buNone/>
            </a:pPr>
            <a:r>
              <a:rPr lang="en-US"/>
              <a:t>Process Improvement</a:t>
            </a:r>
            <a:endParaRPr/>
          </a:p>
        </p:txBody>
      </p:sp>
      <p:sp>
        <p:nvSpPr>
          <p:cNvPr id="604" name="Google Shape;604;p7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00"/>
              </a:spcBef>
              <a:spcAft>
                <a:spcPts val="0"/>
              </a:spcAft>
              <a:buClr>
                <a:srgbClr val="888888"/>
              </a:buClr>
              <a:buSzPts val="2000"/>
              <a:buNone/>
            </a:pPr>
            <a:r>
              <a:t/>
            </a:r>
            <a:endParaRPr/>
          </a:p>
        </p:txBody>
      </p:sp>
      <p:sp>
        <p:nvSpPr>
          <p:cNvPr id="605" name="Google Shape;605;p78"/>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Process Improvement</a:t>
            </a:r>
            <a:endParaRPr/>
          </a:p>
        </p:txBody>
      </p:sp>
      <p:sp>
        <p:nvSpPr>
          <p:cNvPr id="611" name="Google Shape;611;p7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lang="en-US"/>
              <a:t>Many software companies have turned to software process improvement to enhance the quality of the software, reducing costs, or accelerating the development processes</a:t>
            </a:r>
            <a:endParaRPr/>
          </a:p>
          <a:p>
            <a:pPr indent="-342900" lvl="0" marL="457200" rtl="0" algn="l">
              <a:lnSpc>
                <a:spcPct val="100000"/>
              </a:lnSpc>
              <a:spcBef>
                <a:spcPts val="360"/>
              </a:spcBef>
              <a:spcAft>
                <a:spcPts val="0"/>
              </a:spcAft>
              <a:buClr>
                <a:schemeClr val="dk1"/>
              </a:buClr>
              <a:buSzPts val="1800"/>
              <a:buChar char="•"/>
            </a:pPr>
            <a:r>
              <a:rPr lang="en-US"/>
              <a:t>Process improvement means understanding existing processes and changing these processes to increase product quality and/or reduce costs and development time.</a:t>
            </a:r>
            <a:endParaRPr/>
          </a:p>
        </p:txBody>
      </p:sp>
      <p:sp>
        <p:nvSpPr>
          <p:cNvPr id="612" name="Google Shape;612;p79"/>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Process Improvement Cycle</a:t>
            </a:r>
            <a:endParaRPr/>
          </a:p>
        </p:txBody>
      </p:sp>
      <p:sp>
        <p:nvSpPr>
          <p:cNvPr id="618" name="Google Shape;618;p8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360"/>
              </a:spcBef>
              <a:spcAft>
                <a:spcPts val="0"/>
              </a:spcAft>
              <a:buClr>
                <a:schemeClr val="dk1"/>
              </a:buClr>
              <a:buSzPts val="1800"/>
              <a:buNone/>
            </a:pPr>
            <a:r>
              <a:t/>
            </a:r>
            <a:endParaRPr/>
          </a:p>
        </p:txBody>
      </p:sp>
      <p:sp>
        <p:nvSpPr>
          <p:cNvPr id="619" name="Google Shape;619;p80"/>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Diagram&#10;&#10;Description automatically generated" id="620" name="Google Shape;620;p80"/>
          <p:cNvPicPr preferRelativeResize="0"/>
          <p:nvPr/>
        </p:nvPicPr>
        <p:blipFill rotWithShape="1">
          <a:blip r:embed="rId3">
            <a:alphaModFix/>
          </a:blip>
          <a:srcRect b="0" l="0" r="0" t="0"/>
          <a:stretch/>
        </p:blipFill>
        <p:spPr>
          <a:xfrm>
            <a:off x="2120441" y="1930876"/>
            <a:ext cx="4903118" cy="386461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Process Improvement Cycle</a:t>
            </a:r>
            <a:endParaRPr/>
          </a:p>
        </p:txBody>
      </p:sp>
      <p:sp>
        <p:nvSpPr>
          <p:cNvPr id="626" name="Google Shape;626;p8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457200" rtl="0" algn="l">
              <a:lnSpc>
                <a:spcPct val="100000"/>
              </a:lnSpc>
              <a:spcBef>
                <a:spcPts val="360"/>
              </a:spcBef>
              <a:spcAft>
                <a:spcPts val="0"/>
              </a:spcAft>
              <a:buClr>
                <a:schemeClr val="dk1"/>
              </a:buClr>
              <a:buSzPct val="80357"/>
              <a:buChar char="•"/>
            </a:pPr>
            <a:r>
              <a:rPr b="1" lang="en-US" u="sng"/>
              <a:t>Process measurement:  </a:t>
            </a:r>
            <a:r>
              <a:rPr lang="en-US"/>
              <a:t>measure one or more attributes of the software process or product. These measurements form a baseline that helps to decide if process improvements have been effective. As improvements are introduced, re-measure the same attributes, which will hopefully have improved in some way</a:t>
            </a:r>
            <a:endParaRPr/>
          </a:p>
          <a:p>
            <a:pPr indent="-342900" lvl="0" marL="457200" rtl="0" algn="l">
              <a:lnSpc>
                <a:spcPct val="100000"/>
              </a:lnSpc>
              <a:spcBef>
                <a:spcPts val="360"/>
              </a:spcBef>
              <a:spcAft>
                <a:spcPts val="0"/>
              </a:spcAft>
              <a:buClr>
                <a:schemeClr val="dk1"/>
              </a:buClr>
              <a:buSzPct val="80357"/>
              <a:buChar char="•"/>
            </a:pPr>
            <a:r>
              <a:rPr b="1" lang="en-US" u="sng"/>
              <a:t>Process analysis: </a:t>
            </a:r>
            <a:r>
              <a:rPr lang="en-US"/>
              <a:t>The current process is assessed, and process weaknesses and bottlenecks are identified. Process models (sometimes called process maps) that describe the process may be developed during this stage. The analysis may be focused by considering process characteristics such as rapidity and robustness. </a:t>
            </a:r>
            <a:endParaRPr/>
          </a:p>
          <a:p>
            <a:pPr indent="-342900" lvl="0" marL="457200" rtl="0" algn="l">
              <a:lnSpc>
                <a:spcPct val="100000"/>
              </a:lnSpc>
              <a:spcBef>
                <a:spcPts val="360"/>
              </a:spcBef>
              <a:spcAft>
                <a:spcPts val="0"/>
              </a:spcAft>
              <a:buClr>
                <a:schemeClr val="dk1"/>
              </a:buClr>
              <a:buSzPct val="80357"/>
              <a:buChar char="•"/>
            </a:pPr>
            <a:r>
              <a:rPr b="1" lang="en-US" u="sng"/>
              <a:t>Process change: </a:t>
            </a:r>
            <a:r>
              <a:rPr lang="en-US"/>
              <a:t>Change are proposed to address some of the identified process weaknesses. These are introduced, and the cycle resumes to collect data about the effectiveness of the changes.</a:t>
            </a:r>
            <a:endParaRPr/>
          </a:p>
        </p:txBody>
      </p:sp>
      <p:sp>
        <p:nvSpPr>
          <p:cNvPr id="627" name="Google Shape;627;p81"/>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8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2 Approaches</a:t>
            </a:r>
            <a:endParaRPr/>
          </a:p>
        </p:txBody>
      </p:sp>
      <p:sp>
        <p:nvSpPr>
          <p:cNvPr id="633" name="Google Shape;633;p8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514350" lvl="0" marL="628650" rtl="0" algn="l">
              <a:lnSpc>
                <a:spcPct val="100000"/>
              </a:lnSpc>
              <a:spcBef>
                <a:spcPts val="360"/>
              </a:spcBef>
              <a:spcAft>
                <a:spcPts val="0"/>
              </a:spcAft>
              <a:buSzPct val="80357"/>
              <a:buFont typeface="Arial"/>
              <a:buAutoNum type="arabicPeriod"/>
            </a:pPr>
            <a:r>
              <a:rPr lang="en-US"/>
              <a:t>Process maturity approach</a:t>
            </a:r>
            <a:endParaRPr/>
          </a:p>
          <a:p>
            <a:pPr indent="-342900" lvl="1" marL="914400" rtl="0" algn="l">
              <a:lnSpc>
                <a:spcPct val="100000"/>
              </a:lnSpc>
              <a:spcBef>
                <a:spcPts val="360"/>
              </a:spcBef>
              <a:spcAft>
                <a:spcPts val="0"/>
              </a:spcAft>
              <a:buSzPct val="91836"/>
              <a:buChar char="–"/>
            </a:pPr>
            <a:r>
              <a:rPr lang="en-US"/>
              <a:t>focus on improving process and project management and introducing good software engineering practice into an organization</a:t>
            </a:r>
            <a:endParaRPr/>
          </a:p>
          <a:p>
            <a:pPr indent="-342900" lvl="1" marL="914400" rtl="0" algn="l">
              <a:lnSpc>
                <a:spcPct val="100000"/>
              </a:lnSpc>
              <a:spcBef>
                <a:spcPts val="360"/>
              </a:spcBef>
              <a:spcAft>
                <a:spcPts val="0"/>
              </a:spcAft>
              <a:buSzPct val="91836"/>
              <a:buChar char="–"/>
            </a:pPr>
            <a:r>
              <a:rPr lang="en-US"/>
              <a:t>The level of process maturity reflects the extent to which good technical and management practice has been adopted in organizational software development processes</a:t>
            </a:r>
            <a:endParaRPr/>
          </a:p>
          <a:p>
            <a:pPr indent="-342900" lvl="1" marL="914400" rtl="0" algn="l">
              <a:lnSpc>
                <a:spcPct val="100000"/>
              </a:lnSpc>
              <a:spcBef>
                <a:spcPts val="360"/>
              </a:spcBef>
              <a:spcAft>
                <a:spcPts val="0"/>
              </a:spcAft>
              <a:buSzPct val="91836"/>
              <a:buChar char="–"/>
            </a:pPr>
            <a:r>
              <a:rPr lang="en-US"/>
              <a:t>The primary goals of this approach are improved product quality and process predictability</a:t>
            </a:r>
            <a:endParaRPr/>
          </a:p>
          <a:p>
            <a:pPr indent="-514350" lvl="0" marL="628650" rtl="0" algn="l">
              <a:lnSpc>
                <a:spcPct val="100000"/>
              </a:lnSpc>
              <a:spcBef>
                <a:spcPts val="360"/>
              </a:spcBef>
              <a:spcAft>
                <a:spcPts val="0"/>
              </a:spcAft>
              <a:buSzPct val="80357"/>
              <a:buFont typeface="Arial"/>
              <a:buAutoNum type="arabicPeriod"/>
            </a:pPr>
            <a:r>
              <a:rPr lang="en-US"/>
              <a:t>Agile approach</a:t>
            </a:r>
            <a:endParaRPr/>
          </a:p>
          <a:p>
            <a:pPr indent="-342900" lvl="1" marL="914400" rtl="0" algn="l">
              <a:lnSpc>
                <a:spcPct val="100000"/>
              </a:lnSpc>
              <a:spcBef>
                <a:spcPts val="360"/>
              </a:spcBef>
              <a:spcAft>
                <a:spcPts val="0"/>
              </a:spcAft>
              <a:buSzPct val="91836"/>
              <a:buChar char="–"/>
            </a:pPr>
            <a:r>
              <a:rPr lang="en-US"/>
              <a:t>focus on iterative development and the reduction of overheads in the software process</a:t>
            </a:r>
            <a:endParaRPr/>
          </a:p>
          <a:p>
            <a:pPr indent="-342900" lvl="1" marL="914400" rtl="0" algn="l">
              <a:lnSpc>
                <a:spcPct val="100000"/>
              </a:lnSpc>
              <a:spcBef>
                <a:spcPts val="360"/>
              </a:spcBef>
              <a:spcAft>
                <a:spcPts val="0"/>
              </a:spcAft>
              <a:buSzPct val="91836"/>
              <a:buChar char="–"/>
            </a:pPr>
            <a:r>
              <a:rPr lang="en-US"/>
              <a:t>The primary characteristics are rapid delivery of functionality and responsiveness to changing customer requirements </a:t>
            </a:r>
            <a:endParaRPr/>
          </a:p>
          <a:p>
            <a:pPr indent="-342900" lvl="1" marL="914400" rtl="0" algn="l">
              <a:lnSpc>
                <a:spcPct val="100000"/>
              </a:lnSpc>
              <a:spcBef>
                <a:spcPts val="360"/>
              </a:spcBef>
              <a:spcAft>
                <a:spcPts val="0"/>
              </a:spcAft>
              <a:buSzPct val="91836"/>
              <a:buChar char="–"/>
            </a:pPr>
            <a:r>
              <a:rPr lang="en-US"/>
              <a:t>The improvement philosophy: the best processes are those with the lowest overheads and agile approaches can achieve this</a:t>
            </a:r>
            <a:endParaRPr/>
          </a:p>
        </p:txBody>
      </p:sp>
      <p:sp>
        <p:nvSpPr>
          <p:cNvPr id="634" name="Google Shape;634;p82"/>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Capability Maturity Levels</a:t>
            </a:r>
            <a:endParaRPr/>
          </a:p>
        </p:txBody>
      </p:sp>
      <p:sp>
        <p:nvSpPr>
          <p:cNvPr id="640" name="Google Shape;640;p8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360"/>
              </a:spcBef>
              <a:spcAft>
                <a:spcPts val="0"/>
              </a:spcAft>
              <a:buClr>
                <a:schemeClr val="dk1"/>
              </a:buClr>
              <a:buSzPts val="1800"/>
              <a:buNone/>
            </a:pPr>
            <a:r>
              <a:t/>
            </a:r>
            <a:endParaRPr/>
          </a:p>
        </p:txBody>
      </p:sp>
      <p:sp>
        <p:nvSpPr>
          <p:cNvPr id="641" name="Google Shape;641;p83"/>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Diagram&#10;&#10;Description automatically generated" id="642" name="Google Shape;642;p83"/>
          <p:cNvPicPr preferRelativeResize="0"/>
          <p:nvPr/>
        </p:nvPicPr>
        <p:blipFill rotWithShape="1">
          <a:blip r:embed="rId3">
            <a:alphaModFix/>
          </a:blip>
          <a:srcRect b="0" l="0" r="0" t="0"/>
          <a:stretch/>
        </p:blipFill>
        <p:spPr>
          <a:xfrm>
            <a:off x="1323459" y="1860391"/>
            <a:ext cx="6296541" cy="400558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Capability Maturity Levels</a:t>
            </a:r>
            <a:endParaRPr/>
          </a:p>
        </p:txBody>
      </p:sp>
      <p:sp>
        <p:nvSpPr>
          <p:cNvPr id="648" name="Google Shape;648;p8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514350" lvl="0" marL="628650" rtl="0" algn="l">
              <a:lnSpc>
                <a:spcPct val="100000"/>
              </a:lnSpc>
              <a:spcBef>
                <a:spcPts val="360"/>
              </a:spcBef>
              <a:spcAft>
                <a:spcPts val="0"/>
              </a:spcAft>
              <a:buSzPts val="1800"/>
              <a:buFont typeface="Arial"/>
              <a:buAutoNum type="arabicPeriod"/>
            </a:pPr>
            <a:r>
              <a:rPr b="1" lang="en-US" sz="2000" u="sng"/>
              <a:t>Initial: </a:t>
            </a:r>
            <a:r>
              <a:rPr lang="en-US" sz="2000"/>
              <a:t>The goals associated with the process area are satisfied, and for all processes the scope of the work to be performed is explicitly set out and communicated to the team members.</a:t>
            </a:r>
            <a:endParaRPr/>
          </a:p>
          <a:p>
            <a:pPr indent="-514350" lvl="0" marL="628650" rtl="0" algn="l">
              <a:lnSpc>
                <a:spcPct val="100000"/>
              </a:lnSpc>
              <a:spcBef>
                <a:spcPts val="360"/>
              </a:spcBef>
              <a:spcAft>
                <a:spcPts val="0"/>
              </a:spcAft>
              <a:buSzPts val="1800"/>
              <a:buFont typeface="Arial"/>
              <a:buAutoNum type="arabicPeriod"/>
            </a:pPr>
            <a:r>
              <a:rPr b="1" lang="en-US" sz="2000" u="sng"/>
              <a:t>Managed:</a:t>
            </a:r>
            <a:r>
              <a:rPr lang="en-US" sz="2000"/>
              <a:t> At this level, the goals associated with the process area are met, and organizational policies are in place that define when each process should be used. There must be documented project plans that define the project goals. Resource management and process monitoring procedures must be in place across the institution. </a:t>
            </a:r>
            <a:endParaRPr/>
          </a:p>
          <a:p>
            <a:pPr indent="-514350" lvl="0" marL="628650" rtl="0" algn="l">
              <a:lnSpc>
                <a:spcPct val="100000"/>
              </a:lnSpc>
              <a:spcBef>
                <a:spcPts val="360"/>
              </a:spcBef>
              <a:spcAft>
                <a:spcPts val="0"/>
              </a:spcAft>
              <a:buSzPts val="1800"/>
              <a:buFont typeface="Arial"/>
              <a:buAutoNum type="arabicPeriod"/>
            </a:pPr>
            <a:r>
              <a:rPr b="1" lang="en-US" sz="2000" u="sng"/>
              <a:t>Defined:</a:t>
            </a:r>
            <a:r>
              <a:rPr lang="en-US" sz="2000"/>
              <a:t>This level focuses on organizational standardization and deployment of  processes. Each project has a managed process that is adapted to the project requirements from a defined set of organizational processes. Process assets and process  measurements must be collected and used for future process improvements.</a:t>
            </a:r>
            <a:endParaRPr/>
          </a:p>
        </p:txBody>
      </p:sp>
      <p:sp>
        <p:nvSpPr>
          <p:cNvPr id="649" name="Google Shape;649;p84"/>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Capability Maturity Levels</a:t>
            </a:r>
            <a:endParaRPr/>
          </a:p>
        </p:txBody>
      </p:sp>
      <p:sp>
        <p:nvSpPr>
          <p:cNvPr id="655" name="Google Shape;655;p8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514350" lvl="0" marL="628650" rtl="0" algn="l">
              <a:lnSpc>
                <a:spcPct val="100000"/>
              </a:lnSpc>
              <a:spcBef>
                <a:spcPts val="360"/>
              </a:spcBef>
              <a:spcAft>
                <a:spcPts val="0"/>
              </a:spcAft>
              <a:buSzPts val="1800"/>
              <a:buFont typeface="Arial"/>
              <a:buAutoNum type="arabicPeriod" startAt="4"/>
            </a:pPr>
            <a:r>
              <a:rPr b="1" lang="en-US" sz="2000" u="sng"/>
              <a:t>Quantitatively managed: </a:t>
            </a:r>
            <a:r>
              <a:rPr lang="en-US" sz="2000"/>
              <a:t>At this level, there is an organizational responsibility to use statistical and other quantitative methods to control subprocesses. That is, collected process and product measurements must be used in process management. </a:t>
            </a:r>
            <a:endParaRPr/>
          </a:p>
          <a:p>
            <a:pPr indent="-514350" lvl="0" marL="628650" rtl="0" algn="l">
              <a:lnSpc>
                <a:spcPct val="100000"/>
              </a:lnSpc>
              <a:spcBef>
                <a:spcPts val="360"/>
              </a:spcBef>
              <a:spcAft>
                <a:spcPts val="0"/>
              </a:spcAft>
              <a:buSzPts val="1800"/>
              <a:buFont typeface="Arial"/>
              <a:buAutoNum type="arabicPeriod" startAt="4"/>
            </a:pPr>
            <a:r>
              <a:rPr lang="en-US" sz="2000" u="sng"/>
              <a:t>Optimizing: </a:t>
            </a:r>
            <a:r>
              <a:rPr lang="en-US" sz="2000"/>
              <a:t>At this highest level, the organization must use the process and product measurements to drive process improvement. Trends must be analyzed and the processes adapted to changing business needs. </a:t>
            </a:r>
            <a:endParaRPr/>
          </a:p>
        </p:txBody>
      </p:sp>
      <p:sp>
        <p:nvSpPr>
          <p:cNvPr id="656" name="Google Shape;656;p85"/>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Key Points…</a:t>
            </a:r>
            <a:endParaRPr/>
          </a:p>
        </p:txBody>
      </p:sp>
      <p:sp>
        <p:nvSpPr>
          <p:cNvPr id="662" name="Google Shape;662;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Clr>
                <a:schemeClr val="dk1"/>
              </a:buClr>
              <a:buSzPct val="100000"/>
              <a:buChar char="•"/>
            </a:pPr>
            <a:r>
              <a:rPr lang="en-US"/>
              <a:t>Software processes are the activities involved in producing a software system. Software process models are abstract representations of these processes.</a:t>
            </a:r>
            <a:endParaRPr/>
          </a:p>
          <a:p>
            <a:pPr indent="-342900" lvl="0" marL="342900" rtl="0" algn="just">
              <a:lnSpc>
                <a:spcPct val="100000"/>
              </a:lnSpc>
              <a:spcBef>
                <a:spcPts val="592"/>
              </a:spcBef>
              <a:spcAft>
                <a:spcPts val="0"/>
              </a:spcAft>
              <a:buClr>
                <a:schemeClr val="dk1"/>
              </a:buClr>
              <a:buSzPct val="100000"/>
              <a:buChar char="•"/>
            </a:pPr>
            <a:r>
              <a:rPr lang="en-US"/>
              <a:t>General process models describe the organization of software processes. Examples of these general models include the ‘waterfall’ model,  incremental development, and reuse-oriented development.</a:t>
            </a:r>
            <a:endParaRPr/>
          </a:p>
          <a:p>
            <a:pPr indent="-342900" lvl="0" marL="342900" rtl="0" algn="just">
              <a:lnSpc>
                <a:spcPct val="100000"/>
              </a:lnSpc>
              <a:spcBef>
                <a:spcPts val="592"/>
              </a:spcBef>
              <a:spcAft>
                <a:spcPts val="0"/>
              </a:spcAft>
              <a:buSzPct val="100000"/>
              <a:buChar char="•"/>
            </a:pPr>
            <a:r>
              <a:rPr lang="en-US"/>
              <a:t>The Rational Unified Process is a modern generic process model that is organized into phases (inception, elaboration, construction and transition) but separates activities (requirements, analysis and design, etc.) from these phases.</a:t>
            </a:r>
            <a:endParaRPr/>
          </a:p>
          <a:p>
            <a:pPr indent="-170180" lvl="0" marL="342900" rtl="0" algn="just">
              <a:lnSpc>
                <a:spcPct val="100000"/>
              </a:lnSpc>
              <a:spcBef>
                <a:spcPts val="592"/>
              </a:spcBef>
              <a:spcAft>
                <a:spcPts val="0"/>
              </a:spcAft>
              <a:buClr>
                <a:schemeClr val="dk1"/>
              </a:buClr>
              <a:buSzPct val="100000"/>
              <a:buNone/>
            </a:pPr>
            <a:r>
              <a:t/>
            </a:r>
            <a:endParaRPr/>
          </a:p>
          <a:p>
            <a:pPr indent="0" lvl="0" marL="0" rtl="0" algn="just">
              <a:lnSpc>
                <a:spcPct val="100000"/>
              </a:lnSpc>
              <a:spcBef>
                <a:spcPts val="592"/>
              </a:spcBef>
              <a:spcAft>
                <a:spcPts val="0"/>
              </a:spcAft>
              <a:buClr>
                <a:schemeClr val="dk1"/>
              </a:buClr>
              <a:buSzPct val="100000"/>
              <a:buNone/>
            </a:pPr>
            <a:r>
              <a:t/>
            </a:r>
            <a:endParaRPr/>
          </a:p>
        </p:txBody>
      </p:sp>
      <p:sp>
        <p:nvSpPr>
          <p:cNvPr id="663" name="Google Shape;663;p57"/>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664" name="Google Shape;664;p57"/>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Key Points…</a:t>
            </a:r>
            <a:endParaRPr/>
          </a:p>
        </p:txBody>
      </p:sp>
      <p:sp>
        <p:nvSpPr>
          <p:cNvPr id="670" name="Google Shape;670;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just">
              <a:lnSpc>
                <a:spcPct val="100000"/>
              </a:lnSpc>
              <a:spcBef>
                <a:spcPts val="0"/>
              </a:spcBef>
              <a:spcAft>
                <a:spcPts val="0"/>
              </a:spcAft>
              <a:buSzPct val="100000"/>
              <a:buChar char="•"/>
            </a:pPr>
            <a:r>
              <a:rPr lang="en-US"/>
              <a:t>Requirements engineering is the process of developing a software specification.</a:t>
            </a:r>
            <a:endParaRPr/>
          </a:p>
          <a:p>
            <a:pPr indent="-342900" lvl="0" marL="342900" rtl="0" algn="just">
              <a:lnSpc>
                <a:spcPct val="100000"/>
              </a:lnSpc>
              <a:spcBef>
                <a:spcPts val="0"/>
              </a:spcBef>
              <a:spcAft>
                <a:spcPts val="0"/>
              </a:spcAft>
              <a:buClr>
                <a:schemeClr val="dk1"/>
              </a:buClr>
              <a:buSzPct val="100000"/>
              <a:buChar char="•"/>
            </a:pPr>
            <a:r>
              <a:rPr lang="en-US"/>
              <a:t>Design and implementation processes are concerned with transforming a requirements specification into an executable software system. </a:t>
            </a:r>
            <a:endParaRPr/>
          </a:p>
          <a:p>
            <a:pPr indent="-342900" lvl="0" marL="342900" rtl="0" algn="just">
              <a:lnSpc>
                <a:spcPct val="100000"/>
              </a:lnSpc>
              <a:spcBef>
                <a:spcPts val="592"/>
              </a:spcBef>
              <a:spcAft>
                <a:spcPts val="0"/>
              </a:spcAft>
              <a:buClr>
                <a:schemeClr val="dk1"/>
              </a:buClr>
              <a:buSzPct val="100000"/>
              <a:buChar char="•"/>
            </a:pPr>
            <a:r>
              <a:rPr lang="en-US"/>
              <a:t>Software validation is the process of checking that the system conforms to its specification and that it meets the real needs of the users of the system.</a:t>
            </a:r>
            <a:endParaRPr/>
          </a:p>
          <a:p>
            <a:pPr indent="-342900" lvl="0" marL="342900" rtl="0" algn="just">
              <a:lnSpc>
                <a:spcPct val="100000"/>
              </a:lnSpc>
              <a:spcBef>
                <a:spcPts val="592"/>
              </a:spcBef>
              <a:spcAft>
                <a:spcPts val="0"/>
              </a:spcAft>
              <a:buClr>
                <a:schemeClr val="dk1"/>
              </a:buClr>
              <a:buSzPct val="100000"/>
              <a:buChar char="•"/>
            </a:pPr>
            <a:r>
              <a:rPr lang="en-US"/>
              <a:t>Software evolution takes place when you change existing software systems to meet new requirements. The software must evolve to remain useful.</a:t>
            </a:r>
            <a:endParaRPr/>
          </a:p>
          <a:p>
            <a:pPr indent="-154940" lvl="0" marL="342900" rtl="0" algn="just">
              <a:lnSpc>
                <a:spcPct val="100000"/>
              </a:lnSpc>
              <a:spcBef>
                <a:spcPts val="592"/>
              </a:spcBef>
              <a:spcAft>
                <a:spcPts val="0"/>
              </a:spcAft>
              <a:buClr>
                <a:schemeClr val="dk1"/>
              </a:buClr>
              <a:buSzPct val="100000"/>
              <a:buNone/>
            </a:pPr>
            <a:r>
              <a:t/>
            </a:r>
            <a:endParaRPr/>
          </a:p>
          <a:p>
            <a:pPr indent="0" lvl="0" marL="0" rtl="0" algn="just">
              <a:lnSpc>
                <a:spcPct val="100000"/>
              </a:lnSpc>
              <a:spcBef>
                <a:spcPts val="592"/>
              </a:spcBef>
              <a:spcAft>
                <a:spcPts val="0"/>
              </a:spcAft>
              <a:buClr>
                <a:schemeClr val="dk1"/>
              </a:buClr>
              <a:buSzPct val="100000"/>
              <a:buNone/>
            </a:pPr>
            <a:r>
              <a:t/>
            </a:r>
            <a:endParaRPr/>
          </a:p>
        </p:txBody>
      </p:sp>
      <p:sp>
        <p:nvSpPr>
          <p:cNvPr id="671" name="Google Shape;671;p58"/>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672" name="Google Shape;672;p58"/>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Key Points</a:t>
            </a:r>
            <a:endParaRPr/>
          </a:p>
        </p:txBody>
      </p:sp>
      <p:sp>
        <p:nvSpPr>
          <p:cNvPr id="678" name="Google Shape;678;p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100000"/>
              </a:lnSpc>
              <a:spcBef>
                <a:spcPts val="0"/>
              </a:spcBef>
              <a:spcAft>
                <a:spcPts val="0"/>
              </a:spcAft>
              <a:buClr>
                <a:schemeClr val="dk1"/>
              </a:buClr>
              <a:buSzPct val="100000"/>
              <a:buChar char="•"/>
            </a:pPr>
            <a:r>
              <a:rPr lang="en-US"/>
              <a:t>Processes should include activities to cope with change. This may involve a prototyping phase that helps avoid poor decisions on requirements and design. </a:t>
            </a:r>
            <a:endParaRPr/>
          </a:p>
          <a:p>
            <a:pPr indent="-342900" lvl="0" marL="342900" rtl="0" algn="just">
              <a:lnSpc>
                <a:spcPct val="100000"/>
              </a:lnSpc>
              <a:spcBef>
                <a:spcPts val="544"/>
              </a:spcBef>
              <a:spcAft>
                <a:spcPts val="0"/>
              </a:spcAft>
              <a:buClr>
                <a:schemeClr val="dk1"/>
              </a:buClr>
              <a:buSzPct val="100000"/>
              <a:buChar char="•"/>
            </a:pPr>
            <a:r>
              <a:rPr lang="en-US"/>
              <a:t>Processes may be structured for iterative development and delivery so that changes may be made without disrupting the system as a whole.</a:t>
            </a:r>
            <a:endParaRPr/>
          </a:p>
          <a:p>
            <a:pPr indent="-342900" lvl="0" marL="342900" rtl="0" algn="just">
              <a:lnSpc>
                <a:spcPct val="100000"/>
              </a:lnSpc>
              <a:spcBef>
                <a:spcPts val="544"/>
              </a:spcBef>
              <a:spcAft>
                <a:spcPts val="0"/>
              </a:spcAft>
              <a:buSzPct val="100000"/>
              <a:buChar char="•"/>
            </a:pPr>
            <a:r>
              <a:rPr lang="en-US"/>
              <a:t>Process improvement to enhance the quality of the software, reducing costs, or accelerating the development processes</a:t>
            </a:r>
            <a:endParaRPr/>
          </a:p>
          <a:p>
            <a:pPr indent="-154940" lvl="0" marL="342900" rtl="0" algn="just">
              <a:lnSpc>
                <a:spcPct val="100000"/>
              </a:lnSpc>
              <a:spcBef>
                <a:spcPts val="544"/>
              </a:spcBef>
              <a:spcAft>
                <a:spcPts val="0"/>
              </a:spcAft>
              <a:buClr>
                <a:schemeClr val="dk1"/>
              </a:buClr>
              <a:buSzPct val="100000"/>
              <a:buNone/>
            </a:pPr>
            <a:r>
              <a:t/>
            </a:r>
            <a:endParaRPr/>
          </a:p>
          <a:p>
            <a:pPr indent="-170180" lvl="0" marL="342900" rtl="0" algn="just">
              <a:lnSpc>
                <a:spcPct val="100000"/>
              </a:lnSpc>
              <a:spcBef>
                <a:spcPts val="544"/>
              </a:spcBef>
              <a:spcAft>
                <a:spcPts val="0"/>
              </a:spcAft>
              <a:buClr>
                <a:schemeClr val="dk1"/>
              </a:buClr>
              <a:buSzPct val="100000"/>
              <a:buNone/>
            </a:pPr>
            <a:r>
              <a:t/>
            </a:r>
            <a:endParaRPr/>
          </a:p>
          <a:p>
            <a:pPr indent="0" lvl="0" marL="0" rtl="0" algn="just">
              <a:lnSpc>
                <a:spcPct val="100000"/>
              </a:lnSpc>
              <a:spcBef>
                <a:spcPts val="544"/>
              </a:spcBef>
              <a:spcAft>
                <a:spcPts val="0"/>
              </a:spcAft>
              <a:buClr>
                <a:schemeClr val="dk1"/>
              </a:buClr>
              <a:buSzPct val="100000"/>
              <a:buNone/>
            </a:pPr>
            <a:r>
              <a:t/>
            </a:r>
            <a:endParaRPr/>
          </a:p>
        </p:txBody>
      </p:sp>
      <p:sp>
        <p:nvSpPr>
          <p:cNvPr id="679" name="Google Shape;679;p59"/>
          <p:cNvSpPr txBox="1"/>
          <p:nvPr>
            <p:ph idx="11" type="ftr"/>
          </p:nvPr>
        </p:nvSpPr>
        <p:spPr>
          <a:xfrm>
            <a:off x="2469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Software Engineering</a:t>
            </a:r>
            <a:endParaRPr/>
          </a:p>
        </p:txBody>
      </p:sp>
      <p:sp>
        <p:nvSpPr>
          <p:cNvPr id="680" name="Google Shape;680;p59"/>
          <p:cNvSpPr txBox="1"/>
          <p:nvPr>
            <p:ph idx="12" type="sldNum"/>
          </p:nvPr>
        </p:nvSpPr>
        <p:spPr>
          <a:xfrm>
            <a:off x="6553200" y="6598396"/>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2012-07-30T02:22:03Z</dcterms:created>
  <dc:creator>Referee</dc:creator>
</cp:coreProperties>
</file>