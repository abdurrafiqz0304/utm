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90"/>
  </p:notesMasterIdLst>
  <p:handoutMasterIdLst>
    <p:handoutMasterId r:id="rId91"/>
  </p:handoutMasterIdLst>
  <p:sldIdLst>
    <p:sldId id="256" r:id="rId3"/>
    <p:sldId id="649" r:id="rId4"/>
    <p:sldId id="453" r:id="rId5"/>
    <p:sldId id="713" r:id="rId6"/>
    <p:sldId id="689" r:id="rId7"/>
    <p:sldId id="690" r:id="rId8"/>
    <p:sldId id="691" r:id="rId9"/>
    <p:sldId id="659" r:id="rId10"/>
    <p:sldId id="701" r:id="rId11"/>
    <p:sldId id="702" r:id="rId12"/>
    <p:sldId id="650" r:id="rId13"/>
    <p:sldId id="661" r:id="rId14"/>
    <p:sldId id="651" r:id="rId15"/>
    <p:sldId id="692" r:id="rId16"/>
    <p:sldId id="652" r:id="rId17"/>
    <p:sldId id="653" r:id="rId18"/>
    <p:sldId id="654" r:id="rId19"/>
    <p:sldId id="655" r:id="rId20"/>
    <p:sldId id="656" r:id="rId21"/>
    <p:sldId id="717" r:id="rId22"/>
    <p:sldId id="714" r:id="rId23"/>
    <p:sldId id="663" r:id="rId24"/>
    <p:sldId id="664" r:id="rId25"/>
    <p:sldId id="665" r:id="rId26"/>
    <p:sldId id="667" r:id="rId27"/>
    <p:sldId id="715" r:id="rId28"/>
    <p:sldId id="668" r:id="rId29"/>
    <p:sldId id="669" r:id="rId30"/>
    <p:sldId id="670" r:id="rId31"/>
    <p:sldId id="671" r:id="rId32"/>
    <p:sldId id="697" r:id="rId33"/>
    <p:sldId id="699" r:id="rId34"/>
    <p:sldId id="700" r:id="rId35"/>
    <p:sldId id="718" r:id="rId36"/>
    <p:sldId id="720" r:id="rId37"/>
    <p:sldId id="731" r:id="rId38"/>
    <p:sldId id="732" r:id="rId39"/>
    <p:sldId id="733" r:id="rId40"/>
    <p:sldId id="734" r:id="rId41"/>
    <p:sldId id="735" r:id="rId42"/>
    <p:sldId id="736" r:id="rId43"/>
    <p:sldId id="737" r:id="rId44"/>
    <p:sldId id="712" r:id="rId45"/>
    <p:sldId id="750" r:id="rId46"/>
    <p:sldId id="751" r:id="rId47"/>
    <p:sldId id="743" r:id="rId48"/>
    <p:sldId id="716" r:id="rId49"/>
    <p:sldId id="672" r:id="rId50"/>
    <p:sldId id="696" r:id="rId51"/>
    <p:sldId id="673" r:id="rId52"/>
    <p:sldId id="674" r:id="rId53"/>
    <p:sldId id="675" r:id="rId54"/>
    <p:sldId id="745" r:id="rId55"/>
    <p:sldId id="676" r:id="rId56"/>
    <p:sldId id="677" r:id="rId57"/>
    <p:sldId id="678" r:id="rId58"/>
    <p:sldId id="679" r:id="rId59"/>
    <p:sldId id="695" r:id="rId60"/>
    <p:sldId id="748" r:id="rId61"/>
    <p:sldId id="749" r:id="rId62"/>
    <p:sldId id="680" r:id="rId63"/>
    <p:sldId id="681" r:id="rId64"/>
    <p:sldId id="682" r:id="rId65"/>
    <p:sldId id="693" r:id="rId66"/>
    <p:sldId id="683" r:id="rId67"/>
    <p:sldId id="684" r:id="rId68"/>
    <p:sldId id="685" r:id="rId69"/>
    <p:sldId id="686" r:id="rId70"/>
    <p:sldId id="687" r:id="rId71"/>
    <p:sldId id="688" r:id="rId72"/>
    <p:sldId id="694" r:id="rId73"/>
    <p:sldId id="752" r:id="rId74"/>
    <p:sldId id="753" r:id="rId75"/>
    <p:sldId id="754" r:id="rId76"/>
    <p:sldId id="756" r:id="rId77"/>
    <p:sldId id="757" r:id="rId78"/>
    <p:sldId id="755" r:id="rId79"/>
    <p:sldId id="758" r:id="rId80"/>
    <p:sldId id="759" r:id="rId81"/>
    <p:sldId id="760" r:id="rId82"/>
    <p:sldId id="761" r:id="rId83"/>
    <p:sldId id="763" r:id="rId84"/>
    <p:sldId id="768" r:id="rId85"/>
    <p:sldId id="765" r:id="rId86"/>
    <p:sldId id="766" r:id="rId87"/>
    <p:sldId id="450" r:id="rId88"/>
    <p:sldId id="767" r:id="rId8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42" autoAdjust="0"/>
    <p:restoredTop sz="95033" autoAdjust="0"/>
  </p:normalViewPr>
  <p:slideViewPr>
    <p:cSldViewPr>
      <p:cViewPr varScale="1">
        <p:scale>
          <a:sx n="82" d="100"/>
          <a:sy n="82" d="100"/>
        </p:scale>
        <p:origin x="1488" y="4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361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ED6539-5166-4E22-AD23-9C785A120EE5}" type="datetimeFigureOut">
              <a:rPr lang="en-MY" smtClean="0"/>
              <a:t>1/12/2025</a:t>
            </a:fld>
            <a:endParaRPr lang="en-MY"/>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14D495-D49E-4A1A-894C-5A30F6BAE095}" type="slidenum">
              <a:rPr lang="en-MY" smtClean="0"/>
              <a:t>‹#›</a:t>
            </a:fld>
            <a:endParaRPr lang="en-MY"/>
          </a:p>
        </p:txBody>
      </p:sp>
    </p:spTree>
    <p:extLst>
      <p:ext uri="{BB962C8B-B14F-4D97-AF65-F5344CB8AC3E}">
        <p14:creationId xmlns:p14="http://schemas.microsoft.com/office/powerpoint/2010/main" val="2701442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12/1/2025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1</a:t>
            </a:fld>
            <a:endParaRPr lang="en-US"/>
          </a:p>
        </p:txBody>
      </p:sp>
    </p:spTree>
    <p:extLst>
      <p:ext uri="{BB962C8B-B14F-4D97-AF65-F5344CB8AC3E}">
        <p14:creationId xmlns:p14="http://schemas.microsoft.com/office/powerpoint/2010/main" val="2581809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a:t>
            </a:fld>
            <a:endParaRPr lang="en-US"/>
          </a:p>
        </p:txBody>
      </p:sp>
    </p:spTree>
    <p:extLst>
      <p:ext uri="{BB962C8B-B14F-4D97-AF65-F5344CB8AC3E}">
        <p14:creationId xmlns:p14="http://schemas.microsoft.com/office/powerpoint/2010/main" val="426054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3</a:t>
            </a:fld>
            <a:endParaRPr lang="en-US"/>
          </a:p>
        </p:txBody>
      </p:sp>
    </p:spTree>
    <p:extLst>
      <p:ext uri="{BB962C8B-B14F-4D97-AF65-F5344CB8AC3E}">
        <p14:creationId xmlns:p14="http://schemas.microsoft.com/office/powerpoint/2010/main" val="3099718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5</a:t>
            </a:fld>
            <a:endParaRPr lang="en-US"/>
          </a:p>
        </p:txBody>
      </p:sp>
    </p:spTree>
    <p:extLst>
      <p:ext uri="{BB962C8B-B14F-4D97-AF65-F5344CB8AC3E}">
        <p14:creationId xmlns:p14="http://schemas.microsoft.com/office/powerpoint/2010/main" val="3083425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21</a:t>
            </a:fld>
            <a:endParaRPr lang="en-US"/>
          </a:p>
        </p:txBody>
      </p:sp>
    </p:spTree>
    <p:extLst>
      <p:ext uri="{BB962C8B-B14F-4D97-AF65-F5344CB8AC3E}">
        <p14:creationId xmlns:p14="http://schemas.microsoft.com/office/powerpoint/2010/main" val="1006644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23</a:t>
            </a:fld>
            <a:endParaRPr lang="en-US"/>
          </a:p>
        </p:txBody>
      </p:sp>
    </p:spTree>
    <p:extLst>
      <p:ext uri="{BB962C8B-B14F-4D97-AF65-F5344CB8AC3E}">
        <p14:creationId xmlns:p14="http://schemas.microsoft.com/office/powerpoint/2010/main" val="913812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27</a:t>
            </a:fld>
            <a:endParaRPr lang="en-US"/>
          </a:p>
        </p:txBody>
      </p:sp>
    </p:spTree>
    <p:extLst>
      <p:ext uri="{BB962C8B-B14F-4D97-AF65-F5344CB8AC3E}">
        <p14:creationId xmlns:p14="http://schemas.microsoft.com/office/powerpoint/2010/main" val="1175391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34</a:t>
            </a:fld>
            <a:endParaRPr lang="en-US"/>
          </a:p>
        </p:txBody>
      </p:sp>
    </p:spTree>
    <p:extLst>
      <p:ext uri="{BB962C8B-B14F-4D97-AF65-F5344CB8AC3E}">
        <p14:creationId xmlns:p14="http://schemas.microsoft.com/office/powerpoint/2010/main" val="2958144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en-US">
              <a:latin typeface="Times" pitchFamily="-84" charset="0"/>
            </a:endParaRPr>
          </a:p>
        </p:txBody>
      </p:sp>
    </p:spTree>
    <p:extLst>
      <p:ext uri="{BB962C8B-B14F-4D97-AF65-F5344CB8AC3E}">
        <p14:creationId xmlns:p14="http://schemas.microsoft.com/office/powerpoint/2010/main" val="234112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44</a:t>
            </a:fld>
            <a:endParaRPr lang="en-US"/>
          </a:p>
        </p:txBody>
      </p:sp>
    </p:spTree>
    <p:extLst>
      <p:ext uri="{BB962C8B-B14F-4D97-AF65-F5344CB8AC3E}">
        <p14:creationId xmlns:p14="http://schemas.microsoft.com/office/powerpoint/2010/main" val="3839226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48</a:t>
            </a:fld>
            <a:endParaRPr lang="en-US"/>
          </a:p>
        </p:txBody>
      </p:sp>
    </p:spTree>
    <p:extLst>
      <p:ext uri="{BB962C8B-B14F-4D97-AF65-F5344CB8AC3E}">
        <p14:creationId xmlns:p14="http://schemas.microsoft.com/office/powerpoint/2010/main" val="3464779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52</a:t>
            </a:fld>
            <a:endParaRPr lang="en-US"/>
          </a:p>
        </p:txBody>
      </p:sp>
    </p:spTree>
    <p:extLst>
      <p:ext uri="{BB962C8B-B14F-4D97-AF65-F5344CB8AC3E}">
        <p14:creationId xmlns:p14="http://schemas.microsoft.com/office/powerpoint/2010/main" val="1969209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txBox="1">
            <a:spLocks noGrp="1"/>
          </p:cNvSpPr>
          <p:nvPr>
            <p:ph type="body" idx="1"/>
          </p:nvPr>
        </p:nvSpPr>
        <p:spPr>
          <a:xfrm>
            <a:off x="716231" y="4478154"/>
            <a:ext cx="5729841" cy="4242462"/>
          </a:xfrm>
          <a:prstGeom prst="rect">
            <a:avLst/>
          </a:prstGeom>
        </p:spPr>
        <p:txBody>
          <a:bodyPr lIns="94744" tIns="94744" rIns="94744" bIns="94744" anchor="ctr" anchorCtr="0">
            <a:noAutofit/>
          </a:bodyPr>
          <a:lstStyle/>
          <a:p>
            <a:endParaRPr dirty="0"/>
          </a:p>
        </p:txBody>
      </p:sp>
      <p:sp>
        <p:nvSpPr>
          <p:cNvPr id="257" name="Shape 257"/>
          <p:cNvSpPr>
            <a:spLocks noGrp="1" noRot="1" noChangeAspect="1"/>
          </p:cNvSpPr>
          <p:nvPr>
            <p:ph type="sldImg" idx="2"/>
          </p:nvPr>
        </p:nvSpPr>
        <p:spPr>
          <a:xfrm>
            <a:off x="1225550" y="708025"/>
            <a:ext cx="4711700" cy="3533775"/>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9659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70</a:t>
            </a:fld>
            <a:endParaRPr lang="en-US"/>
          </a:p>
        </p:txBody>
      </p:sp>
    </p:spTree>
    <p:extLst>
      <p:ext uri="{BB962C8B-B14F-4D97-AF65-F5344CB8AC3E}">
        <p14:creationId xmlns:p14="http://schemas.microsoft.com/office/powerpoint/2010/main" val="973770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73</a:t>
            </a:fld>
            <a:endParaRPr lang="en-US"/>
          </a:p>
        </p:txBody>
      </p:sp>
    </p:spTree>
    <p:extLst>
      <p:ext uri="{BB962C8B-B14F-4D97-AF65-F5344CB8AC3E}">
        <p14:creationId xmlns:p14="http://schemas.microsoft.com/office/powerpoint/2010/main" val="1447293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74</a:t>
            </a:fld>
            <a:endParaRPr lang="en-US"/>
          </a:p>
        </p:txBody>
      </p:sp>
    </p:spTree>
    <p:extLst>
      <p:ext uri="{BB962C8B-B14F-4D97-AF65-F5344CB8AC3E}">
        <p14:creationId xmlns:p14="http://schemas.microsoft.com/office/powerpoint/2010/main" val="1310645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75</a:t>
            </a:fld>
            <a:endParaRPr lang="en-US"/>
          </a:p>
        </p:txBody>
      </p:sp>
    </p:spTree>
    <p:extLst>
      <p:ext uri="{BB962C8B-B14F-4D97-AF65-F5344CB8AC3E}">
        <p14:creationId xmlns:p14="http://schemas.microsoft.com/office/powerpoint/2010/main" val="1337416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76</a:t>
            </a:fld>
            <a:endParaRPr lang="en-US"/>
          </a:p>
        </p:txBody>
      </p:sp>
    </p:spTree>
    <p:extLst>
      <p:ext uri="{BB962C8B-B14F-4D97-AF65-F5344CB8AC3E}">
        <p14:creationId xmlns:p14="http://schemas.microsoft.com/office/powerpoint/2010/main" val="1682323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77</a:t>
            </a:fld>
            <a:endParaRPr lang="en-US"/>
          </a:p>
        </p:txBody>
      </p:sp>
    </p:spTree>
    <p:extLst>
      <p:ext uri="{BB962C8B-B14F-4D97-AF65-F5344CB8AC3E}">
        <p14:creationId xmlns:p14="http://schemas.microsoft.com/office/powerpoint/2010/main" val="2827168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78</a:t>
            </a:fld>
            <a:endParaRPr lang="en-US"/>
          </a:p>
        </p:txBody>
      </p:sp>
    </p:spTree>
    <p:extLst>
      <p:ext uri="{BB962C8B-B14F-4D97-AF65-F5344CB8AC3E}">
        <p14:creationId xmlns:p14="http://schemas.microsoft.com/office/powerpoint/2010/main" val="3752391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79</a:t>
            </a:fld>
            <a:endParaRPr lang="en-US"/>
          </a:p>
        </p:txBody>
      </p:sp>
    </p:spTree>
    <p:extLst>
      <p:ext uri="{BB962C8B-B14F-4D97-AF65-F5344CB8AC3E}">
        <p14:creationId xmlns:p14="http://schemas.microsoft.com/office/powerpoint/2010/main" val="1358848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80</a:t>
            </a:fld>
            <a:endParaRPr lang="en-US"/>
          </a:p>
        </p:txBody>
      </p:sp>
    </p:spTree>
    <p:extLst>
      <p:ext uri="{BB962C8B-B14F-4D97-AF65-F5344CB8AC3E}">
        <p14:creationId xmlns:p14="http://schemas.microsoft.com/office/powerpoint/2010/main" val="23126651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81</a:t>
            </a:fld>
            <a:endParaRPr lang="en-US"/>
          </a:p>
        </p:txBody>
      </p:sp>
    </p:spTree>
    <p:extLst>
      <p:ext uri="{BB962C8B-B14F-4D97-AF65-F5344CB8AC3E}">
        <p14:creationId xmlns:p14="http://schemas.microsoft.com/office/powerpoint/2010/main" val="39416238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82</a:t>
            </a:fld>
            <a:endParaRPr lang="en-US"/>
          </a:p>
        </p:txBody>
      </p:sp>
    </p:spTree>
    <p:extLst>
      <p:ext uri="{BB962C8B-B14F-4D97-AF65-F5344CB8AC3E}">
        <p14:creationId xmlns:p14="http://schemas.microsoft.com/office/powerpoint/2010/main" val="23670953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83</a:t>
            </a:fld>
            <a:endParaRPr lang="en-US"/>
          </a:p>
        </p:txBody>
      </p:sp>
    </p:spTree>
    <p:extLst>
      <p:ext uri="{BB962C8B-B14F-4D97-AF65-F5344CB8AC3E}">
        <p14:creationId xmlns:p14="http://schemas.microsoft.com/office/powerpoint/2010/main" val="175340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84</a:t>
            </a:fld>
            <a:endParaRPr lang="en-US"/>
          </a:p>
        </p:txBody>
      </p:sp>
    </p:spTree>
    <p:extLst>
      <p:ext uri="{BB962C8B-B14F-4D97-AF65-F5344CB8AC3E}">
        <p14:creationId xmlns:p14="http://schemas.microsoft.com/office/powerpoint/2010/main" val="2175845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85</a:t>
            </a:fld>
            <a:endParaRPr lang="en-US"/>
          </a:p>
        </p:txBody>
      </p:sp>
    </p:spTree>
    <p:extLst>
      <p:ext uri="{BB962C8B-B14F-4D97-AF65-F5344CB8AC3E}">
        <p14:creationId xmlns:p14="http://schemas.microsoft.com/office/powerpoint/2010/main" val="1482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2021</a:t>
            </a:r>
          </a:p>
        </p:txBody>
      </p:sp>
      <p:sp>
        <p:nvSpPr>
          <p:cNvPr id="8" name="Footer Placeholder 7"/>
          <p:cNvSpPr>
            <a:spLocks noGrp="1"/>
          </p:cNvSpPr>
          <p:nvPr>
            <p:ph type="ftr" sz="quarter" idx="11"/>
          </p:nvPr>
        </p:nvSpPr>
        <p:spPr/>
        <p:txBody>
          <a:bodyPr/>
          <a:lstStyle/>
          <a:p>
            <a:r>
              <a:rPr lang="en-US"/>
              <a:t>Software Engineering</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2021</a:t>
            </a:r>
          </a:p>
        </p:txBody>
      </p:sp>
      <p:sp>
        <p:nvSpPr>
          <p:cNvPr id="4" name="Footer Placeholder 3"/>
          <p:cNvSpPr>
            <a:spLocks noGrp="1"/>
          </p:cNvSpPr>
          <p:nvPr>
            <p:ph type="ftr" sz="quarter" idx="11"/>
          </p:nvPr>
        </p:nvSpPr>
        <p:spPr/>
        <p:txBody>
          <a:bodyPr/>
          <a:lstStyle/>
          <a:p>
            <a:r>
              <a:rPr lang="en-US"/>
              <a:t>Software Engineering</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2021</a:t>
            </a:r>
          </a:p>
        </p:txBody>
      </p:sp>
      <p:sp>
        <p:nvSpPr>
          <p:cNvPr id="3" name="Footer Placeholder 2"/>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dirty="0">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r>
              <a:rPr lang="en-US"/>
              <a:t>2021</a:t>
            </a:r>
            <a:endParaRPr lang="en-US" dirty="0"/>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200">
                <a:solidFill>
                  <a:sysClr val="windowText" lastClr="000000"/>
                </a:solidFill>
              </a:defRPr>
            </a:lvl1pPr>
          </a:lstStyle>
          <a:p>
            <a:r>
              <a:rPr lang="en-US"/>
              <a:t>Software Engineering</a:t>
            </a:r>
            <a:endParaRPr lang="en-US" dirty="0"/>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0362C787-829C-4B6B-B21B-90D8981190F3}"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dirty="0" err="1">
                <a:ln>
                  <a:noFill/>
                </a:ln>
                <a:solidFill>
                  <a:schemeClr val="tx1"/>
                </a:solidFill>
                <a:effectLst/>
                <a:uLnTx/>
                <a:uFillTx/>
                <a:latin typeface="+mn-lt"/>
                <a:ea typeface="+mn-ea"/>
                <a:cs typeface="+mn-cs"/>
              </a:rPr>
              <a:t>Terima</a:t>
            </a:r>
            <a:r>
              <a:rPr kumimoji="0" lang="en-US" sz="5400" b="1" i="0" u="none" strike="noStrike" kern="1200" cap="none" spc="0" normalizeH="0" baseline="0" noProof="0" dirty="0">
                <a:ln>
                  <a:noFill/>
                </a:ln>
                <a:solidFill>
                  <a:schemeClr val="tx1"/>
                </a:solidFill>
                <a:effectLst/>
                <a:uLnTx/>
                <a:uFillTx/>
                <a:latin typeface="+mn-lt"/>
                <a:ea typeface="+mn-ea"/>
                <a:cs typeface="+mn-cs"/>
              </a:rPr>
              <a:t> </a:t>
            </a:r>
            <a:r>
              <a:rPr kumimoji="0" lang="en-US" sz="5400" b="1" i="0" u="none" strike="noStrike" kern="1200" cap="none" spc="0" normalizeH="0" baseline="0" noProof="0" dirty="0" err="1">
                <a:ln>
                  <a:noFill/>
                </a:ln>
                <a:solidFill>
                  <a:schemeClr val="tx1"/>
                </a:solidFill>
                <a:effectLst/>
                <a:uLnTx/>
                <a:uFillTx/>
                <a:latin typeface="+mn-lt"/>
                <a:ea typeface="+mn-ea"/>
                <a:cs typeface="+mn-cs"/>
              </a:rPr>
              <a:t>Kasih</a:t>
            </a:r>
            <a:endParaRPr kumimoji="0" lang="en-US" sz="54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dirty="0" err="1">
                <a:ln>
                  <a:noFill/>
                </a:ln>
                <a:solidFill>
                  <a:srgbClr val="C00000"/>
                </a:solidFill>
                <a:effectLst/>
                <a:uLnTx/>
                <a:uFillTx/>
                <a:latin typeface="+mn-lt"/>
                <a:ea typeface="+mn-ea"/>
                <a:cs typeface="+mn-cs"/>
              </a:rPr>
              <a:t>atas</a:t>
            </a:r>
            <a:r>
              <a:rPr kumimoji="0" lang="en-US" sz="2800" b="0" i="0" u="none" strike="noStrike" kern="1200" cap="none" spc="0" normalizeH="0" baseline="0" noProof="0" dirty="0">
                <a:ln>
                  <a:noFill/>
                </a:ln>
                <a:solidFill>
                  <a:srgbClr val="C00000"/>
                </a:solidFill>
                <a:effectLst/>
                <a:uLnTx/>
                <a:uFillTx/>
                <a:latin typeface="+mn-lt"/>
                <a:ea typeface="+mn-ea"/>
                <a:cs typeface="+mn-cs"/>
              </a:rPr>
              <a:t> </a:t>
            </a:r>
            <a:r>
              <a:rPr kumimoji="0" lang="en-US" sz="2800" b="0" i="0" u="none" strike="noStrike" kern="1200" cap="none" spc="0" normalizeH="0" baseline="0" noProof="0" dirty="0" err="1">
                <a:ln>
                  <a:noFill/>
                </a:ln>
                <a:solidFill>
                  <a:srgbClr val="C00000"/>
                </a:solidFill>
                <a:effectLst/>
                <a:uLnTx/>
                <a:uFillTx/>
                <a:latin typeface="+mn-lt"/>
                <a:ea typeface="+mn-ea"/>
                <a:cs typeface="+mn-cs"/>
              </a:rPr>
              <a:t>keprihatinan</a:t>
            </a:r>
            <a:r>
              <a:rPr kumimoji="0" lang="en-US" sz="2800" b="0" i="0" u="none" strike="noStrike" kern="1200" cap="none" spc="0" normalizeH="0" baseline="0" noProof="0" dirty="0">
                <a:ln>
                  <a:noFill/>
                </a:ln>
                <a:solidFill>
                  <a:srgbClr val="C00000"/>
                </a:solidFill>
                <a:effectLst/>
                <a:uLnTx/>
                <a:uFillTx/>
                <a:latin typeface="+mn-lt"/>
                <a:ea typeface="+mn-ea"/>
                <a:cs typeface="+mn-cs"/>
              </a:rPr>
              <a:t> </a:t>
            </a:r>
            <a:r>
              <a:rPr kumimoji="0" lang="en-US" sz="2800" b="0" i="0" u="none" strike="noStrike" kern="1200" cap="none" spc="0" normalizeH="0" baseline="0" noProof="0" dirty="0" err="1">
                <a:ln>
                  <a:noFill/>
                </a:ln>
                <a:solidFill>
                  <a:srgbClr val="C00000"/>
                </a:solidFill>
                <a:effectLst/>
                <a:uLnTx/>
                <a:uFillTx/>
                <a:latin typeface="+mn-lt"/>
                <a:ea typeface="+mn-ea"/>
                <a:cs typeface="+mn-cs"/>
              </a:rPr>
              <a:t>anda</a:t>
            </a:r>
            <a:endParaRPr kumimoji="0" lang="en-US" sz="2800" b="0" i="0" u="none" strike="noStrike" kern="1200" cap="none" spc="0" normalizeH="0" baseline="0" noProof="0" dirty="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dirty="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rPr>
              <a:t>“I Care, You Care, We Care”</a:t>
            </a: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2021</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a:t>Software Engineering</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7.png"/><Relationship Id="rId7" Type="http://schemas.openxmlformats.org/officeDocument/2006/relationships/image" Target="../media/image20.wmf"/><Relationship Id="rId12" Type="http://schemas.openxmlformats.org/officeDocument/2006/relationships/image" Target="../media/image24.png"/><Relationship Id="rId2" Type="http://schemas.openxmlformats.org/officeDocument/2006/relationships/image" Target="../media/image16.wmf"/><Relationship Id="rId1" Type="http://schemas.openxmlformats.org/officeDocument/2006/relationships/slideLayout" Target="../slideLayouts/slideLayout2.xml"/><Relationship Id="rId6" Type="http://schemas.openxmlformats.org/officeDocument/2006/relationships/oleObject" Target="NULL"/><Relationship Id="rId11" Type="http://schemas.openxmlformats.org/officeDocument/2006/relationships/image" Target="../media/image23.png"/><Relationship Id="rId5" Type="http://schemas.openxmlformats.org/officeDocument/2006/relationships/image" Target="../media/image19.wmf"/><Relationship Id="rId10" Type="http://schemas.openxmlformats.org/officeDocument/2006/relationships/oleObject" Target="../embeddings/oleObject1.bin"/><Relationship Id="rId4" Type="http://schemas.openxmlformats.org/officeDocument/2006/relationships/image" Target="../media/image18.png"/><Relationship Id="rId9"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t>Module </a:t>
            </a:r>
            <a:r>
              <a:rPr lang="en-US" dirty="0"/>
              <a:t>6</a:t>
            </a:r>
            <a:r>
              <a:rPr lang="en-US"/>
              <a:t>: </a:t>
            </a:r>
            <a:r>
              <a:rPr lang="en-US">
                <a:ea typeface="ＭＳ Ｐゴシック" panose="020B0600070205080204" pitchFamily="34" charset="-128"/>
              </a:rPr>
              <a:t>Architectural Design</a:t>
            </a:r>
            <a:endParaRPr lang="en-US" dirty="0"/>
          </a:p>
        </p:txBody>
      </p:sp>
      <p:sp>
        <p:nvSpPr>
          <p:cNvPr id="3" name="Subtitle 2"/>
          <p:cNvSpPr>
            <a:spLocks noGrp="1"/>
          </p:cNvSpPr>
          <p:nvPr>
            <p:ph type="subTitle" idx="1"/>
          </p:nvPr>
        </p:nvSpPr>
        <p:spPr/>
        <p:txBody>
          <a:bodyPr>
            <a:normAutofit fontScale="92500"/>
          </a:bodyPr>
          <a:lstStyle/>
          <a:p>
            <a:r>
              <a:rPr lang="en-US" sz="4000" dirty="0">
                <a:solidFill>
                  <a:schemeClr val="tx2"/>
                </a:solidFill>
              </a:rPr>
              <a:t>Software Engineering</a:t>
            </a:r>
          </a:p>
          <a:p>
            <a:r>
              <a:rPr lang="en-US" sz="2800" dirty="0"/>
              <a:t>School of Computing, Faculty of Engineering</a:t>
            </a:r>
          </a:p>
          <a:p>
            <a:r>
              <a:rPr lang="en-US" sz="2800" dirty="0" err="1"/>
              <a:t>Universiti</a:t>
            </a:r>
            <a:r>
              <a:rPr lang="en-US" sz="2800" dirty="0"/>
              <a:t> </a:t>
            </a:r>
            <a:r>
              <a:rPr lang="en-US" sz="2800" dirty="0" err="1"/>
              <a:t>Teknologi</a:t>
            </a:r>
            <a:r>
              <a:rPr lang="en-US" sz="2800" dirty="0"/>
              <a:t> Malaysia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Outline</a:t>
            </a:r>
            <a:endParaRPr lang="en-MY" dirty="0"/>
          </a:p>
        </p:txBody>
      </p:sp>
      <p:sp>
        <p:nvSpPr>
          <p:cNvPr id="3" name="Content Placeholder 2"/>
          <p:cNvSpPr>
            <a:spLocks noGrp="1"/>
          </p:cNvSpPr>
          <p:nvPr>
            <p:ph idx="1"/>
          </p:nvPr>
        </p:nvSpPr>
        <p:spPr>
          <a:xfrm>
            <a:off x="318628" y="1356641"/>
            <a:ext cx="8229600" cy="4906963"/>
          </a:xfrm>
        </p:spPr>
        <p:txBody>
          <a:bodyPr>
            <a:normAutofit/>
          </a:bodyPr>
          <a:lstStyle/>
          <a:p>
            <a:r>
              <a:rPr lang="en-US" sz="2600" dirty="0">
                <a:ea typeface="ＭＳ Ｐゴシック" panose="020B0600070205080204" pitchFamily="34" charset="-128"/>
              </a:rPr>
              <a:t>Architectural Design and Detailed Design</a:t>
            </a:r>
          </a:p>
          <a:p>
            <a:r>
              <a:rPr lang="en-US" sz="2600" dirty="0">
                <a:ea typeface="ＭＳ Ｐゴシック" panose="020B0600070205080204" pitchFamily="34" charset="-128"/>
              </a:rPr>
              <a:t>Architectural Design Decision</a:t>
            </a:r>
          </a:p>
          <a:p>
            <a:r>
              <a:rPr lang="en-US" sz="2600" dirty="0">
                <a:ea typeface="ＭＳ Ｐゴシック" panose="020B0600070205080204" pitchFamily="34" charset="-128"/>
              </a:rPr>
              <a:t>Architectural View</a:t>
            </a:r>
          </a:p>
          <a:p>
            <a:r>
              <a:rPr lang="en-US" sz="2600" dirty="0">
                <a:ea typeface="ＭＳ Ｐゴシック" panose="020B0600070205080204" pitchFamily="34" charset="-128"/>
              </a:rPr>
              <a:t>Architectural Pattern</a:t>
            </a:r>
          </a:p>
          <a:p>
            <a:pPr lvl="1"/>
            <a:r>
              <a:rPr lang="en-US" sz="2600" dirty="0">
                <a:ea typeface="ＭＳ Ｐゴシック" panose="020B0600070205080204" pitchFamily="34" charset="-128"/>
              </a:rPr>
              <a:t>Model-View-Controller (MVC)</a:t>
            </a:r>
          </a:p>
          <a:p>
            <a:pPr lvl="1"/>
            <a:r>
              <a:rPr lang="en-US" sz="2600" dirty="0">
                <a:ea typeface="ＭＳ Ｐゴシック" panose="020B0600070205080204" pitchFamily="34" charset="-128"/>
              </a:rPr>
              <a:t>Layered</a:t>
            </a:r>
          </a:p>
          <a:p>
            <a:pPr lvl="1"/>
            <a:r>
              <a:rPr lang="en-US" sz="2600" dirty="0">
                <a:ea typeface="ＭＳ Ｐゴシック" panose="020B0600070205080204" pitchFamily="34" charset="-128"/>
              </a:rPr>
              <a:t>Repository</a:t>
            </a:r>
          </a:p>
          <a:p>
            <a:pPr lvl="1"/>
            <a:r>
              <a:rPr lang="en-US" sz="2600" dirty="0">
                <a:ea typeface="ＭＳ Ｐゴシック" panose="020B0600070205080204" pitchFamily="34" charset="-128"/>
              </a:rPr>
              <a:t>Client-Server</a:t>
            </a:r>
          </a:p>
          <a:p>
            <a:pPr lvl="1"/>
            <a:r>
              <a:rPr lang="en-US" sz="2600" dirty="0">
                <a:ea typeface="ＭＳ Ｐゴシック" panose="020B0600070205080204" pitchFamily="34" charset="-128"/>
              </a:rPr>
              <a:t>Pipe and Filter</a:t>
            </a:r>
          </a:p>
          <a:p>
            <a:r>
              <a:rPr lang="en-US" sz="2600" dirty="0">
                <a:ea typeface="ＭＳ Ｐゴシック" panose="020B0600070205080204" pitchFamily="34" charset="-128"/>
              </a:rPr>
              <a:t>Application Architectures </a:t>
            </a:r>
          </a:p>
          <a:p>
            <a:pPr lvl="1"/>
            <a:endParaRPr lang="en-MY" dirty="0"/>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4" name="Date Placeholder 3"/>
          <p:cNvSpPr>
            <a:spLocks noGrp="1"/>
          </p:cNvSpPr>
          <p:nvPr>
            <p:ph type="dt" sz="half" idx="10"/>
          </p:nvPr>
        </p:nvSpPr>
        <p:spPr/>
        <p:txBody>
          <a:bodyPr/>
          <a:lstStyle/>
          <a:p>
            <a:r>
              <a:rPr lang="en-US"/>
              <a:t>2021</a:t>
            </a:r>
          </a:p>
        </p:txBody>
      </p:sp>
      <p:sp>
        <p:nvSpPr>
          <p:cNvPr id="7" name="TextBox 6"/>
          <p:cNvSpPr txBox="1"/>
          <p:nvPr/>
        </p:nvSpPr>
        <p:spPr>
          <a:xfrm>
            <a:off x="457200" y="5971217"/>
            <a:ext cx="8392886" cy="584775"/>
          </a:xfrm>
          <a:prstGeom prst="rect">
            <a:avLst/>
          </a:prstGeom>
          <a:noFill/>
        </p:spPr>
        <p:txBody>
          <a:bodyPr wrap="square" rtlCol="0">
            <a:spAutoFit/>
          </a:bodyPr>
          <a:lstStyle/>
          <a:p>
            <a:r>
              <a:rPr lang="en-MY" sz="1600" dirty="0">
                <a:solidFill>
                  <a:srgbClr val="C00000"/>
                </a:solidFill>
              </a:rPr>
              <a:t>Note: The overall contents of the slide are based on the main reference that is Sommerville (2016) with other references specified directly in respective slides (if any)</a:t>
            </a:r>
          </a:p>
        </p:txBody>
      </p:sp>
      <p:sp>
        <p:nvSpPr>
          <p:cNvPr id="5" name="Slide Number Placeholder 4"/>
          <p:cNvSpPr>
            <a:spLocks noGrp="1"/>
          </p:cNvSpPr>
          <p:nvPr>
            <p:ph type="sldNum" sz="quarter" idx="12"/>
          </p:nvPr>
        </p:nvSpPr>
        <p:spPr/>
        <p:txBody>
          <a:bodyPr/>
          <a:lstStyle/>
          <a:p>
            <a:fld id="{0362C787-829C-4B6B-B21B-90D8981190F3}" type="slidenum">
              <a:rPr lang="en-US" smtClean="0"/>
              <a:pPr/>
              <a:t>2</a:t>
            </a:fld>
            <a:endParaRPr lang="en-US"/>
          </a:p>
        </p:txBody>
      </p:sp>
    </p:spTree>
    <p:extLst>
      <p:ext uri="{BB962C8B-B14F-4D97-AF65-F5344CB8AC3E}">
        <p14:creationId xmlns:p14="http://schemas.microsoft.com/office/powerpoint/2010/main" val="3503316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Objectives</a:t>
            </a:r>
          </a:p>
        </p:txBody>
      </p:sp>
      <p:sp>
        <p:nvSpPr>
          <p:cNvPr id="3" name="Content Placeholder 2"/>
          <p:cNvSpPr>
            <a:spLocks noGrp="1"/>
          </p:cNvSpPr>
          <p:nvPr>
            <p:ph idx="1"/>
          </p:nvPr>
        </p:nvSpPr>
        <p:spPr/>
        <p:txBody>
          <a:bodyPr>
            <a:normAutofit fontScale="92500"/>
          </a:bodyPr>
          <a:lstStyle/>
          <a:p>
            <a:r>
              <a:rPr lang="en-US" altLang="en-US">
                <a:solidFill>
                  <a:srgbClr val="000000"/>
                </a:solidFill>
                <a:cs typeface="Times New Roman" pitchFamily="18" charset="0"/>
              </a:rPr>
              <a:t>To know </a:t>
            </a:r>
            <a:r>
              <a:rPr lang="en-US" altLang="en-US" dirty="0">
                <a:solidFill>
                  <a:srgbClr val="000000"/>
                </a:solidFill>
                <a:cs typeface="Times New Roman" pitchFamily="18" charset="0"/>
              </a:rPr>
              <a:t>the purpose of design and the difference between architectural and detailed </a:t>
            </a:r>
            <a:r>
              <a:rPr lang="en-US" altLang="en-US">
                <a:solidFill>
                  <a:srgbClr val="000000"/>
                </a:solidFill>
                <a:cs typeface="Times New Roman" pitchFamily="18" charset="0"/>
              </a:rPr>
              <a:t>design (use case realization)</a:t>
            </a:r>
            <a:endParaRPr lang="en-US" altLang="en-US" dirty="0">
              <a:solidFill>
                <a:srgbClr val="000000"/>
              </a:solidFill>
              <a:cs typeface="Times New Roman" pitchFamily="18" charset="0"/>
            </a:endParaRPr>
          </a:p>
          <a:p>
            <a:r>
              <a:rPr lang="en-US" altLang="en-US">
                <a:solidFill>
                  <a:srgbClr val="000000"/>
                </a:solidFill>
                <a:cs typeface="Times New Roman" pitchFamily="18" charset="0"/>
              </a:rPr>
              <a:t>To understand the architectural design decision </a:t>
            </a:r>
          </a:p>
          <a:p>
            <a:r>
              <a:rPr lang="en-US" altLang="en-US">
                <a:solidFill>
                  <a:srgbClr val="000000"/>
                </a:solidFill>
                <a:cs typeface="Times New Roman" pitchFamily="18" charset="0"/>
              </a:rPr>
              <a:t>To know differences in architectural views and representation using UML diagrams (deployment diagram and details of component diagram)</a:t>
            </a:r>
          </a:p>
          <a:p>
            <a:r>
              <a:rPr lang="en-US" altLang="en-US">
                <a:solidFill>
                  <a:srgbClr val="000000"/>
                </a:solidFill>
                <a:cs typeface="Times New Roman" pitchFamily="18" charset="0"/>
              </a:rPr>
              <a:t>To identify the use of different architectural patterns</a:t>
            </a:r>
            <a:endParaRPr lang="en-US" altLang="en-US" dirty="0">
              <a:solidFill>
                <a:srgbClr val="000000"/>
              </a:solidFill>
              <a:cs typeface="Times New Roman" pitchFamily="18" charset="0"/>
            </a:endParaRPr>
          </a:p>
        </p:txBody>
      </p:sp>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a:t>
            </a:fld>
            <a:endParaRPr lang="en-US"/>
          </a:p>
        </p:txBody>
      </p:sp>
    </p:spTree>
    <p:extLst>
      <p:ext uri="{BB962C8B-B14F-4D97-AF65-F5344CB8AC3E}">
        <p14:creationId xmlns:p14="http://schemas.microsoft.com/office/powerpoint/2010/main" val="1424288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Architectural design and detailed design</a:t>
            </a:r>
          </a:p>
        </p:txBody>
      </p:sp>
      <p:sp>
        <p:nvSpPr>
          <p:cNvPr id="3" name="Text Placeholder 2"/>
          <p:cNvSpPr>
            <a:spLocks noGrp="1"/>
          </p:cNvSpPr>
          <p:nvPr>
            <p:ph type="body" idx="1"/>
          </p:nvPr>
        </p:nvSpPr>
        <p:spPr/>
        <p:txBody>
          <a:bodyPr/>
          <a:lstStyle/>
          <a:p>
            <a:r>
              <a:rPr lang="en-MY"/>
              <a:t>Overview</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4</a:t>
            </a:fld>
            <a:endParaRPr lang="en-US"/>
          </a:p>
        </p:txBody>
      </p:sp>
    </p:spTree>
    <p:extLst>
      <p:ext uri="{BB962C8B-B14F-4D97-AF65-F5344CB8AC3E}">
        <p14:creationId xmlns:p14="http://schemas.microsoft.com/office/powerpoint/2010/main" val="2718099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Recap on Design Stage</a:t>
            </a:r>
          </a:p>
        </p:txBody>
      </p:sp>
      <p:pic>
        <p:nvPicPr>
          <p:cNvPr id="5" name="Picture 4" descr="2.5 Design-process.ep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1284288"/>
            <a:ext cx="6750050"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051050" y="3127375"/>
            <a:ext cx="1584325" cy="865188"/>
          </a:xfrm>
          <a:prstGeom prst="rect">
            <a:avLst/>
          </a:prstGeom>
          <a:noFill/>
          <a:ln>
            <a:prstDash val="dash"/>
          </a:ln>
        </p:spPr>
        <p:style>
          <a:lnRef idx="2">
            <a:schemeClr val="accent2"/>
          </a:lnRef>
          <a:fillRef idx="1">
            <a:schemeClr val="lt1"/>
          </a:fillRef>
          <a:effectRef idx="0">
            <a:schemeClr val="accent2"/>
          </a:effectRef>
          <a:fontRef idx="minor">
            <a:schemeClr val="dk1"/>
          </a:fontRef>
        </p:style>
        <p:txBody>
          <a:bodyPr anchor="ctr"/>
          <a:lstStyle/>
          <a:p>
            <a:pPr algn="ctr">
              <a:defRPr/>
            </a:pPr>
            <a:endParaRPr lang="en-US"/>
          </a:p>
        </p:txBody>
      </p:sp>
      <p:sp>
        <p:nvSpPr>
          <p:cNvPr id="7" name="Rectangle 6"/>
          <p:cNvSpPr/>
          <p:nvPr/>
        </p:nvSpPr>
        <p:spPr>
          <a:xfrm>
            <a:off x="1411288" y="5317442"/>
            <a:ext cx="1584325" cy="863600"/>
          </a:xfrm>
          <a:prstGeom prst="rect">
            <a:avLst/>
          </a:prstGeom>
          <a:noFill/>
          <a:ln>
            <a:prstDash val="dash"/>
          </a:ln>
        </p:spPr>
        <p:style>
          <a:lnRef idx="2">
            <a:schemeClr val="accent2"/>
          </a:lnRef>
          <a:fillRef idx="1">
            <a:schemeClr val="lt1"/>
          </a:fillRef>
          <a:effectRef idx="0">
            <a:schemeClr val="accent2"/>
          </a:effectRef>
          <a:fontRef idx="minor">
            <a:schemeClr val="dk1"/>
          </a:fontRef>
        </p:style>
        <p:txBody>
          <a:bodyPr anchor="ctr"/>
          <a:lstStyle/>
          <a:p>
            <a:pPr algn="ctr">
              <a:defRPr/>
            </a:pPr>
            <a:endParaRPr lang="en-US"/>
          </a:p>
        </p:txBody>
      </p:sp>
      <p:sp>
        <p:nvSpPr>
          <p:cNvPr id="3" name="Date Placeholder 2"/>
          <p:cNvSpPr>
            <a:spLocks noGrp="1"/>
          </p:cNvSpPr>
          <p:nvPr>
            <p:ph type="dt" sz="half" idx="10"/>
          </p:nvPr>
        </p:nvSpPr>
        <p:spPr/>
        <p:txBody>
          <a:bodyPr/>
          <a:lstStyle/>
          <a:p>
            <a:r>
              <a:rPr lang="en-US"/>
              <a:t>2021</a:t>
            </a:r>
          </a:p>
        </p:txBody>
      </p:sp>
      <p:sp>
        <p:nvSpPr>
          <p:cNvPr id="8" name="Footer Placeholder 7"/>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5</a:t>
            </a:fld>
            <a:endParaRPr lang="en-US"/>
          </a:p>
        </p:txBody>
      </p:sp>
    </p:spTree>
    <p:extLst>
      <p:ext uri="{BB962C8B-B14F-4D97-AF65-F5344CB8AC3E}">
        <p14:creationId xmlns:p14="http://schemas.microsoft.com/office/powerpoint/2010/main" val="3138199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a typeface="ＭＳ Ｐゴシック" panose="020B0600070205080204" pitchFamily="34" charset="-128"/>
              </a:rPr>
              <a:t>Architecture Analogy for </a:t>
            </a:r>
            <a:br>
              <a:rPr lang="en-US" dirty="0">
                <a:ea typeface="ＭＳ Ｐゴシック" panose="020B0600070205080204" pitchFamily="34" charset="-128"/>
              </a:rPr>
            </a:br>
            <a:r>
              <a:rPr lang="en-US" dirty="0">
                <a:ea typeface="ＭＳ Ｐゴシック" panose="020B0600070205080204" pitchFamily="34" charset="-128"/>
              </a:rPr>
              <a:t>Software vs. House?</a:t>
            </a:r>
            <a:endParaRPr lang="en-MY" dirty="0"/>
          </a:p>
        </p:txBody>
      </p:sp>
      <p:pic>
        <p:nvPicPr>
          <p:cNvPr id="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5588"/>
            <a:ext cx="3859213" cy="289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8553" y="3810000"/>
            <a:ext cx="3196335" cy="2437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6925" y="3124200"/>
            <a:ext cx="1997075" cy="323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AutoShape 8"/>
          <p:cNvSpPr>
            <a:spLocks noChangeArrowheads="1"/>
          </p:cNvSpPr>
          <p:nvPr/>
        </p:nvSpPr>
        <p:spPr bwMode="auto">
          <a:xfrm rot="20020852">
            <a:off x="4705350" y="2281238"/>
            <a:ext cx="1223963" cy="1728787"/>
          </a:xfrm>
          <a:prstGeom prst="lightningBol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p>
        </p:txBody>
      </p:sp>
      <p:sp>
        <p:nvSpPr>
          <p:cNvPr id="3" name="Date Placeholder 2"/>
          <p:cNvSpPr>
            <a:spLocks noGrp="1"/>
          </p:cNvSpPr>
          <p:nvPr>
            <p:ph type="dt" sz="half" idx="10"/>
          </p:nvPr>
        </p:nvSpPr>
        <p:spPr/>
        <p:txBody>
          <a:bodyPr/>
          <a:lstStyle/>
          <a:p>
            <a:r>
              <a:rPr lang="en-US"/>
              <a:t>2021</a:t>
            </a:r>
          </a:p>
        </p:txBody>
      </p:sp>
      <p:sp>
        <p:nvSpPr>
          <p:cNvPr id="4" name="Footer Placeholder 3"/>
          <p:cNvSpPr>
            <a:spLocks noGrp="1"/>
          </p:cNvSpPr>
          <p:nvPr>
            <p:ph type="ftr" sz="quarter" idx="11"/>
          </p:nvPr>
        </p:nvSpPr>
        <p:spPr/>
        <p:txBody>
          <a:bodyPr/>
          <a:lstStyle/>
          <a:p>
            <a:r>
              <a:rPr lang="en-US"/>
              <a:t>Software Engineering</a:t>
            </a:r>
          </a:p>
        </p:txBody>
      </p:sp>
      <p:sp>
        <p:nvSpPr>
          <p:cNvPr id="5" name="Slide Number Placeholder 4"/>
          <p:cNvSpPr>
            <a:spLocks noGrp="1"/>
          </p:cNvSpPr>
          <p:nvPr>
            <p:ph type="sldNum" sz="quarter" idx="12"/>
          </p:nvPr>
        </p:nvSpPr>
        <p:spPr/>
        <p:txBody>
          <a:bodyPr/>
          <a:lstStyle/>
          <a:p>
            <a:fld id="{0362C787-829C-4B6B-B21B-90D8981190F3}" type="slidenum">
              <a:rPr lang="en-US" smtClean="0"/>
              <a:pPr/>
              <a:t>6</a:t>
            </a:fld>
            <a:endParaRPr lang="en-US"/>
          </a:p>
        </p:txBody>
      </p:sp>
    </p:spTree>
    <p:extLst>
      <p:ext uri="{BB962C8B-B14F-4D97-AF65-F5344CB8AC3E}">
        <p14:creationId xmlns:p14="http://schemas.microsoft.com/office/powerpoint/2010/main" val="400785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Analogy: Residential Styles</a:t>
            </a:r>
          </a:p>
        </p:txBody>
      </p:sp>
      <p:pic>
        <p:nvPicPr>
          <p:cNvPr id="1026" name="Picture 2" descr="https://s-media-cache-ak0.pinimg.com/736x/df/9e/4e/df9e4e674794aeb310231dd2b00f73d6.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599" y="1417638"/>
            <a:ext cx="5837725" cy="5059362"/>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3" name="Slide Number Placeholder 2"/>
          <p:cNvSpPr>
            <a:spLocks noGrp="1"/>
          </p:cNvSpPr>
          <p:nvPr>
            <p:ph type="sldNum" sz="quarter" idx="12"/>
          </p:nvPr>
        </p:nvSpPr>
        <p:spPr/>
        <p:txBody>
          <a:bodyPr/>
          <a:lstStyle/>
          <a:p>
            <a:fld id="{0362C787-829C-4B6B-B21B-90D8981190F3}" type="slidenum">
              <a:rPr lang="en-US" smtClean="0"/>
              <a:pPr/>
              <a:t>7</a:t>
            </a:fld>
            <a:endParaRPr lang="en-US"/>
          </a:p>
        </p:txBody>
      </p:sp>
    </p:spTree>
    <p:extLst>
      <p:ext uri="{BB962C8B-B14F-4D97-AF65-F5344CB8AC3E}">
        <p14:creationId xmlns:p14="http://schemas.microsoft.com/office/powerpoint/2010/main" val="4155765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Design Discipline Activities</a:t>
            </a:r>
            <a:endParaRPr lang="en-MY" dirty="0"/>
          </a:p>
        </p:txBody>
      </p:sp>
      <p:sp>
        <p:nvSpPr>
          <p:cNvPr id="3" name="Content Placeholder 2"/>
          <p:cNvSpPr>
            <a:spLocks noGrp="1"/>
          </p:cNvSpPr>
          <p:nvPr>
            <p:ph idx="1"/>
          </p:nvPr>
        </p:nvSpPr>
        <p:spPr/>
        <p:txBody>
          <a:bodyPr/>
          <a:lstStyle/>
          <a:p>
            <a:pPr>
              <a:lnSpc>
                <a:spcPct val="85000"/>
              </a:lnSpc>
              <a:spcBef>
                <a:spcPct val="85000"/>
              </a:spcBef>
            </a:pPr>
            <a:r>
              <a:rPr lang="en-US" altLang="en-US" dirty="0">
                <a:cs typeface="Times New Roman" pitchFamily="18" charset="0"/>
              </a:rPr>
              <a:t>Segmented into 6 major activities:</a:t>
            </a:r>
          </a:p>
          <a:p>
            <a:pPr lvl="1">
              <a:lnSpc>
                <a:spcPct val="85000"/>
              </a:lnSpc>
            </a:pPr>
            <a:r>
              <a:rPr lang="en-US" altLang="en-US" dirty="0">
                <a:cs typeface="Times New Roman" pitchFamily="18" charset="0"/>
              </a:rPr>
              <a:t>Design the support services architecture and deployment environment </a:t>
            </a:r>
            <a:r>
              <a:rPr lang="en-US" altLang="en-US" dirty="0">
                <a:cs typeface="Times New Roman" pitchFamily="18" charset="0"/>
                <a:sym typeface="Wingdings" panose="05000000000000000000" pitchFamily="2" charset="2"/>
              </a:rPr>
              <a:t></a:t>
            </a:r>
            <a:r>
              <a:rPr lang="en-US" altLang="en-US" sz="1800" dirty="0">
                <a:solidFill>
                  <a:srgbClr val="0070C0"/>
                </a:solidFill>
                <a:cs typeface="Times New Roman" pitchFamily="18" charset="0"/>
                <a:sym typeface="Wingdings" panose="05000000000000000000" pitchFamily="2" charset="2"/>
              </a:rPr>
              <a:t>(network course)</a:t>
            </a:r>
            <a:endParaRPr lang="en-US" altLang="en-US" sz="1800" dirty="0">
              <a:solidFill>
                <a:srgbClr val="0070C0"/>
              </a:solidFill>
              <a:cs typeface="Times New Roman" pitchFamily="18" charset="0"/>
            </a:endParaRPr>
          </a:p>
          <a:p>
            <a:pPr lvl="1">
              <a:lnSpc>
                <a:spcPct val="85000"/>
              </a:lnSpc>
            </a:pPr>
            <a:r>
              <a:rPr lang="en-US" altLang="en-US" dirty="0">
                <a:cs typeface="Times New Roman" pitchFamily="18" charset="0"/>
              </a:rPr>
              <a:t>Design the software architecture </a:t>
            </a:r>
            <a:r>
              <a:rPr lang="en-US" altLang="en-US" dirty="0">
                <a:cs typeface="Times New Roman" pitchFamily="18" charset="0"/>
                <a:sym typeface="Wingdings" panose="05000000000000000000" pitchFamily="2" charset="2"/>
              </a:rPr>
              <a:t></a:t>
            </a:r>
            <a:r>
              <a:rPr lang="en-US" altLang="en-US" sz="2000" b="1" dirty="0">
                <a:solidFill>
                  <a:srgbClr val="C00000"/>
                </a:solidFill>
                <a:cs typeface="Times New Roman" pitchFamily="18" charset="0"/>
                <a:sym typeface="Wingdings" panose="05000000000000000000" pitchFamily="2" charset="2"/>
              </a:rPr>
              <a:t>focus of SE lecture</a:t>
            </a:r>
            <a:endParaRPr lang="en-US" altLang="en-US" sz="2000" b="1" dirty="0">
              <a:solidFill>
                <a:srgbClr val="C00000"/>
              </a:solidFill>
              <a:cs typeface="Times New Roman" pitchFamily="18" charset="0"/>
            </a:endParaRPr>
          </a:p>
          <a:p>
            <a:pPr lvl="1">
              <a:lnSpc>
                <a:spcPct val="85000"/>
              </a:lnSpc>
            </a:pPr>
            <a:r>
              <a:rPr lang="en-US" altLang="en-US" dirty="0">
                <a:cs typeface="Times New Roman" pitchFamily="18" charset="0"/>
              </a:rPr>
              <a:t>Design the use case realizations </a:t>
            </a:r>
            <a:r>
              <a:rPr lang="en-US" altLang="en-US" dirty="0">
                <a:cs typeface="Times New Roman" pitchFamily="18" charset="0"/>
                <a:sym typeface="Wingdings" panose="05000000000000000000" pitchFamily="2" charset="2"/>
              </a:rPr>
              <a:t></a:t>
            </a:r>
            <a:r>
              <a:rPr lang="en-US" altLang="en-US" sz="2000" b="1" dirty="0">
                <a:solidFill>
                  <a:srgbClr val="C00000"/>
                </a:solidFill>
                <a:cs typeface="Times New Roman" pitchFamily="18" charset="0"/>
                <a:sym typeface="Wingdings" panose="05000000000000000000" pitchFamily="2" charset="2"/>
              </a:rPr>
              <a:t>focus of SE lecture</a:t>
            </a:r>
            <a:endParaRPr lang="en-US" altLang="en-US" sz="2000" b="1" dirty="0">
              <a:solidFill>
                <a:srgbClr val="C00000"/>
              </a:solidFill>
              <a:cs typeface="Times New Roman" pitchFamily="18" charset="0"/>
            </a:endParaRPr>
          </a:p>
          <a:p>
            <a:pPr lvl="1">
              <a:lnSpc>
                <a:spcPct val="85000"/>
              </a:lnSpc>
            </a:pPr>
            <a:r>
              <a:rPr lang="en-US" altLang="en-US" dirty="0">
                <a:cs typeface="Times New Roman" pitchFamily="18" charset="0"/>
              </a:rPr>
              <a:t>Design the database </a:t>
            </a:r>
            <a:r>
              <a:rPr lang="en-US" altLang="en-US" dirty="0">
                <a:cs typeface="Times New Roman" pitchFamily="18" charset="0"/>
                <a:sym typeface="Wingdings" panose="05000000000000000000" pitchFamily="2" charset="2"/>
              </a:rPr>
              <a:t> </a:t>
            </a:r>
            <a:r>
              <a:rPr lang="en-US" altLang="en-US" sz="2000" dirty="0">
                <a:solidFill>
                  <a:srgbClr val="0070C0"/>
                </a:solidFill>
                <a:cs typeface="Times New Roman" pitchFamily="18" charset="0"/>
                <a:sym typeface="Wingdings" panose="05000000000000000000" pitchFamily="2" charset="2"/>
              </a:rPr>
              <a:t>(database course)</a:t>
            </a:r>
            <a:endParaRPr lang="en-US" altLang="en-US" sz="2000" dirty="0">
              <a:solidFill>
                <a:srgbClr val="0070C0"/>
              </a:solidFill>
              <a:cs typeface="Times New Roman" pitchFamily="18" charset="0"/>
            </a:endParaRPr>
          </a:p>
          <a:p>
            <a:pPr lvl="1">
              <a:lnSpc>
                <a:spcPct val="85000"/>
              </a:lnSpc>
            </a:pPr>
            <a:r>
              <a:rPr lang="en-US" altLang="en-US" dirty="0">
                <a:cs typeface="Times New Roman" pitchFamily="18" charset="0"/>
              </a:rPr>
              <a:t>Design the system and user interfaces </a:t>
            </a:r>
            <a:r>
              <a:rPr lang="en-US" altLang="en-US" sz="1800" dirty="0">
                <a:solidFill>
                  <a:srgbClr val="0070C0"/>
                </a:solidFill>
                <a:cs typeface="Times New Roman" pitchFamily="18" charset="0"/>
              </a:rPr>
              <a:t>(HCI course)</a:t>
            </a:r>
          </a:p>
          <a:p>
            <a:pPr lvl="1">
              <a:lnSpc>
                <a:spcPct val="85000"/>
              </a:lnSpc>
            </a:pPr>
            <a:r>
              <a:rPr lang="en-US" altLang="en-US" dirty="0">
                <a:cs typeface="Times New Roman" pitchFamily="18" charset="0"/>
              </a:rPr>
              <a:t>Design the system security and controls </a:t>
            </a:r>
            <a:r>
              <a:rPr lang="en-US" altLang="en-US" sz="1800" dirty="0">
                <a:solidFill>
                  <a:srgbClr val="0070C0"/>
                </a:solidFill>
                <a:cs typeface="Times New Roman" pitchFamily="18" charset="0"/>
                <a:sym typeface="Wingdings" panose="05000000000000000000" pitchFamily="2" charset="2"/>
              </a:rPr>
              <a:t>(network security; database security)</a:t>
            </a:r>
            <a:endParaRPr lang="en-US" altLang="en-US" sz="1800" dirty="0">
              <a:solidFill>
                <a:srgbClr val="0070C0"/>
              </a:solidFill>
              <a:cs typeface="Times New Roman" pitchFamily="18" charset="0"/>
            </a:endParaRPr>
          </a:p>
        </p:txBody>
      </p:sp>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a:t>
            </a:fld>
            <a:endParaRPr lang="en-US"/>
          </a:p>
        </p:txBody>
      </p:sp>
    </p:spTree>
    <p:extLst>
      <p:ext uri="{BB962C8B-B14F-4D97-AF65-F5344CB8AC3E}">
        <p14:creationId xmlns:p14="http://schemas.microsoft.com/office/powerpoint/2010/main" val="3448112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From Analysis to Design: </a:t>
            </a:r>
            <a:br>
              <a:rPr lang="en-MY"/>
            </a:br>
            <a:r>
              <a:rPr lang="en-MY"/>
              <a:t>Design Artefacts Metamodel</a:t>
            </a:r>
          </a:p>
        </p:txBody>
      </p:sp>
      <p:sp>
        <p:nvSpPr>
          <p:cNvPr id="3" name="Content Placeholder 2"/>
          <p:cNvSpPr>
            <a:spLocks noGrp="1"/>
          </p:cNvSpPr>
          <p:nvPr>
            <p:ph idx="1"/>
          </p:nvPr>
        </p:nvSpPr>
        <p:spPr/>
        <p:txBody>
          <a:bodyPr>
            <a:normAutofit/>
          </a:bodyPr>
          <a:lstStyle/>
          <a:p>
            <a:r>
              <a:rPr lang="en-MY" sz="2600"/>
              <a:t>Design model contains exactly </a:t>
            </a:r>
            <a:r>
              <a:rPr lang="en-MY" sz="2600" b="1">
                <a:solidFill>
                  <a:srgbClr val="C00000"/>
                </a:solidFill>
              </a:rPr>
              <a:t>one design system</a:t>
            </a:r>
            <a:r>
              <a:rPr lang="en-MY" sz="2600"/>
              <a:t> that contains </a:t>
            </a:r>
            <a:r>
              <a:rPr lang="en-MY" sz="2600" b="1">
                <a:solidFill>
                  <a:srgbClr val="C00000"/>
                </a:solidFill>
              </a:rPr>
              <a:t>many design subsystems</a:t>
            </a:r>
            <a:r>
              <a:rPr lang="en-MY" sz="2600"/>
              <a:t> (also known as “package” that can also be introduced in the analysis)</a:t>
            </a:r>
          </a:p>
          <a:p>
            <a:endParaRPr lang="en-MY" sz="240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8" name="Picture 7"/>
          <p:cNvPicPr>
            <a:picLocks noChangeAspect="1"/>
          </p:cNvPicPr>
          <p:nvPr/>
        </p:nvPicPr>
        <p:blipFill>
          <a:blip r:embed="rId2"/>
          <a:stretch>
            <a:fillRect/>
          </a:stretch>
        </p:blipFill>
        <p:spPr>
          <a:xfrm>
            <a:off x="2491159" y="2848694"/>
            <a:ext cx="6348041" cy="3460031"/>
          </a:xfrm>
          <a:prstGeom prst="rect">
            <a:avLst/>
          </a:prstGeom>
        </p:spPr>
      </p:pic>
      <p:pic>
        <p:nvPicPr>
          <p:cNvPr id="9" name="Picture 8"/>
          <p:cNvPicPr>
            <a:picLocks noChangeAspect="1"/>
          </p:cNvPicPr>
          <p:nvPr/>
        </p:nvPicPr>
        <p:blipFill>
          <a:blip r:embed="rId3"/>
          <a:stretch>
            <a:fillRect/>
          </a:stretch>
        </p:blipFill>
        <p:spPr>
          <a:xfrm>
            <a:off x="688602" y="4846823"/>
            <a:ext cx="1781175" cy="1076325"/>
          </a:xfrm>
          <a:prstGeom prst="rect">
            <a:avLst/>
          </a:prstGeom>
        </p:spPr>
      </p:pic>
      <p:sp>
        <p:nvSpPr>
          <p:cNvPr id="10" name="TextBox 9"/>
          <p:cNvSpPr txBox="1"/>
          <p:nvPr/>
        </p:nvSpPr>
        <p:spPr>
          <a:xfrm>
            <a:off x="990600" y="5961433"/>
            <a:ext cx="5334000" cy="369332"/>
          </a:xfrm>
          <a:prstGeom prst="rect">
            <a:avLst/>
          </a:prstGeom>
          <a:noFill/>
        </p:spPr>
        <p:txBody>
          <a:bodyPr wrap="square" rtlCol="0">
            <a:spAutoFit/>
          </a:bodyPr>
          <a:lstStyle/>
          <a:p>
            <a:pPr algn="r"/>
            <a:r>
              <a:rPr lang="en-MY"/>
              <a:t>Source: Arlow and Neustadt (2002)</a:t>
            </a:r>
          </a:p>
        </p:txBody>
      </p:sp>
      <p:sp>
        <p:nvSpPr>
          <p:cNvPr id="6" name="Slide Number Placeholder 5"/>
          <p:cNvSpPr>
            <a:spLocks noGrp="1"/>
          </p:cNvSpPr>
          <p:nvPr>
            <p:ph type="sldNum" sz="quarter" idx="12"/>
          </p:nvPr>
        </p:nvSpPr>
        <p:spPr/>
        <p:txBody>
          <a:bodyPr/>
          <a:lstStyle/>
          <a:p>
            <a:fld id="{0362C787-829C-4B6B-B21B-90D8981190F3}" type="slidenum">
              <a:rPr lang="en-US" smtClean="0"/>
              <a:pPr/>
              <a:t>9</a:t>
            </a:fld>
            <a:endParaRPr lang="en-US"/>
          </a:p>
        </p:txBody>
      </p:sp>
    </p:spTree>
    <p:extLst>
      <p:ext uri="{BB962C8B-B14F-4D97-AF65-F5344CB8AC3E}">
        <p14:creationId xmlns:p14="http://schemas.microsoft.com/office/powerpoint/2010/main" val="1535607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Relationships between Analysis and Design (Model and System)</a:t>
            </a:r>
          </a:p>
        </p:txBody>
      </p:sp>
      <p:sp>
        <p:nvSpPr>
          <p:cNvPr id="3" name="Content Placeholder 2"/>
          <p:cNvSpPr>
            <a:spLocks noGrp="1"/>
          </p:cNvSpPr>
          <p:nvPr>
            <p:ph idx="1"/>
          </p:nvPr>
        </p:nvSpPr>
        <p:spPr/>
        <p:txBody>
          <a:bodyPr>
            <a:normAutofit/>
          </a:bodyPr>
          <a:lstStyle/>
          <a:p>
            <a:r>
              <a:rPr lang="en-MY" sz="2400" dirty="0"/>
              <a:t>There is a simple </a:t>
            </a:r>
            <a:r>
              <a:rPr lang="en-MY" sz="2400" b="1" dirty="0">
                <a:solidFill>
                  <a:srgbClr val="C00000"/>
                </a:solidFill>
              </a:rPr>
              <a:t>«trace» relationship </a:t>
            </a:r>
            <a:r>
              <a:rPr lang="en-MY" sz="2400" dirty="0"/>
              <a:t>between the analysis and design models – the design model is based on the analysis model, and can be considered to be just a refinement and elaboration thereof</a:t>
            </a:r>
          </a:p>
          <a:p>
            <a:r>
              <a:rPr lang="en-MY" sz="2400" dirty="0"/>
              <a:t>Similarly, there is a simple, one-to-one «trace» relationship between the analysis system and the design system</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6"/>
          <p:cNvPicPr>
            <a:picLocks noChangeAspect="1"/>
          </p:cNvPicPr>
          <p:nvPr/>
        </p:nvPicPr>
        <p:blipFill>
          <a:blip r:embed="rId2"/>
          <a:stretch>
            <a:fillRect/>
          </a:stretch>
        </p:blipFill>
        <p:spPr>
          <a:xfrm>
            <a:off x="2042881" y="3918859"/>
            <a:ext cx="4510319" cy="2272032"/>
          </a:xfrm>
          <a:prstGeom prst="rect">
            <a:avLst/>
          </a:prstGeom>
        </p:spPr>
      </p:pic>
      <p:sp>
        <p:nvSpPr>
          <p:cNvPr id="8" name="TextBox 7"/>
          <p:cNvSpPr txBox="1"/>
          <p:nvPr/>
        </p:nvSpPr>
        <p:spPr>
          <a:xfrm>
            <a:off x="3352800" y="6143202"/>
            <a:ext cx="5334000" cy="369332"/>
          </a:xfrm>
          <a:prstGeom prst="rect">
            <a:avLst/>
          </a:prstGeom>
          <a:noFill/>
        </p:spPr>
        <p:txBody>
          <a:bodyPr wrap="square" rtlCol="0">
            <a:spAutoFit/>
          </a:bodyPr>
          <a:lstStyle/>
          <a:p>
            <a:pPr algn="r"/>
            <a:r>
              <a:rPr lang="en-MY"/>
              <a:t>Source: Arlow and Neustadt (2002)</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10</a:t>
            </a:fld>
            <a:endParaRPr lang="en-US"/>
          </a:p>
        </p:txBody>
      </p:sp>
    </p:spTree>
    <p:extLst>
      <p:ext uri="{BB962C8B-B14F-4D97-AF65-F5344CB8AC3E}">
        <p14:creationId xmlns:p14="http://schemas.microsoft.com/office/powerpoint/2010/main" val="2529820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Architectural Design: Design the Software Architecture</a:t>
            </a:r>
          </a:p>
        </p:txBody>
      </p:sp>
      <p:sp>
        <p:nvSpPr>
          <p:cNvPr id="3" name="Content Placeholder 2"/>
          <p:cNvSpPr>
            <a:spLocks noGrp="1"/>
          </p:cNvSpPr>
          <p:nvPr>
            <p:ph idx="1"/>
          </p:nvPr>
        </p:nvSpPr>
        <p:spPr/>
        <p:txBody>
          <a:bodyPr>
            <a:noAutofit/>
          </a:bodyPr>
          <a:lstStyle/>
          <a:p>
            <a:r>
              <a:rPr lang="en-US" sz="2800" dirty="0"/>
              <a:t>Architectural design is concerned with understanding how a software system should be organized and designing the </a:t>
            </a:r>
            <a:r>
              <a:rPr lang="en-US" sz="2800" b="1" dirty="0">
                <a:solidFill>
                  <a:srgbClr val="C00000"/>
                </a:solidFill>
              </a:rPr>
              <a:t>overall structure</a:t>
            </a:r>
            <a:r>
              <a:rPr lang="en-US" sz="2800" dirty="0"/>
              <a:t> of that system</a:t>
            </a:r>
          </a:p>
          <a:p>
            <a:r>
              <a:rPr lang="en-US" sz="2800" dirty="0"/>
              <a:t>Architectural design is the critical link between design and requirements engineering, as it identifies the </a:t>
            </a:r>
            <a:r>
              <a:rPr lang="en-US" sz="2800" b="1" dirty="0">
                <a:solidFill>
                  <a:srgbClr val="C00000"/>
                </a:solidFill>
              </a:rPr>
              <a:t>main structural components in a system</a:t>
            </a:r>
            <a:r>
              <a:rPr lang="en-US" sz="2800" dirty="0"/>
              <a:t> and the relationships between them</a:t>
            </a:r>
          </a:p>
          <a:p>
            <a:r>
              <a:rPr lang="en-US" sz="2800" dirty="0"/>
              <a:t>The output of the architectural design process is an </a:t>
            </a:r>
            <a:r>
              <a:rPr lang="en-US" sz="2800" b="1" dirty="0">
                <a:solidFill>
                  <a:srgbClr val="C00000"/>
                </a:solidFill>
              </a:rPr>
              <a:t>architectural model</a:t>
            </a:r>
            <a:r>
              <a:rPr lang="en-US" sz="2800" dirty="0"/>
              <a:t> that describes how the system is organized as a set of communicating components </a:t>
            </a:r>
            <a:endParaRPr lang="en-GB" sz="2800" dirty="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11</a:t>
            </a:fld>
            <a:endParaRPr lang="en-US"/>
          </a:p>
        </p:txBody>
      </p:sp>
    </p:spTree>
    <p:extLst>
      <p:ext uri="{BB962C8B-B14F-4D97-AF65-F5344CB8AC3E}">
        <p14:creationId xmlns:p14="http://schemas.microsoft.com/office/powerpoint/2010/main" val="119248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itchFamily="18" charset="0"/>
              </a:rPr>
              <a:t>Design Use Case Realizations</a:t>
            </a:r>
            <a:endParaRPr lang="en-MY" dirty="0"/>
          </a:p>
        </p:txBody>
      </p:sp>
      <p:sp>
        <p:nvSpPr>
          <p:cNvPr id="3" name="Content Placeholder 2"/>
          <p:cNvSpPr>
            <a:spLocks noGrp="1"/>
          </p:cNvSpPr>
          <p:nvPr>
            <p:ph idx="1"/>
          </p:nvPr>
        </p:nvSpPr>
        <p:spPr/>
        <p:txBody>
          <a:bodyPr>
            <a:normAutofit lnSpcReduction="10000"/>
          </a:bodyPr>
          <a:lstStyle/>
          <a:p>
            <a:pPr>
              <a:lnSpc>
                <a:spcPct val="90000"/>
              </a:lnSpc>
              <a:spcBef>
                <a:spcPct val="30000"/>
              </a:spcBef>
            </a:pPr>
            <a:r>
              <a:rPr lang="en-US" altLang="en-US" dirty="0">
                <a:cs typeface="Times New Roman" pitchFamily="18" charset="0"/>
              </a:rPr>
              <a:t>Use case realizations offer a lower-level view</a:t>
            </a:r>
          </a:p>
          <a:p>
            <a:pPr>
              <a:lnSpc>
                <a:spcPct val="90000"/>
              </a:lnSpc>
              <a:spcBef>
                <a:spcPct val="30000"/>
              </a:spcBef>
            </a:pPr>
            <a:r>
              <a:rPr lang="en-US" altLang="en-US" dirty="0">
                <a:cs typeface="Times New Roman" pitchFamily="18" charset="0"/>
              </a:rPr>
              <a:t>Two-tiered focus:</a:t>
            </a:r>
          </a:p>
          <a:p>
            <a:pPr lvl="1">
              <a:lnSpc>
                <a:spcPct val="90000"/>
              </a:lnSpc>
              <a:spcBef>
                <a:spcPct val="30000"/>
              </a:spcBef>
            </a:pPr>
            <a:r>
              <a:rPr lang="en-US" altLang="en-US" dirty="0">
                <a:cs typeface="Times New Roman" pitchFamily="18" charset="0"/>
              </a:rPr>
              <a:t>Class interactions supporting a particular use case </a:t>
            </a:r>
          </a:p>
          <a:p>
            <a:pPr lvl="1">
              <a:lnSpc>
                <a:spcPct val="90000"/>
              </a:lnSpc>
              <a:spcBef>
                <a:spcPct val="30000"/>
              </a:spcBef>
            </a:pPr>
            <a:r>
              <a:rPr lang="en-US" altLang="en-US" dirty="0">
                <a:cs typeface="Times New Roman" pitchFamily="18" charset="0"/>
              </a:rPr>
              <a:t>Interactions among software, users, and external systems </a:t>
            </a:r>
          </a:p>
          <a:p>
            <a:pPr>
              <a:lnSpc>
                <a:spcPct val="90000"/>
              </a:lnSpc>
              <a:spcBef>
                <a:spcPct val="30000"/>
              </a:spcBef>
            </a:pPr>
            <a:r>
              <a:rPr lang="en-US" altLang="en-US" dirty="0">
                <a:cs typeface="Times New Roman" pitchFamily="18" charset="0"/>
              </a:rPr>
              <a:t>Design typically spread over many iterations</a:t>
            </a:r>
          </a:p>
          <a:p>
            <a:pPr>
              <a:lnSpc>
                <a:spcPct val="90000"/>
              </a:lnSpc>
              <a:spcBef>
                <a:spcPct val="30000"/>
              </a:spcBef>
            </a:pPr>
            <a:r>
              <a:rPr lang="en-US" altLang="en-US" dirty="0">
                <a:cs typeface="Times New Roman" pitchFamily="18" charset="0"/>
              </a:rPr>
              <a:t>UML </a:t>
            </a:r>
            <a:r>
              <a:rPr lang="en-US" altLang="en-US" b="1" dirty="0">
                <a:solidFill>
                  <a:srgbClr val="C00000"/>
                </a:solidFill>
                <a:cs typeface="Times New Roman" pitchFamily="18" charset="0"/>
              </a:rPr>
              <a:t>design class diagrams</a:t>
            </a:r>
            <a:r>
              <a:rPr lang="en-US" altLang="en-US" dirty="0">
                <a:cs typeface="Times New Roman" pitchFamily="18" charset="0"/>
              </a:rPr>
              <a:t> and </a:t>
            </a:r>
            <a:r>
              <a:rPr lang="en-US" altLang="en-US" b="1" dirty="0">
                <a:solidFill>
                  <a:srgbClr val="C00000"/>
                </a:solidFill>
                <a:cs typeface="Times New Roman" pitchFamily="18" charset="0"/>
              </a:rPr>
              <a:t>interaction diagrams</a:t>
            </a:r>
            <a:r>
              <a:rPr lang="en-US" altLang="en-US" dirty="0">
                <a:cs typeface="Times New Roman" pitchFamily="18" charset="0"/>
              </a:rPr>
              <a:t> (sequence diagram) </a:t>
            </a:r>
            <a:r>
              <a:rPr lang="en-US" altLang="en-US" dirty="0">
                <a:cs typeface="Times New Roman" pitchFamily="18" charset="0"/>
                <a:sym typeface="Wingdings" panose="05000000000000000000" pitchFamily="2" charset="2"/>
              </a:rPr>
              <a:t> </a:t>
            </a:r>
            <a:r>
              <a:rPr lang="en-US" altLang="en-US" dirty="0">
                <a:cs typeface="Times New Roman" pitchFamily="18" charset="0"/>
              </a:rPr>
              <a:t>document </a:t>
            </a:r>
            <a:r>
              <a:rPr lang="en-US" altLang="en-US">
                <a:cs typeface="Times New Roman" pitchFamily="18" charset="0"/>
              </a:rPr>
              <a:t>design [to be elaborated in Module 7]  </a:t>
            </a:r>
            <a:endParaRPr lang="en-US" altLang="en-US" dirty="0"/>
          </a:p>
          <a:p>
            <a:endParaRPr lang="en-MY" dirty="0"/>
          </a:p>
        </p:txBody>
      </p:sp>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12</a:t>
            </a:fld>
            <a:endParaRPr lang="en-US"/>
          </a:p>
        </p:txBody>
      </p:sp>
    </p:spTree>
    <p:extLst>
      <p:ext uri="{BB962C8B-B14F-4D97-AF65-F5344CB8AC3E}">
        <p14:creationId xmlns:p14="http://schemas.microsoft.com/office/powerpoint/2010/main" val="1283204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A</a:t>
            </a:r>
            <a:r>
              <a:rPr lang="en-US"/>
              <a:t>rchitecture of a Packing Robot Control System</a:t>
            </a:r>
            <a:endParaRPr lang="en-MY"/>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2" descr="6"/>
          <p:cNvPicPr>
            <a:picLocks noGrp="1" noChangeAspect="1" noChangeArrowheads="1"/>
          </p:cNvPicPr>
          <p:nvPr>
            <p:ph idx="1"/>
          </p:nvPr>
        </p:nvPicPr>
        <p:blipFill>
          <a:blip r:embed="rId2"/>
          <a:srcRect b="-8765"/>
          <a:stretch>
            <a:fillRect/>
          </a:stretch>
        </p:blipFill>
        <p:spPr bwMode="auto">
          <a:xfrm>
            <a:off x="2110046" y="1574608"/>
            <a:ext cx="4824154" cy="4673791"/>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0362C787-829C-4B6B-B21B-90D8981190F3}" type="slidenum">
              <a:rPr lang="en-US" smtClean="0"/>
              <a:pPr/>
              <a:t>13</a:t>
            </a:fld>
            <a:endParaRPr lang="en-US"/>
          </a:p>
        </p:txBody>
      </p:sp>
    </p:spTree>
    <p:extLst>
      <p:ext uri="{BB962C8B-B14F-4D97-AF65-F5344CB8AC3E}">
        <p14:creationId xmlns:p14="http://schemas.microsoft.com/office/powerpoint/2010/main" val="527325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dirty="0"/>
              <a:t>Example: High Level Architecture of </a:t>
            </a:r>
            <a:r>
              <a:rPr lang="en-MY"/>
              <a:t>Weather Station System </a:t>
            </a:r>
            <a:endParaRPr lang="en-MY" dirty="0"/>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34244" y="2268968"/>
            <a:ext cx="7075512" cy="3188426"/>
          </a:xfrm>
        </p:spPr>
      </p:pic>
      <p:sp>
        <p:nvSpPr>
          <p:cNvPr id="3" name="Date Placeholder 2"/>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14</a:t>
            </a:fld>
            <a:endParaRPr lang="en-US"/>
          </a:p>
        </p:txBody>
      </p:sp>
    </p:spTree>
    <p:extLst>
      <p:ext uri="{BB962C8B-B14F-4D97-AF65-F5344CB8AC3E}">
        <p14:creationId xmlns:p14="http://schemas.microsoft.com/office/powerpoint/2010/main" val="3411058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Architectural Abstraction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a:solidFill>
                  <a:srgbClr val="000000"/>
                </a:solidFill>
              </a:rPr>
              <a:t>Architecture in the </a:t>
            </a:r>
            <a:r>
              <a:rPr lang="en-US" b="1" dirty="0">
                <a:solidFill>
                  <a:srgbClr val="C00000"/>
                </a:solidFill>
              </a:rPr>
              <a:t>small</a:t>
            </a:r>
            <a:r>
              <a:rPr lang="en-US" dirty="0">
                <a:solidFill>
                  <a:srgbClr val="000000"/>
                </a:solidFill>
              </a:rPr>
              <a:t> is concerned with the architecture of individual programs</a:t>
            </a:r>
          </a:p>
          <a:p>
            <a:pPr lvl="1"/>
            <a:r>
              <a:rPr lang="en-US" dirty="0">
                <a:solidFill>
                  <a:srgbClr val="000000"/>
                </a:solidFill>
              </a:rPr>
              <a:t>Concerned with the way that an individual program is </a:t>
            </a:r>
            <a:r>
              <a:rPr lang="en-US" b="1" dirty="0">
                <a:solidFill>
                  <a:srgbClr val="C00000"/>
                </a:solidFill>
              </a:rPr>
              <a:t>decomposed into components</a:t>
            </a:r>
            <a:endParaRPr lang="en-GB" dirty="0">
              <a:solidFill>
                <a:srgbClr val="000000"/>
              </a:solidFill>
            </a:endParaRPr>
          </a:p>
          <a:p>
            <a:r>
              <a:rPr lang="en-US" dirty="0">
                <a:solidFill>
                  <a:srgbClr val="000000"/>
                </a:solidFill>
              </a:rPr>
              <a:t>Architecture in the </a:t>
            </a:r>
            <a:r>
              <a:rPr lang="en-US" b="1" dirty="0">
                <a:solidFill>
                  <a:srgbClr val="C00000"/>
                </a:solidFill>
              </a:rPr>
              <a:t>large </a:t>
            </a:r>
            <a:r>
              <a:rPr lang="en-US" dirty="0">
                <a:solidFill>
                  <a:srgbClr val="000000"/>
                </a:solidFill>
              </a:rPr>
              <a:t>is concerned with the architecture of complex enterprise systems that include </a:t>
            </a:r>
            <a:r>
              <a:rPr lang="en-US" b="1" dirty="0">
                <a:solidFill>
                  <a:srgbClr val="C00000"/>
                </a:solidFill>
              </a:rPr>
              <a:t>other systems, programs, and program components</a:t>
            </a:r>
            <a:endParaRPr lang="en-US" b="1" dirty="0">
              <a:solidFill>
                <a:srgbClr val="000000"/>
              </a:solidFill>
            </a:endParaRPr>
          </a:p>
          <a:p>
            <a:pPr lvl="1"/>
            <a:r>
              <a:rPr lang="en-US" dirty="0">
                <a:solidFill>
                  <a:srgbClr val="000000"/>
                </a:solidFill>
              </a:rPr>
              <a:t>These enterprise systems are distributed over different computers, which may be owned and managed by different companies</a:t>
            </a:r>
          </a:p>
        </p:txBody>
      </p:sp>
      <p:sp>
        <p:nvSpPr>
          <p:cNvPr id="5" name="Footer Placeholder 4"/>
          <p:cNvSpPr>
            <a:spLocks noGrp="1"/>
          </p:cNvSpPr>
          <p:nvPr>
            <p:ph type="ftr" sz="quarter" idx="11"/>
          </p:nvPr>
        </p:nvSpPr>
        <p:spPr/>
        <p:txBody>
          <a:bodyPr/>
          <a:lstStyle/>
          <a:p>
            <a:r>
              <a:rPr lang="en-US"/>
              <a:t>Software Engineering</a:t>
            </a:r>
          </a:p>
        </p:txBody>
      </p:sp>
      <p:sp>
        <p:nvSpPr>
          <p:cNvPr id="6" name="Date Placeholder 5"/>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15</a:t>
            </a:fld>
            <a:endParaRPr lang="en-US"/>
          </a:p>
        </p:txBody>
      </p:sp>
    </p:spTree>
    <p:extLst>
      <p:ext uri="{BB962C8B-B14F-4D97-AF65-F5344CB8AC3E}">
        <p14:creationId xmlns:p14="http://schemas.microsoft.com/office/powerpoint/2010/main" val="847812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GB" dirty="0"/>
              <a:t>Advantages </a:t>
            </a:r>
            <a:r>
              <a:rPr lang="en-GB"/>
              <a:t>of Explicit </a:t>
            </a:r>
            <a:r>
              <a:rPr lang="en-GB" dirty="0"/>
              <a:t>A</a:t>
            </a:r>
            <a:r>
              <a:rPr lang="en-GB"/>
              <a:t>rchitecture</a:t>
            </a:r>
            <a:endParaRPr lang="en-GB" dirty="0"/>
          </a:p>
        </p:txBody>
      </p:sp>
      <p:sp>
        <p:nvSpPr>
          <p:cNvPr id="45059" name="Rectangle 3"/>
          <p:cNvSpPr>
            <a:spLocks noGrp="1" noChangeArrowheads="1"/>
          </p:cNvSpPr>
          <p:nvPr>
            <p:ph idx="1"/>
          </p:nvPr>
        </p:nvSpPr>
        <p:spPr/>
        <p:txBody>
          <a:bodyPr>
            <a:normAutofit lnSpcReduction="10000"/>
          </a:bodyPr>
          <a:lstStyle/>
          <a:p>
            <a:pPr>
              <a:lnSpc>
                <a:spcPct val="90000"/>
              </a:lnSpc>
            </a:pPr>
            <a:r>
              <a:rPr lang="en-GB" dirty="0"/>
              <a:t>Stakeholder communication</a:t>
            </a:r>
          </a:p>
          <a:p>
            <a:pPr lvl="1">
              <a:lnSpc>
                <a:spcPct val="90000"/>
              </a:lnSpc>
            </a:pPr>
            <a:r>
              <a:rPr lang="en-GB" dirty="0"/>
              <a:t>Architecture may be used as a </a:t>
            </a:r>
            <a:r>
              <a:rPr lang="en-GB" b="1" dirty="0">
                <a:solidFill>
                  <a:srgbClr val="C00000"/>
                </a:solidFill>
              </a:rPr>
              <a:t>focus of discussion </a:t>
            </a:r>
            <a:r>
              <a:rPr lang="en-GB" dirty="0"/>
              <a:t>by system stakeholders</a:t>
            </a:r>
          </a:p>
          <a:p>
            <a:pPr>
              <a:lnSpc>
                <a:spcPct val="90000"/>
              </a:lnSpc>
            </a:pPr>
            <a:r>
              <a:rPr lang="en-GB" dirty="0"/>
              <a:t>System analysis</a:t>
            </a:r>
          </a:p>
          <a:p>
            <a:pPr lvl="1">
              <a:lnSpc>
                <a:spcPct val="90000"/>
              </a:lnSpc>
            </a:pPr>
            <a:r>
              <a:rPr lang="en-GB" dirty="0"/>
              <a:t>Means that analysis of whether the system can </a:t>
            </a:r>
            <a:r>
              <a:rPr lang="en-GB" b="1" dirty="0">
                <a:solidFill>
                  <a:srgbClr val="C00000"/>
                </a:solidFill>
              </a:rPr>
              <a:t>meet its non-functional requirements</a:t>
            </a:r>
            <a:r>
              <a:rPr lang="en-GB" dirty="0"/>
              <a:t> is possible</a:t>
            </a:r>
          </a:p>
          <a:p>
            <a:pPr>
              <a:lnSpc>
                <a:spcPct val="90000"/>
              </a:lnSpc>
            </a:pPr>
            <a:r>
              <a:rPr lang="en-GB" dirty="0"/>
              <a:t>Large-scale reuse</a:t>
            </a:r>
          </a:p>
          <a:p>
            <a:pPr lvl="1">
              <a:lnSpc>
                <a:spcPct val="90000"/>
              </a:lnSpc>
            </a:pPr>
            <a:r>
              <a:rPr lang="en-GB" dirty="0"/>
              <a:t>The architecture may be </a:t>
            </a:r>
            <a:r>
              <a:rPr lang="en-GB" b="1" dirty="0">
                <a:solidFill>
                  <a:srgbClr val="C00000"/>
                </a:solidFill>
              </a:rPr>
              <a:t>reusable</a:t>
            </a:r>
            <a:r>
              <a:rPr lang="en-GB" dirty="0"/>
              <a:t> across a range of systems</a:t>
            </a:r>
          </a:p>
          <a:p>
            <a:pPr lvl="1">
              <a:lnSpc>
                <a:spcPct val="90000"/>
              </a:lnSpc>
            </a:pPr>
            <a:r>
              <a:rPr lang="en-GB" dirty="0"/>
              <a:t>Product-line architectures may be developed</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16</a:t>
            </a:fld>
            <a:endParaRPr lang="en-US"/>
          </a:p>
        </p:txBody>
      </p:sp>
    </p:spTree>
    <p:extLst>
      <p:ext uri="{BB962C8B-B14F-4D97-AF65-F5344CB8AC3E}">
        <p14:creationId xmlns:p14="http://schemas.microsoft.com/office/powerpoint/2010/main" val="1268385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Architectural Representations</a:t>
            </a:r>
            <a:endParaRPr lang="en-US" dirty="0"/>
          </a:p>
        </p:txBody>
      </p:sp>
      <p:sp>
        <p:nvSpPr>
          <p:cNvPr id="3" name="Content Placeholder 2"/>
          <p:cNvSpPr>
            <a:spLocks noGrp="1"/>
          </p:cNvSpPr>
          <p:nvPr>
            <p:ph idx="1"/>
          </p:nvPr>
        </p:nvSpPr>
        <p:spPr/>
        <p:txBody>
          <a:bodyPr>
            <a:normAutofit fontScale="92500" lnSpcReduction="10000"/>
          </a:bodyPr>
          <a:lstStyle/>
          <a:p>
            <a:r>
              <a:rPr lang="en-US" dirty="0"/>
              <a:t>Simple, informal </a:t>
            </a:r>
            <a:r>
              <a:rPr lang="en-US" b="1" dirty="0">
                <a:solidFill>
                  <a:srgbClr val="C00000"/>
                </a:solidFill>
              </a:rPr>
              <a:t>block diagrams</a:t>
            </a:r>
            <a:r>
              <a:rPr lang="en-US" dirty="0"/>
              <a:t> showing entities and relationships are the most frequently used method for documenting software architectures</a:t>
            </a:r>
          </a:p>
          <a:p>
            <a:r>
              <a:rPr lang="en-US" dirty="0"/>
              <a:t>But these have been </a:t>
            </a:r>
            <a:r>
              <a:rPr lang="en-US" dirty="0" err="1"/>
              <a:t>criticised</a:t>
            </a:r>
            <a:r>
              <a:rPr lang="en-US" dirty="0"/>
              <a:t> because they </a:t>
            </a:r>
            <a:r>
              <a:rPr lang="en-US" b="1" dirty="0">
                <a:solidFill>
                  <a:srgbClr val="C00000"/>
                </a:solidFill>
              </a:rPr>
              <a:t>lack semantics</a:t>
            </a:r>
            <a:r>
              <a:rPr lang="en-US" dirty="0"/>
              <a:t>, do not show the types of relationships between entities nor the visible properties of entities in the architecture</a:t>
            </a:r>
          </a:p>
          <a:p>
            <a:r>
              <a:rPr lang="en-US" dirty="0"/>
              <a:t>Depends on the use of architectural models, the  requirements for </a:t>
            </a:r>
            <a:r>
              <a:rPr lang="en-US" b="1" dirty="0">
                <a:solidFill>
                  <a:srgbClr val="C00000"/>
                </a:solidFill>
              </a:rPr>
              <a:t>model semantics depends on how the models are used</a:t>
            </a:r>
            <a:endParaRPr lang="en-US" dirty="0"/>
          </a:p>
        </p:txBody>
      </p:sp>
      <p:sp>
        <p:nvSpPr>
          <p:cNvPr id="5" name="Footer Placeholder 4"/>
          <p:cNvSpPr>
            <a:spLocks noGrp="1"/>
          </p:cNvSpPr>
          <p:nvPr>
            <p:ph type="ftr" sz="quarter" idx="11"/>
          </p:nvPr>
        </p:nvSpPr>
        <p:spPr/>
        <p:txBody>
          <a:bodyPr/>
          <a:lstStyle/>
          <a:p>
            <a:r>
              <a:rPr lang="en-US"/>
              <a:t>Software Engineering</a:t>
            </a:r>
          </a:p>
        </p:txBody>
      </p:sp>
      <p:sp>
        <p:nvSpPr>
          <p:cNvPr id="6" name="Date Placeholder 5"/>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17</a:t>
            </a:fld>
            <a:endParaRPr lang="en-US"/>
          </a:p>
        </p:txBody>
      </p:sp>
    </p:spTree>
    <p:extLst>
      <p:ext uri="{BB962C8B-B14F-4D97-AF65-F5344CB8AC3E}">
        <p14:creationId xmlns:p14="http://schemas.microsoft.com/office/powerpoint/2010/main" val="1385280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dirty="0"/>
              <a:t>Box </a:t>
            </a:r>
            <a:r>
              <a:rPr lang="en-US"/>
              <a:t>and Line Diagrams</a:t>
            </a:r>
            <a:endParaRPr lang="en-US" dirty="0"/>
          </a:p>
        </p:txBody>
      </p:sp>
      <p:sp>
        <p:nvSpPr>
          <p:cNvPr id="57347" name="Rectangle 3"/>
          <p:cNvSpPr>
            <a:spLocks noGrp="1" noChangeArrowheads="1"/>
          </p:cNvSpPr>
          <p:nvPr>
            <p:ph idx="1"/>
          </p:nvPr>
        </p:nvSpPr>
        <p:spPr/>
        <p:txBody>
          <a:bodyPr/>
          <a:lstStyle/>
          <a:p>
            <a:r>
              <a:rPr lang="en-US" dirty="0"/>
              <a:t>Very </a:t>
            </a:r>
            <a:r>
              <a:rPr lang="en-US" b="1" dirty="0">
                <a:solidFill>
                  <a:srgbClr val="C00000"/>
                </a:solidFill>
              </a:rPr>
              <a:t>abstract</a:t>
            </a:r>
            <a:r>
              <a:rPr lang="en-US" dirty="0"/>
              <a:t> - they do not show the nature of component relationships nor the externally visible properties of the sub-systems</a:t>
            </a:r>
          </a:p>
          <a:p>
            <a:r>
              <a:rPr lang="en-US" dirty="0"/>
              <a:t>However, </a:t>
            </a:r>
            <a:r>
              <a:rPr lang="en-US" b="1" dirty="0">
                <a:solidFill>
                  <a:srgbClr val="C00000"/>
                </a:solidFill>
              </a:rPr>
              <a:t>useful for communication</a:t>
            </a:r>
            <a:r>
              <a:rPr lang="en-US" dirty="0"/>
              <a:t> with stakeholders and for project planning</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18</a:t>
            </a:fld>
            <a:endParaRPr lang="en-US"/>
          </a:p>
        </p:txBody>
      </p:sp>
    </p:spTree>
    <p:extLst>
      <p:ext uri="{BB962C8B-B14F-4D97-AF65-F5344CB8AC3E}">
        <p14:creationId xmlns:p14="http://schemas.microsoft.com/office/powerpoint/2010/main" val="1422287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of Architectural Models</a:t>
            </a:r>
            <a:endParaRPr lang="en-US" dirty="0"/>
          </a:p>
        </p:txBody>
      </p:sp>
      <p:sp>
        <p:nvSpPr>
          <p:cNvPr id="3" name="Content Placeholder 2"/>
          <p:cNvSpPr>
            <a:spLocks noGrp="1"/>
          </p:cNvSpPr>
          <p:nvPr>
            <p:ph idx="1"/>
          </p:nvPr>
        </p:nvSpPr>
        <p:spPr>
          <a:xfrm>
            <a:off x="457200" y="1600199"/>
            <a:ext cx="8229600" cy="4959911"/>
          </a:xfrm>
        </p:spPr>
        <p:txBody>
          <a:bodyPr>
            <a:normAutofit fontScale="92500" lnSpcReduction="20000"/>
          </a:bodyPr>
          <a:lstStyle/>
          <a:p>
            <a:r>
              <a:rPr lang="en-US" dirty="0"/>
              <a:t>As a way of </a:t>
            </a:r>
            <a:r>
              <a:rPr lang="en-US" b="1" dirty="0">
                <a:solidFill>
                  <a:srgbClr val="C00000"/>
                </a:solidFill>
              </a:rPr>
              <a:t>facilitating discussion</a:t>
            </a:r>
            <a:r>
              <a:rPr lang="en-US" dirty="0"/>
              <a:t> about the system design </a:t>
            </a:r>
          </a:p>
          <a:p>
            <a:pPr lvl="1"/>
            <a:r>
              <a:rPr lang="en-US" dirty="0"/>
              <a:t>A high-level architectural view of a system is useful for communication with system stakeholders and project planning because it is </a:t>
            </a:r>
            <a:r>
              <a:rPr lang="en-US" b="1" dirty="0">
                <a:solidFill>
                  <a:srgbClr val="C00000"/>
                </a:solidFill>
              </a:rPr>
              <a:t>not cluttered with detail</a:t>
            </a:r>
            <a:endParaRPr lang="en-US" dirty="0"/>
          </a:p>
          <a:p>
            <a:pPr lvl="1"/>
            <a:r>
              <a:rPr lang="en-US" dirty="0"/>
              <a:t>Stakeholders can relate to it and understand an abstract view of the system, then discuss the system as a whole without being confused by detail</a:t>
            </a:r>
            <a:endParaRPr lang="en-GB" dirty="0"/>
          </a:p>
          <a:p>
            <a:r>
              <a:rPr lang="en-US" dirty="0"/>
              <a:t>As a way of </a:t>
            </a:r>
            <a:r>
              <a:rPr lang="en-US" b="1" dirty="0">
                <a:solidFill>
                  <a:srgbClr val="C00000"/>
                </a:solidFill>
              </a:rPr>
              <a:t>documenting an architecture</a:t>
            </a:r>
            <a:r>
              <a:rPr lang="en-US" dirty="0"/>
              <a:t> that has been designed </a:t>
            </a:r>
          </a:p>
          <a:p>
            <a:pPr lvl="1"/>
            <a:r>
              <a:rPr lang="en-US" dirty="0"/>
              <a:t>The aim here is to produce a complete system model that shows the different components in a system, their interfaces and their connections</a:t>
            </a:r>
          </a:p>
        </p:txBody>
      </p:sp>
      <p:sp>
        <p:nvSpPr>
          <p:cNvPr id="5" name="Footer Placeholder 4"/>
          <p:cNvSpPr>
            <a:spLocks noGrp="1"/>
          </p:cNvSpPr>
          <p:nvPr>
            <p:ph type="ftr" sz="quarter" idx="11"/>
          </p:nvPr>
        </p:nvSpPr>
        <p:spPr/>
        <p:txBody>
          <a:bodyPr/>
          <a:lstStyle/>
          <a:p>
            <a:r>
              <a:rPr lang="en-US"/>
              <a:t>Software Engineering</a:t>
            </a:r>
          </a:p>
        </p:txBody>
      </p:sp>
      <p:sp>
        <p:nvSpPr>
          <p:cNvPr id="6" name="Date Placeholder 5"/>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19</a:t>
            </a:fld>
            <a:endParaRPr lang="en-US"/>
          </a:p>
        </p:txBody>
      </p:sp>
    </p:spTree>
    <p:extLst>
      <p:ext uri="{BB962C8B-B14F-4D97-AF65-F5344CB8AC3E}">
        <p14:creationId xmlns:p14="http://schemas.microsoft.com/office/powerpoint/2010/main" val="1514688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MY"/>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7" name="Footer Placeholder 4"/>
          <p:cNvSpPr txBox="1">
            <a:spLocks/>
          </p:cNvSpPr>
          <p:nvPr/>
        </p:nvSpPr>
        <p:spPr>
          <a:xfrm>
            <a:off x="2402465" y="6096000"/>
            <a:ext cx="4191000" cy="304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ysClr val="windowText" lastClr="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a:p>
            <a:r>
              <a:rPr lang="en-GB"/>
              <a:t>© 2010 Bennett, McRobb and Farmer</a:t>
            </a:r>
            <a:endParaRPr lang="en-GB" dirty="0"/>
          </a:p>
        </p:txBody>
      </p:sp>
      <p:grpSp>
        <p:nvGrpSpPr>
          <p:cNvPr id="8" name="Group 4"/>
          <p:cNvGrpSpPr>
            <a:grpSpLocks/>
          </p:cNvGrpSpPr>
          <p:nvPr/>
        </p:nvGrpSpPr>
        <p:grpSpPr bwMode="auto">
          <a:xfrm>
            <a:off x="801688" y="214313"/>
            <a:ext cx="7242175" cy="6029325"/>
            <a:chOff x="486" y="312"/>
            <a:chExt cx="4562" cy="3798"/>
          </a:xfrm>
        </p:grpSpPr>
        <p:sp>
          <p:nvSpPr>
            <p:cNvPr id="9" name="Rectangle 5"/>
            <p:cNvSpPr>
              <a:spLocks noChangeArrowheads="1"/>
            </p:cNvSpPr>
            <p:nvPr/>
          </p:nvSpPr>
          <p:spPr bwMode="auto">
            <a:xfrm>
              <a:off x="975" y="312"/>
              <a:ext cx="3595" cy="941"/>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GB" sz="1600"/>
                <a:t>Enterprise Architecture</a:t>
              </a:r>
            </a:p>
            <a:p>
              <a:pPr algn="ctr" eaLnBrk="0" hangingPunct="0"/>
              <a:endParaRPr lang="en-GB" sz="1600"/>
            </a:p>
            <a:p>
              <a:pPr algn="ctr" eaLnBrk="0" hangingPunct="0"/>
              <a:endParaRPr lang="en-GB" sz="1600"/>
            </a:p>
            <a:p>
              <a:pPr algn="ctr" eaLnBrk="0" hangingPunct="0"/>
              <a:endParaRPr lang="en-GB" sz="1600"/>
            </a:p>
            <a:p>
              <a:pPr algn="ctr" eaLnBrk="0" hangingPunct="0"/>
              <a:endParaRPr lang="en-GB" sz="1600"/>
            </a:p>
            <a:p>
              <a:pPr algn="ctr" eaLnBrk="0" hangingPunct="0"/>
              <a:endParaRPr lang="en-GB" sz="1600"/>
            </a:p>
          </p:txBody>
        </p:sp>
        <p:sp>
          <p:nvSpPr>
            <p:cNvPr id="10" name="Rectangle 6"/>
            <p:cNvSpPr>
              <a:spLocks noChangeArrowheads="1"/>
            </p:cNvSpPr>
            <p:nvPr/>
          </p:nvSpPr>
          <p:spPr bwMode="auto">
            <a:xfrm>
              <a:off x="975" y="1253"/>
              <a:ext cx="3595" cy="1896"/>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GB" sz="1600" dirty="0"/>
            </a:p>
            <a:p>
              <a:pPr algn="ctr" eaLnBrk="0" hangingPunct="0"/>
              <a:endParaRPr lang="en-GB" sz="1600" dirty="0"/>
            </a:p>
            <a:p>
              <a:pPr algn="ctr" eaLnBrk="0" hangingPunct="0"/>
              <a:endParaRPr lang="en-GB" sz="1600" dirty="0"/>
            </a:p>
            <a:p>
              <a:pPr algn="ctr" eaLnBrk="0" hangingPunct="0"/>
              <a:endParaRPr lang="en-GB" sz="1600" dirty="0"/>
            </a:p>
            <a:p>
              <a:pPr algn="ctr" eaLnBrk="0" hangingPunct="0"/>
              <a:endParaRPr lang="en-GB" sz="1600" dirty="0"/>
            </a:p>
          </p:txBody>
        </p:sp>
        <p:sp>
          <p:nvSpPr>
            <p:cNvPr id="11" name="Rectangle 8"/>
            <p:cNvSpPr>
              <a:spLocks noChangeArrowheads="1"/>
            </p:cNvSpPr>
            <p:nvPr/>
          </p:nvSpPr>
          <p:spPr bwMode="auto">
            <a:xfrm>
              <a:off x="975" y="3149"/>
              <a:ext cx="3595" cy="961"/>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GB" sz="1600"/>
                <a:t>Detailed Design</a:t>
              </a:r>
            </a:p>
            <a:p>
              <a:pPr algn="ctr" eaLnBrk="0" hangingPunct="0"/>
              <a:endParaRPr lang="en-GB" sz="1600"/>
            </a:p>
            <a:p>
              <a:pPr algn="ctr" eaLnBrk="0" hangingPunct="0"/>
              <a:endParaRPr lang="en-GB" sz="1600"/>
            </a:p>
            <a:p>
              <a:pPr algn="ctr" eaLnBrk="0" hangingPunct="0"/>
              <a:endParaRPr lang="en-GB" sz="1600"/>
            </a:p>
            <a:p>
              <a:pPr algn="ctr" eaLnBrk="0" hangingPunct="0"/>
              <a:endParaRPr lang="en-GB" sz="1600"/>
            </a:p>
            <a:p>
              <a:pPr algn="ctr" eaLnBrk="0" hangingPunct="0"/>
              <a:endParaRPr lang="en-GB" sz="1600"/>
            </a:p>
          </p:txBody>
        </p:sp>
        <p:sp>
          <p:nvSpPr>
            <p:cNvPr id="12" name="Text Box 9"/>
            <p:cNvSpPr txBox="1">
              <a:spLocks noChangeArrowheads="1"/>
            </p:cNvSpPr>
            <p:nvPr/>
          </p:nvSpPr>
          <p:spPr bwMode="auto">
            <a:xfrm>
              <a:off x="1056" y="1080"/>
              <a:ext cx="3457"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GB" sz="1200"/>
                <a:t>Alignment of IT architecture to business strategy and structure, and existing IT </a:t>
              </a:r>
            </a:p>
          </p:txBody>
        </p:sp>
        <p:pic>
          <p:nvPicPr>
            <p:cNvPr id="13" name="Picture 10" descr="MCBD04999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 y="346"/>
              <a:ext cx="570" cy="590"/>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1"/>
            <p:cNvGrpSpPr>
              <a:grpSpLocks/>
            </p:cNvGrpSpPr>
            <p:nvPr/>
          </p:nvGrpSpPr>
          <p:grpSpPr bwMode="auto">
            <a:xfrm>
              <a:off x="3840" y="346"/>
              <a:ext cx="582" cy="587"/>
              <a:chOff x="3787" y="493"/>
              <a:chExt cx="582" cy="587"/>
            </a:xfrm>
          </p:grpSpPr>
          <p:pic>
            <p:nvPicPr>
              <p:cNvPr id="347" name="Picture 12" descr="MCj0438062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7" y="498"/>
                <a:ext cx="582" cy="582"/>
              </a:xfrm>
              <a:prstGeom prst="rect">
                <a:avLst/>
              </a:prstGeom>
              <a:noFill/>
              <a:extLst>
                <a:ext uri="{909E8E84-426E-40DD-AFC4-6F175D3DCCD1}">
                  <a14:hiddenFill xmlns:a14="http://schemas.microsoft.com/office/drawing/2010/main">
                    <a:solidFill>
                      <a:srgbClr val="FFFFFF"/>
                    </a:solidFill>
                  </a14:hiddenFill>
                </a:ext>
              </a:extLst>
            </p:spPr>
          </p:pic>
          <p:pic>
            <p:nvPicPr>
              <p:cNvPr id="348" name="Picture 13" descr="MCj043258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9" y="493"/>
                <a:ext cx="122" cy="122"/>
              </a:xfrm>
              <a:prstGeom prst="rect">
                <a:avLst/>
              </a:prstGeom>
              <a:noFill/>
              <a:extLst>
                <a:ext uri="{909E8E84-426E-40DD-AFC4-6F175D3DCCD1}">
                  <a14:hiddenFill xmlns:a14="http://schemas.microsoft.com/office/drawing/2010/main">
                    <a:solidFill>
                      <a:srgbClr val="FFFFFF"/>
                    </a:solidFill>
                  </a14:hiddenFill>
                </a:ext>
              </a:extLst>
            </p:spPr>
          </p:pic>
          <p:pic>
            <p:nvPicPr>
              <p:cNvPr id="349" name="Picture 14" descr="MCj043258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3" y="541"/>
                <a:ext cx="122" cy="122"/>
              </a:xfrm>
              <a:prstGeom prst="rect">
                <a:avLst/>
              </a:prstGeom>
              <a:noFill/>
              <a:extLst>
                <a:ext uri="{909E8E84-426E-40DD-AFC4-6F175D3DCCD1}">
                  <a14:hiddenFill xmlns:a14="http://schemas.microsoft.com/office/drawing/2010/main">
                    <a:solidFill>
                      <a:srgbClr val="FFFFFF"/>
                    </a:solidFill>
                  </a14:hiddenFill>
                </a:ext>
              </a:extLst>
            </p:spPr>
          </p:pic>
          <p:pic>
            <p:nvPicPr>
              <p:cNvPr id="350" name="Picture 15" descr="MCj043258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7" y="554"/>
                <a:ext cx="122" cy="1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6"/>
            <p:cNvGrpSpPr>
              <a:grpSpLocks/>
            </p:cNvGrpSpPr>
            <p:nvPr/>
          </p:nvGrpSpPr>
          <p:grpSpPr bwMode="auto">
            <a:xfrm>
              <a:off x="1934" y="712"/>
              <a:ext cx="1774" cy="405"/>
              <a:chOff x="2503" y="3566"/>
              <a:chExt cx="2059" cy="470"/>
            </a:xfrm>
          </p:grpSpPr>
          <p:grpSp>
            <p:nvGrpSpPr>
              <p:cNvPr id="317" name="Group 17"/>
              <p:cNvGrpSpPr>
                <a:grpSpLocks/>
              </p:cNvGrpSpPr>
              <p:nvPr/>
            </p:nvGrpSpPr>
            <p:grpSpPr bwMode="auto">
              <a:xfrm>
                <a:off x="2503" y="3566"/>
                <a:ext cx="838" cy="438"/>
                <a:chOff x="337" y="468"/>
                <a:chExt cx="838" cy="438"/>
              </a:xfrm>
            </p:grpSpPr>
            <p:sp>
              <p:nvSpPr>
                <p:cNvPr id="332" name="computr2"/>
                <p:cNvSpPr>
                  <a:spLocks noEditPoints="1" noChangeArrowheads="1"/>
                </p:cNvSpPr>
                <p:nvPr/>
              </p:nvSpPr>
              <p:spPr bwMode="auto">
                <a:xfrm>
                  <a:off x="571" y="468"/>
                  <a:ext cx="184" cy="184"/>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33" name="printer2"/>
                <p:cNvSpPr>
                  <a:spLocks noEditPoints="1" noChangeArrowheads="1"/>
                </p:cNvSpPr>
                <p:nvPr/>
              </p:nvSpPr>
              <p:spPr bwMode="auto">
                <a:xfrm>
                  <a:off x="366" y="560"/>
                  <a:ext cx="184" cy="92"/>
                </a:xfrm>
                <a:custGeom>
                  <a:avLst/>
                  <a:gdLst>
                    <a:gd name="T0" fmla="*/ 10673 w 21600"/>
                    <a:gd name="T1" fmla="*/ 0 h 21600"/>
                    <a:gd name="T2" fmla="*/ 19186 w 21600"/>
                    <a:gd name="T3" fmla="*/ 0 h 21600"/>
                    <a:gd name="T4" fmla="*/ 21600 w 21600"/>
                    <a:gd name="T5" fmla="*/ 4703 h 21600"/>
                    <a:gd name="T6" fmla="*/ 21600 w 21600"/>
                    <a:gd name="T7" fmla="*/ 10800 h 21600"/>
                    <a:gd name="T8" fmla="*/ 21600 w 21600"/>
                    <a:gd name="T9" fmla="*/ 16548 h 21600"/>
                    <a:gd name="T10" fmla="*/ 18042 w 21600"/>
                    <a:gd name="T11" fmla="*/ 21600 h 21600"/>
                    <a:gd name="T12" fmla="*/ 10673 w 21600"/>
                    <a:gd name="T13" fmla="*/ 21600 h 21600"/>
                    <a:gd name="T14" fmla="*/ 3176 w 21600"/>
                    <a:gd name="T15" fmla="*/ 21600 h 21600"/>
                    <a:gd name="T16" fmla="*/ 0 w 21600"/>
                    <a:gd name="T17" fmla="*/ 16548 h 21600"/>
                    <a:gd name="T18" fmla="*/ 0 w 21600"/>
                    <a:gd name="T19" fmla="*/ 10800 h 21600"/>
                    <a:gd name="T20" fmla="*/ 0 w 21600"/>
                    <a:gd name="T21" fmla="*/ 4703 h 21600"/>
                    <a:gd name="T22" fmla="*/ 2414 w 21600"/>
                    <a:gd name="T23" fmla="*/ 0 h 21600"/>
                    <a:gd name="T24" fmla="*/ 1397 w 21600"/>
                    <a:gd name="T25" fmla="*/ 23298 h 21600"/>
                    <a:gd name="T26" fmla="*/ 20266 w 21600"/>
                    <a:gd name="T27" fmla="*/ 3113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10673" y="0"/>
                      </a:moveTo>
                      <a:lnTo>
                        <a:pt x="19186" y="0"/>
                      </a:lnTo>
                      <a:lnTo>
                        <a:pt x="21600" y="4703"/>
                      </a:lnTo>
                      <a:lnTo>
                        <a:pt x="21600" y="10800"/>
                      </a:lnTo>
                      <a:lnTo>
                        <a:pt x="21600" y="16548"/>
                      </a:lnTo>
                      <a:lnTo>
                        <a:pt x="18042" y="16548"/>
                      </a:lnTo>
                      <a:lnTo>
                        <a:pt x="18042" y="21600"/>
                      </a:lnTo>
                      <a:lnTo>
                        <a:pt x="10673" y="21600"/>
                      </a:lnTo>
                      <a:lnTo>
                        <a:pt x="3176" y="21600"/>
                      </a:lnTo>
                      <a:lnTo>
                        <a:pt x="3176" y="16548"/>
                      </a:lnTo>
                      <a:lnTo>
                        <a:pt x="0" y="16548"/>
                      </a:lnTo>
                      <a:lnTo>
                        <a:pt x="0" y="10800"/>
                      </a:lnTo>
                      <a:lnTo>
                        <a:pt x="0" y="4703"/>
                      </a:lnTo>
                      <a:lnTo>
                        <a:pt x="2414" y="0"/>
                      </a:lnTo>
                      <a:lnTo>
                        <a:pt x="10673" y="0"/>
                      </a:lnTo>
                      <a:close/>
                    </a:path>
                    <a:path w="21600" h="21600" extrusionOk="0">
                      <a:moveTo>
                        <a:pt x="0" y="4703"/>
                      </a:moveTo>
                      <a:lnTo>
                        <a:pt x="3558" y="4703"/>
                      </a:lnTo>
                      <a:lnTo>
                        <a:pt x="17026" y="4703"/>
                      </a:lnTo>
                      <a:lnTo>
                        <a:pt x="21600" y="4703"/>
                      </a:lnTo>
                      <a:lnTo>
                        <a:pt x="0" y="4703"/>
                      </a:lnTo>
                      <a:moveTo>
                        <a:pt x="16518" y="4703"/>
                      </a:moveTo>
                      <a:lnTo>
                        <a:pt x="16518" y="10452"/>
                      </a:lnTo>
                      <a:lnTo>
                        <a:pt x="0" y="10452"/>
                      </a:lnTo>
                      <a:moveTo>
                        <a:pt x="4320" y="16548"/>
                      </a:moveTo>
                      <a:lnTo>
                        <a:pt x="4320" y="17419"/>
                      </a:lnTo>
                      <a:lnTo>
                        <a:pt x="4320" y="20555"/>
                      </a:lnTo>
                      <a:lnTo>
                        <a:pt x="4320" y="21600"/>
                      </a:lnTo>
                      <a:lnTo>
                        <a:pt x="4320" y="16548"/>
                      </a:lnTo>
                      <a:moveTo>
                        <a:pt x="16899" y="16548"/>
                      </a:moveTo>
                      <a:lnTo>
                        <a:pt x="16899" y="17419"/>
                      </a:lnTo>
                      <a:lnTo>
                        <a:pt x="16899" y="20555"/>
                      </a:lnTo>
                      <a:lnTo>
                        <a:pt x="16899" y="21600"/>
                      </a:lnTo>
                      <a:lnTo>
                        <a:pt x="16899" y="16548"/>
                      </a:lnTo>
                      <a:moveTo>
                        <a:pt x="15247" y="14981"/>
                      </a:moveTo>
                      <a:lnTo>
                        <a:pt x="15247" y="10452"/>
                      </a:lnTo>
                      <a:lnTo>
                        <a:pt x="16899" y="16548"/>
                      </a:lnTo>
                      <a:lnTo>
                        <a:pt x="18042" y="16548"/>
                      </a:lnTo>
                      <a:lnTo>
                        <a:pt x="16518" y="10452"/>
                      </a:lnTo>
                      <a:moveTo>
                        <a:pt x="15247" y="14981"/>
                      </a:moveTo>
                      <a:lnTo>
                        <a:pt x="15247" y="14981"/>
                      </a:lnTo>
                      <a:lnTo>
                        <a:pt x="16772" y="17942"/>
                      </a:lnTo>
                      <a:lnTo>
                        <a:pt x="4447" y="17942"/>
                      </a:lnTo>
                      <a:lnTo>
                        <a:pt x="5972" y="14981"/>
                      </a:lnTo>
                      <a:lnTo>
                        <a:pt x="5972" y="10452"/>
                      </a:lnTo>
                      <a:lnTo>
                        <a:pt x="4320" y="16548"/>
                      </a:lnTo>
                      <a:lnTo>
                        <a:pt x="3176" y="16548"/>
                      </a:lnTo>
                      <a:lnTo>
                        <a:pt x="4701" y="10452"/>
                      </a:lnTo>
                      <a:moveTo>
                        <a:pt x="20202" y="5574"/>
                      </a:moveTo>
                      <a:lnTo>
                        <a:pt x="20711" y="5574"/>
                      </a:lnTo>
                      <a:lnTo>
                        <a:pt x="20711" y="7839"/>
                      </a:lnTo>
                      <a:lnTo>
                        <a:pt x="20202" y="7839"/>
                      </a:lnTo>
                      <a:lnTo>
                        <a:pt x="20202" y="5574"/>
                      </a:lnTo>
                      <a:moveTo>
                        <a:pt x="5972" y="14981"/>
                      </a:moveTo>
                      <a:lnTo>
                        <a:pt x="7496" y="14981"/>
                      </a:lnTo>
                      <a:lnTo>
                        <a:pt x="13341" y="14981"/>
                      </a:lnTo>
                      <a:lnTo>
                        <a:pt x="15247" y="14981"/>
                      </a:lnTo>
                    </a:path>
                  </a:pathLst>
                </a:custGeom>
                <a:solidFill>
                  <a:srgbClr val="FFFFCC"/>
                </a:solidFill>
                <a:ln w="9525">
                  <a:solidFill>
                    <a:srgbClr val="000000"/>
                  </a:solidFill>
                  <a:miter lim="800000"/>
                  <a:headEnd/>
                  <a:tailEnd/>
                </a:ln>
              </p:spPr>
              <p:txBody>
                <a:bodyPr/>
                <a:lstStyle/>
                <a:p>
                  <a:endParaRPr lang="en-MY"/>
                </a:p>
              </p:txBody>
            </p:sp>
            <p:sp>
              <p:nvSpPr>
                <p:cNvPr id="334" name="server"/>
                <p:cNvSpPr>
                  <a:spLocks noEditPoints="1" noChangeArrowheads="1"/>
                </p:cNvSpPr>
                <p:nvPr/>
              </p:nvSpPr>
              <p:spPr bwMode="auto">
                <a:xfrm>
                  <a:off x="369" y="722"/>
                  <a:ext cx="184" cy="184"/>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61 w 21600"/>
                    <a:gd name="T17" fmla="*/ 22454 h 21600"/>
                    <a:gd name="T18" fmla="*/ 21069 w 21600"/>
                    <a:gd name="T19" fmla="*/ 28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a:lstStyle/>
                <a:p>
                  <a:endParaRPr lang="en-MY"/>
                </a:p>
              </p:txBody>
            </p:sp>
            <p:sp>
              <p:nvSpPr>
                <p:cNvPr id="335" name="computr2"/>
                <p:cNvSpPr>
                  <a:spLocks noEditPoints="1" noChangeArrowheads="1"/>
                </p:cNvSpPr>
                <p:nvPr/>
              </p:nvSpPr>
              <p:spPr bwMode="auto">
                <a:xfrm>
                  <a:off x="776" y="468"/>
                  <a:ext cx="184" cy="184"/>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36" name="computr2"/>
                <p:cNvSpPr>
                  <a:spLocks noEditPoints="1" noChangeArrowheads="1"/>
                </p:cNvSpPr>
                <p:nvPr/>
              </p:nvSpPr>
              <p:spPr bwMode="auto">
                <a:xfrm>
                  <a:off x="991" y="468"/>
                  <a:ext cx="184" cy="184"/>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37" name="computr2"/>
                <p:cNvSpPr>
                  <a:spLocks noEditPoints="1" noChangeArrowheads="1"/>
                </p:cNvSpPr>
                <p:nvPr/>
              </p:nvSpPr>
              <p:spPr bwMode="auto">
                <a:xfrm>
                  <a:off x="776" y="721"/>
                  <a:ext cx="184" cy="184"/>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38" name="Line 24"/>
                <p:cNvSpPr>
                  <a:spLocks noChangeShapeType="1"/>
                </p:cNvSpPr>
                <p:nvPr/>
              </p:nvSpPr>
              <p:spPr bwMode="auto">
                <a:xfrm>
                  <a:off x="337" y="685"/>
                  <a:ext cx="8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39" name="Line 25"/>
                <p:cNvSpPr>
                  <a:spLocks noChangeShapeType="1"/>
                </p:cNvSpPr>
                <p:nvPr/>
              </p:nvSpPr>
              <p:spPr bwMode="auto">
                <a:xfrm>
                  <a:off x="461" y="652"/>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40" name="Line 26"/>
                <p:cNvSpPr>
                  <a:spLocks noChangeShapeType="1"/>
                </p:cNvSpPr>
                <p:nvPr/>
              </p:nvSpPr>
              <p:spPr bwMode="auto">
                <a:xfrm>
                  <a:off x="681" y="652"/>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41" name="Line 27"/>
                <p:cNvSpPr>
                  <a:spLocks noChangeShapeType="1"/>
                </p:cNvSpPr>
                <p:nvPr/>
              </p:nvSpPr>
              <p:spPr bwMode="auto">
                <a:xfrm>
                  <a:off x="871" y="652"/>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42" name="Line 28"/>
                <p:cNvSpPr>
                  <a:spLocks noChangeShapeType="1"/>
                </p:cNvSpPr>
                <p:nvPr/>
              </p:nvSpPr>
              <p:spPr bwMode="auto">
                <a:xfrm>
                  <a:off x="1083" y="652"/>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43" name="Line 29"/>
                <p:cNvSpPr>
                  <a:spLocks noChangeShapeType="1"/>
                </p:cNvSpPr>
                <p:nvPr/>
              </p:nvSpPr>
              <p:spPr bwMode="auto">
                <a:xfrm>
                  <a:off x="871" y="685"/>
                  <a:ext cx="0" cy="3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44" name="Line 30"/>
                <p:cNvSpPr>
                  <a:spLocks noChangeShapeType="1"/>
                </p:cNvSpPr>
                <p:nvPr/>
              </p:nvSpPr>
              <p:spPr bwMode="auto">
                <a:xfrm>
                  <a:off x="681" y="689"/>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45" name="computr2"/>
                <p:cNvSpPr>
                  <a:spLocks noEditPoints="1" noChangeArrowheads="1"/>
                </p:cNvSpPr>
                <p:nvPr/>
              </p:nvSpPr>
              <p:spPr bwMode="auto">
                <a:xfrm>
                  <a:off x="592" y="721"/>
                  <a:ext cx="184" cy="184"/>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46" name="Line 32"/>
                <p:cNvSpPr>
                  <a:spLocks noChangeShapeType="1"/>
                </p:cNvSpPr>
                <p:nvPr/>
              </p:nvSpPr>
              <p:spPr bwMode="auto">
                <a:xfrm>
                  <a:off x="461" y="689"/>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nvGrpSpPr>
              <p:cNvPr id="318" name="Group 33"/>
              <p:cNvGrpSpPr>
                <a:grpSpLocks/>
              </p:cNvGrpSpPr>
              <p:nvPr/>
            </p:nvGrpSpPr>
            <p:grpSpPr bwMode="auto">
              <a:xfrm>
                <a:off x="3968" y="3569"/>
                <a:ext cx="594" cy="467"/>
                <a:chOff x="4420" y="2270"/>
                <a:chExt cx="594" cy="467"/>
              </a:xfrm>
            </p:grpSpPr>
            <p:sp>
              <p:nvSpPr>
                <p:cNvPr id="321" name="tower"/>
                <p:cNvSpPr>
                  <a:spLocks noEditPoints="1" noChangeArrowheads="1"/>
                </p:cNvSpPr>
                <p:nvPr/>
              </p:nvSpPr>
              <p:spPr bwMode="auto">
                <a:xfrm>
                  <a:off x="4467" y="2524"/>
                  <a:ext cx="95" cy="213"/>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MY"/>
                </a:p>
              </p:txBody>
            </p:sp>
            <p:sp>
              <p:nvSpPr>
                <p:cNvPr id="322" name="computr2"/>
                <p:cNvSpPr>
                  <a:spLocks noEditPoints="1" noChangeArrowheads="1"/>
                </p:cNvSpPr>
                <p:nvPr/>
              </p:nvSpPr>
              <p:spPr bwMode="auto">
                <a:xfrm>
                  <a:off x="4625" y="2270"/>
                  <a:ext cx="184" cy="184"/>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23" name="printer2"/>
                <p:cNvSpPr>
                  <a:spLocks noEditPoints="1" noChangeArrowheads="1"/>
                </p:cNvSpPr>
                <p:nvPr/>
              </p:nvSpPr>
              <p:spPr bwMode="auto">
                <a:xfrm>
                  <a:off x="4420" y="2362"/>
                  <a:ext cx="184" cy="92"/>
                </a:xfrm>
                <a:custGeom>
                  <a:avLst/>
                  <a:gdLst>
                    <a:gd name="T0" fmla="*/ 10673 w 21600"/>
                    <a:gd name="T1" fmla="*/ 0 h 21600"/>
                    <a:gd name="T2" fmla="*/ 19186 w 21600"/>
                    <a:gd name="T3" fmla="*/ 0 h 21600"/>
                    <a:gd name="T4" fmla="*/ 21600 w 21600"/>
                    <a:gd name="T5" fmla="*/ 4703 h 21600"/>
                    <a:gd name="T6" fmla="*/ 21600 w 21600"/>
                    <a:gd name="T7" fmla="*/ 10800 h 21600"/>
                    <a:gd name="T8" fmla="*/ 21600 w 21600"/>
                    <a:gd name="T9" fmla="*/ 16548 h 21600"/>
                    <a:gd name="T10" fmla="*/ 18042 w 21600"/>
                    <a:gd name="T11" fmla="*/ 21600 h 21600"/>
                    <a:gd name="T12" fmla="*/ 10673 w 21600"/>
                    <a:gd name="T13" fmla="*/ 21600 h 21600"/>
                    <a:gd name="T14" fmla="*/ 3176 w 21600"/>
                    <a:gd name="T15" fmla="*/ 21600 h 21600"/>
                    <a:gd name="T16" fmla="*/ 0 w 21600"/>
                    <a:gd name="T17" fmla="*/ 16548 h 21600"/>
                    <a:gd name="T18" fmla="*/ 0 w 21600"/>
                    <a:gd name="T19" fmla="*/ 10800 h 21600"/>
                    <a:gd name="T20" fmla="*/ 0 w 21600"/>
                    <a:gd name="T21" fmla="*/ 4703 h 21600"/>
                    <a:gd name="T22" fmla="*/ 2414 w 21600"/>
                    <a:gd name="T23" fmla="*/ 0 h 21600"/>
                    <a:gd name="T24" fmla="*/ 1397 w 21600"/>
                    <a:gd name="T25" fmla="*/ 23298 h 21600"/>
                    <a:gd name="T26" fmla="*/ 20266 w 21600"/>
                    <a:gd name="T27" fmla="*/ 3113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10673" y="0"/>
                      </a:moveTo>
                      <a:lnTo>
                        <a:pt x="19186" y="0"/>
                      </a:lnTo>
                      <a:lnTo>
                        <a:pt x="21600" y="4703"/>
                      </a:lnTo>
                      <a:lnTo>
                        <a:pt x="21600" y="10800"/>
                      </a:lnTo>
                      <a:lnTo>
                        <a:pt x="21600" y="16548"/>
                      </a:lnTo>
                      <a:lnTo>
                        <a:pt x="18042" y="16548"/>
                      </a:lnTo>
                      <a:lnTo>
                        <a:pt x="18042" y="21600"/>
                      </a:lnTo>
                      <a:lnTo>
                        <a:pt x="10673" y="21600"/>
                      </a:lnTo>
                      <a:lnTo>
                        <a:pt x="3176" y="21600"/>
                      </a:lnTo>
                      <a:lnTo>
                        <a:pt x="3176" y="16548"/>
                      </a:lnTo>
                      <a:lnTo>
                        <a:pt x="0" y="16548"/>
                      </a:lnTo>
                      <a:lnTo>
                        <a:pt x="0" y="10800"/>
                      </a:lnTo>
                      <a:lnTo>
                        <a:pt x="0" y="4703"/>
                      </a:lnTo>
                      <a:lnTo>
                        <a:pt x="2414" y="0"/>
                      </a:lnTo>
                      <a:lnTo>
                        <a:pt x="10673" y="0"/>
                      </a:lnTo>
                      <a:close/>
                    </a:path>
                    <a:path w="21600" h="21600" extrusionOk="0">
                      <a:moveTo>
                        <a:pt x="0" y="4703"/>
                      </a:moveTo>
                      <a:lnTo>
                        <a:pt x="3558" y="4703"/>
                      </a:lnTo>
                      <a:lnTo>
                        <a:pt x="17026" y="4703"/>
                      </a:lnTo>
                      <a:lnTo>
                        <a:pt x="21600" y="4703"/>
                      </a:lnTo>
                      <a:lnTo>
                        <a:pt x="0" y="4703"/>
                      </a:lnTo>
                      <a:moveTo>
                        <a:pt x="16518" y="4703"/>
                      </a:moveTo>
                      <a:lnTo>
                        <a:pt x="16518" y="10452"/>
                      </a:lnTo>
                      <a:lnTo>
                        <a:pt x="0" y="10452"/>
                      </a:lnTo>
                      <a:moveTo>
                        <a:pt x="4320" y="16548"/>
                      </a:moveTo>
                      <a:lnTo>
                        <a:pt x="4320" y="17419"/>
                      </a:lnTo>
                      <a:lnTo>
                        <a:pt x="4320" y="20555"/>
                      </a:lnTo>
                      <a:lnTo>
                        <a:pt x="4320" y="21600"/>
                      </a:lnTo>
                      <a:lnTo>
                        <a:pt x="4320" y="16548"/>
                      </a:lnTo>
                      <a:moveTo>
                        <a:pt x="16899" y="16548"/>
                      </a:moveTo>
                      <a:lnTo>
                        <a:pt x="16899" y="17419"/>
                      </a:lnTo>
                      <a:lnTo>
                        <a:pt x="16899" y="20555"/>
                      </a:lnTo>
                      <a:lnTo>
                        <a:pt x="16899" y="21600"/>
                      </a:lnTo>
                      <a:lnTo>
                        <a:pt x="16899" y="16548"/>
                      </a:lnTo>
                      <a:moveTo>
                        <a:pt x="15247" y="14981"/>
                      </a:moveTo>
                      <a:lnTo>
                        <a:pt x="15247" y="10452"/>
                      </a:lnTo>
                      <a:lnTo>
                        <a:pt x="16899" y="16548"/>
                      </a:lnTo>
                      <a:lnTo>
                        <a:pt x="18042" y="16548"/>
                      </a:lnTo>
                      <a:lnTo>
                        <a:pt x="16518" y="10452"/>
                      </a:lnTo>
                      <a:moveTo>
                        <a:pt x="15247" y="14981"/>
                      </a:moveTo>
                      <a:lnTo>
                        <a:pt x="15247" y="14981"/>
                      </a:lnTo>
                      <a:lnTo>
                        <a:pt x="16772" y="17942"/>
                      </a:lnTo>
                      <a:lnTo>
                        <a:pt x="4447" y="17942"/>
                      </a:lnTo>
                      <a:lnTo>
                        <a:pt x="5972" y="14981"/>
                      </a:lnTo>
                      <a:lnTo>
                        <a:pt x="5972" y="10452"/>
                      </a:lnTo>
                      <a:lnTo>
                        <a:pt x="4320" y="16548"/>
                      </a:lnTo>
                      <a:lnTo>
                        <a:pt x="3176" y="16548"/>
                      </a:lnTo>
                      <a:lnTo>
                        <a:pt x="4701" y="10452"/>
                      </a:lnTo>
                      <a:moveTo>
                        <a:pt x="20202" y="5574"/>
                      </a:moveTo>
                      <a:lnTo>
                        <a:pt x="20711" y="5574"/>
                      </a:lnTo>
                      <a:lnTo>
                        <a:pt x="20711" y="7839"/>
                      </a:lnTo>
                      <a:lnTo>
                        <a:pt x="20202" y="7839"/>
                      </a:lnTo>
                      <a:lnTo>
                        <a:pt x="20202" y="5574"/>
                      </a:lnTo>
                      <a:moveTo>
                        <a:pt x="5972" y="14981"/>
                      </a:moveTo>
                      <a:lnTo>
                        <a:pt x="7496" y="14981"/>
                      </a:lnTo>
                      <a:lnTo>
                        <a:pt x="13341" y="14981"/>
                      </a:lnTo>
                      <a:lnTo>
                        <a:pt x="15247" y="14981"/>
                      </a:lnTo>
                    </a:path>
                  </a:pathLst>
                </a:custGeom>
                <a:solidFill>
                  <a:srgbClr val="FFFFCC"/>
                </a:solidFill>
                <a:ln w="9525">
                  <a:solidFill>
                    <a:srgbClr val="000000"/>
                  </a:solidFill>
                  <a:miter lim="800000"/>
                  <a:headEnd/>
                  <a:tailEnd/>
                </a:ln>
              </p:spPr>
              <p:txBody>
                <a:bodyPr/>
                <a:lstStyle/>
                <a:p>
                  <a:endParaRPr lang="en-MY"/>
                </a:p>
              </p:txBody>
            </p:sp>
            <p:sp>
              <p:nvSpPr>
                <p:cNvPr id="324" name="computr2"/>
                <p:cNvSpPr>
                  <a:spLocks noEditPoints="1" noChangeArrowheads="1"/>
                </p:cNvSpPr>
                <p:nvPr/>
              </p:nvSpPr>
              <p:spPr bwMode="auto">
                <a:xfrm>
                  <a:off x="4830" y="2523"/>
                  <a:ext cx="184" cy="184"/>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25" name="Line 38"/>
                <p:cNvSpPr>
                  <a:spLocks noChangeShapeType="1"/>
                </p:cNvSpPr>
                <p:nvPr/>
              </p:nvSpPr>
              <p:spPr bwMode="auto">
                <a:xfrm>
                  <a:off x="4447" y="2487"/>
                  <a:ext cx="5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26" name="Line 39"/>
                <p:cNvSpPr>
                  <a:spLocks noChangeShapeType="1"/>
                </p:cNvSpPr>
                <p:nvPr/>
              </p:nvSpPr>
              <p:spPr bwMode="auto">
                <a:xfrm>
                  <a:off x="4515" y="2454"/>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27" name="Line 40"/>
                <p:cNvSpPr>
                  <a:spLocks noChangeShapeType="1"/>
                </p:cNvSpPr>
                <p:nvPr/>
              </p:nvSpPr>
              <p:spPr bwMode="auto">
                <a:xfrm>
                  <a:off x="4735" y="2454"/>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28" name="Line 41"/>
                <p:cNvSpPr>
                  <a:spLocks noChangeShapeType="1"/>
                </p:cNvSpPr>
                <p:nvPr/>
              </p:nvSpPr>
              <p:spPr bwMode="auto">
                <a:xfrm>
                  <a:off x="4925" y="2487"/>
                  <a:ext cx="0" cy="3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29" name="Line 42"/>
                <p:cNvSpPr>
                  <a:spLocks noChangeShapeType="1"/>
                </p:cNvSpPr>
                <p:nvPr/>
              </p:nvSpPr>
              <p:spPr bwMode="auto">
                <a:xfrm>
                  <a:off x="4735" y="2491"/>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30" name="computr2"/>
                <p:cNvSpPr>
                  <a:spLocks noEditPoints="1" noChangeArrowheads="1"/>
                </p:cNvSpPr>
                <p:nvPr/>
              </p:nvSpPr>
              <p:spPr bwMode="auto">
                <a:xfrm>
                  <a:off x="4646" y="2523"/>
                  <a:ext cx="184" cy="184"/>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31" name="Line 44"/>
                <p:cNvSpPr>
                  <a:spLocks noChangeShapeType="1"/>
                </p:cNvSpPr>
                <p:nvPr/>
              </p:nvSpPr>
              <p:spPr bwMode="auto">
                <a:xfrm>
                  <a:off x="4515" y="2491"/>
                  <a:ext cx="0" cy="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sp>
            <p:nvSpPr>
              <p:cNvPr id="319" name="Line 45"/>
              <p:cNvSpPr>
                <a:spLocks noChangeShapeType="1"/>
              </p:cNvSpPr>
              <p:nvPr/>
            </p:nvSpPr>
            <p:spPr bwMode="auto">
              <a:xfrm>
                <a:off x="3341" y="3783"/>
                <a:ext cx="65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20" name="Cloud"/>
              <p:cNvSpPr>
                <a:spLocks noChangeAspect="1" noEditPoints="1" noChangeArrowheads="1"/>
              </p:cNvSpPr>
              <p:nvPr/>
            </p:nvSpPr>
            <p:spPr bwMode="auto">
              <a:xfrm>
                <a:off x="3422" y="3619"/>
                <a:ext cx="501" cy="33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a:lstStyle/>
              <a:p>
                <a:endParaRPr lang="en-MY"/>
              </a:p>
            </p:txBody>
          </p:sp>
        </p:grpSp>
        <p:sp>
          <p:nvSpPr>
            <p:cNvPr id="16" name="AutoShape 47"/>
            <p:cNvSpPr>
              <a:spLocks noChangeArrowheads="1"/>
            </p:cNvSpPr>
            <p:nvPr/>
          </p:nvSpPr>
          <p:spPr bwMode="auto">
            <a:xfrm rot="16200000" flipH="1">
              <a:off x="3531" y="450"/>
              <a:ext cx="257" cy="273"/>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7" name="AutoShape 48"/>
            <p:cNvSpPr>
              <a:spLocks noChangeArrowheads="1"/>
            </p:cNvSpPr>
            <p:nvPr/>
          </p:nvSpPr>
          <p:spPr bwMode="auto">
            <a:xfrm rot="5400000">
              <a:off x="1786" y="457"/>
              <a:ext cx="257" cy="273"/>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8" name="Text Box 49"/>
            <p:cNvSpPr txBox="1">
              <a:spLocks noChangeArrowheads="1"/>
            </p:cNvSpPr>
            <p:nvPr/>
          </p:nvSpPr>
          <p:spPr bwMode="auto">
            <a:xfrm>
              <a:off x="942" y="2024"/>
              <a:ext cx="3628"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GB" sz="1200"/>
                <a:t>Meeting users’ requirements and determining the high-level structure of the system</a:t>
              </a:r>
            </a:p>
          </p:txBody>
        </p:sp>
        <p:pic>
          <p:nvPicPr>
            <p:cNvPr id="19" name="Picture 50" descr="MCj0397412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4" y="1389"/>
              <a:ext cx="532" cy="431"/>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51"/>
            <p:cNvGrpSpPr>
              <a:grpSpLocks/>
            </p:cNvGrpSpPr>
            <p:nvPr/>
          </p:nvGrpSpPr>
          <p:grpSpPr bwMode="auto">
            <a:xfrm>
              <a:off x="2217" y="1461"/>
              <a:ext cx="436" cy="467"/>
              <a:chOff x="2304" y="2256"/>
              <a:chExt cx="672" cy="720"/>
            </a:xfrm>
          </p:grpSpPr>
          <p:grpSp>
            <p:nvGrpSpPr>
              <p:cNvPr id="308" name="Group 52"/>
              <p:cNvGrpSpPr>
                <a:grpSpLocks/>
              </p:cNvGrpSpPr>
              <p:nvPr/>
            </p:nvGrpSpPr>
            <p:grpSpPr bwMode="auto">
              <a:xfrm>
                <a:off x="2496" y="2256"/>
                <a:ext cx="480" cy="624"/>
                <a:chOff x="2304" y="2352"/>
                <a:chExt cx="480" cy="624"/>
              </a:xfrm>
            </p:grpSpPr>
            <p:sp>
              <p:nvSpPr>
                <p:cNvPr id="315" name="Rectangle 53"/>
                <p:cNvSpPr>
                  <a:spLocks noChangeArrowheads="1"/>
                </p:cNvSpPr>
                <p:nvPr/>
              </p:nvSpPr>
              <p:spPr bwMode="auto">
                <a:xfrm>
                  <a:off x="2304" y="2352"/>
                  <a:ext cx="480" cy="62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aphicFrame>
              <p:nvGraphicFramePr>
                <p:cNvPr id="316" name="Object 54"/>
                <p:cNvGraphicFramePr>
                  <a:graphicFrameLocks noChangeAspect="1"/>
                </p:cNvGraphicFramePr>
                <p:nvPr/>
              </p:nvGraphicFramePr>
              <p:xfrm>
                <a:off x="2352" y="2448"/>
                <a:ext cx="379" cy="254"/>
              </p:xfrm>
              <a:graphic>
                <a:graphicData uri="http://schemas.openxmlformats.org/presentationml/2006/ole">
                  <mc:AlternateContent xmlns:mc="http://schemas.openxmlformats.org/markup-compatibility/2006">
                    <mc:Choice xmlns:v="urn:schemas-microsoft-com:vml" Requires="v">
                      <p:oleObj r:id="rId6" imgW="3971544" imgH="2667000" progId="Word.Picture.8">
                        <p:embed/>
                      </p:oleObj>
                    </mc:Choice>
                    <mc:Fallback>
                      <p:oleObj r:id="rId6" imgW="3971544" imgH="2667000"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2" y="2448"/>
                              <a:ext cx="379"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09" name="Group 55"/>
              <p:cNvGrpSpPr>
                <a:grpSpLocks/>
              </p:cNvGrpSpPr>
              <p:nvPr/>
            </p:nvGrpSpPr>
            <p:grpSpPr bwMode="auto">
              <a:xfrm>
                <a:off x="2400" y="2304"/>
                <a:ext cx="480" cy="624"/>
                <a:chOff x="2304" y="2352"/>
                <a:chExt cx="480" cy="624"/>
              </a:xfrm>
            </p:grpSpPr>
            <p:sp>
              <p:nvSpPr>
                <p:cNvPr id="313" name="Rectangle 56"/>
                <p:cNvSpPr>
                  <a:spLocks noChangeArrowheads="1"/>
                </p:cNvSpPr>
                <p:nvPr/>
              </p:nvSpPr>
              <p:spPr bwMode="auto">
                <a:xfrm>
                  <a:off x="2304" y="2352"/>
                  <a:ext cx="480" cy="62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aphicFrame>
              <p:nvGraphicFramePr>
                <p:cNvPr id="314" name="Object 57"/>
                <p:cNvGraphicFramePr>
                  <a:graphicFrameLocks noChangeAspect="1"/>
                </p:cNvGraphicFramePr>
                <p:nvPr/>
              </p:nvGraphicFramePr>
              <p:xfrm>
                <a:off x="2352" y="2448"/>
                <a:ext cx="379" cy="254"/>
              </p:xfrm>
              <a:graphic>
                <a:graphicData uri="http://schemas.openxmlformats.org/presentationml/2006/ole">
                  <mc:AlternateContent xmlns:mc="http://schemas.openxmlformats.org/markup-compatibility/2006">
                    <mc:Choice xmlns:v="urn:schemas-microsoft-com:vml" Requires="v">
                      <p:oleObj r:id="rId6" imgW="3971544" imgH="2667000" progId="Word.Picture.8">
                        <p:embed/>
                      </p:oleObj>
                    </mc:Choice>
                    <mc:Fallback>
                      <p:oleObj r:id="rId6" imgW="3971544" imgH="2667000"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2" y="2448"/>
                              <a:ext cx="379"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10" name="Group 58"/>
              <p:cNvGrpSpPr>
                <a:grpSpLocks/>
              </p:cNvGrpSpPr>
              <p:nvPr/>
            </p:nvGrpSpPr>
            <p:grpSpPr bwMode="auto">
              <a:xfrm>
                <a:off x="2304" y="2352"/>
                <a:ext cx="480" cy="624"/>
                <a:chOff x="2304" y="2352"/>
                <a:chExt cx="480" cy="624"/>
              </a:xfrm>
            </p:grpSpPr>
            <p:sp>
              <p:nvSpPr>
                <p:cNvPr id="311" name="Rectangle 59"/>
                <p:cNvSpPr>
                  <a:spLocks noChangeArrowheads="1"/>
                </p:cNvSpPr>
                <p:nvPr/>
              </p:nvSpPr>
              <p:spPr bwMode="auto">
                <a:xfrm>
                  <a:off x="2304" y="2352"/>
                  <a:ext cx="480" cy="62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aphicFrame>
              <p:nvGraphicFramePr>
                <p:cNvPr id="312" name="Object 60"/>
                <p:cNvGraphicFramePr>
                  <a:graphicFrameLocks noChangeAspect="1"/>
                </p:cNvGraphicFramePr>
                <p:nvPr/>
              </p:nvGraphicFramePr>
              <p:xfrm>
                <a:off x="2352" y="2448"/>
                <a:ext cx="379" cy="254"/>
              </p:xfrm>
              <a:graphic>
                <a:graphicData uri="http://schemas.openxmlformats.org/presentationml/2006/ole">
                  <mc:AlternateContent xmlns:mc="http://schemas.openxmlformats.org/markup-compatibility/2006">
                    <mc:Choice xmlns:v="urn:schemas-microsoft-com:vml" Requires="v">
                      <p:oleObj r:id="rId6" imgW="3971544" imgH="2667000" progId="Word.Picture.8">
                        <p:embed/>
                      </p:oleObj>
                    </mc:Choice>
                    <mc:Fallback>
                      <p:oleObj r:id="rId6" imgW="3971544" imgH="2667000"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2" y="2448"/>
                              <a:ext cx="379"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21" name="Group 61"/>
            <p:cNvGrpSpPr>
              <a:grpSpLocks/>
            </p:cNvGrpSpPr>
            <p:nvPr/>
          </p:nvGrpSpPr>
          <p:grpSpPr bwMode="auto">
            <a:xfrm>
              <a:off x="3298" y="1466"/>
              <a:ext cx="343" cy="432"/>
              <a:chOff x="1762" y="940"/>
              <a:chExt cx="2292" cy="2888"/>
            </a:xfrm>
          </p:grpSpPr>
          <p:sp>
            <p:nvSpPr>
              <p:cNvPr id="289" name="Rectangle 62"/>
              <p:cNvSpPr>
                <a:spLocks noChangeArrowheads="1"/>
              </p:cNvSpPr>
              <p:nvPr/>
            </p:nvSpPr>
            <p:spPr bwMode="auto">
              <a:xfrm>
                <a:off x="1762" y="2136"/>
                <a:ext cx="1128" cy="352"/>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Agate Control Server</a:t>
                </a:r>
              </a:p>
            </p:txBody>
          </p:sp>
          <p:sp>
            <p:nvSpPr>
              <p:cNvPr id="290" name="Rectangle 63"/>
              <p:cNvSpPr>
                <a:spLocks noChangeArrowheads="1"/>
              </p:cNvSpPr>
              <p:nvPr/>
            </p:nvSpPr>
            <p:spPr bwMode="auto">
              <a:xfrm>
                <a:off x="1762" y="2056"/>
                <a:ext cx="496" cy="80"/>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91" name="Rectangle 64"/>
              <p:cNvSpPr>
                <a:spLocks noChangeArrowheads="1"/>
              </p:cNvSpPr>
              <p:nvPr/>
            </p:nvSpPr>
            <p:spPr bwMode="auto">
              <a:xfrm>
                <a:off x="1764" y="2696"/>
                <a:ext cx="2290" cy="540"/>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00"/>
              </a:p>
            </p:txBody>
          </p:sp>
          <p:sp>
            <p:nvSpPr>
              <p:cNvPr id="292" name="Rectangle 65"/>
              <p:cNvSpPr>
                <a:spLocks noChangeArrowheads="1"/>
              </p:cNvSpPr>
              <p:nvPr/>
            </p:nvSpPr>
            <p:spPr bwMode="auto">
              <a:xfrm>
                <a:off x="1764" y="2576"/>
                <a:ext cx="665" cy="120"/>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Agate Domain</a:t>
                </a:r>
              </a:p>
            </p:txBody>
          </p:sp>
          <p:sp>
            <p:nvSpPr>
              <p:cNvPr id="293" name="Line 66"/>
              <p:cNvSpPr>
                <a:spLocks noChangeShapeType="1"/>
              </p:cNvSpPr>
              <p:nvPr/>
            </p:nvSpPr>
            <p:spPr bwMode="auto">
              <a:xfrm>
                <a:off x="2744" y="2488"/>
                <a:ext cx="0" cy="208"/>
              </a:xfrm>
              <a:prstGeom prst="line">
                <a:avLst/>
              </a:prstGeom>
              <a:noFill/>
              <a:ln w="9525">
                <a:solidFill>
                  <a:schemeClr val="tx1"/>
                </a:solidFill>
                <a:prstDash val="dash"/>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94" name="Rectangle 67"/>
              <p:cNvSpPr>
                <a:spLocks noChangeArrowheads="1"/>
              </p:cNvSpPr>
              <p:nvPr/>
            </p:nvSpPr>
            <p:spPr bwMode="auto">
              <a:xfrm>
                <a:off x="2192" y="3476"/>
                <a:ext cx="1128" cy="352"/>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Agate Database</a:t>
                </a:r>
              </a:p>
            </p:txBody>
          </p:sp>
          <p:sp>
            <p:nvSpPr>
              <p:cNvPr id="295" name="Rectangle 68"/>
              <p:cNvSpPr>
                <a:spLocks noChangeArrowheads="1"/>
              </p:cNvSpPr>
              <p:nvPr/>
            </p:nvSpPr>
            <p:spPr bwMode="auto">
              <a:xfrm>
                <a:off x="2192" y="3396"/>
                <a:ext cx="496" cy="80"/>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96" name="Line 69"/>
              <p:cNvSpPr>
                <a:spLocks noChangeShapeType="1"/>
              </p:cNvSpPr>
              <p:nvPr/>
            </p:nvSpPr>
            <p:spPr bwMode="auto">
              <a:xfrm>
                <a:off x="2744" y="3268"/>
                <a:ext cx="0" cy="208"/>
              </a:xfrm>
              <a:prstGeom prst="line">
                <a:avLst/>
              </a:prstGeom>
              <a:noFill/>
              <a:ln w="9525">
                <a:solidFill>
                  <a:schemeClr val="tx1"/>
                </a:solidFill>
                <a:prstDash val="dash"/>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97" name="Rectangle 70"/>
              <p:cNvSpPr>
                <a:spLocks noChangeArrowheads="1"/>
              </p:cNvSpPr>
              <p:nvPr/>
            </p:nvSpPr>
            <p:spPr bwMode="auto">
              <a:xfrm>
                <a:off x="2192" y="1020"/>
                <a:ext cx="1128" cy="352"/>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Agate Boundary </a:t>
                </a:r>
              </a:p>
            </p:txBody>
          </p:sp>
          <p:sp>
            <p:nvSpPr>
              <p:cNvPr id="298" name="Rectangle 71"/>
              <p:cNvSpPr>
                <a:spLocks noChangeArrowheads="1"/>
              </p:cNvSpPr>
              <p:nvPr/>
            </p:nvSpPr>
            <p:spPr bwMode="auto">
              <a:xfrm>
                <a:off x="2192" y="940"/>
                <a:ext cx="496" cy="80"/>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99" name="Rectangle 72"/>
              <p:cNvSpPr>
                <a:spLocks noChangeArrowheads="1"/>
              </p:cNvSpPr>
              <p:nvPr/>
            </p:nvSpPr>
            <p:spPr bwMode="auto">
              <a:xfrm>
                <a:off x="2192" y="1580"/>
                <a:ext cx="1128" cy="352"/>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Agate Control Client</a:t>
                </a:r>
              </a:p>
            </p:txBody>
          </p:sp>
          <p:sp>
            <p:nvSpPr>
              <p:cNvPr id="300" name="Rectangle 73"/>
              <p:cNvSpPr>
                <a:spLocks noChangeArrowheads="1"/>
              </p:cNvSpPr>
              <p:nvPr/>
            </p:nvSpPr>
            <p:spPr bwMode="auto">
              <a:xfrm>
                <a:off x="2192" y="1500"/>
                <a:ext cx="496" cy="80"/>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01" name="Line 74"/>
              <p:cNvSpPr>
                <a:spLocks noChangeShapeType="1"/>
              </p:cNvSpPr>
              <p:nvPr/>
            </p:nvSpPr>
            <p:spPr bwMode="auto">
              <a:xfrm>
                <a:off x="2744" y="1372"/>
                <a:ext cx="0" cy="208"/>
              </a:xfrm>
              <a:prstGeom prst="line">
                <a:avLst/>
              </a:prstGeom>
              <a:noFill/>
              <a:ln w="9525">
                <a:solidFill>
                  <a:schemeClr val="tx1"/>
                </a:solidFill>
                <a:prstDash val="dash"/>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02" name="Line 75"/>
              <p:cNvSpPr>
                <a:spLocks noChangeShapeType="1"/>
              </p:cNvSpPr>
              <p:nvPr/>
            </p:nvSpPr>
            <p:spPr bwMode="auto">
              <a:xfrm>
                <a:off x="2744" y="1932"/>
                <a:ext cx="0" cy="208"/>
              </a:xfrm>
              <a:prstGeom prst="line">
                <a:avLst/>
              </a:prstGeom>
              <a:noFill/>
              <a:ln w="9525">
                <a:solidFill>
                  <a:schemeClr val="tx1"/>
                </a:solidFill>
                <a:prstDash val="dash"/>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03" name="Line 76"/>
              <p:cNvSpPr>
                <a:spLocks noChangeShapeType="1"/>
              </p:cNvSpPr>
              <p:nvPr/>
            </p:nvSpPr>
            <p:spPr bwMode="auto">
              <a:xfrm>
                <a:off x="3092" y="1932"/>
                <a:ext cx="0" cy="804"/>
              </a:xfrm>
              <a:prstGeom prst="line">
                <a:avLst/>
              </a:prstGeom>
              <a:noFill/>
              <a:ln w="9525">
                <a:solidFill>
                  <a:schemeClr val="tx1"/>
                </a:solidFill>
                <a:prstDash val="dash"/>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04" name="Rectangle 77"/>
              <p:cNvSpPr>
                <a:spLocks noChangeArrowheads="1"/>
              </p:cNvSpPr>
              <p:nvPr/>
            </p:nvSpPr>
            <p:spPr bwMode="auto">
              <a:xfrm>
                <a:off x="1835" y="2821"/>
                <a:ext cx="940" cy="352"/>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Agate Business</a:t>
                </a:r>
              </a:p>
              <a:p>
                <a:pPr algn="ctr"/>
                <a:r>
                  <a:rPr lang="en-GB" sz="200"/>
                  <a:t>Objects</a:t>
                </a:r>
              </a:p>
            </p:txBody>
          </p:sp>
          <p:sp>
            <p:nvSpPr>
              <p:cNvPr id="305" name="Rectangle 78"/>
              <p:cNvSpPr>
                <a:spLocks noChangeArrowheads="1"/>
              </p:cNvSpPr>
              <p:nvPr/>
            </p:nvSpPr>
            <p:spPr bwMode="auto">
              <a:xfrm>
                <a:off x="1835" y="2741"/>
                <a:ext cx="496" cy="80"/>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06" name="Rectangle 79"/>
              <p:cNvSpPr>
                <a:spLocks noChangeArrowheads="1"/>
              </p:cNvSpPr>
              <p:nvPr/>
            </p:nvSpPr>
            <p:spPr bwMode="auto">
              <a:xfrm>
                <a:off x="2977" y="2821"/>
                <a:ext cx="940" cy="352"/>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Agate Value</a:t>
                </a:r>
              </a:p>
              <a:p>
                <a:pPr algn="ctr"/>
                <a:r>
                  <a:rPr lang="en-GB" sz="200"/>
                  <a:t>Objects</a:t>
                </a:r>
              </a:p>
            </p:txBody>
          </p:sp>
          <p:sp>
            <p:nvSpPr>
              <p:cNvPr id="307" name="Rectangle 80"/>
              <p:cNvSpPr>
                <a:spLocks noChangeArrowheads="1"/>
              </p:cNvSpPr>
              <p:nvPr/>
            </p:nvSpPr>
            <p:spPr bwMode="auto">
              <a:xfrm>
                <a:off x="2977" y="2741"/>
                <a:ext cx="496" cy="80"/>
              </a:xfrm>
              <a:prstGeom prst="rect">
                <a:avLst/>
              </a:prstGeom>
              <a:solidFill>
                <a:schemeClr val="bg1"/>
              </a:solidFill>
              <a:ln w="9525">
                <a:solidFill>
                  <a:schemeClr val="tx1"/>
                </a:solidFill>
                <a:miter lim="800000"/>
                <a:headEnd type="none" w="lg" len="lg"/>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grpSp>
          <p:nvGrpSpPr>
            <p:cNvPr id="22" name="Group 81"/>
            <p:cNvGrpSpPr>
              <a:grpSpLocks/>
            </p:cNvGrpSpPr>
            <p:nvPr/>
          </p:nvGrpSpPr>
          <p:grpSpPr bwMode="auto">
            <a:xfrm>
              <a:off x="3932" y="1532"/>
              <a:ext cx="430" cy="308"/>
              <a:chOff x="495" y="420"/>
              <a:chExt cx="4275" cy="3066"/>
            </a:xfrm>
          </p:grpSpPr>
          <p:sp>
            <p:nvSpPr>
              <p:cNvPr id="217" name="Rectangle 82"/>
              <p:cNvSpPr>
                <a:spLocks noChangeArrowheads="1"/>
              </p:cNvSpPr>
              <p:nvPr/>
            </p:nvSpPr>
            <p:spPr bwMode="auto">
              <a:xfrm>
                <a:off x="883" y="997"/>
                <a:ext cx="487"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GB" sz="200">
                    <a:solidFill>
                      <a:srgbClr val="000000"/>
                    </a:solidFill>
                  </a:rPr>
                  <a:t>callServer</a:t>
                </a:r>
                <a:endParaRPr lang="en-GB" sz="200">
                  <a:latin typeface="Times New Roman" pitchFamily="18" charset="0"/>
                </a:endParaRPr>
              </a:p>
            </p:txBody>
          </p:sp>
          <p:sp>
            <p:nvSpPr>
              <p:cNvPr id="218" name="Rectangle 83"/>
              <p:cNvSpPr>
                <a:spLocks noChangeArrowheads="1"/>
              </p:cNvSpPr>
              <p:nvPr/>
            </p:nvSpPr>
            <p:spPr bwMode="auto">
              <a:xfrm>
                <a:off x="743" y="1216"/>
                <a:ext cx="945"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GB" sz="200">
                    <a:solidFill>
                      <a:srgbClr val="000000"/>
                    </a:solidFill>
                  </a:rPr>
                  <a:t>sendRequest</a:t>
                </a:r>
                <a:endParaRPr lang="en-GB" sz="200">
                  <a:latin typeface="Times New Roman" pitchFamily="18" charset="0"/>
                </a:endParaRPr>
              </a:p>
            </p:txBody>
          </p:sp>
          <p:sp>
            <p:nvSpPr>
              <p:cNvPr id="219" name="Rectangle 84"/>
              <p:cNvSpPr>
                <a:spLocks noChangeArrowheads="1"/>
              </p:cNvSpPr>
              <p:nvPr/>
            </p:nvSpPr>
            <p:spPr bwMode="auto">
              <a:xfrm>
                <a:off x="1549" y="1276"/>
                <a:ext cx="67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GB" sz="200">
                    <a:solidFill>
                      <a:srgbClr val="000000"/>
                    </a:solidFill>
                  </a:rPr>
                  <a:t>packData</a:t>
                </a:r>
                <a:endParaRPr lang="en-GB" sz="200">
                  <a:latin typeface="Times New Roman" pitchFamily="18" charset="0"/>
                </a:endParaRPr>
              </a:p>
            </p:txBody>
          </p:sp>
          <p:sp>
            <p:nvSpPr>
              <p:cNvPr id="220" name="Rectangle 85"/>
              <p:cNvSpPr>
                <a:spLocks noChangeArrowheads="1"/>
              </p:cNvSpPr>
              <p:nvPr/>
            </p:nvSpPr>
            <p:spPr bwMode="auto">
              <a:xfrm>
                <a:off x="595" y="698"/>
                <a:ext cx="532" cy="270"/>
              </a:xfrm>
              <a:prstGeom prst="rect">
                <a:avLst/>
              </a:prstGeom>
              <a:solidFill>
                <a:srgbClr val="FFFFFF"/>
              </a:solidFill>
              <a:ln w="12700">
                <a:solidFill>
                  <a:srgbClr val="000000"/>
                </a:solidFill>
                <a:miter lim="800000"/>
                <a:headEnd/>
                <a:tailEnd/>
              </a:ln>
            </p:spPr>
            <p:txBody>
              <a:bodyPr/>
              <a:lstStyle/>
              <a:p>
                <a:pPr algn="ctr"/>
                <a:r>
                  <a:rPr lang="en-GB" sz="200"/>
                  <a:t>:Client</a:t>
                </a:r>
              </a:p>
            </p:txBody>
          </p:sp>
          <p:sp>
            <p:nvSpPr>
              <p:cNvPr id="221" name="Line 86"/>
              <p:cNvSpPr>
                <a:spLocks noChangeShapeType="1"/>
              </p:cNvSpPr>
              <p:nvPr/>
            </p:nvSpPr>
            <p:spPr bwMode="auto">
              <a:xfrm>
                <a:off x="893" y="1334"/>
                <a:ext cx="707"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222" name="Group 87"/>
              <p:cNvGrpSpPr>
                <a:grpSpLocks/>
              </p:cNvGrpSpPr>
              <p:nvPr/>
            </p:nvGrpSpPr>
            <p:grpSpPr bwMode="auto">
              <a:xfrm>
                <a:off x="904" y="1133"/>
                <a:ext cx="380" cy="71"/>
                <a:chOff x="904" y="1133"/>
                <a:chExt cx="380" cy="71"/>
              </a:xfrm>
            </p:grpSpPr>
            <p:sp>
              <p:nvSpPr>
                <p:cNvPr id="286" name="Line 88"/>
                <p:cNvSpPr>
                  <a:spLocks noChangeShapeType="1"/>
                </p:cNvSpPr>
                <p:nvPr/>
              </p:nvSpPr>
              <p:spPr bwMode="auto">
                <a:xfrm>
                  <a:off x="904" y="1133"/>
                  <a:ext cx="379" cy="0"/>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87" name="Line 89"/>
                <p:cNvSpPr>
                  <a:spLocks noChangeShapeType="1"/>
                </p:cNvSpPr>
                <p:nvPr/>
              </p:nvSpPr>
              <p:spPr bwMode="auto">
                <a:xfrm>
                  <a:off x="1283" y="1133"/>
                  <a:ext cx="0" cy="71"/>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88" name="Line 90"/>
                <p:cNvSpPr>
                  <a:spLocks noChangeShapeType="1"/>
                </p:cNvSpPr>
                <p:nvPr/>
              </p:nvSpPr>
              <p:spPr bwMode="auto">
                <a:xfrm flipH="1">
                  <a:off x="906" y="1204"/>
                  <a:ext cx="378"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223" name="Group 91"/>
              <p:cNvGrpSpPr>
                <a:grpSpLocks/>
              </p:cNvGrpSpPr>
              <p:nvPr/>
            </p:nvGrpSpPr>
            <p:grpSpPr bwMode="auto">
              <a:xfrm>
                <a:off x="495" y="420"/>
                <a:ext cx="4275" cy="3066"/>
                <a:chOff x="495" y="420"/>
                <a:chExt cx="4275" cy="3066"/>
              </a:xfrm>
            </p:grpSpPr>
            <p:sp>
              <p:nvSpPr>
                <p:cNvPr id="281" name="Rectangle 92"/>
                <p:cNvSpPr>
                  <a:spLocks noChangeArrowheads="1"/>
                </p:cNvSpPr>
                <p:nvPr/>
              </p:nvSpPr>
              <p:spPr bwMode="auto">
                <a:xfrm>
                  <a:off x="495" y="422"/>
                  <a:ext cx="4275" cy="306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282" name="Line 93"/>
                <p:cNvSpPr>
                  <a:spLocks noChangeShapeType="1"/>
                </p:cNvSpPr>
                <p:nvPr/>
              </p:nvSpPr>
              <p:spPr bwMode="auto">
                <a:xfrm>
                  <a:off x="498" y="600"/>
                  <a:ext cx="1993" cy="0"/>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83" name="Line 94"/>
                <p:cNvSpPr>
                  <a:spLocks noChangeShapeType="1"/>
                </p:cNvSpPr>
                <p:nvPr/>
              </p:nvSpPr>
              <p:spPr bwMode="auto">
                <a:xfrm>
                  <a:off x="2564" y="420"/>
                  <a:ext cx="0" cy="120"/>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84" name="Line 95"/>
                <p:cNvSpPr>
                  <a:spLocks noChangeShapeType="1"/>
                </p:cNvSpPr>
                <p:nvPr/>
              </p:nvSpPr>
              <p:spPr bwMode="auto">
                <a:xfrm flipV="1">
                  <a:off x="2492" y="537"/>
                  <a:ext cx="75" cy="63"/>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85" name="Rectangle 96"/>
                <p:cNvSpPr>
                  <a:spLocks noChangeArrowheads="1"/>
                </p:cNvSpPr>
                <p:nvPr/>
              </p:nvSpPr>
              <p:spPr bwMode="auto">
                <a:xfrm>
                  <a:off x="545" y="450"/>
                  <a:ext cx="324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b="1">
                      <a:solidFill>
                        <a:srgbClr val="000000"/>
                      </a:solidFill>
                    </a:rPr>
                    <a:t>sd</a:t>
                  </a:r>
                  <a:r>
                    <a:rPr lang="en-GB" sz="200">
                      <a:solidFill>
                        <a:srgbClr val="000000"/>
                      </a:solidFill>
                    </a:rPr>
                    <a:t> Broker-based client–server communication</a:t>
                  </a:r>
                  <a:endParaRPr lang="en-GB" sz="200">
                    <a:latin typeface="Times New Roman" pitchFamily="18" charset="0"/>
                  </a:endParaRPr>
                </a:p>
              </p:txBody>
            </p:sp>
          </p:grpSp>
          <p:sp>
            <p:nvSpPr>
              <p:cNvPr id="224" name="Rectangle 97"/>
              <p:cNvSpPr>
                <a:spLocks noChangeArrowheads="1"/>
              </p:cNvSpPr>
              <p:nvPr/>
            </p:nvSpPr>
            <p:spPr bwMode="auto">
              <a:xfrm>
                <a:off x="1330" y="698"/>
                <a:ext cx="601" cy="270"/>
              </a:xfrm>
              <a:prstGeom prst="rect">
                <a:avLst/>
              </a:prstGeom>
              <a:solidFill>
                <a:srgbClr val="FFFFFF"/>
              </a:solidFill>
              <a:ln w="12700">
                <a:solidFill>
                  <a:srgbClr val="000000"/>
                </a:solidFill>
                <a:miter lim="800000"/>
                <a:headEnd/>
                <a:tailEnd/>
              </a:ln>
            </p:spPr>
            <p:txBody>
              <a:bodyPr/>
              <a:lstStyle/>
              <a:p>
                <a:pPr algn="ctr"/>
                <a:r>
                  <a:rPr lang="en-GB" sz="200"/>
                  <a:t>:ClientSide</a:t>
                </a:r>
              </a:p>
              <a:p>
                <a:pPr algn="ctr"/>
                <a:r>
                  <a:rPr lang="en-GB" sz="200"/>
                  <a:t>Proxy</a:t>
                </a:r>
              </a:p>
            </p:txBody>
          </p:sp>
          <p:sp>
            <p:nvSpPr>
              <p:cNvPr id="225" name="Rectangle 98"/>
              <p:cNvSpPr>
                <a:spLocks noChangeArrowheads="1"/>
              </p:cNvSpPr>
              <p:nvPr/>
            </p:nvSpPr>
            <p:spPr bwMode="auto">
              <a:xfrm>
                <a:off x="2293" y="698"/>
                <a:ext cx="601" cy="270"/>
              </a:xfrm>
              <a:prstGeom prst="rect">
                <a:avLst/>
              </a:prstGeom>
              <a:solidFill>
                <a:srgbClr val="FFFFFF"/>
              </a:solidFill>
              <a:ln w="12700">
                <a:solidFill>
                  <a:srgbClr val="000000"/>
                </a:solidFill>
                <a:miter lim="800000"/>
                <a:headEnd/>
                <a:tailEnd/>
              </a:ln>
            </p:spPr>
            <p:txBody>
              <a:bodyPr/>
              <a:lstStyle/>
              <a:p>
                <a:pPr algn="ctr"/>
                <a:r>
                  <a:rPr lang="en-GB" sz="200"/>
                  <a:t>:Broker</a:t>
                </a:r>
              </a:p>
            </p:txBody>
          </p:sp>
          <p:sp>
            <p:nvSpPr>
              <p:cNvPr id="226" name="Rectangle 99"/>
              <p:cNvSpPr>
                <a:spLocks noChangeArrowheads="1"/>
              </p:cNvSpPr>
              <p:nvPr/>
            </p:nvSpPr>
            <p:spPr bwMode="auto">
              <a:xfrm>
                <a:off x="3197" y="698"/>
                <a:ext cx="661" cy="270"/>
              </a:xfrm>
              <a:prstGeom prst="rect">
                <a:avLst/>
              </a:prstGeom>
              <a:solidFill>
                <a:srgbClr val="FFFFFF"/>
              </a:solidFill>
              <a:ln w="12700">
                <a:solidFill>
                  <a:srgbClr val="000000"/>
                </a:solidFill>
                <a:miter lim="800000"/>
                <a:headEnd/>
                <a:tailEnd/>
              </a:ln>
            </p:spPr>
            <p:txBody>
              <a:bodyPr/>
              <a:lstStyle/>
              <a:p>
                <a:pPr algn="ctr"/>
                <a:r>
                  <a:rPr lang="en-GB" sz="200"/>
                  <a:t>:ServerSide</a:t>
                </a:r>
              </a:p>
              <a:p>
                <a:pPr algn="ctr"/>
                <a:r>
                  <a:rPr lang="en-GB" sz="200"/>
                  <a:t>Proxy</a:t>
                </a:r>
              </a:p>
            </p:txBody>
          </p:sp>
          <p:sp>
            <p:nvSpPr>
              <p:cNvPr id="227" name="Rectangle 100"/>
              <p:cNvSpPr>
                <a:spLocks noChangeArrowheads="1"/>
              </p:cNvSpPr>
              <p:nvPr/>
            </p:nvSpPr>
            <p:spPr bwMode="auto">
              <a:xfrm>
                <a:off x="4110" y="698"/>
                <a:ext cx="532" cy="270"/>
              </a:xfrm>
              <a:prstGeom prst="rect">
                <a:avLst/>
              </a:prstGeom>
              <a:solidFill>
                <a:srgbClr val="FFFFFF"/>
              </a:solidFill>
              <a:ln w="12700">
                <a:solidFill>
                  <a:srgbClr val="000000"/>
                </a:solidFill>
                <a:miter lim="800000"/>
                <a:headEnd/>
                <a:tailEnd/>
              </a:ln>
            </p:spPr>
            <p:txBody>
              <a:bodyPr/>
              <a:lstStyle/>
              <a:p>
                <a:pPr algn="ctr"/>
                <a:r>
                  <a:rPr lang="en-GB" sz="200"/>
                  <a:t>:Server</a:t>
                </a:r>
              </a:p>
            </p:txBody>
          </p:sp>
          <p:grpSp>
            <p:nvGrpSpPr>
              <p:cNvPr id="228" name="Group 101"/>
              <p:cNvGrpSpPr>
                <a:grpSpLocks/>
              </p:cNvGrpSpPr>
              <p:nvPr/>
            </p:nvGrpSpPr>
            <p:grpSpPr bwMode="auto">
              <a:xfrm>
                <a:off x="875" y="968"/>
                <a:ext cx="3499" cy="2488"/>
                <a:chOff x="875" y="968"/>
                <a:chExt cx="3499" cy="2416"/>
              </a:xfrm>
            </p:grpSpPr>
            <p:sp>
              <p:nvSpPr>
                <p:cNvPr id="276" name="Line 102"/>
                <p:cNvSpPr>
                  <a:spLocks noChangeShapeType="1"/>
                </p:cNvSpPr>
                <p:nvPr/>
              </p:nvSpPr>
              <p:spPr bwMode="auto">
                <a:xfrm>
                  <a:off x="1624" y="968"/>
                  <a:ext cx="0" cy="2401"/>
                </a:xfrm>
                <a:prstGeom prst="line">
                  <a:avLst/>
                </a:prstGeom>
                <a:noFill/>
                <a:ln w="12700">
                  <a:solidFill>
                    <a:schemeClr val="tx1"/>
                  </a:solidFill>
                  <a:prstDash val="dash"/>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77" name="Line 103"/>
                <p:cNvSpPr>
                  <a:spLocks noChangeShapeType="1"/>
                </p:cNvSpPr>
                <p:nvPr/>
              </p:nvSpPr>
              <p:spPr bwMode="auto">
                <a:xfrm>
                  <a:off x="3559" y="983"/>
                  <a:ext cx="0" cy="2401"/>
                </a:xfrm>
                <a:prstGeom prst="line">
                  <a:avLst/>
                </a:prstGeom>
                <a:noFill/>
                <a:ln w="12700">
                  <a:solidFill>
                    <a:schemeClr val="tx1"/>
                  </a:solidFill>
                  <a:prstDash val="dash"/>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78" name="Line 104"/>
                <p:cNvSpPr>
                  <a:spLocks noChangeShapeType="1"/>
                </p:cNvSpPr>
                <p:nvPr/>
              </p:nvSpPr>
              <p:spPr bwMode="auto">
                <a:xfrm>
                  <a:off x="875" y="978"/>
                  <a:ext cx="0" cy="2401"/>
                </a:xfrm>
                <a:prstGeom prst="line">
                  <a:avLst/>
                </a:prstGeom>
                <a:noFill/>
                <a:ln w="12700">
                  <a:solidFill>
                    <a:schemeClr val="tx1"/>
                  </a:solidFill>
                  <a:prstDash val="dash"/>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79" name="Line 105"/>
                <p:cNvSpPr>
                  <a:spLocks noChangeShapeType="1"/>
                </p:cNvSpPr>
                <p:nvPr/>
              </p:nvSpPr>
              <p:spPr bwMode="auto">
                <a:xfrm>
                  <a:off x="2607" y="968"/>
                  <a:ext cx="0" cy="2401"/>
                </a:xfrm>
                <a:prstGeom prst="line">
                  <a:avLst/>
                </a:prstGeom>
                <a:noFill/>
                <a:ln w="12700">
                  <a:solidFill>
                    <a:schemeClr val="tx1"/>
                  </a:solidFill>
                  <a:prstDash val="dash"/>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80" name="Line 106"/>
                <p:cNvSpPr>
                  <a:spLocks noChangeShapeType="1"/>
                </p:cNvSpPr>
                <p:nvPr/>
              </p:nvSpPr>
              <p:spPr bwMode="auto">
                <a:xfrm>
                  <a:off x="4374" y="983"/>
                  <a:ext cx="0" cy="2401"/>
                </a:xfrm>
                <a:prstGeom prst="line">
                  <a:avLst/>
                </a:prstGeom>
                <a:noFill/>
                <a:ln w="12700">
                  <a:solidFill>
                    <a:schemeClr val="tx1"/>
                  </a:solidFill>
                  <a:prstDash val="dash"/>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229" name="Rectangle 107"/>
              <p:cNvSpPr>
                <a:spLocks noChangeArrowheads="1"/>
              </p:cNvSpPr>
              <p:nvPr/>
            </p:nvSpPr>
            <p:spPr bwMode="auto">
              <a:xfrm>
                <a:off x="1509" y="1515"/>
                <a:ext cx="94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GB" sz="200">
                    <a:solidFill>
                      <a:srgbClr val="000000"/>
                    </a:solidFill>
                  </a:rPr>
                  <a:t>sendRequest</a:t>
                </a:r>
                <a:endParaRPr lang="en-GB" sz="200">
                  <a:latin typeface="Times New Roman" pitchFamily="18" charset="0"/>
                </a:endParaRPr>
              </a:p>
            </p:txBody>
          </p:sp>
          <p:sp>
            <p:nvSpPr>
              <p:cNvPr id="230" name="Line 108"/>
              <p:cNvSpPr>
                <a:spLocks noChangeShapeType="1"/>
              </p:cNvSpPr>
              <p:nvPr/>
            </p:nvSpPr>
            <p:spPr bwMode="auto">
              <a:xfrm>
                <a:off x="1635" y="1632"/>
                <a:ext cx="938"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31" name="Rectangle 109"/>
              <p:cNvSpPr>
                <a:spLocks noChangeArrowheads="1"/>
              </p:cNvSpPr>
              <p:nvPr/>
            </p:nvSpPr>
            <p:spPr bwMode="auto">
              <a:xfrm>
                <a:off x="2523" y="1565"/>
                <a:ext cx="72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GB" sz="200">
                    <a:solidFill>
                      <a:srgbClr val="000000"/>
                    </a:solidFill>
                  </a:rPr>
                  <a:t>findServer</a:t>
                </a:r>
                <a:endParaRPr lang="en-GB" sz="200">
                  <a:latin typeface="Times New Roman" pitchFamily="18" charset="0"/>
                </a:endParaRPr>
              </a:p>
            </p:txBody>
          </p:sp>
          <p:sp>
            <p:nvSpPr>
              <p:cNvPr id="232" name="Rectangle 110"/>
              <p:cNvSpPr>
                <a:spLocks noChangeArrowheads="1"/>
              </p:cNvSpPr>
              <p:nvPr/>
            </p:nvSpPr>
            <p:spPr bwMode="auto">
              <a:xfrm>
                <a:off x="2453" y="1814"/>
                <a:ext cx="10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GB" sz="200">
                    <a:solidFill>
                      <a:srgbClr val="000000"/>
                    </a:solidFill>
                  </a:rPr>
                  <a:t>requestService</a:t>
                </a:r>
                <a:endParaRPr lang="en-GB" sz="200">
                  <a:latin typeface="Times New Roman" pitchFamily="18" charset="0"/>
                </a:endParaRPr>
              </a:p>
            </p:txBody>
          </p:sp>
          <p:sp>
            <p:nvSpPr>
              <p:cNvPr id="233" name="Line 111"/>
              <p:cNvSpPr>
                <a:spLocks noChangeShapeType="1"/>
              </p:cNvSpPr>
              <p:nvPr/>
            </p:nvSpPr>
            <p:spPr bwMode="auto">
              <a:xfrm>
                <a:off x="2608" y="1930"/>
                <a:ext cx="926"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34" name="Rectangle 112"/>
              <p:cNvSpPr>
                <a:spLocks noChangeArrowheads="1"/>
              </p:cNvSpPr>
              <p:nvPr/>
            </p:nvSpPr>
            <p:spPr bwMode="auto">
              <a:xfrm>
                <a:off x="3616" y="1854"/>
                <a:ext cx="8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unpackData</a:t>
                </a:r>
                <a:endParaRPr lang="en-GB" sz="200">
                  <a:latin typeface="Times New Roman" pitchFamily="18" charset="0"/>
                </a:endParaRPr>
              </a:p>
            </p:txBody>
          </p:sp>
          <p:sp>
            <p:nvSpPr>
              <p:cNvPr id="235" name="Rectangle 113"/>
              <p:cNvSpPr>
                <a:spLocks noChangeArrowheads="1"/>
              </p:cNvSpPr>
              <p:nvPr/>
            </p:nvSpPr>
            <p:spPr bwMode="auto">
              <a:xfrm>
                <a:off x="3606" y="2102"/>
                <a:ext cx="50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service</a:t>
                </a:r>
                <a:endParaRPr lang="en-GB" sz="200">
                  <a:latin typeface="Times New Roman" pitchFamily="18" charset="0"/>
                </a:endParaRPr>
              </a:p>
            </p:txBody>
          </p:sp>
          <p:sp>
            <p:nvSpPr>
              <p:cNvPr id="236" name="Line 114"/>
              <p:cNvSpPr>
                <a:spLocks noChangeShapeType="1"/>
              </p:cNvSpPr>
              <p:nvPr/>
            </p:nvSpPr>
            <p:spPr bwMode="auto">
              <a:xfrm>
                <a:off x="3552" y="2218"/>
                <a:ext cx="807"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37" name="Rectangle 115"/>
              <p:cNvSpPr>
                <a:spLocks noChangeArrowheads="1"/>
              </p:cNvSpPr>
              <p:nvPr/>
            </p:nvSpPr>
            <p:spPr bwMode="auto">
              <a:xfrm>
                <a:off x="3616" y="2381"/>
                <a:ext cx="67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packData</a:t>
                </a:r>
                <a:endParaRPr lang="en-GB" sz="200">
                  <a:latin typeface="Times New Roman" pitchFamily="18" charset="0"/>
                </a:endParaRPr>
              </a:p>
            </p:txBody>
          </p:sp>
          <p:sp>
            <p:nvSpPr>
              <p:cNvPr id="238" name="Line 116"/>
              <p:cNvSpPr>
                <a:spLocks noChangeShapeType="1"/>
              </p:cNvSpPr>
              <p:nvPr/>
            </p:nvSpPr>
            <p:spPr bwMode="auto">
              <a:xfrm>
                <a:off x="3588" y="2357"/>
                <a:ext cx="783"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39" name="Rectangle 117"/>
              <p:cNvSpPr>
                <a:spLocks noChangeArrowheads="1"/>
              </p:cNvSpPr>
              <p:nvPr/>
            </p:nvSpPr>
            <p:spPr bwMode="auto">
              <a:xfrm>
                <a:off x="3934" y="2242"/>
                <a:ext cx="65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response</a:t>
                </a:r>
                <a:endParaRPr lang="en-GB" sz="200">
                  <a:latin typeface="Times New Roman" pitchFamily="18" charset="0"/>
                </a:endParaRPr>
              </a:p>
            </p:txBody>
          </p:sp>
          <p:sp>
            <p:nvSpPr>
              <p:cNvPr id="240" name="Line 118"/>
              <p:cNvSpPr>
                <a:spLocks noChangeShapeType="1"/>
              </p:cNvSpPr>
              <p:nvPr/>
            </p:nvSpPr>
            <p:spPr bwMode="auto">
              <a:xfrm>
                <a:off x="2630" y="2675"/>
                <a:ext cx="9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1" name="Rectangle 119"/>
              <p:cNvSpPr>
                <a:spLocks noChangeArrowheads="1"/>
              </p:cNvSpPr>
              <p:nvPr/>
            </p:nvSpPr>
            <p:spPr bwMode="auto">
              <a:xfrm>
                <a:off x="2861" y="2560"/>
                <a:ext cx="107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sendResponse</a:t>
                </a:r>
                <a:endParaRPr lang="en-GB" sz="200">
                  <a:latin typeface="Times New Roman" pitchFamily="18" charset="0"/>
                </a:endParaRPr>
              </a:p>
            </p:txBody>
          </p:sp>
          <p:sp>
            <p:nvSpPr>
              <p:cNvPr id="242" name="Line 120"/>
              <p:cNvSpPr>
                <a:spLocks noChangeShapeType="1"/>
              </p:cNvSpPr>
              <p:nvPr/>
            </p:nvSpPr>
            <p:spPr bwMode="auto">
              <a:xfrm>
                <a:off x="1645" y="2804"/>
                <a:ext cx="97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3" name="Rectangle 121"/>
              <p:cNvSpPr>
                <a:spLocks noChangeArrowheads="1"/>
              </p:cNvSpPr>
              <p:nvPr/>
            </p:nvSpPr>
            <p:spPr bwMode="auto">
              <a:xfrm>
                <a:off x="1917" y="2690"/>
                <a:ext cx="107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sendResponse</a:t>
                </a:r>
                <a:endParaRPr lang="en-GB" sz="200">
                  <a:latin typeface="Times New Roman" pitchFamily="18" charset="0"/>
                </a:endParaRPr>
              </a:p>
            </p:txBody>
          </p:sp>
          <p:sp>
            <p:nvSpPr>
              <p:cNvPr id="244" name="Rectangle 122"/>
              <p:cNvSpPr>
                <a:spLocks noChangeArrowheads="1"/>
              </p:cNvSpPr>
              <p:nvPr/>
            </p:nvSpPr>
            <p:spPr bwMode="auto">
              <a:xfrm>
                <a:off x="1688" y="2839"/>
                <a:ext cx="8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unpackData</a:t>
                </a:r>
                <a:endParaRPr lang="en-GB" sz="200">
                  <a:latin typeface="Times New Roman" pitchFamily="18" charset="0"/>
                </a:endParaRPr>
              </a:p>
            </p:txBody>
          </p:sp>
          <p:sp>
            <p:nvSpPr>
              <p:cNvPr id="245" name="Line 123"/>
              <p:cNvSpPr>
                <a:spLocks noChangeShapeType="1"/>
              </p:cNvSpPr>
              <p:nvPr/>
            </p:nvSpPr>
            <p:spPr bwMode="auto">
              <a:xfrm>
                <a:off x="925" y="3195"/>
                <a:ext cx="677"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 name="Rectangle 124"/>
              <p:cNvSpPr>
                <a:spLocks noChangeArrowheads="1"/>
              </p:cNvSpPr>
              <p:nvPr/>
            </p:nvSpPr>
            <p:spPr bwMode="auto">
              <a:xfrm>
                <a:off x="1181" y="3078"/>
                <a:ext cx="65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response</a:t>
                </a:r>
                <a:endParaRPr lang="en-GB" sz="200">
                  <a:latin typeface="Times New Roman" pitchFamily="18" charset="0"/>
                </a:endParaRPr>
              </a:p>
            </p:txBody>
          </p:sp>
          <p:sp>
            <p:nvSpPr>
              <p:cNvPr id="247" name="Line 125"/>
              <p:cNvSpPr>
                <a:spLocks noChangeShapeType="1"/>
              </p:cNvSpPr>
              <p:nvPr/>
            </p:nvSpPr>
            <p:spPr bwMode="auto">
              <a:xfrm>
                <a:off x="2638" y="1697"/>
                <a:ext cx="379" cy="0"/>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 name="Line 126"/>
              <p:cNvSpPr>
                <a:spLocks noChangeShapeType="1"/>
              </p:cNvSpPr>
              <p:nvPr/>
            </p:nvSpPr>
            <p:spPr bwMode="auto">
              <a:xfrm>
                <a:off x="3017" y="1697"/>
                <a:ext cx="0" cy="71"/>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9" name="Line 127"/>
              <p:cNvSpPr>
                <a:spLocks noChangeShapeType="1"/>
              </p:cNvSpPr>
              <p:nvPr/>
            </p:nvSpPr>
            <p:spPr bwMode="auto">
              <a:xfrm flipH="1">
                <a:off x="2640" y="1768"/>
                <a:ext cx="378"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250" name="Group 128"/>
              <p:cNvGrpSpPr>
                <a:grpSpLocks/>
              </p:cNvGrpSpPr>
              <p:nvPr/>
            </p:nvGrpSpPr>
            <p:grpSpPr bwMode="auto">
              <a:xfrm>
                <a:off x="3589" y="1994"/>
                <a:ext cx="380" cy="71"/>
                <a:chOff x="3583" y="1994"/>
                <a:chExt cx="380" cy="71"/>
              </a:xfrm>
            </p:grpSpPr>
            <p:sp>
              <p:nvSpPr>
                <p:cNvPr id="273" name="Line 129"/>
                <p:cNvSpPr>
                  <a:spLocks noChangeShapeType="1"/>
                </p:cNvSpPr>
                <p:nvPr/>
              </p:nvSpPr>
              <p:spPr bwMode="auto">
                <a:xfrm>
                  <a:off x="3583" y="1994"/>
                  <a:ext cx="379" cy="0"/>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74" name="Line 130"/>
                <p:cNvSpPr>
                  <a:spLocks noChangeShapeType="1"/>
                </p:cNvSpPr>
                <p:nvPr/>
              </p:nvSpPr>
              <p:spPr bwMode="auto">
                <a:xfrm>
                  <a:off x="3956" y="1994"/>
                  <a:ext cx="0" cy="71"/>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75" name="Line 131"/>
                <p:cNvSpPr>
                  <a:spLocks noChangeShapeType="1"/>
                </p:cNvSpPr>
                <p:nvPr/>
              </p:nvSpPr>
              <p:spPr bwMode="auto">
                <a:xfrm flipH="1">
                  <a:off x="3585" y="2065"/>
                  <a:ext cx="378"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251" name="Group 132"/>
              <p:cNvGrpSpPr>
                <a:grpSpLocks/>
              </p:cNvGrpSpPr>
              <p:nvPr/>
            </p:nvGrpSpPr>
            <p:grpSpPr bwMode="auto">
              <a:xfrm>
                <a:off x="3595" y="2498"/>
                <a:ext cx="380" cy="71"/>
                <a:chOff x="3589" y="2498"/>
                <a:chExt cx="380" cy="71"/>
              </a:xfrm>
            </p:grpSpPr>
            <p:sp>
              <p:nvSpPr>
                <p:cNvPr id="270" name="Line 133"/>
                <p:cNvSpPr>
                  <a:spLocks noChangeShapeType="1"/>
                </p:cNvSpPr>
                <p:nvPr/>
              </p:nvSpPr>
              <p:spPr bwMode="auto">
                <a:xfrm>
                  <a:off x="3589" y="2498"/>
                  <a:ext cx="379" cy="0"/>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71" name="Line 134"/>
                <p:cNvSpPr>
                  <a:spLocks noChangeShapeType="1"/>
                </p:cNvSpPr>
                <p:nvPr/>
              </p:nvSpPr>
              <p:spPr bwMode="auto">
                <a:xfrm>
                  <a:off x="3962" y="2498"/>
                  <a:ext cx="0" cy="71"/>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72" name="Line 135"/>
                <p:cNvSpPr>
                  <a:spLocks noChangeShapeType="1"/>
                </p:cNvSpPr>
                <p:nvPr/>
              </p:nvSpPr>
              <p:spPr bwMode="auto">
                <a:xfrm flipH="1">
                  <a:off x="3591" y="2569"/>
                  <a:ext cx="378"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252" name="Rectangle 136"/>
              <p:cNvSpPr>
                <a:spLocks noChangeArrowheads="1"/>
              </p:cNvSpPr>
              <p:nvPr/>
            </p:nvSpPr>
            <p:spPr bwMode="auto">
              <a:xfrm>
                <a:off x="849" y="1027"/>
                <a:ext cx="56" cy="240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53" name="Rectangle 137"/>
              <p:cNvSpPr>
                <a:spLocks noChangeArrowheads="1"/>
              </p:cNvSpPr>
              <p:nvPr/>
            </p:nvSpPr>
            <p:spPr bwMode="auto">
              <a:xfrm>
                <a:off x="873" y="1207"/>
                <a:ext cx="56" cy="202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54" name="Rectangle 138"/>
              <p:cNvSpPr>
                <a:spLocks noChangeArrowheads="1"/>
              </p:cNvSpPr>
              <p:nvPr/>
            </p:nvSpPr>
            <p:spPr bwMode="auto">
              <a:xfrm>
                <a:off x="1599" y="1327"/>
                <a:ext cx="56" cy="202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55" name="Rectangle 139"/>
              <p:cNvSpPr>
                <a:spLocks noChangeArrowheads="1"/>
              </p:cNvSpPr>
              <p:nvPr/>
            </p:nvSpPr>
            <p:spPr bwMode="auto">
              <a:xfrm>
                <a:off x="1623" y="1489"/>
                <a:ext cx="56" cy="10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56" name="Rectangle 140"/>
              <p:cNvSpPr>
                <a:spLocks noChangeArrowheads="1"/>
              </p:cNvSpPr>
              <p:nvPr/>
            </p:nvSpPr>
            <p:spPr bwMode="auto">
              <a:xfrm>
                <a:off x="2577" y="1633"/>
                <a:ext cx="56" cy="41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57" name="Rectangle 141"/>
              <p:cNvSpPr>
                <a:spLocks noChangeArrowheads="1"/>
              </p:cNvSpPr>
              <p:nvPr/>
            </p:nvSpPr>
            <p:spPr bwMode="auto">
              <a:xfrm>
                <a:off x="2595" y="1771"/>
                <a:ext cx="56" cy="10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58" name="Rectangle 142"/>
              <p:cNvSpPr>
                <a:spLocks noChangeArrowheads="1"/>
              </p:cNvSpPr>
              <p:nvPr/>
            </p:nvSpPr>
            <p:spPr bwMode="auto">
              <a:xfrm>
                <a:off x="3525" y="1933"/>
                <a:ext cx="62" cy="75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59" name="Rectangle 143"/>
              <p:cNvSpPr>
                <a:spLocks noChangeArrowheads="1"/>
              </p:cNvSpPr>
              <p:nvPr/>
            </p:nvSpPr>
            <p:spPr bwMode="auto">
              <a:xfrm>
                <a:off x="3549" y="2065"/>
                <a:ext cx="56" cy="10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60" name="Rectangle 144"/>
              <p:cNvSpPr>
                <a:spLocks noChangeArrowheads="1"/>
              </p:cNvSpPr>
              <p:nvPr/>
            </p:nvSpPr>
            <p:spPr bwMode="auto">
              <a:xfrm>
                <a:off x="4353" y="2215"/>
                <a:ext cx="50" cy="14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61" name="Rectangle 145"/>
              <p:cNvSpPr>
                <a:spLocks noChangeArrowheads="1"/>
              </p:cNvSpPr>
              <p:nvPr/>
            </p:nvSpPr>
            <p:spPr bwMode="auto">
              <a:xfrm>
                <a:off x="1623" y="3037"/>
                <a:ext cx="56" cy="10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62" name="Line 146"/>
              <p:cNvSpPr>
                <a:spLocks noChangeShapeType="1"/>
              </p:cNvSpPr>
              <p:nvPr/>
            </p:nvSpPr>
            <p:spPr bwMode="auto">
              <a:xfrm>
                <a:off x="1657" y="1412"/>
                <a:ext cx="379" cy="0"/>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3" name="Line 147"/>
              <p:cNvSpPr>
                <a:spLocks noChangeShapeType="1"/>
              </p:cNvSpPr>
              <p:nvPr/>
            </p:nvSpPr>
            <p:spPr bwMode="auto">
              <a:xfrm>
                <a:off x="2030" y="1412"/>
                <a:ext cx="0" cy="71"/>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4" name="Line 148"/>
              <p:cNvSpPr>
                <a:spLocks noChangeShapeType="1"/>
              </p:cNvSpPr>
              <p:nvPr/>
            </p:nvSpPr>
            <p:spPr bwMode="auto">
              <a:xfrm flipH="1">
                <a:off x="1659" y="1483"/>
                <a:ext cx="378"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5" name="Line 149"/>
              <p:cNvSpPr>
                <a:spLocks noChangeShapeType="1"/>
              </p:cNvSpPr>
              <p:nvPr/>
            </p:nvSpPr>
            <p:spPr bwMode="auto">
              <a:xfrm>
                <a:off x="1657" y="2966"/>
                <a:ext cx="379" cy="0"/>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6" name="Line 150"/>
              <p:cNvSpPr>
                <a:spLocks noChangeShapeType="1"/>
              </p:cNvSpPr>
              <p:nvPr/>
            </p:nvSpPr>
            <p:spPr bwMode="auto">
              <a:xfrm>
                <a:off x="2030" y="2966"/>
                <a:ext cx="0" cy="71"/>
              </a:xfrm>
              <a:prstGeom prst="line">
                <a:avLst/>
              </a:prstGeom>
              <a:noFill/>
              <a:ln w="12700">
                <a:solidFill>
                  <a:schemeClr val="tx1"/>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7" name="Line 151"/>
              <p:cNvSpPr>
                <a:spLocks noChangeShapeType="1"/>
              </p:cNvSpPr>
              <p:nvPr/>
            </p:nvSpPr>
            <p:spPr bwMode="auto">
              <a:xfrm flipH="1">
                <a:off x="1659" y="3037"/>
                <a:ext cx="378" cy="0"/>
              </a:xfrm>
              <a:prstGeom prst="line">
                <a:avLst/>
              </a:prstGeom>
              <a:noFill/>
              <a:ln w="12700">
                <a:solidFill>
                  <a:schemeClr val="tx1"/>
                </a:solidFill>
                <a:round/>
                <a:headEnd type="non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68" name="Rectangle 152"/>
              <p:cNvSpPr>
                <a:spLocks noChangeArrowheads="1"/>
              </p:cNvSpPr>
              <p:nvPr/>
            </p:nvSpPr>
            <p:spPr bwMode="auto">
              <a:xfrm>
                <a:off x="2571" y="2665"/>
                <a:ext cx="62" cy="14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sp>
            <p:nvSpPr>
              <p:cNvPr id="269" name="Rectangle 153"/>
              <p:cNvSpPr>
                <a:spLocks noChangeArrowheads="1"/>
              </p:cNvSpPr>
              <p:nvPr/>
            </p:nvSpPr>
            <p:spPr bwMode="auto">
              <a:xfrm>
                <a:off x="3549" y="2569"/>
                <a:ext cx="56" cy="10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MY"/>
              </a:p>
            </p:txBody>
          </p:sp>
        </p:grpSp>
        <p:sp>
          <p:nvSpPr>
            <p:cNvPr id="23" name="AutoShape 154"/>
            <p:cNvSpPr>
              <a:spLocks noChangeArrowheads="1"/>
            </p:cNvSpPr>
            <p:nvPr/>
          </p:nvSpPr>
          <p:spPr bwMode="auto">
            <a:xfrm>
              <a:off x="1794" y="1587"/>
              <a:ext cx="279" cy="139"/>
            </a:xfrm>
            <a:prstGeom prst="rightArrow">
              <a:avLst>
                <a:gd name="adj1" fmla="val 50000"/>
                <a:gd name="adj2" fmla="val 50180"/>
              </a:avLst>
            </a:prstGeom>
            <a:solidFill>
              <a:schemeClr val="accent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 name="AutoShape 155"/>
            <p:cNvSpPr>
              <a:spLocks noChangeArrowheads="1"/>
            </p:cNvSpPr>
            <p:nvPr/>
          </p:nvSpPr>
          <p:spPr bwMode="auto">
            <a:xfrm>
              <a:off x="2835" y="1570"/>
              <a:ext cx="279" cy="139"/>
            </a:xfrm>
            <a:prstGeom prst="rightArrow">
              <a:avLst>
                <a:gd name="adj1" fmla="val 50000"/>
                <a:gd name="adj2" fmla="val 50180"/>
              </a:avLst>
            </a:prstGeom>
            <a:solidFill>
              <a:schemeClr val="accent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5" name="AutoShape 156"/>
            <p:cNvSpPr>
              <a:spLocks noChangeArrowheads="1"/>
            </p:cNvSpPr>
            <p:nvPr/>
          </p:nvSpPr>
          <p:spPr bwMode="auto">
            <a:xfrm>
              <a:off x="3708" y="1593"/>
              <a:ext cx="132" cy="132"/>
            </a:xfrm>
            <a:prstGeom prst="plus">
              <a:avLst>
                <a:gd name="adj" fmla="val 36111"/>
              </a:avLst>
            </a:prstGeom>
            <a:solidFill>
              <a:schemeClr val="accent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6" name="Text Box 157"/>
            <p:cNvSpPr txBox="1">
              <a:spLocks noChangeArrowheads="1"/>
            </p:cNvSpPr>
            <p:nvPr/>
          </p:nvSpPr>
          <p:spPr bwMode="auto">
            <a:xfrm>
              <a:off x="942" y="2976"/>
              <a:ext cx="3628"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GB" sz="1200" dirty="0"/>
                <a:t>Choosing technologies and frameworks, setting standards, and applying patterns</a:t>
              </a:r>
            </a:p>
          </p:txBody>
        </p:sp>
        <p:sp>
          <p:nvSpPr>
            <p:cNvPr id="27" name="AutoShape 158"/>
            <p:cNvSpPr>
              <a:spLocks noChangeArrowheads="1"/>
            </p:cNvSpPr>
            <p:nvPr/>
          </p:nvSpPr>
          <p:spPr bwMode="auto">
            <a:xfrm>
              <a:off x="486" y="886"/>
              <a:ext cx="444" cy="775"/>
            </a:xfrm>
            <a:prstGeom prst="curvedRightArrow">
              <a:avLst>
                <a:gd name="adj1" fmla="val 34910"/>
                <a:gd name="adj2" fmla="val 69820"/>
                <a:gd name="adj3" fmla="val 3333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8" name="AutoShape 159"/>
            <p:cNvSpPr>
              <a:spLocks noChangeArrowheads="1"/>
            </p:cNvSpPr>
            <p:nvPr/>
          </p:nvSpPr>
          <p:spPr bwMode="auto">
            <a:xfrm>
              <a:off x="486" y="1823"/>
              <a:ext cx="444" cy="775"/>
            </a:xfrm>
            <a:prstGeom prst="curvedRightArrow">
              <a:avLst>
                <a:gd name="adj1" fmla="val 34910"/>
                <a:gd name="adj2" fmla="val 69820"/>
                <a:gd name="adj3" fmla="val 3333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9" name="AutoShape 160"/>
            <p:cNvSpPr>
              <a:spLocks noChangeArrowheads="1"/>
            </p:cNvSpPr>
            <p:nvPr/>
          </p:nvSpPr>
          <p:spPr bwMode="auto">
            <a:xfrm>
              <a:off x="486" y="2761"/>
              <a:ext cx="444" cy="775"/>
            </a:xfrm>
            <a:prstGeom prst="curvedRightArrow">
              <a:avLst>
                <a:gd name="adj1" fmla="val 34910"/>
                <a:gd name="adj2" fmla="val 69820"/>
                <a:gd name="adj3" fmla="val 3333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0" name="Text Box 161"/>
            <p:cNvSpPr txBox="1">
              <a:spLocks noChangeArrowheads="1"/>
            </p:cNvSpPr>
            <p:nvPr/>
          </p:nvSpPr>
          <p:spPr bwMode="auto">
            <a:xfrm>
              <a:off x="975" y="3937"/>
              <a:ext cx="3628"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GB" sz="1200"/>
                <a:t>Designing user interfaces, interactions, classes, data storage</a:t>
              </a:r>
            </a:p>
          </p:txBody>
        </p:sp>
        <p:sp>
          <p:nvSpPr>
            <p:cNvPr id="31" name="AutoShape 162"/>
            <p:cNvSpPr>
              <a:spLocks noChangeArrowheads="1"/>
            </p:cNvSpPr>
            <p:nvPr/>
          </p:nvSpPr>
          <p:spPr bwMode="auto">
            <a:xfrm flipH="1">
              <a:off x="4604" y="890"/>
              <a:ext cx="444" cy="775"/>
            </a:xfrm>
            <a:prstGeom prst="curvedRightArrow">
              <a:avLst>
                <a:gd name="adj1" fmla="val 34910"/>
                <a:gd name="adj2" fmla="val 69820"/>
                <a:gd name="adj3" fmla="val 3333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2" name="AutoShape 163"/>
            <p:cNvSpPr>
              <a:spLocks noChangeArrowheads="1"/>
            </p:cNvSpPr>
            <p:nvPr/>
          </p:nvSpPr>
          <p:spPr bwMode="auto">
            <a:xfrm flipH="1">
              <a:off x="4604" y="1825"/>
              <a:ext cx="444" cy="775"/>
            </a:xfrm>
            <a:prstGeom prst="curvedRightArrow">
              <a:avLst>
                <a:gd name="adj1" fmla="val 34910"/>
                <a:gd name="adj2" fmla="val 69820"/>
                <a:gd name="adj3" fmla="val 3333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33" name="AutoShape 164"/>
            <p:cNvSpPr>
              <a:spLocks noChangeArrowheads="1"/>
            </p:cNvSpPr>
            <p:nvPr/>
          </p:nvSpPr>
          <p:spPr bwMode="auto">
            <a:xfrm flipH="1">
              <a:off x="4604" y="2761"/>
              <a:ext cx="444" cy="775"/>
            </a:xfrm>
            <a:prstGeom prst="curvedRightArrow">
              <a:avLst>
                <a:gd name="adj1" fmla="val 34910"/>
                <a:gd name="adj2" fmla="val 69820"/>
                <a:gd name="adj3" fmla="val 3333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34" name="Group 165"/>
            <p:cNvGrpSpPr>
              <a:grpSpLocks/>
            </p:cNvGrpSpPr>
            <p:nvPr/>
          </p:nvGrpSpPr>
          <p:grpSpPr bwMode="auto">
            <a:xfrm>
              <a:off x="2075" y="3504"/>
              <a:ext cx="542" cy="374"/>
              <a:chOff x="570" y="845"/>
              <a:chExt cx="3606" cy="2485"/>
            </a:xfrm>
          </p:grpSpPr>
          <p:sp>
            <p:nvSpPr>
              <p:cNvPr id="169" name="Line 166"/>
              <p:cNvSpPr>
                <a:spLocks noChangeShapeType="1"/>
              </p:cNvSpPr>
              <p:nvPr/>
            </p:nvSpPr>
            <p:spPr bwMode="auto">
              <a:xfrm>
                <a:off x="2640" y="1920"/>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70" name="Line 167"/>
              <p:cNvSpPr>
                <a:spLocks noChangeShapeType="1"/>
              </p:cNvSpPr>
              <p:nvPr/>
            </p:nvSpPr>
            <p:spPr bwMode="auto">
              <a:xfrm flipH="1">
                <a:off x="1872" y="1728"/>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71" name="Rectangle 168"/>
              <p:cNvSpPr>
                <a:spLocks noChangeArrowheads="1"/>
              </p:cNvSpPr>
              <p:nvPr/>
            </p:nvSpPr>
            <p:spPr bwMode="auto">
              <a:xfrm>
                <a:off x="2256" y="1152"/>
                <a:ext cx="720" cy="2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:CheckCampaign</a:t>
                </a:r>
                <a:br>
                  <a:rPr lang="en-GB" sz="200"/>
                </a:br>
                <a:r>
                  <a:rPr lang="en-GB" sz="200"/>
                  <a:t>Budget</a:t>
                </a:r>
              </a:p>
            </p:txBody>
          </p:sp>
          <p:sp>
            <p:nvSpPr>
              <p:cNvPr id="172" name="Line 169"/>
              <p:cNvSpPr>
                <a:spLocks noChangeShapeType="1"/>
              </p:cNvSpPr>
              <p:nvPr/>
            </p:nvSpPr>
            <p:spPr bwMode="auto">
              <a:xfrm>
                <a:off x="1506" y="1728"/>
                <a:ext cx="0" cy="155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73" name="Rectangle 170"/>
              <p:cNvSpPr>
                <a:spLocks noChangeArrowheads="1"/>
              </p:cNvSpPr>
              <p:nvPr/>
            </p:nvSpPr>
            <p:spPr bwMode="auto">
              <a:xfrm>
                <a:off x="1482" y="1728"/>
                <a:ext cx="54"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74" name="Line 171"/>
              <p:cNvSpPr>
                <a:spLocks noChangeShapeType="1"/>
              </p:cNvSpPr>
              <p:nvPr/>
            </p:nvSpPr>
            <p:spPr bwMode="auto">
              <a:xfrm flipH="1">
                <a:off x="2616" y="1392"/>
                <a:ext cx="0" cy="134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75" name="Rectangle 172"/>
              <p:cNvSpPr>
                <a:spLocks noChangeArrowheads="1"/>
              </p:cNvSpPr>
              <p:nvPr/>
            </p:nvSpPr>
            <p:spPr bwMode="auto">
              <a:xfrm>
                <a:off x="2592" y="1392"/>
                <a:ext cx="48" cy="189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76" name="Rectangle 173"/>
              <p:cNvSpPr>
                <a:spLocks noChangeArrowheads="1"/>
              </p:cNvSpPr>
              <p:nvPr/>
            </p:nvSpPr>
            <p:spPr bwMode="auto">
              <a:xfrm>
                <a:off x="862" y="1284"/>
                <a:ext cx="113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CheckCampaignBudget</a:t>
                </a:r>
                <a:endParaRPr lang="en-GB" sz="200">
                  <a:latin typeface="Times New Roman" pitchFamily="18" charset="0"/>
                </a:endParaRPr>
              </a:p>
            </p:txBody>
          </p:sp>
          <p:sp>
            <p:nvSpPr>
              <p:cNvPr id="177" name="Line 174"/>
              <p:cNvSpPr>
                <a:spLocks noChangeShapeType="1"/>
              </p:cNvSpPr>
              <p:nvPr/>
            </p:nvSpPr>
            <p:spPr bwMode="auto">
              <a:xfrm flipV="1">
                <a:off x="816" y="1392"/>
                <a:ext cx="14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78" name="Rectangle 175"/>
              <p:cNvSpPr>
                <a:spLocks noChangeArrowheads="1"/>
              </p:cNvSpPr>
              <p:nvPr/>
            </p:nvSpPr>
            <p:spPr bwMode="auto">
              <a:xfrm>
                <a:off x="1152" y="1488"/>
                <a:ext cx="720" cy="2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:CheckCampaign</a:t>
                </a:r>
                <a:br>
                  <a:rPr lang="en-GB" sz="200"/>
                </a:br>
                <a:r>
                  <a:rPr lang="en-GB" sz="200"/>
                  <a:t>BudgetUI</a:t>
                </a:r>
              </a:p>
            </p:txBody>
          </p:sp>
          <p:sp>
            <p:nvSpPr>
              <p:cNvPr id="179" name="Rectangle 176"/>
              <p:cNvSpPr>
                <a:spLocks noChangeArrowheads="1"/>
              </p:cNvSpPr>
              <p:nvPr/>
            </p:nvSpPr>
            <p:spPr bwMode="auto">
              <a:xfrm>
                <a:off x="1581" y="1769"/>
                <a:ext cx="965"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GB" sz="200">
                    <a:solidFill>
                      <a:srgbClr val="000000"/>
                    </a:solidFill>
                  </a:rPr>
                  <a:t>ccbUI := </a:t>
                </a:r>
              </a:p>
              <a:p>
                <a:r>
                  <a:rPr lang="en-GB" sz="200">
                    <a:solidFill>
                      <a:srgbClr val="000000"/>
                    </a:solidFill>
                  </a:rPr>
                  <a:t>CheckCampaignBudgetUI</a:t>
                </a:r>
                <a:endParaRPr lang="en-GB" sz="200">
                  <a:latin typeface="Times New Roman" pitchFamily="18" charset="0"/>
                </a:endParaRPr>
              </a:p>
            </p:txBody>
          </p:sp>
          <p:sp>
            <p:nvSpPr>
              <p:cNvPr id="180" name="Line 177"/>
              <p:cNvSpPr>
                <a:spLocks noChangeShapeType="1"/>
              </p:cNvSpPr>
              <p:nvPr/>
            </p:nvSpPr>
            <p:spPr bwMode="auto">
              <a:xfrm flipH="1">
                <a:off x="3720" y="1920"/>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81" name="Rectangle 178"/>
              <p:cNvSpPr>
                <a:spLocks noChangeArrowheads="1"/>
              </p:cNvSpPr>
              <p:nvPr/>
            </p:nvSpPr>
            <p:spPr bwMode="auto">
              <a:xfrm>
                <a:off x="3696" y="1926"/>
                <a:ext cx="48" cy="9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82" name="Rectangle 179"/>
              <p:cNvSpPr>
                <a:spLocks noChangeArrowheads="1"/>
              </p:cNvSpPr>
              <p:nvPr/>
            </p:nvSpPr>
            <p:spPr bwMode="auto">
              <a:xfrm>
                <a:off x="3456" y="1686"/>
                <a:ext cx="528" cy="2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:ListClients</a:t>
                </a:r>
              </a:p>
            </p:txBody>
          </p:sp>
          <p:sp>
            <p:nvSpPr>
              <p:cNvPr id="183" name="Rectangle 180"/>
              <p:cNvSpPr>
                <a:spLocks noChangeArrowheads="1"/>
              </p:cNvSpPr>
              <p:nvPr/>
            </p:nvSpPr>
            <p:spPr bwMode="auto">
              <a:xfrm>
                <a:off x="3696" y="2160"/>
                <a:ext cx="48" cy="52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84" name="Rectangle 181"/>
              <p:cNvSpPr>
                <a:spLocks noChangeArrowheads="1"/>
              </p:cNvSpPr>
              <p:nvPr/>
            </p:nvSpPr>
            <p:spPr bwMode="auto">
              <a:xfrm>
                <a:off x="2686" y="1809"/>
                <a:ext cx="49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ListClients</a:t>
                </a:r>
                <a:endParaRPr lang="en-GB" sz="200">
                  <a:latin typeface="Times New Roman" pitchFamily="18" charset="0"/>
                </a:endParaRPr>
              </a:p>
            </p:txBody>
          </p:sp>
          <p:sp>
            <p:nvSpPr>
              <p:cNvPr id="185" name="Line 182"/>
              <p:cNvSpPr>
                <a:spLocks noChangeShapeType="1"/>
              </p:cNvSpPr>
              <p:nvPr/>
            </p:nvSpPr>
            <p:spPr bwMode="auto">
              <a:xfrm>
                <a:off x="2640" y="2160"/>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86" name="Rectangle 183"/>
              <p:cNvSpPr>
                <a:spLocks noChangeArrowheads="1"/>
              </p:cNvSpPr>
              <p:nvPr/>
            </p:nvSpPr>
            <p:spPr bwMode="auto">
              <a:xfrm>
                <a:off x="2686" y="2055"/>
                <a:ext cx="984"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listAllClients( ccbUI )</a:t>
                </a:r>
                <a:endParaRPr lang="en-GB" sz="200">
                  <a:latin typeface="Times New Roman" pitchFamily="18" charset="0"/>
                </a:endParaRPr>
              </a:p>
            </p:txBody>
          </p:sp>
          <p:sp>
            <p:nvSpPr>
              <p:cNvPr id="187" name="Rectangle 184"/>
              <p:cNvSpPr>
                <a:spLocks noChangeArrowheads="1"/>
              </p:cNvSpPr>
              <p:nvPr/>
            </p:nvSpPr>
            <p:spPr bwMode="auto">
              <a:xfrm>
                <a:off x="1482" y="2364"/>
                <a:ext cx="4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88" name="Line 185"/>
              <p:cNvSpPr>
                <a:spLocks noChangeShapeType="1"/>
              </p:cNvSpPr>
              <p:nvPr/>
            </p:nvSpPr>
            <p:spPr bwMode="auto">
              <a:xfrm flipH="1">
                <a:off x="1536" y="2364"/>
                <a:ext cx="21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89" name="Rectangle 186"/>
              <p:cNvSpPr>
                <a:spLocks noChangeArrowheads="1"/>
              </p:cNvSpPr>
              <p:nvPr/>
            </p:nvSpPr>
            <p:spPr bwMode="auto">
              <a:xfrm>
                <a:off x="2679" y="2254"/>
                <a:ext cx="113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addClientName( name )</a:t>
                </a:r>
                <a:endParaRPr lang="en-GB" sz="200">
                  <a:latin typeface="Times New Roman" pitchFamily="18" charset="0"/>
                </a:endParaRPr>
              </a:p>
            </p:txBody>
          </p:sp>
          <p:sp>
            <p:nvSpPr>
              <p:cNvPr id="190" name="Rectangle 187"/>
              <p:cNvSpPr>
                <a:spLocks noChangeArrowheads="1"/>
              </p:cNvSpPr>
              <p:nvPr/>
            </p:nvSpPr>
            <p:spPr bwMode="auto">
              <a:xfrm>
                <a:off x="1920" y="2626"/>
                <a:ext cx="326"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enable</a:t>
                </a:r>
                <a:endParaRPr lang="en-GB" sz="200">
                  <a:latin typeface="Times New Roman" pitchFamily="18" charset="0"/>
                </a:endParaRPr>
              </a:p>
            </p:txBody>
          </p:sp>
          <p:sp>
            <p:nvSpPr>
              <p:cNvPr id="191" name="Line 188"/>
              <p:cNvSpPr>
                <a:spLocks noChangeShapeType="1"/>
              </p:cNvSpPr>
              <p:nvPr/>
            </p:nvSpPr>
            <p:spPr bwMode="auto">
              <a:xfrm flipH="1">
                <a:off x="3696" y="2592"/>
                <a:ext cx="9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92" name="Line 189"/>
              <p:cNvSpPr>
                <a:spLocks noChangeShapeType="1"/>
              </p:cNvSpPr>
              <p:nvPr/>
            </p:nvSpPr>
            <p:spPr bwMode="auto">
              <a:xfrm>
                <a:off x="3696" y="2592"/>
                <a:ext cx="96"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93" name="Rectangle 190"/>
              <p:cNvSpPr>
                <a:spLocks noChangeArrowheads="1"/>
              </p:cNvSpPr>
              <p:nvPr/>
            </p:nvSpPr>
            <p:spPr bwMode="auto">
              <a:xfrm>
                <a:off x="1482" y="2736"/>
                <a:ext cx="4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94" name="Line 191"/>
              <p:cNvSpPr>
                <a:spLocks noChangeShapeType="1"/>
              </p:cNvSpPr>
              <p:nvPr/>
            </p:nvSpPr>
            <p:spPr bwMode="auto">
              <a:xfrm flipH="1">
                <a:off x="1536" y="2736"/>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95" name="Rectangle 192"/>
              <p:cNvSpPr>
                <a:spLocks noChangeArrowheads="1"/>
              </p:cNvSpPr>
              <p:nvPr/>
            </p:nvSpPr>
            <p:spPr bwMode="auto">
              <a:xfrm>
                <a:off x="816" y="960"/>
                <a:ext cx="3360" cy="2370"/>
              </a:xfrm>
              <a:prstGeom prst="rect">
                <a:avLst/>
              </a:prstGeom>
              <a:noFill/>
              <a:ln w="9525">
                <a:solidFill>
                  <a:schemeClr val="tx1"/>
                </a:solidFill>
                <a:miter lim="800000"/>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MY"/>
              </a:p>
            </p:txBody>
          </p:sp>
          <p:sp>
            <p:nvSpPr>
              <p:cNvPr id="196" name="Text Box 193"/>
              <p:cNvSpPr txBox="1">
                <a:spLocks noChangeArrowheads="1"/>
              </p:cNvSpPr>
              <p:nvPr/>
            </p:nvSpPr>
            <p:spPr bwMode="auto">
              <a:xfrm>
                <a:off x="829" y="845"/>
                <a:ext cx="1098" cy="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00" b="1"/>
                  <a:t>sd </a:t>
                </a:r>
                <a:r>
                  <a:rPr lang="en-GB" sz="200"/>
                  <a:t>Check campaign budget</a:t>
                </a:r>
              </a:p>
            </p:txBody>
          </p:sp>
          <p:sp>
            <p:nvSpPr>
              <p:cNvPr id="197" name="Line 194"/>
              <p:cNvSpPr>
                <a:spLocks noChangeShapeType="1"/>
              </p:cNvSpPr>
              <p:nvPr/>
            </p:nvSpPr>
            <p:spPr bwMode="auto">
              <a:xfrm>
                <a:off x="818" y="1116"/>
                <a:ext cx="10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MY"/>
              </a:p>
            </p:txBody>
          </p:sp>
          <p:sp>
            <p:nvSpPr>
              <p:cNvPr id="198" name="Line 195"/>
              <p:cNvSpPr>
                <a:spLocks noChangeShapeType="1"/>
              </p:cNvSpPr>
              <p:nvPr/>
            </p:nvSpPr>
            <p:spPr bwMode="auto">
              <a:xfrm flipV="1">
                <a:off x="1834" y="1050"/>
                <a:ext cx="92" cy="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MY"/>
              </a:p>
            </p:txBody>
          </p:sp>
          <p:sp>
            <p:nvSpPr>
              <p:cNvPr id="199" name="Line 196"/>
              <p:cNvSpPr>
                <a:spLocks noChangeShapeType="1"/>
              </p:cNvSpPr>
              <p:nvPr/>
            </p:nvSpPr>
            <p:spPr bwMode="auto">
              <a:xfrm flipV="1">
                <a:off x="1928" y="958"/>
                <a:ext cx="0" cy="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MY"/>
              </a:p>
            </p:txBody>
          </p:sp>
          <p:sp>
            <p:nvSpPr>
              <p:cNvPr id="200" name="Rectangle 197"/>
              <p:cNvSpPr>
                <a:spLocks noChangeArrowheads="1"/>
              </p:cNvSpPr>
              <p:nvPr/>
            </p:nvSpPr>
            <p:spPr bwMode="auto">
              <a:xfrm>
                <a:off x="924" y="2203"/>
                <a:ext cx="3108" cy="341"/>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01" name="Text Box 198"/>
              <p:cNvSpPr txBox="1">
                <a:spLocks noChangeArrowheads="1"/>
              </p:cNvSpPr>
              <p:nvPr/>
            </p:nvSpPr>
            <p:spPr bwMode="auto">
              <a:xfrm>
                <a:off x="570" y="1968"/>
                <a:ext cx="978"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sz="200"/>
                  <a:t>loop</a:t>
                </a:r>
              </a:p>
            </p:txBody>
          </p:sp>
          <p:grpSp>
            <p:nvGrpSpPr>
              <p:cNvPr id="202" name="Group 199"/>
              <p:cNvGrpSpPr>
                <a:grpSpLocks/>
              </p:cNvGrpSpPr>
              <p:nvPr/>
            </p:nvGrpSpPr>
            <p:grpSpPr bwMode="auto">
              <a:xfrm>
                <a:off x="924" y="2203"/>
                <a:ext cx="397" cy="126"/>
                <a:chOff x="1424" y="1987"/>
                <a:chExt cx="397" cy="114"/>
              </a:xfrm>
            </p:grpSpPr>
            <p:sp>
              <p:nvSpPr>
                <p:cNvPr id="214" name="Line 200"/>
                <p:cNvSpPr>
                  <a:spLocks noChangeShapeType="1"/>
                </p:cNvSpPr>
                <p:nvPr/>
              </p:nvSpPr>
              <p:spPr bwMode="auto">
                <a:xfrm>
                  <a:off x="1424" y="2101"/>
                  <a:ext cx="3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15" name="Line 201"/>
                <p:cNvSpPr>
                  <a:spLocks noChangeShapeType="1"/>
                </p:cNvSpPr>
                <p:nvPr/>
              </p:nvSpPr>
              <p:spPr bwMode="auto">
                <a:xfrm>
                  <a:off x="1821" y="1987"/>
                  <a:ext cx="0" cy="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16" name="Line 202"/>
                <p:cNvSpPr>
                  <a:spLocks noChangeShapeType="1"/>
                </p:cNvSpPr>
                <p:nvPr/>
              </p:nvSpPr>
              <p:spPr bwMode="auto">
                <a:xfrm flipH="1">
                  <a:off x="1770" y="2053"/>
                  <a:ext cx="51" cy="4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sp>
            <p:nvSpPr>
              <p:cNvPr id="203" name="Text Box 203"/>
              <p:cNvSpPr txBox="1">
                <a:spLocks noChangeArrowheads="1"/>
              </p:cNvSpPr>
              <p:nvPr/>
            </p:nvSpPr>
            <p:spPr bwMode="auto">
              <a:xfrm>
                <a:off x="1488" y="2068"/>
                <a:ext cx="1251" cy="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sz="200"/>
                  <a:t>[For all clients] </a:t>
                </a:r>
              </a:p>
            </p:txBody>
          </p:sp>
          <p:sp>
            <p:nvSpPr>
              <p:cNvPr id="204" name="Line 204"/>
              <p:cNvSpPr>
                <a:spLocks noChangeShapeType="1"/>
              </p:cNvSpPr>
              <p:nvPr/>
            </p:nvSpPr>
            <p:spPr bwMode="auto">
              <a:xfrm>
                <a:off x="1536" y="1872"/>
                <a:ext cx="105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05" name="Rectangle 205"/>
              <p:cNvSpPr>
                <a:spLocks noChangeArrowheads="1"/>
              </p:cNvSpPr>
              <p:nvPr/>
            </p:nvSpPr>
            <p:spPr bwMode="auto">
              <a:xfrm>
                <a:off x="1974" y="1516"/>
                <a:ext cx="625" cy="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GB" sz="200">
                    <a:solidFill>
                      <a:srgbClr val="000000"/>
                    </a:solidFill>
                  </a:rPr>
                  <a:t>CheckCampaign</a:t>
                </a:r>
              </a:p>
              <a:p>
                <a:r>
                  <a:rPr lang="en-GB" sz="200">
                    <a:solidFill>
                      <a:srgbClr val="000000"/>
                    </a:solidFill>
                  </a:rPr>
                  <a:t>BudgetUI( this )</a:t>
                </a:r>
                <a:endParaRPr lang="en-GB" sz="200">
                  <a:latin typeface="Times New Roman" pitchFamily="18" charset="0"/>
                </a:endParaRPr>
              </a:p>
            </p:txBody>
          </p:sp>
          <p:sp>
            <p:nvSpPr>
              <p:cNvPr id="206" name="Rectangle 206"/>
              <p:cNvSpPr>
                <a:spLocks noChangeArrowheads="1"/>
              </p:cNvSpPr>
              <p:nvPr/>
            </p:nvSpPr>
            <p:spPr bwMode="auto">
              <a:xfrm>
                <a:off x="2819" y="1922"/>
                <a:ext cx="71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lc := ListClients</a:t>
                </a:r>
                <a:endParaRPr lang="en-GB" sz="200">
                  <a:latin typeface="Times New Roman" pitchFamily="18" charset="0"/>
                </a:endParaRPr>
              </a:p>
            </p:txBody>
          </p:sp>
          <p:sp>
            <p:nvSpPr>
              <p:cNvPr id="207" name="Line 207"/>
              <p:cNvSpPr>
                <a:spLocks noChangeShapeType="1"/>
              </p:cNvSpPr>
              <p:nvPr/>
            </p:nvSpPr>
            <p:spPr bwMode="auto">
              <a:xfrm flipH="1">
                <a:off x="2640" y="2016"/>
                <a:ext cx="105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08" name="Rectangle 208"/>
              <p:cNvSpPr>
                <a:spLocks noChangeArrowheads="1"/>
              </p:cNvSpPr>
              <p:nvPr/>
            </p:nvSpPr>
            <p:spPr bwMode="auto">
              <a:xfrm>
                <a:off x="1681" y="3005"/>
                <a:ext cx="95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disableCheckButton</a:t>
                </a:r>
                <a:endParaRPr lang="en-GB" sz="200">
                  <a:latin typeface="Times New Roman" pitchFamily="18" charset="0"/>
                </a:endParaRPr>
              </a:p>
            </p:txBody>
          </p:sp>
          <p:sp>
            <p:nvSpPr>
              <p:cNvPr id="209" name="Rectangle 209"/>
              <p:cNvSpPr>
                <a:spLocks noChangeArrowheads="1"/>
              </p:cNvSpPr>
              <p:nvPr/>
            </p:nvSpPr>
            <p:spPr bwMode="auto">
              <a:xfrm>
                <a:off x="1482" y="3120"/>
                <a:ext cx="4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10" name="Line 210"/>
              <p:cNvSpPr>
                <a:spLocks noChangeShapeType="1"/>
              </p:cNvSpPr>
              <p:nvPr/>
            </p:nvSpPr>
            <p:spPr bwMode="auto">
              <a:xfrm flipH="1">
                <a:off x="1536" y="3120"/>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11" name="Rectangle 211"/>
              <p:cNvSpPr>
                <a:spLocks noChangeArrowheads="1"/>
              </p:cNvSpPr>
              <p:nvPr/>
            </p:nvSpPr>
            <p:spPr bwMode="auto">
              <a:xfrm>
                <a:off x="1681" y="2812"/>
                <a:ext cx="100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disableCampaignList</a:t>
                </a:r>
                <a:endParaRPr lang="en-GB" sz="200">
                  <a:latin typeface="Times New Roman" pitchFamily="18" charset="0"/>
                </a:endParaRPr>
              </a:p>
            </p:txBody>
          </p:sp>
          <p:sp>
            <p:nvSpPr>
              <p:cNvPr id="212" name="Rectangle 212"/>
              <p:cNvSpPr>
                <a:spLocks noChangeArrowheads="1"/>
              </p:cNvSpPr>
              <p:nvPr/>
            </p:nvSpPr>
            <p:spPr bwMode="auto">
              <a:xfrm>
                <a:off x="1482" y="2928"/>
                <a:ext cx="4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13" name="Line 213"/>
              <p:cNvSpPr>
                <a:spLocks noChangeShapeType="1"/>
              </p:cNvSpPr>
              <p:nvPr/>
            </p:nvSpPr>
            <p:spPr bwMode="auto">
              <a:xfrm flipH="1">
                <a:off x="1536" y="2928"/>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35" name="tower"/>
            <p:cNvSpPr>
              <a:spLocks noEditPoints="1" noChangeArrowheads="1"/>
            </p:cNvSpPr>
            <p:nvPr/>
          </p:nvSpPr>
          <p:spPr bwMode="auto">
            <a:xfrm>
              <a:off x="1643" y="2394"/>
              <a:ext cx="91" cy="204"/>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MY"/>
            </a:p>
          </p:txBody>
        </p:sp>
        <p:sp>
          <p:nvSpPr>
            <p:cNvPr id="36" name="computr2"/>
            <p:cNvSpPr>
              <a:spLocks noEditPoints="1" noChangeArrowheads="1"/>
            </p:cNvSpPr>
            <p:nvPr/>
          </p:nvSpPr>
          <p:spPr bwMode="auto">
            <a:xfrm>
              <a:off x="1421" y="2419"/>
              <a:ext cx="176" cy="176"/>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MY"/>
            </a:p>
          </p:txBody>
        </p:sp>
        <p:sp>
          <p:nvSpPr>
            <p:cNvPr id="37" name="printer2"/>
            <p:cNvSpPr>
              <a:spLocks noEditPoints="1" noChangeArrowheads="1"/>
            </p:cNvSpPr>
            <p:nvPr/>
          </p:nvSpPr>
          <p:spPr bwMode="auto">
            <a:xfrm>
              <a:off x="1225" y="2507"/>
              <a:ext cx="176" cy="88"/>
            </a:xfrm>
            <a:custGeom>
              <a:avLst/>
              <a:gdLst>
                <a:gd name="T0" fmla="*/ 10673 w 21600"/>
                <a:gd name="T1" fmla="*/ 0 h 21600"/>
                <a:gd name="T2" fmla="*/ 19186 w 21600"/>
                <a:gd name="T3" fmla="*/ 0 h 21600"/>
                <a:gd name="T4" fmla="*/ 21600 w 21600"/>
                <a:gd name="T5" fmla="*/ 4703 h 21600"/>
                <a:gd name="T6" fmla="*/ 21600 w 21600"/>
                <a:gd name="T7" fmla="*/ 10800 h 21600"/>
                <a:gd name="T8" fmla="*/ 21600 w 21600"/>
                <a:gd name="T9" fmla="*/ 16548 h 21600"/>
                <a:gd name="T10" fmla="*/ 18042 w 21600"/>
                <a:gd name="T11" fmla="*/ 21600 h 21600"/>
                <a:gd name="T12" fmla="*/ 10673 w 21600"/>
                <a:gd name="T13" fmla="*/ 21600 h 21600"/>
                <a:gd name="T14" fmla="*/ 3176 w 21600"/>
                <a:gd name="T15" fmla="*/ 21600 h 21600"/>
                <a:gd name="T16" fmla="*/ 0 w 21600"/>
                <a:gd name="T17" fmla="*/ 16548 h 21600"/>
                <a:gd name="T18" fmla="*/ 0 w 21600"/>
                <a:gd name="T19" fmla="*/ 10800 h 21600"/>
                <a:gd name="T20" fmla="*/ 0 w 21600"/>
                <a:gd name="T21" fmla="*/ 4703 h 21600"/>
                <a:gd name="T22" fmla="*/ 2414 w 21600"/>
                <a:gd name="T23" fmla="*/ 0 h 21600"/>
                <a:gd name="T24" fmla="*/ 1397 w 21600"/>
                <a:gd name="T25" fmla="*/ 23298 h 21600"/>
                <a:gd name="T26" fmla="*/ 20266 w 21600"/>
                <a:gd name="T27" fmla="*/ 3113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10673" y="0"/>
                  </a:moveTo>
                  <a:lnTo>
                    <a:pt x="19186" y="0"/>
                  </a:lnTo>
                  <a:lnTo>
                    <a:pt x="21600" y="4703"/>
                  </a:lnTo>
                  <a:lnTo>
                    <a:pt x="21600" y="10800"/>
                  </a:lnTo>
                  <a:lnTo>
                    <a:pt x="21600" y="16548"/>
                  </a:lnTo>
                  <a:lnTo>
                    <a:pt x="18042" y="16548"/>
                  </a:lnTo>
                  <a:lnTo>
                    <a:pt x="18042" y="21600"/>
                  </a:lnTo>
                  <a:lnTo>
                    <a:pt x="10673" y="21600"/>
                  </a:lnTo>
                  <a:lnTo>
                    <a:pt x="3176" y="21600"/>
                  </a:lnTo>
                  <a:lnTo>
                    <a:pt x="3176" y="16548"/>
                  </a:lnTo>
                  <a:lnTo>
                    <a:pt x="0" y="16548"/>
                  </a:lnTo>
                  <a:lnTo>
                    <a:pt x="0" y="10800"/>
                  </a:lnTo>
                  <a:lnTo>
                    <a:pt x="0" y="4703"/>
                  </a:lnTo>
                  <a:lnTo>
                    <a:pt x="2414" y="0"/>
                  </a:lnTo>
                  <a:lnTo>
                    <a:pt x="10673" y="0"/>
                  </a:lnTo>
                  <a:close/>
                </a:path>
                <a:path w="21600" h="21600" extrusionOk="0">
                  <a:moveTo>
                    <a:pt x="0" y="4703"/>
                  </a:moveTo>
                  <a:lnTo>
                    <a:pt x="3558" y="4703"/>
                  </a:lnTo>
                  <a:lnTo>
                    <a:pt x="17026" y="4703"/>
                  </a:lnTo>
                  <a:lnTo>
                    <a:pt x="21600" y="4703"/>
                  </a:lnTo>
                  <a:lnTo>
                    <a:pt x="0" y="4703"/>
                  </a:lnTo>
                  <a:moveTo>
                    <a:pt x="16518" y="4703"/>
                  </a:moveTo>
                  <a:lnTo>
                    <a:pt x="16518" y="10452"/>
                  </a:lnTo>
                  <a:lnTo>
                    <a:pt x="0" y="10452"/>
                  </a:lnTo>
                  <a:moveTo>
                    <a:pt x="4320" y="16548"/>
                  </a:moveTo>
                  <a:lnTo>
                    <a:pt x="4320" y="17419"/>
                  </a:lnTo>
                  <a:lnTo>
                    <a:pt x="4320" y="20555"/>
                  </a:lnTo>
                  <a:lnTo>
                    <a:pt x="4320" y="21600"/>
                  </a:lnTo>
                  <a:lnTo>
                    <a:pt x="4320" y="16548"/>
                  </a:lnTo>
                  <a:moveTo>
                    <a:pt x="16899" y="16548"/>
                  </a:moveTo>
                  <a:lnTo>
                    <a:pt x="16899" y="17419"/>
                  </a:lnTo>
                  <a:lnTo>
                    <a:pt x="16899" y="20555"/>
                  </a:lnTo>
                  <a:lnTo>
                    <a:pt x="16899" y="21600"/>
                  </a:lnTo>
                  <a:lnTo>
                    <a:pt x="16899" y="16548"/>
                  </a:lnTo>
                  <a:moveTo>
                    <a:pt x="15247" y="14981"/>
                  </a:moveTo>
                  <a:lnTo>
                    <a:pt x="15247" y="10452"/>
                  </a:lnTo>
                  <a:lnTo>
                    <a:pt x="16899" y="16548"/>
                  </a:lnTo>
                  <a:lnTo>
                    <a:pt x="18042" y="16548"/>
                  </a:lnTo>
                  <a:lnTo>
                    <a:pt x="16518" y="10452"/>
                  </a:lnTo>
                  <a:moveTo>
                    <a:pt x="15247" y="14981"/>
                  </a:moveTo>
                  <a:lnTo>
                    <a:pt x="15247" y="14981"/>
                  </a:lnTo>
                  <a:lnTo>
                    <a:pt x="16772" y="17942"/>
                  </a:lnTo>
                  <a:lnTo>
                    <a:pt x="4447" y="17942"/>
                  </a:lnTo>
                  <a:lnTo>
                    <a:pt x="5972" y="14981"/>
                  </a:lnTo>
                  <a:lnTo>
                    <a:pt x="5972" y="10452"/>
                  </a:lnTo>
                  <a:lnTo>
                    <a:pt x="4320" y="16548"/>
                  </a:lnTo>
                  <a:lnTo>
                    <a:pt x="3176" y="16548"/>
                  </a:lnTo>
                  <a:lnTo>
                    <a:pt x="4701" y="10452"/>
                  </a:lnTo>
                  <a:moveTo>
                    <a:pt x="20202" y="5574"/>
                  </a:moveTo>
                  <a:lnTo>
                    <a:pt x="20711" y="5574"/>
                  </a:lnTo>
                  <a:lnTo>
                    <a:pt x="20711" y="7839"/>
                  </a:lnTo>
                  <a:lnTo>
                    <a:pt x="20202" y="7839"/>
                  </a:lnTo>
                  <a:lnTo>
                    <a:pt x="20202" y="5574"/>
                  </a:lnTo>
                  <a:moveTo>
                    <a:pt x="5972" y="14981"/>
                  </a:moveTo>
                  <a:lnTo>
                    <a:pt x="7496" y="14981"/>
                  </a:lnTo>
                  <a:lnTo>
                    <a:pt x="13341" y="14981"/>
                  </a:lnTo>
                  <a:lnTo>
                    <a:pt x="15247" y="14981"/>
                  </a:lnTo>
                </a:path>
              </a:pathLst>
            </a:custGeom>
            <a:solidFill>
              <a:srgbClr val="FFFFCC"/>
            </a:solidFill>
            <a:ln w="9525">
              <a:solidFill>
                <a:srgbClr val="000000"/>
              </a:solidFill>
              <a:miter lim="800000"/>
              <a:headEnd/>
              <a:tailEnd/>
            </a:ln>
          </p:spPr>
          <p:txBody>
            <a:bodyPr/>
            <a:lstStyle/>
            <a:p>
              <a:endParaRPr lang="en-MY"/>
            </a:p>
          </p:txBody>
        </p:sp>
        <p:grpSp>
          <p:nvGrpSpPr>
            <p:cNvPr id="38" name="Group 217"/>
            <p:cNvGrpSpPr>
              <a:grpSpLocks/>
            </p:cNvGrpSpPr>
            <p:nvPr/>
          </p:nvGrpSpPr>
          <p:grpSpPr bwMode="auto">
            <a:xfrm>
              <a:off x="1939" y="2476"/>
              <a:ext cx="633" cy="444"/>
              <a:chOff x="236" y="1743"/>
              <a:chExt cx="1807" cy="1267"/>
            </a:xfrm>
          </p:grpSpPr>
          <p:sp>
            <p:nvSpPr>
              <p:cNvPr id="149" name="AutoShape 218"/>
              <p:cNvSpPr>
                <a:spLocks noChangeArrowheads="1"/>
              </p:cNvSpPr>
              <p:nvPr/>
            </p:nvSpPr>
            <p:spPr bwMode="auto">
              <a:xfrm>
                <a:off x="353" y="2628"/>
                <a:ext cx="211" cy="357"/>
              </a:xfrm>
              <a:prstGeom prst="can">
                <a:avLst>
                  <a:gd name="adj" fmla="val 42299"/>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0" name="AutoShape 219"/>
              <p:cNvSpPr>
                <a:spLocks noChangeArrowheads="1"/>
              </p:cNvSpPr>
              <p:nvPr/>
            </p:nvSpPr>
            <p:spPr bwMode="auto">
              <a:xfrm>
                <a:off x="1676" y="2628"/>
                <a:ext cx="211" cy="357"/>
              </a:xfrm>
              <a:prstGeom prst="can">
                <a:avLst>
                  <a:gd name="adj" fmla="val 42299"/>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1" name="Rectangle 220"/>
              <p:cNvSpPr>
                <a:spLocks noChangeArrowheads="1"/>
              </p:cNvSpPr>
              <p:nvPr/>
            </p:nvSpPr>
            <p:spPr bwMode="auto">
              <a:xfrm>
                <a:off x="236" y="2312"/>
                <a:ext cx="430" cy="17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2" name="Rectangle 221"/>
              <p:cNvSpPr>
                <a:spLocks noChangeArrowheads="1"/>
              </p:cNvSpPr>
              <p:nvPr/>
            </p:nvSpPr>
            <p:spPr bwMode="auto">
              <a:xfrm>
                <a:off x="1559" y="2312"/>
                <a:ext cx="430" cy="17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53" name="Line 222"/>
              <p:cNvSpPr>
                <a:spLocks noChangeShapeType="1"/>
              </p:cNvSpPr>
              <p:nvPr/>
            </p:nvSpPr>
            <p:spPr bwMode="auto">
              <a:xfrm>
                <a:off x="463" y="2490"/>
                <a:ext cx="0"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4" name="Line 223"/>
              <p:cNvSpPr>
                <a:spLocks noChangeShapeType="1"/>
              </p:cNvSpPr>
              <p:nvPr/>
            </p:nvSpPr>
            <p:spPr bwMode="auto">
              <a:xfrm>
                <a:off x="1785" y="2490"/>
                <a:ext cx="0"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5" name="Line 224"/>
              <p:cNvSpPr>
                <a:spLocks noChangeShapeType="1"/>
              </p:cNvSpPr>
              <p:nvPr/>
            </p:nvSpPr>
            <p:spPr bwMode="auto">
              <a:xfrm>
                <a:off x="244" y="2166"/>
                <a:ext cx="17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6" name="Line 225"/>
              <p:cNvSpPr>
                <a:spLocks noChangeShapeType="1"/>
              </p:cNvSpPr>
              <p:nvPr/>
            </p:nvSpPr>
            <p:spPr bwMode="auto">
              <a:xfrm>
                <a:off x="463" y="2181"/>
                <a:ext cx="0"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7" name="Line 226"/>
              <p:cNvSpPr>
                <a:spLocks noChangeShapeType="1"/>
              </p:cNvSpPr>
              <p:nvPr/>
            </p:nvSpPr>
            <p:spPr bwMode="auto">
              <a:xfrm>
                <a:off x="1778" y="2174"/>
                <a:ext cx="0" cy="1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8" name="Line 227"/>
              <p:cNvSpPr>
                <a:spLocks noChangeShapeType="1"/>
              </p:cNvSpPr>
              <p:nvPr/>
            </p:nvSpPr>
            <p:spPr bwMode="auto">
              <a:xfrm>
                <a:off x="1128" y="2109"/>
                <a:ext cx="0" cy="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59" name="AutoShape 228"/>
              <p:cNvSpPr>
                <a:spLocks noChangeArrowheads="1"/>
              </p:cNvSpPr>
              <p:nvPr/>
            </p:nvSpPr>
            <p:spPr bwMode="auto">
              <a:xfrm>
                <a:off x="1019" y="1743"/>
                <a:ext cx="211" cy="357"/>
              </a:xfrm>
              <a:prstGeom prst="can">
                <a:avLst>
                  <a:gd name="adj" fmla="val 42299"/>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60" name="Text Box 229"/>
              <p:cNvSpPr txBox="1">
                <a:spLocks noChangeArrowheads="1"/>
              </p:cNvSpPr>
              <p:nvPr/>
            </p:nvSpPr>
            <p:spPr bwMode="auto">
              <a:xfrm>
                <a:off x="1195" y="1986"/>
                <a:ext cx="543"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sz="200"/>
                  <a:t>Global</a:t>
                </a:r>
              </a:p>
              <a:p>
                <a:r>
                  <a:rPr lang="en-GB" sz="200"/>
                  <a:t>Catalogue</a:t>
                </a:r>
              </a:p>
            </p:txBody>
          </p:sp>
          <p:sp>
            <p:nvSpPr>
              <p:cNvPr id="161" name="AutoShape 230"/>
              <p:cNvSpPr>
                <a:spLocks noChangeArrowheads="1"/>
              </p:cNvSpPr>
              <p:nvPr/>
            </p:nvSpPr>
            <p:spPr bwMode="auto">
              <a:xfrm>
                <a:off x="1228" y="2239"/>
                <a:ext cx="211" cy="357"/>
              </a:xfrm>
              <a:prstGeom prst="can">
                <a:avLst>
                  <a:gd name="adj" fmla="val 42299"/>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62" name="Text Box 231"/>
              <p:cNvSpPr txBox="1">
                <a:spLocks noChangeArrowheads="1"/>
              </p:cNvSpPr>
              <p:nvPr/>
            </p:nvSpPr>
            <p:spPr bwMode="auto">
              <a:xfrm>
                <a:off x="850" y="2736"/>
                <a:ext cx="565"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sz="200"/>
                  <a:t>Local Data</a:t>
                </a:r>
              </a:p>
              <a:p>
                <a:r>
                  <a:rPr lang="en-GB" sz="200"/>
                  <a:t>Catalogues</a:t>
                </a:r>
              </a:p>
            </p:txBody>
          </p:sp>
          <p:sp>
            <p:nvSpPr>
              <p:cNvPr id="163" name="Line 232"/>
              <p:cNvSpPr>
                <a:spLocks noChangeShapeType="1"/>
              </p:cNvSpPr>
              <p:nvPr/>
            </p:nvSpPr>
            <p:spPr bwMode="auto">
              <a:xfrm>
                <a:off x="1444" y="2418"/>
                <a:ext cx="1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64" name="Group 233"/>
              <p:cNvGrpSpPr>
                <a:grpSpLocks/>
              </p:cNvGrpSpPr>
              <p:nvPr/>
            </p:nvGrpSpPr>
            <p:grpSpPr bwMode="auto">
              <a:xfrm flipH="1">
                <a:off x="667" y="2237"/>
                <a:ext cx="337" cy="357"/>
                <a:chOff x="1364" y="2375"/>
                <a:chExt cx="337" cy="357"/>
              </a:xfrm>
            </p:grpSpPr>
            <p:sp>
              <p:nvSpPr>
                <p:cNvPr id="167" name="AutoShape 234"/>
                <p:cNvSpPr>
                  <a:spLocks noChangeArrowheads="1"/>
                </p:cNvSpPr>
                <p:nvPr/>
              </p:nvSpPr>
              <p:spPr bwMode="auto">
                <a:xfrm>
                  <a:off x="1364" y="2375"/>
                  <a:ext cx="211" cy="357"/>
                </a:xfrm>
                <a:prstGeom prst="can">
                  <a:avLst>
                    <a:gd name="adj" fmla="val 42299"/>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68" name="Line 235"/>
                <p:cNvSpPr>
                  <a:spLocks noChangeShapeType="1"/>
                </p:cNvSpPr>
                <p:nvPr/>
              </p:nvSpPr>
              <p:spPr bwMode="auto">
                <a:xfrm>
                  <a:off x="1580" y="2554"/>
                  <a:ext cx="1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165" name="Text Box 236"/>
              <p:cNvSpPr txBox="1">
                <a:spLocks noChangeArrowheads="1"/>
              </p:cNvSpPr>
              <p:nvPr/>
            </p:nvSpPr>
            <p:spPr bwMode="auto">
              <a:xfrm>
                <a:off x="1615" y="2699"/>
                <a:ext cx="428"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sz="200"/>
                  <a:t>Data</a:t>
                </a:r>
              </a:p>
            </p:txBody>
          </p:sp>
          <p:sp>
            <p:nvSpPr>
              <p:cNvPr id="166" name="Text Box 237"/>
              <p:cNvSpPr txBox="1">
                <a:spLocks noChangeArrowheads="1"/>
              </p:cNvSpPr>
              <p:nvPr/>
            </p:nvSpPr>
            <p:spPr bwMode="auto">
              <a:xfrm>
                <a:off x="293" y="2699"/>
                <a:ext cx="428"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sz="200"/>
                  <a:t>Data</a:t>
                </a:r>
              </a:p>
            </p:txBody>
          </p:sp>
        </p:grpSp>
        <p:pic>
          <p:nvPicPr>
            <p:cNvPr id="39" name="Picture 23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84" y="2561"/>
              <a:ext cx="70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3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660" y="2322"/>
              <a:ext cx="748" cy="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 name="Group 240"/>
            <p:cNvGrpSpPr>
              <a:grpSpLocks/>
            </p:cNvGrpSpPr>
            <p:nvPr/>
          </p:nvGrpSpPr>
          <p:grpSpPr bwMode="auto">
            <a:xfrm>
              <a:off x="3697" y="3216"/>
              <a:ext cx="739" cy="699"/>
              <a:chOff x="1182" y="99"/>
              <a:chExt cx="3796" cy="3590"/>
            </a:xfrm>
          </p:grpSpPr>
          <p:grpSp>
            <p:nvGrpSpPr>
              <p:cNvPr id="103" name="Group 241"/>
              <p:cNvGrpSpPr>
                <a:grpSpLocks/>
              </p:cNvGrpSpPr>
              <p:nvPr/>
            </p:nvGrpSpPr>
            <p:grpSpPr bwMode="auto">
              <a:xfrm>
                <a:off x="1202" y="99"/>
                <a:ext cx="1708" cy="972"/>
                <a:chOff x="1776" y="1569"/>
                <a:chExt cx="768" cy="438"/>
              </a:xfrm>
            </p:grpSpPr>
            <p:sp>
              <p:nvSpPr>
                <p:cNvPr id="147" name="Rectangle 242"/>
                <p:cNvSpPr>
                  <a:spLocks noChangeArrowheads="1"/>
                </p:cNvSpPr>
                <p:nvPr/>
              </p:nvSpPr>
              <p:spPr bwMode="auto">
                <a:xfrm>
                  <a:off x="1776" y="1569"/>
                  <a:ext cx="390" cy="54"/>
                </a:xfrm>
                <a:prstGeom prst="rect">
                  <a:avLst/>
                </a:prstGeom>
                <a:solidFill>
                  <a:srgbClr val="FFFFFF"/>
                </a:solidFill>
                <a:ln w="9525">
                  <a:solidFill>
                    <a:srgbClr val="000000"/>
                  </a:solidFill>
                  <a:miter lim="800000"/>
                  <a:headEnd/>
                  <a:tailEnd/>
                </a:ln>
              </p:spPr>
              <p:txBody>
                <a:bodyPr/>
                <a:lstStyle/>
                <a:p>
                  <a:endParaRPr lang="en-MY"/>
                </a:p>
              </p:txBody>
            </p:sp>
            <p:sp>
              <p:nvSpPr>
                <p:cNvPr id="148" name="Rectangle 243"/>
                <p:cNvSpPr>
                  <a:spLocks noChangeArrowheads="1"/>
                </p:cNvSpPr>
                <p:nvPr/>
              </p:nvSpPr>
              <p:spPr bwMode="auto">
                <a:xfrm>
                  <a:off x="1776" y="1617"/>
                  <a:ext cx="768" cy="390"/>
                </a:xfrm>
                <a:prstGeom prst="rect">
                  <a:avLst/>
                </a:prstGeom>
                <a:solidFill>
                  <a:srgbClr val="FFFFFF"/>
                </a:solidFill>
                <a:ln w="9525">
                  <a:solidFill>
                    <a:srgbClr val="000000"/>
                  </a:solidFill>
                  <a:miter lim="800000"/>
                  <a:headEnd/>
                  <a:tailEnd/>
                </a:ln>
              </p:spPr>
              <p:txBody>
                <a:bodyPr/>
                <a:lstStyle/>
                <a:p>
                  <a:endParaRPr lang="en-MY"/>
                </a:p>
              </p:txBody>
            </p:sp>
          </p:grpSp>
          <p:sp>
            <p:nvSpPr>
              <p:cNvPr id="104" name="Rectangle 244"/>
              <p:cNvSpPr>
                <a:spLocks noChangeArrowheads="1"/>
              </p:cNvSpPr>
              <p:nvPr/>
            </p:nvSpPr>
            <p:spPr bwMode="auto">
              <a:xfrm>
                <a:off x="1228" y="99"/>
                <a:ext cx="591"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Agate Boundary</a:t>
                </a:r>
                <a:endParaRPr lang="en-GB" sz="200">
                  <a:latin typeface="Times New Roman" pitchFamily="18" charset="0"/>
                </a:endParaRPr>
              </a:p>
            </p:txBody>
          </p:sp>
          <p:grpSp>
            <p:nvGrpSpPr>
              <p:cNvPr id="105" name="Group 245"/>
              <p:cNvGrpSpPr>
                <a:grpSpLocks/>
              </p:cNvGrpSpPr>
              <p:nvPr/>
            </p:nvGrpSpPr>
            <p:grpSpPr bwMode="auto">
              <a:xfrm>
                <a:off x="3300" y="115"/>
                <a:ext cx="1671" cy="953"/>
                <a:chOff x="1776" y="1569"/>
                <a:chExt cx="768" cy="438"/>
              </a:xfrm>
            </p:grpSpPr>
            <p:sp>
              <p:nvSpPr>
                <p:cNvPr id="145" name="Rectangle 246"/>
                <p:cNvSpPr>
                  <a:spLocks noChangeArrowheads="1"/>
                </p:cNvSpPr>
                <p:nvPr/>
              </p:nvSpPr>
              <p:spPr bwMode="auto">
                <a:xfrm>
                  <a:off x="1776" y="1569"/>
                  <a:ext cx="390" cy="54"/>
                </a:xfrm>
                <a:prstGeom prst="rect">
                  <a:avLst/>
                </a:prstGeom>
                <a:solidFill>
                  <a:srgbClr val="FFFFFF"/>
                </a:solidFill>
                <a:ln w="9525">
                  <a:solidFill>
                    <a:srgbClr val="000000"/>
                  </a:solidFill>
                  <a:miter lim="800000"/>
                  <a:headEnd/>
                  <a:tailEnd/>
                </a:ln>
              </p:spPr>
              <p:txBody>
                <a:bodyPr/>
                <a:lstStyle/>
                <a:p>
                  <a:endParaRPr lang="en-MY"/>
                </a:p>
              </p:txBody>
            </p:sp>
            <p:sp>
              <p:nvSpPr>
                <p:cNvPr id="146" name="Rectangle 247"/>
                <p:cNvSpPr>
                  <a:spLocks noChangeArrowheads="1"/>
                </p:cNvSpPr>
                <p:nvPr/>
              </p:nvSpPr>
              <p:spPr bwMode="auto">
                <a:xfrm>
                  <a:off x="1776" y="1617"/>
                  <a:ext cx="768" cy="390"/>
                </a:xfrm>
                <a:prstGeom prst="rect">
                  <a:avLst/>
                </a:prstGeom>
                <a:solidFill>
                  <a:srgbClr val="FFFFFF"/>
                </a:solidFill>
                <a:ln w="9525">
                  <a:solidFill>
                    <a:srgbClr val="000000"/>
                  </a:solidFill>
                  <a:miter lim="800000"/>
                  <a:headEnd/>
                  <a:tailEnd/>
                </a:ln>
              </p:spPr>
              <p:txBody>
                <a:bodyPr/>
                <a:lstStyle/>
                <a:p>
                  <a:endParaRPr lang="en-MY"/>
                </a:p>
              </p:txBody>
            </p:sp>
          </p:grpSp>
          <p:sp>
            <p:nvSpPr>
              <p:cNvPr id="106" name="Rectangle 248"/>
              <p:cNvSpPr>
                <a:spLocks noChangeArrowheads="1"/>
              </p:cNvSpPr>
              <p:nvPr/>
            </p:nvSpPr>
            <p:spPr bwMode="auto">
              <a:xfrm>
                <a:off x="3334" y="130"/>
                <a:ext cx="74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Agate Control Client</a:t>
                </a:r>
              </a:p>
            </p:txBody>
          </p:sp>
          <p:sp>
            <p:nvSpPr>
              <p:cNvPr id="107" name="Line 249"/>
              <p:cNvSpPr>
                <a:spLocks noChangeShapeType="1"/>
              </p:cNvSpPr>
              <p:nvPr/>
            </p:nvSpPr>
            <p:spPr bwMode="auto">
              <a:xfrm flipH="1" flipV="1">
                <a:off x="2908" y="865"/>
                <a:ext cx="390" cy="1"/>
              </a:xfrm>
              <a:prstGeom prst="line">
                <a:avLst/>
              </a:prstGeom>
              <a:noFill/>
              <a:ln w="9525">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08" name="Rectangle 250"/>
              <p:cNvSpPr>
                <a:spLocks noChangeArrowheads="1"/>
              </p:cNvSpPr>
              <p:nvPr/>
            </p:nvSpPr>
            <p:spPr bwMode="auto">
              <a:xfrm>
                <a:off x="1182" y="1324"/>
                <a:ext cx="1866" cy="236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09" name="Rectangle 251"/>
              <p:cNvSpPr>
                <a:spLocks noChangeArrowheads="1"/>
              </p:cNvSpPr>
              <p:nvPr/>
            </p:nvSpPr>
            <p:spPr bwMode="auto">
              <a:xfrm>
                <a:off x="1182" y="1215"/>
                <a:ext cx="792" cy="10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
              </a:p>
            </p:txBody>
          </p:sp>
          <p:sp>
            <p:nvSpPr>
              <p:cNvPr id="110" name="Rectangle 252"/>
              <p:cNvSpPr>
                <a:spLocks noChangeArrowheads="1"/>
              </p:cNvSpPr>
              <p:nvPr/>
            </p:nvSpPr>
            <p:spPr bwMode="auto">
              <a:xfrm>
                <a:off x="1238" y="1224"/>
                <a:ext cx="4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Agate Entity</a:t>
                </a:r>
              </a:p>
            </p:txBody>
          </p:sp>
          <p:sp>
            <p:nvSpPr>
              <p:cNvPr id="111" name="Line 253"/>
              <p:cNvSpPr>
                <a:spLocks noChangeShapeType="1"/>
              </p:cNvSpPr>
              <p:nvPr/>
            </p:nvSpPr>
            <p:spPr bwMode="auto">
              <a:xfrm>
                <a:off x="2481" y="2414"/>
                <a:ext cx="0" cy="311"/>
              </a:xfrm>
              <a:prstGeom prst="line">
                <a:avLst/>
              </a:prstGeom>
              <a:noFill/>
              <a:ln w="9525">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12" name="Line 254"/>
              <p:cNvSpPr>
                <a:spLocks noChangeShapeType="1"/>
              </p:cNvSpPr>
              <p:nvPr/>
            </p:nvSpPr>
            <p:spPr bwMode="auto">
              <a:xfrm>
                <a:off x="2350" y="2405"/>
                <a:ext cx="0" cy="311"/>
              </a:xfrm>
              <a:prstGeom prst="line">
                <a:avLst/>
              </a:prstGeom>
              <a:noFill/>
              <a:ln w="9525">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13" name="Line 255"/>
              <p:cNvSpPr>
                <a:spLocks noChangeShapeType="1"/>
              </p:cNvSpPr>
              <p:nvPr/>
            </p:nvSpPr>
            <p:spPr bwMode="auto">
              <a:xfrm flipV="1">
                <a:off x="4465" y="1077"/>
                <a:ext cx="0" cy="326"/>
              </a:xfrm>
              <a:prstGeom prst="line">
                <a:avLst/>
              </a:prstGeom>
              <a:noFill/>
              <a:ln w="9525">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14" name="Line 256"/>
              <p:cNvSpPr>
                <a:spLocks noChangeShapeType="1"/>
              </p:cNvSpPr>
              <p:nvPr/>
            </p:nvSpPr>
            <p:spPr bwMode="auto">
              <a:xfrm>
                <a:off x="4279" y="1079"/>
                <a:ext cx="6" cy="315"/>
              </a:xfrm>
              <a:prstGeom prst="line">
                <a:avLst/>
              </a:prstGeom>
              <a:noFill/>
              <a:ln w="9525">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15" name="Rectangle 257"/>
              <p:cNvSpPr>
                <a:spLocks noChangeArrowheads="1"/>
              </p:cNvSpPr>
              <p:nvPr/>
            </p:nvSpPr>
            <p:spPr bwMode="auto">
              <a:xfrm>
                <a:off x="1482" y="486"/>
                <a:ext cx="103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CheckCampaignBudgetUI</a:t>
                </a:r>
              </a:p>
            </p:txBody>
          </p:sp>
          <p:sp>
            <p:nvSpPr>
              <p:cNvPr id="116" name="Rectangle 258"/>
              <p:cNvSpPr>
                <a:spLocks noChangeArrowheads="1"/>
              </p:cNvSpPr>
              <p:nvPr/>
            </p:nvSpPr>
            <p:spPr bwMode="auto">
              <a:xfrm>
                <a:off x="3450" y="492"/>
                <a:ext cx="1285"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CheckCampaignBudgetClient</a:t>
                </a:r>
              </a:p>
            </p:txBody>
          </p:sp>
          <p:grpSp>
            <p:nvGrpSpPr>
              <p:cNvPr id="117" name="Group 259"/>
              <p:cNvGrpSpPr>
                <a:grpSpLocks/>
              </p:cNvGrpSpPr>
              <p:nvPr/>
            </p:nvGrpSpPr>
            <p:grpSpPr bwMode="auto">
              <a:xfrm>
                <a:off x="3302" y="1299"/>
                <a:ext cx="1676" cy="954"/>
                <a:chOff x="1776" y="1569"/>
                <a:chExt cx="768" cy="438"/>
              </a:xfrm>
            </p:grpSpPr>
            <p:sp>
              <p:nvSpPr>
                <p:cNvPr id="143" name="Rectangle 260"/>
                <p:cNvSpPr>
                  <a:spLocks noChangeArrowheads="1"/>
                </p:cNvSpPr>
                <p:nvPr/>
              </p:nvSpPr>
              <p:spPr bwMode="auto">
                <a:xfrm>
                  <a:off x="1776" y="1569"/>
                  <a:ext cx="390" cy="54"/>
                </a:xfrm>
                <a:prstGeom prst="rect">
                  <a:avLst/>
                </a:prstGeom>
                <a:solidFill>
                  <a:srgbClr val="FFFFFF"/>
                </a:solidFill>
                <a:ln w="9525">
                  <a:solidFill>
                    <a:srgbClr val="000000"/>
                  </a:solidFill>
                  <a:miter lim="800000"/>
                  <a:headEnd/>
                  <a:tailEnd/>
                </a:ln>
              </p:spPr>
              <p:txBody>
                <a:bodyPr/>
                <a:lstStyle/>
                <a:p>
                  <a:endParaRPr lang="en-MY"/>
                </a:p>
              </p:txBody>
            </p:sp>
            <p:sp>
              <p:nvSpPr>
                <p:cNvPr id="144" name="Rectangle 261"/>
                <p:cNvSpPr>
                  <a:spLocks noChangeArrowheads="1"/>
                </p:cNvSpPr>
                <p:nvPr/>
              </p:nvSpPr>
              <p:spPr bwMode="auto">
                <a:xfrm>
                  <a:off x="1776" y="1617"/>
                  <a:ext cx="768" cy="390"/>
                </a:xfrm>
                <a:prstGeom prst="rect">
                  <a:avLst/>
                </a:prstGeom>
                <a:solidFill>
                  <a:srgbClr val="FFFFFF"/>
                </a:solidFill>
                <a:ln w="9525">
                  <a:solidFill>
                    <a:srgbClr val="000000"/>
                  </a:solidFill>
                  <a:miter lim="800000"/>
                  <a:headEnd/>
                  <a:tailEnd/>
                </a:ln>
              </p:spPr>
              <p:txBody>
                <a:bodyPr/>
                <a:lstStyle/>
                <a:p>
                  <a:endParaRPr lang="en-MY"/>
                </a:p>
              </p:txBody>
            </p:sp>
          </p:grpSp>
          <p:sp>
            <p:nvSpPr>
              <p:cNvPr id="118" name="Rectangle 262"/>
              <p:cNvSpPr>
                <a:spLocks noChangeArrowheads="1"/>
              </p:cNvSpPr>
              <p:nvPr/>
            </p:nvSpPr>
            <p:spPr bwMode="auto">
              <a:xfrm>
                <a:off x="3329" y="1301"/>
                <a:ext cx="76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Agate Control Server</a:t>
                </a:r>
                <a:endParaRPr lang="en-GB" sz="200">
                  <a:latin typeface="Times New Roman" pitchFamily="18" charset="0"/>
                </a:endParaRPr>
              </a:p>
            </p:txBody>
          </p:sp>
          <p:sp>
            <p:nvSpPr>
              <p:cNvPr id="119" name="Rectangle 263"/>
              <p:cNvSpPr>
                <a:spLocks noChangeArrowheads="1"/>
              </p:cNvSpPr>
              <p:nvPr/>
            </p:nvSpPr>
            <p:spPr bwMode="auto">
              <a:xfrm>
                <a:off x="4218" y="1488"/>
                <a:ext cx="649"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ListCampaigns</a:t>
                </a:r>
              </a:p>
            </p:txBody>
          </p:sp>
          <p:sp>
            <p:nvSpPr>
              <p:cNvPr id="120" name="Rectangle 264"/>
              <p:cNvSpPr>
                <a:spLocks noChangeArrowheads="1"/>
              </p:cNvSpPr>
              <p:nvPr/>
            </p:nvSpPr>
            <p:spPr bwMode="auto">
              <a:xfrm>
                <a:off x="3396" y="1488"/>
                <a:ext cx="614" cy="13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ListClients</a:t>
                </a:r>
              </a:p>
            </p:txBody>
          </p:sp>
          <p:sp>
            <p:nvSpPr>
              <p:cNvPr id="121" name="Rectangle 265"/>
              <p:cNvSpPr>
                <a:spLocks noChangeArrowheads="1"/>
              </p:cNvSpPr>
              <p:nvPr/>
            </p:nvSpPr>
            <p:spPr bwMode="auto">
              <a:xfrm>
                <a:off x="3468" y="1740"/>
                <a:ext cx="1285"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CheckCampaignBudgetServer</a:t>
                </a:r>
              </a:p>
            </p:txBody>
          </p:sp>
          <p:grpSp>
            <p:nvGrpSpPr>
              <p:cNvPr id="122" name="Group 266"/>
              <p:cNvGrpSpPr>
                <a:grpSpLocks/>
              </p:cNvGrpSpPr>
              <p:nvPr/>
            </p:nvGrpSpPr>
            <p:grpSpPr bwMode="auto">
              <a:xfrm>
                <a:off x="1250" y="1437"/>
                <a:ext cx="1676" cy="954"/>
                <a:chOff x="1776" y="1569"/>
                <a:chExt cx="768" cy="438"/>
              </a:xfrm>
            </p:grpSpPr>
            <p:sp>
              <p:nvSpPr>
                <p:cNvPr id="141" name="Rectangle 267"/>
                <p:cNvSpPr>
                  <a:spLocks noChangeArrowheads="1"/>
                </p:cNvSpPr>
                <p:nvPr/>
              </p:nvSpPr>
              <p:spPr bwMode="auto">
                <a:xfrm>
                  <a:off x="1776" y="1569"/>
                  <a:ext cx="390" cy="54"/>
                </a:xfrm>
                <a:prstGeom prst="rect">
                  <a:avLst/>
                </a:prstGeom>
                <a:solidFill>
                  <a:srgbClr val="FFFFFF"/>
                </a:solidFill>
                <a:ln w="9525">
                  <a:solidFill>
                    <a:srgbClr val="000000"/>
                  </a:solidFill>
                  <a:miter lim="800000"/>
                  <a:headEnd/>
                  <a:tailEnd/>
                </a:ln>
              </p:spPr>
              <p:txBody>
                <a:bodyPr/>
                <a:lstStyle/>
                <a:p>
                  <a:endParaRPr lang="en-MY"/>
                </a:p>
              </p:txBody>
            </p:sp>
            <p:sp>
              <p:nvSpPr>
                <p:cNvPr id="142" name="Rectangle 268"/>
                <p:cNvSpPr>
                  <a:spLocks noChangeArrowheads="1"/>
                </p:cNvSpPr>
                <p:nvPr/>
              </p:nvSpPr>
              <p:spPr bwMode="auto">
                <a:xfrm>
                  <a:off x="1776" y="1617"/>
                  <a:ext cx="768" cy="390"/>
                </a:xfrm>
                <a:prstGeom prst="rect">
                  <a:avLst/>
                </a:prstGeom>
                <a:solidFill>
                  <a:srgbClr val="FFFFFF"/>
                </a:solidFill>
                <a:ln w="9525">
                  <a:solidFill>
                    <a:srgbClr val="000000"/>
                  </a:solidFill>
                  <a:miter lim="800000"/>
                  <a:headEnd/>
                  <a:tailEnd/>
                </a:ln>
              </p:spPr>
              <p:txBody>
                <a:bodyPr/>
                <a:lstStyle/>
                <a:p>
                  <a:endParaRPr lang="en-MY"/>
                </a:p>
              </p:txBody>
            </p:sp>
          </p:grpSp>
          <p:sp>
            <p:nvSpPr>
              <p:cNvPr id="123" name="Rectangle 269"/>
              <p:cNvSpPr>
                <a:spLocks noChangeArrowheads="1"/>
              </p:cNvSpPr>
              <p:nvPr/>
            </p:nvSpPr>
            <p:spPr bwMode="auto">
              <a:xfrm>
                <a:off x="1280" y="1439"/>
                <a:ext cx="52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Agate Domain</a:t>
                </a:r>
                <a:endParaRPr lang="en-GB" sz="200">
                  <a:latin typeface="Times New Roman" pitchFamily="18" charset="0"/>
                </a:endParaRPr>
              </a:p>
            </p:txBody>
          </p:sp>
          <p:sp>
            <p:nvSpPr>
              <p:cNvPr id="124" name="Rectangle 270"/>
              <p:cNvSpPr>
                <a:spLocks noChangeArrowheads="1"/>
              </p:cNvSpPr>
              <p:nvPr/>
            </p:nvSpPr>
            <p:spPr bwMode="auto">
              <a:xfrm>
                <a:off x="1256" y="2625"/>
                <a:ext cx="959" cy="118"/>
              </a:xfrm>
              <a:prstGeom prst="rect">
                <a:avLst/>
              </a:prstGeom>
              <a:solidFill>
                <a:srgbClr val="FFFFFF"/>
              </a:solidFill>
              <a:ln w="9525">
                <a:solidFill>
                  <a:srgbClr val="000000"/>
                </a:solidFill>
                <a:miter lim="800000"/>
                <a:headEnd/>
                <a:tailEnd/>
              </a:ln>
            </p:spPr>
            <p:txBody>
              <a:bodyPr/>
              <a:lstStyle/>
              <a:p>
                <a:endParaRPr lang="en-MY"/>
              </a:p>
            </p:txBody>
          </p:sp>
          <p:sp>
            <p:nvSpPr>
              <p:cNvPr id="125" name="Rectangle 271"/>
              <p:cNvSpPr>
                <a:spLocks noChangeArrowheads="1"/>
              </p:cNvSpPr>
              <p:nvPr/>
            </p:nvSpPr>
            <p:spPr bwMode="auto">
              <a:xfrm>
                <a:off x="1256" y="2730"/>
                <a:ext cx="1676" cy="849"/>
              </a:xfrm>
              <a:prstGeom prst="rect">
                <a:avLst/>
              </a:prstGeom>
              <a:solidFill>
                <a:srgbClr val="FFFFFF"/>
              </a:solidFill>
              <a:ln w="9525">
                <a:solidFill>
                  <a:srgbClr val="000000"/>
                </a:solidFill>
                <a:miter lim="800000"/>
                <a:headEnd/>
                <a:tailEnd/>
              </a:ln>
            </p:spPr>
            <p:txBody>
              <a:bodyPr/>
              <a:lstStyle/>
              <a:p>
                <a:endParaRPr lang="en-MY"/>
              </a:p>
            </p:txBody>
          </p:sp>
          <p:sp>
            <p:nvSpPr>
              <p:cNvPr id="126" name="Rectangle 272"/>
              <p:cNvSpPr>
                <a:spLocks noChangeArrowheads="1"/>
              </p:cNvSpPr>
              <p:nvPr/>
            </p:nvSpPr>
            <p:spPr bwMode="auto">
              <a:xfrm>
                <a:off x="1285" y="2626"/>
                <a:ext cx="90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200">
                    <a:solidFill>
                      <a:srgbClr val="000000"/>
                    </a:solidFill>
                  </a:rPr>
                  <a:t>Agate Data Management</a:t>
                </a:r>
                <a:endParaRPr lang="en-GB" sz="200">
                  <a:latin typeface="Times New Roman" pitchFamily="18" charset="0"/>
                </a:endParaRPr>
              </a:p>
            </p:txBody>
          </p:sp>
          <p:sp>
            <p:nvSpPr>
              <p:cNvPr id="127" name="Line 273"/>
              <p:cNvSpPr>
                <a:spLocks noChangeShapeType="1"/>
              </p:cNvSpPr>
              <p:nvPr/>
            </p:nvSpPr>
            <p:spPr bwMode="auto">
              <a:xfrm flipH="1" flipV="1">
                <a:off x="3058" y="1849"/>
                <a:ext cx="240" cy="1"/>
              </a:xfrm>
              <a:prstGeom prst="line">
                <a:avLst/>
              </a:prstGeom>
              <a:noFill/>
              <a:ln w="9525">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28" name="Rectangle 274"/>
              <p:cNvSpPr>
                <a:spLocks noChangeArrowheads="1"/>
              </p:cNvSpPr>
              <p:nvPr/>
            </p:nvSpPr>
            <p:spPr bwMode="auto">
              <a:xfrm>
                <a:off x="3762" y="1992"/>
                <a:ext cx="793"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ControllerFactory</a:t>
                </a:r>
              </a:p>
            </p:txBody>
          </p:sp>
          <p:sp>
            <p:nvSpPr>
              <p:cNvPr id="129" name="Rectangle 275"/>
              <p:cNvSpPr>
                <a:spLocks noChangeArrowheads="1"/>
              </p:cNvSpPr>
              <p:nvPr/>
            </p:nvSpPr>
            <p:spPr bwMode="auto">
              <a:xfrm>
                <a:off x="2118" y="1728"/>
                <a:ext cx="649"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Campaign</a:t>
                </a:r>
              </a:p>
            </p:txBody>
          </p:sp>
          <p:sp>
            <p:nvSpPr>
              <p:cNvPr id="130" name="Rectangle 276"/>
              <p:cNvSpPr>
                <a:spLocks noChangeArrowheads="1"/>
              </p:cNvSpPr>
              <p:nvPr/>
            </p:nvSpPr>
            <p:spPr bwMode="auto">
              <a:xfrm>
                <a:off x="1368" y="1740"/>
                <a:ext cx="614" cy="13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Client</a:t>
                </a:r>
              </a:p>
            </p:txBody>
          </p:sp>
          <p:sp>
            <p:nvSpPr>
              <p:cNvPr id="131" name="Rectangle 277"/>
              <p:cNvSpPr>
                <a:spLocks noChangeArrowheads="1"/>
              </p:cNvSpPr>
              <p:nvPr/>
            </p:nvSpPr>
            <p:spPr bwMode="auto">
              <a:xfrm>
                <a:off x="1788" y="2028"/>
                <a:ext cx="535"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Advert</a:t>
                </a:r>
              </a:p>
            </p:txBody>
          </p:sp>
          <p:sp>
            <p:nvSpPr>
              <p:cNvPr id="132" name="Rectangle 278"/>
              <p:cNvSpPr>
                <a:spLocks noChangeArrowheads="1"/>
              </p:cNvSpPr>
              <p:nvPr/>
            </p:nvSpPr>
            <p:spPr bwMode="auto">
              <a:xfrm>
                <a:off x="1752" y="3336"/>
                <a:ext cx="535"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AdvertBroker</a:t>
                </a:r>
              </a:p>
            </p:txBody>
          </p:sp>
          <p:sp>
            <p:nvSpPr>
              <p:cNvPr id="133" name="Rectangle 279"/>
              <p:cNvSpPr>
                <a:spLocks noChangeArrowheads="1"/>
              </p:cNvSpPr>
              <p:nvPr/>
            </p:nvSpPr>
            <p:spPr bwMode="auto">
              <a:xfrm>
                <a:off x="2154" y="3114"/>
                <a:ext cx="691"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CampaignBroker</a:t>
                </a:r>
              </a:p>
            </p:txBody>
          </p:sp>
          <p:sp>
            <p:nvSpPr>
              <p:cNvPr id="134" name="Rectangle 280"/>
              <p:cNvSpPr>
                <a:spLocks noChangeArrowheads="1"/>
              </p:cNvSpPr>
              <p:nvPr/>
            </p:nvSpPr>
            <p:spPr bwMode="auto">
              <a:xfrm>
                <a:off x="1320" y="3126"/>
                <a:ext cx="614" cy="13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a:t>ClientBroker</a:t>
                </a:r>
              </a:p>
            </p:txBody>
          </p:sp>
          <p:sp>
            <p:nvSpPr>
              <p:cNvPr id="135" name="Rectangle 281"/>
              <p:cNvSpPr>
                <a:spLocks noChangeArrowheads="1"/>
              </p:cNvSpPr>
              <p:nvPr/>
            </p:nvSpPr>
            <p:spPr bwMode="auto">
              <a:xfrm>
                <a:off x="1674" y="2802"/>
                <a:ext cx="799"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200" i="1"/>
                  <a:t>RelationalBroker</a:t>
                </a:r>
              </a:p>
            </p:txBody>
          </p:sp>
          <p:sp>
            <p:nvSpPr>
              <p:cNvPr id="136" name="AutoShape 282"/>
              <p:cNvSpPr>
                <a:spLocks noChangeArrowheads="1"/>
              </p:cNvSpPr>
              <p:nvPr/>
            </p:nvSpPr>
            <p:spPr bwMode="auto">
              <a:xfrm>
                <a:off x="2004" y="2952"/>
                <a:ext cx="78" cy="78"/>
              </a:xfrm>
              <a:prstGeom prst="triangle">
                <a:avLst>
                  <a:gd name="adj" fmla="val 50000"/>
                </a:avLst>
              </a:prstGeom>
              <a:solidFill>
                <a:schemeClr val="bg1"/>
              </a:solidFill>
              <a:ln w="9525">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7" name="Line 283"/>
              <p:cNvSpPr>
                <a:spLocks noChangeShapeType="1"/>
              </p:cNvSpPr>
              <p:nvPr/>
            </p:nvSpPr>
            <p:spPr bwMode="auto">
              <a:xfrm>
                <a:off x="2040" y="3036"/>
                <a:ext cx="0" cy="300"/>
              </a:xfrm>
              <a:prstGeom prst="line">
                <a:avLst/>
              </a:prstGeom>
              <a:noFill/>
              <a:ln w="952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8" name="Line 284"/>
              <p:cNvSpPr>
                <a:spLocks noChangeShapeType="1"/>
              </p:cNvSpPr>
              <p:nvPr/>
            </p:nvSpPr>
            <p:spPr bwMode="auto">
              <a:xfrm>
                <a:off x="1620" y="3060"/>
                <a:ext cx="894" cy="0"/>
              </a:xfrm>
              <a:prstGeom prst="line">
                <a:avLst/>
              </a:prstGeom>
              <a:noFill/>
              <a:ln w="952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9" name="Line 285"/>
              <p:cNvSpPr>
                <a:spLocks noChangeShapeType="1"/>
              </p:cNvSpPr>
              <p:nvPr/>
            </p:nvSpPr>
            <p:spPr bwMode="auto">
              <a:xfrm>
                <a:off x="1620" y="3060"/>
                <a:ext cx="0" cy="66"/>
              </a:xfrm>
              <a:prstGeom prst="line">
                <a:avLst/>
              </a:prstGeom>
              <a:noFill/>
              <a:ln w="952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40" name="Line 286"/>
              <p:cNvSpPr>
                <a:spLocks noChangeShapeType="1"/>
              </p:cNvSpPr>
              <p:nvPr/>
            </p:nvSpPr>
            <p:spPr bwMode="auto">
              <a:xfrm flipH="1">
                <a:off x="2517" y="3060"/>
                <a:ext cx="0" cy="51"/>
              </a:xfrm>
              <a:prstGeom prst="line">
                <a:avLst/>
              </a:prstGeom>
              <a:noFill/>
              <a:ln w="952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42" name="Group 287"/>
            <p:cNvGrpSpPr>
              <a:grpSpLocks/>
            </p:cNvGrpSpPr>
            <p:nvPr/>
          </p:nvGrpSpPr>
          <p:grpSpPr bwMode="auto">
            <a:xfrm>
              <a:off x="2894" y="3382"/>
              <a:ext cx="552" cy="475"/>
              <a:chOff x="1056" y="432"/>
              <a:chExt cx="3264" cy="2808"/>
            </a:xfrm>
          </p:grpSpPr>
          <p:grpSp>
            <p:nvGrpSpPr>
              <p:cNvPr id="48" name="Group 288"/>
              <p:cNvGrpSpPr>
                <a:grpSpLocks/>
              </p:cNvGrpSpPr>
              <p:nvPr/>
            </p:nvGrpSpPr>
            <p:grpSpPr bwMode="auto">
              <a:xfrm rot="5400000">
                <a:off x="3264" y="1152"/>
                <a:ext cx="720" cy="144"/>
                <a:chOff x="2304" y="1992"/>
                <a:chExt cx="720" cy="144"/>
              </a:xfrm>
            </p:grpSpPr>
            <p:sp>
              <p:nvSpPr>
                <p:cNvPr id="101" name="Line 289"/>
                <p:cNvSpPr>
                  <a:spLocks noChangeShapeType="1"/>
                </p:cNvSpPr>
                <p:nvPr/>
              </p:nvSpPr>
              <p:spPr bwMode="auto">
                <a:xfrm flipH="1">
                  <a:off x="2400" y="2064"/>
                  <a:ext cx="62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02" name="AutoShape 290"/>
                <p:cNvSpPr>
                  <a:spLocks noChangeArrowheads="1"/>
                </p:cNvSpPr>
                <p:nvPr/>
              </p:nvSpPr>
              <p:spPr bwMode="auto">
                <a:xfrm rot="-5400000">
                  <a:off x="2304" y="1992"/>
                  <a:ext cx="144" cy="144"/>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sp>
            <p:nvSpPr>
              <p:cNvPr id="49" name="Rectangle 291"/>
              <p:cNvSpPr>
                <a:spLocks noChangeArrowheads="1"/>
              </p:cNvSpPr>
              <p:nvPr/>
            </p:nvSpPr>
            <p:spPr bwMode="auto">
              <a:xfrm>
                <a:off x="1056" y="2070"/>
                <a:ext cx="1152" cy="2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00"/>
                  <a:t>«interface»</a:t>
                </a:r>
              </a:p>
              <a:p>
                <a:pPr algn="ctr"/>
                <a:r>
                  <a:rPr lang="en-GB" sz="100"/>
                  <a:t>ClientLister</a:t>
                </a:r>
              </a:p>
            </p:txBody>
          </p:sp>
          <p:sp>
            <p:nvSpPr>
              <p:cNvPr id="50" name="Rectangle 292"/>
              <p:cNvSpPr>
                <a:spLocks noChangeArrowheads="1"/>
              </p:cNvSpPr>
              <p:nvPr/>
            </p:nvSpPr>
            <p:spPr bwMode="auto">
              <a:xfrm>
                <a:off x="1056" y="2358"/>
                <a:ext cx="1152" cy="31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sz="100"/>
                  <a:t>+ addClientName(String)</a:t>
                </a:r>
                <a:br>
                  <a:rPr lang="en-GB" sz="100"/>
                </a:br>
                <a:r>
                  <a:rPr lang="en-GB" sz="100"/>
                  <a:t>+ clearAllClientNames( )</a:t>
                </a:r>
                <a:br>
                  <a:rPr lang="en-GB" sz="100"/>
                </a:br>
                <a:r>
                  <a:rPr lang="en-GB" sz="100"/>
                  <a:t>+ removeClientName(String)</a:t>
                </a:r>
              </a:p>
            </p:txBody>
          </p:sp>
          <p:sp>
            <p:nvSpPr>
              <p:cNvPr id="51" name="Rectangle 293"/>
              <p:cNvSpPr>
                <a:spLocks noChangeArrowheads="1"/>
              </p:cNvSpPr>
              <p:nvPr/>
            </p:nvSpPr>
            <p:spPr bwMode="auto">
              <a:xfrm>
                <a:off x="2928" y="1254"/>
                <a:ext cx="1392" cy="198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52" name="Rectangle 294"/>
              <p:cNvSpPr>
                <a:spLocks noChangeArrowheads="1"/>
              </p:cNvSpPr>
              <p:nvPr/>
            </p:nvSpPr>
            <p:spPr bwMode="auto">
              <a:xfrm>
                <a:off x="2928" y="1110"/>
                <a:ext cx="1392"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00"/>
                  <a:t>CheckCampaignBudgetUI</a:t>
                </a:r>
              </a:p>
            </p:txBody>
          </p:sp>
          <p:sp>
            <p:nvSpPr>
              <p:cNvPr id="53" name="Line 295"/>
              <p:cNvSpPr>
                <a:spLocks noChangeShapeType="1"/>
              </p:cNvSpPr>
              <p:nvPr/>
            </p:nvSpPr>
            <p:spPr bwMode="auto">
              <a:xfrm>
                <a:off x="2928" y="2070"/>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4" name="Rectangle 296"/>
              <p:cNvSpPr>
                <a:spLocks noChangeArrowheads="1"/>
              </p:cNvSpPr>
              <p:nvPr/>
            </p:nvSpPr>
            <p:spPr bwMode="auto">
              <a:xfrm>
                <a:off x="1056" y="2310"/>
                <a:ext cx="1152"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55" name="Group 297"/>
              <p:cNvGrpSpPr>
                <a:grpSpLocks/>
              </p:cNvGrpSpPr>
              <p:nvPr/>
            </p:nvGrpSpPr>
            <p:grpSpPr bwMode="auto">
              <a:xfrm>
                <a:off x="4176" y="1134"/>
                <a:ext cx="96" cy="72"/>
                <a:chOff x="2544" y="772"/>
                <a:chExt cx="236" cy="184"/>
              </a:xfrm>
            </p:grpSpPr>
            <p:sp>
              <p:nvSpPr>
                <p:cNvPr id="98" name="Oval 298"/>
                <p:cNvSpPr>
                  <a:spLocks noChangeArrowheads="1"/>
                </p:cNvSpPr>
                <p:nvPr/>
              </p:nvSpPr>
              <p:spPr bwMode="auto">
                <a:xfrm>
                  <a:off x="2596" y="772"/>
                  <a:ext cx="184" cy="18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99" name="Line 299"/>
                <p:cNvSpPr>
                  <a:spLocks noChangeShapeType="1"/>
                </p:cNvSpPr>
                <p:nvPr/>
              </p:nvSpPr>
              <p:spPr bwMode="auto">
                <a:xfrm>
                  <a:off x="2544" y="816"/>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00" name="Line 300"/>
                <p:cNvSpPr>
                  <a:spLocks noChangeShapeType="1"/>
                </p:cNvSpPr>
                <p:nvPr/>
              </p:nvSpPr>
              <p:spPr bwMode="auto">
                <a:xfrm>
                  <a:off x="2544" y="864"/>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56" name="Line 301"/>
              <p:cNvSpPr>
                <a:spLocks noChangeShapeType="1"/>
              </p:cNvSpPr>
              <p:nvPr/>
            </p:nvSpPr>
            <p:spPr bwMode="auto">
              <a:xfrm flipH="1">
                <a:off x="2304" y="2310"/>
                <a:ext cx="62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7" name="AutoShape 302"/>
              <p:cNvSpPr>
                <a:spLocks noChangeArrowheads="1"/>
              </p:cNvSpPr>
              <p:nvPr/>
            </p:nvSpPr>
            <p:spPr bwMode="auto">
              <a:xfrm rot="-5400000">
                <a:off x="2208" y="2238"/>
                <a:ext cx="144" cy="144"/>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58" name="Rectangle 303"/>
              <p:cNvSpPr>
                <a:spLocks noChangeArrowheads="1"/>
              </p:cNvSpPr>
              <p:nvPr/>
            </p:nvSpPr>
            <p:spPr bwMode="auto">
              <a:xfrm>
                <a:off x="1680" y="912"/>
                <a:ext cx="40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0" hangingPunct="0"/>
                <a:r>
                  <a:rPr lang="en-MY" sz="100" noProof="1">
                    <a:solidFill>
                      <a:srgbClr val="000000"/>
                    </a:solidFill>
                  </a:rPr>
                  <a:t>«</a:t>
                </a:r>
                <a:r>
                  <a:rPr lang="en-GB" sz="100">
                    <a:solidFill>
                      <a:srgbClr val="000000"/>
                    </a:solidFill>
                  </a:rPr>
                  <a:t>use</a:t>
                </a:r>
                <a:r>
                  <a:rPr lang="en-GB" sz="100" noProof="1">
                    <a:solidFill>
                      <a:srgbClr val="000000"/>
                    </a:solidFill>
                  </a:rPr>
                  <a:t>»</a:t>
                </a:r>
                <a:endParaRPr lang="en-GB" sz="100">
                  <a:solidFill>
                    <a:srgbClr val="000000"/>
                  </a:solidFill>
                </a:endParaRPr>
              </a:p>
            </p:txBody>
          </p:sp>
          <p:sp>
            <p:nvSpPr>
              <p:cNvPr id="59" name="Rectangle 304"/>
              <p:cNvSpPr>
                <a:spLocks noChangeArrowheads="1"/>
              </p:cNvSpPr>
              <p:nvPr/>
            </p:nvSpPr>
            <p:spPr bwMode="auto">
              <a:xfrm>
                <a:off x="1056" y="432"/>
                <a:ext cx="153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00"/>
                  <a:t>ListCampaigns</a:t>
                </a:r>
              </a:p>
            </p:txBody>
          </p:sp>
          <p:grpSp>
            <p:nvGrpSpPr>
              <p:cNvPr id="60" name="Group 305"/>
              <p:cNvGrpSpPr>
                <a:grpSpLocks/>
              </p:cNvGrpSpPr>
              <p:nvPr/>
            </p:nvGrpSpPr>
            <p:grpSpPr bwMode="auto">
              <a:xfrm flipV="1">
                <a:off x="1632" y="876"/>
                <a:ext cx="0" cy="216"/>
                <a:chOff x="2688" y="696"/>
                <a:chExt cx="0" cy="216"/>
              </a:xfrm>
            </p:grpSpPr>
            <p:sp>
              <p:nvSpPr>
                <p:cNvPr id="96" name="Line 306"/>
                <p:cNvSpPr>
                  <a:spLocks noChangeShapeType="1"/>
                </p:cNvSpPr>
                <p:nvPr/>
              </p:nvSpPr>
              <p:spPr bwMode="auto">
                <a:xfrm flipV="1">
                  <a:off x="2688" y="720"/>
                  <a:ext cx="0" cy="19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97" name="Line 307"/>
                <p:cNvSpPr>
                  <a:spLocks noChangeShapeType="1"/>
                </p:cNvSpPr>
                <p:nvPr/>
              </p:nvSpPr>
              <p:spPr bwMode="auto">
                <a:xfrm flipV="1">
                  <a:off x="2688" y="696"/>
                  <a:ext cx="0" cy="48"/>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1" name="Rectangle 308"/>
              <p:cNvSpPr>
                <a:spLocks noChangeArrowheads="1"/>
              </p:cNvSpPr>
              <p:nvPr/>
            </p:nvSpPr>
            <p:spPr bwMode="auto">
              <a:xfrm>
                <a:off x="2978" y="2075"/>
                <a:ext cx="680"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enable( )</a:t>
                </a:r>
                <a:br>
                  <a:rPr lang="en-GB" sz="100">
                    <a:solidFill>
                      <a:srgbClr val="000000"/>
                    </a:solidFill>
                  </a:rPr>
                </a:br>
                <a:r>
                  <a:rPr lang="en-GB" sz="100">
                    <a:solidFill>
                      <a:srgbClr val="000000"/>
                    </a:solidFill>
                  </a:rPr>
                  <a:t>+ enableCheckButton( )</a:t>
                </a:r>
                <a:br>
                  <a:rPr lang="en-GB" sz="100">
                    <a:solidFill>
                      <a:srgbClr val="000000"/>
                    </a:solidFill>
                  </a:rPr>
                </a:br>
                <a:r>
                  <a:rPr lang="en-GB" sz="100">
                    <a:solidFill>
                      <a:srgbClr val="000000"/>
                    </a:solidFill>
                  </a:rPr>
                  <a:t>+ getSelectedClient( )</a:t>
                </a:r>
                <a:br>
                  <a:rPr lang="en-GB" sz="100">
                    <a:solidFill>
                      <a:srgbClr val="000000"/>
                    </a:solidFill>
                  </a:rPr>
                </a:br>
                <a:r>
                  <a:rPr lang="en-GB" sz="100">
                    <a:solidFill>
                      <a:srgbClr val="000000"/>
                    </a:solidFill>
                  </a:rPr>
                  <a:t>+ getSelectedCampaign( )</a:t>
                </a:r>
                <a:br>
                  <a:rPr lang="en-GB" sz="100">
                    <a:solidFill>
                      <a:srgbClr val="000000"/>
                    </a:solidFill>
                  </a:rPr>
                </a:br>
                <a:r>
                  <a:rPr lang="en-GB" sz="100">
                    <a:solidFill>
                      <a:srgbClr val="000000"/>
                    </a:solidFill>
                  </a:rPr>
                  <a:t>+ setBudget(Currency)</a:t>
                </a:r>
              </a:p>
              <a:p>
                <a:r>
                  <a:rPr lang="en-GB" sz="100"/>
                  <a:t>+ addCampaignName(String)</a:t>
                </a:r>
              </a:p>
              <a:p>
                <a:r>
                  <a:rPr lang="en-GB" sz="100"/>
                  <a:t>+ clearAllCampaignNames( )</a:t>
                </a:r>
              </a:p>
              <a:p>
                <a:r>
                  <a:rPr lang="en-GB" sz="100"/>
                  <a:t>+ removeCampaignName(String)</a:t>
                </a:r>
              </a:p>
              <a:p>
                <a:r>
                  <a:rPr lang="en-GB" sz="100"/>
                  <a:t>+ addClientName(String)</a:t>
                </a:r>
                <a:br>
                  <a:rPr lang="en-GB" sz="100"/>
                </a:br>
                <a:r>
                  <a:rPr lang="en-GB" sz="100"/>
                  <a:t>+ clearAllClientNames( )</a:t>
                </a:r>
                <a:br>
                  <a:rPr lang="en-GB" sz="100"/>
                </a:br>
                <a:r>
                  <a:rPr lang="en-GB" sz="100"/>
                  <a:t>+ removeClientName(String)</a:t>
                </a:r>
              </a:p>
              <a:p>
                <a:r>
                  <a:rPr lang="en-GB" sz="100"/>
                  <a:t>+ itemStateChanged(ItemEvent)</a:t>
                </a:r>
              </a:p>
            </p:txBody>
          </p:sp>
          <p:sp>
            <p:nvSpPr>
              <p:cNvPr id="62" name="Rectangle 309"/>
              <p:cNvSpPr>
                <a:spLocks noChangeArrowheads="1"/>
              </p:cNvSpPr>
              <p:nvPr/>
            </p:nvSpPr>
            <p:spPr bwMode="auto">
              <a:xfrm>
                <a:off x="1056" y="624"/>
                <a:ext cx="1536" cy="2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sz="100"/>
                  <a:t>+ listAllCampaigns(CampaignLister)</a:t>
                </a:r>
              </a:p>
              <a:p>
                <a:r>
                  <a:rPr lang="en-GB" sz="100"/>
                  <a:t>+ listCampaigns(CampaignLister, Client)</a:t>
                </a:r>
              </a:p>
            </p:txBody>
          </p:sp>
          <p:sp>
            <p:nvSpPr>
              <p:cNvPr id="63" name="Rectangle 310"/>
              <p:cNvSpPr>
                <a:spLocks noChangeArrowheads="1"/>
              </p:cNvSpPr>
              <p:nvPr/>
            </p:nvSpPr>
            <p:spPr bwMode="auto">
              <a:xfrm>
                <a:off x="1056" y="576"/>
                <a:ext cx="1536"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64" name="Group 311"/>
              <p:cNvGrpSpPr>
                <a:grpSpLocks/>
              </p:cNvGrpSpPr>
              <p:nvPr/>
            </p:nvGrpSpPr>
            <p:grpSpPr bwMode="auto">
              <a:xfrm>
                <a:off x="2460" y="456"/>
                <a:ext cx="71" cy="85"/>
                <a:chOff x="3172" y="736"/>
                <a:chExt cx="184" cy="220"/>
              </a:xfrm>
            </p:grpSpPr>
            <p:sp>
              <p:nvSpPr>
                <p:cNvPr id="92" name="Oval 312"/>
                <p:cNvSpPr>
                  <a:spLocks noChangeArrowheads="1"/>
                </p:cNvSpPr>
                <p:nvPr/>
              </p:nvSpPr>
              <p:spPr bwMode="auto">
                <a:xfrm>
                  <a:off x="3172" y="772"/>
                  <a:ext cx="184" cy="18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93" name="Group 313"/>
                <p:cNvGrpSpPr>
                  <a:grpSpLocks/>
                </p:cNvGrpSpPr>
                <p:nvPr/>
              </p:nvGrpSpPr>
              <p:grpSpPr bwMode="auto">
                <a:xfrm>
                  <a:off x="3233" y="736"/>
                  <a:ext cx="73" cy="74"/>
                  <a:chOff x="3233" y="736"/>
                  <a:chExt cx="73" cy="74"/>
                </a:xfrm>
              </p:grpSpPr>
              <p:sp>
                <p:nvSpPr>
                  <p:cNvPr id="94" name="Line 314"/>
                  <p:cNvSpPr>
                    <a:spLocks noChangeShapeType="1"/>
                  </p:cNvSpPr>
                  <p:nvPr/>
                </p:nvSpPr>
                <p:spPr bwMode="auto">
                  <a:xfrm flipV="1">
                    <a:off x="3233" y="736"/>
                    <a:ext cx="73" cy="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95" name="Line 315"/>
                  <p:cNvSpPr>
                    <a:spLocks noChangeShapeType="1"/>
                  </p:cNvSpPr>
                  <p:nvPr/>
                </p:nvSpPr>
                <p:spPr bwMode="auto">
                  <a:xfrm>
                    <a:off x="3233" y="773"/>
                    <a:ext cx="73" cy="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sp>
            <p:nvSpPr>
              <p:cNvPr id="65" name="Rectangle 316"/>
              <p:cNvSpPr>
                <a:spLocks noChangeArrowheads="1"/>
              </p:cNvSpPr>
              <p:nvPr/>
            </p:nvSpPr>
            <p:spPr bwMode="auto">
              <a:xfrm>
                <a:off x="1056" y="1092"/>
                <a:ext cx="1248" cy="2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00"/>
                  <a:t>«interface»</a:t>
                </a:r>
              </a:p>
              <a:p>
                <a:pPr algn="ctr"/>
                <a:r>
                  <a:rPr lang="en-GB" sz="100"/>
                  <a:t>CampaignLister</a:t>
                </a:r>
              </a:p>
            </p:txBody>
          </p:sp>
          <p:sp>
            <p:nvSpPr>
              <p:cNvPr id="66" name="Rectangle 317"/>
              <p:cNvSpPr>
                <a:spLocks noChangeArrowheads="1"/>
              </p:cNvSpPr>
              <p:nvPr/>
            </p:nvSpPr>
            <p:spPr bwMode="auto">
              <a:xfrm>
                <a:off x="1056" y="1380"/>
                <a:ext cx="1248" cy="3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sz="100"/>
                  <a:t>+ addCampaignName(String)</a:t>
                </a:r>
              </a:p>
              <a:p>
                <a:r>
                  <a:rPr lang="en-GB" sz="100"/>
                  <a:t>+ clearAllCampaignNames( )</a:t>
                </a:r>
              </a:p>
              <a:p>
                <a:r>
                  <a:rPr lang="en-GB" sz="100"/>
                  <a:t>+ removeCampaignName(String)</a:t>
                </a:r>
              </a:p>
            </p:txBody>
          </p:sp>
          <p:sp>
            <p:nvSpPr>
              <p:cNvPr id="67" name="Rectangle 318"/>
              <p:cNvSpPr>
                <a:spLocks noChangeArrowheads="1"/>
              </p:cNvSpPr>
              <p:nvPr/>
            </p:nvSpPr>
            <p:spPr bwMode="auto">
              <a:xfrm>
                <a:off x="1056" y="1333"/>
                <a:ext cx="1248" cy="4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68" name="Line 319"/>
              <p:cNvSpPr>
                <a:spLocks noChangeShapeType="1"/>
              </p:cNvSpPr>
              <p:nvPr/>
            </p:nvSpPr>
            <p:spPr bwMode="auto">
              <a:xfrm flipH="1">
                <a:off x="2304" y="1512"/>
                <a:ext cx="62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9" name="AutoShape 320"/>
              <p:cNvSpPr>
                <a:spLocks noChangeArrowheads="1"/>
              </p:cNvSpPr>
              <p:nvPr/>
            </p:nvSpPr>
            <p:spPr bwMode="auto">
              <a:xfrm rot="-5400000">
                <a:off x="2304" y="1440"/>
                <a:ext cx="144" cy="144"/>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70" name="Rectangle 321"/>
              <p:cNvSpPr>
                <a:spLocks noChangeArrowheads="1"/>
              </p:cNvSpPr>
              <p:nvPr/>
            </p:nvSpPr>
            <p:spPr bwMode="auto">
              <a:xfrm>
                <a:off x="1056" y="2886"/>
                <a:ext cx="1152"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00"/>
                  <a:t>ListClients</a:t>
                </a:r>
              </a:p>
            </p:txBody>
          </p:sp>
          <p:sp>
            <p:nvSpPr>
              <p:cNvPr id="71" name="Rectangle 322"/>
              <p:cNvSpPr>
                <a:spLocks noChangeArrowheads="1"/>
              </p:cNvSpPr>
              <p:nvPr/>
            </p:nvSpPr>
            <p:spPr bwMode="auto">
              <a:xfrm>
                <a:off x="1056" y="3078"/>
                <a:ext cx="1152"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sz="100"/>
                  <a:t>+ listAllClients(ClientLister)</a:t>
                </a:r>
              </a:p>
            </p:txBody>
          </p:sp>
          <p:sp>
            <p:nvSpPr>
              <p:cNvPr id="72" name="Rectangle 323"/>
              <p:cNvSpPr>
                <a:spLocks noChangeArrowheads="1"/>
              </p:cNvSpPr>
              <p:nvPr/>
            </p:nvSpPr>
            <p:spPr bwMode="auto">
              <a:xfrm>
                <a:off x="1056" y="3030"/>
                <a:ext cx="1152"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73" name="Group 324"/>
              <p:cNvGrpSpPr>
                <a:grpSpLocks/>
              </p:cNvGrpSpPr>
              <p:nvPr/>
            </p:nvGrpSpPr>
            <p:grpSpPr bwMode="auto">
              <a:xfrm>
                <a:off x="2076" y="2910"/>
                <a:ext cx="71" cy="85"/>
                <a:chOff x="3172" y="736"/>
                <a:chExt cx="184" cy="220"/>
              </a:xfrm>
            </p:grpSpPr>
            <p:sp>
              <p:nvSpPr>
                <p:cNvPr id="88" name="Oval 325"/>
                <p:cNvSpPr>
                  <a:spLocks noChangeArrowheads="1"/>
                </p:cNvSpPr>
                <p:nvPr/>
              </p:nvSpPr>
              <p:spPr bwMode="auto">
                <a:xfrm>
                  <a:off x="3172" y="772"/>
                  <a:ext cx="184" cy="18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nvGrpSpPr>
                <p:cNvPr id="89" name="Group 326"/>
                <p:cNvGrpSpPr>
                  <a:grpSpLocks/>
                </p:cNvGrpSpPr>
                <p:nvPr/>
              </p:nvGrpSpPr>
              <p:grpSpPr bwMode="auto">
                <a:xfrm>
                  <a:off x="3233" y="736"/>
                  <a:ext cx="73" cy="74"/>
                  <a:chOff x="3233" y="736"/>
                  <a:chExt cx="73" cy="74"/>
                </a:xfrm>
              </p:grpSpPr>
              <p:sp>
                <p:nvSpPr>
                  <p:cNvPr id="90" name="Line 327"/>
                  <p:cNvSpPr>
                    <a:spLocks noChangeShapeType="1"/>
                  </p:cNvSpPr>
                  <p:nvPr/>
                </p:nvSpPr>
                <p:spPr bwMode="auto">
                  <a:xfrm flipV="1">
                    <a:off x="3233" y="736"/>
                    <a:ext cx="73" cy="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91" name="Line 328"/>
                  <p:cNvSpPr>
                    <a:spLocks noChangeShapeType="1"/>
                  </p:cNvSpPr>
                  <p:nvPr/>
                </p:nvSpPr>
                <p:spPr bwMode="auto">
                  <a:xfrm>
                    <a:off x="3233" y="773"/>
                    <a:ext cx="73" cy="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sp>
            <p:nvSpPr>
              <p:cNvPr id="74" name="Rectangle 329"/>
              <p:cNvSpPr>
                <a:spLocks noChangeArrowheads="1"/>
              </p:cNvSpPr>
              <p:nvPr/>
            </p:nvSpPr>
            <p:spPr bwMode="auto">
              <a:xfrm>
                <a:off x="1680" y="2742"/>
                <a:ext cx="40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0" hangingPunct="0"/>
                <a:r>
                  <a:rPr lang="en-MY" sz="100" noProof="1">
                    <a:solidFill>
                      <a:srgbClr val="000000"/>
                    </a:solidFill>
                  </a:rPr>
                  <a:t>«</a:t>
                </a:r>
                <a:r>
                  <a:rPr lang="en-GB" sz="100">
                    <a:solidFill>
                      <a:srgbClr val="000000"/>
                    </a:solidFill>
                  </a:rPr>
                  <a:t>use</a:t>
                </a:r>
                <a:r>
                  <a:rPr lang="en-GB" sz="100" noProof="1">
                    <a:solidFill>
                      <a:srgbClr val="000000"/>
                    </a:solidFill>
                  </a:rPr>
                  <a:t>»</a:t>
                </a:r>
                <a:endParaRPr lang="en-GB" sz="100">
                  <a:solidFill>
                    <a:srgbClr val="000000"/>
                  </a:solidFill>
                </a:endParaRPr>
              </a:p>
            </p:txBody>
          </p:sp>
          <p:sp>
            <p:nvSpPr>
              <p:cNvPr id="75" name="Line 330"/>
              <p:cNvSpPr>
                <a:spLocks noChangeShapeType="1"/>
              </p:cNvSpPr>
              <p:nvPr/>
            </p:nvSpPr>
            <p:spPr bwMode="auto">
              <a:xfrm flipV="1">
                <a:off x="1632" y="2694"/>
                <a:ext cx="0" cy="19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6" name="Line 331"/>
              <p:cNvSpPr>
                <a:spLocks noChangeShapeType="1"/>
              </p:cNvSpPr>
              <p:nvPr/>
            </p:nvSpPr>
            <p:spPr bwMode="auto">
              <a:xfrm flipV="1">
                <a:off x="1632" y="2670"/>
                <a:ext cx="0" cy="48"/>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7" name="Rectangle 332"/>
              <p:cNvSpPr>
                <a:spLocks noChangeArrowheads="1"/>
              </p:cNvSpPr>
              <p:nvPr/>
            </p:nvSpPr>
            <p:spPr bwMode="auto">
              <a:xfrm>
                <a:off x="2832" y="432"/>
                <a:ext cx="1488" cy="2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00"/>
                  <a:t>«interface»</a:t>
                </a:r>
              </a:p>
              <a:p>
                <a:pPr algn="ctr"/>
                <a:r>
                  <a:rPr lang="en-GB" sz="100"/>
                  <a:t>java::awt::event::ItemListener</a:t>
                </a:r>
              </a:p>
            </p:txBody>
          </p:sp>
          <p:sp>
            <p:nvSpPr>
              <p:cNvPr id="78" name="Rectangle 333"/>
              <p:cNvSpPr>
                <a:spLocks noChangeArrowheads="1"/>
              </p:cNvSpPr>
              <p:nvPr/>
            </p:nvSpPr>
            <p:spPr bwMode="auto">
              <a:xfrm>
                <a:off x="2832" y="720"/>
                <a:ext cx="1488"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sz="100"/>
                  <a:t>+ itemStateChanged(ItemEvent)</a:t>
                </a:r>
              </a:p>
            </p:txBody>
          </p:sp>
          <p:sp>
            <p:nvSpPr>
              <p:cNvPr id="79" name="Rectangle 334"/>
              <p:cNvSpPr>
                <a:spLocks noChangeArrowheads="1"/>
              </p:cNvSpPr>
              <p:nvPr/>
            </p:nvSpPr>
            <p:spPr bwMode="auto">
              <a:xfrm>
                <a:off x="2832" y="672"/>
                <a:ext cx="148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80" name="Rectangle 335"/>
              <p:cNvSpPr>
                <a:spLocks noChangeArrowheads="1"/>
              </p:cNvSpPr>
              <p:nvPr/>
            </p:nvSpPr>
            <p:spPr bwMode="auto">
              <a:xfrm>
                <a:off x="2990" y="1319"/>
                <a:ext cx="408"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clientLabel : JLabel</a:t>
                </a:r>
                <a:endParaRPr lang="en-GB" sz="100">
                  <a:latin typeface="Times New Roman" pitchFamily="18" charset="0"/>
                </a:endParaRPr>
              </a:p>
            </p:txBody>
          </p:sp>
          <p:sp>
            <p:nvSpPr>
              <p:cNvPr id="81" name="Rectangle 336"/>
              <p:cNvSpPr>
                <a:spLocks noChangeArrowheads="1"/>
              </p:cNvSpPr>
              <p:nvPr/>
            </p:nvSpPr>
            <p:spPr bwMode="auto">
              <a:xfrm>
                <a:off x="2990" y="1401"/>
                <a:ext cx="496" cy="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campaignLabel : JLabel</a:t>
                </a:r>
                <a:endParaRPr lang="en-GB" sz="100">
                  <a:latin typeface="Times New Roman" pitchFamily="18" charset="0"/>
                </a:endParaRPr>
              </a:p>
            </p:txBody>
          </p:sp>
          <p:sp>
            <p:nvSpPr>
              <p:cNvPr id="82" name="Rectangle 337"/>
              <p:cNvSpPr>
                <a:spLocks noChangeArrowheads="1"/>
              </p:cNvSpPr>
              <p:nvPr/>
            </p:nvSpPr>
            <p:spPr bwMode="auto">
              <a:xfrm>
                <a:off x="2990" y="1490"/>
                <a:ext cx="431"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budgetLabel : JLabel</a:t>
                </a:r>
                <a:endParaRPr lang="en-GB" sz="100">
                  <a:latin typeface="Times New Roman" pitchFamily="18" charset="0"/>
                </a:endParaRPr>
              </a:p>
            </p:txBody>
          </p:sp>
          <p:sp>
            <p:nvSpPr>
              <p:cNvPr id="83" name="Rectangle 338"/>
              <p:cNvSpPr>
                <a:spLocks noChangeArrowheads="1"/>
              </p:cNvSpPr>
              <p:nvPr/>
            </p:nvSpPr>
            <p:spPr bwMode="auto">
              <a:xfrm>
                <a:off x="2990" y="1573"/>
                <a:ext cx="455"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checkButton : JButton</a:t>
                </a:r>
              </a:p>
            </p:txBody>
          </p:sp>
          <p:sp>
            <p:nvSpPr>
              <p:cNvPr id="84" name="Rectangle 339"/>
              <p:cNvSpPr>
                <a:spLocks noChangeArrowheads="1"/>
              </p:cNvSpPr>
              <p:nvPr/>
            </p:nvSpPr>
            <p:spPr bwMode="auto">
              <a:xfrm>
                <a:off x="2990" y="1662"/>
                <a:ext cx="443"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closeButton : JButton</a:t>
                </a:r>
              </a:p>
            </p:txBody>
          </p:sp>
          <p:sp>
            <p:nvSpPr>
              <p:cNvPr id="85" name="Rectangle 340"/>
              <p:cNvSpPr>
                <a:spLocks noChangeArrowheads="1"/>
              </p:cNvSpPr>
              <p:nvPr/>
            </p:nvSpPr>
            <p:spPr bwMode="auto">
              <a:xfrm>
                <a:off x="2990" y="1744"/>
                <a:ext cx="59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budgetTextField : JTextField</a:t>
                </a:r>
              </a:p>
            </p:txBody>
          </p:sp>
          <p:sp>
            <p:nvSpPr>
              <p:cNvPr id="86" name="Rectangle 341"/>
              <p:cNvSpPr>
                <a:spLocks noChangeArrowheads="1"/>
              </p:cNvSpPr>
              <p:nvPr/>
            </p:nvSpPr>
            <p:spPr bwMode="auto">
              <a:xfrm>
                <a:off x="2990" y="1827"/>
                <a:ext cx="64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clientComboBox : JComboBox</a:t>
                </a:r>
              </a:p>
            </p:txBody>
          </p:sp>
          <p:sp>
            <p:nvSpPr>
              <p:cNvPr id="87" name="Rectangle 342"/>
              <p:cNvSpPr>
                <a:spLocks noChangeArrowheads="1"/>
              </p:cNvSpPr>
              <p:nvPr/>
            </p:nvSpPr>
            <p:spPr bwMode="auto">
              <a:xfrm>
                <a:off x="2990" y="1916"/>
                <a:ext cx="733"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sz="100">
                    <a:solidFill>
                      <a:srgbClr val="000000"/>
                    </a:solidFill>
                  </a:rPr>
                  <a:t>- campaignComboBox : JComboBox</a:t>
                </a:r>
              </a:p>
            </p:txBody>
          </p:sp>
        </p:grpSp>
        <p:grpSp>
          <p:nvGrpSpPr>
            <p:cNvPr id="43" name="Group 343"/>
            <p:cNvGrpSpPr>
              <a:grpSpLocks/>
            </p:cNvGrpSpPr>
            <p:nvPr/>
          </p:nvGrpSpPr>
          <p:grpSpPr bwMode="auto">
            <a:xfrm>
              <a:off x="1225" y="3264"/>
              <a:ext cx="650" cy="577"/>
              <a:chOff x="1440" y="882"/>
              <a:chExt cx="2880" cy="2556"/>
            </a:xfrm>
          </p:grpSpPr>
          <p:graphicFrame>
            <p:nvGraphicFramePr>
              <p:cNvPr id="46" name="Object 344"/>
              <p:cNvGraphicFramePr>
                <a:graphicFrameLocks noChangeAspect="1"/>
              </p:cNvGraphicFramePr>
              <p:nvPr/>
            </p:nvGraphicFramePr>
            <p:xfrm>
              <a:off x="1440" y="882"/>
              <a:ext cx="2880" cy="2556"/>
            </p:xfrm>
            <a:graphic>
              <a:graphicData uri="http://schemas.openxmlformats.org/presentationml/2006/ole">
                <mc:AlternateContent xmlns:mc="http://schemas.openxmlformats.org/markup-compatibility/2006">
                  <mc:Choice xmlns:v="urn:schemas-microsoft-com:vml" Requires="v">
                    <p:oleObj name="Photo Editor Photo" r:id="rId10" imgW="4571429" imgH="4057143" progId="MSPhotoEd.3">
                      <p:embed/>
                    </p:oleObj>
                  </mc:Choice>
                  <mc:Fallback>
                    <p:oleObj name="Photo Editor Photo" r:id="rId10" imgW="4571429" imgH="4057143" progId="MSPhotoEd.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 y="882"/>
                            <a:ext cx="2880" cy="2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 name="Rectangle 345"/>
              <p:cNvSpPr>
                <a:spLocks noChangeArrowheads="1"/>
              </p:cNvSpPr>
              <p:nvPr/>
            </p:nvSpPr>
            <p:spPr bwMode="auto">
              <a:xfrm>
                <a:off x="3432" y="2831"/>
                <a:ext cx="633" cy="81"/>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grpSp>
        <p:pic>
          <p:nvPicPr>
            <p:cNvPr id="44" name="Picture 3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 y="2650"/>
              <a:ext cx="302" cy="3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347"/>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425" y="2690"/>
              <a:ext cx="39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 name="Slide Number Placeholder 2"/>
          <p:cNvSpPr>
            <a:spLocks noGrp="1"/>
          </p:cNvSpPr>
          <p:nvPr>
            <p:ph type="sldNum" sz="quarter" idx="12"/>
          </p:nvPr>
        </p:nvSpPr>
        <p:spPr/>
        <p:txBody>
          <a:bodyPr/>
          <a:lstStyle/>
          <a:p>
            <a:fld id="{0362C787-829C-4B6B-B21B-90D8981190F3}" type="slidenum">
              <a:rPr lang="en-US" smtClean="0"/>
              <a:pPr/>
              <a:t>20</a:t>
            </a:fld>
            <a:endParaRPr lang="en-US"/>
          </a:p>
        </p:txBody>
      </p:sp>
    </p:spTree>
    <p:extLst>
      <p:ext uri="{BB962C8B-B14F-4D97-AF65-F5344CB8AC3E}">
        <p14:creationId xmlns:p14="http://schemas.microsoft.com/office/powerpoint/2010/main" val="3160547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Architectural design decision</a:t>
            </a:r>
          </a:p>
        </p:txBody>
      </p:sp>
      <p:sp>
        <p:nvSpPr>
          <p:cNvPr id="3" name="Text Placeholder 2"/>
          <p:cNvSpPr>
            <a:spLocks noGrp="1"/>
          </p:cNvSpPr>
          <p:nvPr>
            <p:ph type="body" idx="1"/>
          </p:nvPr>
        </p:nvSpPr>
        <p:spPr/>
        <p:txBody>
          <a:bodyPr/>
          <a:lstStyle/>
          <a:p>
            <a:endParaRPr lang="en-MY"/>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21</a:t>
            </a:fld>
            <a:endParaRPr lang="en-US"/>
          </a:p>
        </p:txBody>
      </p:sp>
    </p:spTree>
    <p:extLst>
      <p:ext uri="{BB962C8B-B14F-4D97-AF65-F5344CB8AC3E}">
        <p14:creationId xmlns:p14="http://schemas.microsoft.com/office/powerpoint/2010/main" val="1015396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Architectural Design Decision</a:t>
            </a:r>
          </a:p>
        </p:txBody>
      </p:sp>
      <p:sp>
        <p:nvSpPr>
          <p:cNvPr id="58371" name="Rectangle 3"/>
          <p:cNvSpPr>
            <a:spLocks noGrp="1" noChangeArrowheads="1"/>
          </p:cNvSpPr>
          <p:nvPr>
            <p:ph idx="1"/>
          </p:nvPr>
        </p:nvSpPr>
        <p:spPr/>
        <p:txBody>
          <a:bodyPr/>
          <a:lstStyle/>
          <a:p>
            <a:r>
              <a:rPr lang="en-US" dirty="0"/>
              <a:t>Architectural design is a </a:t>
            </a:r>
            <a:r>
              <a:rPr lang="en-US" b="1" dirty="0">
                <a:solidFill>
                  <a:srgbClr val="C00000"/>
                </a:solidFill>
              </a:rPr>
              <a:t>creative process,</a:t>
            </a:r>
            <a:r>
              <a:rPr lang="en-US" dirty="0"/>
              <a:t> so the process differs depending on the type of system being developed</a:t>
            </a:r>
          </a:p>
          <a:p>
            <a:r>
              <a:rPr lang="en-US" dirty="0"/>
              <a:t>However, a number of common decisions span all design processes and these decisions </a:t>
            </a:r>
            <a:r>
              <a:rPr lang="en-US" b="1" dirty="0">
                <a:solidFill>
                  <a:srgbClr val="C00000"/>
                </a:solidFill>
              </a:rPr>
              <a:t>affect the non-functional characteristics</a:t>
            </a:r>
            <a:r>
              <a:rPr lang="en-US" dirty="0"/>
              <a:t> of the system</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22</a:t>
            </a:fld>
            <a:endParaRPr lang="en-US"/>
          </a:p>
        </p:txBody>
      </p:sp>
    </p:spTree>
    <p:extLst>
      <p:ext uri="{BB962C8B-B14F-4D97-AF65-F5344CB8AC3E}">
        <p14:creationId xmlns:p14="http://schemas.microsoft.com/office/powerpoint/2010/main" val="3963701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Architectural Design Decision</a:t>
            </a:r>
            <a:endParaRPr lang="en-US" dirty="0"/>
          </a:p>
        </p:txBody>
      </p:sp>
      <p:sp>
        <p:nvSpPr>
          <p:cNvPr id="4" name="Footer Placeholder 3"/>
          <p:cNvSpPr>
            <a:spLocks noGrp="1"/>
          </p:cNvSpPr>
          <p:nvPr>
            <p:ph type="ftr" sz="quarter" idx="11"/>
          </p:nvPr>
        </p:nvSpPr>
        <p:spPr/>
        <p:txBody>
          <a:bodyPr/>
          <a:lstStyle/>
          <a:p>
            <a:r>
              <a:rPr lang="en-US"/>
              <a:t>Software Engineering</a:t>
            </a:r>
          </a:p>
        </p:txBody>
      </p:sp>
      <p:pic>
        <p:nvPicPr>
          <p:cNvPr id="6" name="Picture 5" descr="6.2 Arch design question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839" y="1684421"/>
            <a:ext cx="8705841" cy="4671929"/>
          </a:xfrm>
          <a:prstGeom prst="rect">
            <a:avLst/>
          </a:prstGeom>
        </p:spPr>
      </p:pic>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23</a:t>
            </a:fld>
            <a:endParaRPr lang="en-US"/>
          </a:p>
        </p:txBody>
      </p:sp>
    </p:spTree>
    <p:extLst>
      <p:ext uri="{BB962C8B-B14F-4D97-AF65-F5344CB8AC3E}">
        <p14:creationId xmlns:p14="http://schemas.microsoft.com/office/powerpoint/2010/main" val="1483243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Architecture Reuse</a:t>
            </a:r>
          </a:p>
        </p:txBody>
      </p:sp>
      <p:sp>
        <p:nvSpPr>
          <p:cNvPr id="60419" name="Rectangle 3"/>
          <p:cNvSpPr>
            <a:spLocks noGrp="1" noChangeArrowheads="1"/>
          </p:cNvSpPr>
          <p:nvPr>
            <p:ph idx="1"/>
          </p:nvPr>
        </p:nvSpPr>
        <p:spPr/>
        <p:txBody>
          <a:bodyPr>
            <a:normAutofit fontScale="92500"/>
          </a:bodyPr>
          <a:lstStyle/>
          <a:p>
            <a:r>
              <a:rPr lang="en-US" dirty="0"/>
              <a:t>Systems in the </a:t>
            </a:r>
            <a:r>
              <a:rPr lang="en-US" b="1" dirty="0">
                <a:solidFill>
                  <a:srgbClr val="C00000"/>
                </a:solidFill>
              </a:rPr>
              <a:t>same domain often have similar architectures</a:t>
            </a:r>
            <a:r>
              <a:rPr lang="en-US" dirty="0"/>
              <a:t> that reflect domain concepts</a:t>
            </a:r>
          </a:p>
          <a:p>
            <a:r>
              <a:rPr lang="en-US" dirty="0"/>
              <a:t>Application </a:t>
            </a:r>
            <a:r>
              <a:rPr lang="en-US" b="1" dirty="0">
                <a:solidFill>
                  <a:srgbClr val="C00000"/>
                </a:solidFill>
              </a:rPr>
              <a:t>product lines </a:t>
            </a:r>
            <a:r>
              <a:rPr lang="en-US" dirty="0"/>
              <a:t>are built around a core architecture with variants that satisfy particular customer requirements</a:t>
            </a:r>
          </a:p>
          <a:p>
            <a:r>
              <a:rPr lang="en-US" dirty="0"/>
              <a:t>The architecture of a system may be designed around one of more </a:t>
            </a:r>
            <a:r>
              <a:rPr lang="en-US" b="1" dirty="0">
                <a:solidFill>
                  <a:srgbClr val="C00000"/>
                </a:solidFill>
              </a:rPr>
              <a:t>architectural patterns or ‘styles’ </a:t>
            </a:r>
            <a:r>
              <a:rPr lang="en-US" dirty="0"/>
              <a:t>to capture the essence of an architecture and can be instantiated in different ways</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24</a:t>
            </a:fld>
            <a:endParaRPr lang="en-US"/>
          </a:p>
        </p:txBody>
      </p:sp>
    </p:spTree>
    <p:extLst>
      <p:ext uri="{BB962C8B-B14F-4D97-AF65-F5344CB8AC3E}">
        <p14:creationId xmlns:p14="http://schemas.microsoft.com/office/powerpoint/2010/main" val="677951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8991600" cy="1189038"/>
          </a:xfrm>
        </p:spPr>
        <p:txBody>
          <a:bodyPr>
            <a:noAutofit/>
          </a:bodyPr>
          <a:lstStyle/>
          <a:p>
            <a:r>
              <a:rPr lang="en-US" sz="4000" dirty="0"/>
              <a:t>Architecture and System Characteristics (Non-Functional Requirements)</a:t>
            </a:r>
            <a:endParaRPr lang="en-MY" sz="4000" dirty="0"/>
          </a:p>
        </p:txBody>
      </p:sp>
      <p:sp>
        <p:nvSpPr>
          <p:cNvPr id="3" name="Content Placeholder 2"/>
          <p:cNvSpPr>
            <a:spLocks noGrp="1"/>
          </p:cNvSpPr>
          <p:nvPr>
            <p:ph idx="1"/>
          </p:nvPr>
        </p:nvSpPr>
        <p:spPr>
          <a:xfrm>
            <a:off x="308610" y="1600200"/>
            <a:ext cx="8610600" cy="4525963"/>
          </a:xfrm>
        </p:spPr>
        <p:txBody>
          <a:bodyPr>
            <a:noAutofit/>
          </a:bodyPr>
          <a:lstStyle/>
          <a:p>
            <a:pPr>
              <a:lnSpc>
                <a:spcPct val="90000"/>
              </a:lnSpc>
            </a:pPr>
            <a:r>
              <a:rPr lang="en-US" sz="2300" b="1" dirty="0">
                <a:solidFill>
                  <a:srgbClr val="C00000"/>
                </a:solidFill>
              </a:rPr>
              <a:t>Performance</a:t>
            </a:r>
          </a:p>
          <a:p>
            <a:pPr lvl="1">
              <a:lnSpc>
                <a:spcPct val="90000"/>
              </a:lnSpc>
            </a:pPr>
            <a:r>
              <a:rPr lang="en-US" sz="2300" dirty="0" err="1"/>
              <a:t>Localise</a:t>
            </a:r>
            <a:r>
              <a:rPr lang="en-US" sz="2300" dirty="0"/>
              <a:t> critical operations and </a:t>
            </a:r>
            <a:r>
              <a:rPr lang="en-US" sz="2300" dirty="0" err="1"/>
              <a:t>minimise</a:t>
            </a:r>
            <a:r>
              <a:rPr lang="en-US" sz="2300" dirty="0"/>
              <a:t> communications</a:t>
            </a:r>
          </a:p>
          <a:p>
            <a:pPr lvl="1">
              <a:lnSpc>
                <a:spcPct val="90000"/>
              </a:lnSpc>
            </a:pPr>
            <a:r>
              <a:rPr lang="en-US" sz="2300" dirty="0"/>
              <a:t>Use large rather than fine-grain components</a:t>
            </a:r>
          </a:p>
          <a:p>
            <a:pPr>
              <a:lnSpc>
                <a:spcPct val="90000"/>
              </a:lnSpc>
            </a:pPr>
            <a:r>
              <a:rPr lang="en-US" sz="2300" b="1" dirty="0">
                <a:solidFill>
                  <a:srgbClr val="C00000"/>
                </a:solidFill>
              </a:rPr>
              <a:t>Security</a:t>
            </a:r>
          </a:p>
          <a:p>
            <a:pPr lvl="1">
              <a:lnSpc>
                <a:spcPct val="90000"/>
              </a:lnSpc>
            </a:pPr>
            <a:r>
              <a:rPr lang="en-US" sz="2300" dirty="0"/>
              <a:t>Use a layered architecture with critical assets in the inner layers</a:t>
            </a:r>
          </a:p>
          <a:p>
            <a:pPr>
              <a:lnSpc>
                <a:spcPct val="90000"/>
              </a:lnSpc>
            </a:pPr>
            <a:r>
              <a:rPr lang="en-US" sz="2300" b="1" dirty="0">
                <a:solidFill>
                  <a:srgbClr val="C00000"/>
                </a:solidFill>
              </a:rPr>
              <a:t>Safety</a:t>
            </a:r>
          </a:p>
          <a:p>
            <a:pPr lvl="1">
              <a:lnSpc>
                <a:spcPct val="90000"/>
              </a:lnSpc>
            </a:pPr>
            <a:r>
              <a:rPr lang="en-US" sz="2300" dirty="0" err="1"/>
              <a:t>Localise</a:t>
            </a:r>
            <a:r>
              <a:rPr lang="en-US" sz="2300" dirty="0"/>
              <a:t> safety-critical features in a small number of sub-systems</a:t>
            </a:r>
          </a:p>
          <a:p>
            <a:pPr>
              <a:lnSpc>
                <a:spcPct val="90000"/>
              </a:lnSpc>
            </a:pPr>
            <a:r>
              <a:rPr lang="en-US" sz="2300" b="1" dirty="0">
                <a:solidFill>
                  <a:srgbClr val="C00000"/>
                </a:solidFill>
              </a:rPr>
              <a:t>Availability</a:t>
            </a:r>
          </a:p>
          <a:p>
            <a:pPr lvl="1">
              <a:lnSpc>
                <a:spcPct val="90000"/>
              </a:lnSpc>
            </a:pPr>
            <a:r>
              <a:rPr lang="en-US" sz="2300" dirty="0"/>
              <a:t>Include redundant components and mechanisms for fault tolerance</a:t>
            </a:r>
          </a:p>
          <a:p>
            <a:pPr>
              <a:lnSpc>
                <a:spcPct val="90000"/>
              </a:lnSpc>
            </a:pPr>
            <a:r>
              <a:rPr lang="en-US" sz="2300" b="1" dirty="0">
                <a:solidFill>
                  <a:srgbClr val="C00000"/>
                </a:solidFill>
              </a:rPr>
              <a:t>Maintainability</a:t>
            </a:r>
          </a:p>
          <a:p>
            <a:pPr lvl="1">
              <a:lnSpc>
                <a:spcPct val="90000"/>
              </a:lnSpc>
            </a:pPr>
            <a:r>
              <a:rPr lang="en-US" sz="2300" dirty="0"/>
              <a:t>Use fine-grain, replaceable components</a:t>
            </a:r>
            <a:endParaRPr lang="en-MY" sz="2300" dirty="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25</a:t>
            </a:fld>
            <a:endParaRPr lang="en-US"/>
          </a:p>
        </p:txBody>
      </p:sp>
    </p:spTree>
    <p:extLst>
      <p:ext uri="{BB962C8B-B14F-4D97-AF65-F5344CB8AC3E}">
        <p14:creationId xmlns:p14="http://schemas.microsoft.com/office/powerpoint/2010/main" val="35493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Architectural view</a:t>
            </a:r>
          </a:p>
        </p:txBody>
      </p:sp>
      <p:sp>
        <p:nvSpPr>
          <p:cNvPr id="3" name="Text Placeholder 2"/>
          <p:cNvSpPr>
            <a:spLocks noGrp="1"/>
          </p:cNvSpPr>
          <p:nvPr>
            <p:ph type="body" idx="1"/>
          </p:nvPr>
        </p:nvSpPr>
        <p:spPr/>
        <p:txBody>
          <a:bodyPr/>
          <a:lstStyle/>
          <a:p>
            <a:r>
              <a:rPr lang="en-MY"/>
              <a:t>4+1 View Model</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26</a:t>
            </a:fld>
            <a:endParaRPr lang="en-US"/>
          </a:p>
        </p:txBody>
      </p:sp>
    </p:spTree>
    <p:extLst>
      <p:ext uri="{BB962C8B-B14F-4D97-AF65-F5344CB8AC3E}">
        <p14:creationId xmlns:p14="http://schemas.microsoft.com/office/powerpoint/2010/main" val="1682457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Architectural Views</a:t>
            </a:r>
            <a:endParaRPr lang="en-US" dirty="0"/>
          </a:p>
        </p:txBody>
      </p:sp>
      <p:sp>
        <p:nvSpPr>
          <p:cNvPr id="3" name="Content Placeholder 2"/>
          <p:cNvSpPr>
            <a:spLocks noGrp="1"/>
          </p:cNvSpPr>
          <p:nvPr>
            <p:ph idx="1"/>
          </p:nvPr>
        </p:nvSpPr>
        <p:spPr>
          <a:xfrm>
            <a:off x="457200" y="1600200"/>
            <a:ext cx="8229600" cy="4959911"/>
          </a:xfrm>
        </p:spPr>
        <p:txBody>
          <a:bodyPr>
            <a:normAutofit fontScale="92500" lnSpcReduction="20000"/>
          </a:bodyPr>
          <a:lstStyle/>
          <a:p>
            <a:r>
              <a:rPr lang="en-US" dirty="0"/>
              <a:t>What </a:t>
            </a:r>
            <a:r>
              <a:rPr lang="en-US" b="1" dirty="0">
                <a:solidFill>
                  <a:srgbClr val="C00000"/>
                </a:solidFill>
              </a:rPr>
              <a:t>views or perspectives</a:t>
            </a:r>
            <a:r>
              <a:rPr lang="en-US" dirty="0"/>
              <a:t> are useful when designing and documenting a system’s architecture?</a:t>
            </a:r>
            <a:endParaRPr lang="en-GB" dirty="0"/>
          </a:p>
          <a:p>
            <a:r>
              <a:rPr lang="en-US" dirty="0"/>
              <a:t>What </a:t>
            </a:r>
            <a:r>
              <a:rPr lang="en-US" b="1" dirty="0">
                <a:solidFill>
                  <a:srgbClr val="C00000"/>
                </a:solidFill>
              </a:rPr>
              <a:t>notations</a:t>
            </a:r>
            <a:r>
              <a:rPr lang="en-US" dirty="0"/>
              <a:t> should be used for describing architectural models?</a:t>
            </a:r>
          </a:p>
          <a:p>
            <a:r>
              <a:rPr lang="en-US" dirty="0"/>
              <a:t>Each architectural model only shows one view or perspective of the system</a:t>
            </a:r>
          </a:p>
          <a:p>
            <a:pPr lvl="1"/>
            <a:r>
              <a:rPr lang="en-US" dirty="0"/>
              <a:t>It might show how a system is </a:t>
            </a:r>
            <a:r>
              <a:rPr lang="en-US" b="1" dirty="0">
                <a:solidFill>
                  <a:srgbClr val="C00000"/>
                </a:solidFill>
              </a:rPr>
              <a:t>decomposed into modules</a:t>
            </a:r>
            <a:r>
              <a:rPr lang="en-US" dirty="0"/>
              <a:t>, how the run-time </a:t>
            </a:r>
            <a:r>
              <a:rPr lang="en-US" b="1" dirty="0">
                <a:solidFill>
                  <a:srgbClr val="C00000"/>
                </a:solidFill>
              </a:rPr>
              <a:t>processes interact </a:t>
            </a:r>
            <a:r>
              <a:rPr lang="en-US" dirty="0"/>
              <a:t>or the different ways in which system </a:t>
            </a:r>
            <a:r>
              <a:rPr lang="en-US" b="1" dirty="0">
                <a:solidFill>
                  <a:srgbClr val="C00000"/>
                </a:solidFill>
              </a:rPr>
              <a:t>components are distributed</a:t>
            </a:r>
            <a:r>
              <a:rPr lang="en-US" dirty="0"/>
              <a:t> across a network</a:t>
            </a:r>
          </a:p>
          <a:p>
            <a:pPr lvl="1"/>
            <a:r>
              <a:rPr lang="en-US" dirty="0"/>
              <a:t>For both design and documentation, we usually need to present multiple views of the software architecture</a:t>
            </a:r>
            <a:endParaRPr lang="en-GB" dirty="0"/>
          </a:p>
          <a:p>
            <a:endParaRPr lang="en-US" dirty="0"/>
          </a:p>
        </p:txBody>
      </p:sp>
      <p:sp>
        <p:nvSpPr>
          <p:cNvPr id="5" name="Footer Placeholder 4"/>
          <p:cNvSpPr>
            <a:spLocks noGrp="1"/>
          </p:cNvSpPr>
          <p:nvPr>
            <p:ph type="ftr" sz="quarter" idx="11"/>
          </p:nvPr>
        </p:nvSpPr>
        <p:spPr/>
        <p:txBody>
          <a:bodyPr/>
          <a:lstStyle/>
          <a:p>
            <a:r>
              <a:rPr lang="en-US"/>
              <a:t>Software Engineering</a:t>
            </a:r>
          </a:p>
        </p:txBody>
      </p:sp>
      <p:sp>
        <p:nvSpPr>
          <p:cNvPr id="6" name="Date Placeholder 5"/>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27</a:t>
            </a:fld>
            <a:endParaRPr lang="en-US"/>
          </a:p>
        </p:txBody>
      </p:sp>
    </p:spTree>
    <p:extLst>
      <p:ext uri="{BB962C8B-B14F-4D97-AF65-F5344CB8AC3E}">
        <p14:creationId xmlns:p14="http://schemas.microsoft.com/office/powerpoint/2010/main" val="2910993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Architectural Views</a:t>
            </a:r>
            <a:endParaRPr lang="en-US" dirty="0"/>
          </a:p>
        </p:txBody>
      </p:sp>
      <p:sp>
        <p:nvSpPr>
          <p:cNvPr id="4" name="Footer Placeholder 3"/>
          <p:cNvSpPr>
            <a:spLocks noGrp="1"/>
          </p:cNvSpPr>
          <p:nvPr>
            <p:ph type="ftr" sz="quarter" idx="11"/>
          </p:nvPr>
        </p:nvSpPr>
        <p:spPr/>
        <p:txBody>
          <a:bodyPr/>
          <a:lstStyle/>
          <a:p>
            <a:r>
              <a:rPr lang="en-US"/>
              <a:t>Software Engineering</a:t>
            </a:r>
          </a:p>
        </p:txBody>
      </p:sp>
      <p:pic>
        <p:nvPicPr>
          <p:cNvPr id="6" name="Picture 5" descr="6.3 Architectural view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4383" y="1877595"/>
            <a:ext cx="5375755" cy="4044616"/>
          </a:xfrm>
          <a:prstGeom prst="rect">
            <a:avLst/>
          </a:prstGeom>
        </p:spPr>
      </p:pic>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28</a:t>
            </a:fld>
            <a:endParaRPr lang="en-US"/>
          </a:p>
        </p:txBody>
      </p:sp>
    </p:spTree>
    <p:extLst>
      <p:ext uri="{BB962C8B-B14F-4D97-AF65-F5344CB8AC3E}">
        <p14:creationId xmlns:p14="http://schemas.microsoft.com/office/powerpoint/2010/main" val="2321790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 </a:t>
            </a:r>
            <a:r>
              <a:rPr lang="en-US"/>
              <a:t>1 View Model of Software Architecture</a:t>
            </a:r>
            <a:endParaRPr lang="en-US" dirty="0"/>
          </a:p>
        </p:txBody>
      </p:sp>
      <p:sp>
        <p:nvSpPr>
          <p:cNvPr id="3" name="Content Placeholder 2"/>
          <p:cNvSpPr>
            <a:spLocks noGrp="1"/>
          </p:cNvSpPr>
          <p:nvPr>
            <p:ph idx="1"/>
          </p:nvPr>
        </p:nvSpPr>
        <p:spPr>
          <a:xfrm>
            <a:off x="457200" y="1600200"/>
            <a:ext cx="8458200" cy="4525963"/>
          </a:xfrm>
        </p:spPr>
        <p:txBody>
          <a:bodyPr>
            <a:normAutofit fontScale="92500" lnSpcReduction="20000"/>
          </a:bodyPr>
          <a:lstStyle/>
          <a:p>
            <a:r>
              <a:rPr lang="en-US" b="1" dirty="0">
                <a:solidFill>
                  <a:srgbClr val="C00000"/>
                </a:solidFill>
              </a:rPr>
              <a:t>Logical view</a:t>
            </a:r>
            <a:r>
              <a:rPr lang="en-US" dirty="0"/>
              <a:t> shows the key abstractions in the system as objects or object classes</a:t>
            </a:r>
            <a:endParaRPr lang="en-GB" dirty="0"/>
          </a:p>
          <a:p>
            <a:r>
              <a:rPr lang="en-US" b="1" dirty="0">
                <a:solidFill>
                  <a:srgbClr val="C00000"/>
                </a:solidFill>
              </a:rPr>
              <a:t>Process view</a:t>
            </a:r>
            <a:r>
              <a:rPr lang="en-US" dirty="0"/>
              <a:t> shows how, at run-time, the system is composed of interacting processes</a:t>
            </a:r>
            <a:endParaRPr lang="en-GB" dirty="0"/>
          </a:p>
          <a:p>
            <a:r>
              <a:rPr lang="en-US" b="1" dirty="0">
                <a:solidFill>
                  <a:srgbClr val="C00000"/>
                </a:solidFill>
              </a:rPr>
              <a:t>Development (or implementation) view</a:t>
            </a:r>
            <a:r>
              <a:rPr lang="en-US" dirty="0"/>
              <a:t> shows how the software is decomposed for development</a:t>
            </a:r>
            <a:endParaRPr lang="en-GB" dirty="0"/>
          </a:p>
          <a:p>
            <a:r>
              <a:rPr lang="en-US" b="1" dirty="0">
                <a:solidFill>
                  <a:srgbClr val="C00000"/>
                </a:solidFill>
              </a:rPr>
              <a:t>Physical (or deployment) view</a:t>
            </a:r>
            <a:r>
              <a:rPr lang="en-US" dirty="0"/>
              <a:t> shows the system hardware and how software components are distributed across the processors in the system</a:t>
            </a:r>
          </a:p>
          <a:p>
            <a:r>
              <a:rPr lang="en-US" dirty="0"/>
              <a:t>Related using </a:t>
            </a:r>
            <a:r>
              <a:rPr lang="en-US" b="1" dirty="0">
                <a:solidFill>
                  <a:srgbClr val="C00000"/>
                </a:solidFill>
              </a:rPr>
              <a:t>use cases or scenarios</a:t>
            </a:r>
            <a:r>
              <a:rPr lang="en-US" dirty="0"/>
              <a:t> (+1) </a:t>
            </a:r>
            <a:endParaRPr lang="en-GB" dirty="0"/>
          </a:p>
          <a:p>
            <a:endParaRPr lang="en-US" dirty="0"/>
          </a:p>
        </p:txBody>
      </p:sp>
      <p:sp>
        <p:nvSpPr>
          <p:cNvPr id="5" name="Footer Placeholder 4"/>
          <p:cNvSpPr>
            <a:spLocks noGrp="1"/>
          </p:cNvSpPr>
          <p:nvPr>
            <p:ph type="ftr" sz="quarter" idx="11"/>
          </p:nvPr>
        </p:nvSpPr>
        <p:spPr/>
        <p:txBody>
          <a:bodyPr/>
          <a:lstStyle/>
          <a:p>
            <a:r>
              <a:rPr lang="en-US"/>
              <a:t>Software Engineering</a:t>
            </a:r>
          </a:p>
        </p:txBody>
      </p:sp>
      <p:sp>
        <p:nvSpPr>
          <p:cNvPr id="6" name="Date Placeholder 5"/>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29</a:t>
            </a:fld>
            <a:endParaRPr lang="en-US"/>
          </a:p>
        </p:txBody>
      </p:sp>
    </p:spTree>
    <p:extLst>
      <p:ext uri="{BB962C8B-B14F-4D97-AF65-F5344CB8AC3E}">
        <p14:creationId xmlns:p14="http://schemas.microsoft.com/office/powerpoint/2010/main" val="912297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UML Diagrams to Represent Architectural Views (4+1 View Model)</a:t>
            </a:r>
          </a:p>
        </p:txBody>
      </p:sp>
      <p:pic>
        <p:nvPicPr>
          <p:cNvPr id="7" name="Content Placeholder 6"/>
          <p:cNvPicPr>
            <a:picLocks noGrp="1" noChangeAspect="1"/>
          </p:cNvPicPr>
          <p:nvPr>
            <p:ph idx="1"/>
          </p:nvPr>
        </p:nvPicPr>
        <p:blipFill>
          <a:blip r:embed="rId2"/>
          <a:stretch>
            <a:fillRect/>
          </a:stretch>
        </p:blipFill>
        <p:spPr>
          <a:xfrm>
            <a:off x="533400" y="1689820"/>
            <a:ext cx="8229600" cy="3168480"/>
          </a:xfrm>
          <a:prstGeom prst="rect">
            <a:avLst/>
          </a:prstGeom>
        </p:spPr>
      </p:pic>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8" name="TextBox 7"/>
          <p:cNvSpPr txBox="1"/>
          <p:nvPr/>
        </p:nvSpPr>
        <p:spPr>
          <a:xfrm>
            <a:off x="1524000" y="4753575"/>
            <a:ext cx="5334000" cy="369332"/>
          </a:xfrm>
          <a:prstGeom prst="rect">
            <a:avLst/>
          </a:prstGeom>
          <a:noFill/>
        </p:spPr>
        <p:txBody>
          <a:bodyPr wrap="square" rtlCol="0">
            <a:spAutoFit/>
          </a:bodyPr>
          <a:lstStyle/>
          <a:p>
            <a:r>
              <a:rPr lang="en-MY"/>
              <a:t>Source: Kruchten (2000) in Arlow and Neustadt (2002)</a:t>
            </a:r>
          </a:p>
        </p:txBody>
      </p:sp>
      <p:sp>
        <p:nvSpPr>
          <p:cNvPr id="9" name="TextBox 8"/>
          <p:cNvSpPr txBox="1"/>
          <p:nvPr/>
        </p:nvSpPr>
        <p:spPr>
          <a:xfrm>
            <a:off x="838200" y="5434211"/>
            <a:ext cx="7620000" cy="646331"/>
          </a:xfrm>
          <a:prstGeom prst="rect">
            <a:avLst/>
          </a:prstGeom>
          <a:noFill/>
        </p:spPr>
        <p:txBody>
          <a:bodyPr wrap="square" rtlCol="0">
            <a:spAutoFit/>
          </a:bodyPr>
          <a:lstStyle/>
          <a:p>
            <a:r>
              <a:rPr lang="en-MY" dirty="0">
                <a:solidFill>
                  <a:srgbClr val="C00000"/>
                </a:solidFill>
              </a:rPr>
              <a:t>Note: Sommerville (2016) states implementation view as development view, while deployment view as physical view </a:t>
            </a:r>
          </a:p>
        </p:txBody>
      </p:sp>
      <p:sp>
        <p:nvSpPr>
          <p:cNvPr id="3" name="Slide Number Placeholder 2"/>
          <p:cNvSpPr>
            <a:spLocks noGrp="1"/>
          </p:cNvSpPr>
          <p:nvPr>
            <p:ph type="sldNum" sz="quarter" idx="12"/>
          </p:nvPr>
        </p:nvSpPr>
        <p:spPr/>
        <p:txBody>
          <a:bodyPr/>
          <a:lstStyle/>
          <a:p>
            <a:fld id="{0362C787-829C-4B6B-B21B-90D8981190F3}" type="slidenum">
              <a:rPr lang="en-US" smtClean="0"/>
              <a:pPr/>
              <a:t>30</a:t>
            </a:fld>
            <a:endParaRPr lang="en-US"/>
          </a:p>
        </p:txBody>
      </p:sp>
    </p:spTree>
    <p:extLst>
      <p:ext uri="{BB962C8B-B14F-4D97-AF65-F5344CB8AC3E}">
        <p14:creationId xmlns:p14="http://schemas.microsoft.com/office/powerpoint/2010/main" val="1140379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From Design to Implementation</a:t>
            </a:r>
          </a:p>
        </p:txBody>
      </p:sp>
      <p:sp>
        <p:nvSpPr>
          <p:cNvPr id="3" name="Content Placeholder 2"/>
          <p:cNvSpPr>
            <a:spLocks noGrp="1"/>
          </p:cNvSpPr>
          <p:nvPr>
            <p:ph idx="1"/>
          </p:nvPr>
        </p:nvSpPr>
        <p:spPr/>
        <p:txBody>
          <a:bodyPr>
            <a:normAutofit fontScale="92500" lnSpcReduction="10000"/>
          </a:bodyPr>
          <a:lstStyle/>
          <a:p>
            <a:r>
              <a:rPr lang="en-MY" dirty="0"/>
              <a:t>The key artefact of the implementation workflow from the point of view of the OO analyst or designer is the implementation model</a:t>
            </a:r>
          </a:p>
          <a:p>
            <a:r>
              <a:rPr lang="en-MY" dirty="0"/>
              <a:t>This model consists of </a:t>
            </a:r>
            <a:r>
              <a:rPr lang="en-MY" b="1" dirty="0">
                <a:solidFill>
                  <a:srgbClr val="C00000"/>
                </a:solidFill>
              </a:rPr>
              <a:t>2 types of diagram</a:t>
            </a:r>
            <a:r>
              <a:rPr lang="en-MY" dirty="0"/>
              <a:t>:</a:t>
            </a:r>
          </a:p>
          <a:p>
            <a:pPr lvl="1"/>
            <a:r>
              <a:rPr lang="en-MY" b="1" dirty="0">
                <a:solidFill>
                  <a:srgbClr val="C00000"/>
                </a:solidFill>
              </a:rPr>
              <a:t>Component diagram</a:t>
            </a:r>
            <a:r>
              <a:rPr lang="en-MY" dirty="0"/>
              <a:t>: models the dependencies between the software components that constitute the system</a:t>
            </a:r>
          </a:p>
          <a:p>
            <a:pPr lvl="1"/>
            <a:r>
              <a:rPr lang="en-MY" b="1" dirty="0">
                <a:solidFill>
                  <a:srgbClr val="C00000"/>
                </a:solidFill>
              </a:rPr>
              <a:t>Deployment diagram</a:t>
            </a:r>
            <a:r>
              <a:rPr lang="en-MY" dirty="0"/>
              <a:t>: models the physical computational nodes on which the software will be deployed, and the relationships between those nodes</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7" name="TextBox 6"/>
          <p:cNvSpPr txBox="1"/>
          <p:nvPr/>
        </p:nvSpPr>
        <p:spPr>
          <a:xfrm>
            <a:off x="3276600" y="5992947"/>
            <a:ext cx="5334000" cy="369332"/>
          </a:xfrm>
          <a:prstGeom prst="rect">
            <a:avLst/>
          </a:prstGeom>
          <a:noFill/>
        </p:spPr>
        <p:txBody>
          <a:bodyPr wrap="square" rtlCol="0">
            <a:spAutoFit/>
          </a:bodyPr>
          <a:lstStyle/>
          <a:p>
            <a:pPr algn="r"/>
            <a:r>
              <a:rPr lang="en-MY"/>
              <a:t>Source: Arlow and Neustadt (2002)</a:t>
            </a:r>
          </a:p>
        </p:txBody>
      </p:sp>
      <p:sp>
        <p:nvSpPr>
          <p:cNvPr id="6" name="Slide Number Placeholder 5"/>
          <p:cNvSpPr>
            <a:spLocks noGrp="1"/>
          </p:cNvSpPr>
          <p:nvPr>
            <p:ph type="sldNum" sz="quarter" idx="12"/>
          </p:nvPr>
        </p:nvSpPr>
        <p:spPr/>
        <p:txBody>
          <a:bodyPr/>
          <a:lstStyle/>
          <a:p>
            <a:fld id="{0362C787-829C-4B6B-B21B-90D8981190F3}" type="slidenum">
              <a:rPr lang="en-US" smtClean="0"/>
              <a:pPr/>
              <a:t>31</a:t>
            </a:fld>
            <a:endParaRPr lang="en-US"/>
          </a:p>
        </p:txBody>
      </p:sp>
    </p:spTree>
    <p:extLst>
      <p:ext uri="{BB962C8B-B14F-4D97-AF65-F5344CB8AC3E}">
        <p14:creationId xmlns:p14="http://schemas.microsoft.com/office/powerpoint/2010/main" val="1596786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Relationship between Implementation Model and Design Model</a:t>
            </a:r>
          </a:p>
        </p:txBody>
      </p:sp>
      <p:sp>
        <p:nvSpPr>
          <p:cNvPr id="3" name="Content Placeholder 2"/>
          <p:cNvSpPr>
            <a:spLocks noGrp="1"/>
          </p:cNvSpPr>
          <p:nvPr>
            <p:ph idx="1"/>
          </p:nvPr>
        </p:nvSpPr>
        <p:spPr/>
        <p:txBody>
          <a:bodyPr>
            <a:normAutofit/>
          </a:bodyPr>
          <a:lstStyle/>
          <a:p>
            <a:r>
              <a:rPr lang="en-MY" sz="2800" dirty="0"/>
              <a:t>Implementation model is really just the implementation view of a design model i.e. it is part of the design model, see the relationship &lt;&lt;trace&gt;&gt;</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Content Placeholder 7"/>
          <p:cNvPicPr>
            <a:picLocks noChangeAspect="1"/>
          </p:cNvPicPr>
          <p:nvPr/>
        </p:nvPicPr>
        <p:blipFill>
          <a:blip r:embed="rId2"/>
          <a:stretch>
            <a:fillRect/>
          </a:stretch>
        </p:blipFill>
        <p:spPr>
          <a:xfrm>
            <a:off x="1759857" y="3018971"/>
            <a:ext cx="6926943" cy="3164467"/>
          </a:xfrm>
          <a:prstGeom prst="rect">
            <a:avLst/>
          </a:prstGeom>
        </p:spPr>
      </p:pic>
      <p:pic>
        <p:nvPicPr>
          <p:cNvPr id="8" name="Picture 7"/>
          <p:cNvPicPr>
            <a:picLocks noChangeAspect="1"/>
          </p:cNvPicPr>
          <p:nvPr/>
        </p:nvPicPr>
        <p:blipFill>
          <a:blip r:embed="rId3"/>
          <a:stretch>
            <a:fillRect/>
          </a:stretch>
        </p:blipFill>
        <p:spPr>
          <a:xfrm>
            <a:off x="457200" y="4114800"/>
            <a:ext cx="1600200" cy="1184148"/>
          </a:xfrm>
          <a:prstGeom prst="rect">
            <a:avLst/>
          </a:prstGeom>
        </p:spPr>
      </p:pic>
      <p:sp>
        <p:nvSpPr>
          <p:cNvPr id="6" name="Slide Number Placeholder 5"/>
          <p:cNvSpPr>
            <a:spLocks noGrp="1"/>
          </p:cNvSpPr>
          <p:nvPr>
            <p:ph type="sldNum" sz="quarter" idx="12"/>
          </p:nvPr>
        </p:nvSpPr>
        <p:spPr/>
        <p:txBody>
          <a:bodyPr/>
          <a:lstStyle/>
          <a:p>
            <a:fld id="{0362C787-829C-4B6B-B21B-90D8981190F3}" type="slidenum">
              <a:rPr lang="en-US" smtClean="0"/>
              <a:pPr/>
              <a:t>32</a:t>
            </a:fld>
            <a:endParaRPr lang="en-US"/>
          </a:p>
        </p:txBody>
      </p:sp>
    </p:spTree>
    <p:extLst>
      <p:ext uri="{BB962C8B-B14F-4D97-AF65-F5344CB8AC3E}">
        <p14:creationId xmlns:p14="http://schemas.microsoft.com/office/powerpoint/2010/main" val="3865145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MY" sz="3600"/>
              <a:t>Relationship between Design Subsystems and Implementation Subsystems</a:t>
            </a:r>
          </a:p>
        </p:txBody>
      </p:sp>
      <p:sp>
        <p:nvSpPr>
          <p:cNvPr id="3" name="Content Placeholder 2"/>
          <p:cNvSpPr>
            <a:spLocks noGrp="1"/>
          </p:cNvSpPr>
          <p:nvPr>
            <p:ph idx="1"/>
          </p:nvPr>
        </p:nvSpPr>
        <p:spPr/>
        <p:txBody>
          <a:bodyPr>
            <a:normAutofit/>
          </a:bodyPr>
          <a:lstStyle/>
          <a:p>
            <a:r>
              <a:rPr lang="en-MY" sz="2800" dirty="0"/>
              <a:t>There is a one-to-one «trace» relationship between design subsystems and implementation subsystems</a:t>
            </a:r>
          </a:p>
          <a:p>
            <a:r>
              <a:rPr lang="en-MY" sz="2800" dirty="0"/>
              <a:t>Design subsystems contain </a:t>
            </a:r>
            <a:r>
              <a:rPr lang="en-MY" sz="2800" b="1" dirty="0">
                <a:solidFill>
                  <a:srgbClr val="C00000"/>
                </a:solidFill>
              </a:rPr>
              <a:t>design classes </a:t>
            </a:r>
            <a:r>
              <a:rPr lang="en-MY" sz="2800" dirty="0"/>
              <a:t>but implementation subsystems contain </a:t>
            </a:r>
            <a:r>
              <a:rPr lang="en-MY" sz="2800" b="1" dirty="0">
                <a:solidFill>
                  <a:srgbClr val="C00000"/>
                </a:solidFill>
              </a:rPr>
              <a:t>components that package those classes</a:t>
            </a:r>
            <a:endParaRPr lang="en-MY" sz="2800" dirty="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6"/>
          <p:cNvPicPr>
            <a:picLocks noChangeAspect="1"/>
          </p:cNvPicPr>
          <p:nvPr/>
        </p:nvPicPr>
        <p:blipFill>
          <a:blip r:embed="rId2"/>
          <a:stretch>
            <a:fillRect/>
          </a:stretch>
        </p:blipFill>
        <p:spPr>
          <a:xfrm>
            <a:off x="1748969" y="3886200"/>
            <a:ext cx="5735089" cy="2533573"/>
          </a:xfrm>
          <a:prstGeom prst="rect">
            <a:avLst/>
          </a:prstGeom>
        </p:spPr>
      </p:pic>
      <p:sp>
        <p:nvSpPr>
          <p:cNvPr id="6" name="Slide Number Placeholder 5"/>
          <p:cNvSpPr>
            <a:spLocks noGrp="1"/>
          </p:cNvSpPr>
          <p:nvPr>
            <p:ph type="sldNum" sz="quarter" idx="12"/>
          </p:nvPr>
        </p:nvSpPr>
        <p:spPr/>
        <p:txBody>
          <a:bodyPr/>
          <a:lstStyle/>
          <a:p>
            <a:fld id="{0362C787-829C-4B6B-B21B-90D8981190F3}" type="slidenum">
              <a:rPr lang="en-US" smtClean="0"/>
              <a:pPr/>
              <a:t>33</a:t>
            </a:fld>
            <a:endParaRPr lang="en-US"/>
          </a:p>
        </p:txBody>
      </p:sp>
    </p:spTree>
    <p:extLst>
      <p:ext uri="{BB962C8B-B14F-4D97-AF65-F5344CB8AC3E}">
        <p14:creationId xmlns:p14="http://schemas.microsoft.com/office/powerpoint/2010/main" val="5710853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ltLang="en-US">
                <a:solidFill>
                  <a:srgbClr val="000000"/>
                </a:solidFill>
                <a:cs typeface="Times New Roman" pitchFamily="18" charset="0"/>
              </a:rPr>
              <a:t>Component diagram as an implementation view </a:t>
            </a:r>
            <a:endParaRPr lang="en-US" altLang="en-US" dirty="0">
              <a:solidFill>
                <a:srgbClr val="000000"/>
              </a:solidFill>
              <a:cs typeface="Times New Roman" pitchFamily="18" charset="0"/>
            </a:endParaRPr>
          </a:p>
        </p:txBody>
      </p:sp>
      <p:sp>
        <p:nvSpPr>
          <p:cNvPr id="11" name="Text Placeholder 10"/>
          <p:cNvSpPr>
            <a:spLocks noGrp="1"/>
          </p:cNvSpPr>
          <p:nvPr>
            <p:ph type="body" idx="1"/>
          </p:nvPr>
        </p:nvSpPr>
        <p:spPr/>
        <p:txBody>
          <a:bodyPr/>
          <a:lstStyle/>
          <a:p>
            <a:r>
              <a:rPr lang="en-MY" dirty="0"/>
              <a:t>Existing framework, legacy system, existing system, hardware driver</a:t>
            </a:r>
            <a:r>
              <a:rPr lang="en-MY"/>
              <a:t>, Web </a:t>
            </a:r>
            <a:r>
              <a:rPr lang="en-MY" dirty="0"/>
              <a:t>service provider </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2" name="Slide Number Placeholder 1"/>
          <p:cNvSpPr>
            <a:spLocks noGrp="1"/>
          </p:cNvSpPr>
          <p:nvPr>
            <p:ph type="sldNum" sz="quarter" idx="12"/>
          </p:nvPr>
        </p:nvSpPr>
        <p:spPr/>
        <p:txBody>
          <a:bodyPr/>
          <a:lstStyle/>
          <a:p>
            <a:fld id="{0362C787-829C-4B6B-B21B-90D8981190F3}" type="slidenum">
              <a:rPr lang="en-US" smtClean="0"/>
              <a:pPr/>
              <a:t>34</a:t>
            </a:fld>
            <a:endParaRPr lang="en-US"/>
          </a:p>
        </p:txBody>
      </p:sp>
    </p:spTree>
    <p:extLst>
      <p:ext uri="{BB962C8B-B14F-4D97-AF65-F5344CB8AC3E}">
        <p14:creationId xmlns:p14="http://schemas.microsoft.com/office/powerpoint/2010/main" val="2661041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en-US"/>
              <a:t>UML Component Diagram</a:t>
            </a:r>
          </a:p>
        </p:txBody>
      </p:sp>
      <p:sp>
        <p:nvSpPr>
          <p:cNvPr id="94211" name="Rectangle 3"/>
          <p:cNvSpPr>
            <a:spLocks noGrp="1" noChangeArrowheads="1"/>
          </p:cNvSpPr>
          <p:nvPr>
            <p:ph type="body" idx="1"/>
          </p:nvPr>
        </p:nvSpPr>
        <p:spPr>
          <a:xfrm>
            <a:off x="609600" y="1405849"/>
            <a:ext cx="8286750" cy="5419725"/>
          </a:xfrm>
        </p:spPr>
        <p:txBody>
          <a:bodyPr>
            <a:normAutofit/>
          </a:bodyPr>
          <a:lstStyle/>
          <a:p>
            <a:r>
              <a:rPr lang="de-DE" altLang="en-US" sz="2800" dirty="0"/>
              <a:t>Used to model the top-level view of the system design in terms of components and </a:t>
            </a:r>
            <a:r>
              <a:rPr lang="en-US" altLang="en-US" sz="2800" dirty="0"/>
              <a:t>dependencies among the components</a:t>
            </a:r>
          </a:p>
          <a:p>
            <a:r>
              <a:rPr lang="en-US" altLang="en-US" sz="2800" dirty="0"/>
              <a:t>Components can be linkable libraries, executables </a:t>
            </a:r>
          </a:p>
          <a:p>
            <a:r>
              <a:rPr lang="en-US" altLang="en-US" sz="2800" dirty="0"/>
              <a:t>Components can be identified based on </a:t>
            </a:r>
            <a:r>
              <a:rPr lang="en-US" altLang="en-US" sz="2800" b="1" dirty="0">
                <a:solidFill>
                  <a:srgbClr val="C00000"/>
                </a:solidFill>
              </a:rPr>
              <a:t>influence from the system environment</a:t>
            </a:r>
            <a:r>
              <a:rPr lang="en-US" altLang="en-US" sz="2800" b="1" dirty="0">
                <a:solidFill>
                  <a:srgbClr val="FF0000"/>
                </a:solidFill>
              </a:rPr>
              <a:t> </a:t>
            </a:r>
            <a:r>
              <a:rPr lang="en-US" altLang="en-US" sz="2800" dirty="0"/>
              <a:t>e.g. existing framework used for the software, connection to legacy system or external system, hardware driver used and also if the software used any web service available</a:t>
            </a:r>
          </a:p>
          <a:p>
            <a:pPr lvl="1"/>
            <a:endParaRPr lang="en-US" altLang="en-US" dirty="0"/>
          </a:p>
          <a:p>
            <a:endParaRPr lang="en-US" altLang="en-US" sz="2800" dirty="0"/>
          </a:p>
        </p:txBody>
      </p:sp>
      <p:sp>
        <p:nvSpPr>
          <p:cNvPr id="2" name="Date Placeholder 1"/>
          <p:cNvSpPr>
            <a:spLocks noGrp="1"/>
          </p:cNvSpPr>
          <p:nvPr>
            <p:ph type="dt" sz="half" idx="10"/>
          </p:nvPr>
        </p:nvSpPr>
        <p:spPr/>
        <p:txBody>
          <a:bodyPr/>
          <a:lstStyle/>
          <a:p>
            <a:r>
              <a:rPr lang="en-US"/>
              <a:t>2021</a:t>
            </a:r>
          </a:p>
        </p:txBody>
      </p:sp>
      <p:sp>
        <p:nvSpPr>
          <p:cNvPr id="3" name="Footer Placeholder 2"/>
          <p:cNvSpPr>
            <a:spLocks noGrp="1"/>
          </p:cNvSpPr>
          <p:nvPr>
            <p:ph type="ftr" sz="quarter" idx="11"/>
          </p:nvPr>
        </p:nvSpPr>
        <p:spPr/>
        <p:txBody>
          <a:bodyPr/>
          <a:lstStyle/>
          <a:p>
            <a:r>
              <a:rPr lang="en-US"/>
              <a:t>Software Engineering</a:t>
            </a:r>
          </a:p>
        </p:txBody>
      </p:sp>
      <p:sp>
        <p:nvSpPr>
          <p:cNvPr id="7" name="Rectangle 6"/>
          <p:cNvSpPr/>
          <p:nvPr/>
        </p:nvSpPr>
        <p:spPr>
          <a:xfrm>
            <a:off x="990600" y="6055418"/>
            <a:ext cx="4372094" cy="369332"/>
          </a:xfrm>
          <a:prstGeom prst="rect">
            <a:avLst/>
          </a:prstGeom>
        </p:spPr>
        <p:txBody>
          <a:bodyPr wrap="none">
            <a:spAutoFit/>
          </a:bodyPr>
          <a:lstStyle/>
          <a:p>
            <a:r>
              <a:rPr lang="en-GB"/>
              <a:t>Source: Bennett, McRobb and Farmer (2010)</a:t>
            </a:r>
            <a:endParaRPr lang="en-MY"/>
          </a:p>
        </p:txBody>
      </p:sp>
      <p:sp>
        <p:nvSpPr>
          <p:cNvPr id="4" name="Slide Number Placeholder 3"/>
          <p:cNvSpPr>
            <a:spLocks noGrp="1"/>
          </p:cNvSpPr>
          <p:nvPr>
            <p:ph type="sldNum" sz="quarter" idx="12"/>
          </p:nvPr>
        </p:nvSpPr>
        <p:spPr/>
        <p:txBody>
          <a:bodyPr/>
          <a:lstStyle/>
          <a:p>
            <a:fld id="{0362C787-829C-4B6B-B21B-90D8981190F3}" type="slidenum">
              <a:rPr lang="en-US" smtClean="0"/>
              <a:pPr/>
              <a:t>35</a:t>
            </a:fld>
            <a:endParaRPr lang="en-US"/>
          </a:p>
        </p:txBody>
      </p:sp>
    </p:spTree>
    <p:extLst>
      <p:ext uri="{BB962C8B-B14F-4D97-AF65-F5344CB8AC3E}">
        <p14:creationId xmlns:p14="http://schemas.microsoft.com/office/powerpoint/2010/main" val="3653485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a:t>UML Component Notation and Extension Notation for Windows and Web page</a:t>
            </a:r>
            <a:endParaRPr lang="en-MY" sz="360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86" y="1567786"/>
            <a:ext cx="6110514" cy="39201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6660777" y="6055418"/>
            <a:ext cx="2483223" cy="369332"/>
          </a:xfrm>
          <a:prstGeom prst="rect">
            <a:avLst/>
          </a:prstGeom>
          <a:noFill/>
        </p:spPr>
        <p:txBody>
          <a:bodyPr wrap="square" rtlCol="0">
            <a:spAutoFit/>
          </a:bodyPr>
          <a:lstStyle/>
          <a:p>
            <a:r>
              <a:rPr lang="en-MY"/>
              <a:t>Source: Satzinger (2011)</a:t>
            </a:r>
          </a:p>
        </p:txBody>
      </p:sp>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6428" y="4186831"/>
            <a:ext cx="3124200" cy="1244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0362C787-829C-4B6B-B21B-90D8981190F3}" type="slidenum">
              <a:rPr lang="en-US" smtClean="0"/>
              <a:pPr/>
              <a:t>36</a:t>
            </a:fld>
            <a:endParaRPr lang="en-US"/>
          </a:p>
        </p:txBody>
      </p:sp>
    </p:spTree>
    <p:extLst>
      <p:ext uri="{BB962C8B-B14F-4D97-AF65-F5344CB8AC3E}">
        <p14:creationId xmlns:p14="http://schemas.microsoft.com/office/powerpoint/2010/main" val="30150066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Types of Interface in Components</a:t>
            </a:r>
          </a:p>
        </p:txBody>
      </p:sp>
      <p:sp>
        <p:nvSpPr>
          <p:cNvPr id="3" name="Content Placeholder 2"/>
          <p:cNvSpPr>
            <a:spLocks noGrp="1"/>
          </p:cNvSpPr>
          <p:nvPr>
            <p:ph idx="1"/>
          </p:nvPr>
        </p:nvSpPr>
        <p:spPr>
          <a:xfrm>
            <a:off x="457200" y="1600200"/>
            <a:ext cx="8610600" cy="4525963"/>
          </a:xfrm>
        </p:spPr>
        <p:txBody>
          <a:bodyPr/>
          <a:lstStyle/>
          <a:p>
            <a:r>
              <a:rPr lang="en-US" altLang="en-US" sz="2800" dirty="0"/>
              <a:t>A UML interface describes a group of operations used or created by UML components</a:t>
            </a:r>
          </a:p>
          <a:p>
            <a:r>
              <a:rPr lang="de-DE" altLang="en-US" sz="2800" dirty="0"/>
              <a:t>2 types of interfaces: provided and required interfaces:</a:t>
            </a:r>
          </a:p>
          <a:p>
            <a:pPr lvl="1"/>
            <a:r>
              <a:rPr lang="de-DE" altLang="en-US" dirty="0"/>
              <a:t>A </a:t>
            </a:r>
            <a:r>
              <a:rPr lang="de-DE" altLang="en-US" b="1" dirty="0">
                <a:solidFill>
                  <a:srgbClr val="C00000"/>
                </a:solidFill>
              </a:rPr>
              <a:t>provided interface</a:t>
            </a:r>
            <a:r>
              <a:rPr lang="de-DE" altLang="en-US" dirty="0"/>
              <a:t> is modeled using the </a:t>
            </a:r>
            <a:r>
              <a:rPr lang="de-DE" altLang="en-US" b="1" dirty="0">
                <a:solidFill>
                  <a:srgbClr val="C00000"/>
                </a:solidFill>
              </a:rPr>
              <a:t>lollipop notation</a:t>
            </a:r>
            <a:r>
              <a:rPr lang="de-DE" altLang="en-US" dirty="0"/>
              <a:t> </a:t>
            </a:r>
          </a:p>
          <a:p>
            <a:pPr lvl="1"/>
            <a:r>
              <a:rPr lang="de-DE" altLang="en-US" dirty="0"/>
              <a:t>A</a:t>
            </a:r>
            <a:r>
              <a:rPr lang="de-DE" altLang="en-US" b="1" dirty="0">
                <a:solidFill>
                  <a:srgbClr val="C00000"/>
                </a:solidFill>
              </a:rPr>
              <a:t> required interface</a:t>
            </a:r>
            <a:r>
              <a:rPr lang="de-DE" altLang="en-US" dirty="0"/>
              <a:t> is modeled using the </a:t>
            </a:r>
            <a:r>
              <a:rPr lang="de-DE" altLang="en-US" b="1" dirty="0">
                <a:solidFill>
                  <a:srgbClr val="C00000"/>
                </a:solidFill>
              </a:rPr>
              <a:t>socket notation</a:t>
            </a:r>
            <a:r>
              <a:rPr lang="de-DE" altLang="en-US" dirty="0"/>
              <a:t> </a:t>
            </a:r>
          </a:p>
          <a:p>
            <a:endParaRPr lang="de-DE" altLang="en-US" sz="2800" dirty="0"/>
          </a:p>
          <a:p>
            <a:endParaRPr lang="en-MY" dirty="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4597150"/>
            <a:ext cx="4116760" cy="1701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489857" y="6055418"/>
            <a:ext cx="4372094" cy="369332"/>
          </a:xfrm>
          <a:prstGeom prst="rect">
            <a:avLst/>
          </a:prstGeom>
        </p:spPr>
        <p:txBody>
          <a:bodyPr wrap="none">
            <a:spAutoFit/>
          </a:bodyPr>
          <a:lstStyle/>
          <a:p>
            <a:r>
              <a:rPr lang="en-GB"/>
              <a:t>Source: Bennett, McRobb and Farmer (2010)</a:t>
            </a:r>
            <a:endParaRPr lang="en-MY"/>
          </a:p>
        </p:txBody>
      </p:sp>
      <p:sp>
        <p:nvSpPr>
          <p:cNvPr id="6" name="Slide Number Placeholder 5"/>
          <p:cNvSpPr>
            <a:spLocks noGrp="1"/>
          </p:cNvSpPr>
          <p:nvPr>
            <p:ph type="sldNum" sz="quarter" idx="12"/>
          </p:nvPr>
        </p:nvSpPr>
        <p:spPr/>
        <p:txBody>
          <a:bodyPr/>
          <a:lstStyle/>
          <a:p>
            <a:fld id="{0362C787-829C-4B6B-B21B-90D8981190F3}" type="slidenum">
              <a:rPr lang="en-US" smtClean="0"/>
              <a:pPr/>
              <a:t>37</a:t>
            </a:fld>
            <a:endParaRPr lang="en-US"/>
          </a:p>
        </p:txBody>
      </p:sp>
    </p:spTree>
    <p:extLst>
      <p:ext uri="{BB962C8B-B14F-4D97-AF65-F5344CB8AC3E}">
        <p14:creationId xmlns:p14="http://schemas.microsoft.com/office/powerpoint/2010/main" val="40098544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Influence from the System Environment: Existing Framework</a:t>
            </a:r>
          </a:p>
        </p:txBody>
      </p:sp>
      <p:sp>
        <p:nvSpPr>
          <p:cNvPr id="3" name="Content Placeholder 2"/>
          <p:cNvSpPr>
            <a:spLocks noGrp="1"/>
          </p:cNvSpPr>
          <p:nvPr>
            <p:ph idx="1"/>
          </p:nvPr>
        </p:nvSpPr>
        <p:spPr>
          <a:xfrm>
            <a:off x="228600" y="1600200"/>
            <a:ext cx="8554436" cy="4525963"/>
          </a:xfrm>
        </p:spPr>
        <p:txBody>
          <a:bodyPr>
            <a:normAutofit/>
          </a:bodyPr>
          <a:lstStyle/>
          <a:p>
            <a:r>
              <a:rPr lang="en-MY" sz="2800" dirty="0"/>
              <a:t>Choice of OS, database and programming language and the way to which the new components will be chosen, designed and interconnected</a:t>
            </a:r>
          </a:p>
          <a:p>
            <a:r>
              <a:rPr lang="en-MY" sz="2800" dirty="0"/>
              <a:t>e.g. adopting J2EE or Microsoft.NET will expect the new system to fit the framework</a:t>
            </a:r>
          </a:p>
          <a:p>
            <a:endParaRPr lang="en-MY" sz="2800" dirty="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2440" y="3868816"/>
            <a:ext cx="4538696" cy="2569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1444171" y="5385395"/>
            <a:ext cx="2590800" cy="923330"/>
          </a:xfrm>
          <a:prstGeom prst="rect">
            <a:avLst/>
          </a:prstGeom>
          <a:noFill/>
        </p:spPr>
        <p:txBody>
          <a:bodyPr wrap="square" rtlCol="0">
            <a:spAutoFit/>
          </a:bodyPr>
          <a:lstStyle/>
          <a:p>
            <a:r>
              <a:rPr lang="en-MY">
                <a:solidFill>
                  <a:srgbClr val="C00000"/>
                </a:solidFill>
              </a:rPr>
              <a:t>Component diagram based on web based system framework</a:t>
            </a:r>
          </a:p>
        </p:txBody>
      </p:sp>
      <p:sp>
        <p:nvSpPr>
          <p:cNvPr id="6" name="Slide Number Placeholder 5"/>
          <p:cNvSpPr>
            <a:spLocks noGrp="1"/>
          </p:cNvSpPr>
          <p:nvPr>
            <p:ph type="sldNum" sz="quarter" idx="12"/>
          </p:nvPr>
        </p:nvSpPr>
        <p:spPr/>
        <p:txBody>
          <a:bodyPr/>
          <a:lstStyle/>
          <a:p>
            <a:fld id="{0362C787-829C-4B6B-B21B-90D8981190F3}" type="slidenum">
              <a:rPr lang="en-US" smtClean="0"/>
              <a:pPr/>
              <a:t>38</a:t>
            </a:fld>
            <a:endParaRPr lang="en-US"/>
          </a:p>
        </p:txBody>
      </p:sp>
    </p:spTree>
    <p:extLst>
      <p:ext uri="{BB962C8B-B14F-4D97-AF65-F5344CB8AC3E}">
        <p14:creationId xmlns:p14="http://schemas.microsoft.com/office/powerpoint/2010/main" val="3240611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Influence from the System Environment: Legacy System</a:t>
            </a:r>
          </a:p>
        </p:txBody>
      </p:sp>
      <p:sp>
        <p:nvSpPr>
          <p:cNvPr id="3" name="Content Placeholder 2"/>
          <p:cNvSpPr>
            <a:spLocks noGrp="1"/>
          </p:cNvSpPr>
          <p:nvPr>
            <p:ph idx="1"/>
          </p:nvPr>
        </p:nvSpPr>
        <p:spPr/>
        <p:txBody>
          <a:bodyPr>
            <a:normAutofit/>
          </a:bodyPr>
          <a:lstStyle/>
          <a:p>
            <a:r>
              <a:rPr lang="en-MY" sz="2800" dirty="0"/>
              <a:t>The technology used to develop them are out of date and difficult to support </a:t>
            </a:r>
          </a:p>
          <a:p>
            <a:r>
              <a:rPr lang="en-MY" sz="2800" dirty="0"/>
              <a:t>The system operates on out of date technology  but still have a clear benefit to the business</a:t>
            </a:r>
          </a:p>
          <a:p>
            <a:r>
              <a:rPr lang="en-MY" sz="2800" dirty="0"/>
              <a:t>The new system need to access the data from legacy system using a wrapper</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6"/>
          <p:cNvPicPr>
            <a:picLocks noChangeAspect="1"/>
          </p:cNvPicPr>
          <p:nvPr/>
        </p:nvPicPr>
        <p:blipFill>
          <a:blip r:embed="rId2"/>
          <a:stretch>
            <a:fillRect/>
          </a:stretch>
        </p:blipFill>
        <p:spPr>
          <a:xfrm>
            <a:off x="4724400" y="4027725"/>
            <a:ext cx="3962399" cy="2289385"/>
          </a:xfrm>
          <a:prstGeom prst="rect">
            <a:avLst/>
          </a:prstGeom>
        </p:spPr>
      </p:pic>
      <p:sp>
        <p:nvSpPr>
          <p:cNvPr id="6" name="Slide Number Placeholder 5"/>
          <p:cNvSpPr>
            <a:spLocks noGrp="1"/>
          </p:cNvSpPr>
          <p:nvPr>
            <p:ph type="sldNum" sz="quarter" idx="12"/>
          </p:nvPr>
        </p:nvSpPr>
        <p:spPr/>
        <p:txBody>
          <a:bodyPr/>
          <a:lstStyle/>
          <a:p>
            <a:fld id="{0362C787-829C-4B6B-B21B-90D8981190F3}" type="slidenum">
              <a:rPr lang="en-US" smtClean="0"/>
              <a:pPr/>
              <a:t>39</a:t>
            </a:fld>
            <a:endParaRPr lang="en-US"/>
          </a:p>
        </p:txBody>
      </p:sp>
    </p:spTree>
    <p:extLst>
      <p:ext uri="{BB962C8B-B14F-4D97-AF65-F5344CB8AC3E}">
        <p14:creationId xmlns:p14="http://schemas.microsoft.com/office/powerpoint/2010/main" val="12045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Influence from the System Environment: External System</a:t>
            </a:r>
          </a:p>
        </p:txBody>
      </p:sp>
      <p:sp>
        <p:nvSpPr>
          <p:cNvPr id="3" name="Content Placeholder 2"/>
          <p:cNvSpPr>
            <a:spLocks noGrp="1"/>
          </p:cNvSpPr>
          <p:nvPr>
            <p:ph idx="1"/>
          </p:nvPr>
        </p:nvSpPr>
        <p:spPr/>
        <p:txBody>
          <a:bodyPr>
            <a:normAutofit/>
          </a:bodyPr>
          <a:lstStyle/>
          <a:p>
            <a:r>
              <a:rPr lang="en-MY" sz="2800"/>
              <a:t>The new system needs data from the external system</a:t>
            </a:r>
          </a:p>
          <a:p>
            <a:r>
              <a:rPr lang="en-MY" sz="2800"/>
              <a:t>Have to be connected to the external system provided service</a:t>
            </a:r>
          </a:p>
          <a:p>
            <a:endParaRPr lang="en-MY" sz="280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3323491"/>
            <a:ext cx="4876800" cy="2777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0362C787-829C-4B6B-B21B-90D8981190F3}" type="slidenum">
              <a:rPr lang="en-US" smtClean="0"/>
              <a:pPr/>
              <a:t>40</a:t>
            </a:fld>
            <a:endParaRPr lang="en-US"/>
          </a:p>
        </p:txBody>
      </p:sp>
    </p:spTree>
    <p:extLst>
      <p:ext uri="{BB962C8B-B14F-4D97-AF65-F5344CB8AC3E}">
        <p14:creationId xmlns:p14="http://schemas.microsoft.com/office/powerpoint/2010/main" val="42052460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Influence from the System Environment: Hardware Driver</a:t>
            </a:r>
          </a:p>
        </p:txBody>
      </p:sp>
      <p:sp>
        <p:nvSpPr>
          <p:cNvPr id="3" name="Content Placeholder 2"/>
          <p:cNvSpPr>
            <a:spLocks noGrp="1"/>
          </p:cNvSpPr>
          <p:nvPr>
            <p:ph idx="1"/>
          </p:nvPr>
        </p:nvSpPr>
        <p:spPr/>
        <p:txBody>
          <a:bodyPr>
            <a:normAutofit/>
          </a:bodyPr>
          <a:lstStyle/>
          <a:p>
            <a:r>
              <a:rPr lang="en-MY" sz="2800" dirty="0"/>
              <a:t>If there is hardware involved especially the usage of sensor or actuator, a </a:t>
            </a:r>
            <a:r>
              <a:rPr lang="en-MY" sz="2800" i="1" dirty="0" err="1"/>
              <a:t>dll</a:t>
            </a:r>
            <a:r>
              <a:rPr lang="en-MY" sz="2800" dirty="0"/>
              <a:t> library is needed as a component driver to link the hardware to the new system</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3112" y="3189003"/>
            <a:ext cx="5057775" cy="2951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0362C787-829C-4B6B-B21B-90D8981190F3}" type="slidenum">
              <a:rPr lang="en-US" smtClean="0"/>
              <a:pPr/>
              <a:t>41</a:t>
            </a:fld>
            <a:endParaRPr lang="en-US"/>
          </a:p>
        </p:txBody>
      </p:sp>
    </p:spTree>
    <p:extLst>
      <p:ext uri="{BB962C8B-B14F-4D97-AF65-F5344CB8AC3E}">
        <p14:creationId xmlns:p14="http://schemas.microsoft.com/office/powerpoint/2010/main" val="27991687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Influence from the System Environment: Web Service</a:t>
            </a:r>
          </a:p>
        </p:txBody>
      </p:sp>
      <p:sp>
        <p:nvSpPr>
          <p:cNvPr id="3" name="Content Placeholder 2"/>
          <p:cNvSpPr>
            <a:spLocks noGrp="1"/>
          </p:cNvSpPr>
          <p:nvPr>
            <p:ph idx="1"/>
          </p:nvPr>
        </p:nvSpPr>
        <p:spPr/>
        <p:txBody>
          <a:bodyPr/>
          <a:lstStyle/>
          <a:p>
            <a:r>
              <a:rPr lang="en-MY" dirty="0"/>
              <a:t>The new system needs an available API from a Web service</a:t>
            </a:r>
          </a:p>
          <a:p>
            <a:endParaRPr lang="en-MY" dirty="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927" y="2913950"/>
            <a:ext cx="4767031" cy="226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78" y="2954708"/>
            <a:ext cx="3708321" cy="234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0362C787-829C-4B6B-B21B-90D8981190F3}" type="slidenum">
              <a:rPr lang="en-US" smtClean="0"/>
              <a:pPr/>
              <a:t>42</a:t>
            </a:fld>
            <a:endParaRPr lang="en-US"/>
          </a:p>
        </p:txBody>
      </p:sp>
    </p:spTree>
    <p:extLst>
      <p:ext uri="{BB962C8B-B14F-4D97-AF65-F5344CB8AC3E}">
        <p14:creationId xmlns:p14="http://schemas.microsoft.com/office/powerpoint/2010/main" val="14480680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sz="3600"/>
              <a:t>Combination of Architectural Style: Layered, Subystems and Components</a:t>
            </a:r>
            <a:endParaRPr lang="en-MY" sz="360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5" descr="Fi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612" y="1565949"/>
            <a:ext cx="3930949" cy="488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350" y="1565949"/>
            <a:ext cx="4441825" cy="4830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Straight Arrow Connector 8"/>
          <p:cNvCxnSpPr/>
          <p:nvPr/>
        </p:nvCxnSpPr>
        <p:spPr>
          <a:xfrm flipH="1" flipV="1">
            <a:off x="4114800" y="4495800"/>
            <a:ext cx="1581376" cy="434062"/>
          </a:xfrm>
          <a:prstGeom prst="straightConnector1">
            <a:avLst/>
          </a:prstGeom>
          <a:ln w="25400" cmpd="sng">
            <a:headEnd type="none"/>
            <a:tailEnd type="stealth"/>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3276600" y="3657600"/>
            <a:ext cx="2348137" cy="685800"/>
          </a:xfrm>
          <a:prstGeom prst="straightConnector1">
            <a:avLst/>
          </a:prstGeom>
          <a:ln w="25400" cmpd="sng">
            <a:headEnd type="none"/>
            <a:tailEnd type="stealth"/>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3103787" y="2337474"/>
            <a:ext cx="2520950" cy="1871662"/>
          </a:xfrm>
          <a:prstGeom prst="straightConnector1">
            <a:avLst/>
          </a:prstGeom>
          <a:ln w="25400" cmpd="sng">
            <a:headEnd type="none"/>
            <a:tailEnd type="stealth"/>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0362C787-829C-4B6B-B21B-90D8981190F3}" type="slidenum">
              <a:rPr lang="en-US" smtClean="0"/>
              <a:pPr/>
              <a:t>43</a:t>
            </a:fld>
            <a:endParaRPr lang="en-US"/>
          </a:p>
        </p:txBody>
      </p:sp>
    </p:spTree>
    <p:extLst>
      <p:ext uri="{BB962C8B-B14F-4D97-AF65-F5344CB8AC3E}">
        <p14:creationId xmlns:p14="http://schemas.microsoft.com/office/powerpoint/2010/main" val="40613970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Two-Layer Architectural Design of Internet Systems</a:t>
            </a:r>
            <a:endParaRPr lang="en-MY"/>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5800" y="1512248"/>
            <a:ext cx="7848600" cy="4543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6660777" y="6055418"/>
            <a:ext cx="2483223" cy="369332"/>
          </a:xfrm>
          <a:prstGeom prst="rect">
            <a:avLst/>
          </a:prstGeom>
          <a:noFill/>
        </p:spPr>
        <p:txBody>
          <a:bodyPr wrap="square" rtlCol="0">
            <a:spAutoFit/>
          </a:bodyPr>
          <a:lstStyle/>
          <a:p>
            <a:r>
              <a:rPr lang="en-MY"/>
              <a:t>Source: Satzinger (2011)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44</a:t>
            </a:fld>
            <a:endParaRPr lang="en-US"/>
          </a:p>
        </p:txBody>
      </p:sp>
    </p:spTree>
    <p:extLst>
      <p:ext uri="{BB962C8B-B14F-4D97-AF65-F5344CB8AC3E}">
        <p14:creationId xmlns:p14="http://schemas.microsoft.com/office/powerpoint/2010/main" val="3329113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Three-Layer Architectural Design of Internet Systems</a:t>
            </a:r>
            <a:endParaRPr lang="en-MY"/>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500801"/>
            <a:ext cx="7848600" cy="4554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6660777" y="6055418"/>
            <a:ext cx="2483223" cy="369332"/>
          </a:xfrm>
          <a:prstGeom prst="rect">
            <a:avLst/>
          </a:prstGeom>
          <a:noFill/>
        </p:spPr>
        <p:txBody>
          <a:bodyPr wrap="square" rtlCol="0">
            <a:spAutoFit/>
          </a:bodyPr>
          <a:lstStyle/>
          <a:p>
            <a:r>
              <a:rPr lang="en-MY"/>
              <a:t>Source: Satzinger (2011)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45</a:t>
            </a:fld>
            <a:endParaRPr lang="en-US"/>
          </a:p>
        </p:txBody>
      </p:sp>
    </p:spTree>
    <p:extLst>
      <p:ext uri="{BB962C8B-B14F-4D97-AF65-F5344CB8AC3E}">
        <p14:creationId xmlns:p14="http://schemas.microsoft.com/office/powerpoint/2010/main" val="4048287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Component Diagram for Online Shopping</a:t>
            </a:r>
          </a:p>
        </p:txBody>
      </p:sp>
      <p:pic>
        <p:nvPicPr>
          <p:cNvPr id="7" name="Content Placeholder 6"/>
          <p:cNvPicPr>
            <a:picLocks noGrp="1" noChangeAspect="1"/>
          </p:cNvPicPr>
          <p:nvPr>
            <p:ph idx="1"/>
          </p:nvPr>
        </p:nvPicPr>
        <p:blipFill>
          <a:blip r:embed="rId2"/>
          <a:stretch>
            <a:fillRect/>
          </a:stretch>
        </p:blipFill>
        <p:spPr>
          <a:xfrm>
            <a:off x="1311772" y="1600200"/>
            <a:ext cx="6520455" cy="4525963"/>
          </a:xfrm>
          <a:prstGeom prst="rect">
            <a:avLst/>
          </a:prstGeom>
        </p:spPr>
      </p:pic>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8" name="TextBox 7"/>
          <p:cNvSpPr txBox="1"/>
          <p:nvPr/>
        </p:nvSpPr>
        <p:spPr>
          <a:xfrm>
            <a:off x="457200" y="6126163"/>
            <a:ext cx="8686800" cy="307777"/>
          </a:xfrm>
          <a:prstGeom prst="rect">
            <a:avLst/>
          </a:prstGeom>
          <a:noFill/>
        </p:spPr>
        <p:txBody>
          <a:bodyPr wrap="square" rtlCol="0">
            <a:spAutoFit/>
          </a:bodyPr>
          <a:lstStyle/>
          <a:p>
            <a:r>
              <a:rPr lang="en-MY" sz="1400"/>
              <a:t>Source: https://www.uml-diagrams.org/examples/online-shopping-uml-component-diagram-example.html</a:t>
            </a:r>
          </a:p>
        </p:txBody>
      </p:sp>
      <p:sp>
        <p:nvSpPr>
          <p:cNvPr id="3" name="Slide Number Placeholder 2"/>
          <p:cNvSpPr>
            <a:spLocks noGrp="1"/>
          </p:cNvSpPr>
          <p:nvPr>
            <p:ph type="sldNum" sz="quarter" idx="12"/>
          </p:nvPr>
        </p:nvSpPr>
        <p:spPr/>
        <p:txBody>
          <a:bodyPr/>
          <a:lstStyle/>
          <a:p>
            <a:fld id="{0362C787-829C-4B6B-B21B-90D8981190F3}" type="slidenum">
              <a:rPr lang="en-US" smtClean="0"/>
              <a:pPr/>
              <a:t>46</a:t>
            </a:fld>
            <a:endParaRPr lang="en-US"/>
          </a:p>
        </p:txBody>
      </p:sp>
    </p:spTree>
    <p:extLst>
      <p:ext uri="{BB962C8B-B14F-4D97-AF65-F5344CB8AC3E}">
        <p14:creationId xmlns:p14="http://schemas.microsoft.com/office/powerpoint/2010/main" val="28725549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Architectural pattern</a:t>
            </a:r>
          </a:p>
        </p:txBody>
      </p:sp>
      <p:sp>
        <p:nvSpPr>
          <p:cNvPr id="3" name="Text Placeholder 2"/>
          <p:cNvSpPr>
            <a:spLocks noGrp="1"/>
          </p:cNvSpPr>
          <p:nvPr>
            <p:ph type="body" idx="1"/>
          </p:nvPr>
        </p:nvSpPr>
        <p:spPr>
          <a:xfrm>
            <a:off x="722313" y="2906713"/>
            <a:ext cx="7126287" cy="1500187"/>
          </a:xfrm>
        </p:spPr>
        <p:txBody>
          <a:bodyPr/>
          <a:lstStyle/>
          <a:p>
            <a:r>
              <a:rPr lang="en-MY"/>
              <a:t>Model-View-Controller (MVC), Layered, Repository, Client-Server, Pipe and Filter</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47</a:t>
            </a:fld>
            <a:endParaRPr lang="en-US"/>
          </a:p>
        </p:txBody>
      </p:sp>
    </p:spTree>
    <p:extLst>
      <p:ext uri="{BB962C8B-B14F-4D97-AF65-F5344CB8AC3E}">
        <p14:creationId xmlns:p14="http://schemas.microsoft.com/office/powerpoint/2010/main" val="37162196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Architectural Patterns</a:t>
            </a:r>
            <a:endParaRPr lang="en-US" dirty="0"/>
          </a:p>
        </p:txBody>
      </p:sp>
      <p:sp>
        <p:nvSpPr>
          <p:cNvPr id="3" name="Content Placeholder 2"/>
          <p:cNvSpPr>
            <a:spLocks noGrp="1"/>
          </p:cNvSpPr>
          <p:nvPr>
            <p:ph idx="1"/>
          </p:nvPr>
        </p:nvSpPr>
        <p:spPr/>
        <p:txBody>
          <a:bodyPr>
            <a:normAutofit fontScale="92500"/>
          </a:bodyPr>
          <a:lstStyle/>
          <a:p>
            <a:r>
              <a:rPr lang="en-US" dirty="0"/>
              <a:t>Patterns (also known as styles) are a means of representing, sharing and reusing knowledge</a:t>
            </a:r>
          </a:p>
          <a:p>
            <a:r>
              <a:rPr lang="en-US" dirty="0"/>
              <a:t>An architectural pattern is a </a:t>
            </a:r>
            <a:r>
              <a:rPr lang="en-US" b="1" dirty="0">
                <a:solidFill>
                  <a:srgbClr val="C00000"/>
                </a:solidFill>
              </a:rPr>
              <a:t>stylized description of good design practice</a:t>
            </a:r>
            <a:r>
              <a:rPr lang="en-US" dirty="0"/>
              <a:t>, which has been tried and tested in different environments</a:t>
            </a:r>
          </a:p>
          <a:p>
            <a:r>
              <a:rPr lang="en-US" dirty="0"/>
              <a:t>Patterns should include information about when they are and when they are not useful</a:t>
            </a:r>
          </a:p>
          <a:p>
            <a:r>
              <a:rPr lang="en-US" dirty="0"/>
              <a:t>Patterns may be represented using tabular and graphical descriptions</a:t>
            </a:r>
          </a:p>
          <a:p>
            <a:pPr>
              <a:buNone/>
            </a:pPr>
            <a:endParaRPr lang="en-US" dirty="0"/>
          </a:p>
        </p:txBody>
      </p:sp>
      <p:sp>
        <p:nvSpPr>
          <p:cNvPr id="5" name="Footer Placeholder 4"/>
          <p:cNvSpPr>
            <a:spLocks noGrp="1"/>
          </p:cNvSpPr>
          <p:nvPr>
            <p:ph type="ftr" sz="quarter" idx="11"/>
          </p:nvPr>
        </p:nvSpPr>
        <p:spPr/>
        <p:txBody>
          <a:bodyPr/>
          <a:lstStyle/>
          <a:p>
            <a:r>
              <a:rPr lang="en-US"/>
              <a:t>Software Engineering</a:t>
            </a:r>
          </a:p>
        </p:txBody>
      </p:sp>
      <p:sp>
        <p:nvSpPr>
          <p:cNvPr id="6" name="Date Placeholder 5"/>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48</a:t>
            </a:fld>
            <a:endParaRPr lang="en-US"/>
          </a:p>
        </p:txBody>
      </p:sp>
    </p:spTree>
    <p:extLst>
      <p:ext uri="{BB962C8B-B14F-4D97-AF65-F5344CB8AC3E}">
        <p14:creationId xmlns:p14="http://schemas.microsoft.com/office/powerpoint/2010/main" val="3711891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a:t>Common Architectural Patterns</a:t>
            </a:r>
          </a:p>
        </p:txBody>
      </p:sp>
      <p:sp>
        <p:nvSpPr>
          <p:cNvPr id="3" name="Content Placeholder 2"/>
          <p:cNvSpPr>
            <a:spLocks noGrp="1"/>
          </p:cNvSpPr>
          <p:nvPr>
            <p:ph idx="1"/>
          </p:nvPr>
        </p:nvSpPr>
        <p:spPr/>
        <p:txBody>
          <a:bodyPr/>
          <a:lstStyle/>
          <a:p>
            <a:r>
              <a:rPr lang="en-US">
                <a:ea typeface="ＭＳ Ｐゴシック" panose="020B0600070205080204" pitchFamily="34" charset="-128"/>
              </a:rPr>
              <a:t>Model-View-Controller (MVC)</a:t>
            </a:r>
          </a:p>
          <a:p>
            <a:r>
              <a:rPr lang="en-US">
                <a:ea typeface="ＭＳ Ｐゴシック" panose="020B0600070205080204" pitchFamily="34" charset="-128"/>
              </a:rPr>
              <a:t>Layered</a:t>
            </a:r>
          </a:p>
          <a:p>
            <a:r>
              <a:rPr lang="en-US">
                <a:ea typeface="ＭＳ Ｐゴシック" panose="020B0600070205080204" pitchFamily="34" charset="-128"/>
              </a:rPr>
              <a:t>Repository</a:t>
            </a:r>
          </a:p>
          <a:p>
            <a:r>
              <a:rPr lang="en-US">
                <a:ea typeface="ＭＳ Ｐゴシック" panose="020B0600070205080204" pitchFamily="34" charset="-128"/>
              </a:rPr>
              <a:t>Client-Server</a:t>
            </a:r>
          </a:p>
          <a:p>
            <a:r>
              <a:rPr lang="en-US">
                <a:ea typeface="ＭＳ Ｐゴシック" panose="020B0600070205080204" pitchFamily="34" charset="-128"/>
              </a:rPr>
              <a:t>Pipe and Filter</a:t>
            </a:r>
            <a:endParaRPr lang="en-MY" dirty="0"/>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49</a:t>
            </a:fld>
            <a:endParaRPr lang="en-US"/>
          </a:p>
        </p:txBody>
      </p:sp>
    </p:spTree>
    <p:extLst>
      <p:ext uri="{BB962C8B-B14F-4D97-AF65-F5344CB8AC3E}">
        <p14:creationId xmlns:p14="http://schemas.microsoft.com/office/powerpoint/2010/main" val="19489077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Model-View-Controller </a:t>
            </a:r>
            <a:r>
              <a:rPr lang="en-US" dirty="0"/>
              <a:t>(MVC</a:t>
            </a:r>
            <a:r>
              <a:rPr lang="en-US"/>
              <a:t>) Pattern</a:t>
            </a:r>
            <a:r>
              <a:rPr lang="en-GB"/>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94044120"/>
              </p:ext>
            </p:extLst>
          </p:nvPr>
        </p:nvGraphicFramePr>
        <p:xfrm>
          <a:off x="304800" y="1620834"/>
          <a:ext cx="8534400" cy="4574395"/>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429115">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a16="http://schemas.microsoft.com/office/drawing/2014/main" val="10000"/>
                  </a:ext>
                </a:extLst>
              </a:tr>
              <a:tr h="155202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a:t>
                      </a:r>
                      <a:r>
                        <a:rPr lang="en-GB" sz="1600">
                          <a:solidFill>
                            <a:srgbClr val="000000"/>
                          </a:solidFill>
                          <a:latin typeface="Helvetica"/>
                          <a:ea typeface="Times New Roman"/>
                          <a:cs typeface="Helvetica"/>
                        </a:rPr>
                        <a:t>Model.</a:t>
                      </a:r>
                      <a:endParaRPr lang="en-GB" sz="16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1"/>
                  </a:ext>
                </a:extLst>
              </a:tr>
              <a:tr h="449594">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The </a:t>
                      </a:r>
                      <a:r>
                        <a:rPr lang="en-GB" sz="1600" dirty="0">
                          <a:solidFill>
                            <a:srgbClr val="000000"/>
                          </a:solidFill>
                          <a:latin typeface="Helvetica"/>
                          <a:ea typeface="Times New Roman"/>
                          <a:cs typeface="Helvetica"/>
                        </a:rPr>
                        <a:t>architecture of a web-based application system organized using the </a:t>
                      </a:r>
                      <a:r>
                        <a:rPr lang="en-GB" sz="1600">
                          <a:solidFill>
                            <a:srgbClr val="000000"/>
                          </a:solidFill>
                          <a:latin typeface="Helvetica"/>
                          <a:ea typeface="Times New Roman"/>
                          <a:cs typeface="Helvetica"/>
                        </a:rPr>
                        <a:t>MVC pattern (see the example slide).</a:t>
                      </a:r>
                      <a:endParaRPr lang="en-GB" sz="16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2"/>
                  </a:ext>
                </a:extLst>
              </a:tr>
              <a:tr h="665152">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Used when there are multiple ways to view and interact with data. Also used when the future requirements for interaction and presentation of data are unknown. </a:t>
                      </a:r>
                    </a:p>
                  </a:txBody>
                  <a:tcPr marL="68580" marR="68580" marT="0" marB="0"/>
                </a:tc>
                <a:extLst>
                  <a:ext uri="{0D108BD9-81ED-4DB2-BD59-A6C34878D82A}">
                    <a16:rowId xmlns:a16="http://schemas.microsoft.com/office/drawing/2014/main" val="10003"/>
                  </a:ext>
                </a:extLst>
              </a:tr>
              <a:tr h="665152">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Allows the data to change independently of its representation and vice versa. Supports presentation of the same data in different ways with changes made in one representation shown in all of them. </a:t>
                      </a:r>
                    </a:p>
                  </a:txBody>
                  <a:tcPr marL="68580" marR="68580" marT="0" marB="0"/>
                </a:tc>
                <a:extLst>
                  <a:ext uri="{0D108BD9-81ED-4DB2-BD59-A6C34878D82A}">
                    <a16:rowId xmlns:a16="http://schemas.microsoft.com/office/drawing/2014/main" val="10004"/>
                  </a:ext>
                </a:extLst>
              </a:tr>
              <a:tr h="449594">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Can involve additional code and code complexity when the data model and interactions are simple.</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50</a:t>
            </a:fld>
            <a:endParaRPr lang="en-US"/>
          </a:p>
        </p:txBody>
      </p:sp>
    </p:spTree>
    <p:extLst>
      <p:ext uri="{BB962C8B-B14F-4D97-AF65-F5344CB8AC3E}">
        <p14:creationId xmlns:p14="http://schemas.microsoft.com/office/powerpoint/2010/main" val="950504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Organization of MVC</a:t>
            </a:r>
            <a:r>
              <a:rPr lang="en-GB"/>
              <a:t> </a:t>
            </a:r>
            <a:endParaRPr lang="en-US" dirty="0"/>
          </a:p>
        </p:txBody>
      </p:sp>
      <p:sp>
        <p:nvSpPr>
          <p:cNvPr id="5" name="Footer Placeholder 4"/>
          <p:cNvSpPr>
            <a:spLocks noGrp="1"/>
          </p:cNvSpPr>
          <p:nvPr>
            <p:ph type="ftr" sz="quarter" idx="11"/>
          </p:nvPr>
        </p:nvSpPr>
        <p:spPr/>
        <p:txBody>
          <a:bodyPr/>
          <a:lstStyle/>
          <a:p>
            <a:r>
              <a:rPr lang="en-US"/>
              <a:t>Software Engineering</a:t>
            </a:r>
          </a:p>
        </p:txBody>
      </p:sp>
      <p:pic>
        <p:nvPicPr>
          <p:cNvPr id="16386" name="Picture 2" descr="6"/>
          <p:cNvPicPr>
            <a:picLocks noChangeAspect="1" noChangeArrowheads="1"/>
          </p:cNvPicPr>
          <p:nvPr/>
        </p:nvPicPr>
        <p:blipFill>
          <a:blip r:embed="rId2"/>
          <a:srcRect t="-10443" b="-8620"/>
          <a:stretch>
            <a:fillRect/>
          </a:stretch>
        </p:blipFill>
        <p:spPr bwMode="auto">
          <a:xfrm>
            <a:off x="2057400" y="1947972"/>
            <a:ext cx="5318165" cy="4148028"/>
          </a:xfrm>
          <a:prstGeom prst="rect">
            <a:avLst/>
          </a:prstGeom>
          <a:noFill/>
          <a:ln w="9525">
            <a:noFill/>
            <a:miter lim="800000"/>
            <a:headEnd/>
            <a:tailEnd/>
          </a:ln>
        </p:spPr>
      </p:pic>
      <p:sp>
        <p:nvSpPr>
          <p:cNvPr id="3" name="Date Placeholder 2"/>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51</a:t>
            </a:fld>
            <a:endParaRPr lang="en-US"/>
          </a:p>
        </p:txBody>
      </p:sp>
    </p:spTree>
    <p:extLst>
      <p:ext uri="{BB962C8B-B14F-4D97-AF65-F5344CB8AC3E}">
        <p14:creationId xmlns:p14="http://schemas.microsoft.com/office/powerpoint/2010/main" val="37445055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Web Application Architecture Using </a:t>
            </a:r>
            <a:r>
              <a:rPr lang="en-MY" dirty="0"/>
              <a:t>MVC</a:t>
            </a:r>
            <a:endParaRPr lang="en-US" dirty="0"/>
          </a:p>
        </p:txBody>
      </p:sp>
      <p:sp>
        <p:nvSpPr>
          <p:cNvPr id="5" name="Footer Placeholder 4"/>
          <p:cNvSpPr>
            <a:spLocks noGrp="1"/>
          </p:cNvSpPr>
          <p:nvPr>
            <p:ph type="ftr" sz="quarter" idx="11"/>
          </p:nvPr>
        </p:nvSpPr>
        <p:spPr/>
        <p:txBody>
          <a:bodyPr/>
          <a:lstStyle/>
          <a:p>
            <a:r>
              <a:rPr lang="en-US"/>
              <a:t>Software Engineering</a:t>
            </a:r>
          </a:p>
        </p:txBody>
      </p:sp>
      <p:pic>
        <p:nvPicPr>
          <p:cNvPr id="17410" name="Picture 2" descr="6"/>
          <p:cNvPicPr>
            <a:picLocks noChangeAspect="1" noChangeArrowheads="1"/>
          </p:cNvPicPr>
          <p:nvPr/>
        </p:nvPicPr>
        <p:blipFill>
          <a:blip r:embed="rId3"/>
          <a:srcRect b="-8466"/>
          <a:stretch>
            <a:fillRect/>
          </a:stretch>
        </p:blipFill>
        <p:spPr bwMode="auto">
          <a:xfrm>
            <a:off x="2166591" y="1828800"/>
            <a:ext cx="4565650" cy="4194175"/>
          </a:xfrm>
          <a:prstGeom prst="rect">
            <a:avLst/>
          </a:prstGeom>
          <a:noFill/>
          <a:ln w="9525">
            <a:noFill/>
            <a:miter lim="800000"/>
            <a:headEnd/>
            <a:tailEnd/>
          </a:ln>
        </p:spPr>
      </p:pic>
      <p:sp>
        <p:nvSpPr>
          <p:cNvPr id="3" name="Date Placeholder 2"/>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52</a:t>
            </a:fld>
            <a:endParaRPr lang="en-US"/>
          </a:p>
        </p:txBody>
      </p:sp>
    </p:spTree>
    <p:extLst>
      <p:ext uri="{BB962C8B-B14F-4D97-AF65-F5344CB8AC3E}">
        <p14:creationId xmlns:p14="http://schemas.microsoft.com/office/powerpoint/2010/main" val="29667326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p:txBody>
          <a:bodyPr>
            <a:normAutofit fontScale="90000"/>
          </a:bodyPr>
          <a:lstStyle/>
          <a:p>
            <a:pPr lvl="0"/>
            <a:r>
              <a:rPr lang="en-US"/>
              <a:t>Example: MVC Architecture Used for a Dashboard</a:t>
            </a:r>
            <a:endParaRPr lang="en" dirty="0"/>
          </a:p>
        </p:txBody>
      </p:sp>
      <p:sp>
        <p:nvSpPr>
          <p:cNvPr id="227" name="Shape 227"/>
          <p:cNvSpPr/>
          <p:nvPr/>
        </p:nvSpPr>
        <p:spPr>
          <a:xfrm>
            <a:off x="615463" y="1660525"/>
            <a:ext cx="5682762" cy="2378074"/>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p>
            <a:endParaRPr lang="en-MY"/>
          </a:p>
        </p:txBody>
      </p:sp>
      <p:sp>
        <p:nvSpPr>
          <p:cNvPr id="228" name="Shape 228"/>
          <p:cNvSpPr/>
          <p:nvPr/>
        </p:nvSpPr>
        <p:spPr>
          <a:xfrm>
            <a:off x="703386" y="1866902"/>
            <a:ext cx="3376246" cy="1562099"/>
          </a:xfrm>
          <a:prstGeom prst="roundRect">
            <a:avLst>
              <a:gd name="adj" fmla="val 16667"/>
            </a:avLst>
          </a:prstGeom>
          <a:solidFill>
            <a:srgbClr val="8EC5F7">
              <a:alpha val="8630"/>
            </a:srgbClr>
          </a:solidFill>
          <a:ln w="38100" cap="flat">
            <a:solidFill>
              <a:schemeClr val="accent1"/>
            </a:solidFill>
            <a:prstDash val="solid"/>
            <a:round/>
            <a:headEnd type="none" w="med" len="med"/>
            <a:tailEnd type="none" w="med" len="med"/>
          </a:ln>
        </p:spPr>
        <p:txBody>
          <a:bodyPr lIns="91425" tIns="45700" rIns="91425" bIns="45700" anchor="t" anchorCtr="0">
            <a:noAutofit/>
          </a:bodyPr>
          <a:lstStyle/>
          <a:p>
            <a:endParaRPr dirty="0"/>
          </a:p>
        </p:txBody>
      </p:sp>
      <p:sp>
        <p:nvSpPr>
          <p:cNvPr id="229" name="Shape 229"/>
          <p:cNvSpPr/>
          <p:nvPr/>
        </p:nvSpPr>
        <p:spPr>
          <a:xfrm>
            <a:off x="4149972" y="3186112"/>
            <a:ext cx="2039814" cy="700200"/>
          </a:xfrm>
          <a:prstGeom prst="roundRect">
            <a:avLst>
              <a:gd name="adj" fmla="val 16667"/>
            </a:avLst>
          </a:prstGeom>
          <a:solidFill>
            <a:srgbClr val="8EC5F7">
              <a:alpha val="8630"/>
            </a:srgbClr>
          </a:solidFill>
          <a:ln w="38100" cap="flat">
            <a:solidFill>
              <a:schemeClr val="accent1"/>
            </a:solidFill>
            <a:prstDash val="solid"/>
            <a:round/>
            <a:headEnd type="none" w="med" len="med"/>
            <a:tailEnd type="none" w="med" len="med"/>
          </a:ln>
        </p:spPr>
        <p:txBody>
          <a:bodyPr lIns="91425" tIns="45700" rIns="91425" bIns="45700" anchor="t" anchorCtr="0">
            <a:noAutofit/>
          </a:bodyPr>
          <a:lstStyle/>
          <a:p>
            <a:endParaRPr dirty="0"/>
          </a:p>
        </p:txBody>
      </p:sp>
      <p:sp>
        <p:nvSpPr>
          <p:cNvPr id="230" name="Shape 230"/>
          <p:cNvSpPr/>
          <p:nvPr/>
        </p:nvSpPr>
        <p:spPr>
          <a:xfrm>
            <a:off x="4149972" y="1905002"/>
            <a:ext cx="2039814" cy="1219199"/>
          </a:xfrm>
          <a:prstGeom prst="roundRect">
            <a:avLst>
              <a:gd name="adj" fmla="val 16667"/>
            </a:avLst>
          </a:prstGeom>
          <a:solidFill>
            <a:srgbClr val="8EC5F7">
              <a:alpha val="8630"/>
            </a:srgbClr>
          </a:solidFill>
          <a:ln w="38100" cap="flat">
            <a:solidFill>
              <a:schemeClr val="accent1"/>
            </a:solidFill>
            <a:prstDash val="solid"/>
            <a:round/>
            <a:headEnd type="none" w="med" len="med"/>
            <a:tailEnd type="none" w="med" len="med"/>
          </a:ln>
        </p:spPr>
        <p:txBody>
          <a:bodyPr lIns="91425" tIns="45700" rIns="91425" bIns="45700" anchor="t" anchorCtr="0">
            <a:noAutofit/>
          </a:bodyPr>
          <a:lstStyle/>
          <a:p>
            <a:endParaRPr dirty="0"/>
          </a:p>
        </p:txBody>
      </p:sp>
      <p:grpSp>
        <p:nvGrpSpPr>
          <p:cNvPr id="231" name="Shape 231"/>
          <p:cNvGrpSpPr/>
          <p:nvPr/>
        </p:nvGrpSpPr>
        <p:grpSpPr>
          <a:xfrm>
            <a:off x="228599" y="4179119"/>
            <a:ext cx="6432177" cy="2015131"/>
            <a:chOff x="-409102" y="4548187"/>
            <a:chExt cx="6986113" cy="2090661"/>
          </a:xfrm>
        </p:grpSpPr>
        <p:sp>
          <p:nvSpPr>
            <p:cNvPr id="232" name="Shape 232"/>
            <p:cNvSpPr txBox="1"/>
            <p:nvPr/>
          </p:nvSpPr>
          <p:spPr>
            <a:xfrm>
              <a:off x="-409102" y="5038614"/>
              <a:ext cx="1765200" cy="738299"/>
            </a:xfrm>
            <a:prstGeom prst="rect">
              <a:avLst/>
            </a:prstGeom>
            <a:noFill/>
            <a:ln>
              <a:noFill/>
            </a:ln>
          </p:spPr>
          <p:txBody>
            <a:bodyPr lIns="91425" tIns="45700" rIns="91425" bIns="45700" anchor="t" anchorCtr="0">
              <a:noAutofit/>
            </a:bodyPr>
            <a:lstStyle/>
            <a:p>
              <a:pPr>
                <a:buSzPct val="25000"/>
              </a:pPr>
              <a:r>
                <a:rPr lang="en" dirty="0">
                  <a:solidFill>
                    <a:schemeClr val="dk1"/>
                  </a:solidFill>
                </a:rPr>
                <a:t>JTable component </a:t>
              </a:r>
            </a:p>
            <a:p>
              <a:pPr>
                <a:buSzPct val="25000"/>
              </a:pPr>
              <a:r>
                <a:rPr lang="en" dirty="0">
                  <a:solidFill>
                    <a:schemeClr val="dk1"/>
                  </a:solidFill>
                </a:rPr>
                <a:t>instance</a:t>
              </a:r>
            </a:p>
            <a:p>
              <a:endParaRPr lang="en" dirty="0">
                <a:solidFill>
                  <a:schemeClr val="dk1"/>
                </a:solidFill>
              </a:endParaRPr>
            </a:p>
          </p:txBody>
        </p:sp>
        <p:grpSp>
          <p:nvGrpSpPr>
            <p:cNvPr id="233" name="Shape 233"/>
            <p:cNvGrpSpPr/>
            <p:nvPr/>
          </p:nvGrpSpPr>
          <p:grpSpPr>
            <a:xfrm>
              <a:off x="2857500" y="5262563"/>
              <a:ext cx="1905000" cy="542924"/>
              <a:chOff x="1800" y="3014"/>
              <a:chExt cx="1199" cy="342"/>
            </a:xfrm>
          </p:grpSpPr>
          <p:sp>
            <p:nvSpPr>
              <p:cNvPr id="234" name="Shape 234"/>
              <p:cNvSpPr/>
              <p:nvPr/>
            </p:nvSpPr>
            <p:spPr>
              <a:xfrm>
                <a:off x="1800" y="3014"/>
                <a:ext cx="1199" cy="299"/>
              </a:xfrm>
              <a:prstGeom prst="ellipse">
                <a:avLst/>
              </a:prstGeom>
              <a:gradFill>
                <a:gsLst>
                  <a:gs pos="0">
                    <a:srgbClr val="00668E"/>
                  </a:gs>
                  <a:gs pos="68000">
                    <a:srgbClr val="5EC9F1"/>
                  </a:gs>
                  <a:gs pos="100000">
                    <a:srgbClr val="AFE8FF"/>
                  </a:gs>
                </a:gsLst>
                <a:path path="circle">
                  <a:fillToRect l="50000" t="50000" r="50000" b="50000"/>
                </a:path>
                <a:tileRect/>
              </a:gradFill>
              <a:ln w="9525" cap="flat">
                <a:solidFill>
                  <a:srgbClr val="1F73A0"/>
                </a:solidFill>
                <a:prstDash val="solid"/>
                <a:round/>
                <a:headEnd type="none" w="med" len="med"/>
                <a:tailEnd type="none" w="med" len="med"/>
              </a:ln>
            </p:spPr>
            <p:txBody>
              <a:bodyPr lIns="91425" tIns="45700" rIns="91425" bIns="45700" anchor="ctr" anchorCtr="0">
                <a:noAutofit/>
              </a:bodyPr>
              <a:lstStyle/>
              <a:p>
                <a:endParaRPr dirty="0"/>
              </a:p>
            </p:txBody>
          </p:sp>
          <p:sp>
            <p:nvSpPr>
              <p:cNvPr id="235" name="Shape 235"/>
              <p:cNvSpPr txBox="1"/>
              <p:nvPr/>
            </p:nvSpPr>
            <p:spPr>
              <a:xfrm>
                <a:off x="2114" y="3056"/>
                <a:ext cx="599" cy="299"/>
              </a:xfrm>
              <a:prstGeom prst="rect">
                <a:avLst/>
              </a:prstGeom>
              <a:noFill/>
              <a:ln>
                <a:noFill/>
              </a:ln>
            </p:spPr>
            <p:txBody>
              <a:bodyPr lIns="91425" tIns="45700" rIns="91425" bIns="45700" anchor="t" anchorCtr="0">
                <a:noAutofit/>
              </a:bodyPr>
              <a:lstStyle/>
              <a:p>
                <a:pPr algn="l">
                  <a:buSzPct val="25000"/>
                </a:pPr>
                <a:r>
                  <a:rPr lang="en">
                    <a:solidFill>
                      <a:schemeClr val="dk1"/>
                    </a:solidFill>
                  </a:rPr>
                  <a:t>Model</a:t>
                </a:r>
              </a:p>
            </p:txBody>
          </p:sp>
        </p:grpSp>
        <p:sp>
          <p:nvSpPr>
            <p:cNvPr id="236" name="Shape 236"/>
            <p:cNvSpPr txBox="1"/>
            <p:nvPr/>
          </p:nvSpPr>
          <p:spPr>
            <a:xfrm>
              <a:off x="-381000" y="6115048"/>
              <a:ext cx="2200199" cy="523800"/>
            </a:xfrm>
            <a:prstGeom prst="rect">
              <a:avLst/>
            </a:prstGeom>
            <a:noFill/>
            <a:ln>
              <a:noFill/>
            </a:ln>
          </p:spPr>
          <p:txBody>
            <a:bodyPr lIns="91425" tIns="45700" rIns="91425" bIns="45700" anchor="t" anchorCtr="0">
              <a:noAutofit/>
            </a:bodyPr>
            <a:lstStyle/>
            <a:p>
              <a:pPr>
                <a:buSzPct val="25000"/>
              </a:pPr>
              <a:r>
                <a:rPr lang="en" dirty="0">
                  <a:solidFill>
                    <a:schemeClr val="dk1"/>
                  </a:solidFill>
                </a:rPr>
                <a:t>JCombobox  component </a:t>
              </a:r>
            </a:p>
            <a:p>
              <a:pPr>
                <a:buSzPct val="25000"/>
              </a:pPr>
              <a:r>
                <a:rPr lang="en" dirty="0">
                  <a:solidFill>
                    <a:schemeClr val="dk1"/>
                  </a:solidFill>
                </a:rPr>
                <a:t>instance</a:t>
              </a:r>
            </a:p>
          </p:txBody>
        </p:sp>
        <p:sp>
          <p:nvSpPr>
            <p:cNvPr id="237" name="Shape 237"/>
            <p:cNvSpPr/>
            <p:nvPr/>
          </p:nvSpPr>
          <p:spPr>
            <a:xfrm>
              <a:off x="1214437" y="4548187"/>
              <a:ext cx="936600" cy="504900"/>
            </a:xfrm>
            <a:prstGeom prst="ellipse">
              <a:avLst/>
            </a:prstGeom>
            <a:gradFill>
              <a:gsLst>
                <a:gs pos="0">
                  <a:srgbClr val="00668E"/>
                </a:gs>
                <a:gs pos="68000">
                  <a:srgbClr val="5EC9F1"/>
                </a:gs>
                <a:gs pos="100000">
                  <a:srgbClr val="AFE8FF"/>
                </a:gs>
              </a:gsLst>
              <a:path path="circle">
                <a:fillToRect l="50000" t="50000" r="50000" b="50000"/>
              </a:path>
              <a:tileRect/>
            </a:gradFill>
            <a:ln w="9525" cap="flat">
              <a:solidFill>
                <a:srgbClr val="1F73A0"/>
              </a:solidFill>
              <a:prstDash val="solid"/>
              <a:round/>
              <a:headEnd type="none" w="med" len="med"/>
              <a:tailEnd type="none" w="med" len="med"/>
            </a:ln>
          </p:spPr>
          <p:txBody>
            <a:bodyPr lIns="91425" tIns="45700" rIns="91425" bIns="45700" anchor="ctr" anchorCtr="0">
              <a:noAutofit/>
            </a:bodyPr>
            <a:lstStyle/>
            <a:p>
              <a:endParaRPr dirty="0"/>
            </a:p>
          </p:txBody>
        </p:sp>
        <p:sp>
          <p:nvSpPr>
            <p:cNvPr id="238" name="Shape 238"/>
            <p:cNvSpPr/>
            <p:nvPr/>
          </p:nvSpPr>
          <p:spPr>
            <a:xfrm>
              <a:off x="1214437" y="5834062"/>
              <a:ext cx="936600" cy="504900"/>
            </a:xfrm>
            <a:prstGeom prst="ellipse">
              <a:avLst/>
            </a:prstGeom>
            <a:gradFill>
              <a:gsLst>
                <a:gs pos="0">
                  <a:srgbClr val="00668E"/>
                </a:gs>
                <a:gs pos="68000">
                  <a:srgbClr val="5EC9F1"/>
                </a:gs>
                <a:gs pos="100000">
                  <a:srgbClr val="AFE8FF"/>
                </a:gs>
              </a:gsLst>
              <a:path path="circle">
                <a:fillToRect l="50000" t="50000" r="50000" b="50000"/>
              </a:path>
              <a:tileRect/>
            </a:gradFill>
            <a:ln w="9525" cap="flat">
              <a:solidFill>
                <a:srgbClr val="1F73A0"/>
              </a:solidFill>
              <a:prstDash val="solid"/>
              <a:round/>
              <a:headEnd type="none" w="med" len="med"/>
              <a:tailEnd type="none" w="med" len="med"/>
            </a:ln>
          </p:spPr>
          <p:txBody>
            <a:bodyPr lIns="91425" tIns="45700" rIns="91425" bIns="45700" anchor="ctr" anchorCtr="0">
              <a:noAutofit/>
            </a:bodyPr>
            <a:lstStyle/>
            <a:p>
              <a:endParaRPr dirty="0"/>
            </a:p>
          </p:txBody>
        </p:sp>
        <p:grpSp>
          <p:nvGrpSpPr>
            <p:cNvPr id="239" name="Shape 239"/>
            <p:cNvGrpSpPr/>
            <p:nvPr/>
          </p:nvGrpSpPr>
          <p:grpSpPr>
            <a:xfrm>
              <a:off x="5148262" y="5776913"/>
              <a:ext cx="1428749" cy="547687"/>
              <a:chOff x="3329" y="2564"/>
              <a:chExt cx="900" cy="345"/>
            </a:xfrm>
          </p:grpSpPr>
          <p:sp>
            <p:nvSpPr>
              <p:cNvPr id="240" name="Shape 240"/>
              <p:cNvSpPr/>
              <p:nvPr/>
            </p:nvSpPr>
            <p:spPr>
              <a:xfrm>
                <a:off x="3329" y="2564"/>
                <a:ext cx="599" cy="299"/>
              </a:xfrm>
              <a:prstGeom prst="ellipse">
                <a:avLst/>
              </a:prstGeom>
              <a:gradFill>
                <a:gsLst>
                  <a:gs pos="0">
                    <a:srgbClr val="00668E"/>
                  </a:gs>
                  <a:gs pos="68000">
                    <a:srgbClr val="5EC9F1"/>
                  </a:gs>
                  <a:gs pos="100000">
                    <a:srgbClr val="AFE8FF"/>
                  </a:gs>
                </a:gsLst>
                <a:path path="circle">
                  <a:fillToRect l="50000" t="50000" r="50000" b="50000"/>
                </a:path>
                <a:tileRect/>
              </a:gradFill>
              <a:ln w="9525" cap="flat">
                <a:solidFill>
                  <a:srgbClr val="1F73A0"/>
                </a:solidFill>
                <a:prstDash val="solid"/>
                <a:round/>
                <a:headEnd type="none" w="med" len="med"/>
                <a:tailEnd type="none" w="med" len="med"/>
              </a:ln>
            </p:spPr>
            <p:txBody>
              <a:bodyPr lIns="91425" tIns="45700" rIns="91425" bIns="45700" anchor="ctr" anchorCtr="0">
                <a:noAutofit/>
              </a:bodyPr>
              <a:lstStyle/>
              <a:p>
                <a:endParaRPr dirty="0"/>
              </a:p>
            </p:txBody>
          </p:sp>
          <p:sp>
            <p:nvSpPr>
              <p:cNvPr id="241" name="Shape 241"/>
              <p:cNvSpPr txBox="1"/>
              <p:nvPr/>
            </p:nvSpPr>
            <p:spPr>
              <a:xfrm>
                <a:off x="3329" y="2610"/>
                <a:ext cx="900" cy="299"/>
              </a:xfrm>
              <a:prstGeom prst="rect">
                <a:avLst/>
              </a:prstGeom>
              <a:noFill/>
              <a:ln>
                <a:noFill/>
              </a:ln>
            </p:spPr>
            <p:txBody>
              <a:bodyPr lIns="91425" tIns="45700" rIns="91425" bIns="45700" anchor="t" anchorCtr="0">
                <a:noAutofit/>
              </a:bodyPr>
              <a:lstStyle/>
              <a:p>
                <a:pPr algn="l">
                  <a:buSzPct val="25000"/>
                </a:pPr>
                <a:r>
                  <a:rPr lang="en">
                    <a:solidFill>
                      <a:schemeClr val="dk1"/>
                    </a:solidFill>
                  </a:rPr>
                  <a:t>Stats view</a:t>
                </a:r>
              </a:p>
            </p:txBody>
          </p:sp>
        </p:grpSp>
        <p:grpSp>
          <p:nvGrpSpPr>
            <p:cNvPr id="242" name="Shape 242"/>
            <p:cNvGrpSpPr/>
            <p:nvPr/>
          </p:nvGrpSpPr>
          <p:grpSpPr>
            <a:xfrm>
              <a:off x="5003800" y="4625975"/>
              <a:ext cx="1428750" cy="547687"/>
              <a:chOff x="3195" y="3375"/>
              <a:chExt cx="900" cy="345"/>
            </a:xfrm>
          </p:grpSpPr>
          <p:sp>
            <p:nvSpPr>
              <p:cNvPr id="243" name="Shape 243"/>
              <p:cNvSpPr/>
              <p:nvPr/>
            </p:nvSpPr>
            <p:spPr>
              <a:xfrm>
                <a:off x="3195" y="3375"/>
                <a:ext cx="900" cy="299"/>
              </a:xfrm>
              <a:prstGeom prst="ellipse">
                <a:avLst/>
              </a:prstGeom>
              <a:gradFill>
                <a:gsLst>
                  <a:gs pos="0">
                    <a:srgbClr val="00668E"/>
                  </a:gs>
                  <a:gs pos="68000">
                    <a:srgbClr val="5EC9F1"/>
                  </a:gs>
                  <a:gs pos="100000">
                    <a:srgbClr val="AFE8FF"/>
                  </a:gs>
                </a:gsLst>
                <a:path path="circle">
                  <a:fillToRect l="50000" t="50000" r="50000" b="50000"/>
                </a:path>
                <a:tileRect/>
              </a:gradFill>
              <a:ln w="9525" cap="flat">
                <a:solidFill>
                  <a:srgbClr val="1F73A0"/>
                </a:solidFill>
                <a:prstDash val="solid"/>
                <a:round/>
                <a:headEnd type="none" w="med" len="med"/>
                <a:tailEnd type="none" w="med" len="med"/>
              </a:ln>
            </p:spPr>
            <p:txBody>
              <a:bodyPr lIns="91425" tIns="45700" rIns="91425" bIns="45700" anchor="ctr" anchorCtr="0">
                <a:noAutofit/>
              </a:bodyPr>
              <a:lstStyle/>
              <a:p>
                <a:endParaRPr dirty="0"/>
              </a:p>
            </p:txBody>
          </p:sp>
          <p:sp>
            <p:nvSpPr>
              <p:cNvPr id="244" name="Shape 244"/>
              <p:cNvSpPr txBox="1"/>
              <p:nvPr/>
            </p:nvSpPr>
            <p:spPr>
              <a:xfrm>
                <a:off x="3195" y="3420"/>
                <a:ext cx="900" cy="299"/>
              </a:xfrm>
              <a:prstGeom prst="rect">
                <a:avLst/>
              </a:prstGeom>
              <a:noFill/>
              <a:ln>
                <a:noFill/>
              </a:ln>
            </p:spPr>
            <p:txBody>
              <a:bodyPr lIns="91425" tIns="45700" rIns="91425" bIns="45700" anchor="t" anchorCtr="0">
                <a:noAutofit/>
              </a:bodyPr>
              <a:lstStyle/>
              <a:p>
                <a:pPr algn="l">
                  <a:buSzPct val="25000"/>
                </a:pPr>
                <a:r>
                  <a:rPr lang="en">
                    <a:solidFill>
                      <a:schemeClr val="dk1"/>
                    </a:solidFill>
                  </a:rPr>
                  <a:t>Graphical view</a:t>
                </a:r>
              </a:p>
            </p:txBody>
          </p:sp>
        </p:grpSp>
      </p:grpSp>
      <p:sp>
        <p:nvSpPr>
          <p:cNvPr id="245" name="Shape 245"/>
          <p:cNvSpPr/>
          <p:nvPr/>
        </p:nvSpPr>
        <p:spPr>
          <a:xfrm rot="-810305">
            <a:off x="2410585" y="5543538"/>
            <a:ext cx="659307" cy="214434"/>
          </a:xfrm>
          <a:prstGeom prst="rightArrow">
            <a:avLst>
              <a:gd name="adj1" fmla="val 50000"/>
              <a:gd name="adj2" fmla="val 50000"/>
            </a:avLst>
          </a:prstGeom>
          <a:solidFill>
            <a:schemeClr val="accent1"/>
          </a:solidFill>
          <a:ln w="9525" cap="flat">
            <a:solidFill>
              <a:srgbClr val="145191"/>
            </a:solidFill>
            <a:prstDash val="solid"/>
            <a:round/>
            <a:headEnd type="none" w="med" len="med"/>
            <a:tailEnd type="none" w="med" len="med"/>
          </a:ln>
        </p:spPr>
        <p:txBody>
          <a:bodyPr lIns="91425" tIns="45700" rIns="91425" bIns="45700" anchor="t" anchorCtr="0">
            <a:noAutofit/>
          </a:bodyPr>
          <a:lstStyle/>
          <a:p>
            <a:endParaRPr dirty="0"/>
          </a:p>
        </p:txBody>
      </p:sp>
      <p:sp>
        <p:nvSpPr>
          <p:cNvPr id="246" name="Shape 246"/>
          <p:cNvSpPr/>
          <p:nvPr/>
        </p:nvSpPr>
        <p:spPr>
          <a:xfrm rot="1667994">
            <a:off x="2469218" y="4687875"/>
            <a:ext cx="660859" cy="214308"/>
          </a:xfrm>
          <a:prstGeom prst="rightArrow">
            <a:avLst>
              <a:gd name="adj1" fmla="val 50000"/>
              <a:gd name="adj2" fmla="val 50111"/>
            </a:avLst>
          </a:prstGeom>
          <a:solidFill>
            <a:schemeClr val="accent1"/>
          </a:solidFill>
          <a:ln w="9525" cap="flat">
            <a:solidFill>
              <a:srgbClr val="145191"/>
            </a:solidFill>
            <a:prstDash val="solid"/>
            <a:round/>
            <a:headEnd type="none" w="med" len="med"/>
            <a:tailEnd type="none" w="med" len="med"/>
          </a:ln>
        </p:spPr>
        <p:txBody>
          <a:bodyPr lIns="91425" tIns="45700" rIns="91425" bIns="45700" anchor="t" anchorCtr="0">
            <a:noAutofit/>
          </a:bodyPr>
          <a:lstStyle/>
          <a:p>
            <a:endParaRPr dirty="0"/>
          </a:p>
        </p:txBody>
      </p:sp>
      <p:sp>
        <p:nvSpPr>
          <p:cNvPr id="247" name="Shape 247"/>
          <p:cNvSpPr/>
          <p:nvPr/>
        </p:nvSpPr>
        <p:spPr>
          <a:xfrm rot="-10157369" flipH="1">
            <a:off x="3727154" y="5202175"/>
            <a:ext cx="1770192" cy="1134279"/>
          </a:xfrm>
          <a:custGeom>
            <a:avLst/>
            <a:gdLst/>
            <a:ahLst/>
            <a:cxnLst/>
            <a:rect l="0" t="0" r="0" b="0"/>
            <a:pathLst>
              <a:path w="120000" h="120000" extrusionOk="0">
                <a:moveTo>
                  <a:pt x="4436" y="60000"/>
                </a:moveTo>
                <a:lnTo>
                  <a:pt x="4436" y="60000"/>
                </a:lnTo>
                <a:cubicBezTo>
                  <a:pt x="4436" y="35942"/>
                  <a:pt x="21741" y="14963"/>
                  <a:pt x="46432" y="9089"/>
                </a:cubicBezTo>
                <a:cubicBezTo>
                  <a:pt x="71122" y="3214"/>
                  <a:pt x="96880" y="13948"/>
                  <a:pt x="108937" y="35137"/>
                </a:cubicBezTo>
                <a:lnTo>
                  <a:pt x="111487" y="35137"/>
                </a:lnTo>
                <a:lnTo>
                  <a:pt x="111127" y="59999"/>
                </a:lnTo>
                <a:lnTo>
                  <a:pt x="93743" y="35137"/>
                </a:lnTo>
                <a:lnTo>
                  <a:pt x="94953" y="35137"/>
                </a:lnTo>
                <a:lnTo>
                  <a:pt x="94953" y="35137"/>
                </a:lnTo>
                <a:cubicBezTo>
                  <a:pt x="82090" y="23472"/>
                  <a:pt x="61586" y="19411"/>
                  <a:pt x="43446" y="24935"/>
                </a:cubicBezTo>
                <a:cubicBezTo>
                  <a:pt x="25305" y="30460"/>
                  <a:pt x="13308" y="44418"/>
                  <a:pt x="13308" y="60000"/>
                </a:cubicBezTo>
                <a:close/>
              </a:path>
            </a:pathLst>
          </a:custGeom>
          <a:solidFill>
            <a:schemeClr val="accent6"/>
          </a:solidFill>
          <a:ln w="9525" cap="flat">
            <a:solidFill>
              <a:srgbClr val="798E35"/>
            </a:solidFill>
            <a:prstDash val="solid"/>
            <a:round/>
            <a:headEnd type="none" w="med" len="med"/>
            <a:tailEnd type="none" w="med" len="med"/>
          </a:ln>
        </p:spPr>
        <p:txBody>
          <a:bodyPr lIns="91425" tIns="45700" rIns="91425" bIns="45700" anchor="t" anchorCtr="0">
            <a:noAutofit/>
          </a:bodyPr>
          <a:lstStyle/>
          <a:p>
            <a:endParaRPr dirty="0"/>
          </a:p>
        </p:txBody>
      </p:sp>
      <p:sp>
        <p:nvSpPr>
          <p:cNvPr id="248" name="Shape 248"/>
          <p:cNvSpPr/>
          <p:nvPr/>
        </p:nvSpPr>
        <p:spPr>
          <a:xfrm rot="1024463" flipH="1">
            <a:off x="2058084" y="4143493"/>
            <a:ext cx="1770304" cy="1202892"/>
          </a:xfrm>
          <a:custGeom>
            <a:avLst/>
            <a:gdLst/>
            <a:ahLst/>
            <a:cxnLst/>
            <a:rect l="0" t="0" r="0" b="0"/>
            <a:pathLst>
              <a:path w="120000" h="120000" extrusionOk="0">
                <a:moveTo>
                  <a:pt x="4704" y="60000"/>
                </a:moveTo>
                <a:lnTo>
                  <a:pt x="4704" y="60000"/>
                </a:lnTo>
                <a:cubicBezTo>
                  <a:pt x="4704" y="35692"/>
                  <a:pt x="22279" y="14562"/>
                  <a:pt x="47184" y="8929"/>
                </a:cubicBezTo>
                <a:cubicBezTo>
                  <a:pt x="72090" y="3295"/>
                  <a:pt x="97811" y="14631"/>
                  <a:pt x="109355" y="36327"/>
                </a:cubicBezTo>
                <a:lnTo>
                  <a:pt x="112434" y="36327"/>
                </a:lnTo>
                <a:lnTo>
                  <a:pt x="110591" y="59999"/>
                </a:lnTo>
                <a:lnTo>
                  <a:pt x="93617" y="36327"/>
                </a:lnTo>
                <a:lnTo>
                  <a:pt x="95589" y="36327"/>
                </a:lnTo>
                <a:lnTo>
                  <a:pt x="95589" y="36327"/>
                </a:lnTo>
                <a:cubicBezTo>
                  <a:pt x="83332" y="24021"/>
                  <a:pt x="62923" y="19351"/>
                  <a:pt x="44628" y="24666"/>
                </a:cubicBezTo>
                <a:cubicBezTo>
                  <a:pt x="26333" y="29982"/>
                  <a:pt x="14112" y="44132"/>
                  <a:pt x="14112" y="60000"/>
                </a:cubicBezTo>
                <a:close/>
              </a:path>
            </a:pathLst>
          </a:custGeom>
          <a:solidFill>
            <a:schemeClr val="accent6"/>
          </a:solidFill>
          <a:ln w="9525" cap="flat">
            <a:solidFill>
              <a:srgbClr val="798E35"/>
            </a:solidFill>
            <a:prstDash val="solid"/>
            <a:round/>
            <a:headEnd type="none" w="med" len="med"/>
            <a:tailEnd type="none" w="med" len="med"/>
          </a:ln>
        </p:spPr>
        <p:txBody>
          <a:bodyPr lIns="91425" tIns="45700" rIns="91425" bIns="45700" anchor="t" anchorCtr="0">
            <a:noAutofit/>
          </a:bodyPr>
          <a:lstStyle/>
          <a:p>
            <a:endParaRPr dirty="0"/>
          </a:p>
        </p:txBody>
      </p:sp>
      <p:sp>
        <p:nvSpPr>
          <p:cNvPr id="249" name="Shape 249"/>
          <p:cNvSpPr/>
          <p:nvPr/>
        </p:nvSpPr>
        <p:spPr>
          <a:xfrm rot="-1360418">
            <a:off x="3845472" y="4194932"/>
            <a:ext cx="1770092" cy="1136031"/>
          </a:xfrm>
          <a:custGeom>
            <a:avLst/>
            <a:gdLst/>
            <a:ahLst/>
            <a:cxnLst/>
            <a:rect l="0" t="0" r="0" b="0"/>
            <a:pathLst>
              <a:path w="120000" h="120000" extrusionOk="0">
                <a:moveTo>
                  <a:pt x="4443" y="60000"/>
                </a:moveTo>
                <a:lnTo>
                  <a:pt x="4443" y="60000"/>
                </a:lnTo>
                <a:cubicBezTo>
                  <a:pt x="4443" y="35935"/>
                  <a:pt x="21756" y="14952"/>
                  <a:pt x="46452" y="9084"/>
                </a:cubicBezTo>
                <a:cubicBezTo>
                  <a:pt x="71149" y="3216"/>
                  <a:pt x="96906" y="13966"/>
                  <a:pt x="108950" y="35169"/>
                </a:cubicBezTo>
                <a:lnTo>
                  <a:pt x="111514" y="35169"/>
                </a:lnTo>
                <a:lnTo>
                  <a:pt x="111113" y="59999"/>
                </a:lnTo>
                <a:lnTo>
                  <a:pt x="93741" y="35169"/>
                </a:lnTo>
                <a:lnTo>
                  <a:pt x="94973" y="35169"/>
                </a:lnTo>
                <a:cubicBezTo>
                  <a:pt x="82126" y="23487"/>
                  <a:pt x="61624" y="19409"/>
                  <a:pt x="43478" y="24928"/>
                </a:cubicBezTo>
                <a:cubicBezTo>
                  <a:pt x="25333" y="30446"/>
                  <a:pt x="13329" y="44410"/>
                  <a:pt x="13329" y="60000"/>
                </a:cubicBezTo>
                <a:close/>
              </a:path>
            </a:pathLst>
          </a:custGeom>
          <a:solidFill>
            <a:schemeClr val="accent6"/>
          </a:solidFill>
          <a:ln w="9525" cap="flat">
            <a:solidFill>
              <a:srgbClr val="798E35"/>
            </a:solidFill>
            <a:prstDash val="solid"/>
            <a:round/>
            <a:headEnd type="none" w="med" len="med"/>
            <a:tailEnd type="none" w="med" len="med"/>
          </a:ln>
        </p:spPr>
        <p:txBody>
          <a:bodyPr lIns="91425" tIns="45700" rIns="91425" bIns="45700" anchor="t" anchorCtr="0">
            <a:noAutofit/>
          </a:bodyPr>
          <a:lstStyle/>
          <a:p>
            <a:endParaRPr dirty="0"/>
          </a:p>
        </p:txBody>
      </p:sp>
      <p:sp>
        <p:nvSpPr>
          <p:cNvPr id="250" name="Shape 250"/>
          <p:cNvSpPr/>
          <p:nvPr/>
        </p:nvSpPr>
        <p:spPr>
          <a:xfrm>
            <a:off x="7011866" y="4876800"/>
            <a:ext cx="659354" cy="214200"/>
          </a:xfrm>
          <a:prstGeom prst="rightArrow">
            <a:avLst>
              <a:gd name="adj1" fmla="val 50000"/>
              <a:gd name="adj2" fmla="val 50000"/>
            </a:avLst>
          </a:prstGeom>
          <a:solidFill>
            <a:schemeClr val="accent1"/>
          </a:solidFill>
          <a:ln w="9525" cap="flat">
            <a:solidFill>
              <a:srgbClr val="145191"/>
            </a:solidFill>
            <a:prstDash val="solid"/>
            <a:round/>
            <a:headEnd type="none" w="med" len="med"/>
            <a:tailEnd type="none" w="med" len="med"/>
          </a:ln>
        </p:spPr>
        <p:txBody>
          <a:bodyPr lIns="91425" tIns="45700" rIns="91425" bIns="45700" anchor="t" anchorCtr="0">
            <a:noAutofit/>
          </a:bodyPr>
          <a:lstStyle/>
          <a:p>
            <a:endParaRPr dirty="0"/>
          </a:p>
        </p:txBody>
      </p:sp>
      <p:sp>
        <p:nvSpPr>
          <p:cNvPr id="251" name="Shape 251"/>
          <p:cNvSpPr txBox="1"/>
          <p:nvPr/>
        </p:nvSpPr>
        <p:spPr>
          <a:xfrm>
            <a:off x="7011867" y="5091112"/>
            <a:ext cx="1279107" cy="307800"/>
          </a:xfrm>
          <a:prstGeom prst="rect">
            <a:avLst/>
          </a:prstGeom>
          <a:noFill/>
          <a:ln>
            <a:noFill/>
          </a:ln>
        </p:spPr>
        <p:txBody>
          <a:bodyPr lIns="91425" tIns="45700" rIns="91425" bIns="45700" anchor="t" anchorCtr="0">
            <a:noAutofit/>
          </a:bodyPr>
          <a:lstStyle/>
          <a:p>
            <a:pPr algn="l">
              <a:buSzPct val="25000"/>
            </a:pPr>
            <a:r>
              <a:rPr lang="en">
                <a:solidFill>
                  <a:srgbClr val="0B5394"/>
                </a:solidFill>
                <a:latin typeface="Arial"/>
                <a:ea typeface="Arial"/>
                <a:cs typeface="Arial"/>
                <a:sym typeface="Arial"/>
              </a:rPr>
              <a:t>Change request</a:t>
            </a:r>
          </a:p>
        </p:txBody>
      </p:sp>
      <p:sp>
        <p:nvSpPr>
          <p:cNvPr id="252" name="Shape 252"/>
          <p:cNvSpPr/>
          <p:nvPr/>
        </p:nvSpPr>
        <p:spPr>
          <a:xfrm>
            <a:off x="7011866" y="5672137"/>
            <a:ext cx="659354" cy="214200"/>
          </a:xfrm>
          <a:prstGeom prst="rightArrow">
            <a:avLst>
              <a:gd name="adj1" fmla="val 50000"/>
              <a:gd name="adj2" fmla="val 50000"/>
            </a:avLst>
          </a:prstGeom>
          <a:solidFill>
            <a:schemeClr val="accent6"/>
          </a:solidFill>
          <a:ln w="9525" cap="flat">
            <a:solidFill>
              <a:srgbClr val="798E35"/>
            </a:solidFill>
            <a:prstDash val="solid"/>
            <a:round/>
            <a:headEnd type="none" w="med" len="med"/>
            <a:tailEnd type="none" w="med" len="med"/>
          </a:ln>
        </p:spPr>
        <p:txBody>
          <a:bodyPr lIns="91425" tIns="45700" rIns="91425" bIns="45700" anchor="t" anchorCtr="0">
            <a:noAutofit/>
          </a:bodyPr>
          <a:lstStyle/>
          <a:p>
            <a:endParaRPr dirty="0"/>
          </a:p>
        </p:txBody>
      </p:sp>
      <p:sp>
        <p:nvSpPr>
          <p:cNvPr id="253" name="Shape 253"/>
          <p:cNvSpPr txBox="1"/>
          <p:nvPr/>
        </p:nvSpPr>
        <p:spPr>
          <a:xfrm>
            <a:off x="7011866" y="5886450"/>
            <a:ext cx="1577908" cy="307800"/>
          </a:xfrm>
          <a:prstGeom prst="rect">
            <a:avLst/>
          </a:prstGeom>
          <a:noFill/>
          <a:ln>
            <a:noFill/>
          </a:ln>
        </p:spPr>
        <p:txBody>
          <a:bodyPr lIns="91425" tIns="45700" rIns="91425" bIns="45700" anchor="t" anchorCtr="0">
            <a:noAutofit/>
          </a:bodyPr>
          <a:lstStyle/>
          <a:p>
            <a:pPr algn="l">
              <a:buSzPct val="25000"/>
            </a:pPr>
            <a:r>
              <a:rPr lang="en">
                <a:solidFill>
                  <a:srgbClr val="546321"/>
                </a:solidFill>
                <a:latin typeface="Arial"/>
                <a:ea typeface="Arial"/>
                <a:cs typeface="Arial"/>
                <a:sym typeface="Arial"/>
              </a:rPr>
              <a:t>Update notification</a:t>
            </a:r>
          </a:p>
        </p:txBody>
      </p:sp>
      <p:sp>
        <p:nvSpPr>
          <p:cNvPr id="254" name="Shape 254"/>
          <p:cNvSpPr txBox="1"/>
          <p:nvPr/>
        </p:nvSpPr>
        <p:spPr>
          <a:xfrm>
            <a:off x="6286500" y="1676400"/>
            <a:ext cx="2505877" cy="1815900"/>
          </a:xfrm>
          <a:prstGeom prst="rect">
            <a:avLst/>
          </a:prstGeom>
          <a:noFill/>
          <a:ln>
            <a:noFill/>
          </a:ln>
        </p:spPr>
        <p:txBody>
          <a:bodyPr lIns="91425" tIns="45700" rIns="91425" bIns="45700" anchor="t" anchorCtr="0">
            <a:noAutofit/>
          </a:bodyPr>
          <a:lstStyle/>
          <a:p>
            <a:pPr algn="l">
              <a:buSzPct val="25000"/>
            </a:pPr>
            <a:r>
              <a:rPr lang="en" sz="1800">
                <a:solidFill>
                  <a:schemeClr val="dk1"/>
                </a:solidFill>
                <a:latin typeface="Arial"/>
                <a:ea typeface="Arial"/>
                <a:cs typeface="Arial"/>
                <a:sym typeface="Arial"/>
              </a:rPr>
              <a:t>Many desktop applications provide multiple </a:t>
            </a:r>
            <a:r>
              <a:rPr lang="en" sz="1800">
                <a:solidFill>
                  <a:srgbClr val="0B5394"/>
                </a:solidFill>
                <a:latin typeface="Arial"/>
                <a:ea typeface="Arial"/>
                <a:cs typeface="Arial"/>
                <a:sym typeface="Arial"/>
              </a:rPr>
              <a:t>views</a:t>
            </a:r>
            <a:r>
              <a:rPr lang="en" sz="1800">
                <a:solidFill>
                  <a:schemeClr val="dk1"/>
                </a:solidFill>
                <a:latin typeface="Arial"/>
                <a:ea typeface="Arial"/>
                <a:cs typeface="Arial"/>
                <a:sym typeface="Arial"/>
              </a:rPr>
              <a:t> of some </a:t>
            </a:r>
            <a:r>
              <a:rPr lang="en" sz="1800">
                <a:solidFill>
                  <a:srgbClr val="0B5394"/>
                </a:solidFill>
                <a:latin typeface="Arial"/>
                <a:ea typeface="Arial"/>
                <a:cs typeface="Arial"/>
                <a:sym typeface="Arial"/>
              </a:rPr>
              <a:t>data model</a:t>
            </a:r>
            <a:r>
              <a:rPr lang="en" sz="1800">
                <a:solidFill>
                  <a:schemeClr val="dk1"/>
                </a:solidFill>
                <a:latin typeface="Arial"/>
                <a:ea typeface="Arial"/>
                <a:cs typeface="Arial"/>
                <a:sym typeface="Arial"/>
              </a:rPr>
              <a:t>. </a:t>
            </a:r>
          </a:p>
          <a:p>
            <a:endParaRPr lang="en" sz="1800">
              <a:solidFill>
                <a:schemeClr val="dk1"/>
              </a:solidFill>
              <a:latin typeface="Arial"/>
              <a:ea typeface="Arial"/>
              <a:cs typeface="Arial"/>
              <a:sym typeface="Arial"/>
            </a:endParaRPr>
          </a:p>
          <a:p>
            <a:pPr algn="l">
              <a:buSzPct val="25000"/>
            </a:pPr>
            <a:r>
              <a:rPr lang="en" sz="1800" i="1">
                <a:solidFill>
                  <a:schemeClr val="dk1"/>
                </a:solidFill>
                <a:latin typeface="Arial"/>
                <a:ea typeface="Arial"/>
                <a:cs typeface="Arial"/>
                <a:sym typeface="Arial"/>
              </a:rPr>
              <a:t>Invariant </a:t>
            </a:r>
            <a:r>
              <a:rPr lang="en" sz="1800">
                <a:solidFill>
                  <a:schemeClr val="dk1"/>
                </a:solidFill>
                <a:latin typeface="Arial"/>
                <a:ea typeface="Arial"/>
                <a:cs typeface="Arial"/>
                <a:sym typeface="Arial"/>
              </a:rPr>
              <a:t>: all views should offer a mutually consistent</a:t>
            </a:r>
            <a:r>
              <a:rPr lang="en" sz="1800">
                <a:solidFill>
                  <a:schemeClr val="dk1"/>
                </a:solidFill>
              </a:rPr>
              <a:t> </a:t>
            </a:r>
            <a:r>
              <a:rPr lang="en" sz="1800">
                <a:solidFill>
                  <a:schemeClr val="dk1"/>
                </a:solidFill>
                <a:latin typeface="Arial"/>
                <a:ea typeface="Arial"/>
                <a:cs typeface="Arial"/>
                <a:sym typeface="Arial"/>
              </a:rPr>
              <a:t>representation of the model.</a:t>
            </a:r>
          </a:p>
        </p:txBody>
      </p:sp>
      <p:sp>
        <p:nvSpPr>
          <p:cNvPr id="2" name="Date Placeholder 1"/>
          <p:cNvSpPr>
            <a:spLocks noGrp="1"/>
          </p:cNvSpPr>
          <p:nvPr>
            <p:ph type="dt" sz="half" idx="10"/>
          </p:nvPr>
        </p:nvSpPr>
        <p:spPr/>
        <p:txBody>
          <a:bodyPr/>
          <a:lstStyle/>
          <a:p>
            <a:r>
              <a:rPr lang="en-US"/>
              <a:t>2021</a:t>
            </a:r>
            <a:endParaRPr lang="en-NZ" dirty="0"/>
          </a:p>
        </p:txBody>
      </p:sp>
      <p:sp>
        <p:nvSpPr>
          <p:cNvPr id="4" name="TextBox 3"/>
          <p:cNvSpPr txBox="1"/>
          <p:nvPr/>
        </p:nvSpPr>
        <p:spPr>
          <a:xfrm>
            <a:off x="1764582" y="6148350"/>
            <a:ext cx="2884957" cy="307777"/>
          </a:xfrm>
          <a:prstGeom prst="rect">
            <a:avLst/>
          </a:prstGeom>
          <a:noFill/>
        </p:spPr>
        <p:txBody>
          <a:bodyPr wrap="none" rtlCol="0">
            <a:spAutoFit/>
          </a:bodyPr>
          <a:lstStyle/>
          <a:p>
            <a:r>
              <a:rPr lang="en-MY" sz="1400" dirty="0"/>
              <a:t>Adopted from University of Auckland</a:t>
            </a:r>
          </a:p>
        </p:txBody>
      </p:sp>
      <p:sp>
        <p:nvSpPr>
          <p:cNvPr id="5" name="Footer Placeholder 4"/>
          <p:cNvSpPr>
            <a:spLocks noGrp="1"/>
          </p:cNvSpPr>
          <p:nvPr>
            <p:ph type="ftr" sz="quarter" idx="11"/>
          </p:nvPr>
        </p:nvSpPr>
        <p:spPr/>
        <p:txBody>
          <a:bodyPr/>
          <a:lstStyle/>
          <a:p>
            <a:r>
              <a:rPr lang="en-US"/>
              <a:t>Software Engineering</a:t>
            </a:r>
          </a:p>
        </p:txBody>
      </p:sp>
      <p:sp>
        <p:nvSpPr>
          <p:cNvPr id="3" name="Slide Number Placeholder 2"/>
          <p:cNvSpPr>
            <a:spLocks noGrp="1"/>
          </p:cNvSpPr>
          <p:nvPr>
            <p:ph type="sldNum" sz="quarter" idx="12"/>
          </p:nvPr>
        </p:nvSpPr>
        <p:spPr/>
        <p:txBody>
          <a:bodyPr/>
          <a:lstStyle/>
          <a:p>
            <a:fld id="{0362C787-829C-4B6B-B21B-90D8981190F3}" type="slidenum">
              <a:rPr lang="en-US" smtClean="0"/>
              <a:pPr/>
              <a:t>53</a:t>
            </a:fld>
            <a:endParaRPr lang="en-US"/>
          </a:p>
        </p:txBody>
      </p:sp>
    </p:spTree>
    <p:extLst>
      <p:ext uri="{BB962C8B-B14F-4D97-AF65-F5344CB8AC3E}">
        <p14:creationId xmlns:p14="http://schemas.microsoft.com/office/powerpoint/2010/main" val="270139070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anim calcmode="lin" valueType="num">
                                      <p:cBhvr additive="base">
                                        <p:cTn id="7" dur="500"/>
                                        <p:tgtEl>
                                          <p:spTgt spid="254"/>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8"/>
                                        </p:tgtEl>
                                        <p:attrNameLst>
                                          <p:attrName>style.visibility</p:attrName>
                                        </p:attrNameLst>
                                      </p:cBhvr>
                                      <p:to>
                                        <p:strVal val="visible"/>
                                      </p:to>
                                    </p:set>
                                    <p:animEffect transition="in" filter="fade">
                                      <p:cBhvr>
                                        <p:cTn id="12" dur="500"/>
                                        <p:tgtEl>
                                          <p:spTgt spid="228"/>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30"/>
                                        </p:tgtEl>
                                        <p:attrNameLst>
                                          <p:attrName>style.visibility</p:attrName>
                                        </p:attrNameLst>
                                      </p:cBhvr>
                                      <p:to>
                                        <p:strVal val="visible"/>
                                      </p:to>
                                    </p:set>
                                    <p:animEffect transition="in" filter="fade">
                                      <p:cBhvr>
                                        <p:cTn id="16" dur="500"/>
                                        <p:tgtEl>
                                          <p:spTgt spid="23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29"/>
                                        </p:tgtEl>
                                        <p:attrNameLst>
                                          <p:attrName>style.visibility</p:attrName>
                                        </p:attrNameLst>
                                      </p:cBhvr>
                                      <p:to>
                                        <p:strVal val="visible"/>
                                      </p:to>
                                    </p:set>
                                    <p:animEffect transition="in" filter="fade">
                                      <p:cBhvr>
                                        <p:cTn id="20" dur="500"/>
                                        <p:tgtEl>
                                          <p:spTgt spid="2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1"/>
                                        </p:tgtEl>
                                        <p:attrNameLst>
                                          <p:attrName>style.visibility</p:attrName>
                                        </p:attrNameLst>
                                      </p:cBhvr>
                                      <p:to>
                                        <p:strVal val="visible"/>
                                      </p:to>
                                    </p:set>
                                    <p:animEffect transition="in" filter="fade">
                                      <p:cBhvr>
                                        <p:cTn id="25" dur="500"/>
                                        <p:tgtEl>
                                          <p:spTgt spid="23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46"/>
                                        </p:tgtEl>
                                        <p:attrNameLst>
                                          <p:attrName>style.visibility</p:attrName>
                                        </p:attrNameLst>
                                      </p:cBhvr>
                                      <p:to>
                                        <p:strVal val="visible"/>
                                      </p:to>
                                    </p:set>
                                    <p:animEffect transition="in" filter="fade">
                                      <p:cBhvr>
                                        <p:cTn id="30" dur="500"/>
                                        <p:tgtEl>
                                          <p:spTgt spid="246"/>
                                        </p:tgtEl>
                                      </p:cBhvr>
                                    </p:animEffect>
                                  </p:childTnLst>
                                </p:cTn>
                              </p:par>
                              <p:par>
                                <p:cTn id="31" presetID="10" presetClass="entr" presetSubtype="0" fill="hold" nodeType="withEffect">
                                  <p:stCondLst>
                                    <p:cond delay="0"/>
                                  </p:stCondLst>
                                  <p:childTnLst>
                                    <p:set>
                                      <p:cBhvr>
                                        <p:cTn id="32" dur="1" fill="hold">
                                          <p:stCondLst>
                                            <p:cond delay="0"/>
                                          </p:stCondLst>
                                        </p:cTn>
                                        <p:tgtEl>
                                          <p:spTgt spid="245"/>
                                        </p:tgtEl>
                                        <p:attrNameLst>
                                          <p:attrName>style.visibility</p:attrName>
                                        </p:attrNameLst>
                                      </p:cBhvr>
                                      <p:to>
                                        <p:strVal val="visible"/>
                                      </p:to>
                                    </p:set>
                                    <p:animEffect transition="in" filter="fade">
                                      <p:cBhvr>
                                        <p:cTn id="33" dur="500"/>
                                        <p:tgtEl>
                                          <p:spTgt spid="245"/>
                                        </p:tgtEl>
                                      </p:cBhvr>
                                    </p:animEffect>
                                  </p:childTnLst>
                                </p:cTn>
                              </p:par>
                              <p:par>
                                <p:cTn id="34" presetID="2" presetClass="entr" presetSubtype="8" fill="hold" nodeType="withEffect">
                                  <p:stCondLst>
                                    <p:cond delay="0"/>
                                  </p:stCondLst>
                                  <p:childTnLst>
                                    <p:set>
                                      <p:cBhvr>
                                        <p:cTn id="35" dur="1" fill="hold">
                                          <p:stCondLst>
                                            <p:cond delay="0"/>
                                          </p:stCondLst>
                                        </p:cTn>
                                        <p:tgtEl>
                                          <p:spTgt spid="250"/>
                                        </p:tgtEl>
                                        <p:attrNameLst>
                                          <p:attrName>style.visibility</p:attrName>
                                        </p:attrNameLst>
                                      </p:cBhvr>
                                      <p:to>
                                        <p:strVal val="visible"/>
                                      </p:to>
                                    </p:set>
                                    <p:anim calcmode="lin" valueType="num">
                                      <p:cBhvr additive="base">
                                        <p:cTn id="36" dur="500"/>
                                        <p:tgtEl>
                                          <p:spTgt spid="250"/>
                                        </p:tgtEl>
                                        <p:attrNameLst>
                                          <p:attrName>ppt_x</p:attrName>
                                        </p:attrNameLst>
                                      </p:cBhvr>
                                      <p:tavLst>
                                        <p:tav tm="0">
                                          <p:val>
                                            <p:strVal val="#ppt_x-1"/>
                                          </p:val>
                                        </p:tav>
                                        <p:tav tm="100000">
                                          <p:val>
                                            <p:strVal val="#ppt_x"/>
                                          </p:val>
                                        </p:tav>
                                      </p:tavLst>
                                    </p:anim>
                                  </p:childTnLst>
                                </p:cTn>
                              </p:par>
                              <p:par>
                                <p:cTn id="37" presetID="2" presetClass="entr" presetSubtype="8" fill="hold" nodeType="withEffect">
                                  <p:stCondLst>
                                    <p:cond delay="0"/>
                                  </p:stCondLst>
                                  <p:childTnLst>
                                    <p:set>
                                      <p:cBhvr>
                                        <p:cTn id="38" dur="1" fill="hold">
                                          <p:stCondLst>
                                            <p:cond delay="0"/>
                                          </p:stCondLst>
                                        </p:cTn>
                                        <p:tgtEl>
                                          <p:spTgt spid="251"/>
                                        </p:tgtEl>
                                        <p:attrNameLst>
                                          <p:attrName>style.visibility</p:attrName>
                                        </p:attrNameLst>
                                      </p:cBhvr>
                                      <p:to>
                                        <p:strVal val="visible"/>
                                      </p:to>
                                    </p:set>
                                    <p:anim calcmode="lin" valueType="num">
                                      <p:cBhvr additive="base">
                                        <p:cTn id="39" dur="500"/>
                                        <p:tgtEl>
                                          <p:spTgt spid="251"/>
                                        </p:tgtEl>
                                        <p:attrNameLst>
                                          <p:attrName>ppt_x</p:attrName>
                                        </p:attrNameLst>
                                      </p:cBhvr>
                                      <p:tavLst>
                                        <p:tav tm="0">
                                          <p:val>
                                            <p:strVal val="#ppt_x-1"/>
                                          </p:val>
                                        </p:tav>
                                        <p:tav tm="100000">
                                          <p:val>
                                            <p:strVal val="#ppt_x"/>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48"/>
                                        </p:tgtEl>
                                        <p:attrNameLst>
                                          <p:attrName>style.visibility</p:attrName>
                                        </p:attrNameLst>
                                      </p:cBhvr>
                                      <p:to>
                                        <p:strVal val="visible"/>
                                      </p:to>
                                    </p:set>
                                    <p:animEffect transition="in" filter="fade">
                                      <p:cBhvr>
                                        <p:cTn id="44" dur="500"/>
                                        <p:tgtEl>
                                          <p:spTgt spid="248"/>
                                        </p:tgtEl>
                                      </p:cBhvr>
                                    </p:animEffect>
                                  </p:childTnLst>
                                </p:cTn>
                              </p:par>
                              <p:par>
                                <p:cTn id="45" presetID="10" presetClass="entr" presetSubtype="0" fill="hold" nodeType="withEffect">
                                  <p:stCondLst>
                                    <p:cond delay="0"/>
                                  </p:stCondLst>
                                  <p:childTnLst>
                                    <p:set>
                                      <p:cBhvr>
                                        <p:cTn id="46" dur="1" fill="hold">
                                          <p:stCondLst>
                                            <p:cond delay="0"/>
                                          </p:stCondLst>
                                        </p:cTn>
                                        <p:tgtEl>
                                          <p:spTgt spid="249"/>
                                        </p:tgtEl>
                                        <p:attrNameLst>
                                          <p:attrName>style.visibility</p:attrName>
                                        </p:attrNameLst>
                                      </p:cBhvr>
                                      <p:to>
                                        <p:strVal val="visible"/>
                                      </p:to>
                                    </p:set>
                                    <p:animEffect transition="in" filter="fade">
                                      <p:cBhvr>
                                        <p:cTn id="47" dur="500"/>
                                        <p:tgtEl>
                                          <p:spTgt spid="249"/>
                                        </p:tgtEl>
                                      </p:cBhvr>
                                    </p:animEffect>
                                  </p:childTnLst>
                                </p:cTn>
                              </p:par>
                              <p:par>
                                <p:cTn id="48" presetID="10" presetClass="entr" presetSubtype="0" fill="hold" nodeType="withEffect">
                                  <p:stCondLst>
                                    <p:cond delay="0"/>
                                  </p:stCondLst>
                                  <p:childTnLst>
                                    <p:set>
                                      <p:cBhvr>
                                        <p:cTn id="49" dur="1" fill="hold">
                                          <p:stCondLst>
                                            <p:cond delay="0"/>
                                          </p:stCondLst>
                                        </p:cTn>
                                        <p:tgtEl>
                                          <p:spTgt spid="247"/>
                                        </p:tgtEl>
                                        <p:attrNameLst>
                                          <p:attrName>style.visibility</p:attrName>
                                        </p:attrNameLst>
                                      </p:cBhvr>
                                      <p:to>
                                        <p:strVal val="visible"/>
                                      </p:to>
                                    </p:set>
                                    <p:animEffect transition="in" filter="fade">
                                      <p:cBhvr>
                                        <p:cTn id="50" dur="500"/>
                                        <p:tgtEl>
                                          <p:spTgt spid="247"/>
                                        </p:tgtEl>
                                      </p:cBhvr>
                                    </p:animEffect>
                                  </p:childTnLst>
                                </p:cTn>
                              </p:par>
                              <p:par>
                                <p:cTn id="51" presetID="2" presetClass="entr" presetSubtype="8" fill="hold" nodeType="withEffect">
                                  <p:stCondLst>
                                    <p:cond delay="0"/>
                                  </p:stCondLst>
                                  <p:childTnLst>
                                    <p:set>
                                      <p:cBhvr>
                                        <p:cTn id="52" dur="1" fill="hold">
                                          <p:stCondLst>
                                            <p:cond delay="0"/>
                                          </p:stCondLst>
                                        </p:cTn>
                                        <p:tgtEl>
                                          <p:spTgt spid="252"/>
                                        </p:tgtEl>
                                        <p:attrNameLst>
                                          <p:attrName>style.visibility</p:attrName>
                                        </p:attrNameLst>
                                      </p:cBhvr>
                                      <p:to>
                                        <p:strVal val="visible"/>
                                      </p:to>
                                    </p:set>
                                    <p:anim calcmode="lin" valueType="num">
                                      <p:cBhvr additive="base">
                                        <p:cTn id="53" dur="500"/>
                                        <p:tgtEl>
                                          <p:spTgt spid="252"/>
                                        </p:tgtEl>
                                        <p:attrNameLst>
                                          <p:attrName>ppt_x</p:attrName>
                                        </p:attrNameLst>
                                      </p:cBhvr>
                                      <p:tavLst>
                                        <p:tav tm="0">
                                          <p:val>
                                            <p:strVal val="#ppt_x-1"/>
                                          </p:val>
                                        </p:tav>
                                        <p:tav tm="100000">
                                          <p:val>
                                            <p:strVal val="#ppt_x"/>
                                          </p:val>
                                        </p:tav>
                                      </p:tavLst>
                                    </p:anim>
                                  </p:childTnLst>
                                </p:cTn>
                              </p:par>
                              <p:par>
                                <p:cTn id="54" presetID="2" presetClass="entr" presetSubtype="8" fill="hold" nodeType="withEffect">
                                  <p:stCondLst>
                                    <p:cond delay="0"/>
                                  </p:stCondLst>
                                  <p:childTnLst>
                                    <p:set>
                                      <p:cBhvr>
                                        <p:cTn id="55" dur="1" fill="hold">
                                          <p:stCondLst>
                                            <p:cond delay="0"/>
                                          </p:stCondLst>
                                        </p:cTn>
                                        <p:tgtEl>
                                          <p:spTgt spid="253"/>
                                        </p:tgtEl>
                                        <p:attrNameLst>
                                          <p:attrName>style.visibility</p:attrName>
                                        </p:attrNameLst>
                                      </p:cBhvr>
                                      <p:to>
                                        <p:strVal val="visible"/>
                                      </p:to>
                                    </p:set>
                                    <p:anim calcmode="lin" valueType="num">
                                      <p:cBhvr additive="base">
                                        <p:cTn id="56" dur="500"/>
                                        <p:tgtEl>
                                          <p:spTgt spid="25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lIns="90487" tIns="44450" rIns="90487" bIns="44450"/>
          <a:lstStyle/>
          <a:p>
            <a:r>
              <a:rPr lang="en-GB"/>
              <a:t>Layered Architecture</a:t>
            </a:r>
            <a:endParaRPr lang="en-GB" dirty="0"/>
          </a:p>
        </p:txBody>
      </p:sp>
      <p:sp>
        <p:nvSpPr>
          <p:cNvPr id="19459" name="Rectangle 3"/>
          <p:cNvSpPr>
            <a:spLocks noGrp="1" noChangeArrowheads="1"/>
          </p:cNvSpPr>
          <p:nvPr>
            <p:ph idx="1"/>
          </p:nvPr>
        </p:nvSpPr>
        <p:spPr>
          <a:noFill/>
          <a:ln/>
        </p:spPr>
        <p:txBody>
          <a:bodyPr lIns="90487" tIns="44450" rIns="90487" bIns="44450">
            <a:noAutofit/>
          </a:bodyPr>
          <a:lstStyle/>
          <a:p>
            <a:r>
              <a:rPr lang="en-GB" sz="2800" dirty="0"/>
              <a:t>Used to model the interfacing of sub-systems</a:t>
            </a:r>
          </a:p>
          <a:p>
            <a:r>
              <a:rPr lang="en-GB" sz="2800" dirty="0"/>
              <a:t>Organises the system into </a:t>
            </a:r>
            <a:r>
              <a:rPr lang="en-GB" sz="2800" b="1" dirty="0">
                <a:solidFill>
                  <a:srgbClr val="C00000"/>
                </a:solidFill>
              </a:rPr>
              <a:t>a set of layers </a:t>
            </a:r>
            <a:r>
              <a:rPr lang="en-GB" sz="2800" dirty="0"/>
              <a:t>(or abstract machines) each of which provide a set of services</a:t>
            </a:r>
          </a:p>
          <a:p>
            <a:r>
              <a:rPr lang="en-GB" sz="2800" dirty="0"/>
              <a:t>Supports the </a:t>
            </a:r>
            <a:r>
              <a:rPr lang="en-GB" sz="2800" b="1" dirty="0">
                <a:solidFill>
                  <a:srgbClr val="C00000"/>
                </a:solidFill>
              </a:rPr>
              <a:t>incremental development</a:t>
            </a:r>
            <a:r>
              <a:rPr lang="en-GB" sz="2800" dirty="0"/>
              <a:t> of sub-systems in different layers</a:t>
            </a:r>
          </a:p>
          <a:p>
            <a:r>
              <a:rPr lang="en-GB" sz="2800" dirty="0"/>
              <a:t>When a layer interface changes, only the adjacent layer is affected</a:t>
            </a:r>
          </a:p>
          <a:p>
            <a:r>
              <a:rPr lang="en-GB" sz="2800" dirty="0"/>
              <a:t>As layered systems localize machine dependencies, this makes it </a:t>
            </a:r>
            <a:r>
              <a:rPr lang="en-GB" sz="2800" b="1" dirty="0">
                <a:solidFill>
                  <a:srgbClr val="C00000"/>
                </a:solidFill>
              </a:rPr>
              <a:t>easier to provide multi-platform implementations</a:t>
            </a:r>
            <a:r>
              <a:rPr lang="en-GB" sz="2800" b="1" dirty="0"/>
              <a:t> </a:t>
            </a:r>
            <a:r>
              <a:rPr lang="en-GB" sz="2800" dirty="0"/>
              <a:t>of an application system</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54</a:t>
            </a:fld>
            <a:endParaRPr lang="en-US"/>
          </a:p>
        </p:txBody>
      </p:sp>
    </p:spTree>
    <p:extLst>
      <p:ext uri="{BB962C8B-B14F-4D97-AF65-F5344CB8AC3E}">
        <p14:creationId xmlns:p14="http://schemas.microsoft.com/office/powerpoint/2010/main" val="3969649628"/>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Layered Architecture Pattern</a:t>
            </a:r>
            <a:r>
              <a:rPr lang="en-GB"/>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06501723"/>
              </p:ext>
            </p:extLst>
          </p:nvPr>
        </p:nvGraphicFramePr>
        <p:xfrm>
          <a:off x="457200" y="1577655"/>
          <a:ext cx="8229600" cy="47599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Layered architecture</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 </a:t>
                      </a:r>
                      <a:r>
                        <a:rPr lang="en-GB" sz="1600">
                          <a:solidFill>
                            <a:srgbClr val="000000"/>
                          </a:solidFill>
                          <a:latin typeface="Helvetica"/>
                          <a:ea typeface="Times New Roman"/>
                          <a:cs typeface="Helvetica"/>
                        </a:rPr>
                        <a:t>See next slide.</a:t>
                      </a:r>
                      <a:endParaRPr lang="en-GB" sz="16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A layered model of a system for sharing copyright documents held in different libraries, as shown in the </a:t>
                      </a:r>
                      <a:r>
                        <a:rPr lang="en-GB" sz="1600" dirty="0" err="1">
                          <a:solidFill>
                            <a:srgbClr val="000000"/>
                          </a:solidFill>
                          <a:latin typeface="Helvetica"/>
                          <a:ea typeface="Times New Roman"/>
                          <a:cs typeface="Helvetica"/>
                        </a:rPr>
                        <a:t>iLearn</a:t>
                      </a:r>
                      <a:r>
                        <a:rPr lang="en-GB" sz="1600" dirty="0">
                          <a:solidFill>
                            <a:srgbClr val="000000"/>
                          </a:solidFill>
                          <a:latin typeface="Helvetica"/>
                          <a:ea typeface="Times New Roman"/>
                          <a:cs typeface="Helvetica"/>
                        </a:rPr>
                        <a:t> example slide.</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multi-level security.</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Allows replacement of entire layers so long as the interface is maintained. Redundant facilities (e.g., authentication) can be provided in each layer to increase the dependability of the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6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Performance can be a problem because of multiple levels of interpretation of a service request as it is processed at each layer.</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55</a:t>
            </a:fld>
            <a:endParaRPr lang="en-US"/>
          </a:p>
        </p:txBody>
      </p:sp>
    </p:spTree>
    <p:extLst>
      <p:ext uri="{BB962C8B-B14F-4D97-AF65-F5344CB8AC3E}">
        <p14:creationId xmlns:p14="http://schemas.microsoft.com/office/powerpoint/2010/main" val="33645778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Generic Layered Architecture</a:t>
            </a:r>
            <a:r>
              <a:rPr lang="en-GB"/>
              <a:t> </a:t>
            </a:r>
            <a:endParaRPr lang="en-US" dirty="0"/>
          </a:p>
        </p:txBody>
      </p:sp>
      <p:pic>
        <p:nvPicPr>
          <p:cNvPr id="4" name="Content Placeholder 3" descr="6.6 LayeredArch.eps"/>
          <p:cNvPicPr>
            <a:picLocks noGrp="1" noChangeAspect="1"/>
          </p:cNvPicPr>
          <p:nvPr>
            <p:ph idx="1"/>
          </p:nvPr>
        </p:nvPicPr>
        <p:blipFill>
          <a:blip r:embed="rId2"/>
          <a:srcRect l="-16082" r="-16082"/>
          <a:stretch>
            <a:fillRect/>
          </a:stretch>
        </p:blipFill>
        <p:spPr>
          <a:xfrm>
            <a:off x="740945" y="1600200"/>
            <a:ext cx="7271456" cy="3999021"/>
          </a:xfrm>
        </p:spPr>
      </p:pic>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56</a:t>
            </a:fld>
            <a:endParaRPr lang="en-US"/>
          </a:p>
        </p:txBody>
      </p:sp>
    </p:spTree>
    <p:extLst>
      <p:ext uri="{BB962C8B-B14F-4D97-AF65-F5344CB8AC3E}">
        <p14:creationId xmlns:p14="http://schemas.microsoft.com/office/powerpoint/2010/main" val="23226281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Architecture of iLearn </a:t>
            </a:r>
            <a:r>
              <a:rPr lang="en-US" dirty="0"/>
              <a:t>S</a:t>
            </a:r>
            <a:r>
              <a:rPr lang="en-US"/>
              <a:t>ystem</a:t>
            </a:r>
            <a:r>
              <a:rPr lang="en-GB"/>
              <a:t> </a:t>
            </a:r>
            <a:endParaRPr lang="en-US" dirty="0"/>
          </a:p>
        </p:txBody>
      </p:sp>
      <p:sp>
        <p:nvSpPr>
          <p:cNvPr id="6" name="Footer Placeholder 5"/>
          <p:cNvSpPr>
            <a:spLocks noGrp="1"/>
          </p:cNvSpPr>
          <p:nvPr>
            <p:ph type="ftr" sz="quarter" idx="11"/>
          </p:nvPr>
        </p:nvSpPr>
        <p:spPr/>
        <p:txBody>
          <a:bodyPr/>
          <a:lstStyle/>
          <a:p>
            <a:r>
              <a:rPr lang="en-US"/>
              <a:t>Software Engineering</a:t>
            </a:r>
          </a:p>
        </p:txBody>
      </p:sp>
      <p:pic>
        <p:nvPicPr>
          <p:cNvPr id="7" name="Picture 6" descr="6.9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036" y="1585960"/>
            <a:ext cx="5781175" cy="4810291"/>
          </a:xfrm>
          <a:prstGeom prst="rect">
            <a:avLst/>
          </a:prstGeom>
        </p:spPr>
      </p:pic>
      <p:sp>
        <p:nvSpPr>
          <p:cNvPr id="3" name="Date Placeholder 2"/>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57</a:t>
            </a:fld>
            <a:endParaRPr lang="en-US"/>
          </a:p>
        </p:txBody>
      </p:sp>
    </p:spTree>
    <p:extLst>
      <p:ext uri="{BB962C8B-B14F-4D97-AF65-F5344CB8AC3E}">
        <p14:creationId xmlns:p14="http://schemas.microsoft.com/office/powerpoint/2010/main" val="17038714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Architecture of Mentcare System</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Content Placeholder 4" descr="6.17 MHC-PMSArch.eps"/>
          <p:cNvPicPr>
            <a:picLocks noGrp="1" noChangeAspect="1"/>
          </p:cNvPicPr>
          <p:nvPr>
            <p:ph idx="1"/>
          </p:nvPr>
        </p:nvPicPr>
        <p:blipFill>
          <a:blip r:embed="rId2"/>
          <a:srcRect l="-14940" r="-14940"/>
          <a:stretch>
            <a:fillRect/>
          </a:stretch>
        </p:blipFill>
        <p:spPr>
          <a:xfrm>
            <a:off x="1690291" y="1981200"/>
            <a:ext cx="5763418" cy="3169638"/>
          </a:xfrm>
        </p:spPr>
      </p:pic>
      <p:sp>
        <p:nvSpPr>
          <p:cNvPr id="3" name="Slide Number Placeholder 2"/>
          <p:cNvSpPr>
            <a:spLocks noGrp="1"/>
          </p:cNvSpPr>
          <p:nvPr>
            <p:ph type="sldNum" sz="quarter" idx="12"/>
          </p:nvPr>
        </p:nvSpPr>
        <p:spPr/>
        <p:txBody>
          <a:bodyPr/>
          <a:lstStyle/>
          <a:p>
            <a:fld id="{0362C787-829C-4B6B-B21B-90D8981190F3}" type="slidenum">
              <a:rPr lang="en-US" smtClean="0"/>
              <a:pPr/>
              <a:t>58</a:t>
            </a:fld>
            <a:endParaRPr lang="en-US"/>
          </a:p>
        </p:txBody>
      </p:sp>
    </p:spTree>
    <p:extLst>
      <p:ext uri="{BB962C8B-B14F-4D97-AF65-F5344CB8AC3E}">
        <p14:creationId xmlns:p14="http://schemas.microsoft.com/office/powerpoint/2010/main" val="14679568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Three and</a:t>
            </a:r>
            <a:r>
              <a:rPr lang="en-GB"/>
              <a:t> Four L</a:t>
            </a:r>
            <a:r>
              <a:rPr lang="en-US"/>
              <a:t>ayer </a:t>
            </a:r>
            <a:r>
              <a:rPr lang="en-GB"/>
              <a:t>A</a:t>
            </a:r>
            <a:r>
              <a:rPr lang="en-US"/>
              <a:t>rchitecture</a:t>
            </a:r>
            <a:r>
              <a:rPr lang="en-GB"/>
              <a:t>s</a:t>
            </a:r>
            <a:endParaRPr lang="en-MY"/>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grpSp>
        <p:nvGrpSpPr>
          <p:cNvPr id="6" name="Group 8"/>
          <p:cNvGrpSpPr>
            <a:grpSpLocks/>
          </p:cNvGrpSpPr>
          <p:nvPr/>
        </p:nvGrpSpPr>
        <p:grpSpPr bwMode="auto">
          <a:xfrm>
            <a:off x="1084263" y="2284413"/>
            <a:ext cx="1931987" cy="2657475"/>
            <a:chOff x="2192" y="1496"/>
            <a:chExt cx="1128" cy="1552"/>
          </a:xfrm>
        </p:grpSpPr>
        <p:sp>
          <p:nvSpPr>
            <p:cNvPr id="7" name="Rectangle 9"/>
            <p:cNvSpPr>
              <a:spLocks noChangeArrowheads="1"/>
            </p:cNvSpPr>
            <p:nvPr/>
          </p:nvSpPr>
          <p:spPr bwMode="auto">
            <a:xfrm>
              <a:off x="2192" y="157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Presentation</a:t>
              </a:r>
            </a:p>
          </p:txBody>
        </p:sp>
        <p:sp>
          <p:nvSpPr>
            <p:cNvPr id="8" name="Rectangle 10"/>
            <p:cNvSpPr>
              <a:spLocks noChangeArrowheads="1"/>
            </p:cNvSpPr>
            <p:nvPr/>
          </p:nvSpPr>
          <p:spPr bwMode="auto">
            <a:xfrm>
              <a:off x="2192" y="149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9" name="Rectangle 11"/>
            <p:cNvSpPr>
              <a:spLocks noChangeArrowheads="1"/>
            </p:cNvSpPr>
            <p:nvPr/>
          </p:nvSpPr>
          <p:spPr bwMode="auto">
            <a:xfrm>
              <a:off x="2192" y="213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Business logic</a:t>
              </a:r>
            </a:p>
          </p:txBody>
        </p:sp>
        <p:sp>
          <p:nvSpPr>
            <p:cNvPr id="10" name="Rectangle 12"/>
            <p:cNvSpPr>
              <a:spLocks noChangeArrowheads="1"/>
            </p:cNvSpPr>
            <p:nvPr/>
          </p:nvSpPr>
          <p:spPr bwMode="auto">
            <a:xfrm>
              <a:off x="2192" y="205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1" name="Rectangle 13"/>
            <p:cNvSpPr>
              <a:spLocks noChangeArrowheads="1"/>
            </p:cNvSpPr>
            <p:nvPr/>
          </p:nvSpPr>
          <p:spPr bwMode="auto">
            <a:xfrm>
              <a:off x="2192" y="269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Database</a:t>
              </a:r>
            </a:p>
          </p:txBody>
        </p:sp>
        <p:sp>
          <p:nvSpPr>
            <p:cNvPr id="12" name="Rectangle 14"/>
            <p:cNvSpPr>
              <a:spLocks noChangeArrowheads="1"/>
            </p:cNvSpPr>
            <p:nvPr/>
          </p:nvSpPr>
          <p:spPr bwMode="auto">
            <a:xfrm>
              <a:off x="2192" y="261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3" name="Line 15"/>
            <p:cNvSpPr>
              <a:spLocks noChangeShapeType="1"/>
            </p:cNvSpPr>
            <p:nvPr/>
          </p:nvSpPr>
          <p:spPr bwMode="auto">
            <a:xfrm>
              <a:off x="2744" y="192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14" name="Line 16"/>
            <p:cNvSpPr>
              <a:spLocks noChangeShapeType="1"/>
            </p:cNvSpPr>
            <p:nvPr/>
          </p:nvSpPr>
          <p:spPr bwMode="auto">
            <a:xfrm>
              <a:off x="2744" y="248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grpSp>
      <p:grpSp>
        <p:nvGrpSpPr>
          <p:cNvPr id="15" name="Group 17"/>
          <p:cNvGrpSpPr>
            <a:grpSpLocks/>
          </p:cNvGrpSpPr>
          <p:nvPr/>
        </p:nvGrpSpPr>
        <p:grpSpPr bwMode="auto">
          <a:xfrm>
            <a:off x="6207125" y="1881188"/>
            <a:ext cx="1862138" cy="3486150"/>
            <a:chOff x="2192" y="1496"/>
            <a:chExt cx="1128" cy="2112"/>
          </a:xfrm>
        </p:grpSpPr>
        <p:sp>
          <p:nvSpPr>
            <p:cNvPr id="16" name="Rectangle 18"/>
            <p:cNvSpPr>
              <a:spLocks noChangeArrowheads="1"/>
            </p:cNvSpPr>
            <p:nvPr/>
          </p:nvSpPr>
          <p:spPr bwMode="auto">
            <a:xfrm>
              <a:off x="2192" y="157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Presentation</a:t>
              </a:r>
            </a:p>
          </p:txBody>
        </p:sp>
        <p:sp>
          <p:nvSpPr>
            <p:cNvPr id="17" name="Rectangle 19"/>
            <p:cNvSpPr>
              <a:spLocks noChangeArrowheads="1"/>
            </p:cNvSpPr>
            <p:nvPr/>
          </p:nvSpPr>
          <p:spPr bwMode="auto">
            <a:xfrm>
              <a:off x="2192" y="149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8" name="Rectangle 20"/>
            <p:cNvSpPr>
              <a:spLocks noChangeArrowheads="1"/>
            </p:cNvSpPr>
            <p:nvPr/>
          </p:nvSpPr>
          <p:spPr bwMode="auto">
            <a:xfrm>
              <a:off x="2192" y="213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Application logic</a:t>
              </a:r>
            </a:p>
          </p:txBody>
        </p:sp>
        <p:sp>
          <p:nvSpPr>
            <p:cNvPr id="19" name="Rectangle 21"/>
            <p:cNvSpPr>
              <a:spLocks noChangeArrowheads="1"/>
            </p:cNvSpPr>
            <p:nvPr/>
          </p:nvSpPr>
          <p:spPr bwMode="auto">
            <a:xfrm>
              <a:off x="2192" y="205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0" name="Rectangle 22"/>
            <p:cNvSpPr>
              <a:spLocks noChangeArrowheads="1"/>
            </p:cNvSpPr>
            <p:nvPr/>
          </p:nvSpPr>
          <p:spPr bwMode="auto">
            <a:xfrm>
              <a:off x="2192" y="269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Domain</a:t>
              </a:r>
            </a:p>
          </p:txBody>
        </p:sp>
        <p:sp>
          <p:nvSpPr>
            <p:cNvPr id="21" name="Rectangle 23"/>
            <p:cNvSpPr>
              <a:spLocks noChangeArrowheads="1"/>
            </p:cNvSpPr>
            <p:nvPr/>
          </p:nvSpPr>
          <p:spPr bwMode="auto">
            <a:xfrm>
              <a:off x="2192" y="261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2" name="Line 24"/>
            <p:cNvSpPr>
              <a:spLocks noChangeShapeType="1"/>
            </p:cNvSpPr>
            <p:nvPr/>
          </p:nvSpPr>
          <p:spPr bwMode="auto">
            <a:xfrm>
              <a:off x="2744" y="192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23" name="Line 25"/>
            <p:cNvSpPr>
              <a:spLocks noChangeShapeType="1"/>
            </p:cNvSpPr>
            <p:nvPr/>
          </p:nvSpPr>
          <p:spPr bwMode="auto">
            <a:xfrm>
              <a:off x="2744" y="248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24" name="Rectangle 26"/>
            <p:cNvSpPr>
              <a:spLocks noChangeArrowheads="1"/>
            </p:cNvSpPr>
            <p:nvPr/>
          </p:nvSpPr>
          <p:spPr bwMode="auto">
            <a:xfrm>
              <a:off x="2192" y="325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600"/>
                <a:t>Database</a:t>
              </a:r>
            </a:p>
          </p:txBody>
        </p:sp>
        <p:sp>
          <p:nvSpPr>
            <p:cNvPr id="25" name="Rectangle 27"/>
            <p:cNvSpPr>
              <a:spLocks noChangeArrowheads="1"/>
            </p:cNvSpPr>
            <p:nvPr/>
          </p:nvSpPr>
          <p:spPr bwMode="auto">
            <a:xfrm>
              <a:off x="2192" y="317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6" name="Line 28"/>
            <p:cNvSpPr>
              <a:spLocks noChangeShapeType="1"/>
            </p:cNvSpPr>
            <p:nvPr/>
          </p:nvSpPr>
          <p:spPr bwMode="auto">
            <a:xfrm>
              <a:off x="2744" y="304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grpSp>
      <p:sp>
        <p:nvSpPr>
          <p:cNvPr id="27" name="Right Arrow 26"/>
          <p:cNvSpPr/>
          <p:nvPr/>
        </p:nvSpPr>
        <p:spPr>
          <a:xfrm>
            <a:off x="3209714" y="2937597"/>
            <a:ext cx="2930525" cy="15616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a:t>Business logic layer can be split into 2 layers </a:t>
            </a:r>
          </a:p>
        </p:txBody>
      </p:sp>
      <p:sp>
        <p:nvSpPr>
          <p:cNvPr id="28" name="Rectangle 27"/>
          <p:cNvSpPr/>
          <p:nvPr/>
        </p:nvSpPr>
        <p:spPr>
          <a:xfrm>
            <a:off x="1023667" y="6044264"/>
            <a:ext cx="4372094" cy="369332"/>
          </a:xfrm>
          <a:prstGeom prst="rect">
            <a:avLst/>
          </a:prstGeom>
        </p:spPr>
        <p:txBody>
          <a:bodyPr wrap="none">
            <a:spAutoFit/>
          </a:bodyPr>
          <a:lstStyle/>
          <a:p>
            <a:r>
              <a:rPr lang="en-GB"/>
              <a:t>Source: Bennett, McRobb and Farmer (2010)</a:t>
            </a:r>
            <a:endParaRPr lang="en-MY"/>
          </a:p>
        </p:txBody>
      </p:sp>
      <p:sp>
        <p:nvSpPr>
          <p:cNvPr id="3" name="Slide Number Placeholder 2"/>
          <p:cNvSpPr>
            <a:spLocks noGrp="1"/>
          </p:cNvSpPr>
          <p:nvPr>
            <p:ph type="sldNum" sz="quarter" idx="12"/>
          </p:nvPr>
        </p:nvSpPr>
        <p:spPr/>
        <p:txBody>
          <a:bodyPr/>
          <a:lstStyle/>
          <a:p>
            <a:fld id="{0362C787-829C-4B6B-B21B-90D8981190F3}" type="slidenum">
              <a:rPr lang="en-US" smtClean="0"/>
              <a:pPr/>
              <a:t>59</a:t>
            </a:fld>
            <a:endParaRPr lang="en-US"/>
          </a:p>
        </p:txBody>
      </p:sp>
    </p:spTree>
    <p:extLst>
      <p:ext uri="{BB962C8B-B14F-4D97-AF65-F5344CB8AC3E}">
        <p14:creationId xmlns:p14="http://schemas.microsoft.com/office/powerpoint/2010/main" val="11396901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Partitioned Subsystems in Four Layer Architecture</a:t>
            </a:r>
          </a:p>
        </p:txBody>
      </p:sp>
      <p:sp>
        <p:nvSpPr>
          <p:cNvPr id="3" name="Content Placeholder 2"/>
          <p:cNvSpPr>
            <a:spLocks noGrp="1"/>
          </p:cNvSpPr>
          <p:nvPr>
            <p:ph idx="1"/>
          </p:nvPr>
        </p:nvSpPr>
        <p:spPr/>
        <p:txBody>
          <a:bodyPr/>
          <a:lstStyle/>
          <a:p>
            <a:r>
              <a:rPr lang="en-US"/>
              <a:t>Loosely coupled </a:t>
            </a:r>
            <a:r>
              <a:rPr lang="en-GB"/>
              <a:t>subsystems, </a:t>
            </a:r>
            <a:r>
              <a:rPr lang="en-US"/>
              <a:t>each deliver</a:t>
            </a:r>
            <a:r>
              <a:rPr lang="en-GB"/>
              <a:t>ing</a:t>
            </a:r>
            <a:r>
              <a:rPr lang="en-US"/>
              <a:t> a single service or coherent group of services</a:t>
            </a:r>
          </a:p>
          <a:p>
            <a:pPr marL="0" indent="0">
              <a:buNone/>
            </a:pPr>
            <a:endParaRPr lang="en-MY"/>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grpSp>
        <p:nvGrpSpPr>
          <p:cNvPr id="6" name="Group 7"/>
          <p:cNvGrpSpPr>
            <a:grpSpLocks/>
          </p:cNvGrpSpPr>
          <p:nvPr/>
        </p:nvGrpSpPr>
        <p:grpSpPr bwMode="auto">
          <a:xfrm>
            <a:off x="609599" y="2797405"/>
            <a:ext cx="6051550" cy="3352800"/>
            <a:chOff x="753" y="1496"/>
            <a:chExt cx="3812" cy="2112"/>
          </a:xfrm>
        </p:grpSpPr>
        <p:sp>
          <p:nvSpPr>
            <p:cNvPr id="7" name="Rectangle 8"/>
            <p:cNvSpPr>
              <a:spLocks noChangeArrowheads="1"/>
            </p:cNvSpPr>
            <p:nvPr/>
          </p:nvSpPr>
          <p:spPr bwMode="auto">
            <a:xfrm>
              <a:off x="2896" y="157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Campaign Costs </a:t>
              </a:r>
              <a:br>
                <a:rPr lang="en-GB" sz="1400"/>
              </a:br>
              <a:r>
                <a:rPr lang="en-GB" sz="1400"/>
                <a:t>HCI Subsystem</a:t>
              </a:r>
            </a:p>
          </p:txBody>
        </p:sp>
        <p:sp>
          <p:nvSpPr>
            <p:cNvPr id="8" name="Rectangle 9"/>
            <p:cNvSpPr>
              <a:spLocks noChangeArrowheads="1"/>
            </p:cNvSpPr>
            <p:nvPr/>
          </p:nvSpPr>
          <p:spPr bwMode="auto">
            <a:xfrm>
              <a:off x="2896" y="149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9" name="Rectangle 10"/>
            <p:cNvSpPr>
              <a:spLocks noChangeArrowheads="1"/>
            </p:cNvSpPr>
            <p:nvPr/>
          </p:nvSpPr>
          <p:spPr bwMode="auto">
            <a:xfrm>
              <a:off x="2896" y="213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Campaign Costs </a:t>
              </a:r>
              <a:br>
                <a:rPr lang="en-GB" sz="1400"/>
              </a:br>
              <a:r>
                <a:rPr lang="en-GB" sz="1400"/>
                <a:t>Subsystem</a:t>
              </a:r>
            </a:p>
          </p:txBody>
        </p:sp>
        <p:sp>
          <p:nvSpPr>
            <p:cNvPr id="10" name="Rectangle 11"/>
            <p:cNvSpPr>
              <a:spLocks noChangeArrowheads="1"/>
            </p:cNvSpPr>
            <p:nvPr/>
          </p:nvSpPr>
          <p:spPr bwMode="auto">
            <a:xfrm>
              <a:off x="2896" y="205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1" name="Rectangle 12"/>
            <p:cNvSpPr>
              <a:spLocks noChangeArrowheads="1"/>
            </p:cNvSpPr>
            <p:nvPr/>
          </p:nvSpPr>
          <p:spPr bwMode="auto">
            <a:xfrm>
              <a:off x="2192" y="269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Campaign Domain</a:t>
              </a:r>
            </a:p>
          </p:txBody>
        </p:sp>
        <p:sp>
          <p:nvSpPr>
            <p:cNvPr id="12" name="Rectangle 13"/>
            <p:cNvSpPr>
              <a:spLocks noChangeArrowheads="1"/>
            </p:cNvSpPr>
            <p:nvPr/>
          </p:nvSpPr>
          <p:spPr bwMode="auto">
            <a:xfrm>
              <a:off x="2192" y="261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3" name="Line 14"/>
            <p:cNvSpPr>
              <a:spLocks noChangeShapeType="1"/>
            </p:cNvSpPr>
            <p:nvPr/>
          </p:nvSpPr>
          <p:spPr bwMode="auto">
            <a:xfrm>
              <a:off x="3448" y="192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14" name="Line 15"/>
            <p:cNvSpPr>
              <a:spLocks noChangeShapeType="1"/>
            </p:cNvSpPr>
            <p:nvPr/>
          </p:nvSpPr>
          <p:spPr bwMode="auto">
            <a:xfrm>
              <a:off x="3152" y="248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15" name="Rectangle 16"/>
            <p:cNvSpPr>
              <a:spLocks noChangeArrowheads="1"/>
            </p:cNvSpPr>
            <p:nvPr/>
          </p:nvSpPr>
          <p:spPr bwMode="auto">
            <a:xfrm>
              <a:off x="2192" y="325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Campaign Database</a:t>
              </a:r>
            </a:p>
          </p:txBody>
        </p:sp>
        <p:sp>
          <p:nvSpPr>
            <p:cNvPr id="16" name="Rectangle 17"/>
            <p:cNvSpPr>
              <a:spLocks noChangeArrowheads="1"/>
            </p:cNvSpPr>
            <p:nvPr/>
          </p:nvSpPr>
          <p:spPr bwMode="auto">
            <a:xfrm>
              <a:off x="2192" y="317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17" name="Line 18"/>
            <p:cNvSpPr>
              <a:spLocks noChangeShapeType="1"/>
            </p:cNvSpPr>
            <p:nvPr/>
          </p:nvSpPr>
          <p:spPr bwMode="auto">
            <a:xfrm>
              <a:off x="2744" y="304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18" name="Rectangle 19"/>
            <p:cNvSpPr>
              <a:spLocks noChangeArrowheads="1"/>
            </p:cNvSpPr>
            <p:nvPr/>
          </p:nvSpPr>
          <p:spPr bwMode="auto">
            <a:xfrm>
              <a:off x="1456" y="157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Advert </a:t>
              </a:r>
            </a:p>
            <a:p>
              <a:r>
                <a:rPr lang="en-GB" sz="1400"/>
                <a:t>HCI Subsystem</a:t>
              </a:r>
            </a:p>
          </p:txBody>
        </p:sp>
        <p:sp>
          <p:nvSpPr>
            <p:cNvPr id="19" name="Rectangle 20"/>
            <p:cNvSpPr>
              <a:spLocks noChangeArrowheads="1"/>
            </p:cNvSpPr>
            <p:nvPr/>
          </p:nvSpPr>
          <p:spPr bwMode="auto">
            <a:xfrm>
              <a:off x="1456" y="149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0" name="Rectangle 21"/>
            <p:cNvSpPr>
              <a:spLocks noChangeArrowheads="1"/>
            </p:cNvSpPr>
            <p:nvPr/>
          </p:nvSpPr>
          <p:spPr bwMode="auto">
            <a:xfrm>
              <a:off x="1456" y="2136"/>
              <a:ext cx="1128" cy="352"/>
            </a:xfrm>
            <a:prstGeom prst="rect">
              <a:avLst/>
            </a:prstGeom>
            <a:solidFill>
              <a:schemeClr val="bg1"/>
            </a:solidFill>
            <a:ln w="9525">
              <a:solidFill>
                <a:schemeClr val="tx1"/>
              </a:solidFill>
              <a:miter lim="800000"/>
              <a:headEnd type="none" w="lg" len="lg"/>
              <a:tailEnd type="none" w="lg" len="lg"/>
            </a:ln>
          </p:spPr>
          <p:txBody>
            <a:bodyPr wrap="none" anchor="ctr"/>
            <a:lstStyle/>
            <a:p>
              <a:r>
                <a:rPr lang="en-GB" sz="1400"/>
                <a:t>Advert </a:t>
              </a:r>
            </a:p>
            <a:p>
              <a:r>
                <a:rPr lang="en-GB" sz="1400"/>
                <a:t>Subsystem</a:t>
              </a:r>
            </a:p>
          </p:txBody>
        </p:sp>
        <p:sp>
          <p:nvSpPr>
            <p:cNvPr id="21" name="Rectangle 22"/>
            <p:cNvSpPr>
              <a:spLocks noChangeArrowheads="1"/>
            </p:cNvSpPr>
            <p:nvPr/>
          </p:nvSpPr>
          <p:spPr bwMode="auto">
            <a:xfrm>
              <a:off x="1456" y="2056"/>
              <a:ext cx="496" cy="80"/>
            </a:xfrm>
            <a:prstGeom prst="rect">
              <a:avLst/>
            </a:prstGeom>
            <a:solidFill>
              <a:schemeClr val="bg1"/>
            </a:solidFill>
            <a:ln w="9525">
              <a:solidFill>
                <a:schemeClr val="tx1"/>
              </a:solidFill>
              <a:miter lim="800000"/>
              <a:headEnd type="none" w="lg" len="lg"/>
              <a:tailEnd type="none" w="lg" len="lg"/>
            </a:ln>
          </p:spPr>
          <p:txBody>
            <a:bodyPr wrap="none" anchor="ctr"/>
            <a:lstStyle/>
            <a:p>
              <a:endParaRPr lang="en-US"/>
            </a:p>
          </p:txBody>
        </p:sp>
        <p:sp>
          <p:nvSpPr>
            <p:cNvPr id="22" name="Line 23"/>
            <p:cNvSpPr>
              <a:spLocks noChangeShapeType="1"/>
            </p:cNvSpPr>
            <p:nvPr/>
          </p:nvSpPr>
          <p:spPr bwMode="auto">
            <a:xfrm>
              <a:off x="2008" y="1928"/>
              <a:ext cx="0" cy="208"/>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23" name="Line 24"/>
            <p:cNvSpPr>
              <a:spLocks noChangeShapeType="1"/>
            </p:cNvSpPr>
            <p:nvPr/>
          </p:nvSpPr>
          <p:spPr bwMode="auto">
            <a:xfrm>
              <a:off x="2344" y="2488"/>
              <a:ext cx="0" cy="120"/>
            </a:xfrm>
            <a:prstGeom prst="line">
              <a:avLst/>
            </a:prstGeom>
            <a:noFill/>
            <a:ln w="9525">
              <a:solidFill>
                <a:schemeClr val="tx1"/>
              </a:solidFill>
              <a:prstDash val="dash"/>
              <a:round/>
              <a:headEnd type="none" w="lg" len="lg"/>
              <a:tailEnd type="arrow" w="med" len="med"/>
            </a:ln>
            <a:extLst>
              <a:ext uri="{909E8E84-426E-40DD-AFC4-6F175D3DCCD1}">
                <a14:hiddenFill xmlns:a14="http://schemas.microsoft.com/office/drawing/2010/main">
                  <a:noFill/>
                </a14:hiddenFill>
              </a:ext>
            </a:extLst>
          </p:spPr>
          <p:txBody>
            <a:bodyPr/>
            <a:lstStyle/>
            <a:p>
              <a:endParaRPr lang="en-MY"/>
            </a:p>
          </p:txBody>
        </p:sp>
        <p:sp>
          <p:nvSpPr>
            <p:cNvPr id="24" name="Text Box 25"/>
            <p:cNvSpPr txBox="1">
              <a:spLocks noChangeArrowheads="1"/>
            </p:cNvSpPr>
            <p:nvPr/>
          </p:nvSpPr>
          <p:spPr bwMode="auto">
            <a:xfrm>
              <a:off x="3721" y="2623"/>
              <a:ext cx="844"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type="none" w="lg" len="lg"/>
                  <a:tailEnd type="none" w="lg" len="lg"/>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GB" sz="1400" i="1">
                  <a:latin typeface="Times New Roman" pitchFamily="18" charset="0"/>
                </a:rPr>
                <a:t>A single domain</a:t>
              </a:r>
            </a:p>
            <a:p>
              <a:pPr eaLnBrk="1" hangingPunct="1"/>
              <a:r>
                <a:rPr lang="en-GB" sz="1400" i="1">
                  <a:latin typeface="Times New Roman" pitchFamily="18" charset="0"/>
                </a:rPr>
                <a:t>layer supports</a:t>
              </a:r>
            </a:p>
            <a:p>
              <a:pPr eaLnBrk="1" hangingPunct="1"/>
              <a:r>
                <a:rPr lang="en-GB" sz="1400" i="1">
                  <a:latin typeface="Times New Roman" pitchFamily="18" charset="0"/>
                </a:rPr>
                <a:t>two application</a:t>
              </a:r>
            </a:p>
            <a:p>
              <a:pPr eaLnBrk="1" hangingPunct="1"/>
              <a:r>
                <a:rPr lang="en-GB" sz="1400" i="1">
                  <a:latin typeface="Times New Roman" pitchFamily="18" charset="0"/>
                </a:rPr>
                <a:t>subsystems</a:t>
              </a:r>
            </a:p>
          </p:txBody>
        </p:sp>
        <p:sp>
          <p:nvSpPr>
            <p:cNvPr id="25" name="Line 26"/>
            <p:cNvSpPr>
              <a:spLocks noChangeShapeType="1"/>
            </p:cNvSpPr>
            <p:nvPr/>
          </p:nvSpPr>
          <p:spPr bwMode="auto">
            <a:xfrm flipH="1">
              <a:off x="3320" y="2816"/>
              <a:ext cx="400" cy="0"/>
            </a:xfrm>
            <a:prstGeom prst="line">
              <a:avLst/>
            </a:prstGeom>
            <a:noFill/>
            <a:ln w="9525">
              <a:solidFill>
                <a:schemeClr val="tx1"/>
              </a:solidFill>
              <a:prstDash val="dash"/>
              <a:round/>
              <a:headEnd type="none" w="lg" len="lg"/>
              <a:tailEnd type="stealth" w="lg" len="lg"/>
            </a:ln>
            <a:extLst>
              <a:ext uri="{909E8E84-426E-40DD-AFC4-6F175D3DCCD1}">
                <a14:hiddenFill xmlns:a14="http://schemas.microsoft.com/office/drawing/2010/main">
                  <a:noFill/>
                </a14:hiddenFill>
              </a:ext>
            </a:extLst>
          </p:spPr>
          <p:txBody>
            <a:bodyPr/>
            <a:lstStyle/>
            <a:p>
              <a:endParaRPr lang="en-MY"/>
            </a:p>
          </p:txBody>
        </p:sp>
        <p:sp>
          <p:nvSpPr>
            <p:cNvPr id="26" name="Text Box 27"/>
            <p:cNvSpPr txBox="1">
              <a:spLocks noChangeArrowheads="1"/>
            </p:cNvSpPr>
            <p:nvPr/>
          </p:nvSpPr>
          <p:spPr bwMode="auto">
            <a:xfrm>
              <a:off x="753" y="1551"/>
              <a:ext cx="68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type="none" w="lg" len="lg"/>
                  <a:tailEnd type="none" w="lg" len="lg"/>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GB" sz="1400" i="1">
                  <a:latin typeface="Times New Roman" pitchFamily="18" charset="0"/>
                </a:rPr>
                <a:t>Presentation</a:t>
              </a:r>
            </a:p>
            <a:p>
              <a:pPr eaLnBrk="1" hangingPunct="1"/>
              <a:r>
                <a:rPr lang="en-GB" sz="1400" i="1">
                  <a:latin typeface="Times New Roman" pitchFamily="18" charset="0"/>
                </a:rPr>
                <a:t>layer</a:t>
              </a:r>
            </a:p>
          </p:txBody>
        </p:sp>
        <p:sp>
          <p:nvSpPr>
            <p:cNvPr id="27" name="Text Box 28"/>
            <p:cNvSpPr txBox="1">
              <a:spLocks noChangeArrowheads="1"/>
            </p:cNvSpPr>
            <p:nvPr/>
          </p:nvSpPr>
          <p:spPr bwMode="auto">
            <a:xfrm>
              <a:off x="753" y="2103"/>
              <a:ext cx="63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type="none" w="lg" len="lg"/>
                  <a:tailEnd type="none" w="lg" len="lg"/>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GB" sz="1400" i="1">
                  <a:latin typeface="Times New Roman" pitchFamily="18" charset="0"/>
                </a:rPr>
                <a:t>Application</a:t>
              </a:r>
            </a:p>
            <a:p>
              <a:pPr eaLnBrk="1" hangingPunct="1"/>
              <a:r>
                <a:rPr lang="en-GB" sz="1400" i="1">
                  <a:latin typeface="Times New Roman" pitchFamily="18" charset="0"/>
                </a:rPr>
                <a:t>layer</a:t>
              </a:r>
            </a:p>
          </p:txBody>
        </p:sp>
        <p:sp>
          <p:nvSpPr>
            <p:cNvPr id="28" name="Line 29"/>
            <p:cNvSpPr>
              <a:spLocks noChangeShapeType="1"/>
            </p:cNvSpPr>
            <p:nvPr/>
          </p:nvSpPr>
          <p:spPr bwMode="auto">
            <a:xfrm>
              <a:off x="1080" y="2288"/>
              <a:ext cx="384" cy="0"/>
            </a:xfrm>
            <a:prstGeom prst="line">
              <a:avLst/>
            </a:prstGeom>
            <a:noFill/>
            <a:ln w="9525">
              <a:solidFill>
                <a:schemeClr val="tx1"/>
              </a:solidFill>
              <a:prstDash val="dash"/>
              <a:round/>
              <a:headEnd type="none" w="lg" len="lg"/>
              <a:tailEnd type="stealth" w="lg" len="lg"/>
            </a:ln>
            <a:extLst>
              <a:ext uri="{909E8E84-426E-40DD-AFC4-6F175D3DCCD1}">
                <a14:hiddenFill xmlns:a14="http://schemas.microsoft.com/office/drawing/2010/main">
                  <a:noFill/>
                </a14:hiddenFill>
              </a:ext>
            </a:extLst>
          </p:spPr>
          <p:txBody>
            <a:bodyPr/>
            <a:lstStyle/>
            <a:p>
              <a:endParaRPr lang="en-MY"/>
            </a:p>
          </p:txBody>
        </p:sp>
        <p:sp>
          <p:nvSpPr>
            <p:cNvPr id="29" name="Line 30"/>
            <p:cNvSpPr>
              <a:spLocks noChangeShapeType="1"/>
            </p:cNvSpPr>
            <p:nvPr/>
          </p:nvSpPr>
          <p:spPr bwMode="auto">
            <a:xfrm>
              <a:off x="1080" y="1736"/>
              <a:ext cx="384" cy="0"/>
            </a:xfrm>
            <a:prstGeom prst="line">
              <a:avLst/>
            </a:prstGeom>
            <a:noFill/>
            <a:ln w="9525">
              <a:solidFill>
                <a:schemeClr val="tx1"/>
              </a:solidFill>
              <a:prstDash val="dash"/>
              <a:round/>
              <a:headEnd type="none" w="lg" len="lg"/>
              <a:tailEnd type="stealth" w="lg" len="lg"/>
            </a:ln>
            <a:extLst>
              <a:ext uri="{909E8E84-426E-40DD-AFC4-6F175D3DCCD1}">
                <a14:hiddenFill xmlns:a14="http://schemas.microsoft.com/office/drawing/2010/main">
                  <a:noFill/>
                </a14:hiddenFill>
              </a:ext>
            </a:extLst>
          </p:spPr>
          <p:txBody>
            <a:bodyPr/>
            <a:lstStyle/>
            <a:p>
              <a:endParaRPr lang="en-MY"/>
            </a:p>
          </p:txBody>
        </p:sp>
      </p:grpSp>
      <p:sp>
        <p:nvSpPr>
          <p:cNvPr id="30" name="TextBox 29"/>
          <p:cNvSpPr txBox="1"/>
          <p:nvPr/>
        </p:nvSpPr>
        <p:spPr>
          <a:xfrm>
            <a:off x="6690331" y="3254330"/>
            <a:ext cx="2327650" cy="923330"/>
          </a:xfrm>
          <a:prstGeom prst="rect">
            <a:avLst/>
          </a:prstGeom>
          <a:noFill/>
        </p:spPr>
        <p:txBody>
          <a:bodyPr wrap="square" rtlCol="0">
            <a:spAutoFit/>
          </a:bodyPr>
          <a:lstStyle/>
          <a:p>
            <a:r>
              <a:rPr lang="en-GB">
                <a:solidFill>
                  <a:srgbClr val="C00000"/>
                </a:solidFill>
                <a:latin typeface="Times New Roman" pitchFamily="18" charset="0"/>
                <a:cs typeface="Times New Roman" pitchFamily="18" charset="0"/>
              </a:rPr>
              <a:t>E.g. Agate campaign management system</a:t>
            </a:r>
            <a:r>
              <a:rPr lang="en-GB" sz="1400">
                <a:solidFill>
                  <a:srgbClr val="C00000"/>
                </a:solidFill>
                <a:latin typeface="Times New Roman" pitchFamily="18" charset="0"/>
                <a:cs typeface="Times New Roman" pitchFamily="18" charset="0"/>
              </a:rPr>
              <a:t> </a:t>
            </a:r>
            <a:endParaRPr lang="en-US">
              <a:solidFill>
                <a:srgbClr val="C00000"/>
              </a:solidFill>
            </a:endParaRPr>
          </a:p>
          <a:p>
            <a:endParaRPr lang="en-MY">
              <a:solidFill>
                <a:srgbClr val="C00000"/>
              </a:solidFill>
            </a:endParaRPr>
          </a:p>
        </p:txBody>
      </p:sp>
      <p:sp>
        <p:nvSpPr>
          <p:cNvPr id="31" name="Rectangle 30"/>
          <p:cNvSpPr/>
          <p:nvPr/>
        </p:nvSpPr>
        <p:spPr>
          <a:xfrm>
            <a:off x="4771906" y="6053983"/>
            <a:ext cx="4372094" cy="369332"/>
          </a:xfrm>
          <a:prstGeom prst="rect">
            <a:avLst/>
          </a:prstGeom>
        </p:spPr>
        <p:txBody>
          <a:bodyPr wrap="none">
            <a:spAutoFit/>
          </a:bodyPr>
          <a:lstStyle/>
          <a:p>
            <a:r>
              <a:rPr lang="en-GB"/>
              <a:t>Source: Bennett, McRobb and Farmer (2010)</a:t>
            </a:r>
            <a:endParaRPr lang="en-MY"/>
          </a:p>
        </p:txBody>
      </p:sp>
      <p:sp>
        <p:nvSpPr>
          <p:cNvPr id="32" name="Slide Number Placeholder 31"/>
          <p:cNvSpPr>
            <a:spLocks noGrp="1"/>
          </p:cNvSpPr>
          <p:nvPr>
            <p:ph type="sldNum" sz="quarter" idx="12"/>
          </p:nvPr>
        </p:nvSpPr>
        <p:spPr/>
        <p:txBody>
          <a:bodyPr/>
          <a:lstStyle/>
          <a:p>
            <a:fld id="{0362C787-829C-4B6B-B21B-90D8981190F3}" type="slidenum">
              <a:rPr lang="en-US" smtClean="0"/>
              <a:pPr/>
              <a:t>60</a:t>
            </a:fld>
            <a:endParaRPr lang="en-US"/>
          </a:p>
        </p:txBody>
      </p:sp>
    </p:spTree>
    <p:extLst>
      <p:ext uri="{BB962C8B-B14F-4D97-AF65-F5344CB8AC3E}">
        <p14:creationId xmlns:p14="http://schemas.microsoft.com/office/powerpoint/2010/main" val="15669504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0487" tIns="44450" rIns="90487" bIns="44450"/>
          <a:lstStyle/>
          <a:p>
            <a:r>
              <a:rPr lang="en-GB"/>
              <a:t>Repository Architecture</a:t>
            </a:r>
            <a:endParaRPr lang="en-GB" dirty="0"/>
          </a:p>
        </p:txBody>
      </p:sp>
      <p:sp>
        <p:nvSpPr>
          <p:cNvPr id="13315" name="Rectangle 3"/>
          <p:cNvSpPr>
            <a:spLocks noGrp="1" noChangeArrowheads="1"/>
          </p:cNvSpPr>
          <p:nvPr>
            <p:ph idx="1"/>
          </p:nvPr>
        </p:nvSpPr>
        <p:spPr>
          <a:noFill/>
          <a:ln/>
        </p:spPr>
        <p:txBody>
          <a:bodyPr lIns="90487" tIns="44450" rIns="90487" bIns="44450">
            <a:normAutofit lnSpcReduction="10000"/>
          </a:bodyPr>
          <a:lstStyle/>
          <a:p>
            <a:pPr>
              <a:lnSpc>
                <a:spcPct val="90000"/>
              </a:lnSpc>
            </a:pPr>
            <a:r>
              <a:rPr lang="en-GB" dirty="0"/>
              <a:t>Sub-systems must </a:t>
            </a:r>
            <a:r>
              <a:rPr lang="en-GB" b="1" dirty="0">
                <a:solidFill>
                  <a:srgbClr val="C00000"/>
                </a:solidFill>
              </a:rPr>
              <a:t>exchange data</a:t>
            </a:r>
            <a:r>
              <a:rPr lang="en-GB" dirty="0"/>
              <a:t> that may be done in two ways:</a:t>
            </a:r>
          </a:p>
          <a:p>
            <a:pPr lvl="1">
              <a:lnSpc>
                <a:spcPct val="90000"/>
              </a:lnSpc>
            </a:pPr>
            <a:r>
              <a:rPr lang="en-GB" dirty="0"/>
              <a:t>Shared data is held in a central database or repository and may be accessed by all sub-systems</a:t>
            </a:r>
          </a:p>
          <a:p>
            <a:pPr lvl="1">
              <a:lnSpc>
                <a:spcPct val="90000"/>
              </a:lnSpc>
            </a:pPr>
            <a:r>
              <a:rPr lang="en-GB" dirty="0"/>
              <a:t>Each sub-system maintains its own database and passes data explicitly to other sub-systems</a:t>
            </a:r>
          </a:p>
          <a:p>
            <a:pPr>
              <a:lnSpc>
                <a:spcPct val="90000"/>
              </a:lnSpc>
            </a:pPr>
            <a:r>
              <a:rPr lang="en-GB" dirty="0"/>
              <a:t>When </a:t>
            </a:r>
            <a:r>
              <a:rPr lang="en-GB" b="1" dirty="0">
                <a:solidFill>
                  <a:srgbClr val="C00000"/>
                </a:solidFill>
              </a:rPr>
              <a:t>large amounts of data are to be shared</a:t>
            </a:r>
            <a:r>
              <a:rPr lang="en-GB" dirty="0"/>
              <a:t>, the repository model of sharing is most commonly used a this is an efficient data sharing mechanism</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61</a:t>
            </a:fld>
            <a:endParaRPr lang="en-US"/>
          </a:p>
        </p:txBody>
      </p:sp>
    </p:spTree>
    <p:extLst>
      <p:ext uri="{BB962C8B-B14F-4D97-AF65-F5344CB8AC3E}">
        <p14:creationId xmlns:p14="http://schemas.microsoft.com/office/powerpoint/2010/main" val="174313908"/>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Repository Pattern</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38072124"/>
              </p:ext>
            </p:extLst>
          </p:nvPr>
        </p:nvGraphicFramePr>
        <p:xfrm>
          <a:off x="228600" y="1577292"/>
          <a:ext cx="8610600" cy="4759960"/>
        </p:xfrm>
        <a:graphic>
          <a:graphicData uri="http://schemas.openxmlformats.org/drawingml/2006/table">
            <a:tbl>
              <a:tblPr firstRow="1" bandRow="1">
                <a:tableStyleId>{5C22544A-7EE6-4342-B048-85BDC9FD1C3A}</a:tableStyleId>
              </a:tblPr>
              <a:tblGrid>
                <a:gridCol w="1609458">
                  <a:extLst>
                    <a:ext uri="{9D8B030D-6E8A-4147-A177-3AD203B41FA5}">
                      <a16:colId xmlns:a16="http://schemas.microsoft.com/office/drawing/2014/main" val="20000"/>
                    </a:ext>
                  </a:extLst>
                </a:gridCol>
                <a:gridCol w="7001142">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Repository </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endParaRPr lang="en-GB" sz="16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Example</a:t>
                      </a:r>
                      <a:endParaRPr lang="en-GB" sz="16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An </a:t>
                      </a:r>
                      <a:r>
                        <a:rPr lang="en-GB" sz="1600" dirty="0">
                          <a:solidFill>
                            <a:srgbClr val="000000"/>
                          </a:solidFill>
                          <a:latin typeface="Helvetica"/>
                          <a:ea typeface="Times New Roman"/>
                          <a:cs typeface="Helvetica"/>
                        </a:rPr>
                        <a:t>example of an </a:t>
                      </a:r>
                      <a:r>
                        <a:rPr lang="en-GB" sz="1600">
                          <a:solidFill>
                            <a:srgbClr val="000000"/>
                          </a:solidFill>
                          <a:latin typeface="Helvetica"/>
                          <a:ea typeface="Times New Roman"/>
                          <a:cs typeface="Helvetica"/>
                        </a:rPr>
                        <a:t>IDE (see next slide) where </a:t>
                      </a:r>
                      <a:r>
                        <a:rPr lang="en-GB" sz="1600" dirty="0">
                          <a:solidFill>
                            <a:srgbClr val="000000"/>
                          </a:solidFill>
                          <a:latin typeface="Helvetica"/>
                          <a:ea typeface="Times New Roman"/>
                          <a:cs typeface="Helvetica"/>
                        </a:rPr>
                        <a:t>the components use a repository of system design information. Each software tool generates information which is then available for use by other tools.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Should </a:t>
                      </a:r>
                      <a:r>
                        <a:rPr lang="en-GB" sz="1600" dirty="0">
                          <a:solidFill>
                            <a:srgbClr val="000000"/>
                          </a:solidFill>
                          <a:latin typeface="Helvetica"/>
                          <a:ea typeface="Times New Roman"/>
                          <a:cs typeface="Helvetica"/>
                        </a:rPr>
                        <a:t>use this pattern </a:t>
                      </a:r>
                      <a:r>
                        <a:rPr lang="en-GB" sz="1600">
                          <a:solidFill>
                            <a:srgbClr val="000000"/>
                          </a:solidFill>
                          <a:latin typeface="Helvetica"/>
                          <a:ea typeface="Times New Roman"/>
                          <a:cs typeface="Helvetica"/>
                        </a:rPr>
                        <a:t>when we </a:t>
                      </a:r>
                      <a:r>
                        <a:rPr lang="en-GB" sz="1600" dirty="0">
                          <a:solidFill>
                            <a:srgbClr val="000000"/>
                          </a:solidFill>
                          <a:latin typeface="Helvetica"/>
                          <a:ea typeface="Times New Roman"/>
                          <a:cs typeface="Helvetica"/>
                        </a:rPr>
                        <a:t>have a system in which large volumes of information are generated that has to be stored for a long time</a:t>
                      </a:r>
                      <a:r>
                        <a:rPr lang="en-GB" sz="1600">
                          <a:solidFill>
                            <a:srgbClr val="000000"/>
                          </a:solidFill>
                          <a:latin typeface="Helvetica"/>
                          <a:ea typeface="Times New Roman"/>
                          <a:cs typeface="Helvetica"/>
                        </a:rPr>
                        <a:t>. May </a:t>
                      </a:r>
                      <a:r>
                        <a:rPr lang="en-GB" sz="1600" dirty="0">
                          <a:solidFill>
                            <a:srgbClr val="000000"/>
                          </a:solidFill>
                          <a:latin typeface="Helvetica"/>
                          <a:ea typeface="Times New Roman"/>
                          <a:cs typeface="Helvetica"/>
                        </a:rPr>
                        <a:t>also use it in data-driven systems where the inclusion of data in the repository triggers an action or tool.</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Components can be independent—they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The repository is a single point of failure so problems in the repository affect the whole system. May be inefficiencies in organizing all communication through the repository. Distributing the repository across several computers may be difficult.</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62</a:t>
            </a:fld>
            <a:endParaRPr lang="en-US"/>
          </a:p>
        </p:txBody>
      </p:sp>
    </p:spTree>
    <p:extLst>
      <p:ext uri="{BB962C8B-B14F-4D97-AF65-F5344CB8AC3E}">
        <p14:creationId xmlns:p14="http://schemas.microsoft.com/office/powerpoint/2010/main" val="9884956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Repository Architecture </a:t>
            </a:r>
            <a:r>
              <a:rPr lang="en-US" dirty="0"/>
              <a:t>for an IDE</a:t>
            </a:r>
            <a:r>
              <a:rPr lang="en-GB" dirty="0"/>
              <a:t> </a:t>
            </a:r>
            <a:endParaRPr lang="en-US" dirty="0"/>
          </a:p>
        </p:txBody>
      </p:sp>
      <p:pic>
        <p:nvPicPr>
          <p:cNvPr id="4" name="Content Placeholder 3" descr="6.9 RepositoryIDE.eps"/>
          <p:cNvPicPr>
            <a:picLocks noGrp="1" noChangeAspect="1"/>
          </p:cNvPicPr>
          <p:nvPr>
            <p:ph idx="1"/>
          </p:nvPr>
        </p:nvPicPr>
        <p:blipFill>
          <a:blip r:embed="rId2"/>
          <a:srcRect t="-12287" b="-12287"/>
          <a:stretch>
            <a:fillRect/>
          </a:stretch>
        </p:blipFill>
        <p:spPr>
          <a:xfrm>
            <a:off x="949783" y="1752600"/>
            <a:ext cx="7244433" cy="3984159"/>
          </a:xfrm>
        </p:spPr>
      </p:pic>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63</a:t>
            </a:fld>
            <a:endParaRPr lang="en-US"/>
          </a:p>
        </p:txBody>
      </p:sp>
    </p:spTree>
    <p:extLst>
      <p:ext uri="{BB962C8B-B14F-4D97-AF65-F5344CB8AC3E}">
        <p14:creationId xmlns:p14="http://schemas.microsoft.com/office/powerpoint/2010/main" val="12934584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Repository Architecture for Language Processing System</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Content Placeholder 3" descr="6.20 RepositoryLPS.eps"/>
          <p:cNvPicPr>
            <a:picLocks noGrp="1" noChangeAspect="1"/>
          </p:cNvPicPr>
          <p:nvPr>
            <p:ph idx="1"/>
          </p:nvPr>
        </p:nvPicPr>
        <p:blipFill>
          <a:blip r:embed="rId2"/>
          <a:srcRect t="-1471" b="-1471"/>
          <a:stretch>
            <a:fillRect/>
          </a:stretch>
        </p:blipFill>
        <p:spPr>
          <a:xfrm>
            <a:off x="1295400" y="1828800"/>
            <a:ext cx="6662005" cy="3657600"/>
          </a:xfrm>
        </p:spPr>
      </p:pic>
      <p:sp>
        <p:nvSpPr>
          <p:cNvPr id="3" name="Slide Number Placeholder 2"/>
          <p:cNvSpPr>
            <a:spLocks noGrp="1"/>
          </p:cNvSpPr>
          <p:nvPr>
            <p:ph type="sldNum" sz="quarter" idx="12"/>
          </p:nvPr>
        </p:nvSpPr>
        <p:spPr/>
        <p:txBody>
          <a:bodyPr/>
          <a:lstStyle/>
          <a:p>
            <a:fld id="{0362C787-829C-4B6B-B21B-90D8981190F3}" type="slidenum">
              <a:rPr lang="en-US" smtClean="0"/>
              <a:pPr/>
              <a:t>64</a:t>
            </a:fld>
            <a:endParaRPr lang="en-US"/>
          </a:p>
        </p:txBody>
      </p:sp>
    </p:spTree>
    <p:extLst>
      <p:ext uri="{BB962C8B-B14F-4D97-AF65-F5344CB8AC3E}">
        <p14:creationId xmlns:p14="http://schemas.microsoft.com/office/powerpoint/2010/main" val="3176700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a:t>Client-Server Architecture</a:t>
            </a:r>
            <a:endParaRPr lang="en-GB" dirty="0"/>
          </a:p>
        </p:txBody>
      </p:sp>
      <p:sp>
        <p:nvSpPr>
          <p:cNvPr id="16387" name="Rectangle 3"/>
          <p:cNvSpPr>
            <a:spLocks noGrp="1" noChangeArrowheads="1"/>
          </p:cNvSpPr>
          <p:nvPr>
            <p:ph idx="1"/>
          </p:nvPr>
        </p:nvSpPr>
        <p:spPr>
          <a:noFill/>
          <a:ln/>
        </p:spPr>
        <p:txBody>
          <a:bodyPr lIns="90487" tIns="44450" rIns="90487" bIns="44450">
            <a:normAutofit/>
          </a:bodyPr>
          <a:lstStyle/>
          <a:p>
            <a:pPr>
              <a:lnSpc>
                <a:spcPct val="90000"/>
              </a:lnSpc>
            </a:pPr>
            <a:r>
              <a:rPr lang="en-GB" dirty="0"/>
              <a:t>Distributed system model which shows how data and processing is </a:t>
            </a:r>
            <a:r>
              <a:rPr lang="en-GB" b="1" dirty="0">
                <a:solidFill>
                  <a:srgbClr val="C00000"/>
                </a:solidFill>
              </a:rPr>
              <a:t>distributed</a:t>
            </a:r>
            <a:r>
              <a:rPr lang="en-GB" dirty="0"/>
              <a:t> across a range of components</a:t>
            </a:r>
          </a:p>
          <a:p>
            <a:pPr lvl="1">
              <a:lnSpc>
                <a:spcPct val="90000"/>
              </a:lnSpc>
            </a:pPr>
            <a:r>
              <a:rPr lang="en-GB" dirty="0"/>
              <a:t>Can be implemented on a single computer</a:t>
            </a:r>
          </a:p>
          <a:p>
            <a:pPr>
              <a:lnSpc>
                <a:spcPct val="90000"/>
              </a:lnSpc>
            </a:pPr>
            <a:r>
              <a:rPr lang="en-GB" dirty="0"/>
              <a:t>Set of stand-alone </a:t>
            </a:r>
            <a:r>
              <a:rPr lang="en-GB" b="1" dirty="0">
                <a:solidFill>
                  <a:srgbClr val="C00000"/>
                </a:solidFill>
              </a:rPr>
              <a:t>servers</a:t>
            </a:r>
            <a:r>
              <a:rPr lang="en-GB" dirty="0"/>
              <a:t> which provide specific services such as printing, data management, etc.</a:t>
            </a:r>
          </a:p>
          <a:p>
            <a:pPr>
              <a:lnSpc>
                <a:spcPct val="90000"/>
              </a:lnSpc>
            </a:pPr>
            <a:r>
              <a:rPr lang="en-GB" dirty="0"/>
              <a:t>Set of </a:t>
            </a:r>
            <a:r>
              <a:rPr lang="en-GB" b="1" dirty="0">
                <a:solidFill>
                  <a:srgbClr val="C00000"/>
                </a:solidFill>
              </a:rPr>
              <a:t>clients</a:t>
            </a:r>
            <a:r>
              <a:rPr lang="en-GB" dirty="0"/>
              <a:t> which call on these services</a:t>
            </a:r>
          </a:p>
          <a:p>
            <a:pPr>
              <a:lnSpc>
                <a:spcPct val="90000"/>
              </a:lnSpc>
            </a:pPr>
            <a:r>
              <a:rPr lang="en-GB" dirty="0"/>
              <a:t>Network which allows clients to access servers</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65</a:t>
            </a:fld>
            <a:endParaRPr lang="en-US"/>
          </a:p>
        </p:txBody>
      </p:sp>
    </p:spTree>
    <p:extLst>
      <p:ext uri="{BB962C8B-B14F-4D97-AF65-F5344CB8AC3E}">
        <p14:creationId xmlns:p14="http://schemas.microsoft.com/office/powerpoint/2010/main" val="3093222993"/>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Client-Server Pattern</a:t>
            </a:r>
            <a:r>
              <a:rPr lang="en-GB"/>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3744040"/>
              </p:ext>
            </p:extLst>
          </p:nvPr>
        </p:nvGraphicFramePr>
        <p:xfrm>
          <a:off x="362856" y="1600200"/>
          <a:ext cx="8381999" cy="4516120"/>
        </p:xfrm>
        <a:graphic>
          <a:graphicData uri="http://schemas.openxmlformats.org/drawingml/2006/table">
            <a:tbl>
              <a:tblPr firstRow="1" bandRow="1">
                <a:tableStyleId>{5C22544A-7EE6-4342-B048-85BDC9FD1C3A}</a:tableStyleId>
              </a:tblPr>
              <a:tblGrid>
                <a:gridCol w="1862667">
                  <a:extLst>
                    <a:ext uri="{9D8B030D-6E8A-4147-A177-3AD203B41FA5}">
                      <a16:colId xmlns:a16="http://schemas.microsoft.com/office/drawing/2014/main" val="20000"/>
                    </a:ext>
                  </a:extLst>
                </a:gridCol>
                <a:gridCol w="6519332">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Client-server</a:t>
                      </a:r>
                    </a:p>
                  </a:txBody>
                  <a:tcPr marL="68580" marR="68580" marT="0" marB="0"/>
                </a:tc>
                <a:extLst>
                  <a:ext uri="{0D108BD9-81ED-4DB2-BD59-A6C34878D82A}">
                    <a16:rowId xmlns:a16="http://schemas.microsoft.com/office/drawing/2014/main" val="10000"/>
                  </a:ext>
                </a:extLst>
              </a:tr>
              <a:tr h="339165">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endParaRPr lang="en-GB" sz="16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Example</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Example </a:t>
                      </a:r>
                      <a:r>
                        <a:rPr lang="en-GB" sz="1600" dirty="0">
                          <a:solidFill>
                            <a:srgbClr val="000000"/>
                          </a:solidFill>
                          <a:latin typeface="Helvetica"/>
                          <a:ea typeface="Times New Roman"/>
                          <a:cs typeface="Helvetica"/>
                        </a:rPr>
                        <a:t>of a film and video/DVD library organized as a </a:t>
                      </a:r>
                      <a:r>
                        <a:rPr lang="en-GB" sz="1600">
                          <a:solidFill>
                            <a:srgbClr val="000000"/>
                          </a:solidFill>
                          <a:latin typeface="Helvetica"/>
                          <a:ea typeface="Times New Roman"/>
                          <a:cs typeface="Helvetica"/>
                        </a:rPr>
                        <a:t>client–server system (see next slide).</a:t>
                      </a:r>
                      <a:endParaRPr lang="en-GB" sz="1600" dirty="0">
                        <a:solidFill>
                          <a:srgbClr val="000000"/>
                        </a:solidFill>
                        <a:latin typeface="Helvetica"/>
                        <a:ea typeface="Times New Roman"/>
                        <a:cs typeface="Helvetica"/>
                      </a:endParaRP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The principal advantage of this model is that servers can be distributed across a network. General functionality (</a:t>
                      </a:r>
                      <a:r>
                        <a:rPr lang="en-GB" sz="1600">
                          <a:solidFill>
                            <a:srgbClr val="000000"/>
                          </a:solidFill>
                          <a:latin typeface="Helvetica"/>
                          <a:ea typeface="Times New Roman"/>
                          <a:cs typeface="Helvetica"/>
                        </a:rPr>
                        <a:t>e.g. </a:t>
                      </a:r>
                      <a:r>
                        <a:rPr lang="en-GB" sz="1600" dirty="0">
                          <a:solidFill>
                            <a:srgbClr val="000000"/>
                          </a:solidFill>
                          <a:latin typeface="Helvetica"/>
                          <a:ea typeface="Times New Roman"/>
                          <a:cs typeface="Helvetica"/>
                        </a:rPr>
                        <a:t>a printing service) can be available to all clients and does not need to be implemented by all services.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66</a:t>
            </a:fld>
            <a:endParaRPr lang="en-US"/>
          </a:p>
        </p:txBody>
      </p:sp>
    </p:spTree>
    <p:extLst>
      <p:ext uri="{BB962C8B-B14F-4D97-AF65-F5344CB8AC3E}">
        <p14:creationId xmlns:p14="http://schemas.microsoft.com/office/powerpoint/2010/main" val="24532827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Client-Server Architecture for Film </a:t>
            </a:r>
            <a:r>
              <a:rPr lang="en-US" dirty="0"/>
              <a:t>L</a:t>
            </a:r>
            <a:r>
              <a:rPr lang="en-US"/>
              <a:t>ibrary</a:t>
            </a:r>
            <a:r>
              <a:rPr lang="en-GB"/>
              <a:t> </a:t>
            </a:r>
            <a:endParaRPr lang="en-US" dirty="0"/>
          </a:p>
        </p:txBody>
      </p:sp>
      <p:pic>
        <p:nvPicPr>
          <p:cNvPr id="4" name="Content Placeholder 3" descr="6.11 ClientServerFilmPhoto.eps"/>
          <p:cNvPicPr>
            <a:picLocks noGrp="1" noChangeAspect="1"/>
          </p:cNvPicPr>
          <p:nvPr>
            <p:ph idx="1"/>
          </p:nvPr>
        </p:nvPicPr>
        <p:blipFill>
          <a:blip r:embed="rId2"/>
          <a:srcRect l="-1062" r="-1062"/>
          <a:stretch>
            <a:fillRect/>
          </a:stretch>
        </p:blipFill>
        <p:spPr>
          <a:xfrm>
            <a:off x="822014" y="1775831"/>
            <a:ext cx="7203898" cy="3961866"/>
          </a:xfrm>
        </p:spPr>
      </p:pic>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67</a:t>
            </a:fld>
            <a:endParaRPr lang="en-US"/>
          </a:p>
        </p:txBody>
      </p:sp>
    </p:spTree>
    <p:extLst>
      <p:ext uri="{BB962C8B-B14F-4D97-AF65-F5344CB8AC3E}">
        <p14:creationId xmlns:p14="http://schemas.microsoft.com/office/powerpoint/2010/main" val="25224113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lIns="90487" tIns="44450" rIns="90487" bIns="44450"/>
          <a:lstStyle/>
          <a:p>
            <a:r>
              <a:rPr lang="en-GB" dirty="0"/>
              <a:t>Pipe </a:t>
            </a:r>
            <a:r>
              <a:rPr lang="en-GB"/>
              <a:t>and Filter Architecture</a:t>
            </a:r>
            <a:endParaRPr lang="en-GB" dirty="0"/>
          </a:p>
        </p:txBody>
      </p:sp>
      <p:sp>
        <p:nvSpPr>
          <p:cNvPr id="33795" name="Rectangle 3"/>
          <p:cNvSpPr>
            <a:spLocks noGrp="1" noChangeArrowheads="1"/>
          </p:cNvSpPr>
          <p:nvPr>
            <p:ph idx="1"/>
          </p:nvPr>
        </p:nvSpPr>
        <p:spPr>
          <a:noFill/>
          <a:ln/>
        </p:spPr>
        <p:txBody>
          <a:bodyPr lIns="90487" tIns="44450" rIns="90487" bIns="44450"/>
          <a:lstStyle/>
          <a:p>
            <a:pPr>
              <a:lnSpc>
                <a:spcPct val="90000"/>
              </a:lnSpc>
            </a:pPr>
            <a:r>
              <a:rPr lang="en-GB" dirty="0"/>
              <a:t>Functional transformations </a:t>
            </a:r>
            <a:r>
              <a:rPr lang="en-GB" b="1" dirty="0">
                <a:solidFill>
                  <a:srgbClr val="C00000"/>
                </a:solidFill>
              </a:rPr>
              <a:t>process their inputs to produce outputs</a:t>
            </a:r>
            <a:endParaRPr lang="en-GB" dirty="0"/>
          </a:p>
          <a:p>
            <a:pPr>
              <a:lnSpc>
                <a:spcPct val="90000"/>
              </a:lnSpc>
            </a:pPr>
            <a:r>
              <a:rPr lang="en-GB" dirty="0"/>
              <a:t>May be referred to as a pipe and filter model (as in UNIX shell)</a:t>
            </a:r>
          </a:p>
          <a:p>
            <a:pPr>
              <a:lnSpc>
                <a:spcPct val="90000"/>
              </a:lnSpc>
            </a:pPr>
            <a:r>
              <a:rPr lang="en-GB" dirty="0"/>
              <a:t>Variants of this approach are very common</a:t>
            </a:r>
          </a:p>
          <a:p>
            <a:pPr>
              <a:lnSpc>
                <a:spcPct val="90000"/>
              </a:lnSpc>
            </a:pPr>
            <a:r>
              <a:rPr lang="en-GB" dirty="0"/>
              <a:t>When transformations are sequential, this is a </a:t>
            </a:r>
            <a:r>
              <a:rPr lang="en-GB" b="1" dirty="0">
                <a:solidFill>
                  <a:srgbClr val="C00000"/>
                </a:solidFill>
              </a:rPr>
              <a:t>batch sequential model</a:t>
            </a:r>
            <a:r>
              <a:rPr lang="en-GB" dirty="0"/>
              <a:t> which is extensively used in data processing systems</a:t>
            </a:r>
          </a:p>
          <a:p>
            <a:pPr>
              <a:lnSpc>
                <a:spcPct val="90000"/>
              </a:lnSpc>
            </a:pPr>
            <a:r>
              <a:rPr lang="en-GB" dirty="0"/>
              <a:t>Not really suitable for interactive systems</a:t>
            </a:r>
          </a:p>
        </p:txBody>
      </p:sp>
      <p:sp>
        <p:nvSpPr>
          <p:cNvPr id="5" name="Footer Placeholder 4"/>
          <p:cNvSpPr>
            <a:spLocks noGrp="1"/>
          </p:cNvSpPr>
          <p:nvPr>
            <p:ph type="ftr" sz="quarter" idx="11"/>
          </p:nvPr>
        </p:nvSpPr>
        <p:spPr/>
        <p:txBody>
          <a:bodyPr/>
          <a:lstStyle/>
          <a:p>
            <a:r>
              <a:rPr lang="en-US"/>
              <a:t>Software Engineering</a:t>
            </a:r>
          </a:p>
        </p:txBody>
      </p:sp>
      <p:sp>
        <p:nvSpPr>
          <p:cNvPr id="2" name="Date Placeholder 1"/>
          <p:cNvSpPr>
            <a:spLocks noGrp="1"/>
          </p:cNvSpPr>
          <p:nvPr>
            <p:ph type="dt" sz="half" idx="10"/>
          </p:nvPr>
        </p:nvSpPr>
        <p:spPr/>
        <p:txBody>
          <a:bodyPr/>
          <a:lstStyle/>
          <a:p>
            <a:r>
              <a:rPr lang="en-US"/>
              <a:t>2021</a:t>
            </a:r>
          </a:p>
        </p:txBody>
      </p:sp>
      <p:sp>
        <p:nvSpPr>
          <p:cNvPr id="3" name="Slide Number Placeholder 2"/>
          <p:cNvSpPr>
            <a:spLocks noGrp="1"/>
          </p:cNvSpPr>
          <p:nvPr>
            <p:ph type="sldNum" sz="quarter" idx="12"/>
          </p:nvPr>
        </p:nvSpPr>
        <p:spPr/>
        <p:txBody>
          <a:bodyPr/>
          <a:lstStyle/>
          <a:p>
            <a:fld id="{0362C787-829C-4B6B-B21B-90D8981190F3}" type="slidenum">
              <a:rPr lang="en-US" smtClean="0"/>
              <a:pPr/>
              <a:t>68</a:t>
            </a:fld>
            <a:endParaRPr lang="en-US"/>
          </a:p>
        </p:txBody>
      </p:sp>
    </p:spTree>
    <p:extLst>
      <p:ext uri="{BB962C8B-B14F-4D97-AF65-F5344CB8AC3E}">
        <p14:creationId xmlns:p14="http://schemas.microsoft.com/office/powerpoint/2010/main" val="1550448051"/>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Pipe and Filter Pattern</a:t>
            </a:r>
            <a:r>
              <a:rPr lang="en-GB"/>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83115927"/>
              </p:ext>
            </p:extLst>
          </p:nvPr>
        </p:nvGraphicFramePr>
        <p:xfrm>
          <a:off x="457200" y="1600200"/>
          <a:ext cx="8229600" cy="4759960"/>
        </p:xfrm>
        <a:graphic>
          <a:graphicData uri="http://schemas.openxmlformats.org/drawingml/2006/table">
            <a:tbl>
              <a:tblPr firstRow="1" bandRow="1">
                <a:tableStyleId>{5C22544A-7EE6-4342-B048-85BDC9FD1C3A}</a:tableStyleId>
              </a:tblPr>
              <a:tblGrid>
                <a:gridCol w="1691151">
                  <a:extLst>
                    <a:ext uri="{9D8B030D-6E8A-4147-A177-3AD203B41FA5}">
                      <a16:colId xmlns:a16="http://schemas.microsoft.com/office/drawing/2014/main" val="20000"/>
                    </a:ext>
                  </a:extLst>
                </a:gridCol>
                <a:gridCol w="6538449">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Pipe and filter</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600" b="1" dirty="0">
                          <a:solidFill>
                            <a:srgbClr val="000000"/>
                          </a:solidFill>
                          <a:latin typeface="Helvetica"/>
                          <a:ea typeface="Times New Roman"/>
                          <a:cs typeface="Helvetica"/>
                        </a:rPr>
                        <a:t>Description</a:t>
                      </a:r>
                      <a:endParaRPr lang="en-GB" sz="16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Example</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Example of a pipe and filter system used for processing invoices (see next slide).</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When used</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600" b="1">
                          <a:solidFill>
                            <a:srgbClr val="000000"/>
                          </a:solidFill>
                          <a:latin typeface="Helvetica"/>
                          <a:ea typeface="Times New Roman"/>
                          <a:cs typeface="Helvetica"/>
                        </a:rPr>
                        <a:t>Disadvantages</a:t>
                      </a:r>
                      <a:endParaRPr lang="en-GB" sz="16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600" dirty="0">
                          <a:solidFill>
                            <a:srgbClr val="000000"/>
                          </a:solidFill>
                          <a:latin typeface="Helvetica"/>
                          <a:ea typeface="Times New Roman"/>
                          <a:cs typeface="Helvetica"/>
                        </a:rPr>
                        <a:t>The format for data transfer has to be agreed upon between communicating transformations. Each transformation must parse its input and </a:t>
                      </a:r>
                      <a:r>
                        <a:rPr lang="en-GB" sz="1600" dirty="0" err="1">
                          <a:solidFill>
                            <a:srgbClr val="000000"/>
                          </a:solidFill>
                          <a:latin typeface="Helvetica"/>
                          <a:ea typeface="Times New Roman"/>
                          <a:cs typeface="Helvetica"/>
                        </a:rPr>
                        <a:t>unparse</a:t>
                      </a:r>
                      <a:r>
                        <a:rPr lang="en-GB" sz="1600" dirty="0">
                          <a:solidFill>
                            <a:srgbClr val="000000"/>
                          </a:solidFill>
                          <a:latin typeface="Helvetica"/>
                          <a:ea typeface="Times New Roman"/>
                          <a:cs typeface="Helvetica"/>
                        </a:rPr>
                        <a:t> its output to the agreed form. This increases system overhead and may mean that it is impossible to reuse functional transformations that use incompatible data structures.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sp>
        <p:nvSpPr>
          <p:cNvPr id="5" name="Slide Number Placeholder 4"/>
          <p:cNvSpPr>
            <a:spLocks noGrp="1"/>
          </p:cNvSpPr>
          <p:nvPr>
            <p:ph type="sldNum" sz="quarter" idx="12"/>
          </p:nvPr>
        </p:nvSpPr>
        <p:spPr/>
        <p:txBody>
          <a:bodyPr/>
          <a:lstStyle/>
          <a:p>
            <a:fld id="{0362C787-829C-4B6B-B21B-90D8981190F3}" type="slidenum">
              <a:rPr lang="en-US" smtClean="0"/>
              <a:pPr/>
              <a:t>69</a:t>
            </a:fld>
            <a:endParaRPr lang="en-US"/>
          </a:p>
        </p:txBody>
      </p:sp>
    </p:spTree>
    <p:extLst>
      <p:ext uri="{BB962C8B-B14F-4D97-AF65-F5344CB8AC3E}">
        <p14:creationId xmlns:p14="http://schemas.microsoft.com/office/powerpoint/2010/main" val="35919207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Example: Pipe and Filter Architecture Used in Payments System</a:t>
            </a:r>
            <a:r>
              <a:rPr lang="en-GB"/>
              <a:t> </a:t>
            </a:r>
            <a:endParaRPr lang="en-US" dirty="0"/>
          </a:p>
        </p:txBody>
      </p:sp>
      <p:sp>
        <p:nvSpPr>
          <p:cNvPr id="6" name="Footer Placeholder 5"/>
          <p:cNvSpPr>
            <a:spLocks noGrp="1"/>
          </p:cNvSpPr>
          <p:nvPr>
            <p:ph type="ftr" sz="quarter" idx="11"/>
          </p:nvPr>
        </p:nvSpPr>
        <p:spPr/>
        <p:txBody>
          <a:bodyPr/>
          <a:lstStyle/>
          <a:p>
            <a:r>
              <a:rPr lang="en-US"/>
              <a:t>Software Engineering</a:t>
            </a:r>
          </a:p>
        </p:txBody>
      </p:sp>
      <p:sp>
        <p:nvSpPr>
          <p:cNvPr id="3" name="Date Placeholder 2"/>
          <p:cNvSpPr>
            <a:spLocks noGrp="1"/>
          </p:cNvSpPr>
          <p:nvPr>
            <p:ph type="dt" sz="half" idx="10"/>
          </p:nvPr>
        </p:nvSpPr>
        <p:spPr/>
        <p:txBody>
          <a:bodyPr/>
          <a:lstStyle/>
          <a:p>
            <a:r>
              <a:rPr lang="en-US"/>
              <a:t>2021</a:t>
            </a:r>
          </a:p>
        </p:txBody>
      </p:sp>
      <p:pic>
        <p:nvPicPr>
          <p:cNvPr id="8" name="Content Placeholder 7"/>
          <p:cNvPicPr>
            <a:picLocks noGrp="1" noChangeAspect="1"/>
          </p:cNvPicPr>
          <p:nvPr>
            <p:ph idx="1"/>
          </p:nvPr>
        </p:nvPicPr>
        <p:blipFill>
          <a:blip r:embed="rId3"/>
          <a:stretch>
            <a:fillRect/>
          </a:stretch>
        </p:blipFill>
        <p:spPr>
          <a:xfrm>
            <a:off x="326574" y="2286000"/>
            <a:ext cx="8568329" cy="2887800"/>
          </a:xfrm>
          <a:prstGeom prst="rect">
            <a:avLst/>
          </a:prstGeom>
        </p:spPr>
      </p:pic>
      <p:sp>
        <p:nvSpPr>
          <p:cNvPr id="4" name="Slide Number Placeholder 3"/>
          <p:cNvSpPr>
            <a:spLocks noGrp="1"/>
          </p:cNvSpPr>
          <p:nvPr>
            <p:ph type="sldNum" sz="quarter" idx="12"/>
          </p:nvPr>
        </p:nvSpPr>
        <p:spPr/>
        <p:txBody>
          <a:bodyPr/>
          <a:lstStyle/>
          <a:p>
            <a:fld id="{0362C787-829C-4B6B-B21B-90D8981190F3}" type="slidenum">
              <a:rPr lang="en-US" smtClean="0"/>
              <a:pPr/>
              <a:t>70</a:t>
            </a:fld>
            <a:endParaRPr lang="en-US"/>
          </a:p>
        </p:txBody>
      </p:sp>
    </p:spTree>
    <p:extLst>
      <p:ext uri="{BB962C8B-B14F-4D97-AF65-F5344CB8AC3E}">
        <p14:creationId xmlns:p14="http://schemas.microsoft.com/office/powerpoint/2010/main" val="41773100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P</a:t>
            </a:r>
            <a:r>
              <a:rPr lang="en-US"/>
              <a:t>ipe and Filter Used for Compiler Architecture</a:t>
            </a:r>
            <a:endParaRPr lang="en-MY"/>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pic>
        <p:nvPicPr>
          <p:cNvPr id="7" name="Content Placeholder 3" descr="6.19 PipeFilterCompModel.eps"/>
          <p:cNvPicPr>
            <a:picLocks noGrp="1" noChangeAspect="1"/>
          </p:cNvPicPr>
          <p:nvPr>
            <p:ph idx="1"/>
          </p:nvPr>
        </p:nvPicPr>
        <p:blipFill>
          <a:blip r:embed="rId2"/>
          <a:srcRect t="-42181" b="-42181"/>
          <a:stretch>
            <a:fillRect/>
          </a:stretch>
        </p:blipFill>
        <p:spPr>
          <a:xfrm>
            <a:off x="1246874" y="1905000"/>
            <a:ext cx="6789582" cy="3733800"/>
          </a:xfrm>
        </p:spPr>
      </p:pic>
      <p:sp>
        <p:nvSpPr>
          <p:cNvPr id="3" name="Slide Number Placeholder 2"/>
          <p:cNvSpPr>
            <a:spLocks noGrp="1"/>
          </p:cNvSpPr>
          <p:nvPr>
            <p:ph type="sldNum" sz="quarter" idx="12"/>
          </p:nvPr>
        </p:nvSpPr>
        <p:spPr/>
        <p:txBody>
          <a:bodyPr/>
          <a:lstStyle/>
          <a:p>
            <a:fld id="{0362C787-829C-4B6B-B21B-90D8981190F3}" type="slidenum">
              <a:rPr lang="en-US" smtClean="0"/>
              <a:pPr/>
              <a:t>71</a:t>
            </a:fld>
            <a:endParaRPr lang="en-US"/>
          </a:p>
        </p:txBody>
      </p:sp>
    </p:spTree>
    <p:extLst>
      <p:ext uri="{BB962C8B-B14F-4D97-AF65-F5344CB8AC3E}">
        <p14:creationId xmlns:p14="http://schemas.microsoft.com/office/powerpoint/2010/main" val="28346973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APPLICATION ARCHITECTURES</a:t>
            </a:r>
          </a:p>
        </p:txBody>
      </p:sp>
      <p:sp>
        <p:nvSpPr>
          <p:cNvPr id="3" name="Text Placeholder 2"/>
          <p:cNvSpPr>
            <a:spLocks noGrp="1"/>
          </p:cNvSpPr>
          <p:nvPr>
            <p:ph type="body" idx="1"/>
          </p:nvPr>
        </p:nvSpPr>
        <p:spPr>
          <a:xfrm>
            <a:off x="722313" y="2906713"/>
            <a:ext cx="7126287" cy="1500187"/>
          </a:xfrm>
        </p:spPr>
        <p:txBody>
          <a:bodyPr/>
          <a:lstStyle/>
          <a:p>
            <a:r>
              <a:rPr lang="en-MY" dirty="0"/>
              <a:t>Transaction Processing System, Information Systems, Language processing system, </a:t>
            </a:r>
          </a:p>
        </p:txBody>
      </p:sp>
      <p:sp>
        <p:nvSpPr>
          <p:cNvPr id="4" name="Date Placeholder 3"/>
          <p:cNvSpPr>
            <a:spLocks noGrp="1"/>
          </p:cNvSpPr>
          <p:nvPr>
            <p:ph type="dt" sz="half" idx="10"/>
          </p:nvPr>
        </p:nvSpPr>
        <p:spPr/>
        <p:txBody>
          <a:bodyPr/>
          <a:lstStyle/>
          <a:p>
            <a:r>
              <a:rPr lang="en-US"/>
              <a:t>2021</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72</a:t>
            </a:fld>
            <a:endParaRPr lang="en-US"/>
          </a:p>
        </p:txBody>
      </p:sp>
    </p:spTree>
    <p:extLst>
      <p:ext uri="{BB962C8B-B14F-4D97-AF65-F5344CB8AC3E}">
        <p14:creationId xmlns:p14="http://schemas.microsoft.com/office/powerpoint/2010/main" val="31583476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Architectures</a:t>
            </a:r>
          </a:p>
        </p:txBody>
      </p:sp>
      <p:sp>
        <p:nvSpPr>
          <p:cNvPr id="3" name="Content Placeholder 2"/>
          <p:cNvSpPr>
            <a:spLocks noGrp="1"/>
          </p:cNvSpPr>
          <p:nvPr>
            <p:ph idx="1"/>
          </p:nvPr>
        </p:nvSpPr>
        <p:spPr/>
        <p:txBody>
          <a:bodyPr>
            <a:noAutofit/>
          </a:bodyPr>
          <a:lstStyle/>
          <a:p>
            <a:pPr algn="just"/>
            <a:r>
              <a:rPr lang="en-US" sz="2400" dirty="0"/>
              <a:t>Application systems are intended to meet a business or an organizational need.</a:t>
            </a:r>
          </a:p>
          <a:p>
            <a:pPr algn="just"/>
            <a:r>
              <a:rPr lang="en-US" sz="2400" dirty="0"/>
              <a:t>Therefore, as well as general business functions, all phone companies need systems to connect and meter calls, manage their network and issue bills to customers.</a:t>
            </a:r>
          </a:p>
          <a:p>
            <a:pPr algn="just"/>
            <a:r>
              <a:rPr lang="en-US" sz="2400" dirty="0"/>
              <a:t>Consequently, the </a:t>
            </a:r>
            <a:r>
              <a:rPr lang="en-US" sz="2400" b="1" dirty="0">
                <a:solidFill>
                  <a:schemeClr val="accent2">
                    <a:lumMod val="75000"/>
                  </a:schemeClr>
                </a:solidFill>
              </a:rPr>
              <a:t>application systems </a:t>
            </a:r>
            <a:r>
              <a:rPr lang="en-US" sz="2400" dirty="0"/>
              <a:t>used by these businesses also </a:t>
            </a:r>
            <a:r>
              <a:rPr lang="en-US" sz="2400" b="1" dirty="0">
                <a:solidFill>
                  <a:schemeClr val="accent2">
                    <a:lumMod val="75000"/>
                  </a:schemeClr>
                </a:solidFill>
              </a:rPr>
              <a:t>have much in common.</a:t>
            </a:r>
          </a:p>
          <a:p>
            <a:pPr algn="just"/>
            <a:r>
              <a:rPr lang="en-US" sz="2400" dirty="0"/>
              <a:t>The </a:t>
            </a:r>
            <a:r>
              <a:rPr lang="en-US" sz="2400" b="1" dirty="0">
                <a:solidFill>
                  <a:schemeClr val="accent2">
                    <a:lumMod val="75000"/>
                  </a:schemeClr>
                </a:solidFill>
              </a:rPr>
              <a:t>application architecture may be reimplemented</a:t>
            </a:r>
            <a:r>
              <a:rPr lang="en-US" sz="2400" dirty="0"/>
              <a:t> when developing new systems. </a:t>
            </a:r>
          </a:p>
          <a:p>
            <a:pPr algn="just"/>
            <a:r>
              <a:rPr lang="en-US" sz="2400" dirty="0"/>
              <a:t>However, for many business systems, application architecture reuse is implicit when generic application systems are configured to create a new application.</a:t>
            </a:r>
          </a:p>
        </p:txBody>
      </p:sp>
      <p:sp>
        <p:nvSpPr>
          <p:cNvPr id="5" name="Footer Placeholder 4"/>
          <p:cNvSpPr>
            <a:spLocks noGrp="1"/>
          </p:cNvSpPr>
          <p:nvPr>
            <p:ph type="ftr" sz="quarter" idx="11"/>
          </p:nvPr>
        </p:nvSpPr>
        <p:spPr/>
        <p:txBody>
          <a:bodyPr/>
          <a:lstStyle/>
          <a:p>
            <a:r>
              <a:rPr lang="en-US"/>
              <a:t>Software Engineering</a:t>
            </a:r>
          </a:p>
        </p:txBody>
      </p:sp>
      <p:sp>
        <p:nvSpPr>
          <p:cNvPr id="6" name="Date Placeholder 5"/>
          <p:cNvSpPr>
            <a:spLocks noGrp="1"/>
          </p:cNvSpPr>
          <p:nvPr>
            <p:ph type="dt" sz="half" idx="10"/>
          </p:nvPr>
        </p:nvSpPr>
        <p:spPr/>
        <p:txBody>
          <a:bodyPr/>
          <a:lstStyle/>
          <a:p>
            <a:r>
              <a:rPr lang="en-US"/>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73</a:t>
            </a:fld>
            <a:endParaRPr lang="en-US"/>
          </a:p>
        </p:txBody>
      </p:sp>
    </p:spTree>
    <p:extLst>
      <p:ext uri="{BB962C8B-B14F-4D97-AF65-F5344CB8AC3E}">
        <p14:creationId xmlns:p14="http://schemas.microsoft.com/office/powerpoint/2010/main" val="10087743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Used of Model Application Architectures</a:t>
            </a:r>
          </a:p>
        </p:txBody>
      </p:sp>
      <p:sp>
        <p:nvSpPr>
          <p:cNvPr id="3" name="Content Placeholder 2"/>
          <p:cNvSpPr>
            <a:spLocks noGrp="1"/>
          </p:cNvSpPr>
          <p:nvPr>
            <p:ph idx="1"/>
          </p:nvPr>
        </p:nvSpPr>
        <p:spPr/>
        <p:txBody>
          <a:bodyPr>
            <a:noAutofit/>
          </a:bodyPr>
          <a:lstStyle/>
          <a:p>
            <a:pPr algn="just"/>
            <a:r>
              <a:rPr lang="en-US" sz="2400" dirty="0"/>
              <a:t>As a starting point for the architectural design process If you are unfamiliar with the type of application that you are developing, you can base your initial design on a generic application architecture. You then specialize this for the specific system that is being developed.</a:t>
            </a:r>
          </a:p>
          <a:p>
            <a:pPr algn="just"/>
            <a:r>
              <a:rPr lang="en-US" sz="2400" dirty="0"/>
              <a:t>As a design checklist If you have developed an architectural design for an application system, you can compare this with the generic application architecture. You can check that your design is consistent with the generic architecture.</a:t>
            </a:r>
          </a:p>
          <a:p>
            <a:pPr algn="just"/>
            <a:r>
              <a:rPr lang="en-US" sz="2400" dirty="0"/>
              <a:t>As a way of organizing the work of the development team The application architectures identify stable structural features of the system architectures, and in many cases, it is possible to develop these in parallel. </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74</a:t>
            </a:fld>
            <a:endParaRPr lang="en-US"/>
          </a:p>
        </p:txBody>
      </p:sp>
    </p:spTree>
    <p:extLst>
      <p:ext uri="{BB962C8B-B14F-4D97-AF65-F5344CB8AC3E}">
        <p14:creationId xmlns:p14="http://schemas.microsoft.com/office/powerpoint/2010/main" val="10030480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Used of Model Application Architectures…</a:t>
            </a:r>
            <a:r>
              <a:rPr lang="en-US" dirty="0" err="1"/>
              <a:t>cont</a:t>
            </a:r>
            <a:endParaRPr lang="en-US" dirty="0"/>
          </a:p>
        </p:txBody>
      </p:sp>
      <p:sp>
        <p:nvSpPr>
          <p:cNvPr id="3" name="Content Placeholder 2"/>
          <p:cNvSpPr>
            <a:spLocks noGrp="1"/>
          </p:cNvSpPr>
          <p:nvPr>
            <p:ph idx="1"/>
          </p:nvPr>
        </p:nvSpPr>
        <p:spPr/>
        <p:txBody>
          <a:bodyPr>
            <a:noAutofit/>
          </a:bodyPr>
          <a:lstStyle/>
          <a:p>
            <a:pPr algn="just"/>
            <a:r>
              <a:rPr lang="en-US" sz="2400" dirty="0"/>
              <a:t>As a means of assessing components for reuse If you have components you might be able to reuse, you can compare these with the generic structures to see whether there are comparable components in the application architecture.</a:t>
            </a:r>
          </a:p>
          <a:p>
            <a:pPr algn="just"/>
            <a:r>
              <a:rPr lang="en-US" sz="2400" dirty="0"/>
              <a:t>As a vocabulary for talking about applications If you are discussing a specific application or trying to compare applications, then you can use the concepts</a:t>
            </a:r>
          </a:p>
          <a:p>
            <a:pPr algn="just"/>
            <a:r>
              <a:rPr lang="en-US" sz="2400" dirty="0"/>
              <a:t>Example of application architecture: Transaction processing system, information system, and language processing system.</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75</a:t>
            </a:fld>
            <a:endParaRPr lang="en-US"/>
          </a:p>
        </p:txBody>
      </p:sp>
    </p:spTree>
    <p:extLst>
      <p:ext uri="{BB962C8B-B14F-4D97-AF65-F5344CB8AC3E}">
        <p14:creationId xmlns:p14="http://schemas.microsoft.com/office/powerpoint/2010/main" val="42163260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Transaction Processing Systems</a:t>
            </a:r>
          </a:p>
        </p:txBody>
      </p:sp>
      <p:sp>
        <p:nvSpPr>
          <p:cNvPr id="3" name="Content Placeholder 2"/>
          <p:cNvSpPr>
            <a:spLocks noGrp="1"/>
          </p:cNvSpPr>
          <p:nvPr>
            <p:ph idx="1"/>
          </p:nvPr>
        </p:nvSpPr>
        <p:spPr/>
        <p:txBody>
          <a:bodyPr>
            <a:noAutofit/>
          </a:bodyPr>
          <a:lstStyle/>
          <a:p>
            <a:pPr algn="just"/>
            <a:r>
              <a:rPr lang="en-US" sz="2400" dirty="0"/>
              <a:t>Transaction processing systems are designed to </a:t>
            </a:r>
            <a:r>
              <a:rPr lang="en-US" sz="2400" b="1" dirty="0">
                <a:solidFill>
                  <a:schemeClr val="accent2">
                    <a:lumMod val="75000"/>
                  </a:schemeClr>
                </a:solidFill>
              </a:rPr>
              <a:t>process user request</a:t>
            </a:r>
            <a:r>
              <a:rPr lang="en-US" sz="2400" dirty="0"/>
              <a:t>s for information from a database, or requests to update a database.</a:t>
            </a:r>
          </a:p>
          <a:p>
            <a:pPr algn="just"/>
            <a:r>
              <a:rPr lang="en-US" sz="2400" dirty="0"/>
              <a:t>Technically, a database transaction is </a:t>
            </a:r>
            <a:r>
              <a:rPr lang="en-US" sz="2400" b="1" dirty="0">
                <a:solidFill>
                  <a:schemeClr val="accent2">
                    <a:lumMod val="75000"/>
                  </a:schemeClr>
                </a:solidFill>
              </a:rPr>
              <a:t>part of a sequence of operations</a:t>
            </a:r>
            <a:r>
              <a:rPr lang="en-US" sz="2400" dirty="0"/>
              <a:t> and is treated as a single unit (an atomic unit). </a:t>
            </a:r>
          </a:p>
          <a:p>
            <a:pPr algn="just"/>
            <a:r>
              <a:rPr lang="en-US" sz="2400" dirty="0"/>
              <a:t>All of the operations in a transaction have to be completed before the database changes are made permanent. This ensures that failure of operations within a transaction does not lead to inconsistencies in the database.</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76</a:t>
            </a:fld>
            <a:endParaRPr lang="en-US"/>
          </a:p>
        </p:txBody>
      </p:sp>
    </p:spTree>
    <p:extLst>
      <p:ext uri="{BB962C8B-B14F-4D97-AF65-F5344CB8AC3E}">
        <p14:creationId xmlns:p14="http://schemas.microsoft.com/office/powerpoint/2010/main" val="410679107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Transaction Processing Systems..</a:t>
            </a:r>
            <a:r>
              <a:rPr lang="en-US" dirty="0" err="1"/>
              <a:t>cont</a:t>
            </a:r>
            <a:endParaRPr lang="en-US" dirty="0"/>
          </a:p>
        </p:txBody>
      </p:sp>
      <p:sp>
        <p:nvSpPr>
          <p:cNvPr id="3" name="Content Placeholder 2"/>
          <p:cNvSpPr>
            <a:spLocks noGrp="1"/>
          </p:cNvSpPr>
          <p:nvPr>
            <p:ph idx="1"/>
          </p:nvPr>
        </p:nvSpPr>
        <p:spPr/>
        <p:txBody>
          <a:bodyPr>
            <a:noAutofit/>
          </a:bodyPr>
          <a:lstStyle/>
          <a:p>
            <a:pPr algn="just"/>
            <a:r>
              <a:rPr lang="en-US" sz="2400" dirty="0"/>
              <a:t>An </a:t>
            </a:r>
            <a:r>
              <a:rPr lang="en-US" sz="2400" b="1" dirty="0">
                <a:solidFill>
                  <a:schemeClr val="accent2">
                    <a:lumMod val="75000"/>
                  </a:schemeClr>
                </a:solidFill>
              </a:rPr>
              <a:t>example of a database transaction </a:t>
            </a:r>
            <a:r>
              <a:rPr lang="en-US" sz="2400" dirty="0"/>
              <a:t>is a customer request to withdraw money from a bank account using an ATM. This involves checking the customer account balance to see if sufficient funds are available, modifying the balance by the amount withdrawn and sending commands to the ATM to deliver the cash. Until all of these steps have been completed, the transaction is incomplete and the customer accounts database is not changed.</a:t>
            </a:r>
          </a:p>
          <a:p>
            <a:pPr algn="just"/>
            <a:r>
              <a:rPr lang="en-US" sz="2400" dirty="0"/>
              <a:t>Transaction processing systems may be organized as a “pipe and filter” architecture, with system components responsible for input, processing, and output.</a:t>
            </a:r>
          </a:p>
          <a:p>
            <a:pPr algn="just"/>
            <a:endParaRPr lang="en-US" sz="2400" dirty="0"/>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77</a:t>
            </a:fld>
            <a:endParaRPr lang="en-US"/>
          </a:p>
        </p:txBody>
      </p:sp>
    </p:spTree>
    <p:extLst>
      <p:ext uri="{BB962C8B-B14F-4D97-AF65-F5344CB8AC3E}">
        <p14:creationId xmlns:p14="http://schemas.microsoft.com/office/powerpoint/2010/main" val="35594630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Transaction Processing Systems..</a:t>
            </a:r>
            <a:r>
              <a:rPr lang="en-US" dirty="0" err="1"/>
              <a:t>cont</a:t>
            </a:r>
            <a:endParaRPr lang="en-US" dirty="0"/>
          </a:p>
        </p:txBody>
      </p:sp>
      <p:sp>
        <p:nvSpPr>
          <p:cNvPr id="3" name="Content Placeholder 2"/>
          <p:cNvSpPr>
            <a:spLocks noGrp="1"/>
          </p:cNvSpPr>
          <p:nvPr>
            <p:ph idx="1"/>
          </p:nvPr>
        </p:nvSpPr>
        <p:spPr/>
        <p:txBody>
          <a:bodyPr>
            <a:noAutofit/>
          </a:bodyPr>
          <a:lstStyle/>
          <a:p>
            <a:pPr algn="just"/>
            <a:r>
              <a:rPr lang="en-US" sz="2400" dirty="0"/>
              <a:t>An </a:t>
            </a:r>
            <a:r>
              <a:rPr lang="en-US" sz="2400" b="1" dirty="0">
                <a:solidFill>
                  <a:schemeClr val="accent2">
                    <a:lumMod val="75000"/>
                  </a:schemeClr>
                </a:solidFill>
              </a:rPr>
              <a:t>example of a database transaction </a:t>
            </a:r>
            <a:r>
              <a:rPr lang="en-US" sz="2400" dirty="0"/>
              <a:t>is a customer request to withdraw money from a bank account using an ATM. This involves checking the customer account balance to see if sufficient funds are available, modifying the balance by the amount withdrawn and sending commands to the ATM to deliver the cash. Until all of these steps have been completed, the transaction is incomplete and the customer accounts database is not changed.</a:t>
            </a:r>
          </a:p>
          <a:p>
            <a:pPr algn="just"/>
            <a:r>
              <a:rPr lang="en-US" sz="2400" dirty="0"/>
              <a:t>Transaction processing systems may be organized as a “pipe and filter” architecture, with system components responsible for input, processing, and output.</a:t>
            </a:r>
          </a:p>
          <a:p>
            <a:pPr algn="just"/>
            <a:endParaRPr lang="en-US" sz="2400" dirty="0"/>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78</a:t>
            </a:fld>
            <a:endParaRPr lang="en-US"/>
          </a:p>
        </p:txBody>
      </p:sp>
    </p:spTree>
    <p:extLst>
      <p:ext uri="{BB962C8B-B14F-4D97-AF65-F5344CB8AC3E}">
        <p14:creationId xmlns:p14="http://schemas.microsoft.com/office/powerpoint/2010/main" val="30781944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Transaction Processing Systems</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79</a:t>
            </a:fld>
            <a:endParaRPr lang="en-US"/>
          </a:p>
        </p:txBody>
      </p:sp>
      <p:pic>
        <p:nvPicPr>
          <p:cNvPr id="10" name="Picture 9" descr="Diagram&#10;&#10;Description automatically generated">
            <a:extLst>
              <a:ext uri="{FF2B5EF4-FFF2-40B4-BE49-F238E27FC236}">
                <a16:creationId xmlns:a16="http://schemas.microsoft.com/office/drawing/2014/main" id="{BBC0C429-F33F-9EA7-F01A-F26E64FD2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765300"/>
            <a:ext cx="7467600" cy="3327400"/>
          </a:xfrm>
          <a:prstGeom prst="rect">
            <a:avLst/>
          </a:prstGeom>
        </p:spPr>
      </p:pic>
    </p:spTree>
    <p:extLst>
      <p:ext uri="{BB962C8B-B14F-4D97-AF65-F5344CB8AC3E}">
        <p14:creationId xmlns:p14="http://schemas.microsoft.com/office/powerpoint/2010/main" val="29831109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Information Systems</a:t>
            </a:r>
          </a:p>
        </p:txBody>
      </p:sp>
      <p:sp>
        <p:nvSpPr>
          <p:cNvPr id="3" name="Content Placeholder 2"/>
          <p:cNvSpPr>
            <a:spLocks noGrp="1"/>
          </p:cNvSpPr>
          <p:nvPr>
            <p:ph idx="1"/>
          </p:nvPr>
        </p:nvSpPr>
        <p:spPr/>
        <p:txBody>
          <a:bodyPr>
            <a:noAutofit/>
          </a:bodyPr>
          <a:lstStyle/>
          <a:p>
            <a:pPr algn="just"/>
            <a:r>
              <a:rPr lang="en-US" sz="2400" dirty="0"/>
              <a:t>All systems that involve interaction with a shared database can be considered to be transaction-based information systems. </a:t>
            </a:r>
          </a:p>
          <a:p>
            <a:pPr algn="just"/>
            <a:r>
              <a:rPr lang="en-US" sz="2400" dirty="0"/>
              <a:t>An information system allows controlled access to a large base of information, such as a library catalog, a flight timetable, or the records of patients in a hospital. Information systems are almost always web-based systems, where the user interface is implemented in a web browser.</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80</a:t>
            </a:fld>
            <a:endParaRPr lang="en-US"/>
          </a:p>
        </p:txBody>
      </p:sp>
    </p:spTree>
    <p:extLst>
      <p:ext uri="{BB962C8B-B14F-4D97-AF65-F5344CB8AC3E}">
        <p14:creationId xmlns:p14="http://schemas.microsoft.com/office/powerpoint/2010/main" val="21692507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The architecture of </a:t>
            </a:r>
            <a:r>
              <a:rPr lang="en-US" dirty="0" err="1"/>
              <a:t>MentCare</a:t>
            </a:r>
            <a:r>
              <a:rPr lang="en-US" dirty="0"/>
              <a:t> System</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81</a:t>
            </a:fld>
            <a:endParaRPr lang="en-US"/>
          </a:p>
        </p:txBody>
      </p:sp>
      <p:pic>
        <p:nvPicPr>
          <p:cNvPr id="10" name="Picture 9" descr="Graphical user interface, application&#10;&#10;Description automatically generated">
            <a:extLst>
              <a:ext uri="{FF2B5EF4-FFF2-40B4-BE49-F238E27FC236}">
                <a16:creationId xmlns:a16="http://schemas.microsoft.com/office/drawing/2014/main" id="{1CC18321-D3F9-6582-A88F-F3BC70F85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1694516"/>
            <a:ext cx="5486400" cy="4138863"/>
          </a:xfrm>
          <a:prstGeom prst="rect">
            <a:avLst/>
          </a:prstGeom>
        </p:spPr>
      </p:pic>
    </p:spTree>
    <p:extLst>
      <p:ext uri="{BB962C8B-B14F-4D97-AF65-F5344CB8AC3E}">
        <p14:creationId xmlns:p14="http://schemas.microsoft.com/office/powerpoint/2010/main" val="20500395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Language Processing System</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82</a:t>
            </a:fld>
            <a:endParaRPr lang="en-US"/>
          </a:p>
        </p:txBody>
      </p:sp>
      <p:sp>
        <p:nvSpPr>
          <p:cNvPr id="3" name="Content Placeholder 2">
            <a:extLst>
              <a:ext uri="{FF2B5EF4-FFF2-40B4-BE49-F238E27FC236}">
                <a16:creationId xmlns:a16="http://schemas.microsoft.com/office/drawing/2014/main" id="{7CB777A7-DAA8-08C9-13C9-C5B7DA574D2E}"/>
              </a:ext>
            </a:extLst>
          </p:cNvPr>
          <p:cNvSpPr>
            <a:spLocks noGrp="1"/>
          </p:cNvSpPr>
          <p:nvPr>
            <p:ph idx="1"/>
          </p:nvPr>
        </p:nvSpPr>
        <p:spPr>
          <a:xfrm>
            <a:off x="457200" y="1600200"/>
            <a:ext cx="8229600" cy="4525963"/>
          </a:xfrm>
        </p:spPr>
        <p:txBody>
          <a:bodyPr>
            <a:noAutofit/>
          </a:bodyPr>
          <a:lstStyle/>
          <a:p>
            <a:pPr algn="just"/>
            <a:r>
              <a:rPr lang="en-US" sz="2400" dirty="0"/>
              <a:t>Language processing systems translate one language into an alternative representation of that language and, for programming languages, may also execute the resulting code.</a:t>
            </a:r>
          </a:p>
          <a:p>
            <a:pPr algn="just"/>
            <a:r>
              <a:rPr lang="en-US" sz="2400" dirty="0"/>
              <a:t>Compilers translate a programming language into machine code. Other language processing systems may translate an XML data description into commands to query a database or to an alternative XML representation.</a:t>
            </a:r>
          </a:p>
          <a:p>
            <a:pPr algn="just"/>
            <a:r>
              <a:rPr lang="en-US" sz="2400" dirty="0"/>
              <a:t> Natural language processing systems may translate one natural language to another, for example, French to Norwegian.</a:t>
            </a:r>
          </a:p>
          <a:p>
            <a:pPr algn="just"/>
            <a:endParaRPr lang="en-US" sz="2400" dirty="0"/>
          </a:p>
        </p:txBody>
      </p:sp>
    </p:spTree>
    <p:extLst>
      <p:ext uri="{BB962C8B-B14F-4D97-AF65-F5344CB8AC3E}">
        <p14:creationId xmlns:p14="http://schemas.microsoft.com/office/powerpoint/2010/main" val="2304088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Language Processing System..</a:t>
            </a:r>
            <a:r>
              <a:rPr lang="en-US" dirty="0" err="1"/>
              <a:t>cont</a:t>
            </a:r>
            <a:endParaRPr lang="en-US" dirty="0"/>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83</a:t>
            </a:fld>
            <a:endParaRPr lang="en-US"/>
          </a:p>
        </p:txBody>
      </p:sp>
      <p:sp>
        <p:nvSpPr>
          <p:cNvPr id="3" name="Content Placeholder 2">
            <a:extLst>
              <a:ext uri="{FF2B5EF4-FFF2-40B4-BE49-F238E27FC236}">
                <a16:creationId xmlns:a16="http://schemas.microsoft.com/office/drawing/2014/main" id="{7CB777A7-DAA8-08C9-13C9-C5B7DA574D2E}"/>
              </a:ext>
            </a:extLst>
          </p:cNvPr>
          <p:cNvSpPr>
            <a:spLocks noGrp="1"/>
          </p:cNvSpPr>
          <p:nvPr>
            <p:ph idx="1"/>
          </p:nvPr>
        </p:nvSpPr>
        <p:spPr>
          <a:xfrm>
            <a:off x="457200" y="1600200"/>
            <a:ext cx="8229600" cy="4525963"/>
          </a:xfrm>
        </p:spPr>
        <p:txBody>
          <a:bodyPr>
            <a:noAutofit/>
          </a:bodyPr>
          <a:lstStyle/>
          <a:p>
            <a:pPr algn="just"/>
            <a:r>
              <a:rPr lang="en-US" sz="2400" dirty="0"/>
              <a:t>Alternative Architectural patterns may be used in a language processing system (</a:t>
            </a:r>
            <a:r>
              <a:rPr lang="en-US" sz="2400" dirty="0" err="1"/>
              <a:t>Garlan</a:t>
            </a:r>
            <a:r>
              <a:rPr lang="en-US" sz="2400" dirty="0"/>
              <a:t> and Shaw 1993). </a:t>
            </a:r>
          </a:p>
          <a:p>
            <a:pPr algn="just"/>
            <a:r>
              <a:rPr lang="en-US" sz="2400" dirty="0"/>
              <a:t>Compilers can be implemented using a composite of a repository and a pipe and filter model. In a compiler architecture, the symbol table is a repository for shared data. </a:t>
            </a:r>
          </a:p>
          <a:p>
            <a:pPr algn="just"/>
            <a:r>
              <a:rPr lang="en-US" sz="2400" dirty="0"/>
              <a:t>This pipe and filter model of language compilation is effective in batch environments where programs are compiled and executed without user interaction; for example, in the translation of one XML document to another. It is less effective when a compiler is integrated with other language processing tools such as a structured editing system, an interactive debugger, or a program formatter.</a:t>
            </a:r>
          </a:p>
        </p:txBody>
      </p:sp>
    </p:spTree>
    <p:extLst>
      <p:ext uri="{BB962C8B-B14F-4D97-AF65-F5344CB8AC3E}">
        <p14:creationId xmlns:p14="http://schemas.microsoft.com/office/powerpoint/2010/main" val="25779494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Architecture of Language Processing System</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84</a:t>
            </a:fld>
            <a:endParaRPr lang="en-US"/>
          </a:p>
        </p:txBody>
      </p:sp>
      <p:pic>
        <p:nvPicPr>
          <p:cNvPr id="10" name="Picture 9" descr="Diagram&#10;&#10;Description automatically generated">
            <a:extLst>
              <a:ext uri="{FF2B5EF4-FFF2-40B4-BE49-F238E27FC236}">
                <a16:creationId xmlns:a16="http://schemas.microsoft.com/office/drawing/2014/main" id="{097F2281-60DF-E63C-07A8-B361C2D30F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900" y="1485900"/>
            <a:ext cx="5664200" cy="3886200"/>
          </a:xfrm>
          <a:prstGeom prst="rect">
            <a:avLst/>
          </a:prstGeom>
        </p:spPr>
      </p:pic>
    </p:spTree>
    <p:extLst>
      <p:ext uri="{BB962C8B-B14F-4D97-AF65-F5344CB8AC3E}">
        <p14:creationId xmlns:p14="http://schemas.microsoft.com/office/powerpoint/2010/main" val="16411017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Repository Architecture of Language Processing System</a:t>
            </a:r>
          </a:p>
        </p:txBody>
      </p:sp>
      <p:sp>
        <p:nvSpPr>
          <p:cNvPr id="5" name="Footer Placeholder 4"/>
          <p:cNvSpPr>
            <a:spLocks noGrp="1"/>
          </p:cNvSpPr>
          <p:nvPr>
            <p:ph type="ftr" sz="quarter" idx="11"/>
          </p:nvPr>
        </p:nvSpPr>
        <p:spPr/>
        <p:txBody>
          <a:bodyPr/>
          <a:lstStyle/>
          <a:p>
            <a:r>
              <a:rPr lang="en-US" dirty="0"/>
              <a:t>Software Engineering</a:t>
            </a:r>
          </a:p>
        </p:txBody>
      </p:sp>
      <p:sp>
        <p:nvSpPr>
          <p:cNvPr id="6" name="Date Placeholder 5"/>
          <p:cNvSpPr>
            <a:spLocks noGrp="1"/>
          </p:cNvSpPr>
          <p:nvPr>
            <p:ph type="dt" sz="half" idx="10"/>
          </p:nvPr>
        </p:nvSpPr>
        <p:spPr/>
        <p:txBody>
          <a:bodyPr/>
          <a:lstStyle/>
          <a:p>
            <a:r>
              <a:rPr lang="en-US" dirty="0"/>
              <a:t>2021</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85</a:t>
            </a:fld>
            <a:endParaRPr lang="en-US"/>
          </a:p>
        </p:txBody>
      </p:sp>
      <p:pic>
        <p:nvPicPr>
          <p:cNvPr id="7" name="Picture 6" descr="Diagram&#10;&#10;Description automatically generated">
            <a:extLst>
              <a:ext uri="{FF2B5EF4-FFF2-40B4-BE49-F238E27FC236}">
                <a16:creationId xmlns:a16="http://schemas.microsoft.com/office/drawing/2014/main" id="{9D249D7F-4E11-42C1-B38E-D78915412C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450" y="1905000"/>
            <a:ext cx="7397003" cy="4165600"/>
          </a:xfrm>
          <a:prstGeom prst="rect">
            <a:avLst/>
          </a:prstGeom>
        </p:spPr>
      </p:pic>
    </p:spTree>
    <p:extLst>
      <p:ext uri="{BB962C8B-B14F-4D97-AF65-F5344CB8AC3E}">
        <p14:creationId xmlns:p14="http://schemas.microsoft.com/office/powerpoint/2010/main" val="13152706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Repository Architecture of Language Processing System</a:t>
            </a:r>
            <a:endParaRPr lang="en-MY" dirty="0"/>
          </a:p>
        </p:txBody>
      </p:sp>
      <p:sp>
        <p:nvSpPr>
          <p:cNvPr id="3" name="Content Placeholder 2"/>
          <p:cNvSpPr>
            <a:spLocks noGrp="1"/>
          </p:cNvSpPr>
          <p:nvPr>
            <p:ph idx="1"/>
          </p:nvPr>
        </p:nvSpPr>
        <p:spPr>
          <a:xfrm>
            <a:off x="0" y="1600200"/>
            <a:ext cx="8905103" cy="4602163"/>
          </a:xfrm>
        </p:spPr>
        <p:txBody>
          <a:bodyPr>
            <a:noAutofit/>
          </a:bodyPr>
          <a:lstStyle/>
          <a:p>
            <a:pPr algn="just">
              <a:spcBef>
                <a:spcPts val="0"/>
              </a:spcBef>
            </a:pPr>
            <a:r>
              <a:rPr lang="en-US" sz="2000" dirty="0"/>
              <a:t>Programming language compilers that are part of a more general programming environment have a generic architecture (shown in Slide 84) that includes the following components:</a:t>
            </a:r>
          </a:p>
          <a:p>
            <a:pPr marL="400050" lvl="1" indent="0" algn="just">
              <a:spcBef>
                <a:spcPts val="0"/>
              </a:spcBef>
              <a:buNone/>
            </a:pPr>
            <a:r>
              <a:rPr lang="en-US" sz="2000" dirty="0"/>
              <a:t>1. </a:t>
            </a:r>
            <a:r>
              <a:rPr lang="en-US" sz="2000" b="1" dirty="0">
                <a:solidFill>
                  <a:schemeClr val="accent2">
                    <a:lumMod val="75000"/>
                  </a:schemeClr>
                </a:solidFill>
              </a:rPr>
              <a:t>A lexical analyzer,</a:t>
            </a:r>
            <a:r>
              <a:rPr lang="en-US" sz="2000" b="1" dirty="0"/>
              <a:t> </a:t>
            </a:r>
            <a:r>
              <a:rPr lang="en-US" sz="2000" dirty="0"/>
              <a:t>which takes input language tokens and converts them into an internal form.</a:t>
            </a:r>
          </a:p>
          <a:p>
            <a:pPr marL="400050" lvl="1" indent="0" algn="just">
              <a:spcBef>
                <a:spcPts val="0"/>
              </a:spcBef>
              <a:buNone/>
            </a:pPr>
            <a:r>
              <a:rPr lang="en-US" sz="2000" dirty="0"/>
              <a:t>2. </a:t>
            </a:r>
            <a:r>
              <a:rPr lang="en-US" sz="2000" b="1" dirty="0">
                <a:solidFill>
                  <a:schemeClr val="accent2">
                    <a:lumMod val="75000"/>
                  </a:schemeClr>
                </a:solidFill>
              </a:rPr>
              <a:t>A symbol table, </a:t>
            </a:r>
            <a:r>
              <a:rPr lang="en-US" sz="2000" dirty="0"/>
              <a:t>which holds information about the names of entities used in the text that is being translated.</a:t>
            </a:r>
          </a:p>
          <a:p>
            <a:pPr marL="400050" lvl="1" indent="0" algn="just">
              <a:spcBef>
                <a:spcPts val="0"/>
              </a:spcBef>
              <a:buNone/>
            </a:pPr>
            <a:r>
              <a:rPr lang="en-US" sz="2000" dirty="0"/>
              <a:t>3. </a:t>
            </a:r>
            <a:r>
              <a:rPr lang="en-US" sz="2000" b="1" dirty="0">
                <a:solidFill>
                  <a:schemeClr val="accent2">
                    <a:lumMod val="75000"/>
                  </a:schemeClr>
                </a:solidFill>
              </a:rPr>
              <a:t>A syntax analyzer, </a:t>
            </a:r>
            <a:r>
              <a:rPr lang="en-US" sz="2000" dirty="0"/>
              <a:t>which checks the syntax of the language being translated. It uses a defined grammar of the language and builds a syntax tree.</a:t>
            </a:r>
          </a:p>
          <a:p>
            <a:pPr marL="400050" lvl="1" indent="0" algn="just">
              <a:spcBef>
                <a:spcPts val="0"/>
              </a:spcBef>
              <a:buNone/>
            </a:pPr>
            <a:r>
              <a:rPr lang="en-US" sz="2000" dirty="0"/>
              <a:t>4. </a:t>
            </a:r>
            <a:r>
              <a:rPr lang="en-US" sz="2000" b="1" dirty="0">
                <a:solidFill>
                  <a:schemeClr val="accent2">
                    <a:lumMod val="75000"/>
                  </a:schemeClr>
                </a:solidFill>
              </a:rPr>
              <a:t>A syntax tree, </a:t>
            </a:r>
            <a:r>
              <a:rPr lang="en-US" sz="2000" dirty="0"/>
              <a:t>which is an internal structure representing the program being compiled.</a:t>
            </a:r>
          </a:p>
          <a:p>
            <a:pPr marL="400050" lvl="1" indent="0" algn="just">
              <a:spcBef>
                <a:spcPts val="0"/>
              </a:spcBef>
              <a:buNone/>
            </a:pPr>
            <a:r>
              <a:rPr lang="en-US" sz="2000" dirty="0"/>
              <a:t>5. </a:t>
            </a:r>
            <a:r>
              <a:rPr lang="en-US" sz="2000" b="1" dirty="0">
                <a:solidFill>
                  <a:schemeClr val="accent2">
                    <a:lumMod val="75000"/>
                  </a:schemeClr>
                </a:solidFill>
              </a:rPr>
              <a:t>A semantic analyzer, </a:t>
            </a:r>
            <a:r>
              <a:rPr lang="en-US" sz="2000" dirty="0"/>
              <a:t>which uses information from the syntax tree and the symbol table to check the semantic correctness of the input language text.</a:t>
            </a:r>
          </a:p>
          <a:p>
            <a:pPr marL="400050" lvl="1" indent="0" algn="just">
              <a:spcBef>
                <a:spcPts val="0"/>
              </a:spcBef>
              <a:buNone/>
            </a:pPr>
            <a:r>
              <a:rPr lang="en-US" sz="2000" dirty="0"/>
              <a:t>6. </a:t>
            </a:r>
            <a:r>
              <a:rPr lang="en-US" sz="2000" b="1" dirty="0">
                <a:solidFill>
                  <a:schemeClr val="accent2">
                    <a:lumMod val="75000"/>
                  </a:schemeClr>
                </a:solidFill>
              </a:rPr>
              <a:t>A code generator,</a:t>
            </a:r>
            <a:r>
              <a:rPr lang="en-US" sz="2000" dirty="0"/>
              <a:t> which “walks” the syntax tree and generates abstract machine code.</a:t>
            </a:r>
            <a:endParaRPr lang="en-US" sz="2000" dirty="0">
              <a:ea typeface="ＭＳ Ｐゴシック" panose="020B0600070205080204" pitchFamily="34" charset="-128"/>
            </a:endParaRPr>
          </a:p>
        </p:txBody>
      </p:sp>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86</a:t>
            </a:fld>
            <a:endParaRPr lang="en-US"/>
          </a:p>
        </p:txBody>
      </p:sp>
    </p:spTree>
    <p:extLst>
      <p:ext uri="{BB962C8B-B14F-4D97-AF65-F5344CB8AC3E}">
        <p14:creationId xmlns:p14="http://schemas.microsoft.com/office/powerpoint/2010/main" val="12019339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Key Points</a:t>
            </a:r>
            <a:endParaRPr lang="en-MY" dirty="0"/>
          </a:p>
        </p:txBody>
      </p:sp>
      <p:sp>
        <p:nvSpPr>
          <p:cNvPr id="3" name="Content Placeholder 2"/>
          <p:cNvSpPr>
            <a:spLocks noGrp="1"/>
          </p:cNvSpPr>
          <p:nvPr>
            <p:ph idx="1"/>
          </p:nvPr>
        </p:nvSpPr>
        <p:spPr>
          <a:xfrm>
            <a:off x="457200" y="1524000"/>
            <a:ext cx="8229600" cy="4602163"/>
          </a:xfrm>
        </p:spPr>
        <p:txBody>
          <a:bodyPr>
            <a:noAutofit/>
          </a:bodyPr>
          <a:lstStyle/>
          <a:p>
            <a:pPr>
              <a:spcBef>
                <a:spcPts val="0"/>
              </a:spcBef>
            </a:pPr>
            <a:r>
              <a:rPr lang="en-US" sz="2600" dirty="0"/>
              <a:t>A software architecture is a description of how a software system is organized. </a:t>
            </a:r>
            <a:endParaRPr lang="en-GB" sz="2600" dirty="0"/>
          </a:p>
          <a:p>
            <a:pPr>
              <a:spcBef>
                <a:spcPts val="0"/>
              </a:spcBef>
            </a:pPr>
            <a:r>
              <a:rPr lang="en-US" sz="2600" dirty="0"/>
              <a:t>Architectural design decisions include decisions on the type of application, the distribution of the system, the architectural styles to be used.</a:t>
            </a:r>
            <a:endParaRPr lang="en-GB" sz="2600" dirty="0"/>
          </a:p>
          <a:p>
            <a:pPr>
              <a:spcBef>
                <a:spcPts val="0"/>
              </a:spcBef>
            </a:pPr>
            <a:r>
              <a:rPr lang="en-US" sz="2600" dirty="0"/>
              <a:t>Architectures may be documented from several different perspectives or views such as a conceptual view, a logical view, a process view, and a development view.</a:t>
            </a:r>
            <a:endParaRPr lang="en-GB" sz="2600" dirty="0"/>
          </a:p>
          <a:p>
            <a:pPr>
              <a:spcBef>
                <a:spcPts val="0"/>
              </a:spcBef>
            </a:pPr>
            <a:r>
              <a:rPr lang="en-US" sz="2600" dirty="0"/>
              <a:t>Architectural patterns are a means of reusing knowledge about generic system architectures. They describe the architecture, explain when it may be used and describe its advantages and disadvantages.</a:t>
            </a:r>
            <a:endParaRPr lang="en-US" sz="2600" dirty="0">
              <a:ea typeface="ＭＳ Ｐゴシック" panose="020B0600070205080204" pitchFamily="34" charset="-128"/>
            </a:endParaRPr>
          </a:p>
        </p:txBody>
      </p:sp>
      <p:sp>
        <p:nvSpPr>
          <p:cNvPr id="5" name="Date Placeholder 4"/>
          <p:cNvSpPr>
            <a:spLocks noGrp="1"/>
          </p:cNvSpPr>
          <p:nvPr>
            <p:ph type="dt" sz="half" idx="10"/>
          </p:nvPr>
        </p:nvSpPr>
        <p:spPr/>
        <p:txBody>
          <a:bodyPr/>
          <a:lstStyle/>
          <a:p>
            <a:r>
              <a:rPr lang="en-US"/>
              <a:t>2021</a:t>
            </a:r>
          </a:p>
        </p:txBody>
      </p:sp>
      <p:sp>
        <p:nvSpPr>
          <p:cNvPr id="6" name="Footer Placeholder 5"/>
          <p:cNvSpPr>
            <a:spLocks noGrp="1"/>
          </p:cNvSpPr>
          <p:nvPr>
            <p:ph type="ftr" sz="quarter" idx="11"/>
          </p:nvPr>
        </p:nvSpPr>
        <p:spPr/>
        <p:txBody>
          <a:bodyPr/>
          <a:lstStyle/>
          <a:p>
            <a:r>
              <a:rPr lang="en-US"/>
              <a:t>Software Engineering</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87</a:t>
            </a:fld>
            <a:endParaRPr lang="en-US"/>
          </a:p>
        </p:txBody>
      </p:sp>
    </p:spTree>
    <p:extLst>
      <p:ext uri="{BB962C8B-B14F-4D97-AF65-F5344CB8AC3E}">
        <p14:creationId xmlns:p14="http://schemas.microsoft.com/office/powerpoint/2010/main" val="3969981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3678</TotalTime>
  <Words>5293</Words>
  <Application>Microsoft Office PowerPoint</Application>
  <PresentationFormat>On-screen Show (4:3)</PresentationFormat>
  <Paragraphs>783</Paragraphs>
  <Slides>87</Slides>
  <Notes>27</Notes>
  <HiddenSlides>13</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2</vt:i4>
      </vt:variant>
      <vt:variant>
        <vt:lpstr>Slide Titles</vt:lpstr>
      </vt:variant>
      <vt:variant>
        <vt:i4>87</vt:i4>
      </vt:variant>
    </vt:vector>
  </HeadingPairs>
  <TitlesOfParts>
    <vt:vector size="98" baseType="lpstr">
      <vt:lpstr>ＭＳ Ｐゴシック</vt:lpstr>
      <vt:lpstr>Arial</vt:lpstr>
      <vt:lpstr>Baskerville Old Face</vt:lpstr>
      <vt:lpstr>Calibri</vt:lpstr>
      <vt:lpstr>Helvetica</vt:lpstr>
      <vt:lpstr>Times</vt:lpstr>
      <vt:lpstr>Times New Roman</vt:lpstr>
      <vt:lpstr>Office Theme</vt:lpstr>
      <vt:lpstr>Custom Design</vt:lpstr>
      <vt:lpstr>Microsoft Word Picture</vt:lpstr>
      <vt:lpstr>Photo Editor Photo</vt:lpstr>
      <vt:lpstr>Module 6: Architectural Design</vt:lpstr>
      <vt:lpstr>Outline</vt:lpstr>
      <vt:lpstr>Objectives</vt:lpstr>
      <vt:lpstr>Architectural design and detailed design</vt:lpstr>
      <vt:lpstr>Recap on Design Stage</vt:lpstr>
      <vt:lpstr>Architecture Analogy for  Software vs. House?</vt:lpstr>
      <vt:lpstr>Analogy: Residential Styles</vt:lpstr>
      <vt:lpstr>Design Discipline Activities</vt:lpstr>
      <vt:lpstr>From Analysis to Design:  Design Artefacts Metamodel</vt:lpstr>
      <vt:lpstr>Relationships between Analysis and Design (Model and System)</vt:lpstr>
      <vt:lpstr>Architectural Design: Design the Software Architecture</vt:lpstr>
      <vt:lpstr>Design Use Case Realizations</vt:lpstr>
      <vt:lpstr>Example: Architecture of a Packing Robot Control System</vt:lpstr>
      <vt:lpstr>Example: High Level Architecture of Weather Station System </vt:lpstr>
      <vt:lpstr>Architectural Abstraction</vt:lpstr>
      <vt:lpstr>Advantages of Explicit Architecture</vt:lpstr>
      <vt:lpstr>Architectural Representations</vt:lpstr>
      <vt:lpstr>Box and Line Diagrams</vt:lpstr>
      <vt:lpstr>Use of Architectural Models</vt:lpstr>
      <vt:lpstr>PowerPoint Presentation</vt:lpstr>
      <vt:lpstr>Architectural design decision</vt:lpstr>
      <vt:lpstr>Architectural Design Decision</vt:lpstr>
      <vt:lpstr>Architectural Design Decision</vt:lpstr>
      <vt:lpstr>Architecture Reuse</vt:lpstr>
      <vt:lpstr>Architecture and System Characteristics (Non-Functional Requirements)</vt:lpstr>
      <vt:lpstr>Architectural view</vt:lpstr>
      <vt:lpstr>Architectural Views</vt:lpstr>
      <vt:lpstr>Architectural Views</vt:lpstr>
      <vt:lpstr>4 + 1 View Model of Software Architecture</vt:lpstr>
      <vt:lpstr>UML Diagrams to Represent Architectural Views (4+1 View Model)</vt:lpstr>
      <vt:lpstr>From Design to Implementation</vt:lpstr>
      <vt:lpstr>Relationship between Implementation Model and Design Model</vt:lpstr>
      <vt:lpstr>Relationship between Design Subsystems and Implementation Subsystems</vt:lpstr>
      <vt:lpstr>Component diagram as an implementation view </vt:lpstr>
      <vt:lpstr>UML Component Diagram</vt:lpstr>
      <vt:lpstr>UML Component Notation and Extension Notation for Windows and Web page</vt:lpstr>
      <vt:lpstr>Types of Interface in Components</vt:lpstr>
      <vt:lpstr>Influence from the System Environment: Existing Framework</vt:lpstr>
      <vt:lpstr>Influence from the System Environment: Legacy System</vt:lpstr>
      <vt:lpstr>Influence from the System Environment: External System</vt:lpstr>
      <vt:lpstr>Influence from the System Environment: Hardware Driver</vt:lpstr>
      <vt:lpstr>Influence from the System Environment: Web Service</vt:lpstr>
      <vt:lpstr>Combination of Architectural Style: Layered, Subystems and Components</vt:lpstr>
      <vt:lpstr>Example: Two-Layer Architectural Design of Internet Systems</vt:lpstr>
      <vt:lpstr>Example: Three-Layer Architectural Design of Internet Systems</vt:lpstr>
      <vt:lpstr>Example: Component Diagram for Online Shopping</vt:lpstr>
      <vt:lpstr>Architectural pattern</vt:lpstr>
      <vt:lpstr>Architectural Patterns</vt:lpstr>
      <vt:lpstr>Common Architectural Patterns</vt:lpstr>
      <vt:lpstr>Model-View-Controller (MVC) Pattern </vt:lpstr>
      <vt:lpstr>Organization of MVC </vt:lpstr>
      <vt:lpstr>Web Application Architecture Using MVC</vt:lpstr>
      <vt:lpstr>Example: MVC Architecture Used for a Dashboard</vt:lpstr>
      <vt:lpstr>Layered Architecture</vt:lpstr>
      <vt:lpstr>Layered Architecture Pattern </vt:lpstr>
      <vt:lpstr>Generic Layered Architecture </vt:lpstr>
      <vt:lpstr>Example: Architecture of iLearn System </vt:lpstr>
      <vt:lpstr>Example: Architecture of Mentcare System</vt:lpstr>
      <vt:lpstr>Three and Four Layer Architectures</vt:lpstr>
      <vt:lpstr>Example: Partitioned Subsystems in Four Layer Architecture</vt:lpstr>
      <vt:lpstr>Repository Architecture</vt:lpstr>
      <vt:lpstr>Repository Pattern </vt:lpstr>
      <vt:lpstr>Example: Repository Architecture for an IDE </vt:lpstr>
      <vt:lpstr>Example: Repository Architecture for Language Processing System</vt:lpstr>
      <vt:lpstr>Client-Server Architecture</vt:lpstr>
      <vt:lpstr>Client-Server Pattern </vt:lpstr>
      <vt:lpstr>Example: Client-Server Architecture for Film Library </vt:lpstr>
      <vt:lpstr>Pipe and Filter Architecture</vt:lpstr>
      <vt:lpstr>Pipe and Filter Pattern </vt:lpstr>
      <vt:lpstr>Example: Pipe and Filter Architecture Used in Payments System </vt:lpstr>
      <vt:lpstr>Example: Pipe and Filter Used for Compiler Architecture</vt:lpstr>
      <vt:lpstr>APPLICATION ARCHITECTURES</vt:lpstr>
      <vt:lpstr>Application Architectures</vt:lpstr>
      <vt:lpstr>Used of Model Application Architectures</vt:lpstr>
      <vt:lpstr>Used of Model Application Architectures…cont</vt:lpstr>
      <vt:lpstr>Transaction Processing Systems</vt:lpstr>
      <vt:lpstr>Transaction Processing Systems..cont</vt:lpstr>
      <vt:lpstr>Transaction Processing Systems..cont</vt:lpstr>
      <vt:lpstr>Example: Transaction Processing Systems</vt:lpstr>
      <vt:lpstr>Information Systems</vt:lpstr>
      <vt:lpstr>Example: The architecture of MentCare System</vt:lpstr>
      <vt:lpstr>Language Processing System</vt:lpstr>
      <vt:lpstr>Language Processing System..cont</vt:lpstr>
      <vt:lpstr>Example: Architecture of Language Processing System</vt:lpstr>
      <vt:lpstr>Example: Repository Architecture of Language Processing System</vt:lpstr>
      <vt:lpstr>Example: Repository Architecture of Language Processing System</vt:lpstr>
      <vt:lpstr>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ALIF RIDZUAN BIN KHAIRUDDIN 16784</cp:lastModifiedBy>
  <cp:revision>374</cp:revision>
  <cp:lastPrinted>2017-04-11T09:29:08Z</cp:lastPrinted>
  <dcterms:created xsi:type="dcterms:W3CDTF">2012-07-30T02:22:03Z</dcterms:created>
  <dcterms:modified xsi:type="dcterms:W3CDTF">2025-12-01T01:44:57Z</dcterms:modified>
</cp:coreProperties>
</file>