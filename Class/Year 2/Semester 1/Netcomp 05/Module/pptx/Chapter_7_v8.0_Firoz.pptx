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8"/>
  </p:notesMasterIdLst>
  <p:sldIdLst>
    <p:sldId id="960" r:id="rId2"/>
    <p:sldId id="1129" r:id="rId3"/>
    <p:sldId id="964" r:id="rId4"/>
    <p:sldId id="1150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38" r:id="rId14"/>
    <p:sldId id="1139" r:id="rId15"/>
    <p:sldId id="1141" r:id="rId16"/>
    <p:sldId id="1140" r:id="rId17"/>
    <p:sldId id="1151" r:id="rId18"/>
    <p:sldId id="1142" r:id="rId19"/>
    <p:sldId id="1207" r:id="rId20"/>
    <p:sldId id="1208" r:id="rId21"/>
    <p:sldId id="1210" r:id="rId22"/>
    <p:sldId id="1143" r:id="rId23"/>
    <p:sldId id="1144" r:id="rId24"/>
    <p:sldId id="1145" r:id="rId25"/>
    <p:sldId id="1146" r:id="rId26"/>
    <p:sldId id="1148" r:id="rId27"/>
    <p:sldId id="1147" r:id="rId28"/>
    <p:sldId id="1149" r:id="rId29"/>
    <p:sldId id="1152" r:id="rId30"/>
    <p:sldId id="1153" r:id="rId31"/>
    <p:sldId id="1155" r:id="rId32"/>
    <p:sldId id="1154" r:id="rId33"/>
    <p:sldId id="1156" r:id="rId34"/>
    <p:sldId id="1157" r:id="rId35"/>
    <p:sldId id="1158" r:id="rId36"/>
    <p:sldId id="1159" r:id="rId37"/>
    <p:sldId id="1160" r:id="rId38"/>
    <p:sldId id="1161" r:id="rId39"/>
    <p:sldId id="1162" r:id="rId40"/>
    <p:sldId id="1164" r:id="rId41"/>
    <p:sldId id="1165" r:id="rId42"/>
    <p:sldId id="1166" r:id="rId43"/>
    <p:sldId id="1168" r:id="rId44"/>
    <p:sldId id="1169" r:id="rId45"/>
    <p:sldId id="1170" r:id="rId46"/>
    <p:sldId id="1171" r:id="rId47"/>
    <p:sldId id="1172" r:id="rId48"/>
    <p:sldId id="1173" r:id="rId49"/>
    <p:sldId id="1175" r:id="rId50"/>
    <p:sldId id="1174" r:id="rId51"/>
    <p:sldId id="1177" r:id="rId52"/>
    <p:sldId id="1176" r:id="rId53"/>
    <p:sldId id="1178" r:id="rId54"/>
    <p:sldId id="1179" r:id="rId55"/>
    <p:sldId id="1180" r:id="rId56"/>
    <p:sldId id="1181" r:id="rId57"/>
    <p:sldId id="1185" r:id="rId58"/>
    <p:sldId id="1187" r:id="rId59"/>
    <p:sldId id="1184" r:id="rId60"/>
    <p:sldId id="1182" r:id="rId61"/>
    <p:sldId id="1183" r:id="rId62"/>
    <p:sldId id="1188" r:id="rId63"/>
    <p:sldId id="1190" r:id="rId64"/>
    <p:sldId id="1191" r:id="rId65"/>
    <p:sldId id="1192" r:id="rId66"/>
    <p:sldId id="1193" r:id="rId67"/>
    <p:sldId id="1194" r:id="rId68"/>
    <p:sldId id="1195" r:id="rId69"/>
    <p:sldId id="1196" r:id="rId70"/>
    <p:sldId id="1201" r:id="rId71"/>
    <p:sldId id="1198" r:id="rId72"/>
    <p:sldId id="1199" r:id="rId73"/>
    <p:sldId id="1202" r:id="rId74"/>
    <p:sldId id="1200" r:id="rId75"/>
    <p:sldId id="1203" r:id="rId76"/>
    <p:sldId id="1204" r:id="rId7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24" userDrawn="1">
          <p15:clr>
            <a:srgbClr val="A4A3A4"/>
          </p15:clr>
        </p15:guide>
        <p15:guide id="3" orient="horz" pos="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12A0"/>
    <a:srgbClr val="6EBFF0"/>
    <a:srgbClr val="66ACD3"/>
    <a:srgbClr val="9AE0FF"/>
    <a:srgbClr val="011199"/>
    <a:srgbClr val="8FAADC"/>
    <a:srgbClr val="B9C2C9"/>
    <a:srgbClr val="E7E7E7"/>
    <a:srgbClr val="F8F8F8"/>
    <a:srgbClr val="C4CD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794" autoAdjust="0"/>
    <p:restoredTop sz="79034"/>
  </p:normalViewPr>
  <p:slideViewPr>
    <p:cSldViewPr snapToGrid="0" snapToObjects="1">
      <p:cViewPr varScale="1">
        <p:scale>
          <a:sx n="75" d="100"/>
          <a:sy n="75" d="100"/>
        </p:scale>
        <p:origin x="710" y="58"/>
      </p:cViewPr>
      <p:guideLst>
        <p:guide pos="624"/>
        <p:guide orient="horz" pos="840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notesMaster" Target="notesMasters/notesMaster1.xml"/><Relationship Id="rId8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1/7/2026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4G/5G material completely updated; older 2/2.5/3G removed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1119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9142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2502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9514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726744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4674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99422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15959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27807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59036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378277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5848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54168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89595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962961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75246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5989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440185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65853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8957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7194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1873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441879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47839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5198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62503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0273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839549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27038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4767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036742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901655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042241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414727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358669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333914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38377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59783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838060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214624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933466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1487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05071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266341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758503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47838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866398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974940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012501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172414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1870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865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29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31" Type="http://schemas.openxmlformats.org/officeDocument/2006/relationships/image" Target="../media/image3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Relationship Id="rId30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2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4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11" Type="http://schemas.openxmlformats.org/officeDocument/2006/relationships/image" Target="../media/image23.png"/><Relationship Id="rId5" Type="http://schemas.openxmlformats.org/officeDocument/2006/relationships/image" Target="../media/image18.png"/><Relationship Id="rId15" Type="http://schemas.openxmlformats.org/officeDocument/2006/relationships/image" Target="../media/image25.png"/><Relationship Id="rId10" Type="http://schemas.openxmlformats.org/officeDocument/2006/relationships/image" Target="../media/image22.png"/><Relationship Id="rId4" Type="http://schemas.openxmlformats.org/officeDocument/2006/relationships/image" Target="../media/image6.png"/><Relationship Id="rId9" Type="http://schemas.openxmlformats.org/officeDocument/2006/relationships/image" Target="../media/image7.png"/><Relationship Id="rId1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11" Type="http://schemas.openxmlformats.org/officeDocument/2006/relationships/image" Target="../media/image42.png"/><Relationship Id="rId5" Type="http://schemas.openxmlformats.org/officeDocument/2006/relationships/image" Target="../media/image38.png"/><Relationship Id="rId10" Type="http://schemas.openxmlformats.org/officeDocument/2006/relationships/image" Target="../media/image41.png"/><Relationship Id="rId4" Type="http://schemas.openxmlformats.org/officeDocument/2006/relationships/image" Target="../media/image6.png"/><Relationship Id="rId9" Type="http://schemas.openxmlformats.org/officeDocument/2006/relationships/image" Target="../media/image4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6.png"/><Relationship Id="rId9" Type="http://schemas.openxmlformats.org/officeDocument/2006/relationships/image" Target="../media/image4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6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31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5" Type="http://schemas.openxmlformats.org/officeDocument/2006/relationships/image" Target="../media/image5.png"/><Relationship Id="rId10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emf"/><Relationship Id="rId5" Type="http://schemas.openxmlformats.org/officeDocument/2006/relationships/image" Target="../media/image54.png"/><Relationship Id="rId4" Type="http://schemas.openxmlformats.org/officeDocument/2006/relationships/image" Target="../media/image4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54.png"/><Relationship Id="rId7" Type="http://schemas.openxmlformats.org/officeDocument/2006/relationships/image" Target="../media/image19.png"/><Relationship Id="rId12" Type="http://schemas.openxmlformats.org/officeDocument/2006/relationships/image" Target="../media/image5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11" Type="http://schemas.openxmlformats.org/officeDocument/2006/relationships/image" Target="../media/image51.png"/><Relationship Id="rId5" Type="http://schemas.openxmlformats.org/officeDocument/2006/relationships/image" Target="../media/image6.png"/><Relationship Id="rId10" Type="http://schemas.openxmlformats.org/officeDocument/2006/relationships/image" Target="../media/image50.png"/><Relationship Id="rId4" Type="http://schemas.openxmlformats.org/officeDocument/2006/relationships/image" Target="../media/image5.png"/><Relationship Id="rId9" Type="http://schemas.openxmlformats.org/officeDocument/2006/relationships/image" Target="../media/image21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.png"/><Relationship Id="rId4" Type="http://schemas.openxmlformats.org/officeDocument/2006/relationships/image" Target="../media/image54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4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.png"/><Relationship Id="rId4" Type="http://schemas.openxmlformats.org/officeDocument/2006/relationships/image" Target="../media/image5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2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.png"/><Relationship Id="rId4" Type="http://schemas.openxmlformats.org/officeDocument/2006/relationships/image" Target="../media/image54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4.png"/><Relationship Id="rId4" Type="http://schemas.openxmlformats.org/officeDocument/2006/relationships/image" Target="../media/image56.e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4.png"/><Relationship Id="rId4" Type="http://schemas.openxmlformats.org/officeDocument/2006/relationships/image" Target="../media/image56.emf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7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Wireless and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Mobile Networks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wireless (mobile) phone subscribers than fixed (wired) phone subscribers </a:t>
            </a:r>
            <a:r>
              <a:rPr lang="en-US" sz="2400" dirty="0"/>
              <a:t>(10-to-1 in 2019)</a:t>
            </a:r>
            <a:r>
              <a:rPr lang="en-US" dirty="0"/>
              <a:t>!</a:t>
            </a:r>
          </a:p>
          <a:p>
            <a:pPr marL="406400" indent="-276225">
              <a:defRPr/>
            </a:pPr>
            <a:r>
              <a:rPr lang="en-US" dirty="0"/>
              <a:t>more mobile-broadband-connected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cellular networks now embracing Internet protocol stack, including SDN</a:t>
            </a:r>
          </a:p>
          <a:p>
            <a:pPr marL="406400" indent="-276225">
              <a:defRPr/>
            </a:pPr>
            <a:r>
              <a:rPr lang="en-US" dirty="0"/>
              <a:t>two important (but different) challenges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wireless: </a:t>
            </a:r>
            <a:r>
              <a:rPr lang="en-US" sz="2800" dirty="0"/>
              <a:t>communication over wireless link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mobility: </a:t>
            </a:r>
            <a:r>
              <a:rPr lang="en-US" sz="2800" dirty="0"/>
              <a:t>handling the mobile user who changes point of attachment to network</a:t>
            </a: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867338" y="2227006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Mobility: impact on higher-layer protocols</a:t>
            </a: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63B252E-B5AF-BD4D-8DC3-4FE3280F19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89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cell towers,  802.11 access points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mobile(s)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infrastructure mode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base station connects mobiles into wired network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handoff: mobile changes base station providing connection into wired network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ad hoc mode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 base stations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can only transmit to other nodes within link coverage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organize themselves into a network: route among themselves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5906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network taxonomy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single hop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multiple hops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connects to  base station (WiFi, cellular) which connects to  larger Internet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>
                <a:latin typeface="+mn-lt"/>
                <a:cs typeface="+mn-cs"/>
              </a:rPr>
              <a:t>Internet (Bluetooth, ad hoc nets)</a:t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may have to relay through several wireless nodes to connect to larger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Internet: </a:t>
            </a:r>
            <a:r>
              <a:rPr lang="en-US" sz="2400" i="1" dirty="0">
                <a:latin typeface="+mn-lt"/>
                <a:cs typeface="+mn-cs"/>
              </a:rPr>
              <a:t>mesh net</a:t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 Internet. May have to relay to reach other  a given wireless node MANET, 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50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78223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(1)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D5156009-8C95-7F4A-8616-5D39C0C25E05}"/>
              </a:ext>
            </a:extLst>
          </p:cNvPr>
          <p:cNvSpPr txBox="1">
            <a:spLocks noChangeArrowheads="1"/>
          </p:cNvSpPr>
          <p:nvPr/>
        </p:nvSpPr>
        <p:spPr>
          <a:xfrm>
            <a:off x="745674" y="1310821"/>
            <a:ext cx="10744200" cy="6921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important</a:t>
            </a:r>
            <a:r>
              <a:rPr lang="en-US" sz="3200" i="1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differences from wired link ….</a:t>
            </a:r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658593" y="1894115"/>
            <a:ext cx="8354785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decreased signal strength</a:t>
            </a:r>
            <a:r>
              <a:rPr lang="en-US" sz="2800" i="1" dirty="0">
                <a:solidFill>
                  <a:srgbClr val="C00000"/>
                </a:solidFill>
              </a:rPr>
              <a:t>: </a:t>
            </a:r>
            <a:r>
              <a:rPr lang="en-US" sz="2800" dirty="0"/>
              <a:t>radio signal attenuates as it propagates through matter (path loss)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interference from other sources: </a:t>
            </a:r>
            <a:r>
              <a:rPr lang="en-US" sz="2800" dirty="0"/>
              <a:t>wireless network frequencies (e.g., 2.4 GHz) shared by many devices (e.g., WiFi, cellular, motors): interference 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arriving at destination at slightly different times</a:t>
            </a:r>
            <a:endParaRPr lang="en-US" sz="2400" dirty="0">
              <a:latin typeface="Gill Sans MT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992FD76-512B-E84B-B939-DE71C8F67B90}"/>
              </a:ext>
            </a:extLst>
          </p:cNvPr>
          <p:cNvSpPr txBox="1">
            <a:spLocks noChangeArrowheads="1"/>
          </p:cNvSpPr>
          <p:nvPr/>
        </p:nvSpPr>
        <p:spPr>
          <a:xfrm>
            <a:off x="903514" y="5730422"/>
            <a:ext cx="10744200" cy="9098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dirty="0"/>
              <a:t>…. make communication across (even a point to point) wireless link much more “difficult” </a:t>
            </a:r>
          </a:p>
          <a:p>
            <a:pPr>
              <a:lnSpc>
                <a:spcPct val="80000"/>
              </a:lnSpc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9" name="Oval 23">
            <a:extLst>
              <a:ext uri="{FF2B5EF4-FFF2-40B4-BE49-F238E27FC236}">
                <a16:creationId xmlns:a16="http://schemas.microsoft.com/office/drawing/2014/main" id="{7FC0F7EA-C168-5C43-92C7-36183C350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171" y="3641953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" name="Group 361">
            <a:extLst>
              <a:ext uri="{FF2B5EF4-FFF2-40B4-BE49-F238E27FC236}">
                <a16:creationId xmlns:a16="http://schemas.microsoft.com/office/drawing/2014/main" id="{CA4E41DB-C3BF-754F-B3FD-42D7C8192B4E}"/>
              </a:ext>
            </a:extLst>
          </p:cNvPr>
          <p:cNvGrpSpPr>
            <a:grpSpLocks/>
          </p:cNvGrpSpPr>
          <p:nvPr/>
        </p:nvGrpSpPr>
        <p:grpSpPr bwMode="auto">
          <a:xfrm>
            <a:off x="10627859" y="3803878"/>
            <a:ext cx="396875" cy="388937"/>
            <a:chOff x="2967" y="478"/>
            <a:chExt cx="788" cy="625"/>
          </a:xfrm>
        </p:grpSpPr>
        <p:pic>
          <p:nvPicPr>
            <p:cNvPr id="11" name="Picture 358" descr="access_point_stylized_small">
              <a:extLst>
                <a:ext uri="{FF2B5EF4-FFF2-40B4-BE49-F238E27FC236}">
                  <a16:creationId xmlns:a16="http://schemas.microsoft.com/office/drawing/2014/main" id="{7DF169CF-1C72-344B-B228-3F02D0892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360" descr="antenna_radiation_stylized">
              <a:extLst>
                <a:ext uri="{FF2B5EF4-FFF2-40B4-BE49-F238E27FC236}">
                  <a16:creationId xmlns:a16="http://schemas.microsoft.com/office/drawing/2014/main" id="{B49C1E58-3474-4343-876E-10403D9BF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4ACBFC0D-7BA8-A641-A706-B652FD9C5CF9}"/>
              </a:ext>
            </a:extLst>
          </p:cNvPr>
          <p:cNvGrpSpPr>
            <a:grpSpLocks/>
          </p:cNvGrpSpPr>
          <p:nvPr/>
        </p:nvGrpSpPr>
        <p:grpSpPr bwMode="auto">
          <a:xfrm>
            <a:off x="10465934" y="4251553"/>
            <a:ext cx="282575" cy="344487"/>
            <a:chOff x="313" y="1497"/>
            <a:chExt cx="1152" cy="1014"/>
          </a:xfrm>
        </p:grpSpPr>
        <p:pic>
          <p:nvPicPr>
            <p:cNvPr id="14" name="Picture 354" descr="laptop_stylized_small">
              <a:extLst>
                <a:ext uri="{FF2B5EF4-FFF2-40B4-BE49-F238E27FC236}">
                  <a16:creationId xmlns:a16="http://schemas.microsoft.com/office/drawing/2014/main" id="{9EC56450-23F5-B846-809F-BFDEF8451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355" descr="antenna_stylized">
              <a:extLst>
                <a:ext uri="{FF2B5EF4-FFF2-40B4-BE49-F238E27FC236}">
                  <a16:creationId xmlns:a16="http://schemas.microsoft.com/office/drawing/2014/main" id="{956C6156-D2A9-6A4E-AD6F-BF28582891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Group 403">
            <a:extLst>
              <a:ext uri="{FF2B5EF4-FFF2-40B4-BE49-F238E27FC236}">
                <a16:creationId xmlns:a16="http://schemas.microsoft.com/office/drawing/2014/main" id="{BDE0FABA-BD8D-704D-8CDD-E8583DC470D7}"/>
              </a:ext>
            </a:extLst>
          </p:cNvPr>
          <p:cNvGrpSpPr>
            <a:grpSpLocks/>
          </p:cNvGrpSpPr>
          <p:nvPr/>
        </p:nvGrpSpPr>
        <p:grpSpPr bwMode="auto">
          <a:xfrm>
            <a:off x="10172246" y="3916590"/>
            <a:ext cx="444500" cy="381000"/>
            <a:chOff x="2751" y="1851"/>
            <a:chExt cx="462" cy="478"/>
          </a:xfrm>
        </p:grpSpPr>
        <p:pic>
          <p:nvPicPr>
            <p:cNvPr id="18" name="Picture 364" descr="iphone_stylized_small">
              <a:extLst>
                <a:ext uri="{FF2B5EF4-FFF2-40B4-BE49-F238E27FC236}">
                  <a16:creationId xmlns:a16="http://schemas.microsoft.com/office/drawing/2014/main" id="{79C4DC6A-0F87-2542-AA7E-935459301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402" descr="antenna_radiation_stylized">
              <a:extLst>
                <a:ext uri="{FF2B5EF4-FFF2-40B4-BE49-F238E27FC236}">
                  <a16:creationId xmlns:a16="http://schemas.microsoft.com/office/drawing/2014/main" id="{F8EF7465-D519-A240-B61A-919072E48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DEFB5D1-6B3F-0B46-8C20-68D79A867CB7}"/>
              </a:ext>
            </a:extLst>
          </p:cNvPr>
          <p:cNvGrpSpPr/>
          <p:nvPr/>
        </p:nvGrpSpPr>
        <p:grpSpPr>
          <a:xfrm>
            <a:off x="9446533" y="920525"/>
            <a:ext cx="2252663" cy="2286000"/>
            <a:chOff x="9207046" y="898753"/>
            <a:chExt cx="2252663" cy="2286000"/>
          </a:xfrm>
        </p:grpSpPr>
        <p:sp>
          <p:nvSpPr>
            <p:cNvPr id="7" name="Oval 11">
              <a:extLst>
                <a:ext uri="{FF2B5EF4-FFF2-40B4-BE49-F238E27FC236}">
                  <a16:creationId xmlns:a16="http://schemas.microsoft.com/office/drawing/2014/main" id="{87863D1F-3CB8-804A-9DA0-16E7A40B3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046" y="898753"/>
              <a:ext cx="2252663" cy="2286000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" name="Group 142">
              <a:extLst>
                <a:ext uri="{FF2B5EF4-FFF2-40B4-BE49-F238E27FC236}">
                  <a16:creationId xmlns:a16="http://schemas.microsoft.com/office/drawing/2014/main" id="{B3D271F8-8BB4-694E-9718-1F7699F26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30971" y="1579790"/>
              <a:ext cx="458788" cy="619125"/>
              <a:chOff x="5955030" y="3031808"/>
              <a:chExt cx="914400" cy="1398587"/>
            </a:xfrm>
          </p:grpSpPr>
          <p:grpSp>
            <p:nvGrpSpPr>
              <p:cNvPr id="21" name="Group 398">
                <a:extLst>
                  <a:ext uri="{FF2B5EF4-FFF2-40B4-BE49-F238E27FC236}">
                    <a16:creationId xmlns:a16="http://schemas.microsoft.com/office/drawing/2014/main" id="{FDD37B49-940C-2E45-B6F9-5CF4A4CCE9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97905" y="3403283"/>
                <a:ext cx="596900" cy="1027112"/>
                <a:chOff x="3130" y="3288"/>
                <a:chExt cx="410" cy="742"/>
              </a:xfrm>
            </p:grpSpPr>
            <p:sp>
              <p:nvSpPr>
                <p:cNvPr id="23" name="Line 270">
                  <a:extLst>
                    <a:ext uri="{FF2B5EF4-FFF2-40B4-BE49-F238E27FC236}">
                      <a16:creationId xmlns:a16="http://schemas.microsoft.com/office/drawing/2014/main" id="{420F385A-2B2C-F945-AE59-291683276F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" name="Line 271">
                  <a:extLst>
                    <a:ext uri="{FF2B5EF4-FFF2-40B4-BE49-F238E27FC236}">
                      <a16:creationId xmlns:a16="http://schemas.microsoft.com/office/drawing/2014/main" id="{FB930B63-E951-1647-9E4B-1D6766758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" name="Line 272">
                  <a:extLst>
                    <a:ext uri="{FF2B5EF4-FFF2-40B4-BE49-F238E27FC236}">
                      <a16:creationId xmlns:a16="http://schemas.microsoft.com/office/drawing/2014/main" id="{482308B9-767C-FD4B-BB43-24B5B2DA54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" name="Line 273">
                  <a:extLst>
                    <a:ext uri="{FF2B5EF4-FFF2-40B4-BE49-F238E27FC236}">
                      <a16:creationId xmlns:a16="http://schemas.microsoft.com/office/drawing/2014/main" id="{22E85B46-FAE4-8E46-AD05-AF4F34719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" name="Line 274">
                  <a:extLst>
                    <a:ext uri="{FF2B5EF4-FFF2-40B4-BE49-F238E27FC236}">
                      <a16:creationId xmlns:a16="http://schemas.microsoft.com/office/drawing/2014/main" id="{5FF6D033-3E2B-4246-BC26-4717A1029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" name="Line 275">
                  <a:extLst>
                    <a:ext uri="{FF2B5EF4-FFF2-40B4-BE49-F238E27FC236}">
                      <a16:creationId xmlns:a16="http://schemas.microsoft.com/office/drawing/2014/main" id="{37D05200-53F1-1B40-AB96-6C4685F2F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" name="Line 276">
                  <a:extLst>
                    <a:ext uri="{FF2B5EF4-FFF2-40B4-BE49-F238E27FC236}">
                      <a16:creationId xmlns:a16="http://schemas.microsoft.com/office/drawing/2014/main" id="{4D4BA498-26CC-4548-995F-228395151A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" name="Line 277">
                  <a:extLst>
                    <a:ext uri="{FF2B5EF4-FFF2-40B4-BE49-F238E27FC236}">
                      <a16:creationId xmlns:a16="http://schemas.microsoft.com/office/drawing/2014/main" id="{18DCCE67-BB0B-3444-B37D-6765C672A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" name="Line 278">
                  <a:extLst>
                    <a:ext uri="{FF2B5EF4-FFF2-40B4-BE49-F238E27FC236}">
                      <a16:creationId xmlns:a16="http://schemas.microsoft.com/office/drawing/2014/main" id="{888C4834-47AB-9649-A0D5-33449537CD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" name="Line 279">
                  <a:extLst>
                    <a:ext uri="{FF2B5EF4-FFF2-40B4-BE49-F238E27FC236}">
                      <a16:creationId xmlns:a16="http://schemas.microsoft.com/office/drawing/2014/main" id="{F7EE2BAF-D7B8-864B-B927-9D8500AB9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" name="Line 280">
                  <a:extLst>
                    <a:ext uri="{FF2B5EF4-FFF2-40B4-BE49-F238E27FC236}">
                      <a16:creationId xmlns:a16="http://schemas.microsoft.com/office/drawing/2014/main" id="{EE3D50BE-644C-DD4A-B5CC-71C1D5382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" name="Line 281">
                  <a:extLst>
                    <a:ext uri="{FF2B5EF4-FFF2-40B4-BE49-F238E27FC236}">
                      <a16:creationId xmlns:a16="http://schemas.microsoft.com/office/drawing/2014/main" id="{7124E411-95C0-394A-A67F-B97767953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" name="Line 282">
                  <a:extLst>
                    <a:ext uri="{FF2B5EF4-FFF2-40B4-BE49-F238E27FC236}">
                      <a16:creationId xmlns:a16="http://schemas.microsoft.com/office/drawing/2014/main" id="{57CBCE4E-F91A-CB46-A45E-56D3C007C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" name="Line 283">
                  <a:extLst>
                    <a:ext uri="{FF2B5EF4-FFF2-40B4-BE49-F238E27FC236}">
                      <a16:creationId xmlns:a16="http://schemas.microsoft.com/office/drawing/2014/main" id="{141B4366-0F4C-4444-B880-CB1AB5978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" name="Line 284">
                  <a:extLst>
                    <a:ext uri="{FF2B5EF4-FFF2-40B4-BE49-F238E27FC236}">
                      <a16:creationId xmlns:a16="http://schemas.microsoft.com/office/drawing/2014/main" id="{36748B7E-54E6-B04F-A512-CC63D7DD7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pic>
            <p:nvPicPr>
              <p:cNvPr id="22" name="Picture 399" descr="cell_tower_radiation copy">
                <a:extLst>
                  <a:ext uri="{FF2B5EF4-FFF2-40B4-BE49-F238E27FC236}">
                    <a16:creationId xmlns:a16="http://schemas.microsoft.com/office/drawing/2014/main" id="{ECEABF17-10A4-8745-9AE5-071F423A7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55030" y="3031808"/>
                <a:ext cx="914400" cy="736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" name="Group 356">
              <a:extLst>
                <a:ext uri="{FF2B5EF4-FFF2-40B4-BE49-F238E27FC236}">
                  <a16:creationId xmlns:a16="http://schemas.microsoft.com/office/drawing/2014/main" id="{D06F6763-B75A-104E-8FBC-8EB416C0B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9134" y="1711553"/>
              <a:ext cx="465137" cy="481012"/>
              <a:chOff x="313" y="1497"/>
              <a:chExt cx="1152" cy="1014"/>
            </a:xfrm>
          </p:grpSpPr>
          <p:pic>
            <p:nvPicPr>
              <p:cNvPr id="39" name="Picture 354" descr="laptop_stylized_small">
                <a:extLst>
                  <a:ext uri="{FF2B5EF4-FFF2-40B4-BE49-F238E27FC236}">
                    <a16:creationId xmlns:a16="http://schemas.microsoft.com/office/drawing/2014/main" id="{5AE8BC75-02BF-3843-B6F2-822B5DD94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355" descr="antenna_stylized">
                <a:extLst>
                  <a:ext uri="{FF2B5EF4-FFF2-40B4-BE49-F238E27FC236}">
                    <a16:creationId xmlns:a16="http://schemas.microsoft.com/office/drawing/2014/main" id="{A8D09289-FB59-0D44-AE44-BF5547A9B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" name="Group 356">
              <a:extLst>
                <a:ext uri="{FF2B5EF4-FFF2-40B4-BE49-F238E27FC236}">
                  <a16:creationId xmlns:a16="http://schemas.microsoft.com/office/drawing/2014/main" id="{F2DE4AA5-6C17-EC4E-8340-14A691D0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1184" y="2510065"/>
              <a:ext cx="333375" cy="368300"/>
              <a:chOff x="313" y="1497"/>
              <a:chExt cx="1152" cy="1014"/>
            </a:xfrm>
          </p:grpSpPr>
          <p:pic>
            <p:nvPicPr>
              <p:cNvPr id="42" name="Picture 354" descr="laptop_stylized_small">
                <a:extLst>
                  <a:ext uri="{FF2B5EF4-FFF2-40B4-BE49-F238E27FC236}">
                    <a16:creationId xmlns:a16="http://schemas.microsoft.com/office/drawing/2014/main" id="{681AE744-8DB6-FE41-B669-2ADAD6D0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355" descr="antenna_stylized">
                <a:extLst>
                  <a:ext uri="{FF2B5EF4-FFF2-40B4-BE49-F238E27FC236}">
                    <a16:creationId xmlns:a16="http://schemas.microsoft.com/office/drawing/2014/main" id="{25DE33DC-A3FE-C944-B7C9-4B048CA3A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" name="Group 356">
              <a:extLst>
                <a:ext uri="{FF2B5EF4-FFF2-40B4-BE49-F238E27FC236}">
                  <a16:creationId xmlns:a16="http://schemas.microsoft.com/office/drawing/2014/main" id="{89E881C8-84AC-A942-8E4E-F7A56D5A6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38896" y="2595790"/>
              <a:ext cx="282575" cy="344488"/>
              <a:chOff x="313" y="1497"/>
              <a:chExt cx="1152" cy="1014"/>
            </a:xfrm>
          </p:grpSpPr>
          <p:pic>
            <p:nvPicPr>
              <p:cNvPr id="45" name="Picture 354" descr="laptop_stylized_small">
                <a:extLst>
                  <a:ext uri="{FF2B5EF4-FFF2-40B4-BE49-F238E27FC236}">
                    <a16:creationId xmlns:a16="http://schemas.microsoft.com/office/drawing/2014/main" id="{E9D22312-2AF1-274F-A3CB-4C593D561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55" descr="antenna_stylized">
                <a:extLst>
                  <a:ext uri="{FF2B5EF4-FFF2-40B4-BE49-F238E27FC236}">
                    <a16:creationId xmlns:a16="http://schemas.microsoft.com/office/drawing/2014/main" id="{53BFFEBA-A30F-384B-938A-1E90C613E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7" name="Group 403">
              <a:extLst>
                <a:ext uri="{FF2B5EF4-FFF2-40B4-BE49-F238E27FC236}">
                  <a16:creationId xmlns:a16="http://schemas.microsoft.com/office/drawing/2014/main" id="{37DAC804-B2BF-BF4D-8F02-35471EAC2C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45209" y="2259240"/>
              <a:ext cx="444500" cy="382588"/>
              <a:chOff x="2751" y="1851"/>
              <a:chExt cx="462" cy="478"/>
            </a:xfrm>
          </p:grpSpPr>
          <p:pic>
            <p:nvPicPr>
              <p:cNvPr id="48" name="Picture 364" descr="iphone_stylized_small">
                <a:extLst>
                  <a:ext uri="{FF2B5EF4-FFF2-40B4-BE49-F238E27FC236}">
                    <a16:creationId xmlns:a16="http://schemas.microsoft.com/office/drawing/2014/main" id="{58EA841C-5109-5246-8882-B0D1EEC15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402" descr="antenna_radiation_stylized">
                <a:extLst>
                  <a:ext uri="{FF2B5EF4-FFF2-40B4-BE49-F238E27FC236}">
                    <a16:creationId xmlns:a16="http://schemas.microsoft.com/office/drawing/2014/main" id="{FC444AB2-3397-C44A-8111-C3861E616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0" name="Group 356">
              <a:extLst>
                <a:ext uri="{FF2B5EF4-FFF2-40B4-BE49-F238E27FC236}">
                  <a16:creationId xmlns:a16="http://schemas.microsoft.com/office/drawing/2014/main" id="{9190449E-CDC7-354F-9120-5076AA9CE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21446" y="1009878"/>
              <a:ext cx="446088" cy="385762"/>
              <a:chOff x="313" y="1497"/>
              <a:chExt cx="1152" cy="1014"/>
            </a:xfrm>
          </p:grpSpPr>
          <p:pic>
            <p:nvPicPr>
              <p:cNvPr id="51" name="Picture 354" descr="laptop_stylized_small">
                <a:extLst>
                  <a:ext uri="{FF2B5EF4-FFF2-40B4-BE49-F238E27FC236}">
                    <a16:creationId xmlns:a16="http://schemas.microsoft.com/office/drawing/2014/main" id="{3BB423B6-FB87-0149-9609-08221A01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" name="Picture 355" descr="antenna_stylized">
                <a:extLst>
                  <a:ext uri="{FF2B5EF4-FFF2-40B4-BE49-F238E27FC236}">
                    <a16:creationId xmlns:a16="http://schemas.microsoft.com/office/drawing/2014/main" id="{3A75978A-AF68-5249-A018-0CE8801BF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" name="Group 403">
              <a:extLst>
                <a:ext uri="{FF2B5EF4-FFF2-40B4-BE49-F238E27FC236}">
                  <a16:creationId xmlns:a16="http://schemas.microsoft.com/office/drawing/2014/main" id="{2118637E-B3EA-D944-B0BD-5E6EDD595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8171" y="2138590"/>
              <a:ext cx="446088" cy="381000"/>
              <a:chOff x="2751" y="1851"/>
              <a:chExt cx="462" cy="478"/>
            </a:xfrm>
          </p:grpSpPr>
          <p:pic>
            <p:nvPicPr>
              <p:cNvPr id="54" name="Picture 364" descr="iphone_stylized_small">
                <a:extLst>
                  <a:ext uri="{FF2B5EF4-FFF2-40B4-BE49-F238E27FC236}">
                    <a16:creationId xmlns:a16="http://schemas.microsoft.com/office/drawing/2014/main" id="{6BFF30AB-36A1-CC4D-8B1A-F9F0070D2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402" descr="antenna_radiation_stylized">
                <a:extLst>
                  <a:ext uri="{FF2B5EF4-FFF2-40B4-BE49-F238E27FC236}">
                    <a16:creationId xmlns:a16="http://schemas.microsoft.com/office/drawing/2014/main" id="{2CB8C32F-20BD-E449-89F5-3FE5AD9C7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359280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(2)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3200" kern="0" dirty="0">
                <a:cs typeface="+mn-cs"/>
              </a:rPr>
              <a:t>SNR: signal-to-noise ratio</a:t>
            </a:r>
          </a:p>
          <a:p>
            <a:pPr lvl="1">
              <a:defRPr/>
            </a:pPr>
            <a:r>
              <a:rPr lang="en-US" sz="2800" kern="0" dirty="0"/>
              <a:t>larger SNR – easier to extract signal from noise (a “good thing”)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versus BER tradeoffs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physical layer:</a:t>
            </a:r>
            <a:r>
              <a:rPr lang="en-US" sz="2800" kern="0" dirty="0"/>
              <a:t> increase power -&gt; increase SNR-&gt;decrease BER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SNR:</a:t>
            </a:r>
            <a:r>
              <a:rPr lang="en-US" sz="2800" kern="0" dirty="0"/>
              <a:t> choose physical layer that meets BER requirement, giving highest throughput</a:t>
            </a:r>
          </a:p>
          <a:p>
            <a:pPr lvl="2">
              <a:lnSpc>
                <a:spcPct val="90000"/>
              </a:lnSpc>
              <a:defRPr/>
            </a:pPr>
            <a:r>
              <a:rPr lang="en-US" sz="2400" kern="0" dirty="0">
                <a:latin typeface="+mn-lt"/>
              </a:rPr>
              <a:t>SNR may change with mobility: dynamically adapt physical layer (modulation technique, rate)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(3)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491706" y="2438400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0" name="Rectangle 3">
            <a:extLst>
              <a:ext uri="{FF2B5EF4-FFF2-40B4-BE49-F238E27FC236}">
                <a16:creationId xmlns:a16="http://schemas.microsoft.com/office/drawing/2014/main" id="{4AD8F5D1-59E7-D844-8D3D-C5920FBFB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" y="1150938"/>
            <a:ext cx="109410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Multiple wireless senders, receivers create additional problems (beyond multiple access):</a:t>
            </a:r>
          </a:p>
        </p:txBody>
      </p: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026443" y="2281237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99618" y="3495675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2718" y="3016250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8556" y="3387725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881" y="3160712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9556" y="2455862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200" y="4246562"/>
            <a:ext cx="5372099" cy="2241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Hidden terminal problem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A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C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A, C can not hear each other means A, C unaware of their interference at B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8" name="Text Box 47">
            <a:extLst>
              <a:ext uri="{FF2B5EF4-FFF2-40B4-BE49-F238E27FC236}">
                <a16:creationId xmlns:a16="http://schemas.microsoft.com/office/drawing/2014/main" id="{B8F31A07-848A-D74E-8DBD-79B37EA17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2127250"/>
            <a:ext cx="3508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9" name="Text Box 48">
            <a:extLst>
              <a:ext uri="{FF2B5EF4-FFF2-40B4-BE49-F238E27FC236}">
                <a16:creationId xmlns:a16="http://schemas.microsoft.com/office/drawing/2014/main" id="{C56F1E10-F34C-5843-B22F-044D7AE1A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3038" y="2124075"/>
            <a:ext cx="3286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8E660AD6-612A-EF49-8651-60E1F65684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4138" y="2166938"/>
            <a:ext cx="350837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21" name="Text Box 55">
            <a:extLst>
              <a:ext uri="{FF2B5EF4-FFF2-40B4-BE49-F238E27FC236}">
                <a16:creationId xmlns:a16="http://schemas.microsoft.com/office/drawing/2014/main" id="{64FC93FB-1EDD-AE49-90C3-D92B5ADF9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300" y="2954338"/>
            <a:ext cx="9366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  <a:r>
              <a:rPr lang="ja-JP" altLang="en-US" sz="1400">
                <a:solidFill>
                  <a:srgbClr val="FF0000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2" name="Line 60">
            <a:extLst>
              <a:ext uri="{FF2B5EF4-FFF2-40B4-BE49-F238E27FC236}">
                <a16:creationId xmlns:a16="http://schemas.microsoft.com/office/drawing/2014/main" id="{FABA226A-B439-064D-8234-9686E5506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8213" y="3983038"/>
            <a:ext cx="3263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Line 61">
            <a:extLst>
              <a:ext uri="{FF2B5EF4-FFF2-40B4-BE49-F238E27FC236}">
                <a16:creationId xmlns:a16="http://schemas.microsoft.com/office/drawing/2014/main" id="{22C32468-EE2B-2E4C-B22A-60D2BC6BF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4238" y="2803525"/>
            <a:ext cx="0" cy="1138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Freeform 62">
            <a:extLst>
              <a:ext uri="{FF2B5EF4-FFF2-40B4-BE49-F238E27FC236}">
                <a16:creationId xmlns:a16="http://schemas.microsoft.com/office/drawing/2014/main" id="{4A0B08BE-766C-DE4A-820F-57A89FD06857}"/>
              </a:ext>
            </a:extLst>
          </p:cNvPr>
          <p:cNvSpPr>
            <a:spLocks/>
          </p:cNvSpPr>
          <p:nvPr/>
        </p:nvSpPr>
        <p:spPr bwMode="auto">
          <a:xfrm>
            <a:off x="7316788" y="2859088"/>
            <a:ext cx="2995612" cy="1081087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5" name="Text Box 63">
            <a:extLst>
              <a:ext uri="{FF2B5EF4-FFF2-40B4-BE49-F238E27FC236}">
                <a16:creationId xmlns:a16="http://schemas.microsoft.com/office/drawing/2014/main" id="{F540644C-8058-2E44-97EC-92D26AD8F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0" y="3946525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sp>
        <p:nvSpPr>
          <p:cNvPr id="126" name="Freeform 65">
            <a:extLst>
              <a:ext uri="{FF2B5EF4-FFF2-40B4-BE49-F238E27FC236}">
                <a16:creationId xmlns:a16="http://schemas.microsoft.com/office/drawing/2014/main" id="{C12F975E-D1B5-414F-8341-03DCBA174B3E}"/>
              </a:ext>
            </a:extLst>
          </p:cNvPr>
          <p:cNvSpPr>
            <a:spLocks/>
          </p:cNvSpPr>
          <p:nvPr/>
        </p:nvSpPr>
        <p:spPr bwMode="auto">
          <a:xfrm flipH="1">
            <a:off x="7412038" y="2828925"/>
            <a:ext cx="2995612" cy="1081088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Text Box 66">
            <a:extLst>
              <a:ext uri="{FF2B5EF4-FFF2-40B4-BE49-F238E27FC236}">
                <a16:creationId xmlns:a16="http://schemas.microsoft.com/office/drawing/2014/main" id="{65ACABD3-44F1-4A49-8D29-DA46DD5FE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2882900"/>
            <a:ext cx="9588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C</a:t>
            </a:r>
            <a:r>
              <a:rPr lang="ja-JP" altLang="en-US" sz="1400">
                <a:solidFill>
                  <a:srgbClr val="3333CC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8" name="Line 67">
            <a:extLst>
              <a:ext uri="{FF2B5EF4-FFF2-40B4-BE49-F238E27FC236}">
                <a16:creationId xmlns:a16="http://schemas.microsoft.com/office/drawing/2014/main" id="{FA65E92F-3E66-5349-83A8-F1F9788C64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13650" y="2690813"/>
            <a:ext cx="26988" cy="12636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68">
            <a:extLst>
              <a:ext uri="{FF2B5EF4-FFF2-40B4-BE49-F238E27FC236}">
                <a16:creationId xmlns:a16="http://schemas.microsoft.com/office/drawing/2014/main" id="{FC263470-E015-7A4B-8414-9AF10F248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4438" y="2759075"/>
            <a:ext cx="0" cy="12080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69">
            <a:extLst>
              <a:ext uri="{FF2B5EF4-FFF2-40B4-BE49-F238E27FC236}">
                <a16:creationId xmlns:a16="http://schemas.microsoft.com/office/drawing/2014/main" id="{582AF92B-D547-DD40-BF8A-97F1F22001C1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5525" y="2743200"/>
            <a:ext cx="0" cy="118110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253706" y="2987675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729706" y="3128962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7" name="Group 356">
            <a:extLst>
              <a:ext uri="{FF2B5EF4-FFF2-40B4-BE49-F238E27FC236}">
                <a16:creationId xmlns:a16="http://schemas.microsoft.com/office/drawing/2014/main" id="{CB7E2FE1-4A7B-C84A-BAD4-7D682114705F}"/>
              </a:ext>
            </a:extLst>
          </p:cNvPr>
          <p:cNvGrpSpPr>
            <a:grpSpLocks/>
          </p:cNvGrpSpPr>
          <p:nvPr/>
        </p:nvGrpSpPr>
        <p:grpSpPr bwMode="auto">
          <a:xfrm>
            <a:off x="7340600" y="1989138"/>
            <a:ext cx="627063" cy="642937"/>
            <a:chOff x="313" y="1497"/>
            <a:chExt cx="1152" cy="1014"/>
          </a:xfrm>
        </p:grpSpPr>
        <p:pic>
          <p:nvPicPr>
            <p:cNvPr id="138" name="Picture 354" descr="laptop_stylized_small">
              <a:extLst>
                <a:ext uri="{FF2B5EF4-FFF2-40B4-BE49-F238E27FC236}">
                  <a16:creationId xmlns:a16="http://schemas.microsoft.com/office/drawing/2014/main" id="{AA79C3F4-46C7-0349-85E1-BA552B997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55" descr="antenna_stylized">
              <a:extLst>
                <a:ext uri="{FF2B5EF4-FFF2-40B4-BE49-F238E27FC236}">
                  <a16:creationId xmlns:a16="http://schemas.microsoft.com/office/drawing/2014/main" id="{4E6FF8B2-4F7E-B945-BE46-C86EBBCBE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0" name="Group 356">
            <a:extLst>
              <a:ext uri="{FF2B5EF4-FFF2-40B4-BE49-F238E27FC236}">
                <a16:creationId xmlns:a16="http://schemas.microsoft.com/office/drawing/2014/main" id="{D72B8EE2-805B-4341-8FF7-2156BB1248A0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2028825"/>
            <a:ext cx="627062" cy="644525"/>
            <a:chOff x="313" y="1497"/>
            <a:chExt cx="1152" cy="1014"/>
          </a:xfrm>
        </p:grpSpPr>
        <p:pic>
          <p:nvPicPr>
            <p:cNvPr id="141" name="Picture 354" descr="laptop_stylized_small">
              <a:extLst>
                <a:ext uri="{FF2B5EF4-FFF2-40B4-BE49-F238E27FC236}">
                  <a16:creationId xmlns:a16="http://schemas.microsoft.com/office/drawing/2014/main" id="{293E3A24-0E7E-C64F-AE1D-F2A4EBBDD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355" descr="antenna_stylized">
              <a:extLst>
                <a:ext uri="{FF2B5EF4-FFF2-40B4-BE49-F238E27FC236}">
                  <a16:creationId xmlns:a16="http://schemas.microsoft.com/office/drawing/2014/main" id="{456A11D2-A09B-574E-BA78-CF1896EC1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4292600"/>
            <a:ext cx="4884737" cy="20759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solidFill>
                  <a:srgbClr val="C00000"/>
                </a:solidFill>
                <a:cs typeface="+mn-cs"/>
              </a:rPr>
              <a:t>Signal attenuation: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A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C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A, C can not hear each other interfering at B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19" grpId="0"/>
      <p:bldP spid="120" grpId="0"/>
      <p:bldP spid="121" grpId="0"/>
      <p:bldP spid="124" grpId="0" animBg="1"/>
      <p:bldP spid="125" grpId="0"/>
      <p:bldP spid="126" grpId="0" animBg="1"/>
      <p:bldP spid="127" grpId="0"/>
      <p:bldP spid="146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Code Division Multiple Access (CDMA)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718" name="Rectangle 3">
            <a:extLst>
              <a:ext uri="{FF2B5EF4-FFF2-40B4-BE49-F238E27FC236}">
                <a16:creationId xmlns:a16="http://schemas.microsoft.com/office/drawing/2014/main" id="{953F996D-330A-8747-94AD-947138A1EE45}"/>
              </a:ext>
            </a:extLst>
          </p:cNvPr>
          <p:cNvSpPr txBox="1">
            <a:spLocks noChangeArrowheads="1"/>
          </p:cNvSpPr>
          <p:nvPr/>
        </p:nvSpPr>
        <p:spPr>
          <a:xfrm>
            <a:off x="762289" y="1306802"/>
            <a:ext cx="1062614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lnSpc>
                <a:spcPct val="100000"/>
              </a:lnSpc>
              <a:defRPr/>
            </a:pPr>
            <a:r>
              <a:rPr lang="en-US" sz="3200" dirty="0"/>
              <a:t>unique </a:t>
            </a:r>
            <a:r>
              <a:rPr lang="en-US" altLang="ja-JP" sz="3200" dirty="0"/>
              <a:t>“</a:t>
            </a:r>
            <a:r>
              <a:rPr lang="en-US" sz="3200" dirty="0"/>
              <a:t>code</a:t>
            </a:r>
            <a:r>
              <a:rPr lang="en-US" altLang="ja-JP" sz="3200" dirty="0"/>
              <a:t>”</a:t>
            </a:r>
            <a:r>
              <a:rPr lang="en-US" sz="3200" dirty="0"/>
              <a:t> assigned to each user; i.e., code set partitioning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users share same frequency, but each user has own </a:t>
            </a:r>
            <a:r>
              <a:rPr lang="en-US" altLang="ja-JP" sz="2800" dirty="0"/>
              <a:t>“</a:t>
            </a:r>
            <a:r>
              <a:rPr lang="en-US" sz="2800" dirty="0"/>
              <a:t>chipping</a:t>
            </a:r>
            <a:r>
              <a:rPr lang="en-US" altLang="ja-JP" sz="2800" dirty="0"/>
              <a:t>”</a:t>
            </a:r>
            <a:r>
              <a:rPr lang="en-US" sz="2800" dirty="0"/>
              <a:t> sequence (i.e., code) to encode data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allows multiple users to </a:t>
            </a:r>
            <a:r>
              <a:rPr lang="en-US" altLang="ja-JP" sz="2800" dirty="0"/>
              <a:t>“</a:t>
            </a:r>
            <a:r>
              <a:rPr lang="en-US" sz="2800" dirty="0"/>
              <a:t>coexist</a:t>
            </a:r>
            <a:r>
              <a:rPr lang="en-US" altLang="ja-JP" sz="2800" dirty="0"/>
              <a:t>”</a:t>
            </a:r>
            <a:r>
              <a:rPr lang="en-US" sz="2800" dirty="0"/>
              <a:t> and transmit simultaneously with minimal interference (if codes are “orthogonal”)</a:t>
            </a:r>
          </a:p>
          <a:p>
            <a:pPr indent="-3413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encoding: </a:t>
            </a:r>
            <a:r>
              <a:rPr lang="en-US" sz="3200" dirty="0"/>
              <a:t>inner product: </a:t>
            </a:r>
            <a:r>
              <a:rPr lang="en-US" dirty="0"/>
              <a:t>(original data) X (chipping sequence)</a:t>
            </a:r>
            <a:endParaRPr lang="en-US" sz="3200" dirty="0"/>
          </a:p>
          <a:p>
            <a:pPr marL="354013" indent="-3540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decoding: </a:t>
            </a:r>
            <a:r>
              <a:rPr lang="en-US" dirty="0"/>
              <a:t>summed </a:t>
            </a:r>
            <a:r>
              <a:rPr lang="en-US" sz="3200" dirty="0"/>
              <a:t>inner-product: </a:t>
            </a:r>
            <a:r>
              <a:rPr lang="en-US" dirty="0"/>
              <a:t>(encoded data) X (chipping sequence)</a:t>
            </a:r>
            <a:endParaRPr lang="en-US" sz="4800" dirty="0"/>
          </a:p>
          <a:p>
            <a:pPr indent="-341313">
              <a:lnSpc>
                <a:spcPct val="100000"/>
              </a:lnSpc>
              <a:defRPr/>
            </a:pPr>
            <a:endParaRPr lang="en-US" sz="3200" dirty="0"/>
          </a:p>
          <a:p>
            <a:pPr>
              <a:lnSpc>
                <a:spcPct val="80000"/>
              </a:lnSpc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285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 encode/decode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33" name="Line 6">
            <a:extLst>
              <a:ext uri="{FF2B5EF4-FFF2-40B4-BE49-F238E27FC236}">
                <a16:creationId xmlns:a16="http://schemas.microsoft.com/office/drawing/2014/main" id="{7762FDF6-2446-3E43-8720-E7B7AA18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350" y="14107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4" name="Line 9">
            <a:extLst>
              <a:ext uri="{FF2B5EF4-FFF2-40B4-BE49-F238E27FC236}">
                <a16:creationId xmlns:a16="http://schemas.microsoft.com/office/drawing/2014/main" id="{7FF576EE-0D7F-AC4E-AD6B-1AACED803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386983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Text Box 10">
            <a:extLst>
              <a:ext uri="{FF2B5EF4-FFF2-40B4-BE49-F238E27FC236}">
                <a16:creationId xmlns:a16="http://schemas.microsoft.com/office/drawing/2014/main" id="{F21423CE-6E23-864D-AE72-4B27CF519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1088" y="2818908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436" name="Text Box 11">
            <a:extLst>
              <a:ext uri="{FF2B5EF4-FFF2-40B4-BE49-F238E27FC236}">
                <a16:creationId xmlns:a16="http://schemas.microsoft.com/office/drawing/2014/main" id="{A41B6EA9-EE6C-C949-81EA-16B63EA5A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0263" y="282367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grpSp>
        <p:nvGrpSpPr>
          <p:cNvPr id="437" name="Group 150">
            <a:extLst>
              <a:ext uri="{FF2B5EF4-FFF2-40B4-BE49-F238E27FC236}">
                <a16:creationId xmlns:a16="http://schemas.microsoft.com/office/drawing/2014/main" id="{6846776D-29A4-C047-BD8B-B36F67C3A5FE}"/>
              </a:ext>
            </a:extLst>
          </p:cNvPr>
          <p:cNvGrpSpPr>
            <a:grpSpLocks/>
          </p:cNvGrpSpPr>
          <p:nvPr/>
        </p:nvGrpSpPr>
        <p:grpSpPr bwMode="auto">
          <a:xfrm>
            <a:off x="3316288" y="1320308"/>
            <a:ext cx="1254125" cy="1624012"/>
            <a:chOff x="1313" y="921"/>
            <a:chExt cx="790" cy="1023"/>
          </a:xfrm>
        </p:grpSpPr>
        <p:sp>
          <p:nvSpPr>
            <p:cNvPr id="438" name="Line 5">
              <a:extLst>
                <a:ext uri="{FF2B5EF4-FFF2-40B4-BE49-F238E27FC236}">
                  <a16:creationId xmlns:a16="http://schemas.microsoft.com/office/drawing/2014/main" id="{298CDB05-EA65-C643-BE8E-B0FC9ED10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rgbClr val="33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12">
              <a:extLst>
                <a:ext uri="{FF2B5EF4-FFF2-40B4-BE49-F238E27FC236}">
                  <a16:creationId xmlns:a16="http://schemas.microsoft.com/office/drawing/2014/main" id="{73F94AD3-1AF6-7648-ACBC-E99C8304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Text Box 15">
              <a:extLst>
                <a:ext uri="{FF2B5EF4-FFF2-40B4-BE49-F238E27FC236}">
                  <a16:creationId xmlns:a16="http://schemas.microsoft.com/office/drawing/2014/main" id="{FDFC6C2A-B275-2E40-AB84-586BF299A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1194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  <p:grpSp>
          <p:nvGrpSpPr>
            <p:cNvPr id="441" name="Group 44">
              <a:extLst>
                <a:ext uri="{FF2B5EF4-FFF2-40B4-BE49-F238E27FC236}">
                  <a16:creationId xmlns:a16="http://schemas.microsoft.com/office/drawing/2014/main" id="{620B35C5-24A4-114D-85B0-D738F3EFE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442" name="Text Box 17">
                <a:extLst>
                  <a:ext uri="{FF2B5EF4-FFF2-40B4-BE49-F238E27FC236}">
                    <a16:creationId xmlns:a16="http://schemas.microsoft.com/office/drawing/2014/main" id="{D9299C94-75F7-9140-809B-1C978D457B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43" name="Group 22">
                <a:extLst>
                  <a:ext uri="{FF2B5EF4-FFF2-40B4-BE49-F238E27FC236}">
                    <a16:creationId xmlns:a16="http://schemas.microsoft.com/office/drawing/2014/main" id="{214F67F6-3FDE-8047-BC27-C89C3A746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65" name="Rectangle 18">
                  <a:extLst>
                    <a:ext uri="{FF2B5EF4-FFF2-40B4-BE49-F238E27FC236}">
                      <a16:creationId xmlns:a16="http://schemas.microsoft.com/office/drawing/2014/main" id="{F33FF9ED-6258-7C4C-8407-7E5188843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6" name="Line 20">
                  <a:extLst>
                    <a:ext uri="{FF2B5EF4-FFF2-40B4-BE49-F238E27FC236}">
                      <a16:creationId xmlns:a16="http://schemas.microsoft.com/office/drawing/2014/main" id="{8DAF169B-00F5-C44B-BE4B-053B39BF6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Line 21">
                  <a:extLst>
                    <a:ext uri="{FF2B5EF4-FFF2-40B4-BE49-F238E27FC236}">
                      <a16:creationId xmlns:a16="http://schemas.microsoft.com/office/drawing/2014/main" id="{4E33F495-B46C-9241-A64D-B0EF942E3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44" name="Group 23">
                <a:extLst>
                  <a:ext uri="{FF2B5EF4-FFF2-40B4-BE49-F238E27FC236}">
                    <a16:creationId xmlns:a16="http://schemas.microsoft.com/office/drawing/2014/main" id="{FAA1AE6D-1DD4-9945-A0CB-C68D4A348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62" name="Rectangle 24">
                  <a:extLst>
                    <a:ext uri="{FF2B5EF4-FFF2-40B4-BE49-F238E27FC236}">
                      <a16:creationId xmlns:a16="http://schemas.microsoft.com/office/drawing/2014/main" id="{1FCDE583-D600-254E-99DE-D2181719D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3" name="Line 25">
                  <a:extLst>
                    <a:ext uri="{FF2B5EF4-FFF2-40B4-BE49-F238E27FC236}">
                      <a16:creationId xmlns:a16="http://schemas.microsoft.com/office/drawing/2014/main" id="{C2051F1D-3C16-E547-A5D4-D8A4430C42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Line 26">
                  <a:extLst>
                    <a:ext uri="{FF2B5EF4-FFF2-40B4-BE49-F238E27FC236}">
                      <a16:creationId xmlns:a16="http://schemas.microsoft.com/office/drawing/2014/main" id="{17BF4814-60F3-AF49-9AB3-8BF777875C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45" name="Rectangle 27">
                <a:extLst>
                  <a:ext uri="{FF2B5EF4-FFF2-40B4-BE49-F238E27FC236}">
                    <a16:creationId xmlns:a16="http://schemas.microsoft.com/office/drawing/2014/main" id="{2F9F07B4-F807-DC43-81F3-2B98B5DD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Rectangle 28">
                <a:extLst>
                  <a:ext uri="{FF2B5EF4-FFF2-40B4-BE49-F238E27FC236}">
                    <a16:creationId xmlns:a16="http://schemas.microsoft.com/office/drawing/2014/main" id="{5D5AE67B-DA7D-4148-A6F1-6F2DAC8E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7" name="Text Box 29">
                <a:extLst>
                  <a:ext uri="{FF2B5EF4-FFF2-40B4-BE49-F238E27FC236}">
                    <a16:creationId xmlns:a16="http://schemas.microsoft.com/office/drawing/2014/main" id="{7D4ABC69-0943-C04C-8F80-0C2C27F97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8" name="Text Box 30">
                <a:extLst>
                  <a:ext uri="{FF2B5EF4-FFF2-40B4-BE49-F238E27FC236}">
                    <a16:creationId xmlns:a16="http://schemas.microsoft.com/office/drawing/2014/main" id="{FCAC0F1B-7D40-4D48-988E-62CA122B3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9" name="Text Box 31">
                <a:extLst>
                  <a:ext uri="{FF2B5EF4-FFF2-40B4-BE49-F238E27FC236}">
                    <a16:creationId xmlns:a16="http://schemas.microsoft.com/office/drawing/2014/main" id="{58D710FC-A6D0-DE48-8114-5D123595E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50" name="Group 34">
                <a:extLst>
                  <a:ext uri="{FF2B5EF4-FFF2-40B4-BE49-F238E27FC236}">
                    <a16:creationId xmlns:a16="http://schemas.microsoft.com/office/drawing/2014/main" id="{501B0E84-8694-EB45-A55B-2EC8DA94C2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60" name="Text Box 32">
                  <a:extLst>
                    <a:ext uri="{FF2B5EF4-FFF2-40B4-BE49-F238E27FC236}">
                      <a16:creationId xmlns:a16="http://schemas.microsoft.com/office/drawing/2014/main" id="{8089FA46-9789-8647-BC35-547EC4279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61" name="Text Box 33">
                  <a:extLst>
                    <a:ext uri="{FF2B5EF4-FFF2-40B4-BE49-F238E27FC236}">
                      <a16:creationId xmlns:a16="http://schemas.microsoft.com/office/drawing/2014/main" id="{D95592B2-E1FA-C74C-A9D9-834ECBACDA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1" name="Group 35">
                <a:extLst>
                  <a:ext uri="{FF2B5EF4-FFF2-40B4-BE49-F238E27FC236}">
                    <a16:creationId xmlns:a16="http://schemas.microsoft.com/office/drawing/2014/main" id="{63E295A7-CAC4-F042-A8A0-CCC2561BAD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58" name="Text Box 36">
                  <a:extLst>
                    <a:ext uri="{FF2B5EF4-FFF2-40B4-BE49-F238E27FC236}">
                      <a16:creationId xmlns:a16="http://schemas.microsoft.com/office/drawing/2014/main" id="{76BB4A8D-686F-7549-90E4-A7A4920687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9" name="Text Box 37">
                  <a:extLst>
                    <a:ext uri="{FF2B5EF4-FFF2-40B4-BE49-F238E27FC236}">
                      <a16:creationId xmlns:a16="http://schemas.microsoft.com/office/drawing/2014/main" id="{8B0DB3A2-A517-2745-8A5A-F945D68DA2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2" name="Group 38">
                <a:extLst>
                  <a:ext uri="{FF2B5EF4-FFF2-40B4-BE49-F238E27FC236}">
                    <a16:creationId xmlns:a16="http://schemas.microsoft.com/office/drawing/2014/main" id="{F32C298A-F2D4-554C-BB2B-99BB42898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56" name="Text Box 39">
                  <a:extLst>
                    <a:ext uri="{FF2B5EF4-FFF2-40B4-BE49-F238E27FC236}">
                      <a16:creationId xmlns:a16="http://schemas.microsoft.com/office/drawing/2014/main" id="{8FF829E5-BFCB-0044-9F06-4F7E546B13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7" name="Text Box 40">
                  <a:extLst>
                    <a:ext uri="{FF2B5EF4-FFF2-40B4-BE49-F238E27FC236}">
                      <a16:creationId xmlns:a16="http://schemas.microsoft.com/office/drawing/2014/main" id="{7C871CD8-B8EC-7543-B152-F90DC3DD4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3" name="Group 41">
                <a:extLst>
                  <a:ext uri="{FF2B5EF4-FFF2-40B4-BE49-F238E27FC236}">
                    <a16:creationId xmlns:a16="http://schemas.microsoft.com/office/drawing/2014/main" id="{F7ECB9A7-BD9E-5E4C-8270-1B0BCAEC87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54" name="Text Box 42">
                  <a:extLst>
                    <a:ext uri="{FF2B5EF4-FFF2-40B4-BE49-F238E27FC236}">
                      <a16:creationId xmlns:a16="http://schemas.microsoft.com/office/drawing/2014/main" id="{C7316287-4A39-D14E-8F12-0DA18DE15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5" name="Text Box 43">
                  <a:extLst>
                    <a:ext uri="{FF2B5EF4-FFF2-40B4-BE49-F238E27FC236}">
                      <a16:creationId xmlns:a16="http://schemas.microsoft.com/office/drawing/2014/main" id="{90338192-1AC0-F541-8076-9A2DA09835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468" name="Oval 74">
            <a:extLst>
              <a:ext uri="{FF2B5EF4-FFF2-40B4-BE49-F238E27FC236}">
                <a16:creationId xmlns:a16="http://schemas.microsoft.com/office/drawing/2014/main" id="{2E9A3032-BE8B-1C49-B0F1-EC8B694AF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1714008"/>
            <a:ext cx="419100" cy="423862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75">
            <a:extLst>
              <a:ext uri="{FF2B5EF4-FFF2-40B4-BE49-F238E27FC236}">
                <a16:creationId xmlns:a16="http://schemas.microsoft.com/office/drawing/2014/main" id="{0BB37E38-B9DF-9E49-B766-E2CC92FA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0850" y="1302845"/>
            <a:ext cx="11977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Z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= d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</a:t>
            </a:r>
            <a:r>
              <a:rPr lang="en-US" sz="2400" baseline="30000" dirty="0">
                <a:solidFill>
                  <a:srgbClr val="000000"/>
                </a:solidFill>
                <a:latin typeface="Arial" charset="0"/>
                <a:cs typeface="Arial" charset="0"/>
              </a:rPr>
              <a:t>.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m</a:t>
            </a:r>
          </a:p>
        </p:txBody>
      </p:sp>
      <p:sp>
        <p:nvSpPr>
          <p:cNvPr id="470" name="Line 72">
            <a:extLst>
              <a:ext uri="{FF2B5EF4-FFF2-40B4-BE49-F238E27FC236}">
                <a16:creationId xmlns:a16="http://schemas.microsoft.com/office/drawing/2014/main" id="{BC43B2B9-12AD-EC46-820A-AFE3E55A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488" y="1844183"/>
            <a:ext cx="319087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1" name="Line 73">
            <a:extLst>
              <a:ext uri="{FF2B5EF4-FFF2-40B4-BE49-F238E27FC236}">
                <a16:creationId xmlns:a16="http://schemas.microsoft.com/office/drawing/2014/main" id="{85727131-C2E9-C349-8881-7ABC635F1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5775" y="2109295"/>
            <a:ext cx="403225" cy="4302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2" name="Group 149">
            <a:extLst>
              <a:ext uri="{FF2B5EF4-FFF2-40B4-BE49-F238E27FC236}">
                <a16:creationId xmlns:a16="http://schemas.microsoft.com/office/drawing/2014/main" id="{C585C5CA-68B1-BB4E-9864-EB34280502EA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53670"/>
            <a:ext cx="1254125" cy="1236663"/>
            <a:chOff x="1979" y="1068"/>
            <a:chExt cx="790" cy="779"/>
          </a:xfrm>
        </p:grpSpPr>
        <p:sp>
          <p:nvSpPr>
            <p:cNvPr id="473" name="Rectangle 13">
              <a:extLst>
                <a:ext uri="{FF2B5EF4-FFF2-40B4-BE49-F238E27FC236}">
                  <a16:creationId xmlns:a16="http://schemas.microsoft.com/office/drawing/2014/main" id="{02E9E941-0BA7-764F-8B43-DFBC642E1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4" name="Text Box 16">
              <a:extLst>
                <a:ext uri="{FF2B5EF4-FFF2-40B4-BE49-F238E27FC236}">
                  <a16:creationId xmlns:a16="http://schemas.microsoft.com/office/drawing/2014/main" id="{0EF61151-3B6A-CE47-8350-806B6069C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6" y="1068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  <p:grpSp>
          <p:nvGrpSpPr>
            <p:cNvPr id="475" name="Group 45">
              <a:extLst>
                <a:ext uri="{FF2B5EF4-FFF2-40B4-BE49-F238E27FC236}">
                  <a16:creationId xmlns:a16="http://schemas.microsoft.com/office/drawing/2014/main" id="{79869314-64B7-E34C-A1B8-757A5CF98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476" name="Text Box 46">
                <a:extLst>
                  <a:ext uri="{FF2B5EF4-FFF2-40B4-BE49-F238E27FC236}">
                    <a16:creationId xmlns:a16="http://schemas.microsoft.com/office/drawing/2014/main" id="{03961088-2A11-7F4E-8842-C9CA2AD64C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77" name="Group 47">
                <a:extLst>
                  <a:ext uri="{FF2B5EF4-FFF2-40B4-BE49-F238E27FC236}">
                    <a16:creationId xmlns:a16="http://schemas.microsoft.com/office/drawing/2014/main" id="{397276D5-DAB7-034A-A41F-22ED1B48A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99" name="Rectangle 48">
                  <a:extLst>
                    <a:ext uri="{FF2B5EF4-FFF2-40B4-BE49-F238E27FC236}">
                      <a16:creationId xmlns:a16="http://schemas.microsoft.com/office/drawing/2014/main" id="{28221CCC-7B2A-F645-AA0B-F0AE733DA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0" name="Line 49">
                  <a:extLst>
                    <a:ext uri="{FF2B5EF4-FFF2-40B4-BE49-F238E27FC236}">
                      <a16:creationId xmlns:a16="http://schemas.microsoft.com/office/drawing/2014/main" id="{26F151E4-8C8C-4744-965D-20575E1C4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1" name="Line 50">
                  <a:extLst>
                    <a:ext uri="{FF2B5EF4-FFF2-40B4-BE49-F238E27FC236}">
                      <a16:creationId xmlns:a16="http://schemas.microsoft.com/office/drawing/2014/main" id="{F25B3B25-4EDD-3145-8F9E-1EFDC0400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78" name="Group 51">
                <a:extLst>
                  <a:ext uri="{FF2B5EF4-FFF2-40B4-BE49-F238E27FC236}">
                    <a16:creationId xmlns:a16="http://schemas.microsoft.com/office/drawing/2014/main" id="{9036F2B7-EE94-474F-81F2-0DD9B42B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96" name="Rectangle 52">
                  <a:extLst>
                    <a:ext uri="{FF2B5EF4-FFF2-40B4-BE49-F238E27FC236}">
                      <a16:creationId xmlns:a16="http://schemas.microsoft.com/office/drawing/2014/main" id="{A92E2B96-CF33-6641-9757-40AEB75C7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7" name="Line 53">
                  <a:extLst>
                    <a:ext uri="{FF2B5EF4-FFF2-40B4-BE49-F238E27FC236}">
                      <a16:creationId xmlns:a16="http://schemas.microsoft.com/office/drawing/2014/main" id="{EAA582F0-6D7C-6349-9FAE-A71623BFB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8" name="Line 54">
                  <a:extLst>
                    <a:ext uri="{FF2B5EF4-FFF2-40B4-BE49-F238E27FC236}">
                      <a16:creationId xmlns:a16="http://schemas.microsoft.com/office/drawing/2014/main" id="{01BE827C-6C93-254E-8F86-C7B1DBE92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79" name="Rectangle 55">
                <a:extLst>
                  <a:ext uri="{FF2B5EF4-FFF2-40B4-BE49-F238E27FC236}">
                    <a16:creationId xmlns:a16="http://schemas.microsoft.com/office/drawing/2014/main" id="{AF7AC18E-87F1-8240-A21F-130D275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Rectangle 56">
                <a:extLst>
                  <a:ext uri="{FF2B5EF4-FFF2-40B4-BE49-F238E27FC236}">
                    <a16:creationId xmlns:a16="http://schemas.microsoft.com/office/drawing/2014/main" id="{4E20B8E2-3A55-3C43-A84F-5CC765ABF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Text Box 57">
                <a:extLst>
                  <a:ext uri="{FF2B5EF4-FFF2-40B4-BE49-F238E27FC236}">
                    <a16:creationId xmlns:a16="http://schemas.microsoft.com/office/drawing/2014/main" id="{A550B1AC-6F61-F543-AE39-E99A37266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2" name="Text Box 58">
                <a:extLst>
                  <a:ext uri="{FF2B5EF4-FFF2-40B4-BE49-F238E27FC236}">
                    <a16:creationId xmlns:a16="http://schemas.microsoft.com/office/drawing/2014/main" id="{EB75473D-62D9-F443-9E7B-430EAEF0F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3" name="Text Box 59">
                <a:extLst>
                  <a:ext uri="{FF2B5EF4-FFF2-40B4-BE49-F238E27FC236}">
                    <a16:creationId xmlns:a16="http://schemas.microsoft.com/office/drawing/2014/main" id="{AB60BDE7-949C-D445-BB9D-E9BE2FCE1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84" name="Group 60">
                <a:extLst>
                  <a:ext uri="{FF2B5EF4-FFF2-40B4-BE49-F238E27FC236}">
                    <a16:creationId xmlns:a16="http://schemas.microsoft.com/office/drawing/2014/main" id="{179F852E-E8A4-4641-9283-1EE99E62E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94" name="Text Box 61">
                  <a:extLst>
                    <a:ext uri="{FF2B5EF4-FFF2-40B4-BE49-F238E27FC236}">
                      <a16:creationId xmlns:a16="http://schemas.microsoft.com/office/drawing/2014/main" id="{54C4130B-3870-314F-BD3A-D753218D0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5" name="Text Box 62">
                  <a:extLst>
                    <a:ext uri="{FF2B5EF4-FFF2-40B4-BE49-F238E27FC236}">
                      <a16:creationId xmlns:a16="http://schemas.microsoft.com/office/drawing/2014/main" id="{D695BAC2-BA7C-5943-A91C-17B319959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5" name="Group 63">
                <a:extLst>
                  <a:ext uri="{FF2B5EF4-FFF2-40B4-BE49-F238E27FC236}">
                    <a16:creationId xmlns:a16="http://schemas.microsoft.com/office/drawing/2014/main" id="{C23C5F09-57DF-9341-952D-6ECA49FEE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92" name="Text Box 64">
                  <a:extLst>
                    <a:ext uri="{FF2B5EF4-FFF2-40B4-BE49-F238E27FC236}">
                      <a16:creationId xmlns:a16="http://schemas.microsoft.com/office/drawing/2014/main" id="{7DC2EED0-74D1-DC40-B394-CBB37DA6C8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3" name="Text Box 65">
                  <a:extLst>
                    <a:ext uri="{FF2B5EF4-FFF2-40B4-BE49-F238E27FC236}">
                      <a16:creationId xmlns:a16="http://schemas.microsoft.com/office/drawing/2014/main" id="{292F6DEC-C557-9145-8A8A-19E2E9B275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6" name="Group 66">
                <a:extLst>
                  <a:ext uri="{FF2B5EF4-FFF2-40B4-BE49-F238E27FC236}">
                    <a16:creationId xmlns:a16="http://schemas.microsoft.com/office/drawing/2014/main" id="{8C21A7E2-D5AD-9F48-A061-6DB80E850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90" name="Text Box 67">
                  <a:extLst>
                    <a:ext uri="{FF2B5EF4-FFF2-40B4-BE49-F238E27FC236}">
                      <a16:creationId xmlns:a16="http://schemas.microsoft.com/office/drawing/2014/main" id="{AAA02C61-C7E2-5342-B256-30B490BB7E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1" name="Text Box 68">
                  <a:extLst>
                    <a:ext uri="{FF2B5EF4-FFF2-40B4-BE49-F238E27FC236}">
                      <a16:creationId xmlns:a16="http://schemas.microsoft.com/office/drawing/2014/main" id="{715A50D5-39D5-D64C-BF57-F3524495D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7" name="Group 69">
                <a:extLst>
                  <a:ext uri="{FF2B5EF4-FFF2-40B4-BE49-F238E27FC236}">
                    <a16:creationId xmlns:a16="http://schemas.microsoft.com/office/drawing/2014/main" id="{E7996A31-06BD-0449-9DF3-FB1EABAC1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88" name="Text Box 70">
                  <a:extLst>
                    <a:ext uri="{FF2B5EF4-FFF2-40B4-BE49-F238E27FC236}">
                      <a16:creationId xmlns:a16="http://schemas.microsoft.com/office/drawing/2014/main" id="{7D8F55AA-BD89-4B4F-8657-D53FEE6835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89" name="Text Box 71">
                  <a:extLst>
                    <a:ext uri="{FF2B5EF4-FFF2-40B4-BE49-F238E27FC236}">
                      <a16:creationId xmlns:a16="http://schemas.microsoft.com/office/drawing/2014/main" id="{6164D5ED-940F-494E-B970-3FDD51FDC9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02" name="Group 76">
            <a:extLst>
              <a:ext uri="{FF2B5EF4-FFF2-40B4-BE49-F238E27FC236}">
                <a16:creationId xmlns:a16="http://schemas.microsoft.com/office/drawing/2014/main" id="{20334438-8464-EB47-86A8-A2BC8FF64C06}"/>
              </a:ext>
            </a:extLst>
          </p:cNvPr>
          <p:cNvGrpSpPr>
            <a:grpSpLocks/>
          </p:cNvGrpSpPr>
          <p:nvPr/>
        </p:nvGrpSpPr>
        <p:grpSpPr bwMode="auto">
          <a:xfrm>
            <a:off x="7693025" y="1688608"/>
            <a:ext cx="1254125" cy="487362"/>
            <a:chOff x="1313" y="1534"/>
            <a:chExt cx="790" cy="307"/>
          </a:xfrm>
        </p:grpSpPr>
        <p:sp>
          <p:nvSpPr>
            <p:cNvPr id="503" name="Text Box 77">
              <a:extLst>
                <a:ext uri="{FF2B5EF4-FFF2-40B4-BE49-F238E27FC236}">
                  <a16:creationId xmlns:a16="http://schemas.microsoft.com/office/drawing/2014/main" id="{81128549-1A49-FB42-A2FB-218DBDC0A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04" name="Group 78">
              <a:extLst>
                <a:ext uri="{FF2B5EF4-FFF2-40B4-BE49-F238E27FC236}">
                  <a16:creationId xmlns:a16="http://schemas.microsoft.com/office/drawing/2014/main" id="{2964FBCD-8FB9-E945-8C3B-8E6F872D1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526" name="Rectangle 79">
                <a:extLst>
                  <a:ext uri="{FF2B5EF4-FFF2-40B4-BE49-F238E27FC236}">
                    <a16:creationId xmlns:a16="http://schemas.microsoft.com/office/drawing/2014/main" id="{7462FA7C-D3CE-054D-A069-C279CDBA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Line 80">
                <a:extLst>
                  <a:ext uri="{FF2B5EF4-FFF2-40B4-BE49-F238E27FC236}">
                    <a16:creationId xmlns:a16="http://schemas.microsoft.com/office/drawing/2014/main" id="{81522AC7-2848-4D4C-8E38-AEA52C27A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8" name="Line 81">
                <a:extLst>
                  <a:ext uri="{FF2B5EF4-FFF2-40B4-BE49-F238E27FC236}">
                    <a16:creationId xmlns:a16="http://schemas.microsoft.com/office/drawing/2014/main" id="{27ADB89D-E952-3A44-8E4A-9EC0AE0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5" name="Group 82">
              <a:extLst>
                <a:ext uri="{FF2B5EF4-FFF2-40B4-BE49-F238E27FC236}">
                  <a16:creationId xmlns:a16="http://schemas.microsoft.com/office/drawing/2014/main" id="{BE7695F2-15F5-5C41-9BB6-23E6B6839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523" name="Rectangle 83">
                <a:extLst>
                  <a:ext uri="{FF2B5EF4-FFF2-40B4-BE49-F238E27FC236}">
                    <a16:creationId xmlns:a16="http://schemas.microsoft.com/office/drawing/2014/main" id="{95B7CA97-1A34-BF42-8D2E-A12DBFD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4" name="Line 84">
                <a:extLst>
                  <a:ext uri="{FF2B5EF4-FFF2-40B4-BE49-F238E27FC236}">
                    <a16:creationId xmlns:a16="http://schemas.microsoft.com/office/drawing/2014/main" id="{02868D5B-3B0F-2B4E-A4CA-E6D61E747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Line 85">
                <a:extLst>
                  <a:ext uri="{FF2B5EF4-FFF2-40B4-BE49-F238E27FC236}">
                    <a16:creationId xmlns:a16="http://schemas.microsoft.com/office/drawing/2014/main" id="{E9F7A247-BC82-CF4E-A9AE-71550C10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6" name="Rectangle 86">
              <a:extLst>
                <a:ext uri="{FF2B5EF4-FFF2-40B4-BE49-F238E27FC236}">
                  <a16:creationId xmlns:a16="http://schemas.microsoft.com/office/drawing/2014/main" id="{165BCFD4-54CD-9A4C-B35D-F307B944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Rectangle 87">
              <a:extLst>
                <a:ext uri="{FF2B5EF4-FFF2-40B4-BE49-F238E27FC236}">
                  <a16:creationId xmlns:a16="http://schemas.microsoft.com/office/drawing/2014/main" id="{103C25CA-8C85-EF45-9DE3-9AC9FAAB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Text Box 88">
              <a:extLst>
                <a:ext uri="{FF2B5EF4-FFF2-40B4-BE49-F238E27FC236}">
                  <a16:creationId xmlns:a16="http://schemas.microsoft.com/office/drawing/2014/main" id="{CBC34993-830F-2342-A03E-C8D4DC40A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09" name="Text Box 89">
              <a:extLst>
                <a:ext uri="{FF2B5EF4-FFF2-40B4-BE49-F238E27FC236}">
                  <a16:creationId xmlns:a16="http://schemas.microsoft.com/office/drawing/2014/main" id="{580E6E69-B86A-E843-AAEB-15A177CA9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 Box 90">
              <a:extLst>
                <a:ext uri="{FF2B5EF4-FFF2-40B4-BE49-F238E27FC236}">
                  <a16:creationId xmlns:a16="http://schemas.microsoft.com/office/drawing/2014/main" id="{646B9041-5953-8445-B1C1-10B646EC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11" name="Group 91">
              <a:extLst>
                <a:ext uri="{FF2B5EF4-FFF2-40B4-BE49-F238E27FC236}">
                  <a16:creationId xmlns:a16="http://schemas.microsoft.com/office/drawing/2014/main" id="{DBD42B90-F279-4E42-A664-F0D2882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521" name="Text Box 92">
                <a:extLst>
                  <a:ext uri="{FF2B5EF4-FFF2-40B4-BE49-F238E27FC236}">
                    <a16:creationId xmlns:a16="http://schemas.microsoft.com/office/drawing/2014/main" id="{4873413D-A202-AD4D-AC40-069B24901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2" name="Text Box 93">
                <a:extLst>
                  <a:ext uri="{FF2B5EF4-FFF2-40B4-BE49-F238E27FC236}">
                    <a16:creationId xmlns:a16="http://schemas.microsoft.com/office/drawing/2014/main" id="{FF361EE3-8FAD-9741-818B-BB44D303E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2" name="Group 94">
              <a:extLst>
                <a:ext uri="{FF2B5EF4-FFF2-40B4-BE49-F238E27FC236}">
                  <a16:creationId xmlns:a16="http://schemas.microsoft.com/office/drawing/2014/main" id="{3988F06B-533E-C24B-ABD6-D3816676F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519" name="Text Box 95">
                <a:extLst>
                  <a:ext uri="{FF2B5EF4-FFF2-40B4-BE49-F238E27FC236}">
                    <a16:creationId xmlns:a16="http://schemas.microsoft.com/office/drawing/2014/main" id="{A9E9C5EE-DA49-0D4B-9C69-9BB0109B9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0" name="Text Box 96">
                <a:extLst>
                  <a:ext uri="{FF2B5EF4-FFF2-40B4-BE49-F238E27FC236}">
                    <a16:creationId xmlns:a16="http://schemas.microsoft.com/office/drawing/2014/main" id="{1AB2FC4D-C0AF-D145-9017-465A0E6BC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3" name="Group 97">
              <a:extLst>
                <a:ext uri="{FF2B5EF4-FFF2-40B4-BE49-F238E27FC236}">
                  <a16:creationId xmlns:a16="http://schemas.microsoft.com/office/drawing/2014/main" id="{857827E8-E8CA-7F44-9A6E-6FECEA9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517" name="Text Box 98">
                <a:extLst>
                  <a:ext uri="{FF2B5EF4-FFF2-40B4-BE49-F238E27FC236}">
                    <a16:creationId xmlns:a16="http://schemas.microsoft.com/office/drawing/2014/main" id="{E9AF4070-3C34-144F-9D97-14D02A9FB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8" name="Text Box 99">
                <a:extLst>
                  <a:ext uri="{FF2B5EF4-FFF2-40B4-BE49-F238E27FC236}">
                    <a16:creationId xmlns:a16="http://schemas.microsoft.com/office/drawing/2014/main" id="{B1F5DEFC-BF2D-FA47-B0D4-EFC262D9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4" name="Group 100">
              <a:extLst>
                <a:ext uri="{FF2B5EF4-FFF2-40B4-BE49-F238E27FC236}">
                  <a16:creationId xmlns:a16="http://schemas.microsoft.com/office/drawing/2014/main" id="{101C42A5-8BBE-0245-AFF1-1A49EA34E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515" name="Text Box 101">
                <a:extLst>
                  <a:ext uri="{FF2B5EF4-FFF2-40B4-BE49-F238E27FC236}">
                    <a16:creationId xmlns:a16="http://schemas.microsoft.com/office/drawing/2014/main" id="{43732278-0AA5-BC43-BEE0-855D65A24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6" name="Text Box 102">
                <a:extLst>
                  <a:ext uri="{FF2B5EF4-FFF2-40B4-BE49-F238E27FC236}">
                    <a16:creationId xmlns:a16="http://schemas.microsoft.com/office/drawing/2014/main" id="{2E2F7175-E8E8-1146-B7EC-BAFBB11FC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</p:grpSp>
      <p:grpSp>
        <p:nvGrpSpPr>
          <p:cNvPr id="529" name="Group 136">
            <a:extLst>
              <a:ext uri="{FF2B5EF4-FFF2-40B4-BE49-F238E27FC236}">
                <a16:creationId xmlns:a16="http://schemas.microsoft.com/office/drawing/2014/main" id="{E786556A-EED0-5E48-B839-F5A27E677A2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1688608"/>
            <a:ext cx="1249362" cy="487362"/>
            <a:chOff x="4928" y="1534"/>
            <a:chExt cx="787" cy="307"/>
          </a:xfrm>
        </p:grpSpPr>
        <p:grpSp>
          <p:nvGrpSpPr>
            <p:cNvPr id="530" name="Group 134">
              <a:extLst>
                <a:ext uri="{FF2B5EF4-FFF2-40B4-BE49-F238E27FC236}">
                  <a16:creationId xmlns:a16="http://schemas.microsoft.com/office/drawing/2014/main" id="{FA82BDD8-A025-A84F-8E06-391A9412E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554" name="Text Box 104">
                <a:extLst>
                  <a:ext uri="{FF2B5EF4-FFF2-40B4-BE49-F238E27FC236}">
                    <a16:creationId xmlns:a16="http://schemas.microsoft.com/office/drawing/2014/main" id="{BBB2F421-CBF5-5D41-A3EF-DECCF5FE9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55" name="Group 105">
                <a:extLst>
                  <a:ext uri="{FF2B5EF4-FFF2-40B4-BE49-F238E27FC236}">
                    <a16:creationId xmlns:a16="http://schemas.microsoft.com/office/drawing/2014/main" id="{815F5BC5-BC28-FE47-818A-8500111A3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558" name="Rectangle 106">
                  <a:extLst>
                    <a:ext uri="{FF2B5EF4-FFF2-40B4-BE49-F238E27FC236}">
                      <a16:creationId xmlns:a16="http://schemas.microsoft.com/office/drawing/2014/main" id="{0EF76842-BB61-1042-83C7-A553FB517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9" name="Line 107">
                  <a:extLst>
                    <a:ext uri="{FF2B5EF4-FFF2-40B4-BE49-F238E27FC236}">
                      <a16:creationId xmlns:a16="http://schemas.microsoft.com/office/drawing/2014/main" id="{9DD04AD7-763B-5949-97D2-3A1EE5AF4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60" name="Line 108">
                  <a:extLst>
                    <a:ext uri="{FF2B5EF4-FFF2-40B4-BE49-F238E27FC236}">
                      <a16:creationId xmlns:a16="http://schemas.microsoft.com/office/drawing/2014/main" id="{533BA7DD-1709-AB4F-B454-CC797B849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56" name="Text Box 115">
                <a:extLst>
                  <a:ext uri="{FF2B5EF4-FFF2-40B4-BE49-F238E27FC236}">
                    <a16:creationId xmlns:a16="http://schemas.microsoft.com/office/drawing/2014/main" id="{4B107C4F-F407-0340-AFB4-7931923DA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57" name="Text Box 116">
                <a:extLst>
                  <a:ext uri="{FF2B5EF4-FFF2-40B4-BE49-F238E27FC236}">
                    <a16:creationId xmlns:a16="http://schemas.microsoft.com/office/drawing/2014/main" id="{C85C4C92-3D0A-9947-8AB1-F1215B786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</p:grpSp>
        <p:grpSp>
          <p:nvGrpSpPr>
            <p:cNvPr id="531" name="Group 135">
              <a:extLst>
                <a:ext uri="{FF2B5EF4-FFF2-40B4-BE49-F238E27FC236}">
                  <a16:creationId xmlns:a16="http://schemas.microsoft.com/office/drawing/2014/main" id="{4BA4797B-938A-7C4B-850B-191D7A39F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532" name="Group 133">
                <a:extLst>
                  <a:ext uri="{FF2B5EF4-FFF2-40B4-BE49-F238E27FC236}">
                    <a16:creationId xmlns:a16="http://schemas.microsoft.com/office/drawing/2014/main" id="{345CEB76-F75D-2142-8293-819C82E8D3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552" name="Rectangle 114">
                  <a:extLst>
                    <a:ext uri="{FF2B5EF4-FFF2-40B4-BE49-F238E27FC236}">
                      <a16:creationId xmlns:a16="http://schemas.microsoft.com/office/drawing/2014/main" id="{2F941C58-3CB3-9047-A5F0-149962782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3" name="Text Box 117">
                  <a:extLst>
                    <a:ext uri="{FF2B5EF4-FFF2-40B4-BE49-F238E27FC236}">
                      <a16:creationId xmlns:a16="http://schemas.microsoft.com/office/drawing/2014/main" id="{860F801A-D77B-C14B-A39A-0736C1A883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533" name="Group 132">
                <a:extLst>
                  <a:ext uri="{FF2B5EF4-FFF2-40B4-BE49-F238E27FC236}">
                    <a16:creationId xmlns:a16="http://schemas.microsoft.com/office/drawing/2014/main" id="{27398D20-7D9A-3B42-8EC2-857F5AC890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548" name="Rectangle 113">
                  <a:extLst>
                    <a:ext uri="{FF2B5EF4-FFF2-40B4-BE49-F238E27FC236}">
                      <a16:creationId xmlns:a16="http://schemas.microsoft.com/office/drawing/2014/main" id="{59A6F49B-16F9-7643-9420-32D099D2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49" name="Group 118">
                  <a:extLst>
                    <a:ext uri="{FF2B5EF4-FFF2-40B4-BE49-F238E27FC236}">
                      <a16:creationId xmlns:a16="http://schemas.microsoft.com/office/drawing/2014/main" id="{0F9DF7FD-68BD-7C4F-9795-E77C083A7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50" name="Text Box 119">
                    <a:extLst>
                      <a:ext uri="{FF2B5EF4-FFF2-40B4-BE49-F238E27FC236}">
                        <a16:creationId xmlns:a16="http://schemas.microsoft.com/office/drawing/2014/main" id="{0F798B47-0AAE-0A4A-B69C-2E1EFD2F0F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51" name="Text Box 120">
                    <a:extLst>
                      <a:ext uri="{FF2B5EF4-FFF2-40B4-BE49-F238E27FC236}">
                        <a16:creationId xmlns:a16="http://schemas.microsoft.com/office/drawing/2014/main" id="{04A6FD11-6247-9447-93C6-498F0987DA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534" name="Group 131">
                <a:extLst>
                  <a:ext uri="{FF2B5EF4-FFF2-40B4-BE49-F238E27FC236}">
                    <a16:creationId xmlns:a16="http://schemas.microsoft.com/office/drawing/2014/main" id="{F0E11C15-14BF-804E-B7A6-DD15A9082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535" name="Group 109">
                  <a:extLst>
                    <a:ext uri="{FF2B5EF4-FFF2-40B4-BE49-F238E27FC236}">
                      <a16:creationId xmlns:a16="http://schemas.microsoft.com/office/drawing/2014/main" id="{0596732D-3330-1F45-9C8F-11B96D28A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545" name="Rectangle 110">
                    <a:extLst>
                      <a:ext uri="{FF2B5EF4-FFF2-40B4-BE49-F238E27FC236}">
                        <a16:creationId xmlns:a16="http://schemas.microsoft.com/office/drawing/2014/main" id="{2B890018-F3CD-ED43-85A9-CA03439C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6" name="Line 111">
                    <a:extLst>
                      <a:ext uri="{FF2B5EF4-FFF2-40B4-BE49-F238E27FC236}">
                        <a16:creationId xmlns:a16="http://schemas.microsoft.com/office/drawing/2014/main" id="{18B6F1CE-A78D-AC45-99C7-EA4C397F9C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7" name="Line 112">
                    <a:extLst>
                      <a:ext uri="{FF2B5EF4-FFF2-40B4-BE49-F238E27FC236}">
                        <a16:creationId xmlns:a16="http://schemas.microsoft.com/office/drawing/2014/main" id="{88ED4488-FFB5-7C44-A803-B17B5C5EFF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36" name="Group 121">
                  <a:extLst>
                    <a:ext uri="{FF2B5EF4-FFF2-40B4-BE49-F238E27FC236}">
                      <a16:creationId xmlns:a16="http://schemas.microsoft.com/office/drawing/2014/main" id="{80189D77-6A61-FB4B-8316-E594A637FA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3" name="Text Box 122">
                    <a:extLst>
                      <a:ext uri="{FF2B5EF4-FFF2-40B4-BE49-F238E27FC236}">
                        <a16:creationId xmlns:a16="http://schemas.microsoft.com/office/drawing/2014/main" id="{A10EFA21-0940-F74F-AB9D-BC9A454136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4" name="Text Box 123">
                    <a:extLst>
                      <a:ext uri="{FF2B5EF4-FFF2-40B4-BE49-F238E27FC236}">
                        <a16:creationId xmlns:a16="http://schemas.microsoft.com/office/drawing/2014/main" id="{3810D6A6-FD00-DA4A-9F6C-B46A221C7D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7" name="Group 124">
                  <a:extLst>
                    <a:ext uri="{FF2B5EF4-FFF2-40B4-BE49-F238E27FC236}">
                      <a16:creationId xmlns:a16="http://schemas.microsoft.com/office/drawing/2014/main" id="{2EF77EE7-7AC5-224F-B76E-0D98E4A3F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1" name="Text Box 125">
                    <a:extLst>
                      <a:ext uri="{FF2B5EF4-FFF2-40B4-BE49-F238E27FC236}">
                        <a16:creationId xmlns:a16="http://schemas.microsoft.com/office/drawing/2014/main" id="{742CDD59-5C0D-424D-8FE6-E90550870F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2" name="Text Box 126">
                    <a:extLst>
                      <a:ext uri="{FF2B5EF4-FFF2-40B4-BE49-F238E27FC236}">
                        <a16:creationId xmlns:a16="http://schemas.microsoft.com/office/drawing/2014/main" id="{18E37091-21DF-6E4C-ACC9-8F1C096114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8" name="Group 127">
                  <a:extLst>
                    <a:ext uri="{FF2B5EF4-FFF2-40B4-BE49-F238E27FC236}">
                      <a16:creationId xmlns:a16="http://schemas.microsoft.com/office/drawing/2014/main" id="{CF2DA19C-B3A0-D54E-96F8-0FAB19FB5E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539" name="Text Box 128">
                    <a:extLst>
                      <a:ext uri="{FF2B5EF4-FFF2-40B4-BE49-F238E27FC236}">
                        <a16:creationId xmlns:a16="http://schemas.microsoft.com/office/drawing/2014/main" id="{38FE3530-87CE-0C44-B56F-D75D2F8AF0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0" name="Text Box 129">
                    <a:extLst>
                      <a:ext uri="{FF2B5EF4-FFF2-40B4-BE49-F238E27FC236}">
                        <a16:creationId xmlns:a16="http://schemas.microsoft.com/office/drawing/2014/main" id="{FA2B9EA9-2800-B644-A429-DCBE6FE4E6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561" name="Text Box 137">
            <a:extLst>
              <a:ext uri="{FF2B5EF4-FFF2-40B4-BE49-F238E27FC236}">
                <a16:creationId xmlns:a16="http://schemas.microsoft.com/office/drawing/2014/main" id="{061BFEB8-D5B0-1F4C-AADA-2F8D8761C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275" y="2166445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2" name="Text Box 138">
            <a:extLst>
              <a:ext uri="{FF2B5EF4-FFF2-40B4-BE49-F238E27FC236}">
                <a16:creationId xmlns:a16="http://schemas.microsoft.com/office/drawing/2014/main" id="{4D2BA57A-52EB-AF4B-AC46-680208A6B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5288" y="2185495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3" name="Line 139">
            <a:extLst>
              <a:ext uri="{FF2B5EF4-FFF2-40B4-BE49-F238E27FC236}">
                <a16:creationId xmlns:a16="http://schemas.microsoft.com/office/drawing/2014/main" id="{7BFE1317-2BD7-CB4D-A047-982A4F3E3E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2509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4" name="Line 140">
            <a:extLst>
              <a:ext uri="{FF2B5EF4-FFF2-40B4-BE49-F238E27FC236}">
                <a16:creationId xmlns:a16="http://schemas.microsoft.com/office/drawing/2014/main" id="{4F6E32C6-C926-1945-A6DA-B99D5AAD30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2238" y="150604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141">
            <a:extLst>
              <a:ext uri="{FF2B5EF4-FFF2-40B4-BE49-F238E27FC236}">
                <a16:creationId xmlns:a16="http://schemas.microsoft.com/office/drawing/2014/main" id="{D4F0AA53-7445-6C4A-9F6B-A20406468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56663" y="1515570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6" name="Text Box 142">
            <a:extLst>
              <a:ext uri="{FF2B5EF4-FFF2-40B4-BE49-F238E27FC236}">
                <a16:creationId xmlns:a16="http://schemas.microsoft.com/office/drawing/2014/main" id="{837276E5-054D-2C49-A826-A2CD5E114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1042495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solidFill>
                  <a:srgbClr val="000000"/>
                </a:solidFill>
                <a:latin typeface="Arial" charset="0"/>
                <a:cs typeface="Arial" charset="0"/>
              </a:rPr>
              <a:t>channel output Z</a:t>
            </a:r>
            <a:r>
              <a:rPr lang="en-US" sz="2000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</a:p>
        </p:txBody>
      </p:sp>
      <p:sp>
        <p:nvSpPr>
          <p:cNvPr id="567" name="Text Box 143">
            <a:extLst>
              <a:ext uri="{FF2B5EF4-FFF2-40B4-BE49-F238E27FC236}">
                <a16:creationId xmlns:a16="http://schemas.microsoft.com/office/drawing/2014/main" id="{5A44EFEA-F719-324C-AE3F-692B599FF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974358"/>
            <a:ext cx="11849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sender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568" name="Text Box 144">
            <a:extLst>
              <a:ext uri="{FF2B5EF4-FFF2-40B4-BE49-F238E27FC236}">
                <a16:creationId xmlns:a16="http://schemas.microsoft.com/office/drawing/2014/main" id="{13DFCCFC-1D9B-0A4A-8195-644659282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2312495"/>
            <a:ext cx="679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569" name="Text Box 145">
            <a:extLst>
              <a:ext uri="{FF2B5EF4-FFF2-40B4-BE49-F238E27FC236}">
                <a16:creationId xmlns:a16="http://schemas.microsoft.com/office/drawing/2014/main" id="{F9FF9202-6DE1-964F-BE49-3037B0F38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1537795"/>
            <a:ext cx="62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data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bits</a:t>
            </a:r>
          </a:p>
        </p:txBody>
      </p:sp>
      <p:sp>
        <p:nvSpPr>
          <p:cNvPr id="570" name="Line 146">
            <a:extLst>
              <a:ext uri="{FF2B5EF4-FFF2-40B4-BE49-F238E27FC236}">
                <a16:creationId xmlns:a16="http://schemas.microsoft.com/office/drawing/2014/main" id="{65975003-E9B6-2A46-945F-95C925EE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4288" y="1912445"/>
            <a:ext cx="319087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1" name="Line 151">
            <a:extLst>
              <a:ext uri="{FF2B5EF4-FFF2-40B4-BE49-F238E27FC236}">
                <a16:creationId xmlns:a16="http://schemas.microsoft.com/office/drawing/2014/main" id="{687EB2E0-2878-A24E-B5B0-86765159D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4025408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2" name="Line 152">
            <a:extLst>
              <a:ext uri="{FF2B5EF4-FFF2-40B4-BE49-F238E27FC236}">
                <a16:creationId xmlns:a16="http://schemas.microsoft.com/office/drawing/2014/main" id="{44F04041-41B0-9647-ABEA-B04273E4E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40015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3" name="Text Box 153">
            <a:extLst>
              <a:ext uri="{FF2B5EF4-FFF2-40B4-BE49-F238E27FC236}">
                <a16:creationId xmlns:a16="http://schemas.microsoft.com/office/drawing/2014/main" id="{D75AE5C7-832E-9043-BD35-9C3850168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543352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574" name="Text Box 154">
            <a:extLst>
              <a:ext uri="{FF2B5EF4-FFF2-40B4-BE49-F238E27FC236}">
                <a16:creationId xmlns:a16="http://schemas.microsoft.com/office/drawing/2014/main" id="{D101CD69-4F7D-6742-9A3D-D5CBA7A49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5438283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sp>
        <p:nvSpPr>
          <p:cNvPr id="575" name="Line 156">
            <a:extLst>
              <a:ext uri="{FF2B5EF4-FFF2-40B4-BE49-F238E27FC236}">
                <a16:creationId xmlns:a16="http://schemas.microsoft.com/office/drawing/2014/main" id="{860E044A-6790-6249-A416-96D891D32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3" y="40650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76" name="Group 298">
            <a:extLst>
              <a:ext uri="{FF2B5EF4-FFF2-40B4-BE49-F238E27FC236}">
                <a16:creationId xmlns:a16="http://schemas.microsoft.com/office/drawing/2014/main" id="{F1124BEE-BEF8-3443-910A-CCF6CFA87EA3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4496895"/>
            <a:ext cx="1076325" cy="274638"/>
            <a:chOff x="3962" y="2922"/>
            <a:chExt cx="678" cy="173"/>
          </a:xfrm>
        </p:grpSpPr>
        <p:sp>
          <p:nvSpPr>
            <p:cNvPr id="577" name="Rectangle 157">
              <a:extLst>
                <a:ext uri="{FF2B5EF4-FFF2-40B4-BE49-F238E27FC236}">
                  <a16:creationId xmlns:a16="http://schemas.microsoft.com/office/drawing/2014/main" id="{16F78BE2-C4BE-7340-BA32-B6A9B6CD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Text Box 158">
              <a:extLst>
                <a:ext uri="{FF2B5EF4-FFF2-40B4-BE49-F238E27FC236}">
                  <a16:creationId xmlns:a16="http://schemas.microsoft.com/office/drawing/2014/main" id="{B4871B2C-9B75-7441-AD74-FE96225B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8" y="2922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</p:grpSp>
      <p:sp>
        <p:nvSpPr>
          <p:cNvPr id="579" name="Oval 186">
            <a:extLst>
              <a:ext uri="{FF2B5EF4-FFF2-40B4-BE49-F238E27FC236}">
                <a16:creationId xmlns:a16="http://schemas.microsoft.com/office/drawing/2014/main" id="{1EF01FB0-9BDB-194E-B1AF-18DBF631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328620"/>
            <a:ext cx="419100" cy="423863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0" name="Line 188">
            <a:extLst>
              <a:ext uri="{FF2B5EF4-FFF2-40B4-BE49-F238E27FC236}">
                <a16:creationId xmlns:a16="http://schemas.microsoft.com/office/drawing/2014/main" id="{803358E4-2F31-8344-AE8E-60FD9B786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4458795"/>
            <a:ext cx="319088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1" name="Line 189">
            <a:extLst>
              <a:ext uri="{FF2B5EF4-FFF2-40B4-BE49-F238E27FC236}">
                <a16:creationId xmlns:a16="http://schemas.microsoft.com/office/drawing/2014/main" id="{752E133E-CDD7-6841-99EB-4FB0162E1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99213" y="4723908"/>
            <a:ext cx="403225" cy="4302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82" name="Group 296">
            <a:extLst>
              <a:ext uri="{FF2B5EF4-FFF2-40B4-BE49-F238E27FC236}">
                <a16:creationId xmlns:a16="http://schemas.microsoft.com/office/drawing/2014/main" id="{D5764CEA-4B45-654B-9F73-3689C10D2D7D}"/>
              </a:ext>
            </a:extLst>
          </p:cNvPr>
          <p:cNvGrpSpPr>
            <a:grpSpLocks/>
          </p:cNvGrpSpPr>
          <p:nvPr/>
        </p:nvGrpSpPr>
        <p:grpSpPr bwMode="auto">
          <a:xfrm>
            <a:off x="8597900" y="4296870"/>
            <a:ext cx="1062038" cy="274638"/>
            <a:chOff x="4640" y="2796"/>
            <a:chExt cx="669" cy="173"/>
          </a:xfrm>
        </p:grpSpPr>
        <p:sp>
          <p:nvSpPr>
            <p:cNvPr id="583" name="Rectangle 191">
              <a:extLst>
                <a:ext uri="{FF2B5EF4-FFF2-40B4-BE49-F238E27FC236}">
                  <a16:creationId xmlns:a16="http://schemas.microsoft.com/office/drawing/2014/main" id="{07FF64CB-B8E0-5943-B080-70CC695B8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4" name="Text Box 192">
              <a:extLst>
                <a:ext uri="{FF2B5EF4-FFF2-40B4-BE49-F238E27FC236}">
                  <a16:creationId xmlns:a16="http://schemas.microsoft.com/office/drawing/2014/main" id="{D203F2F6-2B48-784A-97D8-4D8635AA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796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</p:grpSp>
      <p:grpSp>
        <p:nvGrpSpPr>
          <p:cNvPr id="585" name="Group 295">
            <a:extLst>
              <a:ext uri="{FF2B5EF4-FFF2-40B4-BE49-F238E27FC236}">
                <a16:creationId xmlns:a16="http://schemas.microsoft.com/office/drawing/2014/main" id="{96D0FB10-C5CF-4749-93DC-1D522CB7DFFD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4220670"/>
            <a:ext cx="1263650" cy="1184275"/>
            <a:chOff x="2498" y="2748"/>
            <a:chExt cx="796" cy="746"/>
          </a:xfrm>
        </p:grpSpPr>
        <p:grpSp>
          <p:nvGrpSpPr>
            <p:cNvPr id="586" name="Group 193">
              <a:extLst>
                <a:ext uri="{FF2B5EF4-FFF2-40B4-BE49-F238E27FC236}">
                  <a16:creationId xmlns:a16="http://schemas.microsoft.com/office/drawing/2014/main" id="{97D62F56-6D20-0F47-8EDF-DD272D17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14" name="Text Box 194">
                <a:extLst>
                  <a:ext uri="{FF2B5EF4-FFF2-40B4-BE49-F238E27FC236}">
                    <a16:creationId xmlns:a16="http://schemas.microsoft.com/office/drawing/2014/main" id="{7B04BAB2-D5CA-3C47-A23B-1681A4FB7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15" name="Group 195">
                <a:extLst>
                  <a:ext uri="{FF2B5EF4-FFF2-40B4-BE49-F238E27FC236}">
                    <a16:creationId xmlns:a16="http://schemas.microsoft.com/office/drawing/2014/main" id="{8ED7550A-0557-CF43-9C1C-7D3004A22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37" name="Rectangle 196">
                  <a:extLst>
                    <a:ext uri="{FF2B5EF4-FFF2-40B4-BE49-F238E27FC236}">
                      <a16:creationId xmlns:a16="http://schemas.microsoft.com/office/drawing/2014/main" id="{02C2AE0A-AE20-7642-AA73-E04CA5A75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8" name="Line 197">
                  <a:extLst>
                    <a:ext uri="{FF2B5EF4-FFF2-40B4-BE49-F238E27FC236}">
                      <a16:creationId xmlns:a16="http://schemas.microsoft.com/office/drawing/2014/main" id="{4F004783-A8C6-CC45-8B2B-0D951AB32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9" name="Line 198">
                  <a:extLst>
                    <a:ext uri="{FF2B5EF4-FFF2-40B4-BE49-F238E27FC236}">
                      <a16:creationId xmlns:a16="http://schemas.microsoft.com/office/drawing/2014/main" id="{20BA7722-B3E2-6B42-8DE6-D5DBC8D8A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16" name="Group 199">
                <a:extLst>
                  <a:ext uri="{FF2B5EF4-FFF2-40B4-BE49-F238E27FC236}">
                    <a16:creationId xmlns:a16="http://schemas.microsoft.com/office/drawing/2014/main" id="{C569B790-8EE2-4743-9C4E-AFC3A45176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34" name="Rectangle 200">
                  <a:extLst>
                    <a:ext uri="{FF2B5EF4-FFF2-40B4-BE49-F238E27FC236}">
                      <a16:creationId xmlns:a16="http://schemas.microsoft.com/office/drawing/2014/main" id="{C451C7E7-C9EE-A841-BA99-A6207ED30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5" name="Line 201">
                  <a:extLst>
                    <a:ext uri="{FF2B5EF4-FFF2-40B4-BE49-F238E27FC236}">
                      <a16:creationId xmlns:a16="http://schemas.microsoft.com/office/drawing/2014/main" id="{413C740C-F832-0843-AD6A-172F1B242E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6" name="Line 202">
                  <a:extLst>
                    <a:ext uri="{FF2B5EF4-FFF2-40B4-BE49-F238E27FC236}">
                      <a16:creationId xmlns:a16="http://schemas.microsoft.com/office/drawing/2014/main" id="{BEB5B501-1C3E-D442-AA97-5DEFF6EE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17" name="Rectangle 203">
                <a:extLst>
                  <a:ext uri="{FF2B5EF4-FFF2-40B4-BE49-F238E27FC236}">
                    <a16:creationId xmlns:a16="http://schemas.microsoft.com/office/drawing/2014/main" id="{C48382EF-522B-5B45-BC8D-3A82341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8" name="Rectangle 204">
                <a:extLst>
                  <a:ext uri="{FF2B5EF4-FFF2-40B4-BE49-F238E27FC236}">
                    <a16:creationId xmlns:a16="http://schemas.microsoft.com/office/drawing/2014/main" id="{362C0A22-B587-2B4E-B070-3A316A95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Text Box 205">
                <a:extLst>
                  <a:ext uri="{FF2B5EF4-FFF2-40B4-BE49-F238E27FC236}">
                    <a16:creationId xmlns:a16="http://schemas.microsoft.com/office/drawing/2014/main" id="{B824BEFE-65AB-0144-A5F8-65972C2D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0" name="Text Box 206">
                <a:extLst>
                  <a:ext uri="{FF2B5EF4-FFF2-40B4-BE49-F238E27FC236}">
                    <a16:creationId xmlns:a16="http://schemas.microsoft.com/office/drawing/2014/main" id="{3A8873CC-1701-7348-900A-41553E898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1" name="Text Box 207">
                <a:extLst>
                  <a:ext uri="{FF2B5EF4-FFF2-40B4-BE49-F238E27FC236}">
                    <a16:creationId xmlns:a16="http://schemas.microsoft.com/office/drawing/2014/main" id="{652F9E8B-7806-004B-A4C2-35DA996AE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22" name="Group 208">
                <a:extLst>
                  <a:ext uri="{FF2B5EF4-FFF2-40B4-BE49-F238E27FC236}">
                    <a16:creationId xmlns:a16="http://schemas.microsoft.com/office/drawing/2014/main" id="{B9E723E2-808F-904C-AA22-8BC245F17D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32" name="Text Box 209">
                  <a:extLst>
                    <a:ext uri="{FF2B5EF4-FFF2-40B4-BE49-F238E27FC236}">
                      <a16:creationId xmlns:a16="http://schemas.microsoft.com/office/drawing/2014/main" id="{A4E63E50-D6D5-A544-AB9D-0D1BFD00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3" name="Text Box 210">
                  <a:extLst>
                    <a:ext uri="{FF2B5EF4-FFF2-40B4-BE49-F238E27FC236}">
                      <a16:creationId xmlns:a16="http://schemas.microsoft.com/office/drawing/2014/main" id="{542EF4AD-C6C3-9C4C-92FB-3D5D00CB7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3" name="Group 211">
                <a:extLst>
                  <a:ext uri="{FF2B5EF4-FFF2-40B4-BE49-F238E27FC236}">
                    <a16:creationId xmlns:a16="http://schemas.microsoft.com/office/drawing/2014/main" id="{11542ED5-26A6-8C49-B296-BD3AB1ED6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30" name="Text Box 212">
                  <a:extLst>
                    <a:ext uri="{FF2B5EF4-FFF2-40B4-BE49-F238E27FC236}">
                      <a16:creationId xmlns:a16="http://schemas.microsoft.com/office/drawing/2014/main" id="{E57DC8C6-3C72-CC44-A603-ECD900349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1" name="Text Box 213">
                  <a:extLst>
                    <a:ext uri="{FF2B5EF4-FFF2-40B4-BE49-F238E27FC236}">
                      <a16:creationId xmlns:a16="http://schemas.microsoft.com/office/drawing/2014/main" id="{B3808FCF-A274-FE42-A498-DA95D7B44F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4" name="Group 214">
                <a:extLst>
                  <a:ext uri="{FF2B5EF4-FFF2-40B4-BE49-F238E27FC236}">
                    <a16:creationId xmlns:a16="http://schemas.microsoft.com/office/drawing/2014/main" id="{128465C0-E95E-A343-8DCF-2AC643340F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28" name="Text Box 215">
                  <a:extLst>
                    <a:ext uri="{FF2B5EF4-FFF2-40B4-BE49-F238E27FC236}">
                      <a16:creationId xmlns:a16="http://schemas.microsoft.com/office/drawing/2014/main" id="{75EA62B0-C320-B94D-B0FF-8D4FF2F0D5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9" name="Text Box 216">
                  <a:extLst>
                    <a:ext uri="{FF2B5EF4-FFF2-40B4-BE49-F238E27FC236}">
                      <a16:creationId xmlns:a16="http://schemas.microsoft.com/office/drawing/2014/main" id="{367AE304-4E74-034E-A58F-BD99CC97D7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5" name="Group 217">
                <a:extLst>
                  <a:ext uri="{FF2B5EF4-FFF2-40B4-BE49-F238E27FC236}">
                    <a16:creationId xmlns:a16="http://schemas.microsoft.com/office/drawing/2014/main" id="{E43C5D79-33F2-944F-A5A8-AEA20F377E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26" name="Text Box 218">
                  <a:extLst>
                    <a:ext uri="{FF2B5EF4-FFF2-40B4-BE49-F238E27FC236}">
                      <a16:creationId xmlns:a16="http://schemas.microsoft.com/office/drawing/2014/main" id="{14E538A8-CB0E-DA4F-B83F-1131EC9DE5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7" name="Text Box 219">
                  <a:extLst>
                    <a:ext uri="{FF2B5EF4-FFF2-40B4-BE49-F238E27FC236}">
                      <a16:creationId xmlns:a16="http://schemas.microsoft.com/office/drawing/2014/main" id="{DB235DBF-1502-9846-8971-5017A8AC10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587" name="Group 220">
              <a:extLst>
                <a:ext uri="{FF2B5EF4-FFF2-40B4-BE49-F238E27FC236}">
                  <a16:creationId xmlns:a16="http://schemas.microsoft.com/office/drawing/2014/main" id="{1D3EFF94-D1D7-DB4B-B1BA-54BDE4E51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588" name="Text Box 221">
                <a:extLst>
                  <a:ext uri="{FF2B5EF4-FFF2-40B4-BE49-F238E27FC236}">
                    <a16:creationId xmlns:a16="http://schemas.microsoft.com/office/drawing/2014/main" id="{418DA683-0DDF-0D40-9EC9-E34F3F0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89" name="Group 222">
                <a:extLst>
                  <a:ext uri="{FF2B5EF4-FFF2-40B4-BE49-F238E27FC236}">
                    <a16:creationId xmlns:a16="http://schemas.microsoft.com/office/drawing/2014/main" id="{756C056E-2AB5-9A43-8637-821F75478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11" name="Rectangle 223">
                  <a:extLst>
                    <a:ext uri="{FF2B5EF4-FFF2-40B4-BE49-F238E27FC236}">
                      <a16:creationId xmlns:a16="http://schemas.microsoft.com/office/drawing/2014/main" id="{4239B053-7CD5-1A4D-9C88-8079446DF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2" name="Line 224">
                  <a:extLst>
                    <a:ext uri="{FF2B5EF4-FFF2-40B4-BE49-F238E27FC236}">
                      <a16:creationId xmlns:a16="http://schemas.microsoft.com/office/drawing/2014/main" id="{E600EE1E-0BD0-F549-9A91-145DC2EED3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3" name="Line 225">
                  <a:extLst>
                    <a:ext uri="{FF2B5EF4-FFF2-40B4-BE49-F238E27FC236}">
                      <a16:creationId xmlns:a16="http://schemas.microsoft.com/office/drawing/2014/main" id="{767368C3-FAA7-E843-8DD6-A1140202E7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0" name="Group 226">
                <a:extLst>
                  <a:ext uri="{FF2B5EF4-FFF2-40B4-BE49-F238E27FC236}">
                    <a16:creationId xmlns:a16="http://schemas.microsoft.com/office/drawing/2014/main" id="{ECC39DED-E285-E54E-BD2B-6E82ABEA3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08" name="Rectangle 227">
                  <a:extLst>
                    <a:ext uri="{FF2B5EF4-FFF2-40B4-BE49-F238E27FC236}">
                      <a16:creationId xmlns:a16="http://schemas.microsoft.com/office/drawing/2014/main" id="{F5146973-9FBA-7342-87D8-11522ACDC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09" name="Line 228">
                  <a:extLst>
                    <a:ext uri="{FF2B5EF4-FFF2-40B4-BE49-F238E27FC236}">
                      <a16:creationId xmlns:a16="http://schemas.microsoft.com/office/drawing/2014/main" id="{A9C0710A-E39A-8F45-A77E-CD458CF17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0" name="Line 229">
                  <a:extLst>
                    <a:ext uri="{FF2B5EF4-FFF2-40B4-BE49-F238E27FC236}">
                      <a16:creationId xmlns:a16="http://schemas.microsoft.com/office/drawing/2014/main" id="{05AB44F9-6DBC-F548-99E1-9F43C8F703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91" name="Rectangle 230">
                <a:extLst>
                  <a:ext uri="{FF2B5EF4-FFF2-40B4-BE49-F238E27FC236}">
                    <a16:creationId xmlns:a16="http://schemas.microsoft.com/office/drawing/2014/main" id="{DCDBD701-60FD-5647-9CAB-CA664E96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2" name="Rectangle 231">
                <a:extLst>
                  <a:ext uri="{FF2B5EF4-FFF2-40B4-BE49-F238E27FC236}">
                    <a16:creationId xmlns:a16="http://schemas.microsoft.com/office/drawing/2014/main" id="{6FBE7D8F-D770-CF42-8926-B3290EED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3" name="Text Box 232">
                <a:extLst>
                  <a:ext uri="{FF2B5EF4-FFF2-40B4-BE49-F238E27FC236}">
                    <a16:creationId xmlns:a16="http://schemas.microsoft.com/office/drawing/2014/main" id="{0BE4D880-E5FF-194F-96F6-31D8F0E85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4" name="Text Box 233">
                <a:extLst>
                  <a:ext uri="{FF2B5EF4-FFF2-40B4-BE49-F238E27FC236}">
                    <a16:creationId xmlns:a16="http://schemas.microsoft.com/office/drawing/2014/main" id="{E1249C8F-8FED-F24A-BC2E-9169132D6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5" name="Text Box 234">
                <a:extLst>
                  <a:ext uri="{FF2B5EF4-FFF2-40B4-BE49-F238E27FC236}">
                    <a16:creationId xmlns:a16="http://schemas.microsoft.com/office/drawing/2014/main" id="{E350C3A1-45EC-1A45-831A-8FDA6191A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96" name="Group 235">
                <a:extLst>
                  <a:ext uri="{FF2B5EF4-FFF2-40B4-BE49-F238E27FC236}">
                    <a16:creationId xmlns:a16="http://schemas.microsoft.com/office/drawing/2014/main" id="{166632CA-781C-464F-975C-887578DFE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06" name="Text Box 236">
                  <a:extLst>
                    <a:ext uri="{FF2B5EF4-FFF2-40B4-BE49-F238E27FC236}">
                      <a16:creationId xmlns:a16="http://schemas.microsoft.com/office/drawing/2014/main" id="{290DD47F-DE0B-4143-8642-8E484381B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7" name="Text Box 237">
                  <a:extLst>
                    <a:ext uri="{FF2B5EF4-FFF2-40B4-BE49-F238E27FC236}">
                      <a16:creationId xmlns:a16="http://schemas.microsoft.com/office/drawing/2014/main" id="{2C01662B-9FBB-A645-B9A7-4D936FF507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7" name="Group 238">
                <a:extLst>
                  <a:ext uri="{FF2B5EF4-FFF2-40B4-BE49-F238E27FC236}">
                    <a16:creationId xmlns:a16="http://schemas.microsoft.com/office/drawing/2014/main" id="{FB4DBB46-904E-2048-952E-05148A7CE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04" name="Text Box 239">
                  <a:extLst>
                    <a:ext uri="{FF2B5EF4-FFF2-40B4-BE49-F238E27FC236}">
                      <a16:creationId xmlns:a16="http://schemas.microsoft.com/office/drawing/2014/main" id="{73D40A2E-1395-6C48-A539-9B2FF25E0F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5" name="Text Box 240">
                  <a:extLst>
                    <a:ext uri="{FF2B5EF4-FFF2-40B4-BE49-F238E27FC236}">
                      <a16:creationId xmlns:a16="http://schemas.microsoft.com/office/drawing/2014/main" id="{89AA3C0B-2C37-1E47-ACD7-7D90CADECB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8" name="Group 241">
                <a:extLst>
                  <a:ext uri="{FF2B5EF4-FFF2-40B4-BE49-F238E27FC236}">
                    <a16:creationId xmlns:a16="http://schemas.microsoft.com/office/drawing/2014/main" id="{C0684616-543C-AF4D-8E90-A5245FCA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02" name="Text Box 242">
                  <a:extLst>
                    <a:ext uri="{FF2B5EF4-FFF2-40B4-BE49-F238E27FC236}">
                      <a16:creationId xmlns:a16="http://schemas.microsoft.com/office/drawing/2014/main" id="{827BFF19-1594-2B40-BF8C-7ECD58E04C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3" name="Text Box 243">
                  <a:extLst>
                    <a:ext uri="{FF2B5EF4-FFF2-40B4-BE49-F238E27FC236}">
                      <a16:creationId xmlns:a16="http://schemas.microsoft.com/office/drawing/2014/main" id="{A2499FEC-1527-C542-91E0-02A8B03B4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9" name="Group 244">
                <a:extLst>
                  <a:ext uri="{FF2B5EF4-FFF2-40B4-BE49-F238E27FC236}">
                    <a16:creationId xmlns:a16="http://schemas.microsoft.com/office/drawing/2014/main" id="{79B4FD38-A220-CF4B-B6B4-40FB1E45D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00" name="Text Box 245">
                  <a:extLst>
                    <a:ext uri="{FF2B5EF4-FFF2-40B4-BE49-F238E27FC236}">
                      <a16:creationId xmlns:a16="http://schemas.microsoft.com/office/drawing/2014/main" id="{5F7BF1B8-B80A-4149-BC9C-9A4B7E5158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1" name="Text Box 246">
                  <a:extLst>
                    <a:ext uri="{FF2B5EF4-FFF2-40B4-BE49-F238E27FC236}">
                      <a16:creationId xmlns:a16="http://schemas.microsoft.com/office/drawing/2014/main" id="{A49C4C92-65A5-4C48-9B08-0461762BA6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640" name="Group 297">
            <a:extLst>
              <a:ext uri="{FF2B5EF4-FFF2-40B4-BE49-F238E27FC236}">
                <a16:creationId xmlns:a16="http://schemas.microsoft.com/office/drawing/2014/main" id="{82CBAF59-3619-4841-A21A-B1F20F9713F3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4220670"/>
            <a:ext cx="1277937" cy="1174750"/>
            <a:chOff x="1811" y="2748"/>
            <a:chExt cx="805" cy="740"/>
          </a:xfrm>
        </p:grpSpPr>
        <p:grpSp>
          <p:nvGrpSpPr>
            <p:cNvPr id="641" name="Group 159">
              <a:extLst>
                <a:ext uri="{FF2B5EF4-FFF2-40B4-BE49-F238E27FC236}">
                  <a16:creationId xmlns:a16="http://schemas.microsoft.com/office/drawing/2014/main" id="{8EF57733-5543-4E4B-8D62-E949AD5A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4" name="Text Box 160">
                <a:extLst>
                  <a:ext uri="{FF2B5EF4-FFF2-40B4-BE49-F238E27FC236}">
                    <a16:creationId xmlns:a16="http://schemas.microsoft.com/office/drawing/2014/main" id="{320DF8EC-2C1D-1447-8093-705AA7757D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75" name="Group 161">
                <a:extLst>
                  <a:ext uri="{FF2B5EF4-FFF2-40B4-BE49-F238E27FC236}">
                    <a16:creationId xmlns:a16="http://schemas.microsoft.com/office/drawing/2014/main" id="{88562839-6C05-0344-A288-7F9A715E1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97" name="Rectangle 162">
                  <a:extLst>
                    <a:ext uri="{FF2B5EF4-FFF2-40B4-BE49-F238E27FC236}">
                      <a16:creationId xmlns:a16="http://schemas.microsoft.com/office/drawing/2014/main" id="{9F5F7DD1-4A84-CF45-9C2A-53D9BF342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Line 163">
                  <a:extLst>
                    <a:ext uri="{FF2B5EF4-FFF2-40B4-BE49-F238E27FC236}">
                      <a16:creationId xmlns:a16="http://schemas.microsoft.com/office/drawing/2014/main" id="{17A98152-A6A3-474D-AB48-44B96AC71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Line 164">
                  <a:extLst>
                    <a:ext uri="{FF2B5EF4-FFF2-40B4-BE49-F238E27FC236}">
                      <a16:creationId xmlns:a16="http://schemas.microsoft.com/office/drawing/2014/main" id="{244D72D8-03A9-4B4E-8E85-71AAEC03E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6" name="Group 165">
                <a:extLst>
                  <a:ext uri="{FF2B5EF4-FFF2-40B4-BE49-F238E27FC236}">
                    <a16:creationId xmlns:a16="http://schemas.microsoft.com/office/drawing/2014/main" id="{DF6E29B7-CE53-1948-9208-5B3F88E71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94" name="Rectangle 166">
                  <a:extLst>
                    <a:ext uri="{FF2B5EF4-FFF2-40B4-BE49-F238E27FC236}">
                      <a16:creationId xmlns:a16="http://schemas.microsoft.com/office/drawing/2014/main" id="{8A7849D1-C351-FD40-98B3-BD87B1740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Line 167">
                  <a:extLst>
                    <a:ext uri="{FF2B5EF4-FFF2-40B4-BE49-F238E27FC236}">
                      <a16:creationId xmlns:a16="http://schemas.microsoft.com/office/drawing/2014/main" id="{2285CD7F-F48B-B74A-8966-EF3AF6087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Line 168">
                  <a:extLst>
                    <a:ext uri="{FF2B5EF4-FFF2-40B4-BE49-F238E27FC236}">
                      <a16:creationId xmlns:a16="http://schemas.microsoft.com/office/drawing/2014/main" id="{36D187F7-01BC-EE4B-831D-E4FF78943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77" name="Rectangle 169">
                <a:extLst>
                  <a:ext uri="{FF2B5EF4-FFF2-40B4-BE49-F238E27FC236}">
                    <a16:creationId xmlns:a16="http://schemas.microsoft.com/office/drawing/2014/main" id="{0A53DD91-B0D1-344A-B372-B0C0B50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Rectangle 170">
                <a:extLst>
                  <a:ext uri="{FF2B5EF4-FFF2-40B4-BE49-F238E27FC236}">
                    <a16:creationId xmlns:a16="http://schemas.microsoft.com/office/drawing/2014/main" id="{64AF0494-B917-5340-B8DB-2EB7B56F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Text Box 171">
                <a:extLst>
                  <a:ext uri="{FF2B5EF4-FFF2-40B4-BE49-F238E27FC236}">
                    <a16:creationId xmlns:a16="http://schemas.microsoft.com/office/drawing/2014/main" id="{F06B3BFB-C0EC-064D-93C6-CEAED040F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0" name="Text Box 172">
                <a:extLst>
                  <a:ext uri="{FF2B5EF4-FFF2-40B4-BE49-F238E27FC236}">
                    <a16:creationId xmlns:a16="http://schemas.microsoft.com/office/drawing/2014/main" id="{D3600095-733C-B044-AADC-832710831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1" name="Text Box 173">
                <a:extLst>
                  <a:ext uri="{FF2B5EF4-FFF2-40B4-BE49-F238E27FC236}">
                    <a16:creationId xmlns:a16="http://schemas.microsoft.com/office/drawing/2014/main" id="{F4D3DA9E-B028-DF43-B15F-EBC718654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82" name="Group 174">
                <a:extLst>
                  <a:ext uri="{FF2B5EF4-FFF2-40B4-BE49-F238E27FC236}">
                    <a16:creationId xmlns:a16="http://schemas.microsoft.com/office/drawing/2014/main" id="{3BA6346A-C37A-1145-93C1-459F9F5B0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92" name="Text Box 175">
                  <a:extLst>
                    <a:ext uri="{FF2B5EF4-FFF2-40B4-BE49-F238E27FC236}">
                      <a16:creationId xmlns:a16="http://schemas.microsoft.com/office/drawing/2014/main" id="{842D5DED-2CC1-4A4E-A49E-22200EF814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3" name="Text Box 176">
                  <a:extLst>
                    <a:ext uri="{FF2B5EF4-FFF2-40B4-BE49-F238E27FC236}">
                      <a16:creationId xmlns:a16="http://schemas.microsoft.com/office/drawing/2014/main" id="{AD8159EE-6AED-B145-9555-43984B0B32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3" name="Group 177">
                <a:extLst>
                  <a:ext uri="{FF2B5EF4-FFF2-40B4-BE49-F238E27FC236}">
                    <a16:creationId xmlns:a16="http://schemas.microsoft.com/office/drawing/2014/main" id="{97FF6188-4890-0C49-8BD8-4AD0896FEB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90" name="Text Box 178">
                  <a:extLst>
                    <a:ext uri="{FF2B5EF4-FFF2-40B4-BE49-F238E27FC236}">
                      <a16:creationId xmlns:a16="http://schemas.microsoft.com/office/drawing/2014/main" id="{27BEBFD9-031E-9841-B5F7-7D386A4A63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1" name="Text Box 179">
                  <a:extLst>
                    <a:ext uri="{FF2B5EF4-FFF2-40B4-BE49-F238E27FC236}">
                      <a16:creationId xmlns:a16="http://schemas.microsoft.com/office/drawing/2014/main" id="{E2807452-4E45-A343-A9DB-BCE3AD6EFC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4" name="Group 180">
                <a:extLst>
                  <a:ext uri="{FF2B5EF4-FFF2-40B4-BE49-F238E27FC236}">
                    <a16:creationId xmlns:a16="http://schemas.microsoft.com/office/drawing/2014/main" id="{E2862A55-1193-6B42-A461-5A80B3181D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88" name="Text Box 181">
                  <a:extLst>
                    <a:ext uri="{FF2B5EF4-FFF2-40B4-BE49-F238E27FC236}">
                      <a16:creationId xmlns:a16="http://schemas.microsoft.com/office/drawing/2014/main" id="{01435FAB-F15B-0E45-861B-8EBA32BBBC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9" name="Text Box 182">
                  <a:extLst>
                    <a:ext uri="{FF2B5EF4-FFF2-40B4-BE49-F238E27FC236}">
                      <a16:creationId xmlns:a16="http://schemas.microsoft.com/office/drawing/2014/main" id="{2906B13A-27B9-0148-93DD-FE778E65A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5" name="Group 183">
                <a:extLst>
                  <a:ext uri="{FF2B5EF4-FFF2-40B4-BE49-F238E27FC236}">
                    <a16:creationId xmlns:a16="http://schemas.microsoft.com/office/drawing/2014/main" id="{282D1DA6-C84E-1449-A073-296D39FDF4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86" name="Text Box 184">
                  <a:extLst>
                    <a:ext uri="{FF2B5EF4-FFF2-40B4-BE49-F238E27FC236}">
                      <a16:creationId xmlns:a16="http://schemas.microsoft.com/office/drawing/2014/main" id="{73D24F3E-547E-3C40-BF10-82D6BD1ACA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7" name="Text Box 185">
                  <a:extLst>
                    <a:ext uri="{FF2B5EF4-FFF2-40B4-BE49-F238E27FC236}">
                      <a16:creationId xmlns:a16="http://schemas.microsoft.com/office/drawing/2014/main" id="{F52A5A57-AC26-F149-A7A1-421A88E60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42" name="Group 247">
              <a:extLst>
                <a:ext uri="{FF2B5EF4-FFF2-40B4-BE49-F238E27FC236}">
                  <a16:creationId xmlns:a16="http://schemas.microsoft.com/office/drawing/2014/main" id="{35F0A701-410D-2F49-B340-79615F469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43" name="Group 248">
                <a:extLst>
                  <a:ext uri="{FF2B5EF4-FFF2-40B4-BE49-F238E27FC236}">
                    <a16:creationId xmlns:a16="http://schemas.microsoft.com/office/drawing/2014/main" id="{1DF40E68-42FF-A94A-9BAA-73BCDDCA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67" name="Text Box 249">
                  <a:extLst>
                    <a:ext uri="{FF2B5EF4-FFF2-40B4-BE49-F238E27FC236}">
                      <a16:creationId xmlns:a16="http://schemas.microsoft.com/office/drawing/2014/main" id="{50315623-CCC4-D04E-94B4-E09CCFE65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grpSp>
              <p:nvGrpSpPr>
                <p:cNvPr id="668" name="Group 250">
                  <a:extLst>
                    <a:ext uri="{FF2B5EF4-FFF2-40B4-BE49-F238E27FC236}">
                      <a16:creationId xmlns:a16="http://schemas.microsoft.com/office/drawing/2014/main" id="{0423722D-EED6-2C40-96CF-D2B161E50D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1" name="Rectangle 251">
                    <a:extLst>
                      <a:ext uri="{FF2B5EF4-FFF2-40B4-BE49-F238E27FC236}">
                        <a16:creationId xmlns:a16="http://schemas.microsoft.com/office/drawing/2014/main" id="{A86E3B01-C421-EE45-8D3F-1612B8DC3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2" name="Line 252">
                    <a:extLst>
                      <a:ext uri="{FF2B5EF4-FFF2-40B4-BE49-F238E27FC236}">
                        <a16:creationId xmlns:a16="http://schemas.microsoft.com/office/drawing/2014/main" id="{CEF79668-303A-2A42-A173-462E4CD7A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Line 253">
                    <a:extLst>
                      <a:ext uri="{FF2B5EF4-FFF2-40B4-BE49-F238E27FC236}">
                        <a16:creationId xmlns:a16="http://schemas.microsoft.com/office/drawing/2014/main" id="{45F3942A-DF40-F34A-A548-41C0B8ED7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69" name="Text Box 254">
                  <a:extLst>
                    <a:ext uri="{FF2B5EF4-FFF2-40B4-BE49-F238E27FC236}">
                      <a16:creationId xmlns:a16="http://schemas.microsoft.com/office/drawing/2014/main" id="{5325936F-8133-6E46-A67B-A6E04108B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70" name="Text Box 255">
                  <a:extLst>
                    <a:ext uri="{FF2B5EF4-FFF2-40B4-BE49-F238E27FC236}">
                      <a16:creationId xmlns:a16="http://schemas.microsoft.com/office/drawing/2014/main" id="{1D11D61F-0F30-674D-AF2C-E9B484BE88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644" name="Group 256">
                <a:extLst>
                  <a:ext uri="{FF2B5EF4-FFF2-40B4-BE49-F238E27FC236}">
                    <a16:creationId xmlns:a16="http://schemas.microsoft.com/office/drawing/2014/main" id="{49255246-CFE1-694B-A5FE-6873DD8506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45" name="Group 257">
                  <a:extLst>
                    <a:ext uri="{FF2B5EF4-FFF2-40B4-BE49-F238E27FC236}">
                      <a16:creationId xmlns:a16="http://schemas.microsoft.com/office/drawing/2014/main" id="{725A4A1C-0CB7-FC49-85B4-2A8245B69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65" name="Rectangle 258">
                    <a:extLst>
                      <a:ext uri="{FF2B5EF4-FFF2-40B4-BE49-F238E27FC236}">
                        <a16:creationId xmlns:a16="http://schemas.microsoft.com/office/drawing/2014/main" id="{33BF05F9-8282-9745-9268-4319E1CC1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66" name="Text Box 259">
                    <a:extLst>
                      <a:ext uri="{FF2B5EF4-FFF2-40B4-BE49-F238E27FC236}">
                        <a16:creationId xmlns:a16="http://schemas.microsoft.com/office/drawing/2014/main" id="{0152F4B7-7302-7241-9F71-09CCA2E757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46" name="Group 260">
                  <a:extLst>
                    <a:ext uri="{FF2B5EF4-FFF2-40B4-BE49-F238E27FC236}">
                      <a16:creationId xmlns:a16="http://schemas.microsoft.com/office/drawing/2014/main" id="{3E16CEAF-B7C1-0344-A719-EBE25C77AD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61" name="Rectangle 261">
                    <a:extLst>
                      <a:ext uri="{FF2B5EF4-FFF2-40B4-BE49-F238E27FC236}">
                        <a16:creationId xmlns:a16="http://schemas.microsoft.com/office/drawing/2014/main" id="{347D633B-4770-0B48-91C3-3ED698A1D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662" name="Group 262">
                    <a:extLst>
                      <a:ext uri="{FF2B5EF4-FFF2-40B4-BE49-F238E27FC236}">
                        <a16:creationId xmlns:a16="http://schemas.microsoft.com/office/drawing/2014/main" id="{2679B830-A1BE-F34E-8C84-6BD6A5CE0A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63" name="Text Box 263">
                      <a:extLst>
                        <a:ext uri="{FF2B5EF4-FFF2-40B4-BE49-F238E27FC236}">
                          <a16:creationId xmlns:a16="http://schemas.microsoft.com/office/drawing/2014/main" id="{12D2E9D4-6DA4-1F40-8F99-834EF4E271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64" name="Text Box 264">
                      <a:extLst>
                        <a:ext uri="{FF2B5EF4-FFF2-40B4-BE49-F238E27FC236}">
                          <a16:creationId xmlns:a16="http://schemas.microsoft.com/office/drawing/2014/main" id="{D2428074-93A6-7041-9E52-8F24F858003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47" name="Group 265">
                  <a:extLst>
                    <a:ext uri="{FF2B5EF4-FFF2-40B4-BE49-F238E27FC236}">
                      <a16:creationId xmlns:a16="http://schemas.microsoft.com/office/drawing/2014/main" id="{B2923C2C-B32D-B646-81F4-48743D59A8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48" name="Group 266">
                    <a:extLst>
                      <a:ext uri="{FF2B5EF4-FFF2-40B4-BE49-F238E27FC236}">
                        <a16:creationId xmlns:a16="http://schemas.microsoft.com/office/drawing/2014/main" id="{24B1581D-DCB1-DE40-B918-122F06DEBA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58" name="Rectangle 267">
                      <a:extLst>
                        <a:ext uri="{FF2B5EF4-FFF2-40B4-BE49-F238E27FC236}">
                          <a16:creationId xmlns:a16="http://schemas.microsoft.com/office/drawing/2014/main" id="{DE9B340E-B072-9C48-A98E-4AD255214E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59" name="Line 268">
                      <a:extLst>
                        <a:ext uri="{FF2B5EF4-FFF2-40B4-BE49-F238E27FC236}">
                          <a16:creationId xmlns:a16="http://schemas.microsoft.com/office/drawing/2014/main" id="{E6391330-F505-0B46-BBBF-D0DA3DF6FE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60" name="Line 269">
                      <a:extLst>
                        <a:ext uri="{FF2B5EF4-FFF2-40B4-BE49-F238E27FC236}">
                          <a16:creationId xmlns:a16="http://schemas.microsoft.com/office/drawing/2014/main" id="{19776BDD-4693-7C41-A5E5-4DCC74C27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grpSp>
                <p:nvGrpSpPr>
                  <p:cNvPr id="649" name="Group 270">
                    <a:extLst>
                      <a:ext uri="{FF2B5EF4-FFF2-40B4-BE49-F238E27FC236}">
                        <a16:creationId xmlns:a16="http://schemas.microsoft.com/office/drawing/2014/main" id="{28D03778-4B65-F44A-A385-77A9FBD674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6" name="Text Box 271">
                      <a:extLst>
                        <a:ext uri="{FF2B5EF4-FFF2-40B4-BE49-F238E27FC236}">
                          <a16:creationId xmlns:a16="http://schemas.microsoft.com/office/drawing/2014/main" id="{81D6076F-5BC3-A148-AB2C-C5D5C389F15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7" name="Text Box 272">
                      <a:extLst>
                        <a:ext uri="{FF2B5EF4-FFF2-40B4-BE49-F238E27FC236}">
                          <a16:creationId xmlns:a16="http://schemas.microsoft.com/office/drawing/2014/main" id="{6E686EE1-0336-C444-919F-155540BD22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0" name="Group 273">
                    <a:extLst>
                      <a:ext uri="{FF2B5EF4-FFF2-40B4-BE49-F238E27FC236}">
                        <a16:creationId xmlns:a16="http://schemas.microsoft.com/office/drawing/2014/main" id="{9AEE3B2A-A33A-FD48-AB98-1762623B3E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4" name="Text Box 274">
                      <a:extLst>
                        <a:ext uri="{FF2B5EF4-FFF2-40B4-BE49-F238E27FC236}">
                          <a16:creationId xmlns:a16="http://schemas.microsoft.com/office/drawing/2014/main" id="{FF78F8BB-1136-384B-87D0-0FABBA7760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5" name="Text Box 275">
                      <a:extLst>
                        <a:ext uri="{FF2B5EF4-FFF2-40B4-BE49-F238E27FC236}">
                          <a16:creationId xmlns:a16="http://schemas.microsoft.com/office/drawing/2014/main" id="{540F050E-7AB6-DE43-9FE2-A8CBB750DA2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1" name="Group 276">
                    <a:extLst>
                      <a:ext uri="{FF2B5EF4-FFF2-40B4-BE49-F238E27FC236}">
                        <a16:creationId xmlns:a16="http://schemas.microsoft.com/office/drawing/2014/main" id="{E953BF9D-1B49-F14E-8125-4E69DC22D4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2" name="Text Box 277">
                      <a:extLst>
                        <a:ext uri="{FF2B5EF4-FFF2-40B4-BE49-F238E27FC236}">
                          <a16:creationId xmlns:a16="http://schemas.microsoft.com/office/drawing/2014/main" id="{03AC9888-B6B3-2347-BFC8-24FE2B6914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3" name="Text Box 278">
                      <a:extLst>
                        <a:ext uri="{FF2B5EF4-FFF2-40B4-BE49-F238E27FC236}">
                          <a16:creationId xmlns:a16="http://schemas.microsoft.com/office/drawing/2014/main" id="{7B5941A7-A095-C24C-ACAB-2611A8386C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700" name="Text Box 279">
            <a:extLst>
              <a:ext uri="{FF2B5EF4-FFF2-40B4-BE49-F238E27FC236}">
                <a16:creationId xmlns:a16="http://schemas.microsoft.com/office/drawing/2014/main" id="{C3ADE7CF-6B1B-3A40-9C93-682DC233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3" y="4781058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1" name="Text Box 280">
            <a:extLst>
              <a:ext uri="{FF2B5EF4-FFF2-40B4-BE49-F238E27FC236}">
                <a16:creationId xmlns:a16="http://schemas.microsoft.com/office/drawing/2014/main" id="{2DB0E8B8-6D0F-1F45-B1C9-934903F4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4800108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2" name="Line 281">
            <a:extLst>
              <a:ext uri="{FF2B5EF4-FFF2-40B4-BE49-F238E27FC236}">
                <a16:creationId xmlns:a16="http://schemas.microsoft.com/office/drawing/2014/main" id="{F43EEBF4-B5EC-504C-A57E-D613795D7A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4113" y="413970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3" name="Line 282">
            <a:extLst>
              <a:ext uri="{FF2B5EF4-FFF2-40B4-BE49-F238E27FC236}">
                <a16:creationId xmlns:a16="http://schemas.microsoft.com/office/drawing/2014/main" id="{FEAE5ECD-62F9-FA44-9B46-8A7D1041AB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75675" y="412065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4" name="Line 283">
            <a:extLst>
              <a:ext uri="{FF2B5EF4-FFF2-40B4-BE49-F238E27FC236}">
                <a16:creationId xmlns:a16="http://schemas.microsoft.com/office/drawing/2014/main" id="{7B384DE4-6DB7-454D-B810-D17D965BC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90100" y="4130183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5" name="Text Box 285">
            <a:extLst>
              <a:ext uri="{FF2B5EF4-FFF2-40B4-BE49-F238E27FC236}">
                <a16:creationId xmlns:a16="http://schemas.microsoft.com/office/drawing/2014/main" id="{766AAAA2-BFCF-D943-8E92-00703B53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188" y="4130510"/>
            <a:ext cx="135620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receiver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706" name="Text Box 286">
            <a:extLst>
              <a:ext uri="{FF2B5EF4-FFF2-40B4-BE49-F238E27FC236}">
                <a16:creationId xmlns:a16="http://schemas.microsoft.com/office/drawing/2014/main" id="{4E201B4B-D1A3-B34B-853E-C805C3492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1238" y="4927108"/>
            <a:ext cx="67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707" name="Text Box 287">
            <a:extLst>
              <a:ext uri="{FF2B5EF4-FFF2-40B4-BE49-F238E27FC236}">
                <a16:creationId xmlns:a16="http://schemas.microsoft.com/office/drawing/2014/main" id="{5FF38D44-BF76-924E-BEA5-D88A3CF1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338" y="4161933"/>
            <a:ext cx="104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received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input</a:t>
            </a:r>
          </a:p>
        </p:txBody>
      </p:sp>
      <p:sp>
        <p:nvSpPr>
          <p:cNvPr id="708" name="Line 288">
            <a:extLst>
              <a:ext uri="{FF2B5EF4-FFF2-40B4-BE49-F238E27FC236}">
                <a16:creationId xmlns:a16="http://schemas.microsoft.com/office/drawing/2014/main" id="{C7275329-6E61-6E46-B56D-07D7F6CE1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725" y="4527058"/>
            <a:ext cx="319088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709" name="Group 294">
            <a:extLst>
              <a:ext uri="{FF2B5EF4-FFF2-40B4-BE49-F238E27FC236}">
                <a16:creationId xmlns:a16="http://schemas.microsoft.com/office/drawing/2014/main" id="{B1EAA023-990A-9240-9585-BB2098908379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388820"/>
            <a:ext cx="1517650" cy="977900"/>
            <a:chOff x="4239" y="2007"/>
            <a:chExt cx="956" cy="616"/>
          </a:xfrm>
        </p:grpSpPr>
        <p:sp>
          <p:nvSpPr>
            <p:cNvPr id="710" name="Text Box 187">
              <a:extLst>
                <a:ext uri="{FF2B5EF4-FFF2-40B4-BE49-F238E27FC236}">
                  <a16:creationId xmlns:a16="http://schemas.microsoft.com/office/drawing/2014/main" id="{8AC104B8-3AFC-404A-8890-2A936D10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" y="2047"/>
              <a:ext cx="9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=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Z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i,m</a:t>
              </a:r>
              <a:r>
                <a:rPr kumimoji="0" lang="en-US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.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</a:t>
              </a:r>
            </a:p>
          </p:txBody>
        </p:sp>
        <p:sp>
          <p:nvSpPr>
            <p:cNvPr id="711" name="Text Box 289">
              <a:extLst>
                <a:ext uri="{FF2B5EF4-FFF2-40B4-BE49-F238E27FC236}">
                  <a16:creationId xmlns:a16="http://schemas.microsoft.com/office/drawing/2014/main" id="{FCB34A07-4861-174C-8358-8A395B515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" y="2258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m=1</a:t>
              </a:r>
            </a:p>
          </p:txBody>
        </p:sp>
        <p:sp>
          <p:nvSpPr>
            <p:cNvPr id="712" name="Text Box 290">
              <a:extLst>
                <a:ext uri="{FF2B5EF4-FFF2-40B4-BE49-F238E27FC236}">
                  <a16:creationId xmlns:a16="http://schemas.microsoft.com/office/drawing/2014/main" id="{BF575CBE-6E6F-6E48-BF85-CEA2918EC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1" y="2007"/>
              <a:ext cx="19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3" name="Text Box 291">
              <a:extLst>
                <a:ext uri="{FF2B5EF4-FFF2-40B4-BE49-F238E27FC236}">
                  <a16:creationId xmlns:a16="http://schemas.microsoft.com/office/drawing/2014/main" id="{14D8E7C4-D8A4-D045-B820-AC56F1EA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8" y="2392"/>
              <a:ext cx="2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4" name="Line 293">
              <a:extLst>
                <a:ext uri="{FF2B5EF4-FFF2-40B4-BE49-F238E27FC236}">
                  <a16:creationId xmlns:a16="http://schemas.microsoft.com/office/drawing/2014/main" id="{566C617A-A3D7-A846-9070-9BD1F795D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15" name="Freeform 300">
            <a:extLst>
              <a:ext uri="{FF2B5EF4-FFF2-40B4-BE49-F238E27FC236}">
                <a16:creationId xmlns:a16="http://schemas.microsoft.com/office/drawing/2014/main" id="{58127CAF-8C3E-7847-BB19-ADED23DCC983}"/>
              </a:ext>
            </a:extLst>
          </p:cNvPr>
          <p:cNvSpPr>
            <a:spLocks/>
          </p:cNvSpPr>
          <p:nvPr/>
        </p:nvSpPr>
        <p:spPr bwMode="auto">
          <a:xfrm>
            <a:off x="8977313" y="1918795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7 w 215"/>
              <a:gd name="T3" fmla="*/ 0 h 819"/>
              <a:gd name="T4" fmla="*/ 2147483647 w 215"/>
              <a:gd name="T5" fmla="*/ 2147483647 h 8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6" name="Line 302">
            <a:extLst>
              <a:ext uri="{FF2B5EF4-FFF2-40B4-BE49-F238E27FC236}">
                <a16:creationId xmlns:a16="http://schemas.microsoft.com/office/drawing/2014/main" id="{719F039E-D32E-3D4D-85DB-096D3DA089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54438" y="3295158"/>
            <a:ext cx="5553075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7" name="Freeform 303">
            <a:extLst>
              <a:ext uri="{FF2B5EF4-FFF2-40B4-BE49-F238E27FC236}">
                <a16:creationId xmlns:a16="http://schemas.microsoft.com/office/drawing/2014/main" id="{2BEFB13F-083C-094A-802D-56E8B9394E6D}"/>
              </a:ext>
            </a:extLst>
          </p:cNvPr>
          <p:cNvSpPr>
            <a:spLocks/>
          </p:cNvSpPr>
          <p:nvPr/>
        </p:nvSpPr>
        <p:spPr bwMode="auto">
          <a:xfrm>
            <a:off x="3754438" y="3295158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7 h 729"/>
              <a:gd name="T4" fmla="*/ 2147483647 w 250"/>
              <a:gd name="T5" fmla="*/ 2147483647 h 7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FE7C60-9BDB-934C-AED2-4DA7A761AFFC}"/>
              </a:ext>
            </a:extLst>
          </p:cNvPr>
          <p:cNvSpPr txBox="1"/>
          <p:nvPr/>
        </p:nvSpPr>
        <p:spPr>
          <a:xfrm>
            <a:off x="944381" y="5861155"/>
            <a:ext cx="48272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but this isn’t really useful yet!</a:t>
            </a:r>
          </a:p>
        </p:txBody>
      </p:sp>
    </p:spTree>
    <p:extLst>
      <p:ext uri="{BB962C8B-B14F-4D97-AF65-F5344CB8AC3E}">
        <p14:creationId xmlns:p14="http://schemas.microsoft.com/office/powerpoint/2010/main" val="2791428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5" grpId="0" animBg="1"/>
      <p:bldP spid="717" grpId="0" animBg="1"/>
      <p:bldP spid="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CDMA: two-sender interference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pic>
        <p:nvPicPr>
          <p:cNvPr id="295" name="Picture 3" descr="5">
            <a:extLst>
              <a:ext uri="{FF2B5EF4-FFF2-40B4-BE49-F238E27FC236}">
                <a16:creationId xmlns:a16="http://schemas.microsoft.com/office/drawing/2014/main" id="{36C38E2C-4E51-7349-B2FC-F7572D473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0" y="12192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TextBox 1">
            <a:extLst>
              <a:ext uri="{FF2B5EF4-FFF2-40B4-BE49-F238E27FC236}">
                <a16:creationId xmlns:a16="http://schemas.microsoft.com/office/drawing/2014/main" id="{F140E95D-3F84-634C-9A02-B246B2C3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2372" y="4172262"/>
            <a:ext cx="3709987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using same code as sender 1, receiver recovers sender 1’s original data from summed channel data!</a:t>
            </a:r>
          </a:p>
        </p:txBody>
      </p:sp>
      <p:sp>
        <p:nvSpPr>
          <p:cNvPr id="297" name="TextBox 7">
            <a:extLst>
              <a:ext uri="{FF2B5EF4-FFF2-40B4-BE49-F238E27FC236}">
                <a16:creationId xmlns:a16="http://schemas.microsoft.com/office/drawing/2014/main" id="{09EF984F-02A4-AE44-AB15-EDCB93C8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1798638"/>
            <a:ext cx="1397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1</a:t>
            </a:r>
          </a:p>
        </p:txBody>
      </p:sp>
      <p:sp>
        <p:nvSpPr>
          <p:cNvPr id="298" name="TextBox 8">
            <a:extLst>
              <a:ext uri="{FF2B5EF4-FFF2-40B4-BE49-F238E27FC236}">
                <a16:creationId xmlns:a16="http://schemas.microsoft.com/office/drawing/2014/main" id="{5FF6A3D7-E543-604B-8421-97434E70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650" y="2865438"/>
            <a:ext cx="13117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2</a:t>
            </a:r>
          </a:p>
        </p:txBody>
      </p:sp>
      <p:sp>
        <p:nvSpPr>
          <p:cNvPr id="299" name="TextBox 9">
            <a:extLst>
              <a:ext uri="{FF2B5EF4-FFF2-40B4-BE49-F238E27FC236}">
                <a16:creationId xmlns:a16="http://schemas.microsoft.com/office/drawing/2014/main" id="{F8ED1740-EE66-7A44-B101-8A652D0EE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5313" y="1165225"/>
            <a:ext cx="3290887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channel sums together transmissions by sender 1 and 2</a:t>
            </a:r>
          </a:p>
        </p:txBody>
      </p:sp>
      <p:cxnSp>
        <p:nvCxnSpPr>
          <p:cNvPr id="300" name="Straight Connector 3">
            <a:extLst>
              <a:ext uri="{FF2B5EF4-FFF2-40B4-BE49-F238E27FC236}">
                <a16:creationId xmlns:a16="http://schemas.microsoft.com/office/drawing/2014/main" id="{23A37B6F-F66B-7B4B-8770-CCC19B92994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780338" y="1354138"/>
            <a:ext cx="438150" cy="646112"/>
          </a:xfrm>
          <a:prstGeom prst="line">
            <a:avLst/>
          </a:prstGeom>
          <a:noFill/>
          <a:ln w="25400">
            <a:solidFill>
              <a:srgbClr val="000099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DE8A350A-A5B1-5E40-B020-BBAE8B171445}"/>
              </a:ext>
            </a:extLst>
          </p:cNvPr>
          <p:cNvSpPr/>
          <p:nvPr/>
        </p:nvSpPr>
        <p:spPr>
          <a:xfrm>
            <a:off x="3200400" y="1168400"/>
            <a:ext cx="1206500" cy="317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CB0485-674A-1545-B66D-393FD9C2F9B6}"/>
              </a:ext>
            </a:extLst>
          </p:cNvPr>
          <p:cNvSpPr txBox="1"/>
          <p:nvPr/>
        </p:nvSpPr>
        <p:spPr>
          <a:xfrm>
            <a:off x="8259581" y="5585272"/>
            <a:ext cx="3214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now </a:t>
            </a:r>
            <a:r>
              <a:rPr lang="en-US" sz="2800" i="1" dirty="0">
                <a:solidFill>
                  <a:srgbClr val="0000A8"/>
                </a:solidFill>
              </a:rPr>
              <a:t>that’s</a:t>
            </a:r>
            <a:r>
              <a:rPr lang="en-US" sz="2800" i="1" dirty="0"/>
              <a:t> </a:t>
            </a:r>
            <a:r>
              <a:rPr lang="en-US" sz="2800" dirty="0"/>
              <a:t>useful!</a:t>
            </a:r>
          </a:p>
        </p:txBody>
      </p:sp>
    </p:spTree>
    <p:extLst>
      <p:ext uri="{BB962C8B-B14F-4D97-AF65-F5344CB8AC3E}">
        <p14:creationId xmlns:p14="http://schemas.microsoft.com/office/powerpoint/2010/main" val="1404328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32E687-93CC-EF93-C3C5-44ED4A738B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F7FBDE8-D747-3678-7A7B-452B950F61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5314" y="647459"/>
            <a:ext cx="10981372" cy="55630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4220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DC91DE-5587-F996-5062-4A0CCA3DBF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7BA0142-3508-6E7D-2A6C-A2A85C659D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780" y="1741023"/>
            <a:ext cx="11522439" cy="3375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329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85BD54-1569-BEFA-8973-5951DB1B73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4CBCA2D-93DF-74CB-2A75-0764AA0172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3917" y="1238060"/>
            <a:ext cx="10684166" cy="43818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5574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80365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Wireless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490124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standard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Year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Max data rate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Range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Frequency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unused TV bands (54-790 MHz)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all use CSMA/CA for multiple access, and have base-station and ad-hoc network versions</a:t>
            </a:r>
          </a:p>
        </p:txBody>
      </p:sp>
    </p:spTree>
    <p:extLst>
      <p:ext uri="{BB962C8B-B14F-4D97-AF65-F5344CB8AC3E}">
        <p14:creationId xmlns:p14="http://schemas.microsoft.com/office/powerpoint/2010/main" val="36123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base station = access point (AP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)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access point (AP): base station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ad hoc mode: hosts only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Channels, association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01092EE6-BC8D-EE40-AD06-948C48B5F56E}"/>
              </a:ext>
            </a:extLst>
          </p:cNvPr>
          <p:cNvSpPr txBox="1">
            <a:spLocks noChangeArrowheads="1"/>
          </p:cNvSpPr>
          <p:nvPr/>
        </p:nvSpPr>
        <p:spPr>
          <a:xfrm>
            <a:off x="812800" y="1373890"/>
            <a:ext cx="9740900" cy="18489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spectrum divided into channels at different frequencies</a:t>
            </a:r>
          </a:p>
          <a:p>
            <a:pPr lvl="1">
              <a:defRPr/>
            </a:pPr>
            <a:r>
              <a:rPr lang="en-US" sz="2800" dirty="0"/>
              <a:t>AP admin chooses frequency for AP</a:t>
            </a:r>
          </a:p>
          <a:p>
            <a:pPr lvl="1">
              <a:defRPr/>
            </a:pPr>
            <a:r>
              <a:rPr lang="en-US" sz="2800" dirty="0"/>
              <a:t>interference possible: channel can be same as that chosen by neighboring AP!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875258" y="3289716"/>
            <a:ext cx="7744086" cy="290122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arriving host: must </a:t>
            </a:r>
            <a:r>
              <a:rPr lang="en-US" sz="3200" dirty="0">
                <a:solidFill>
                  <a:srgbClr val="C00000"/>
                </a:solidFill>
              </a:rPr>
              <a:t>associate </a:t>
            </a:r>
            <a:r>
              <a:rPr lang="en-US" sz="3200" dirty="0"/>
              <a:t>with an AP</a:t>
            </a:r>
          </a:p>
          <a:p>
            <a:pPr lvl="1">
              <a:defRPr/>
            </a:pPr>
            <a:r>
              <a:rPr lang="en-US" sz="2800" dirty="0"/>
              <a:t>scans channels, listening for </a:t>
            </a:r>
            <a:r>
              <a:rPr lang="en-US" sz="2800" i="1" dirty="0"/>
              <a:t>beacon frames</a:t>
            </a:r>
            <a:r>
              <a:rPr lang="en-US" sz="2800" dirty="0"/>
              <a:t> containing AP</a:t>
            </a:r>
            <a:r>
              <a:rPr lang="en-US" altLang="ja-JP" sz="2800" dirty="0"/>
              <a:t>’</a:t>
            </a:r>
            <a:r>
              <a:rPr lang="en-US" sz="2800" dirty="0"/>
              <a:t>s name (SSID) and MAC address</a:t>
            </a:r>
          </a:p>
          <a:p>
            <a:pPr lvl="1">
              <a:defRPr/>
            </a:pPr>
            <a:r>
              <a:rPr lang="en-US" sz="2800" dirty="0"/>
              <a:t>selects AP to associate with</a:t>
            </a:r>
          </a:p>
          <a:p>
            <a:pPr lvl="1">
              <a:defRPr/>
            </a:pPr>
            <a:r>
              <a:rPr lang="en-US" sz="2800" dirty="0"/>
              <a:t>then may perform authentication [Chapter 8]</a:t>
            </a:r>
          </a:p>
          <a:p>
            <a:pPr lvl="1">
              <a:defRPr/>
            </a:pPr>
            <a:r>
              <a:rPr lang="en-US" sz="2800" dirty="0"/>
              <a:t>then typically run DHCP to get IP address in AP’s subnet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" name="Text Box 24">
            <a:extLst>
              <a:ext uri="{FF2B5EF4-FFF2-40B4-BE49-F238E27FC236}">
                <a16:creationId xmlns:a16="http://schemas.microsoft.com/office/drawing/2014/main" id="{DCD46FA0-764B-934B-B2AF-0DC228D51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724" y="5082108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</a:t>
            </a:r>
          </a:p>
        </p:txBody>
      </p:sp>
      <p:sp>
        <p:nvSpPr>
          <p:cNvPr id="7" name="Oval 23">
            <a:extLst>
              <a:ext uri="{FF2B5EF4-FFF2-40B4-BE49-F238E27FC236}">
                <a16:creationId xmlns:a16="http://schemas.microsoft.com/office/drawing/2014/main" id="{387CDCFB-6D1C-8249-A4E8-54D6392F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0532" y="3259138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" name="Group 361">
            <a:extLst>
              <a:ext uri="{FF2B5EF4-FFF2-40B4-BE49-F238E27FC236}">
                <a16:creationId xmlns:a16="http://schemas.microsoft.com/office/drawing/2014/main" id="{BCBD0969-5626-8149-8F69-710B4CBBEEAA}"/>
              </a:ext>
            </a:extLst>
          </p:cNvPr>
          <p:cNvGrpSpPr>
            <a:grpSpLocks/>
          </p:cNvGrpSpPr>
          <p:nvPr/>
        </p:nvGrpSpPr>
        <p:grpSpPr bwMode="auto">
          <a:xfrm>
            <a:off x="10059832" y="3976687"/>
            <a:ext cx="639762" cy="581025"/>
            <a:chOff x="2967" y="478"/>
            <a:chExt cx="788" cy="625"/>
          </a:xfrm>
        </p:grpSpPr>
        <p:pic>
          <p:nvPicPr>
            <p:cNvPr id="9" name="Picture 358" descr="access_point_stylized_small">
              <a:extLst>
                <a:ext uri="{FF2B5EF4-FFF2-40B4-BE49-F238E27FC236}">
                  <a16:creationId xmlns:a16="http://schemas.microsoft.com/office/drawing/2014/main" id="{967422E4-59DF-D544-8DF3-464077CFF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360" descr="antenna_radiation_stylized">
              <a:extLst>
                <a:ext uri="{FF2B5EF4-FFF2-40B4-BE49-F238E27FC236}">
                  <a16:creationId xmlns:a16="http://schemas.microsoft.com/office/drawing/2014/main" id="{57AF0FC7-561D-2542-B331-AF65666B2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Group 356">
            <a:extLst>
              <a:ext uri="{FF2B5EF4-FFF2-40B4-BE49-F238E27FC236}">
                <a16:creationId xmlns:a16="http://schemas.microsoft.com/office/drawing/2014/main" id="{8E5841AB-AA5F-304A-A75C-9B12043A936A}"/>
              </a:ext>
            </a:extLst>
          </p:cNvPr>
          <p:cNvGrpSpPr>
            <a:grpSpLocks/>
          </p:cNvGrpSpPr>
          <p:nvPr/>
        </p:nvGrpSpPr>
        <p:grpSpPr bwMode="auto">
          <a:xfrm>
            <a:off x="10621807" y="4244975"/>
            <a:ext cx="436562" cy="498475"/>
            <a:chOff x="313" y="1497"/>
            <a:chExt cx="1152" cy="1014"/>
          </a:xfrm>
        </p:grpSpPr>
        <p:pic>
          <p:nvPicPr>
            <p:cNvPr id="12" name="Picture 354" descr="laptop_stylized_small">
              <a:extLst>
                <a:ext uri="{FF2B5EF4-FFF2-40B4-BE49-F238E27FC236}">
                  <a16:creationId xmlns:a16="http://schemas.microsoft.com/office/drawing/2014/main" id="{FD25A6B2-3332-2B4E-8FA0-7BA799820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355" descr="antenna_stylized">
              <a:extLst>
                <a:ext uri="{FF2B5EF4-FFF2-40B4-BE49-F238E27FC236}">
                  <a16:creationId xmlns:a16="http://schemas.microsoft.com/office/drawing/2014/main" id="{590C97BE-A942-AA4F-945F-94A9C50A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90F23E1-8FB7-1F45-B985-16A0CAFD6642}"/>
              </a:ext>
            </a:extLst>
          </p:cNvPr>
          <p:cNvGrpSpPr>
            <a:grpSpLocks/>
          </p:cNvGrpSpPr>
          <p:nvPr/>
        </p:nvGrpSpPr>
        <p:grpSpPr bwMode="auto">
          <a:xfrm>
            <a:off x="10287000" y="3427413"/>
            <a:ext cx="446088" cy="382587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A5E50D-6BB1-A046-B7D1-CA3BB3D0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B7E8F32D-F33C-144B-8F36-9553BF43E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" name="Group 356">
            <a:extLst>
              <a:ext uri="{FF2B5EF4-FFF2-40B4-BE49-F238E27FC236}">
                <a16:creationId xmlns:a16="http://schemas.microsoft.com/office/drawing/2014/main" id="{059B4F44-8832-0242-A455-122B40096281}"/>
              </a:ext>
            </a:extLst>
          </p:cNvPr>
          <p:cNvGrpSpPr>
            <a:grpSpLocks/>
          </p:cNvGrpSpPr>
          <p:nvPr/>
        </p:nvGrpSpPr>
        <p:grpSpPr bwMode="auto">
          <a:xfrm>
            <a:off x="9581994" y="3533775"/>
            <a:ext cx="438150" cy="498475"/>
            <a:chOff x="313" y="1497"/>
            <a:chExt cx="1152" cy="1014"/>
          </a:xfrm>
        </p:grpSpPr>
        <p:pic>
          <p:nvPicPr>
            <p:cNvPr id="21" name="Picture 354" descr="laptop_stylized_small">
              <a:extLst>
                <a:ext uri="{FF2B5EF4-FFF2-40B4-BE49-F238E27FC236}">
                  <a16:creationId xmlns:a16="http://schemas.microsoft.com/office/drawing/2014/main" id="{F5FB0D92-9836-8949-854D-C05D5FA0D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355" descr="antenna_stylized">
              <a:extLst>
                <a:ext uri="{FF2B5EF4-FFF2-40B4-BE49-F238E27FC236}">
                  <a16:creationId xmlns:a16="http://schemas.microsoft.com/office/drawing/2014/main" id="{371132D2-7C64-5F43-8DCE-4AF88C5F2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E3BB17F-E600-8A4E-9A66-CE1B89E4C278}"/>
              </a:ext>
            </a:extLst>
          </p:cNvPr>
          <p:cNvGrpSpPr/>
          <p:nvPr/>
        </p:nvGrpSpPr>
        <p:grpSpPr>
          <a:xfrm>
            <a:off x="9359899" y="4467511"/>
            <a:ext cx="780829" cy="625189"/>
            <a:chOff x="9359899" y="4467511"/>
            <a:chExt cx="780829" cy="625189"/>
          </a:xfrm>
        </p:grpSpPr>
        <p:grpSp>
          <p:nvGrpSpPr>
            <p:cNvPr id="17" name="Group 356">
              <a:extLst>
                <a:ext uri="{FF2B5EF4-FFF2-40B4-BE49-F238E27FC236}">
                  <a16:creationId xmlns:a16="http://schemas.microsoft.com/office/drawing/2014/main" id="{263A159C-52C7-8648-8564-D99212E45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1305" y="4467511"/>
              <a:ext cx="436562" cy="498475"/>
              <a:chOff x="313" y="1497"/>
              <a:chExt cx="1152" cy="1014"/>
            </a:xfrm>
          </p:grpSpPr>
          <p:pic>
            <p:nvPicPr>
              <p:cNvPr id="18" name="Picture 354" descr="laptop_stylized_small">
                <a:extLst>
                  <a:ext uri="{FF2B5EF4-FFF2-40B4-BE49-F238E27FC236}">
                    <a16:creationId xmlns:a16="http://schemas.microsoft.com/office/drawing/2014/main" id="{ACCB280B-B2D9-714A-B2E2-C93C642F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" name="Picture 355" descr="antenna_stylized">
                <a:extLst>
                  <a:ext uri="{FF2B5EF4-FFF2-40B4-BE49-F238E27FC236}">
                    <a16:creationId xmlns:a16="http://schemas.microsoft.com/office/drawing/2014/main" id="{93F01B45-1244-4348-8DAE-933491FC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" name="Right Arrow 1">
              <a:extLst>
                <a:ext uri="{FF2B5EF4-FFF2-40B4-BE49-F238E27FC236}">
                  <a16:creationId xmlns:a16="http://schemas.microsoft.com/office/drawing/2014/main" id="{EAB0A830-EAD2-904D-8909-0696D8E11E5F}"/>
                </a:ext>
              </a:extLst>
            </p:cNvPr>
            <p:cNvSpPr/>
            <p:nvPr/>
          </p:nvSpPr>
          <p:spPr>
            <a:xfrm rot="19467811">
              <a:off x="9359899" y="490220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01930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passive/active scanning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AF045E-91D7-C143-A074-18F179B2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484313"/>
            <a:ext cx="2335212" cy="2224087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CB9B4F0-FE18-304B-AF65-832CD5EC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1419225"/>
            <a:ext cx="2335213" cy="2224088"/>
          </a:xfrm>
          <a:prstGeom prst="ellipse">
            <a:avLst/>
          </a:prstGeom>
          <a:solidFill>
            <a:srgbClr val="9CE0FA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3" name="Text Box 82">
            <a:extLst>
              <a:ext uri="{FF2B5EF4-FFF2-40B4-BE49-F238E27FC236}">
                <a16:creationId xmlns:a16="http://schemas.microsoft.com/office/drawing/2014/main" id="{C3A04720-4931-8F43-8B57-71E31368E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9725" y="2536825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2</a:t>
            </a:r>
          </a:p>
        </p:txBody>
      </p:sp>
      <p:sp>
        <p:nvSpPr>
          <p:cNvPr id="84" name="Text Box 83">
            <a:extLst>
              <a:ext uri="{FF2B5EF4-FFF2-40B4-BE49-F238E27FC236}">
                <a16:creationId xmlns:a16="http://schemas.microsoft.com/office/drawing/2014/main" id="{00304734-9533-9D45-9AE1-C945064A3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413" y="2190750"/>
            <a:ext cx="184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84">
            <a:extLst>
              <a:ext uri="{FF2B5EF4-FFF2-40B4-BE49-F238E27FC236}">
                <a16:creationId xmlns:a16="http://schemas.microsoft.com/office/drawing/2014/main" id="{868351C3-223D-B64F-A159-B0572F5BD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547938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1</a:t>
            </a:r>
          </a:p>
        </p:txBody>
      </p:sp>
      <p:sp>
        <p:nvSpPr>
          <p:cNvPr id="86" name="Text Box 85">
            <a:extLst>
              <a:ext uri="{FF2B5EF4-FFF2-40B4-BE49-F238E27FC236}">
                <a16:creationId xmlns:a16="http://schemas.microsoft.com/office/drawing/2014/main" id="{0625600F-7E7E-6E4F-B6F1-CEEF00D2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06750"/>
            <a:ext cx="41710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H1</a:t>
            </a:r>
          </a:p>
        </p:txBody>
      </p:sp>
      <p:sp>
        <p:nvSpPr>
          <p:cNvPr id="87" name="Text Box 87">
            <a:extLst>
              <a:ext uri="{FF2B5EF4-FFF2-40B4-BE49-F238E27FC236}">
                <a16:creationId xmlns:a16="http://schemas.microsoft.com/office/drawing/2014/main" id="{EBB6CABF-2971-A14F-9B8B-6F0C0F582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7113" y="15414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2</a:t>
            </a:r>
          </a:p>
        </p:txBody>
      </p:sp>
      <p:sp>
        <p:nvSpPr>
          <p:cNvPr id="88" name="Text Box 88">
            <a:extLst>
              <a:ext uri="{FF2B5EF4-FFF2-40B4-BE49-F238E27FC236}">
                <a16:creationId xmlns:a16="http://schemas.microsoft.com/office/drawing/2014/main" id="{F75F5B0B-0F3C-6647-AED6-6C76DAFDB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14906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1</a:t>
            </a:r>
          </a:p>
        </p:txBody>
      </p:sp>
      <p:sp>
        <p:nvSpPr>
          <p:cNvPr id="89" name="Line 130">
            <a:extLst>
              <a:ext uri="{FF2B5EF4-FFF2-40B4-BE49-F238E27FC236}">
                <a16:creationId xmlns:a16="http://schemas.microsoft.com/office/drawing/2014/main" id="{8073CD9C-341A-114B-B97E-11B0B706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3300" y="2571750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131">
            <a:extLst>
              <a:ext uri="{FF2B5EF4-FFF2-40B4-BE49-F238E27FC236}">
                <a16:creationId xmlns:a16="http://schemas.microsoft.com/office/drawing/2014/main" id="{4EB92289-2E4D-F548-83C5-4A0A32DE7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60713" y="25876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132">
            <a:extLst>
              <a:ext uri="{FF2B5EF4-FFF2-40B4-BE49-F238E27FC236}">
                <a16:creationId xmlns:a16="http://schemas.microsoft.com/office/drawing/2014/main" id="{3BDB9189-D018-6C4C-AC3E-937752996D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9150" y="2919413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133">
            <a:extLst>
              <a:ext uri="{FF2B5EF4-FFF2-40B4-BE49-F238E27FC236}">
                <a16:creationId xmlns:a16="http://schemas.microsoft.com/office/drawing/2014/main" id="{FF9D0B69-9AAB-CE4A-8B06-FB00CFD948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700" y="27400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98DEBD3-FD8E-8745-8316-4D7E094EF678}"/>
              </a:ext>
            </a:extLst>
          </p:cNvPr>
          <p:cNvGrpSpPr>
            <a:grpSpLocks/>
          </p:cNvGrpSpPr>
          <p:nvPr/>
        </p:nvGrpSpPr>
        <p:grpSpPr bwMode="auto">
          <a:xfrm>
            <a:off x="3470275" y="2489200"/>
            <a:ext cx="282575" cy="304800"/>
            <a:chOff x="1255" y="3461"/>
            <a:chExt cx="178" cy="192"/>
          </a:xfrm>
        </p:grpSpPr>
        <p:sp>
          <p:nvSpPr>
            <p:cNvPr id="94" name="Oval 135">
              <a:extLst>
                <a:ext uri="{FF2B5EF4-FFF2-40B4-BE49-F238E27FC236}">
                  <a16:creationId xmlns:a16="http://schemas.microsoft.com/office/drawing/2014/main" id="{5D70F54B-09EA-AA48-AC97-DCA1572E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5" name="Text Box 136">
              <a:extLst>
                <a:ext uri="{FF2B5EF4-FFF2-40B4-BE49-F238E27FC236}">
                  <a16:creationId xmlns:a16="http://schemas.microsoft.com/office/drawing/2014/main" id="{9248FBF3-D045-E94D-8A5E-691C60200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96" name="Group 137">
            <a:extLst>
              <a:ext uri="{FF2B5EF4-FFF2-40B4-BE49-F238E27FC236}">
                <a16:creationId xmlns:a16="http://schemas.microsoft.com/office/drawing/2014/main" id="{F3ABB5F1-C9FC-E24A-AA88-F33AE3DBE01C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2746375"/>
            <a:ext cx="282575" cy="304800"/>
            <a:chOff x="1851" y="2490"/>
            <a:chExt cx="178" cy="192"/>
          </a:xfrm>
        </p:grpSpPr>
        <p:sp>
          <p:nvSpPr>
            <p:cNvPr id="97" name="Oval 138">
              <a:extLst>
                <a:ext uri="{FF2B5EF4-FFF2-40B4-BE49-F238E27FC236}">
                  <a16:creationId xmlns:a16="http://schemas.microsoft.com/office/drawing/2014/main" id="{2CAFF632-FE2A-8F42-9DF6-4770C143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8" name="Text Box 139">
              <a:extLst>
                <a:ext uri="{FF2B5EF4-FFF2-40B4-BE49-F238E27FC236}">
                  <a16:creationId xmlns:a16="http://schemas.microsoft.com/office/drawing/2014/main" id="{2B9CD90C-170D-AF4C-A94F-58E14B45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99" name="Group 140">
            <a:extLst>
              <a:ext uri="{FF2B5EF4-FFF2-40B4-BE49-F238E27FC236}">
                <a16:creationId xmlns:a16="http://schemas.microsoft.com/office/drawing/2014/main" id="{EB9E0344-1500-E743-B416-59C55DED0014}"/>
              </a:ext>
            </a:extLst>
          </p:cNvPr>
          <p:cNvGrpSpPr>
            <a:grpSpLocks/>
          </p:cNvGrpSpPr>
          <p:nvPr/>
        </p:nvGrpSpPr>
        <p:grpSpPr bwMode="auto">
          <a:xfrm>
            <a:off x="3668713" y="2852738"/>
            <a:ext cx="282575" cy="304800"/>
            <a:chOff x="1851" y="2490"/>
            <a:chExt cx="178" cy="192"/>
          </a:xfrm>
        </p:grpSpPr>
        <p:sp>
          <p:nvSpPr>
            <p:cNvPr id="100" name="Oval 141">
              <a:extLst>
                <a:ext uri="{FF2B5EF4-FFF2-40B4-BE49-F238E27FC236}">
                  <a16:creationId xmlns:a16="http://schemas.microsoft.com/office/drawing/2014/main" id="{EEBFDDEF-37D1-7F4C-BFEE-DFA2CEB5A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1" name="Text Box 142">
              <a:extLst>
                <a:ext uri="{FF2B5EF4-FFF2-40B4-BE49-F238E27FC236}">
                  <a16:creationId xmlns:a16="http://schemas.microsoft.com/office/drawing/2014/main" id="{51F3D4AB-B9FD-FA4B-9A62-A65BBECE0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102" name="Group 143">
            <a:extLst>
              <a:ext uri="{FF2B5EF4-FFF2-40B4-BE49-F238E27FC236}">
                <a16:creationId xmlns:a16="http://schemas.microsoft.com/office/drawing/2014/main" id="{42FBC787-90B8-A24C-8A89-360AF9A8805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462213"/>
            <a:ext cx="282575" cy="304800"/>
            <a:chOff x="1255" y="3461"/>
            <a:chExt cx="178" cy="192"/>
          </a:xfrm>
        </p:grpSpPr>
        <p:sp>
          <p:nvSpPr>
            <p:cNvPr id="103" name="Oval 144">
              <a:extLst>
                <a:ext uri="{FF2B5EF4-FFF2-40B4-BE49-F238E27FC236}">
                  <a16:creationId xmlns:a16="http://schemas.microsoft.com/office/drawing/2014/main" id="{A7E5DA53-8FBF-9049-941C-3A0A8877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4" name="Text Box 145">
              <a:extLst>
                <a:ext uri="{FF2B5EF4-FFF2-40B4-BE49-F238E27FC236}">
                  <a16:creationId xmlns:a16="http://schemas.microsoft.com/office/drawing/2014/main" id="{F1D577AA-5AFC-C444-8667-DB34E2DD1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105" name="Text Box 146">
            <a:extLst>
              <a:ext uri="{FF2B5EF4-FFF2-40B4-BE49-F238E27FC236}">
                <a16:creationId xmlns:a16="http://schemas.microsoft.com/office/drawing/2014/main" id="{6D413089-8DF0-BF4D-BEAF-7C980C797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3894138"/>
            <a:ext cx="4535487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</a:rPr>
              <a:t>passive scanning: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beacon frames sent from APs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Request frame sent: H1 to selected AP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Response frame sent from  selected AP to H1</a:t>
            </a:r>
          </a:p>
        </p:txBody>
      </p:sp>
      <p:grpSp>
        <p:nvGrpSpPr>
          <p:cNvPr id="106" name="Group 361">
            <a:extLst>
              <a:ext uri="{FF2B5EF4-FFF2-40B4-BE49-F238E27FC236}">
                <a16:creationId xmlns:a16="http://schemas.microsoft.com/office/drawing/2014/main" id="{A1191884-0247-5D4E-9535-2A43774771C5}"/>
              </a:ext>
            </a:extLst>
          </p:cNvPr>
          <p:cNvGrpSpPr>
            <a:grpSpLocks/>
          </p:cNvGrpSpPr>
          <p:nvPr/>
        </p:nvGrpSpPr>
        <p:grpSpPr bwMode="auto">
          <a:xfrm>
            <a:off x="1831975" y="2092325"/>
            <a:ext cx="649288" cy="561975"/>
            <a:chOff x="2967" y="478"/>
            <a:chExt cx="788" cy="625"/>
          </a:xfrm>
        </p:grpSpPr>
        <p:pic>
          <p:nvPicPr>
            <p:cNvPr id="107" name="Picture 358" descr="access_point_stylized_small">
              <a:extLst>
                <a:ext uri="{FF2B5EF4-FFF2-40B4-BE49-F238E27FC236}">
                  <a16:creationId xmlns:a16="http://schemas.microsoft.com/office/drawing/2014/main" id="{7917981D-8002-DA40-856E-A59096F73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0" descr="antenna_radiation_stylized">
              <a:extLst>
                <a:ext uri="{FF2B5EF4-FFF2-40B4-BE49-F238E27FC236}">
                  <a16:creationId xmlns:a16="http://schemas.microsoft.com/office/drawing/2014/main" id="{CE306E39-D703-8D4B-A467-437C45800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Group 361">
            <a:extLst>
              <a:ext uri="{FF2B5EF4-FFF2-40B4-BE49-F238E27FC236}">
                <a16:creationId xmlns:a16="http://schemas.microsoft.com/office/drawing/2014/main" id="{A7B13AE9-3A25-FA4B-A29B-EA448C7FA664}"/>
              </a:ext>
            </a:extLst>
          </p:cNvPr>
          <p:cNvGrpSpPr>
            <a:grpSpLocks/>
          </p:cNvGrpSpPr>
          <p:nvPr/>
        </p:nvGrpSpPr>
        <p:grpSpPr bwMode="auto">
          <a:xfrm>
            <a:off x="3741738" y="2112963"/>
            <a:ext cx="649287" cy="561975"/>
            <a:chOff x="2967" y="478"/>
            <a:chExt cx="788" cy="625"/>
          </a:xfrm>
        </p:grpSpPr>
        <p:pic>
          <p:nvPicPr>
            <p:cNvPr id="110" name="Picture 358" descr="access_point_stylized_small">
              <a:extLst>
                <a:ext uri="{FF2B5EF4-FFF2-40B4-BE49-F238E27FC236}">
                  <a16:creationId xmlns:a16="http://schemas.microsoft.com/office/drawing/2014/main" id="{D487CEA7-B77C-C949-8EE4-ACC606802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60" descr="antenna_radiation_stylized">
              <a:extLst>
                <a:ext uri="{FF2B5EF4-FFF2-40B4-BE49-F238E27FC236}">
                  <a16:creationId xmlns:a16="http://schemas.microsoft.com/office/drawing/2014/main" id="{F6C38FAC-5253-7F40-9E74-D9D1A34F0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Group 356">
            <a:extLst>
              <a:ext uri="{FF2B5EF4-FFF2-40B4-BE49-F238E27FC236}">
                <a16:creationId xmlns:a16="http://schemas.microsoft.com/office/drawing/2014/main" id="{D300F214-3254-8D43-9686-B90FC019E14B}"/>
              </a:ext>
            </a:extLst>
          </p:cNvPr>
          <p:cNvGrpSpPr>
            <a:grpSpLocks/>
          </p:cNvGrpSpPr>
          <p:nvPr/>
        </p:nvGrpSpPr>
        <p:grpSpPr bwMode="auto">
          <a:xfrm>
            <a:off x="2776538" y="2519363"/>
            <a:ext cx="436562" cy="498475"/>
            <a:chOff x="313" y="1497"/>
            <a:chExt cx="1152" cy="1014"/>
          </a:xfrm>
        </p:grpSpPr>
        <p:pic>
          <p:nvPicPr>
            <p:cNvPr id="113" name="Picture 354" descr="laptop_stylized_small">
              <a:extLst>
                <a:ext uri="{FF2B5EF4-FFF2-40B4-BE49-F238E27FC236}">
                  <a16:creationId xmlns:a16="http://schemas.microsoft.com/office/drawing/2014/main" id="{0C4AD1B7-DFE7-A34D-9CD6-B9BEE140B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5" descr="antenna_stylized">
              <a:extLst>
                <a:ext uri="{FF2B5EF4-FFF2-40B4-BE49-F238E27FC236}">
                  <a16:creationId xmlns:a16="http://schemas.microsoft.com/office/drawing/2014/main" id="{52E4D8A7-70BD-654D-822E-B0919267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9E7783-E6BB-744A-8E8C-B57487DED938}"/>
              </a:ext>
            </a:extLst>
          </p:cNvPr>
          <p:cNvGrpSpPr/>
          <p:nvPr/>
        </p:nvGrpSpPr>
        <p:grpSpPr>
          <a:xfrm>
            <a:off x="6540500" y="1428750"/>
            <a:ext cx="5245100" cy="4833680"/>
            <a:chOff x="6540500" y="1428750"/>
            <a:chExt cx="5245100" cy="4833680"/>
          </a:xfrm>
        </p:grpSpPr>
        <p:sp>
          <p:nvSpPr>
            <p:cNvPr id="116" name="Oval 6">
              <a:extLst>
                <a:ext uri="{FF2B5EF4-FFF2-40B4-BE49-F238E27FC236}">
                  <a16:creationId xmlns:a16="http://schemas.microsoft.com/office/drawing/2014/main" id="{AE8B164A-5C4E-D34D-AD1D-CEDDF72CB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1493838"/>
              <a:ext cx="2335212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Oval 7">
              <a:extLst>
                <a:ext uri="{FF2B5EF4-FFF2-40B4-BE49-F238E27FC236}">
                  <a16:creationId xmlns:a16="http://schemas.microsoft.com/office/drawing/2014/main" id="{6E028167-6CA0-7E43-88F6-F3BD4921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0500" y="1428750"/>
              <a:ext cx="2335213" cy="2224089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8" name="Text Box 8">
              <a:extLst>
                <a:ext uri="{FF2B5EF4-FFF2-40B4-BE49-F238E27FC236}">
                  <a16:creationId xmlns:a16="http://schemas.microsoft.com/office/drawing/2014/main" id="{7C2C19FD-D78D-8A48-9461-D92F9C435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7413" y="244475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2</a:t>
              </a:r>
            </a:p>
          </p:txBody>
        </p:sp>
        <p:sp>
          <p:nvSpPr>
            <p:cNvPr id="119" name="Text Box 9">
              <a:extLst>
                <a:ext uri="{FF2B5EF4-FFF2-40B4-BE49-F238E27FC236}">
                  <a16:creationId xmlns:a16="http://schemas.microsoft.com/office/drawing/2014/main" id="{04932C7C-04DC-644F-B15B-2C9DDAE66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7988" y="220027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0" name="Text Box 10">
              <a:extLst>
                <a:ext uri="{FF2B5EF4-FFF2-40B4-BE49-F238E27FC236}">
                  <a16:creationId xmlns:a16="http://schemas.microsoft.com/office/drawing/2014/main" id="{1B8F00E5-8B25-744C-A4B0-2E3DE0C68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5650" y="262890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1</a:t>
              </a:r>
            </a:p>
          </p:txBody>
        </p:sp>
        <p:sp>
          <p:nvSpPr>
            <p:cNvPr id="121" name="Text Box 11">
              <a:extLst>
                <a:ext uri="{FF2B5EF4-FFF2-40B4-BE49-F238E27FC236}">
                  <a16:creationId xmlns:a16="http://schemas.microsoft.com/office/drawing/2014/main" id="{A48FD71A-15F3-504B-B13F-1B6D1990B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3113" y="3216275"/>
              <a:ext cx="41710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H1</a:t>
              </a:r>
            </a:p>
          </p:txBody>
        </p:sp>
        <p:sp>
          <p:nvSpPr>
            <p:cNvPr id="122" name="Text Box 12">
              <a:extLst>
                <a:ext uri="{FF2B5EF4-FFF2-40B4-BE49-F238E27FC236}">
                  <a16:creationId xmlns:a16="http://schemas.microsoft.com/office/drawing/2014/main" id="{4CBCB42E-3B4C-0041-A801-2748C2C50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34588" y="301942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3" name="Text Box 13">
              <a:extLst>
                <a:ext uri="{FF2B5EF4-FFF2-40B4-BE49-F238E27FC236}">
                  <a16:creationId xmlns:a16="http://schemas.microsoft.com/office/drawing/2014/main" id="{B160ADB6-B872-0042-BD5A-C4E2C28B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83688" y="15509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2</a:t>
              </a:r>
            </a:p>
          </p:txBody>
        </p:sp>
        <p:sp>
          <p:nvSpPr>
            <p:cNvPr id="124" name="Text Box 14">
              <a:extLst>
                <a:ext uri="{FF2B5EF4-FFF2-40B4-BE49-F238E27FC236}">
                  <a16:creationId xmlns:a16="http://schemas.microsoft.com/office/drawing/2014/main" id="{3D6178A0-DC4C-874C-96D4-3F525F929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7588" y="15001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1</a:t>
              </a:r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6C5FD7C0-C6B8-D541-B152-82D7A43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2505174"/>
              <a:ext cx="869950" cy="225446"/>
            </a:xfrm>
            <a:custGeom>
              <a:avLst/>
              <a:gdLst>
                <a:gd name="T0" fmla="*/ 0 w 548"/>
                <a:gd name="T1" fmla="*/ 2147483647 h 142"/>
                <a:gd name="T2" fmla="*/ 0 w 548"/>
                <a:gd name="T3" fmla="*/ 0 h 142"/>
                <a:gd name="T4" fmla="*/ 2147483647 w 54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8" h="142">
                  <a:moveTo>
                    <a:pt x="0" y="142"/>
                  </a:moveTo>
                  <a:lnTo>
                    <a:pt x="0" y="0"/>
                  </a:lnTo>
                  <a:lnTo>
                    <a:pt x="548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6" name="Line 57">
              <a:extLst>
                <a:ext uri="{FF2B5EF4-FFF2-40B4-BE49-F238E27FC236}">
                  <a16:creationId xmlns:a16="http://schemas.microsoft.com/office/drawing/2014/main" id="{F55C7B1B-88C6-604F-9A02-3B1C2098D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27963" y="2505075"/>
              <a:ext cx="8239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7" name="Line 58">
              <a:extLst>
                <a:ext uri="{FF2B5EF4-FFF2-40B4-BE49-F238E27FC236}">
                  <a16:creationId xmlns:a16="http://schemas.microsoft.com/office/drawing/2014/main" id="{193B7468-5959-8A4C-B5B9-2E27F012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2581275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8" name="Line 59">
              <a:extLst>
                <a:ext uri="{FF2B5EF4-FFF2-40B4-BE49-F238E27FC236}">
                  <a16:creationId xmlns:a16="http://schemas.microsoft.com/office/drawing/2014/main" id="{8293AEE0-0CEE-DD45-AED4-903A2C973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77288" y="25971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5D4EEE78-D788-DD4A-AA89-0D7843AD8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5725" y="2928938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30" name="Line 61">
              <a:extLst>
                <a:ext uri="{FF2B5EF4-FFF2-40B4-BE49-F238E27FC236}">
                  <a16:creationId xmlns:a16="http://schemas.microsoft.com/office/drawing/2014/main" id="{77852052-721C-EF49-8DAC-9B2813BB7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1275" y="27495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31" name="Group 62">
              <a:extLst>
                <a:ext uri="{FF2B5EF4-FFF2-40B4-BE49-F238E27FC236}">
                  <a16:creationId xmlns:a16="http://schemas.microsoft.com/office/drawing/2014/main" id="{547F5BD4-92D4-AC46-B24A-992DF13A3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2650" y="2333708"/>
              <a:ext cx="282575" cy="304828"/>
              <a:chOff x="1255" y="3461"/>
              <a:chExt cx="178" cy="192"/>
            </a:xfrm>
          </p:grpSpPr>
          <p:sp>
            <p:nvSpPr>
              <p:cNvPr id="154" name="Oval 63">
                <a:extLst>
                  <a:ext uri="{FF2B5EF4-FFF2-40B4-BE49-F238E27FC236}">
                    <a16:creationId xmlns:a16="http://schemas.microsoft.com/office/drawing/2014/main" id="{2334DE9F-455B-8441-B7BC-654EE845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49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5" name="Text Box 64">
                <a:extLst>
                  <a:ext uri="{FF2B5EF4-FFF2-40B4-BE49-F238E27FC236}">
                    <a16:creationId xmlns:a16="http://schemas.microsoft.com/office/drawing/2014/main" id="{8E7CC57D-CFB3-EF47-8CB5-A65F402C3D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55" y="3461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1</a:t>
                </a:r>
              </a:p>
            </p:txBody>
          </p:sp>
        </p:grpSp>
        <p:grpSp>
          <p:nvGrpSpPr>
            <p:cNvPr id="132" name="Group 65">
              <a:extLst>
                <a:ext uri="{FF2B5EF4-FFF2-40B4-BE49-F238E27FC236}">
                  <a16:creationId xmlns:a16="http://schemas.microsoft.com/office/drawing/2014/main" id="{59AE3186-44F1-8C4A-8950-A9D47658D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74150" y="2530576"/>
              <a:ext cx="282575" cy="304828"/>
              <a:chOff x="1851" y="2490"/>
              <a:chExt cx="178" cy="192"/>
            </a:xfrm>
          </p:grpSpPr>
          <p:sp>
            <p:nvSpPr>
              <p:cNvPr id="152" name="Oval 66">
                <a:extLst>
                  <a:ext uri="{FF2B5EF4-FFF2-40B4-BE49-F238E27FC236}">
                    <a16:creationId xmlns:a16="http://schemas.microsoft.com/office/drawing/2014/main" id="{09E75843-D1E5-AA49-B3C1-C1267C5E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3" name="Text Box 67">
                <a:extLst>
                  <a:ext uri="{FF2B5EF4-FFF2-40B4-BE49-F238E27FC236}">
                    <a16:creationId xmlns:a16="http://schemas.microsoft.com/office/drawing/2014/main" id="{545ADBC7-2734-BF4E-A027-C5DDD52D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3" name="Group 68">
              <a:extLst>
                <a:ext uri="{FF2B5EF4-FFF2-40B4-BE49-F238E27FC236}">
                  <a16:creationId xmlns:a16="http://schemas.microsoft.com/office/drawing/2014/main" id="{C3DA3B42-1B4F-A542-A773-C4C25C131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96238" y="2548041"/>
              <a:ext cx="282575" cy="304828"/>
              <a:chOff x="1851" y="2490"/>
              <a:chExt cx="178" cy="192"/>
            </a:xfrm>
          </p:grpSpPr>
          <p:sp>
            <p:nvSpPr>
              <p:cNvPr id="150" name="Oval 69">
                <a:extLst>
                  <a:ext uri="{FF2B5EF4-FFF2-40B4-BE49-F238E27FC236}">
                    <a16:creationId xmlns:a16="http://schemas.microsoft.com/office/drawing/2014/main" id="{361FB6A7-B911-2A44-B132-376F2F0F6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1" name="Text Box 70">
                <a:extLst>
                  <a:ext uri="{FF2B5EF4-FFF2-40B4-BE49-F238E27FC236}">
                    <a16:creationId xmlns:a16="http://schemas.microsoft.com/office/drawing/2014/main" id="{70AC3AB0-04A6-D240-BE6F-B7894C952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4" name="Group 71">
              <a:extLst>
                <a:ext uri="{FF2B5EF4-FFF2-40B4-BE49-F238E27FC236}">
                  <a16:creationId xmlns:a16="http://schemas.microsoft.com/office/drawing/2014/main" id="{2A8F9585-4457-5F4D-B16A-6FFEBF364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7000" y="2773487"/>
              <a:ext cx="282575" cy="304828"/>
              <a:chOff x="1851" y="2490"/>
              <a:chExt cx="178" cy="192"/>
            </a:xfrm>
          </p:grpSpPr>
          <p:sp>
            <p:nvSpPr>
              <p:cNvPr id="148" name="Oval 72">
                <a:extLst>
                  <a:ext uri="{FF2B5EF4-FFF2-40B4-BE49-F238E27FC236}">
                    <a16:creationId xmlns:a16="http://schemas.microsoft.com/office/drawing/2014/main" id="{5F32797C-CBCB-8F40-9224-F94F1083E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9" name="Text Box 73">
                <a:extLst>
                  <a:ext uri="{FF2B5EF4-FFF2-40B4-BE49-F238E27FC236}">
                    <a16:creationId xmlns:a16="http://schemas.microsoft.com/office/drawing/2014/main" id="{9CAEC3EE-2AC6-E148-B2A5-3041FAA5A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3</a:t>
                </a:r>
              </a:p>
            </p:txBody>
          </p:sp>
        </p:grpSp>
        <p:grpSp>
          <p:nvGrpSpPr>
            <p:cNvPr id="135" name="Group 74">
              <a:extLst>
                <a:ext uri="{FF2B5EF4-FFF2-40B4-BE49-F238E27FC236}">
                  <a16:creationId xmlns:a16="http://schemas.microsoft.com/office/drawing/2014/main" id="{968B2C51-FD39-EC45-96C1-D6C06C84D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5925" y="2865570"/>
              <a:ext cx="282575" cy="304828"/>
              <a:chOff x="1851" y="2490"/>
              <a:chExt cx="178" cy="192"/>
            </a:xfrm>
          </p:grpSpPr>
          <p:sp>
            <p:nvSpPr>
              <p:cNvPr id="146" name="Oval 75">
                <a:extLst>
                  <a:ext uri="{FF2B5EF4-FFF2-40B4-BE49-F238E27FC236}">
                    <a16:creationId xmlns:a16="http://schemas.microsoft.com/office/drawing/2014/main" id="{3224D99B-CD2A-D34F-AF9C-CE6ED91E9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7" name="Text Box 76">
                <a:extLst>
                  <a:ext uri="{FF2B5EF4-FFF2-40B4-BE49-F238E27FC236}">
                    <a16:creationId xmlns:a16="http://schemas.microsoft.com/office/drawing/2014/main" id="{59282B1A-941E-E143-9E63-A60BEB4DC6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4</a:t>
                </a:r>
              </a:p>
            </p:txBody>
          </p:sp>
        </p:grpSp>
        <p:sp>
          <p:nvSpPr>
            <p:cNvPr id="136" name="Text Box 77">
              <a:extLst>
                <a:ext uri="{FF2B5EF4-FFF2-40B4-BE49-F238E27FC236}">
                  <a16:creationId xmlns:a16="http://schemas.microsoft.com/office/drawing/2014/main" id="{25D89219-DE02-0245-913B-955A05C37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8" y="3892550"/>
              <a:ext cx="5211762" cy="2369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342900" marR="0" lvl="0" indent="-3429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active  scanning: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Request frame broadcast from H1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Response frames sent from APs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Request frame sent: H1 to selected AP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Response frame sent from selected AP to H1</a:t>
              </a:r>
            </a:p>
          </p:txBody>
        </p:sp>
        <p:grpSp>
          <p:nvGrpSpPr>
            <p:cNvPr id="137" name="Group 361">
              <a:extLst>
                <a:ext uri="{FF2B5EF4-FFF2-40B4-BE49-F238E27FC236}">
                  <a16:creationId xmlns:a16="http://schemas.microsoft.com/office/drawing/2014/main" id="{82C1B60E-E4DC-8A45-BC6F-0B3E6530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3620" y="2100642"/>
              <a:ext cx="650240" cy="561392"/>
              <a:chOff x="2967" y="478"/>
              <a:chExt cx="788" cy="625"/>
            </a:xfrm>
          </p:grpSpPr>
          <p:pic>
            <p:nvPicPr>
              <p:cNvPr id="144" name="Picture 358" descr="access_point_stylized_small">
                <a:extLst>
                  <a:ext uri="{FF2B5EF4-FFF2-40B4-BE49-F238E27FC236}">
                    <a16:creationId xmlns:a16="http://schemas.microsoft.com/office/drawing/2014/main" id="{71192914-A211-E141-B65D-0DBD5AA3A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360" descr="antenna_radiation_stylized">
                <a:extLst>
                  <a:ext uri="{FF2B5EF4-FFF2-40B4-BE49-F238E27FC236}">
                    <a16:creationId xmlns:a16="http://schemas.microsoft.com/office/drawing/2014/main" id="{B26AE539-41D8-BB41-A2C6-F559F4485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8" name="Group 361">
              <a:extLst>
                <a:ext uri="{FF2B5EF4-FFF2-40B4-BE49-F238E27FC236}">
                  <a16:creationId xmlns:a16="http://schemas.microsoft.com/office/drawing/2014/main" id="{466D69C7-4E4E-D44C-99F2-8B4DF3D5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5780" y="2039676"/>
              <a:ext cx="650240" cy="561392"/>
              <a:chOff x="2967" y="478"/>
              <a:chExt cx="788" cy="625"/>
            </a:xfrm>
          </p:grpSpPr>
          <p:pic>
            <p:nvPicPr>
              <p:cNvPr id="142" name="Picture 358" descr="access_point_stylized_small">
                <a:extLst>
                  <a:ext uri="{FF2B5EF4-FFF2-40B4-BE49-F238E27FC236}">
                    <a16:creationId xmlns:a16="http://schemas.microsoft.com/office/drawing/2014/main" id="{1B885618-9A00-3D4E-9B37-B715ABAE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360" descr="antenna_radiation_stylized">
                <a:extLst>
                  <a:ext uri="{FF2B5EF4-FFF2-40B4-BE49-F238E27FC236}">
                    <a16:creationId xmlns:a16="http://schemas.microsoft.com/office/drawing/2014/main" id="{4AA49A72-6359-7C4C-9D46-E1F69848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9" name="Group 356">
              <a:extLst>
                <a:ext uri="{FF2B5EF4-FFF2-40B4-BE49-F238E27FC236}">
                  <a16:creationId xmlns:a16="http://schemas.microsoft.com/office/drawing/2014/main" id="{44C33186-C35F-9641-8B63-1061A46AE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8980" y="2629009"/>
              <a:ext cx="436880" cy="497887"/>
              <a:chOff x="313" y="1497"/>
              <a:chExt cx="1152" cy="1014"/>
            </a:xfrm>
          </p:grpSpPr>
          <p:pic>
            <p:nvPicPr>
              <p:cNvPr id="140" name="Picture 354" descr="laptop_stylized_small">
                <a:extLst>
                  <a:ext uri="{FF2B5EF4-FFF2-40B4-BE49-F238E27FC236}">
                    <a16:creationId xmlns:a16="http://schemas.microsoft.com/office/drawing/2014/main" id="{B5C8A22F-4BEE-8243-AEF5-181C121A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355" descr="antenna_stylized">
                <a:extLst>
                  <a:ext uri="{FF2B5EF4-FFF2-40B4-BE49-F238E27FC236}">
                    <a16:creationId xmlns:a16="http://schemas.microsoft.com/office/drawing/2014/main" id="{DB29A865-E44B-CF4E-A185-6FA49E16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82086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802.11: multiple access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avoid collisions: 2</a:t>
            </a:r>
            <a:r>
              <a:rPr lang="en-US" kern="0" baseline="30000" dirty="0">
                <a:cs typeface="+mn-cs"/>
              </a:rPr>
              <a:t>+</a:t>
            </a:r>
            <a:r>
              <a:rPr lang="en-US" kern="0" dirty="0">
                <a:cs typeface="+mn-cs"/>
              </a:rPr>
              <a:t> nodes </a:t>
            </a:r>
            <a:r>
              <a:rPr lang="en-US" kern="0" dirty="0">
                <a:cs typeface="+mn-cs"/>
                <a:sym typeface="Symbol" charset="0"/>
              </a:rPr>
              <a:t>transmitting at same time</a:t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802.11: CSMA - sense before transmitting</a:t>
            </a:r>
          </a:p>
          <a:p>
            <a:pPr lvl="1">
              <a:defRPr/>
            </a:pPr>
            <a:r>
              <a:rPr lang="en-US" kern="0" dirty="0"/>
              <a:t>don’t collide with detected ongoing transmission by another node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802.11: </a:t>
            </a:r>
            <a:r>
              <a:rPr lang="en-US" i="1" kern="0" dirty="0">
                <a:cs typeface="+mn-cs"/>
              </a:rPr>
              <a:t>no</a:t>
            </a:r>
            <a:r>
              <a:rPr lang="en-US" kern="0" dirty="0">
                <a:cs typeface="+mn-cs"/>
              </a:rPr>
              <a:t> collision detection!</a:t>
            </a:r>
          </a:p>
          <a:p>
            <a:pPr lvl="1">
              <a:defRPr/>
            </a:pPr>
            <a:r>
              <a:rPr lang="en-US" kern="0" dirty="0"/>
              <a:t>difficult to sense collisions: high transmitting signal, weak received signal due to fading</a:t>
            </a:r>
          </a:p>
          <a:p>
            <a:pPr lvl="1">
              <a:defRPr/>
            </a:pPr>
            <a:r>
              <a:rPr lang="en-US" kern="0" dirty="0"/>
              <a:t>can’t sense all collisions in any case: hidden terminal, fading</a:t>
            </a:r>
          </a:p>
          <a:p>
            <a:pPr lvl="1">
              <a:defRPr/>
            </a:pPr>
            <a:r>
              <a:rPr lang="en-US" kern="0" dirty="0"/>
              <a:t>goal: </a:t>
            </a:r>
            <a:r>
              <a:rPr lang="en-US" i="1" kern="0" dirty="0">
                <a:solidFill>
                  <a:srgbClr val="0000A8"/>
                </a:solidFill>
              </a:rPr>
              <a:t>avoid collisions:</a:t>
            </a:r>
            <a:r>
              <a:rPr lang="en-US" kern="0" dirty="0">
                <a:solidFill>
                  <a:srgbClr val="0000A8"/>
                </a:solidFill>
              </a:rPr>
              <a:t> </a:t>
            </a:r>
            <a:r>
              <a:rPr lang="en-US" kern="0" dirty="0"/>
              <a:t>CSMA/</a:t>
            </a:r>
            <a:r>
              <a:rPr lang="en-US" u="sng" kern="0" dirty="0">
                <a:solidFill>
                  <a:srgbClr val="0000A8"/>
                </a:solidFill>
              </a:rPr>
              <a:t>C</a:t>
            </a:r>
            <a:r>
              <a:rPr lang="en-US" kern="0" dirty="0"/>
              <a:t>ollision</a:t>
            </a:r>
            <a:r>
              <a:rPr lang="en-US" u="sng" kern="0" dirty="0">
                <a:solidFill>
                  <a:srgbClr val="0000A8"/>
                </a:solidFill>
              </a:rPr>
              <a:t>A</a:t>
            </a:r>
            <a:r>
              <a:rPr lang="en-US" kern="0" dirty="0"/>
              <a:t>voidance</a:t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for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DIFS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entire frame (no CD)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return ACK after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SIFS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(ACK needed due to hidden terminal problem)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when timer expires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no ACK, increase random backoff interval, repeat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 (more)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sz="2400" dirty="0"/>
              <a:t>request-to-send</a:t>
            </a:r>
            <a:r>
              <a:rPr lang="en-US" dirty="0"/>
              <a:t> (RTS) packet 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/>
              <a:t>clear-to-send</a:t>
            </a:r>
            <a:r>
              <a:rPr lang="en-US" sz="2400" dirty="0"/>
              <a:t> </a:t>
            </a:r>
            <a:r>
              <a:rPr lang="en-US" dirty="0"/>
              <a:t>CTS in response to RTS</a:t>
            </a:r>
          </a:p>
          <a:p>
            <a:pPr marL="409575" indent="-279400">
              <a:defRPr/>
            </a:pPr>
            <a:r>
              <a:rPr lang="en-US" dirty="0"/>
              <a:t>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sender transmits data frame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other stations defer transmissions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1: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4: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frame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seq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2: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of wireless host or AP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3: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11 WiFi  </a:t>
                </a:r>
                <a:r>
                  <a:rPr lang="en-US" sz="2000" i="1" dirty="0">
                    <a:latin typeface="+mn-lt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>3 Ethernet </a:t>
              </a:r>
              <a:r>
                <a:rPr lang="en-US" sz="2000" i="1" dirty="0">
                  <a:latin typeface="+mn-lt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frame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seq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duration of reserved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from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to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power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protocol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frame type (RTS, CTS, ACK, data)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3BAF512-C8A6-DA43-8BCB-1FA12D23AE36}"/>
              </a:ext>
            </a:extLst>
          </p:cNvPr>
          <p:cNvCxnSpPr/>
          <p:nvPr/>
        </p:nvCxnSpPr>
        <p:spPr>
          <a:xfrm>
            <a:off x="8839201" y="2036617"/>
            <a:ext cx="0" cy="9144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mobility within same subnet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188" name="Rectangle 94">
            <a:extLst>
              <a:ext uri="{FF2B5EF4-FFF2-40B4-BE49-F238E27FC236}">
                <a16:creationId xmlns:a16="http://schemas.microsoft.com/office/drawing/2014/main" id="{E8104397-62D4-C04B-8226-F7E8D683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7" y="1630364"/>
            <a:ext cx="6276109" cy="14314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H1 remains in same IP subnet: IP address can remain same</a:t>
            </a:r>
          </a:p>
        </p:txBody>
      </p:sp>
      <p:sp>
        <p:nvSpPr>
          <p:cNvPr id="189" name="Oval 5">
            <a:extLst>
              <a:ext uri="{FF2B5EF4-FFF2-40B4-BE49-F238E27FC236}">
                <a16:creationId xmlns:a16="http://schemas.microsoft.com/office/drawing/2014/main" id="{E2CE2EC5-620F-E54F-B9EA-02D8B9AE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581" y="3304454"/>
            <a:ext cx="2154237" cy="2093912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0" name="Oval 38">
            <a:extLst>
              <a:ext uri="{FF2B5EF4-FFF2-40B4-BE49-F238E27FC236}">
                <a16:creationId xmlns:a16="http://schemas.microsoft.com/office/drawing/2014/main" id="{D1509085-9257-3E44-A009-17299DD9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018" y="3366366"/>
            <a:ext cx="2278063" cy="205105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1" name="Line 59">
            <a:extLst>
              <a:ext uri="{FF2B5EF4-FFF2-40B4-BE49-F238E27FC236}">
                <a16:creationId xmlns:a16="http://schemas.microsoft.com/office/drawing/2014/main" id="{A4709C92-11AC-8542-B325-4752E923B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4331" y="4350616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Line 60">
            <a:extLst>
              <a:ext uri="{FF2B5EF4-FFF2-40B4-BE49-F238E27FC236}">
                <a16:creationId xmlns:a16="http://schemas.microsoft.com/office/drawing/2014/main" id="{B460EAFF-5508-934B-BC24-F69CF89B4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46968" y="42537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3" name="Line 61">
            <a:extLst>
              <a:ext uri="{FF2B5EF4-FFF2-40B4-BE49-F238E27FC236}">
                <a16:creationId xmlns:a16="http://schemas.microsoft.com/office/drawing/2014/main" id="{962E3F34-4245-8745-B799-8F77F819F8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61256" y="43299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" name="Line 62">
            <a:extLst>
              <a:ext uri="{FF2B5EF4-FFF2-40B4-BE49-F238E27FC236}">
                <a16:creationId xmlns:a16="http://schemas.microsoft.com/office/drawing/2014/main" id="{D1C42226-6B61-1F48-8833-667C71DE2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04106" y="4396654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7CC44369-B7A0-A840-AB3C-3D2AA59099A5}"/>
              </a:ext>
            </a:extLst>
          </p:cNvPr>
          <p:cNvGrpSpPr>
            <a:grpSpLocks/>
          </p:cNvGrpSpPr>
          <p:nvPr/>
        </p:nvGrpSpPr>
        <p:grpSpPr bwMode="auto">
          <a:xfrm>
            <a:off x="10347181" y="3791816"/>
            <a:ext cx="333375" cy="369888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442D4EB7-8C5E-AE45-95FA-53BBA106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9AB30AE8-78B7-0C4A-99E9-432AE99B6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403">
            <a:extLst>
              <a:ext uri="{FF2B5EF4-FFF2-40B4-BE49-F238E27FC236}">
                <a16:creationId xmlns:a16="http://schemas.microsoft.com/office/drawing/2014/main" id="{D4C2B17F-E486-A74C-ACB3-22180C649EA8}"/>
              </a:ext>
            </a:extLst>
          </p:cNvPr>
          <p:cNvGrpSpPr>
            <a:grpSpLocks/>
          </p:cNvGrpSpPr>
          <p:nvPr/>
        </p:nvGrpSpPr>
        <p:grpSpPr bwMode="auto">
          <a:xfrm>
            <a:off x="7310293" y="4280766"/>
            <a:ext cx="525463" cy="392113"/>
            <a:chOff x="2751" y="1851"/>
            <a:chExt cx="462" cy="478"/>
          </a:xfrm>
        </p:grpSpPr>
        <p:pic>
          <p:nvPicPr>
            <p:cNvPr id="199" name="Picture 364" descr="iphone_stylized_small">
              <a:extLst>
                <a:ext uri="{FF2B5EF4-FFF2-40B4-BE49-F238E27FC236}">
                  <a16:creationId xmlns:a16="http://schemas.microsoft.com/office/drawing/2014/main" id="{70B61669-9CBA-9A45-A1F7-CB7BE2890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402" descr="antenna_radiation_stylized">
              <a:extLst>
                <a:ext uri="{FF2B5EF4-FFF2-40B4-BE49-F238E27FC236}">
                  <a16:creationId xmlns:a16="http://schemas.microsoft.com/office/drawing/2014/main" id="{95B2CF85-D6F9-3C45-82AE-BE6CCC2D1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356">
            <a:extLst>
              <a:ext uri="{FF2B5EF4-FFF2-40B4-BE49-F238E27FC236}">
                <a16:creationId xmlns:a16="http://schemas.microsoft.com/office/drawing/2014/main" id="{54FFC2F7-E02D-9B4A-BD18-207692835D1B}"/>
              </a:ext>
            </a:extLst>
          </p:cNvPr>
          <p:cNvGrpSpPr>
            <a:grpSpLocks/>
          </p:cNvGrpSpPr>
          <p:nvPr/>
        </p:nvGrpSpPr>
        <p:grpSpPr bwMode="auto">
          <a:xfrm>
            <a:off x="9686781" y="4717329"/>
            <a:ext cx="363537" cy="338137"/>
            <a:chOff x="313" y="1497"/>
            <a:chExt cx="1152" cy="1014"/>
          </a:xfrm>
        </p:grpSpPr>
        <p:pic>
          <p:nvPicPr>
            <p:cNvPr id="202" name="Picture 354" descr="laptop_stylized_small">
              <a:extLst>
                <a:ext uri="{FF2B5EF4-FFF2-40B4-BE49-F238E27FC236}">
                  <a16:creationId xmlns:a16="http://schemas.microsoft.com/office/drawing/2014/main" id="{E9F03CB4-23B3-644C-A297-0CD7CECFA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355" descr="antenna_stylized">
              <a:extLst>
                <a:ext uri="{FF2B5EF4-FFF2-40B4-BE49-F238E27FC236}">
                  <a16:creationId xmlns:a16="http://schemas.microsoft.com/office/drawing/2014/main" id="{DC4D9032-CD73-E44F-838A-5A62AD62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356">
            <a:extLst>
              <a:ext uri="{FF2B5EF4-FFF2-40B4-BE49-F238E27FC236}">
                <a16:creationId xmlns:a16="http://schemas.microsoft.com/office/drawing/2014/main" id="{17142C00-F874-1C40-8F3A-E139AD111DA2}"/>
              </a:ext>
            </a:extLst>
          </p:cNvPr>
          <p:cNvGrpSpPr>
            <a:grpSpLocks/>
          </p:cNvGrpSpPr>
          <p:nvPr/>
        </p:nvGrpSpPr>
        <p:grpSpPr bwMode="auto">
          <a:xfrm>
            <a:off x="8458056" y="4737966"/>
            <a:ext cx="376237" cy="347663"/>
            <a:chOff x="313" y="1497"/>
            <a:chExt cx="1152" cy="1014"/>
          </a:xfrm>
        </p:grpSpPr>
        <p:pic>
          <p:nvPicPr>
            <p:cNvPr id="205" name="Picture 354" descr="laptop_stylized_small">
              <a:extLst>
                <a:ext uri="{FF2B5EF4-FFF2-40B4-BE49-F238E27FC236}">
                  <a16:creationId xmlns:a16="http://schemas.microsoft.com/office/drawing/2014/main" id="{7F20D8A4-3D47-3946-A573-1AD3562D0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355" descr="antenna_stylized">
              <a:extLst>
                <a:ext uri="{FF2B5EF4-FFF2-40B4-BE49-F238E27FC236}">
                  <a16:creationId xmlns:a16="http://schemas.microsoft.com/office/drawing/2014/main" id="{67AABA1F-5FAC-2942-BF1D-EFCC4EFED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7" name="Group 356">
            <a:extLst>
              <a:ext uri="{FF2B5EF4-FFF2-40B4-BE49-F238E27FC236}">
                <a16:creationId xmlns:a16="http://schemas.microsoft.com/office/drawing/2014/main" id="{0C5308A1-08F3-644B-9D98-F048A52200AE}"/>
              </a:ext>
            </a:extLst>
          </p:cNvPr>
          <p:cNvGrpSpPr>
            <a:grpSpLocks/>
          </p:cNvGrpSpPr>
          <p:nvPr/>
        </p:nvGrpSpPr>
        <p:grpSpPr bwMode="auto">
          <a:xfrm>
            <a:off x="7735743" y="4757016"/>
            <a:ext cx="384175" cy="438150"/>
            <a:chOff x="313" y="1497"/>
            <a:chExt cx="1152" cy="1014"/>
          </a:xfrm>
        </p:grpSpPr>
        <p:pic>
          <p:nvPicPr>
            <p:cNvPr id="208" name="Picture 354" descr="laptop_stylized_small">
              <a:extLst>
                <a:ext uri="{FF2B5EF4-FFF2-40B4-BE49-F238E27FC236}">
                  <a16:creationId xmlns:a16="http://schemas.microsoft.com/office/drawing/2014/main" id="{BC06E0D9-E110-2A43-B122-AF55EE0D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" name="Picture 355" descr="antenna_stylized">
              <a:extLst>
                <a:ext uri="{FF2B5EF4-FFF2-40B4-BE49-F238E27FC236}">
                  <a16:creationId xmlns:a16="http://schemas.microsoft.com/office/drawing/2014/main" id="{C89AA88C-C4B8-8949-AFA1-194666A85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403">
            <a:extLst>
              <a:ext uri="{FF2B5EF4-FFF2-40B4-BE49-F238E27FC236}">
                <a16:creationId xmlns:a16="http://schemas.microsoft.com/office/drawing/2014/main" id="{09653B46-850D-B34B-A333-FF785A38F2AF}"/>
              </a:ext>
            </a:extLst>
          </p:cNvPr>
          <p:cNvGrpSpPr>
            <a:grpSpLocks/>
          </p:cNvGrpSpPr>
          <p:nvPr/>
        </p:nvGrpSpPr>
        <p:grpSpPr bwMode="auto">
          <a:xfrm>
            <a:off x="7634143" y="3599729"/>
            <a:ext cx="487363" cy="401637"/>
            <a:chOff x="2751" y="1851"/>
            <a:chExt cx="462" cy="478"/>
          </a:xfrm>
        </p:grpSpPr>
        <p:pic>
          <p:nvPicPr>
            <p:cNvPr id="211" name="Picture 364" descr="iphone_stylized_small">
              <a:extLst>
                <a:ext uri="{FF2B5EF4-FFF2-40B4-BE49-F238E27FC236}">
                  <a16:creationId xmlns:a16="http://schemas.microsoft.com/office/drawing/2014/main" id="{7DA8D35C-6543-3A42-9742-E2E3D5877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402" descr="antenna_radiation_stylized">
              <a:extLst>
                <a:ext uri="{FF2B5EF4-FFF2-40B4-BE49-F238E27FC236}">
                  <a16:creationId xmlns:a16="http://schemas.microsoft.com/office/drawing/2014/main" id="{E527D1A0-DF96-A24E-A250-AE8FCCAC2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3" name="Group 403">
            <a:extLst>
              <a:ext uri="{FF2B5EF4-FFF2-40B4-BE49-F238E27FC236}">
                <a16:creationId xmlns:a16="http://schemas.microsoft.com/office/drawing/2014/main" id="{0D00461F-B3AF-9941-A57B-09D12FEFF1AE}"/>
              </a:ext>
            </a:extLst>
          </p:cNvPr>
          <p:cNvGrpSpPr>
            <a:grpSpLocks/>
          </p:cNvGrpSpPr>
          <p:nvPr/>
        </p:nvGrpSpPr>
        <p:grpSpPr bwMode="auto">
          <a:xfrm>
            <a:off x="10194781" y="4260129"/>
            <a:ext cx="527050" cy="392112"/>
            <a:chOff x="2751" y="1851"/>
            <a:chExt cx="462" cy="478"/>
          </a:xfrm>
        </p:grpSpPr>
        <p:pic>
          <p:nvPicPr>
            <p:cNvPr id="214" name="Picture 364" descr="iphone_stylized_small">
              <a:extLst>
                <a:ext uri="{FF2B5EF4-FFF2-40B4-BE49-F238E27FC236}">
                  <a16:creationId xmlns:a16="http://schemas.microsoft.com/office/drawing/2014/main" id="{0B12D8AF-A0CE-4F45-AF57-E28723EB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402" descr="antenna_radiation_stylized">
              <a:extLst>
                <a:ext uri="{FF2B5EF4-FFF2-40B4-BE49-F238E27FC236}">
                  <a16:creationId xmlns:a16="http://schemas.microsoft.com/office/drawing/2014/main" id="{46FC5F48-CB87-5C41-99FC-3BCDC023F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" name="Group 356">
            <a:extLst>
              <a:ext uri="{FF2B5EF4-FFF2-40B4-BE49-F238E27FC236}">
                <a16:creationId xmlns:a16="http://schemas.microsoft.com/office/drawing/2014/main" id="{EF1B7B94-588F-494F-9020-382DD24CFB54}"/>
              </a:ext>
            </a:extLst>
          </p:cNvPr>
          <p:cNvGrpSpPr>
            <a:grpSpLocks/>
          </p:cNvGrpSpPr>
          <p:nvPr/>
        </p:nvGrpSpPr>
        <p:grpSpPr bwMode="auto">
          <a:xfrm>
            <a:off x="8762856" y="4117254"/>
            <a:ext cx="376237" cy="349250"/>
            <a:chOff x="313" y="1497"/>
            <a:chExt cx="1152" cy="1014"/>
          </a:xfrm>
        </p:grpSpPr>
        <p:pic>
          <p:nvPicPr>
            <p:cNvPr id="217" name="Picture 354" descr="laptop_stylized_small">
              <a:extLst>
                <a:ext uri="{FF2B5EF4-FFF2-40B4-BE49-F238E27FC236}">
                  <a16:creationId xmlns:a16="http://schemas.microsoft.com/office/drawing/2014/main" id="{B0E9D6DF-EBAE-B549-8616-532393572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355" descr="antenna_stylized">
              <a:extLst>
                <a:ext uri="{FF2B5EF4-FFF2-40B4-BE49-F238E27FC236}">
                  <a16:creationId xmlns:a16="http://schemas.microsoft.com/office/drawing/2014/main" id="{E8FD3309-5FE1-4947-B75E-69677EB64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9" name="Group 361">
            <a:extLst>
              <a:ext uri="{FF2B5EF4-FFF2-40B4-BE49-F238E27FC236}">
                <a16:creationId xmlns:a16="http://schemas.microsoft.com/office/drawing/2014/main" id="{7F5370CA-ACA4-D749-BE51-501F13B7D1B3}"/>
              </a:ext>
            </a:extLst>
          </p:cNvPr>
          <p:cNvGrpSpPr>
            <a:grpSpLocks/>
          </p:cNvGrpSpPr>
          <p:nvPr/>
        </p:nvGrpSpPr>
        <p:grpSpPr bwMode="auto">
          <a:xfrm>
            <a:off x="7857981" y="3934691"/>
            <a:ext cx="762000" cy="663575"/>
            <a:chOff x="2967" y="478"/>
            <a:chExt cx="788" cy="625"/>
          </a:xfrm>
        </p:grpSpPr>
        <p:pic>
          <p:nvPicPr>
            <p:cNvPr id="220" name="Picture 358" descr="access_point_stylized_small">
              <a:extLst>
                <a:ext uri="{FF2B5EF4-FFF2-40B4-BE49-F238E27FC236}">
                  <a16:creationId xmlns:a16="http://schemas.microsoft.com/office/drawing/2014/main" id="{58364FA5-EE4A-B94A-A430-6F642FEFA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360" descr="antenna_radiation_stylized">
              <a:extLst>
                <a:ext uri="{FF2B5EF4-FFF2-40B4-BE49-F238E27FC236}">
                  <a16:creationId xmlns:a16="http://schemas.microsoft.com/office/drawing/2014/main" id="{09DBF651-42C4-1E4D-B0A7-71F524D44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61">
            <a:extLst>
              <a:ext uri="{FF2B5EF4-FFF2-40B4-BE49-F238E27FC236}">
                <a16:creationId xmlns:a16="http://schemas.microsoft.com/office/drawing/2014/main" id="{AFE507DA-FAD2-E54D-9B67-4939D0AEC972}"/>
              </a:ext>
            </a:extLst>
          </p:cNvPr>
          <p:cNvGrpSpPr>
            <a:grpSpLocks/>
          </p:cNvGrpSpPr>
          <p:nvPr/>
        </p:nvGrpSpPr>
        <p:grpSpPr bwMode="auto">
          <a:xfrm>
            <a:off x="9494693" y="3955329"/>
            <a:ext cx="762000" cy="661987"/>
            <a:chOff x="2967" y="478"/>
            <a:chExt cx="788" cy="625"/>
          </a:xfrm>
        </p:grpSpPr>
        <p:pic>
          <p:nvPicPr>
            <p:cNvPr id="223" name="Picture 358" descr="access_point_stylized_small">
              <a:extLst>
                <a:ext uri="{FF2B5EF4-FFF2-40B4-BE49-F238E27FC236}">
                  <a16:creationId xmlns:a16="http://schemas.microsoft.com/office/drawing/2014/main" id="{87737A86-699B-594B-A92D-20AD981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60" descr="antenna_radiation_stylized">
              <a:extLst>
                <a:ext uri="{FF2B5EF4-FFF2-40B4-BE49-F238E27FC236}">
                  <a16:creationId xmlns:a16="http://schemas.microsoft.com/office/drawing/2014/main" id="{B6EBEF08-76CD-2542-8BFB-2F4D1BD20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5" name="Text Box 18">
            <a:extLst>
              <a:ext uri="{FF2B5EF4-FFF2-40B4-BE49-F238E27FC236}">
                <a16:creationId xmlns:a16="http://schemas.microsoft.com/office/drawing/2014/main" id="{C31820A0-72CC-3A4E-AEA6-2BBE3F7C0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1181" y="5018954"/>
            <a:ext cx="446087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226" name="Text Box 20">
            <a:extLst>
              <a:ext uri="{FF2B5EF4-FFF2-40B4-BE49-F238E27FC236}">
                <a16:creationId xmlns:a16="http://schemas.microsoft.com/office/drawing/2014/main" id="{9C01AE67-4B1E-994D-8207-331C3F38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3018" y="50126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2</a:t>
            </a:r>
          </a:p>
        </p:txBody>
      </p:sp>
      <p:sp>
        <p:nvSpPr>
          <p:cNvPr id="227" name="Text Box 20">
            <a:extLst>
              <a:ext uri="{FF2B5EF4-FFF2-40B4-BE49-F238E27FC236}">
                <a16:creationId xmlns:a16="http://schemas.microsoft.com/office/drawing/2014/main" id="{5E18D396-0F78-954D-970D-210CAA30A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4693" y="51142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1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7EE9AA76-AC1D-9241-98D2-1E941BC5A3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72406" y="3121891"/>
            <a:ext cx="744537" cy="1168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30" name="Line 13">
            <a:extLst>
              <a:ext uri="{FF2B5EF4-FFF2-40B4-BE49-F238E27FC236}">
                <a16:creationId xmlns:a16="http://schemas.microsoft.com/office/drawing/2014/main" id="{9A8A2E92-6E86-034D-B48F-383F5CFB1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6268" y="3142529"/>
            <a:ext cx="657225" cy="1138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Rectangle 94">
            <a:extLst>
              <a:ext uri="{FF2B5EF4-FFF2-40B4-BE49-F238E27FC236}">
                <a16:creationId xmlns:a16="http://schemas.microsoft.com/office/drawing/2014/main" id="{14E85F17-476D-674D-82E5-2101626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8" y="2627891"/>
            <a:ext cx="6276108" cy="905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switch: which AP is associated with H1?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8C1FA5F-2E38-2E42-969A-52F0A0118526}"/>
              </a:ext>
            </a:extLst>
          </p:cNvPr>
          <p:cNvGrpSpPr/>
          <p:nvPr/>
        </p:nvGrpSpPr>
        <p:grpSpPr>
          <a:xfrm>
            <a:off x="8482451" y="1855928"/>
            <a:ext cx="744676" cy="388508"/>
            <a:chOff x="7493876" y="2774731"/>
            <a:chExt cx="1481958" cy="894622"/>
          </a:xfrm>
        </p:grpSpPr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93EA6C3-A897-6A4E-8FA5-3E87A8F03D6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5491AEEA-3306-584C-A791-3F623A7248C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1103D392-A969-2B4C-9C4C-6096FA2585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87941F28-572E-2946-A963-5A01D2241E4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D70E8420-5955-2A42-B6BA-72225B7A16F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0F35D7A5-5A4A-EB40-AA19-5FFF8E987A6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C80064F8-68C9-3341-83C0-994A4C78114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5C4FEDC-5F6D-524A-829B-E1DBA32EA31B}"/>
              </a:ext>
            </a:extLst>
          </p:cNvPr>
          <p:cNvGrpSpPr/>
          <p:nvPr/>
        </p:nvGrpSpPr>
        <p:grpSpPr>
          <a:xfrm>
            <a:off x="8491494" y="2852015"/>
            <a:ext cx="711278" cy="420709"/>
            <a:chOff x="3668110" y="2448910"/>
            <a:chExt cx="3794234" cy="216513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01D497C-998D-B04C-A06D-FEE9D6913F0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736A6D30-7D30-9F48-A3CD-EC233AB6A75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B8407862-B01E-F64C-A31D-B84CEA6BE32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CC49FF30-78BA-B94B-9DEE-3A23AC0AB14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4D525185-A44E-4F4B-963A-FFE4F23CBF4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DCF8E70-0D16-4545-889A-A299897DF7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8514A0E-369B-5240-B6B1-7EF2DDD72E6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8" name="Rectangle 94">
            <a:extLst>
              <a:ext uri="{FF2B5EF4-FFF2-40B4-BE49-F238E27FC236}">
                <a16:creationId xmlns:a16="http://schemas.microsoft.com/office/drawing/2014/main" id="{11AE9146-15D4-564E-826D-6483A9DC0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6183" y="3537600"/>
            <a:ext cx="5334000" cy="206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685800" lvl="1" indent="-228600">
              <a:lnSpc>
                <a:spcPct val="90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2800" kern="0" dirty="0"/>
              <a:t>self-learning (Ch. 6): switch will see frame from H1 and “remember” which switch port can be used to reach H1</a:t>
            </a:r>
          </a:p>
        </p:txBody>
      </p:sp>
    </p:spTree>
    <p:extLst>
      <p:ext uri="{BB962C8B-B14F-4D97-AF65-F5344CB8AC3E}">
        <p14:creationId xmlns:p14="http://schemas.microsoft.com/office/powerpoint/2010/main" val="3830806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65" name="Rectangle 90">
            <a:extLst>
              <a:ext uri="{FF2B5EF4-FFF2-40B4-BE49-F238E27FC236}">
                <a16:creationId xmlns:a16="http://schemas.microsoft.com/office/drawing/2014/main" id="{8EA7F9EA-683D-D348-B790-BEC7D72E48B4}"/>
              </a:ext>
            </a:extLst>
          </p:cNvPr>
          <p:cNvSpPr txBox="1">
            <a:spLocks noChangeArrowheads="1"/>
          </p:cNvSpPr>
          <p:nvPr/>
        </p:nvSpPr>
        <p:spPr>
          <a:xfrm>
            <a:off x="606570" y="1351395"/>
            <a:ext cx="6570085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600" dirty="0">
                <a:solidFill>
                  <a:srgbClr val="C00000"/>
                </a:solidFill>
              </a:rPr>
              <a:t>Rate adaptation</a:t>
            </a:r>
          </a:p>
          <a:p>
            <a:pPr indent="-339725">
              <a:tabLst>
                <a:tab pos="746125" algn="l"/>
              </a:tabLst>
              <a:defRPr/>
            </a:pPr>
            <a:r>
              <a:rPr lang="en-US" sz="3200" dirty="0"/>
              <a:t>base station, mobile dynamically change transmission rate (physical layer modulation technique) as mobile moves, SNR varies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00E50-64BD-D048-85C6-F756B5BBC2FF}"/>
              </a:ext>
            </a:extLst>
          </p:cNvPr>
          <p:cNvGrpSpPr/>
          <p:nvPr/>
        </p:nvGrpSpPr>
        <p:grpSpPr>
          <a:xfrm>
            <a:off x="7462701" y="2055525"/>
            <a:ext cx="3731772" cy="2664675"/>
            <a:chOff x="7462701" y="1501343"/>
            <a:chExt cx="2762898" cy="2664675"/>
          </a:xfrm>
        </p:grpSpPr>
        <p:sp>
          <p:nvSpPr>
            <p:cNvPr id="72" name="Freeform 124">
              <a:extLst>
                <a:ext uri="{FF2B5EF4-FFF2-40B4-BE49-F238E27FC236}">
                  <a16:creationId xmlns:a16="http://schemas.microsoft.com/office/drawing/2014/main" id="{A87447AE-2ED0-0C41-AED7-9EECAB36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68" y="1820430"/>
              <a:ext cx="631825" cy="1687513"/>
            </a:xfrm>
            <a:custGeom>
              <a:avLst/>
              <a:gdLst>
                <a:gd name="T0" fmla="*/ 0 w 384"/>
                <a:gd name="T1" fmla="*/ 0 h 1592"/>
                <a:gd name="T2" fmla="*/ 2147483647 w 384"/>
                <a:gd name="T3" fmla="*/ 2147483647 h 1592"/>
                <a:gd name="T4" fmla="*/ 2147483647 w 384"/>
                <a:gd name="T5" fmla="*/ 2147483647 h 1592"/>
                <a:gd name="T6" fmla="*/ 2147483647 w 384"/>
                <a:gd name="T7" fmla="*/ 2147483647 h 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592">
                  <a:moveTo>
                    <a:pt x="0" y="0"/>
                  </a:moveTo>
                  <a:cubicBezTo>
                    <a:pt x="66" y="110"/>
                    <a:pt x="133" y="220"/>
                    <a:pt x="184" y="384"/>
                  </a:cubicBezTo>
                  <a:cubicBezTo>
                    <a:pt x="235" y="548"/>
                    <a:pt x="271" y="783"/>
                    <a:pt x="304" y="984"/>
                  </a:cubicBezTo>
                  <a:cubicBezTo>
                    <a:pt x="337" y="1185"/>
                    <a:pt x="371" y="1492"/>
                    <a:pt x="384" y="1592"/>
                  </a:cubicBez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3" name="Freeform 125">
              <a:extLst>
                <a:ext uri="{FF2B5EF4-FFF2-40B4-BE49-F238E27FC236}">
                  <a16:creationId xmlns:a16="http://schemas.microsoft.com/office/drawing/2014/main" id="{D385B981-2B9B-B340-A145-B54F66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2855" y="1666443"/>
              <a:ext cx="604838" cy="1879600"/>
            </a:xfrm>
            <a:custGeom>
              <a:avLst/>
              <a:gdLst>
                <a:gd name="T0" fmla="*/ 0 w 432"/>
                <a:gd name="T1" fmla="*/ 0 h 1800"/>
                <a:gd name="T2" fmla="*/ 2147483647 w 432"/>
                <a:gd name="T3" fmla="*/ 2147483647 h 1800"/>
                <a:gd name="T4" fmla="*/ 2147483647 w 432"/>
                <a:gd name="T5" fmla="*/ 2147483647 h 1800"/>
                <a:gd name="T6" fmla="*/ 2147483647 w 432"/>
                <a:gd name="T7" fmla="*/ 2147483647 h 1800"/>
                <a:gd name="T8" fmla="*/ 2147483647 w 432"/>
                <a:gd name="T9" fmla="*/ 2147483647 h 1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1800">
                  <a:moveTo>
                    <a:pt x="0" y="0"/>
                  </a:moveTo>
                  <a:cubicBezTo>
                    <a:pt x="62" y="98"/>
                    <a:pt x="125" y="196"/>
                    <a:pt x="168" y="296"/>
                  </a:cubicBezTo>
                  <a:cubicBezTo>
                    <a:pt x="211" y="396"/>
                    <a:pt x="224" y="451"/>
                    <a:pt x="256" y="600"/>
                  </a:cubicBezTo>
                  <a:cubicBezTo>
                    <a:pt x="288" y="749"/>
                    <a:pt x="331" y="992"/>
                    <a:pt x="360" y="1192"/>
                  </a:cubicBezTo>
                  <a:cubicBezTo>
                    <a:pt x="389" y="1392"/>
                    <a:pt x="410" y="1596"/>
                    <a:pt x="432" y="180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4" name="Freeform 126">
              <a:extLst>
                <a:ext uri="{FF2B5EF4-FFF2-40B4-BE49-F238E27FC236}">
                  <a16:creationId xmlns:a16="http://schemas.microsoft.com/office/drawing/2014/main" id="{1046761F-B0F0-3D4C-8939-27522DB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005" y="1666443"/>
              <a:ext cx="571500" cy="1889125"/>
            </a:xfrm>
            <a:custGeom>
              <a:avLst/>
              <a:gdLst>
                <a:gd name="T0" fmla="*/ 0 w 408"/>
                <a:gd name="T1" fmla="*/ 0 h 1792"/>
                <a:gd name="T2" fmla="*/ 2147483647 w 408"/>
                <a:gd name="T3" fmla="*/ 2147483647 h 1792"/>
                <a:gd name="T4" fmla="*/ 2147483647 w 408"/>
                <a:gd name="T5" fmla="*/ 2147483647 h 1792"/>
                <a:gd name="T6" fmla="*/ 2147483647 w 408"/>
                <a:gd name="T7" fmla="*/ 2147483647 h 1792"/>
                <a:gd name="T8" fmla="*/ 2147483647 w 408"/>
                <a:gd name="T9" fmla="*/ 2147483647 h 1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792">
                  <a:moveTo>
                    <a:pt x="0" y="0"/>
                  </a:moveTo>
                  <a:cubicBezTo>
                    <a:pt x="56" y="98"/>
                    <a:pt x="113" y="197"/>
                    <a:pt x="152" y="296"/>
                  </a:cubicBezTo>
                  <a:cubicBezTo>
                    <a:pt x="191" y="395"/>
                    <a:pt x="200" y="443"/>
                    <a:pt x="232" y="592"/>
                  </a:cubicBezTo>
                  <a:cubicBezTo>
                    <a:pt x="264" y="741"/>
                    <a:pt x="315" y="992"/>
                    <a:pt x="344" y="1192"/>
                  </a:cubicBezTo>
                  <a:cubicBezTo>
                    <a:pt x="373" y="1392"/>
                    <a:pt x="397" y="1691"/>
                    <a:pt x="408" y="1792"/>
                  </a:cubicBezTo>
                </a:path>
              </a:pathLst>
            </a:custGeom>
            <a:noFill/>
            <a:ln w="28575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5" name="Rectangle 127">
              <a:extLst>
                <a:ext uri="{FF2B5EF4-FFF2-40B4-BE49-F238E27FC236}">
                  <a16:creationId xmlns:a16="http://schemas.microsoft.com/office/drawing/2014/main" id="{1D440901-0C31-0F4D-8946-D3F10558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580" y="1658505"/>
              <a:ext cx="1847850" cy="19113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6" name="Line 128">
              <a:extLst>
                <a:ext uri="{FF2B5EF4-FFF2-40B4-BE49-F238E27FC236}">
                  <a16:creationId xmlns:a16="http://schemas.microsoft.com/office/drawing/2014/main" id="{910206CA-3247-C24D-82A9-E68F31B2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0580" y="1987118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05E0E39F-FE53-A846-BD7B-D66F5653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6930" y="2296680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8" name="Line 130">
              <a:extLst>
                <a:ext uri="{FF2B5EF4-FFF2-40B4-BE49-F238E27FC236}">
                  <a16:creationId xmlns:a16="http://schemas.microsoft.com/office/drawing/2014/main" id="{80C0E12A-DB35-F247-8473-E7870BD91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693" y="2615768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9" name="Line 131">
              <a:extLst>
                <a:ext uri="{FF2B5EF4-FFF2-40B4-BE49-F238E27FC236}">
                  <a16:creationId xmlns:a16="http://schemas.microsoft.com/office/drawing/2014/main" id="{9E7648BC-85FB-D445-ADF6-E9850B6F6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043" y="2925330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0" name="Line 132">
              <a:extLst>
                <a:ext uri="{FF2B5EF4-FFF2-40B4-BE49-F238E27FC236}">
                  <a16:creationId xmlns:a16="http://schemas.microsoft.com/office/drawing/2014/main" id="{60971AE1-D663-2146-941D-807E03CEA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4393" y="3246005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1" name="Line 133">
              <a:extLst>
                <a:ext uri="{FF2B5EF4-FFF2-40B4-BE49-F238E27FC236}">
                  <a16:creationId xmlns:a16="http://schemas.microsoft.com/office/drawing/2014/main" id="{F183B9C8-59FF-FF42-81A0-D1D65348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180" y="1658505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2" name="Line 134">
              <a:extLst>
                <a:ext uri="{FF2B5EF4-FFF2-40B4-BE49-F238E27FC236}">
                  <a16:creationId xmlns:a16="http://schemas.microsoft.com/office/drawing/2014/main" id="{95BC1052-E2A8-4244-BD31-881FB4E63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0380" y="166961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3" name="Line 135">
              <a:extLst>
                <a:ext uri="{FF2B5EF4-FFF2-40B4-BE49-F238E27FC236}">
                  <a16:creationId xmlns:a16="http://schemas.microsoft.com/office/drawing/2014/main" id="{6201EE71-0F86-1942-A349-D190824BD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5993" y="166326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4" name="Text Box 136">
              <a:extLst>
                <a:ext uri="{FF2B5EF4-FFF2-40B4-BE49-F238E27FC236}">
                  <a16:creationId xmlns:a16="http://schemas.microsoft.com/office/drawing/2014/main" id="{2C8BC37A-3079-3141-8CAD-104408E0B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4118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10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5" name="Text Box 137">
              <a:extLst>
                <a:ext uri="{FF2B5EF4-FFF2-40B4-BE49-F238E27FC236}">
                  <a16:creationId xmlns:a16="http://schemas.microsoft.com/office/drawing/2014/main" id="{FDD958A4-F26F-7A4D-ABAB-97CE564D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9730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20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6" name="Text Box 138">
              <a:extLst>
                <a:ext uri="{FF2B5EF4-FFF2-40B4-BE49-F238E27FC236}">
                  <a16:creationId xmlns:a16="http://schemas.microsoft.com/office/drawing/2014/main" id="{3A2A8346-A59E-BC41-890D-70D2E2A2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5818" y="3557155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30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7" name="Text Box 139">
              <a:extLst>
                <a:ext uri="{FF2B5EF4-FFF2-40B4-BE49-F238E27FC236}">
                  <a16:creationId xmlns:a16="http://schemas.microsoft.com/office/drawing/2014/main" id="{C3099B89-2944-444D-A87C-4AFB683CA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2543" y="3560330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40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4A7A6B1D-4D41-954E-A5F6-3028E04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8099" y="3827464"/>
              <a:ext cx="86914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SNR(dB)</a:t>
              </a:r>
            </a:p>
          </p:txBody>
        </p:sp>
        <p:sp>
          <p:nvSpPr>
            <p:cNvPr id="89" name="Text Box 147">
              <a:extLst>
                <a:ext uri="{FF2B5EF4-FFF2-40B4-BE49-F238E27FC236}">
                  <a16:creationId xmlns:a16="http://schemas.microsoft.com/office/drawing/2014/main" id="{E2163787-4691-5D46-8699-B77A930A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376940" y="2379023"/>
              <a:ext cx="51007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BER</a:t>
              </a:r>
            </a:p>
          </p:txBody>
        </p:sp>
        <p:sp>
          <p:nvSpPr>
            <p:cNvPr id="90" name="Text Box 148">
              <a:extLst>
                <a:ext uri="{FF2B5EF4-FFF2-40B4-BE49-F238E27FC236}">
                  <a16:creationId xmlns:a16="http://schemas.microsoft.com/office/drawing/2014/main" id="{7C1ED569-5C1A-F54A-AB69-46434B3A3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9128" y="150134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-1</a:t>
              </a:r>
            </a:p>
          </p:txBody>
        </p:sp>
        <p:sp>
          <p:nvSpPr>
            <p:cNvPr id="91" name="Text Box 149">
              <a:extLst>
                <a:ext uri="{FF2B5EF4-FFF2-40B4-BE49-F238E27FC236}">
                  <a16:creationId xmlns:a16="http://schemas.microsoft.com/office/drawing/2014/main" id="{94E14E63-66FD-4443-B41D-AF70FFBA1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1820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-2</a:t>
              </a:r>
            </a:p>
          </p:txBody>
        </p:sp>
        <p:sp>
          <p:nvSpPr>
            <p:cNvPr id="92" name="Text Box 150">
              <a:extLst>
                <a:ext uri="{FF2B5EF4-FFF2-40B4-BE49-F238E27FC236}">
                  <a16:creationId xmlns:a16="http://schemas.microsoft.com/office/drawing/2014/main" id="{E0977E27-9D19-A64A-AF3A-97F63CB63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3890" y="21315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-3</a:t>
              </a:r>
            </a:p>
          </p:txBody>
        </p:sp>
        <p:sp>
          <p:nvSpPr>
            <p:cNvPr id="93" name="Text Box 151">
              <a:extLst>
                <a:ext uri="{FF2B5EF4-FFF2-40B4-BE49-F238E27FC236}">
                  <a16:creationId xmlns:a16="http://schemas.microsoft.com/office/drawing/2014/main" id="{71116C7E-0C8A-C345-987E-209472BF6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27522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-5</a:t>
              </a:r>
            </a:p>
          </p:txBody>
        </p:sp>
        <p:sp>
          <p:nvSpPr>
            <p:cNvPr id="94" name="Text Box 152">
              <a:extLst>
                <a:ext uri="{FF2B5EF4-FFF2-40B4-BE49-F238E27FC236}">
                  <a16:creationId xmlns:a16="http://schemas.microsoft.com/office/drawing/2014/main" id="{1704C017-27C0-A24D-9102-5AE6A700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3415" y="30713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-6</a:t>
              </a:r>
            </a:p>
          </p:txBody>
        </p:sp>
        <p:sp>
          <p:nvSpPr>
            <p:cNvPr id="95" name="Text Box 153">
              <a:extLst>
                <a:ext uri="{FF2B5EF4-FFF2-40B4-BE49-F238E27FC236}">
                  <a16:creationId xmlns:a16="http://schemas.microsoft.com/office/drawing/2014/main" id="{75B908A4-A34C-2445-B429-1AC5208B1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7065" y="33999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-7</a:t>
              </a:r>
            </a:p>
          </p:txBody>
        </p:sp>
        <p:sp>
          <p:nvSpPr>
            <p:cNvPr id="96" name="Text Box 154">
              <a:extLst>
                <a:ext uri="{FF2B5EF4-FFF2-40B4-BE49-F238E27FC236}">
                  <a16:creationId xmlns:a16="http://schemas.microsoft.com/office/drawing/2014/main" id="{6CA0DB94-D333-E944-A25F-F9D61C7A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0715" y="2455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-4</a:t>
              </a:r>
            </a:p>
          </p:txBody>
        </p:sp>
      </p:grpSp>
      <p:sp>
        <p:nvSpPr>
          <p:cNvPr id="97" name="Oval 158">
            <a:extLst>
              <a:ext uri="{FF2B5EF4-FFF2-40B4-BE49-F238E27FC236}">
                <a16:creationId xmlns:a16="http://schemas.microsoft.com/office/drawing/2014/main" id="{209748AE-384B-F949-89CC-37F237EC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1137" y="3758480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400" dirty="0"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F193BFB-7D25-3945-9C36-2F993BA9DB5E}"/>
              </a:ext>
            </a:extLst>
          </p:cNvPr>
          <p:cNvGrpSpPr/>
          <p:nvPr/>
        </p:nvGrpSpPr>
        <p:grpSpPr>
          <a:xfrm>
            <a:off x="8550275" y="5018232"/>
            <a:ext cx="1525223" cy="787073"/>
            <a:chOff x="1997075" y="4768850"/>
            <a:chExt cx="1525223" cy="787073"/>
          </a:xfrm>
        </p:grpSpPr>
        <p:sp>
          <p:nvSpPr>
            <p:cNvPr id="66" name="Line 140">
              <a:extLst>
                <a:ext uri="{FF2B5EF4-FFF2-40B4-BE49-F238E27FC236}">
                  <a16:creationId xmlns:a16="http://schemas.microsoft.com/office/drawing/2014/main" id="{9ABBD722-F994-5D44-9F28-C96E66B7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237163"/>
              <a:ext cx="29686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7" name="Line 141">
              <a:extLst>
                <a:ext uri="{FF2B5EF4-FFF2-40B4-BE49-F238E27FC236}">
                  <a16:creationId xmlns:a16="http://schemas.microsoft.com/office/drawing/2014/main" id="{D2378DA5-4292-1146-841A-83348B05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064125"/>
              <a:ext cx="29686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8" name="Line 142">
              <a:extLst>
                <a:ext uri="{FF2B5EF4-FFF2-40B4-BE49-F238E27FC236}">
                  <a16:creationId xmlns:a16="http://schemas.microsoft.com/office/drawing/2014/main" id="{BD436497-C11B-DE4B-B7CC-A36D247B7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600" y="4894263"/>
              <a:ext cx="269875" cy="0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9" name="Text Box 143">
              <a:extLst>
                <a:ext uri="{FF2B5EF4-FFF2-40B4-BE49-F238E27FC236}">
                  <a16:creationId xmlns:a16="http://schemas.microsoft.com/office/drawing/2014/main" id="{B06EB229-594F-B74D-AB37-1AFD23D9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768850"/>
              <a:ext cx="124264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QAM256 (8 Mbps)</a:t>
              </a:r>
            </a:p>
          </p:txBody>
        </p:sp>
        <p:sp>
          <p:nvSpPr>
            <p:cNvPr id="70" name="Text Box 144">
              <a:extLst>
                <a:ext uri="{FF2B5EF4-FFF2-40B4-BE49-F238E27FC236}">
                  <a16:creationId xmlns:a16="http://schemas.microsoft.com/office/drawing/2014/main" id="{1299B93C-66F7-2D42-BCDE-AB352ACB0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1713" y="4922838"/>
              <a:ext cx="1170513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QAM16 (4 Mbps)</a:t>
              </a:r>
            </a:p>
          </p:txBody>
        </p:sp>
        <p:sp>
          <p:nvSpPr>
            <p:cNvPr id="71" name="Text Box 145">
              <a:extLst>
                <a:ext uri="{FF2B5EF4-FFF2-40B4-BE49-F238E27FC236}">
                  <a16:creationId xmlns:a16="http://schemas.microsoft.com/office/drawing/2014/main" id="{8E3C0C78-B8F0-5C4A-94BE-C201B16A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1238" y="5103813"/>
              <a:ext cx="101662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BPSK (1 Mbps)</a:t>
              </a:r>
            </a:p>
          </p:txBody>
        </p:sp>
        <p:sp>
          <p:nvSpPr>
            <p:cNvPr id="98" name="Oval 159">
              <a:extLst>
                <a:ext uri="{FF2B5EF4-FFF2-40B4-BE49-F238E27FC236}">
                  <a16:creationId xmlns:a16="http://schemas.microsoft.com/office/drawing/2014/main" id="{3DC8AEBF-AF89-0041-BAEC-013B1349E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5330825"/>
              <a:ext cx="152400" cy="16192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99" name="Text Box 160">
              <a:extLst>
                <a:ext uri="{FF2B5EF4-FFF2-40B4-BE49-F238E27FC236}">
                  <a16:creationId xmlns:a16="http://schemas.microsoft.com/office/drawing/2014/main" id="{3789CE0E-0C61-9946-9828-EE6C26B32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763" y="5294313"/>
              <a:ext cx="106952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operating point</a:t>
              </a:r>
            </a:p>
          </p:txBody>
        </p:sp>
      </p:grpSp>
      <p:sp>
        <p:nvSpPr>
          <p:cNvPr id="100" name="Text Box 161">
            <a:extLst>
              <a:ext uri="{FF2B5EF4-FFF2-40B4-BE49-F238E27FC236}">
                <a16:creationId xmlns:a16="http://schemas.microsoft.com/office/drawing/2014/main" id="{73953D5A-AF9D-A74F-B537-6801EC65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075" y="3954895"/>
            <a:ext cx="657961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1. </a:t>
            </a:r>
            <a:r>
              <a:rPr lang="en-US" sz="2400" dirty="0">
                <a:latin typeface="+mn-lt"/>
                <a:cs typeface="Arial" charset="0"/>
              </a:rPr>
              <a:t>SNR decreases, BER increase as node moves away from base station</a:t>
            </a:r>
          </a:p>
        </p:txBody>
      </p:sp>
      <p:sp>
        <p:nvSpPr>
          <p:cNvPr id="101" name="Text Box 162">
            <a:extLst>
              <a:ext uri="{FF2B5EF4-FFF2-40B4-BE49-F238E27FC236}">
                <a16:creationId xmlns:a16="http://schemas.microsoft.com/office/drawing/2014/main" id="{E2FD50A6-89FD-3D40-BBE1-B3A224D60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367" y="4893108"/>
            <a:ext cx="661843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2. </a:t>
            </a:r>
            <a:r>
              <a:rPr lang="en-US" sz="2400" dirty="0">
                <a:latin typeface="+mn-lt"/>
                <a:cs typeface="Arial" charset="0"/>
              </a:rPr>
              <a:t>When BER becomes too high, switch to lower transmission rate but with lower BER</a:t>
            </a:r>
          </a:p>
        </p:txBody>
      </p:sp>
    </p:spTree>
    <p:extLst>
      <p:ext uri="{BB962C8B-B14F-4D97-AF65-F5344CB8AC3E}">
        <p14:creationId xmlns:p14="http://schemas.microsoft.com/office/powerpoint/2010/main" val="2954730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6 C -0.00143 -0.01527 -0.00247 -0.02986 -0.00456 -0.04444 C -0.00651 -0.05902 -0.00951 -0.07407 -0.01172 -0.08703 C -0.01419 -0.09976 -0.01589 -0.10879 -0.0181 -0.12152 C -0.02031 -0.13379 -0.02344 -0.15208 -0.02539 -0.16088 C -0.02747 -0.16944 -0.02773 -0.16828 -0.02956 -0.17361 C -0.03138 -0.17847 -0.03425 -0.18541 -0.03672 -0.19189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36" y="-960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72 -0.19189 C -0.03672 -0.19166 -0.0362 -0.07662 -0.03555 0.0388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152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555 0.03889 C -0.0388 0.01968 -0.04193 0.00162 -0.04531 -0.02199 C -0.04896 -0.0456 -0.05221 -0.07662 -0.05703 -0.10347 C -0.06172 -0.13055 -0.07161 -0.16921 -0.07435 -0.18217 " pathEditMode="relative" rAng="0" ptsTypes="AAAA">
                                      <p:cBhvr>
                                        <p:cTn id="17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40" y="-1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7" grpId="2" animBg="1"/>
      <p:bldP spid="100" grpId="0"/>
      <p:bldP spid="10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054" y="1405371"/>
            <a:ext cx="1027531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power management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node-to-AP: </a:t>
            </a:r>
            <a:r>
              <a:rPr lang="en-US" sz="3200" dirty="0"/>
              <a:t>“</a:t>
            </a:r>
            <a:r>
              <a:rPr lang="en-US" sz="3200" dirty="0">
                <a:cs typeface="+mn-cs"/>
              </a:rPr>
              <a:t>I am going to sleep until next beacon frame</a:t>
            </a:r>
            <a:r>
              <a:rPr lang="en-US" altLang="ja-JP" sz="3200" dirty="0">
                <a:cs typeface="+mn-cs"/>
              </a:rPr>
              <a:t>”</a:t>
            </a:r>
            <a:endParaRPr lang="en-US" sz="3200" dirty="0">
              <a:cs typeface="+mn-cs"/>
            </a:endParaRP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AP knows not to transmit frames to this node</a:t>
            </a: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node wakes up before next beacon frame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beacon frame: contains list of mobiles with AP-to-mobile frames waiting to be sent</a:t>
            </a:r>
          </a:p>
          <a:p>
            <a:pPr marL="701675" lvl="1" indent="-24447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793750" algn="l"/>
              </a:tabLst>
              <a:defRPr/>
            </a:pPr>
            <a:r>
              <a:rPr lang="en-US" sz="2800" dirty="0">
                <a:cs typeface="+mn-cs"/>
              </a:rPr>
              <a:t>node will stay awake if AP-to-mobile frames to be sent; otherwise sleep again until next beacon frame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021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68820" y="1464542"/>
            <a:ext cx="6869834" cy="5060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less than 10 m diameter</a:t>
            </a:r>
          </a:p>
          <a:p>
            <a:pPr marL="285750" indent="-285750">
              <a:defRPr/>
            </a:pPr>
            <a:r>
              <a:rPr lang="en-US" sz="3200" dirty="0"/>
              <a:t>replacement for cables (mouse, keyboard, headphones)</a:t>
            </a:r>
          </a:p>
          <a:p>
            <a:pPr marL="285750" indent="-285750">
              <a:defRPr/>
            </a:pPr>
            <a:r>
              <a:rPr lang="en-US" sz="3200" dirty="0"/>
              <a:t>ad hoc: no infrastructure</a:t>
            </a:r>
          </a:p>
          <a:p>
            <a:pPr marL="285750" indent="-285750">
              <a:defRPr/>
            </a:pPr>
            <a:r>
              <a:rPr lang="en-US" sz="3200" dirty="0"/>
              <a:t>2.4-2.5 GHz ISM radio band, up to 3 Mbps</a:t>
            </a:r>
          </a:p>
          <a:p>
            <a:pPr marL="285750" indent="-285750">
              <a:defRPr/>
            </a:pPr>
            <a:r>
              <a:rPr lang="en-US" sz="3200" dirty="0"/>
              <a:t>master controller / clients devices:</a:t>
            </a:r>
          </a:p>
          <a:p>
            <a:pPr lvl="1">
              <a:lnSpc>
                <a:spcPct val="80000"/>
              </a:lnSpc>
              <a:defRPr/>
            </a:pPr>
            <a:r>
              <a:rPr lang="en-US" sz="2800" dirty="0"/>
              <a:t>master polls clients, grants requests for client transmissions</a:t>
            </a:r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44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41111" y="1464542"/>
            <a:ext cx="6371071" cy="52826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TDM, </a:t>
            </a:r>
            <a:r>
              <a:rPr lang="en-US" dirty="0"/>
              <a:t>625 </a:t>
            </a:r>
            <a:r>
              <a:rPr lang="en-US" dirty="0">
                <a:latin typeface="Symbol" pitchFamily="2" charset="2"/>
              </a:rPr>
              <a:t>m</a:t>
            </a:r>
            <a:r>
              <a:rPr lang="en-US" dirty="0"/>
              <a:t>sec sec. slot</a:t>
            </a:r>
          </a:p>
          <a:p>
            <a:pPr marL="285750" indent="-285750">
              <a:defRPr/>
            </a:pPr>
            <a:r>
              <a:rPr lang="en-US" sz="2800" dirty="0"/>
              <a:t>FDM: sender uses </a:t>
            </a:r>
            <a:r>
              <a:rPr lang="en-US" dirty="0"/>
              <a:t>79 frequency channels in known, pseudo-random order slot-to-slot (spread spectrum)</a:t>
            </a:r>
          </a:p>
          <a:p>
            <a:pPr marL="628650" lvl="1" indent="-285750">
              <a:defRPr/>
            </a:pPr>
            <a:r>
              <a:rPr lang="en-US" dirty="0"/>
              <a:t>other devices/equipment not in piconet only interfere in some slots</a:t>
            </a:r>
          </a:p>
          <a:p>
            <a:pPr marL="457200" indent="-457200">
              <a:defRPr/>
            </a:pPr>
            <a:r>
              <a:rPr lang="en-US" dirty="0">
                <a:solidFill>
                  <a:srgbClr val="C00000"/>
                </a:solidFill>
              </a:rPr>
              <a:t>parked mode: </a:t>
            </a:r>
            <a:r>
              <a:rPr lang="en-US" dirty="0"/>
              <a:t>clients can “go to sleep” (park) and later wakeup (to preserve battery)</a:t>
            </a:r>
          </a:p>
          <a:p>
            <a:pPr marL="457200" indent="-457200">
              <a:defRPr/>
            </a:pPr>
            <a:r>
              <a:rPr lang="en-US" sz="2800" dirty="0">
                <a:solidFill>
                  <a:srgbClr val="C00000"/>
                </a:solidFill>
              </a:rPr>
              <a:t>boo</a:t>
            </a:r>
            <a:r>
              <a:rPr lang="en-US" dirty="0">
                <a:solidFill>
                  <a:srgbClr val="C00000"/>
                </a:solidFill>
              </a:rPr>
              <a:t>tstrapping: </a:t>
            </a:r>
            <a:r>
              <a:rPr lang="en-US" dirty="0"/>
              <a:t>nodes self-assemble (plug and play) into piconet</a:t>
            </a:r>
            <a:endParaRPr lang="en-US" sz="2800" dirty="0"/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1269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rgbClr val="011199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0415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411" y="1491868"/>
            <a:ext cx="10275310" cy="4970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i="1" dirty="0"/>
              <a:t>the</a:t>
            </a:r>
            <a:r>
              <a:rPr lang="en-US" sz="3200" dirty="0"/>
              <a:t> solution for wide-area mobile Internet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dirty="0"/>
              <a:t>widespread deployment/use: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more mobile-broadband-connected devices than fixed-broadband-connected devices devices (5-1 in 2019)!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 availability: 97% of time in Korea (90% in US)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transmission rates up to 100’s Mbps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technical standards: 3rd Generation Partnership Project (3GPP)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wwww.3gpp.org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4G: Long-Term Evolution (LTE)standard</a:t>
            </a:r>
          </a:p>
          <a:p>
            <a:pPr lvl="1"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4762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199" y="1405369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similarities</a:t>
            </a:r>
            <a:r>
              <a:rPr lang="en-US" sz="2800" dirty="0">
                <a:solidFill>
                  <a:srgbClr val="C00000"/>
                </a:solidFill>
              </a:rPr>
              <a:t> to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edge/core distinction, but both below to same carrier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global cellular network: a network of networks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widespread use of protocols we’ve studied: HTTP, DNS, TCP, UDP, IP, NAT, separation of data/control planes, SDN, Ethernet, tunneling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interconnected to wired Internet</a:t>
            </a: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2DF903D-1AB2-B240-827C-5DA0BD1B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7215" y="1421845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differences</a:t>
            </a:r>
            <a:r>
              <a:rPr lang="en-US" sz="2800" dirty="0">
                <a:solidFill>
                  <a:srgbClr val="C00000"/>
                </a:solidFill>
              </a:rPr>
              <a:t> from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different wireless link layer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mobility as a 1</a:t>
            </a:r>
            <a:r>
              <a:rPr lang="en-US" sz="2800" baseline="30000" dirty="0"/>
              <a:t>st</a:t>
            </a:r>
            <a:r>
              <a:rPr lang="en-US" sz="2800" dirty="0"/>
              <a:t> class service 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user “identity” (via SIM card)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business model: users subscribe to a cellular provider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strong notion of “home network” versus roaming on visited nets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global access, with authentication infrastructure, and inter-carrier settlements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18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462285D-1084-FF4F-8D68-79431132A5A9}"/>
              </a:ext>
            </a:extLst>
          </p:cNvPr>
          <p:cNvGrpSpPr/>
          <p:nvPr/>
        </p:nvGrpSpPr>
        <p:grpSpPr>
          <a:xfrm>
            <a:off x="4562645" y="1600694"/>
            <a:ext cx="2591924" cy="2180474"/>
            <a:chOff x="4562645" y="1600694"/>
            <a:chExt cx="2591924" cy="2180474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6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7FE092D-64B1-C246-9F44-49F922C34233}"/>
              </a:ext>
            </a:extLst>
          </p:cNvPr>
          <p:cNvCxnSpPr/>
          <p:nvPr/>
        </p:nvCxnSpPr>
        <p:spPr>
          <a:xfrm>
            <a:off x="4805662" y="5630267"/>
            <a:ext cx="1935069" cy="0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CFE8715-75BD-8B46-A6C2-15B549366DA1}"/>
              </a:ext>
            </a:extLst>
          </p:cNvPr>
          <p:cNvCxnSpPr/>
          <p:nvPr/>
        </p:nvCxnSpPr>
        <p:spPr>
          <a:xfrm flipV="1">
            <a:off x="6787850" y="5410809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09E3E45-1F60-7741-94C9-15F95B2239F5}"/>
              </a:ext>
            </a:extLst>
          </p:cNvPr>
          <p:cNvCxnSpPr/>
          <p:nvPr/>
        </p:nvCxnSpPr>
        <p:spPr>
          <a:xfrm flipV="1">
            <a:off x="4812498" y="5371201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0AD4F00-716A-8948-95E4-983B433F77EF}"/>
              </a:ext>
            </a:extLst>
          </p:cNvPr>
          <p:cNvSpPr txBox="1"/>
          <p:nvPr/>
        </p:nvSpPr>
        <p:spPr>
          <a:xfrm>
            <a:off x="5063179" y="5347439"/>
            <a:ext cx="1450589" cy="590931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radio access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network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15C622E-2D9B-A540-B112-120925AE4F96}"/>
              </a:ext>
            </a:extLst>
          </p:cNvPr>
          <p:cNvGrpSpPr/>
          <p:nvPr/>
        </p:nvGrpSpPr>
        <p:grpSpPr>
          <a:xfrm>
            <a:off x="6882251" y="5401405"/>
            <a:ext cx="4460358" cy="479012"/>
            <a:chOff x="6882251" y="5401405"/>
            <a:chExt cx="4460358" cy="479012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3AAA2B4-6ED7-5B45-A5FD-32E5F9D08742}"/>
                </a:ext>
              </a:extLst>
            </p:cNvPr>
            <p:cNvCxnSpPr/>
            <p:nvPr/>
          </p:nvCxnSpPr>
          <p:spPr>
            <a:xfrm>
              <a:off x="6882251" y="5630267"/>
              <a:ext cx="43915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C626C5A-E315-EE47-A221-EFD38796295B}"/>
                </a:ext>
              </a:extLst>
            </p:cNvPr>
            <p:cNvSpPr txBox="1"/>
            <p:nvPr/>
          </p:nvSpPr>
          <p:spPr>
            <a:xfrm>
              <a:off x="7166924" y="5424089"/>
              <a:ext cx="3695760" cy="400110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dirty="0">
                  <a:solidFill>
                    <a:prstClr val="black"/>
                  </a:solidFill>
                </a:rPr>
                <a:t>all-IP Enhanced Packet Core (EPC)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07855E-AF53-3148-B8C7-323AB11B83C3}"/>
                </a:ext>
              </a:extLst>
            </p:cNvPr>
            <p:cNvCxnSpPr/>
            <p:nvPr/>
          </p:nvCxnSpPr>
          <p:spPr>
            <a:xfrm flipV="1">
              <a:off x="11342609" y="5401405"/>
              <a:ext cx="0" cy="47901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77511CE-BDC0-D849-8981-86120199C8EB}"/>
              </a:ext>
            </a:extLst>
          </p:cNvPr>
          <p:cNvGrpSpPr/>
          <p:nvPr/>
        </p:nvGrpSpPr>
        <p:grpSpPr>
          <a:xfrm>
            <a:off x="5835039" y="1910325"/>
            <a:ext cx="6067845" cy="2763823"/>
            <a:chOff x="5835039" y="1910325"/>
            <a:chExt cx="6067845" cy="276382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2D7FAE-DA90-374E-A4B8-23D056E77A6C}"/>
                </a:ext>
              </a:extLst>
            </p:cNvPr>
            <p:cNvSpPr/>
            <p:nvPr/>
          </p:nvSpPr>
          <p:spPr>
            <a:xfrm>
              <a:off x="6908799" y="1910325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752EA1-A036-214E-A4D2-722E1761E424}"/>
                </a:ext>
              </a:extLst>
            </p:cNvPr>
            <p:cNvCxnSpPr/>
            <p:nvPr/>
          </p:nvCxnSpPr>
          <p:spPr>
            <a:xfrm flipH="1" flipV="1">
              <a:off x="8724767" y="3505909"/>
              <a:ext cx="187288" cy="68283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5A928C1-EFBE-BB44-80D9-8ED0D30950AB}"/>
                </a:ext>
              </a:extLst>
            </p:cNvPr>
            <p:cNvCxnSpPr/>
            <p:nvPr/>
          </p:nvCxnSpPr>
          <p:spPr>
            <a:xfrm>
              <a:off x="8754732" y="3491584"/>
              <a:ext cx="1060146" cy="41246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C656B73-DF75-3D42-AE5F-5E5138906F3B}"/>
                </a:ext>
              </a:extLst>
            </p:cNvPr>
            <p:cNvCxnSpPr>
              <a:cxnSpLocks/>
              <a:endCxn id="65" idx="4"/>
            </p:cNvCxnSpPr>
            <p:nvPr/>
          </p:nvCxnSpPr>
          <p:spPr>
            <a:xfrm flipV="1">
              <a:off x="9814878" y="3680349"/>
              <a:ext cx="818137" cy="22370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73C4CD2-2AAF-B44F-8ACD-EEBCEB5EEA7E}"/>
                </a:ext>
              </a:extLst>
            </p:cNvPr>
            <p:cNvCxnSpPr/>
            <p:nvPr/>
          </p:nvCxnSpPr>
          <p:spPr>
            <a:xfrm flipH="1" flipV="1">
              <a:off x="7656511" y="3055704"/>
              <a:ext cx="1124574" cy="41980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B0E8E79-3917-C941-99D6-99BD80BF69D8}"/>
                </a:ext>
              </a:extLst>
            </p:cNvPr>
            <p:cNvCxnSpPr/>
            <p:nvPr/>
          </p:nvCxnSpPr>
          <p:spPr>
            <a:xfrm flipV="1">
              <a:off x="8781081" y="2910099"/>
              <a:ext cx="1002157" cy="56540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3E73ED2-9388-9440-BEC7-4709DF64F9E3}"/>
                </a:ext>
              </a:extLst>
            </p:cNvPr>
            <p:cNvCxnSpPr>
              <a:cxnSpLocks/>
              <a:stCxn id="89" idx="4"/>
            </p:cNvCxnSpPr>
            <p:nvPr/>
          </p:nvCxnSpPr>
          <p:spPr>
            <a:xfrm>
              <a:off x="7389190" y="3739485"/>
              <a:ext cx="1522865" cy="44925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41DEC8-0EA4-B047-9EC0-A26A0EE1B143}"/>
                </a:ext>
              </a:extLst>
            </p:cNvPr>
            <p:cNvCxnSpPr/>
            <p:nvPr/>
          </p:nvCxnSpPr>
          <p:spPr>
            <a:xfrm flipV="1">
              <a:off x="7209979" y="3485174"/>
              <a:ext cx="1514786" cy="2338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9832A-2E89-EC43-BA31-49F4524A4BE4}"/>
                </a:ext>
              </a:extLst>
            </p:cNvPr>
            <p:cNvCxnSpPr>
              <a:cxnSpLocks/>
            </p:cNvCxnSpPr>
            <p:nvPr/>
          </p:nvCxnSpPr>
          <p:spPr>
            <a:xfrm>
              <a:off x="10631673" y="3529431"/>
              <a:ext cx="909542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55AF617-ABFA-674E-B1F8-7C9F603469DA}"/>
                </a:ext>
              </a:extLst>
            </p:cNvPr>
            <p:cNvSpPr txBox="1"/>
            <p:nvPr/>
          </p:nvSpPr>
          <p:spPr>
            <a:xfrm>
              <a:off x="7973562" y="2332045"/>
              <a:ext cx="1096302" cy="5646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Mobility Management Entity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MME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9FF8E6-11BB-EE49-AFCB-83F5B6720CA3}"/>
                </a:ext>
              </a:extLst>
            </p:cNvPr>
            <p:cNvSpPr txBox="1"/>
            <p:nvPr/>
          </p:nvSpPr>
          <p:spPr>
            <a:xfrm>
              <a:off x="7791233" y="4413571"/>
              <a:ext cx="2353669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Serving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S-GW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5980CE-1D9B-DE47-B3E5-696E8479F1CF}"/>
                </a:ext>
              </a:extLst>
            </p:cNvPr>
            <p:cNvSpPr txBox="1"/>
            <p:nvPr/>
          </p:nvSpPr>
          <p:spPr>
            <a:xfrm>
              <a:off x="10033417" y="2441096"/>
              <a:ext cx="1682278" cy="4076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Home Subscriber Service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HSS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559FDE-F844-E947-8966-45DD952B5921}"/>
                </a:ext>
              </a:extLst>
            </p:cNvPr>
            <p:cNvSpPr txBox="1"/>
            <p:nvPr/>
          </p:nvSpPr>
          <p:spPr>
            <a:xfrm>
              <a:off x="9897766" y="3928199"/>
              <a:ext cx="1853514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PDN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P-GW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3C734B-FACC-AF46-85BA-9EDB93ADC0C1}"/>
                </a:ext>
              </a:extLst>
            </p:cNvPr>
            <p:cNvCxnSpPr>
              <a:cxnSpLocks/>
              <a:endCxn id="70" idx="2"/>
            </p:cNvCxnSpPr>
            <p:nvPr/>
          </p:nvCxnSpPr>
          <p:spPr>
            <a:xfrm>
              <a:off x="8754732" y="3505907"/>
              <a:ext cx="1875422" cy="1268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96B4492-94B4-5548-931D-85B136866835}"/>
                </a:ext>
              </a:extLst>
            </p:cNvPr>
            <p:cNvCxnSpPr/>
            <p:nvPr/>
          </p:nvCxnSpPr>
          <p:spPr>
            <a:xfrm flipV="1">
              <a:off x="8912055" y="3904049"/>
              <a:ext cx="902823" cy="28469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EB0D2C1-F88C-B645-BA20-259DCE82399D}"/>
                </a:ext>
              </a:extLst>
            </p:cNvPr>
            <p:cNvCxnSpPr/>
            <p:nvPr/>
          </p:nvCxnSpPr>
          <p:spPr>
            <a:xfrm flipV="1">
              <a:off x="7656511" y="4188741"/>
              <a:ext cx="1304940" cy="6198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AD08002-C63B-384D-89CA-8B945CC63FFE}"/>
                </a:ext>
              </a:extLst>
            </p:cNvPr>
            <p:cNvCxnSpPr>
              <a:cxnSpLocks/>
              <a:stCxn id="89" idx="4"/>
              <a:endCxn id="102" idx="2"/>
            </p:cNvCxnSpPr>
            <p:nvPr/>
          </p:nvCxnSpPr>
          <p:spPr>
            <a:xfrm>
              <a:off x="7389190" y="3739485"/>
              <a:ext cx="238043" cy="49655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3432ED6-D45F-E246-9255-5B7E573DA6D0}"/>
                </a:ext>
              </a:extLst>
            </p:cNvPr>
            <p:cNvCxnSpPr/>
            <p:nvPr/>
          </p:nvCxnSpPr>
          <p:spPr>
            <a:xfrm flipV="1">
              <a:off x="7656513" y="3505909"/>
              <a:ext cx="1124569" cy="74481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EDC7287-1B64-B24E-A3A3-D0B5B869F66A}"/>
                </a:ext>
              </a:extLst>
            </p:cNvPr>
            <p:cNvCxnSpPr>
              <a:cxnSpLocks/>
              <a:stCxn id="93" idx="0"/>
            </p:cNvCxnSpPr>
            <p:nvPr/>
          </p:nvCxnSpPr>
          <p:spPr>
            <a:xfrm flipH="1">
              <a:off x="6399593" y="3631997"/>
              <a:ext cx="935470" cy="1019753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2E7D84F-9E77-D547-9B25-0D9D0A6C0E34}"/>
                </a:ext>
              </a:extLst>
            </p:cNvPr>
            <p:cNvCxnSpPr>
              <a:cxnSpLocks/>
              <a:stCxn id="94" idx="13"/>
            </p:cNvCxnSpPr>
            <p:nvPr/>
          </p:nvCxnSpPr>
          <p:spPr>
            <a:xfrm flipH="1">
              <a:off x="5835039" y="3632847"/>
              <a:ext cx="1499626" cy="66263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FBB6AE-FA4E-1A47-855D-938097AB953D}"/>
                </a:ext>
              </a:extLst>
            </p:cNvPr>
            <p:cNvSpPr txBox="1"/>
            <p:nvPr/>
          </p:nvSpPr>
          <p:spPr>
            <a:xfrm>
              <a:off x="11042136" y="3315067"/>
              <a:ext cx="86074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to 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Internet</a:t>
              </a: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0727567-EE18-E64F-8998-51A737EA68D5}"/>
                </a:ext>
              </a:extLst>
            </p:cNvPr>
            <p:cNvGrpSpPr/>
            <p:nvPr/>
          </p:nvGrpSpPr>
          <p:grpSpPr>
            <a:xfrm>
              <a:off x="8517277" y="3881562"/>
              <a:ext cx="883221" cy="540618"/>
              <a:chOff x="7493876" y="2774731"/>
              <a:chExt cx="1481958" cy="89462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B0489B00-D1CC-D640-9E4E-81A19094B95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FD2DEB09-CBF1-684C-BA06-F810ACF925B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C0D8678D-9E9E-FE46-A391-CA0E41679E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1E625A55-E029-AF42-B88D-5D2FAB06B0B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A90CBD7B-B413-674C-8C1B-311DEA10F9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0">
                  <a:extLst>
                    <a:ext uri="{FF2B5EF4-FFF2-40B4-BE49-F238E27FC236}">
                      <a16:creationId xmlns:a16="http://schemas.microsoft.com/office/drawing/2014/main" id="{6C99112B-C85E-104E-BA58-6E2AD6C7E4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6A671058-EDBC-B448-953A-0252BBC0E05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6F94F43F-64A6-1443-8CB0-275E05EF1A0F}"/>
                </a:ext>
              </a:extLst>
            </p:cNvPr>
            <p:cNvGrpSpPr/>
            <p:nvPr/>
          </p:nvGrpSpPr>
          <p:grpSpPr>
            <a:xfrm>
              <a:off x="10191431" y="3330376"/>
              <a:ext cx="883221" cy="540618"/>
              <a:chOff x="7493876" y="2774731"/>
              <a:chExt cx="1481958" cy="89462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E05DF9C8-CB91-644A-B514-85AACCC7FD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0A8FBEAB-793E-FE42-94E8-00B59D3F61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E67DA038-7827-C043-B0DE-6039609E1F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BC9B326-A00A-9147-BC1C-6DEA74F922E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27C7997B-54AF-F24C-BF0E-358A35C4066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C8D8C6AD-37E7-5448-85D4-64A4A5B171E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69">
                  <a:extLst>
                    <a:ext uri="{FF2B5EF4-FFF2-40B4-BE49-F238E27FC236}">
                      <a16:creationId xmlns:a16="http://schemas.microsoft.com/office/drawing/2014/main" id="{AD3BD04C-6FE4-994C-9EAF-DC6C57FE31A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BAB23DAA-0E90-BE4F-9B76-87FE6A7A6D52}"/>
                </a:ext>
              </a:extLst>
            </p:cNvPr>
            <p:cNvGrpSpPr/>
            <p:nvPr/>
          </p:nvGrpSpPr>
          <p:grpSpPr>
            <a:xfrm>
              <a:off x="8517278" y="3314233"/>
              <a:ext cx="495296" cy="318654"/>
              <a:chOff x="7493876" y="2774731"/>
              <a:chExt cx="1481958" cy="894622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B1947A-19E1-1B4E-ADEA-A2AB82DE3D6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B4B90F9E-A110-E841-A185-641FE8A577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C0D293E-22B6-3E4C-8BCE-561B8113BB8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A8A895E0-F08B-4A44-BD85-35A2157EA6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342EFC43-840E-B74E-8A26-CCD85142490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CFC3970A-BBAC-E64C-864B-BDEEDC1352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F53664D5-C8C1-7445-BC58-2508CAF6D7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41772D06-A679-C74E-8F7B-26D75DE067ED}"/>
                </a:ext>
              </a:extLst>
            </p:cNvPr>
            <p:cNvGrpSpPr/>
            <p:nvPr/>
          </p:nvGrpSpPr>
          <p:grpSpPr>
            <a:xfrm>
              <a:off x="9508439" y="3732448"/>
              <a:ext cx="495296" cy="318654"/>
              <a:chOff x="7493876" y="2774731"/>
              <a:chExt cx="1481958" cy="894622"/>
            </a:xfrm>
          </p:grpSpPr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EEC3F7-93E8-E244-A386-F8A376C90C0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2426144-C7B9-E443-99F0-EA75D00503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19F33AE3-497B-6C48-B4F2-9028391043B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0E83A2B2-ED87-AE4C-92E7-24528D23A0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F64AD8FA-E8DA-0249-B9D1-26A6AC4CBA0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4632C282-272F-A640-AEBE-6A3CC547AB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B071B43-4125-C448-8E62-D6E9FEE09E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1A9B582-EBFD-BC49-8DE2-2EA563F12106}"/>
                </a:ext>
              </a:extLst>
            </p:cNvPr>
            <p:cNvGrpSpPr/>
            <p:nvPr/>
          </p:nvGrpSpPr>
          <p:grpSpPr>
            <a:xfrm>
              <a:off x="7141557" y="3533202"/>
              <a:ext cx="495296" cy="318654"/>
              <a:chOff x="7493876" y="2774731"/>
              <a:chExt cx="1481958" cy="894622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86BC2772-1ABA-5649-AA15-4331FEEF4F6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08862736-A8E9-B24B-A983-C24C6ECD02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B396F44A-D03C-E545-9C35-3D7C197833C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AF1450E3-83D1-D841-A615-12B65F4789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63A01A82-7669-A34C-AC36-129F4B770DC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6F22DA3B-402E-5046-9232-AE3C43C62ED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7968AB99-2B48-9248-8471-4A5E2A20E2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F75DFA6-C48B-B144-96B3-E6C870521780}"/>
                </a:ext>
              </a:extLst>
            </p:cNvPr>
            <p:cNvGrpSpPr/>
            <p:nvPr/>
          </p:nvGrpSpPr>
          <p:grpSpPr>
            <a:xfrm>
              <a:off x="7381204" y="4125100"/>
              <a:ext cx="495296" cy="318654"/>
              <a:chOff x="7493876" y="2774731"/>
              <a:chExt cx="1481958" cy="89462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550CF0CF-5417-1D44-9FF5-0125C7BC1F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9EBB8AB2-85E2-C74B-8EA6-F3C965AC9BB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2B1F83C6-128D-504A-A9BD-752EBD8579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BCEC389D-02C7-E642-A71F-1CD79F4B342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7205EB5-4105-EA49-AB65-23342889136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D31749B9-FED1-B143-9D0A-75F194D066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34A4BA55-86CE-2B40-A90B-B5A450B826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3" name="Picture 132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EDBDBEC-D7F4-8840-B484-CE47A2159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463485" y="2143958"/>
              <a:ext cx="645858" cy="1204723"/>
            </a:xfrm>
            <a:prstGeom prst="rect">
              <a:avLst/>
            </a:prstGeom>
          </p:spPr>
        </p:pic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456A59D-9923-9340-A0B7-C6F07345DD0C}"/>
                </a:ext>
              </a:extLst>
            </p:cNvPr>
            <p:cNvCxnSpPr>
              <a:cxnSpLocks/>
              <a:stCxn id="94" idx="12"/>
            </p:cNvCxnSpPr>
            <p:nvPr/>
          </p:nvCxnSpPr>
          <p:spPr>
            <a:xfrm flipH="1" flipV="1">
              <a:off x="6734432" y="2792627"/>
              <a:ext cx="601019" cy="8767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701983" y="1899639"/>
            <a:ext cx="4599066" cy="4648200"/>
            <a:chOff x="701983" y="1899639"/>
            <a:chExt cx="4599066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983" y="1899639"/>
              <a:ext cx="3956515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Mobile device: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smartphone, tablet, laptop, IoT, ... with 4G LTE radio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64-bit International Mobile Subscriber Identity (IMSI), stored on SIM (Subscriber Identity Module) card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User Equipment (UE)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/>
            <p:nvPr/>
          </p:nvCxnSpPr>
          <p:spPr>
            <a:xfrm>
              <a:off x="3039762" y="2187146"/>
              <a:ext cx="226128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Oval 199">
            <a:extLst>
              <a:ext uri="{FF2B5EF4-FFF2-40B4-BE49-F238E27FC236}">
                <a16:creationId xmlns:a16="http://schemas.microsoft.com/office/drawing/2014/main" id="{0FEB29A6-51E5-8C4F-B11A-9AC5FF5BBA8F}"/>
              </a:ext>
            </a:extLst>
          </p:cNvPr>
          <p:cNvSpPr/>
          <p:nvPr/>
        </p:nvSpPr>
        <p:spPr>
          <a:xfrm>
            <a:off x="7216346" y="5362833"/>
            <a:ext cx="642551" cy="568411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1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393060" y="1343585"/>
            <a:ext cx="5649394" cy="4648200"/>
            <a:chOff x="393060" y="1343585"/>
            <a:chExt cx="5649394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60" y="1343585"/>
              <a:ext cx="4364292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Base station: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at “edge” of carrier’s network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manages wireless radio resources, mobile devices in its coverage area (“cell”)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coordinates device authentication with other elements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similar to WiFi AP but: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active role in user mobility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coordinates with nearly base stations to optimize radio use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eNode-B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2483708" y="1643448"/>
              <a:ext cx="3558746" cy="124803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214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8911579" cy="4648200"/>
            <a:chOff x="689621" y="1603077"/>
            <a:chExt cx="8911579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3870021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Subscriber Service 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stores info about mobile devices for which the HSS’s network is their “home network”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works with MME in device authentication </a:t>
              </a: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4473146" y="1890584"/>
              <a:ext cx="5128054" cy="6549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0440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9942163" cy="4648200"/>
            <a:chOff x="689621" y="1603077"/>
            <a:chExt cx="9942163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66584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Serving Gateway (S-GW), PDN Gateway (P-GW)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lie on data path from mobile to/from Internet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P-GW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gateway to mobile cellular network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Looks like nay other internet gateway router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provides NAT services </a:t>
              </a: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other routers: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</a:rPr>
                <a:t>extensive use of tunneling</a:t>
              </a:r>
              <a:endParaRPr lang="en-US" sz="2800" dirty="0">
                <a:solidFill>
                  <a:prstClr val="black"/>
                </a:solidFill>
              </a:endParaRP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  <a:endCxn id="67" idx="9"/>
            </p:cNvCxnSpPr>
            <p:nvPr/>
          </p:nvCxnSpPr>
          <p:spPr>
            <a:xfrm>
              <a:off x="3954162" y="2310713"/>
              <a:ext cx="6677622" cy="11486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69B3CE9-A4E9-EB44-8130-5EC9D7FA8001}"/>
                </a:ext>
              </a:extLst>
            </p:cNvPr>
            <p:cNvCxnSpPr>
              <a:cxnSpLocks/>
              <a:endCxn id="62" idx="13"/>
            </p:cNvCxnSpPr>
            <p:nvPr/>
          </p:nvCxnSpPr>
          <p:spPr>
            <a:xfrm>
              <a:off x="3958771" y="2311400"/>
              <a:ext cx="4902859" cy="173921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0214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814BABA4-57FD-9541-8A50-F49DDBBC2367}"/>
              </a:ext>
            </a:extLst>
          </p:cNvPr>
          <p:cNvGrpSpPr/>
          <p:nvPr/>
        </p:nvGrpSpPr>
        <p:grpSpPr>
          <a:xfrm>
            <a:off x="9181074" y="2063579"/>
            <a:ext cx="1008323" cy="1351004"/>
            <a:chOff x="9181074" y="2063579"/>
            <a:chExt cx="1008323" cy="1351004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04151" y="1714290"/>
            <a:ext cx="6908757" cy="4785366"/>
            <a:chOff x="678293" y="1603077"/>
            <a:chExt cx="6908757" cy="4785366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54228" cy="2487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Mobility Management Entity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device authentication (device-to-network, network-to-device) coordinated with mobile home network HSS </a:t>
              </a: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1692876" y="2298357"/>
              <a:ext cx="5894174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BE8A6396-DFA6-5641-B1D0-36D74803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93" y="4053834"/>
              <a:ext cx="4931675" cy="2334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device management: 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device handover between cells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tracking/paging device location</a:t>
              </a:r>
            </a:p>
            <a:p>
              <a:pPr marL="295275" indent="-2349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path (tunneling) setup from mobile device to P-GW</a:t>
              </a: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849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LTE: data plane control plane separation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A12E2C-FB2A-D94F-B012-F62A1BBA4380}"/>
              </a:ext>
            </a:extLst>
          </p:cNvPr>
          <p:cNvGrpSpPr/>
          <p:nvPr/>
        </p:nvGrpSpPr>
        <p:grpSpPr>
          <a:xfrm>
            <a:off x="885336" y="1421024"/>
            <a:ext cx="6173370" cy="1823890"/>
            <a:chOff x="2454644" y="1594021"/>
            <a:chExt cx="6173370" cy="1823890"/>
          </a:xfrm>
        </p:grpSpPr>
        <p:grpSp>
          <p:nvGrpSpPr>
            <p:cNvPr id="234" name="Group 652">
              <a:extLst>
                <a:ext uri="{FF2B5EF4-FFF2-40B4-BE49-F238E27FC236}">
                  <a16:creationId xmlns:a16="http://schemas.microsoft.com/office/drawing/2014/main" id="{B99BFC49-9641-384A-81F3-F0BAE889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644" y="2342419"/>
              <a:ext cx="733407" cy="660273"/>
              <a:chOff x="2751" y="1851"/>
              <a:chExt cx="462" cy="478"/>
            </a:xfrm>
          </p:grpSpPr>
          <p:pic>
            <p:nvPicPr>
              <p:cNvPr id="235" name="Picture 653" descr="iphone_stylized_small">
                <a:extLst>
                  <a:ext uri="{FF2B5EF4-FFF2-40B4-BE49-F238E27FC236}">
                    <a16:creationId xmlns:a16="http://schemas.microsoft.com/office/drawing/2014/main" id="{7F92004C-CA90-E441-9D28-0A87A086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654" descr="antenna_radiation_stylized">
                <a:extLst>
                  <a:ext uri="{FF2B5EF4-FFF2-40B4-BE49-F238E27FC236}">
                    <a16:creationId xmlns:a16="http://schemas.microsoft.com/office/drawing/2014/main" id="{FCE2E1DC-AAE8-CB49-93A7-22F433DEF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31C4C8B2-ABA5-8C46-AB8C-9BF875492CDC}"/>
                </a:ext>
              </a:extLst>
            </p:cNvPr>
            <p:cNvGrpSpPr/>
            <p:nvPr/>
          </p:nvGrpSpPr>
          <p:grpSpPr>
            <a:xfrm>
              <a:off x="3449031" y="1773131"/>
              <a:ext cx="790834" cy="1208131"/>
              <a:chOff x="5970432" y="1600694"/>
              <a:chExt cx="888604" cy="1226172"/>
            </a:xfrm>
          </p:grpSpPr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32D36E4E-82E9-864A-9B50-4996C885F969}"/>
                  </a:ext>
                </a:extLst>
              </p:cNvPr>
              <p:cNvGrpSpPr/>
              <p:nvPr/>
            </p:nvGrpSpPr>
            <p:grpSpPr>
              <a:xfrm>
                <a:off x="5970432" y="160069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241" name="Group 817">
                  <a:extLst>
                    <a:ext uri="{FF2B5EF4-FFF2-40B4-BE49-F238E27FC236}">
                      <a16:creationId xmlns:a16="http://schemas.microsoft.com/office/drawing/2014/main" id="{EEE71BA9-8B71-184E-BBD0-2DBDEF018A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20795"/>
                  <a:chOff x="2920" y="1424"/>
                  <a:chExt cx="326" cy="310"/>
                </a:xfrm>
              </p:grpSpPr>
              <p:sp>
                <p:nvSpPr>
                  <p:cNvPr id="258" name="Oval 818">
                    <a:extLst>
                      <a:ext uri="{FF2B5EF4-FFF2-40B4-BE49-F238E27FC236}">
                        <a16:creationId xmlns:a16="http://schemas.microsoft.com/office/drawing/2014/main" id="{926FCB7B-99F2-8E4B-AF8D-FFB73F63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259" name="Group 819">
                    <a:extLst>
                      <a:ext uri="{FF2B5EF4-FFF2-40B4-BE49-F238E27FC236}">
                        <a16:creationId xmlns:a16="http://schemas.microsoft.com/office/drawing/2014/main" id="{FD6B8C6A-1F2E-1341-B034-49E6A54953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261" name="Oval 820">
                      <a:extLst>
                        <a:ext uri="{FF2B5EF4-FFF2-40B4-BE49-F238E27FC236}">
                          <a16:creationId xmlns:a16="http://schemas.microsoft.com/office/drawing/2014/main" id="{30246DC9-1390-374A-BA8A-E7146CEEFC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2" name="Oval 821">
                      <a:extLst>
                        <a:ext uri="{FF2B5EF4-FFF2-40B4-BE49-F238E27FC236}">
                          <a16:creationId xmlns:a16="http://schemas.microsoft.com/office/drawing/2014/main" id="{82DA0CB5-5AD3-AB49-A4BC-E35C331706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3" name="Oval 822">
                      <a:extLst>
                        <a:ext uri="{FF2B5EF4-FFF2-40B4-BE49-F238E27FC236}">
                          <a16:creationId xmlns:a16="http://schemas.microsoft.com/office/drawing/2014/main" id="{8DBCA994-2195-5242-9618-D80B1CF41E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4" name="Oval 823">
                      <a:extLst>
                        <a:ext uri="{FF2B5EF4-FFF2-40B4-BE49-F238E27FC236}">
                          <a16:creationId xmlns:a16="http://schemas.microsoft.com/office/drawing/2014/main" id="{1DEB8BF3-1E3C-A842-9B1A-6CFCF04823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5" name="Freeform 824">
                      <a:extLst>
                        <a:ext uri="{FF2B5EF4-FFF2-40B4-BE49-F238E27FC236}">
                          <a16:creationId xmlns:a16="http://schemas.microsoft.com/office/drawing/2014/main" id="{0D934CE6-3D13-3447-BFE1-52BAE0449E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</p:grpSp>
            <p:grpSp>
              <p:nvGrpSpPr>
                <p:cNvPr id="242" name="Group 398">
                  <a:extLst>
                    <a:ext uri="{FF2B5EF4-FFF2-40B4-BE49-F238E27FC236}">
                      <a16:creationId xmlns:a16="http://schemas.microsoft.com/office/drawing/2014/main" id="{69D5C73A-7CA2-4F4D-B5D9-E0B0DE843B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243" name="Line 270">
                    <a:extLst>
                      <a:ext uri="{FF2B5EF4-FFF2-40B4-BE49-F238E27FC236}">
                        <a16:creationId xmlns:a16="http://schemas.microsoft.com/office/drawing/2014/main" id="{23009026-EC81-D24D-8DE9-8AB83EBBA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4" name="Line 271">
                    <a:extLst>
                      <a:ext uri="{FF2B5EF4-FFF2-40B4-BE49-F238E27FC236}">
                        <a16:creationId xmlns:a16="http://schemas.microsoft.com/office/drawing/2014/main" id="{C06C450B-9BD9-0548-906C-8A9AAF23A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5" name="Line 272">
                    <a:extLst>
                      <a:ext uri="{FF2B5EF4-FFF2-40B4-BE49-F238E27FC236}">
                        <a16:creationId xmlns:a16="http://schemas.microsoft.com/office/drawing/2014/main" id="{491692C4-E5B1-1246-8C28-7E9AC07B82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6" name="Line 273">
                    <a:extLst>
                      <a:ext uri="{FF2B5EF4-FFF2-40B4-BE49-F238E27FC236}">
                        <a16:creationId xmlns:a16="http://schemas.microsoft.com/office/drawing/2014/main" id="{76C26014-3FCA-E243-8A65-CC330339DD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7" name="Line 274">
                    <a:extLst>
                      <a:ext uri="{FF2B5EF4-FFF2-40B4-BE49-F238E27FC236}">
                        <a16:creationId xmlns:a16="http://schemas.microsoft.com/office/drawing/2014/main" id="{433D88E3-D1F5-FE42-80FC-6D4298050A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8" name="Line 275">
                    <a:extLst>
                      <a:ext uri="{FF2B5EF4-FFF2-40B4-BE49-F238E27FC236}">
                        <a16:creationId xmlns:a16="http://schemas.microsoft.com/office/drawing/2014/main" id="{B5AFEEE6-EF80-6942-B97F-B0ED2FFB58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9" name="Line 276">
                    <a:extLst>
                      <a:ext uri="{FF2B5EF4-FFF2-40B4-BE49-F238E27FC236}">
                        <a16:creationId xmlns:a16="http://schemas.microsoft.com/office/drawing/2014/main" id="{97372431-FCB1-2044-977B-14FDCBD48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0" name="Line 277">
                    <a:extLst>
                      <a:ext uri="{FF2B5EF4-FFF2-40B4-BE49-F238E27FC236}">
                        <a16:creationId xmlns:a16="http://schemas.microsoft.com/office/drawing/2014/main" id="{DBFEB6EF-6E0D-AF49-8789-D6255526F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1" name="Line 278">
                    <a:extLst>
                      <a:ext uri="{FF2B5EF4-FFF2-40B4-BE49-F238E27FC236}">
                        <a16:creationId xmlns:a16="http://schemas.microsoft.com/office/drawing/2014/main" id="{A458B4CF-A2B5-B242-B489-53C22DA43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2" name="Line 279">
                    <a:extLst>
                      <a:ext uri="{FF2B5EF4-FFF2-40B4-BE49-F238E27FC236}">
                        <a16:creationId xmlns:a16="http://schemas.microsoft.com/office/drawing/2014/main" id="{DF168412-1130-8948-AE3D-0633AA8D5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3" name="Line 280">
                    <a:extLst>
                      <a:ext uri="{FF2B5EF4-FFF2-40B4-BE49-F238E27FC236}">
                        <a16:creationId xmlns:a16="http://schemas.microsoft.com/office/drawing/2014/main" id="{70BEE8E7-D4A2-4B40-BB7B-B2698E962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4" name="Line 281">
                    <a:extLst>
                      <a:ext uri="{FF2B5EF4-FFF2-40B4-BE49-F238E27FC236}">
                        <a16:creationId xmlns:a16="http://schemas.microsoft.com/office/drawing/2014/main" id="{F69A3BE6-9E36-214C-A965-A2B4960D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5" name="Line 282">
                    <a:extLst>
                      <a:ext uri="{FF2B5EF4-FFF2-40B4-BE49-F238E27FC236}">
                        <a16:creationId xmlns:a16="http://schemas.microsoft.com/office/drawing/2014/main" id="{A4ADB621-2EFE-A040-8980-F1CA75B12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6" name="Line 283">
                    <a:extLst>
                      <a:ext uri="{FF2B5EF4-FFF2-40B4-BE49-F238E27FC236}">
                        <a16:creationId xmlns:a16="http://schemas.microsoft.com/office/drawing/2014/main" id="{9860F8AD-EF12-BA4E-9697-F92983DBA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7" name="Line 284">
                    <a:extLst>
                      <a:ext uri="{FF2B5EF4-FFF2-40B4-BE49-F238E27FC236}">
                        <a16:creationId xmlns:a16="http://schemas.microsoft.com/office/drawing/2014/main" id="{5EB666D9-F403-9345-A040-449E57FFD4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9D13309-B79C-8144-B5AF-4F04509E7601}"/>
                  </a:ext>
                </a:extLst>
              </p:cNvPr>
              <p:cNvGrpSpPr/>
              <p:nvPr/>
            </p:nvGrpSpPr>
            <p:grpSpPr>
              <a:xfrm>
                <a:off x="6091888" y="240956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DF182BDE-0954-5648-8333-DDF519E1B490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58FA0610-362E-FB4D-9161-855FB1E665F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7E1AD5C2-E159-6641-86D5-9D0BF62B7DA1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82612928-16C8-7544-BC44-0CCCF56508BE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269" name="Group 268">
                    <a:extLst>
                      <a:ext uri="{FF2B5EF4-FFF2-40B4-BE49-F238E27FC236}">
                        <a16:creationId xmlns:a16="http://schemas.microsoft.com/office/drawing/2014/main" id="{0A383EF7-C254-AD49-B063-60007086E103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6" name="Parallelogram 285">
                      <a:extLst>
                        <a:ext uri="{FF2B5EF4-FFF2-40B4-BE49-F238E27FC236}">
                          <a16:creationId xmlns:a16="http://schemas.microsoft.com/office/drawing/2014/main" id="{1DA1FF26-98DE-6246-BC39-7551BBEC8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7" name="Parallelogram 286">
                      <a:extLst>
                        <a:ext uri="{FF2B5EF4-FFF2-40B4-BE49-F238E27FC236}">
                          <a16:creationId xmlns:a16="http://schemas.microsoft.com/office/drawing/2014/main" id="{B4A04209-CBD3-5749-8FAD-FD8778E3D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270" name="Group 269">
                    <a:extLst>
                      <a:ext uri="{FF2B5EF4-FFF2-40B4-BE49-F238E27FC236}">
                        <a16:creationId xmlns:a16="http://schemas.microsoft.com/office/drawing/2014/main" id="{F0EDCDCC-7D4F-4B48-AE88-E4E0A9CF123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4" name="Parallelogram 283">
                      <a:extLst>
                        <a:ext uri="{FF2B5EF4-FFF2-40B4-BE49-F238E27FC236}">
                          <a16:creationId xmlns:a16="http://schemas.microsoft.com/office/drawing/2014/main" id="{DD50D33C-BB38-334A-A3CA-3340F4C78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5" name="Parallelogram 284">
                      <a:extLst>
                        <a:ext uri="{FF2B5EF4-FFF2-40B4-BE49-F238E27FC236}">
                          <a16:creationId xmlns:a16="http://schemas.microsoft.com/office/drawing/2014/main" id="{943C407D-319E-8B47-B564-C5F27B5D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1" name="Parallelogram 270">
                    <a:extLst>
                      <a:ext uri="{FF2B5EF4-FFF2-40B4-BE49-F238E27FC236}">
                        <a16:creationId xmlns:a16="http://schemas.microsoft.com/office/drawing/2014/main" id="{5E925B9A-0902-6144-89D3-35D70634767E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2" name="Parallelogram 271">
                    <a:extLst>
                      <a:ext uri="{FF2B5EF4-FFF2-40B4-BE49-F238E27FC236}">
                        <a16:creationId xmlns:a16="http://schemas.microsoft.com/office/drawing/2014/main" id="{C6AEC57F-375E-5448-8C91-D81760DD5E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3" name="Parallelogram 272">
                    <a:extLst>
                      <a:ext uri="{FF2B5EF4-FFF2-40B4-BE49-F238E27FC236}">
                        <a16:creationId xmlns:a16="http://schemas.microsoft.com/office/drawing/2014/main" id="{96D28D6E-1686-5848-B833-824EF6653EB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4" name="Parallelogram 273">
                    <a:extLst>
                      <a:ext uri="{FF2B5EF4-FFF2-40B4-BE49-F238E27FC236}">
                        <a16:creationId xmlns:a16="http://schemas.microsoft.com/office/drawing/2014/main" id="{9E847BB9-19A2-4642-849A-339E7F557899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5" name="Parallelogram 274">
                    <a:extLst>
                      <a:ext uri="{FF2B5EF4-FFF2-40B4-BE49-F238E27FC236}">
                        <a16:creationId xmlns:a16="http://schemas.microsoft.com/office/drawing/2014/main" id="{C32DC311-DA78-FD4D-BC8B-89CAE5C21E8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Parallelogram 275">
                    <a:extLst>
                      <a:ext uri="{FF2B5EF4-FFF2-40B4-BE49-F238E27FC236}">
                        <a16:creationId xmlns:a16="http://schemas.microsoft.com/office/drawing/2014/main" id="{9A561A8B-0450-FA49-9675-013F799AB2FE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DF129F85-328F-8549-810F-16A84CBC51D7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280" name="Parallelogram 279">
                      <a:extLst>
                        <a:ext uri="{FF2B5EF4-FFF2-40B4-BE49-F238E27FC236}">
                          <a16:creationId xmlns:a16="http://schemas.microsoft.com/office/drawing/2014/main" id="{FFC64F27-2D94-BA4D-BFB2-DC711E66B8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1" name="Parallelogram 280">
                      <a:extLst>
                        <a:ext uri="{FF2B5EF4-FFF2-40B4-BE49-F238E27FC236}">
                          <a16:creationId xmlns:a16="http://schemas.microsoft.com/office/drawing/2014/main" id="{EBACF8BA-446E-2144-BC78-5338C4447CB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2" name="Parallelogram 281">
                      <a:extLst>
                        <a:ext uri="{FF2B5EF4-FFF2-40B4-BE49-F238E27FC236}">
                          <a16:creationId xmlns:a16="http://schemas.microsoft.com/office/drawing/2014/main" id="{8B17CA78-3F62-E644-9266-3F7C3FB7D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3" name="Parallelogram 282">
                      <a:extLst>
                        <a:ext uri="{FF2B5EF4-FFF2-40B4-BE49-F238E27FC236}">
                          <a16:creationId xmlns:a16="http://schemas.microsoft.com/office/drawing/2014/main" id="{FA99D0C6-09B4-D64C-880E-872B73BBD2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8" name="Parallelogram 277">
                    <a:extLst>
                      <a:ext uri="{FF2B5EF4-FFF2-40B4-BE49-F238E27FC236}">
                        <a16:creationId xmlns:a16="http://schemas.microsoft.com/office/drawing/2014/main" id="{708506E0-B477-924F-9117-70C55E2BB306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3BA2D3A0-7D85-3343-9AB0-B5DFEEAB21A3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  <p:pic>
          <p:nvPicPr>
            <p:cNvPr id="340" name="Picture 339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C700EA2B-7A7E-4B40-ABDA-31DD92E8E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39269" y="2306483"/>
              <a:ext cx="518980" cy="968057"/>
            </a:xfrm>
            <a:prstGeom prst="rect">
              <a:avLst/>
            </a:prstGeom>
          </p:spPr>
        </p:pic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58F58547-C187-D54F-B56C-5FD8A9AD9EB6}"/>
                </a:ext>
              </a:extLst>
            </p:cNvPr>
            <p:cNvGrpSpPr/>
            <p:nvPr/>
          </p:nvGrpSpPr>
          <p:grpSpPr>
            <a:xfrm>
              <a:off x="6672649" y="1594021"/>
              <a:ext cx="847689" cy="1079156"/>
              <a:chOff x="9181074" y="2063579"/>
              <a:chExt cx="1008323" cy="135100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FE604934-A4D4-0D4E-835D-16C193224212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E36EF58A-80C3-574B-A972-CD53E2A91272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B63EA951-18C5-1F41-8C40-8CDAE44BC94D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CCB38905-D363-1149-B0B6-C3564F944656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7E8C0CC4-5C7B-5545-89EC-F332A28273A1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343" name="Can 342">
                <a:extLst>
                  <a:ext uri="{FF2B5EF4-FFF2-40B4-BE49-F238E27FC236}">
                    <a16:creationId xmlns:a16="http://schemas.microsoft.com/office/drawing/2014/main" id="{7500AEC0-059C-D34C-AFE2-3C88CA3D2BDD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44" name="Picture 34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215C5EB-709B-0846-BAA0-1EF9845F0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A64E038-DBA8-4F44-882B-280709497D90}"/>
                </a:ext>
              </a:extLst>
            </p:cNvPr>
            <p:cNvGrpSpPr/>
            <p:nvPr/>
          </p:nvGrpSpPr>
          <p:grpSpPr>
            <a:xfrm>
              <a:off x="7933038" y="2656701"/>
              <a:ext cx="694976" cy="460529"/>
              <a:chOff x="7493876" y="2774731"/>
              <a:chExt cx="1481958" cy="894622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4FB7DB4B-04AA-D740-A5A7-A8718EE29F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D7FCFCBF-65E2-CF48-8D85-37B6EA9C0A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2901429-4BDA-8A43-BF92-B67FEEB1868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15B17CBF-8584-7046-936B-A93EFB76D9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37A5CA1F-7E1B-FC41-B6F2-C2BCE49E7E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25112FFB-DFA6-FB41-AFEC-E249E780947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4B744B63-EEC9-9345-A824-AA58D96296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D18BB331-CCD3-514D-9733-17F871519D82}"/>
                </a:ext>
              </a:extLst>
            </p:cNvPr>
            <p:cNvGrpSpPr/>
            <p:nvPr/>
          </p:nvGrpSpPr>
          <p:grpSpPr>
            <a:xfrm>
              <a:off x="6182498" y="2957382"/>
              <a:ext cx="694976" cy="460529"/>
              <a:chOff x="7493876" y="2774731"/>
              <a:chExt cx="1481958" cy="894622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D58A78B4-56AB-4A45-87FB-42D98DA430E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53684EB3-1DC1-8B4F-836A-C81E8A35E0C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5E765882-EE9B-5B4D-9D10-5A2466E1EB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CC5B3B84-C8C1-954E-A09D-E4D48374CC7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89F81B5B-FB5E-8049-A2C3-1BFF2B0861E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547A9FB8-BE1A-D34C-8816-D276A46A692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4FBA7C3B-E311-ED46-8FAD-40AD23975B5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543800" y="1840657"/>
            <a:ext cx="4226082" cy="14619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latin typeface="Calibri"/>
              </a:rPr>
              <a:t>new protocols for mobility management , security, authentication (later)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31212A2B-23C0-3944-98F0-030BFBD6C984}"/>
              </a:ext>
            </a:extLst>
          </p:cNvPr>
          <p:cNvSpPr txBox="1"/>
          <p:nvPr/>
        </p:nvSpPr>
        <p:spPr>
          <a:xfrm>
            <a:off x="3682982" y="3057124"/>
            <a:ext cx="7341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MME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25024057-147E-964F-A9CA-EC03802C4D83}"/>
              </a:ext>
            </a:extLst>
          </p:cNvPr>
          <p:cNvSpPr txBox="1"/>
          <p:nvPr/>
        </p:nvSpPr>
        <p:spPr>
          <a:xfrm>
            <a:off x="5830536" y="1789672"/>
            <a:ext cx="5996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HSS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762504" y="2796042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30" name="Straight Arrow Connector 429">
            <a:extLst>
              <a:ext uri="{FF2B5EF4-FFF2-40B4-BE49-F238E27FC236}">
                <a16:creationId xmlns:a16="http://schemas.microsoft.com/office/drawing/2014/main" id="{66EB9510-50A9-6C4A-87A2-FB408C44422A}"/>
              </a:ext>
            </a:extLst>
          </p:cNvPr>
          <p:cNvCxnSpPr>
            <a:cxnSpLocks/>
          </p:cNvCxnSpPr>
          <p:nvPr/>
        </p:nvCxnSpPr>
        <p:spPr>
          <a:xfrm>
            <a:off x="2696586" y="2647068"/>
            <a:ext cx="880334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Arrow Connector 430">
            <a:extLst>
              <a:ext uri="{FF2B5EF4-FFF2-40B4-BE49-F238E27FC236}">
                <a16:creationId xmlns:a16="http://schemas.microsoft.com/office/drawing/2014/main" id="{219CC063-2975-3846-8E8C-2FDC3A89D86F}"/>
              </a:ext>
            </a:extLst>
          </p:cNvPr>
          <p:cNvCxnSpPr>
            <a:cxnSpLocks/>
          </p:cNvCxnSpPr>
          <p:nvPr/>
        </p:nvCxnSpPr>
        <p:spPr>
          <a:xfrm flipV="1">
            <a:off x="4165764" y="2167613"/>
            <a:ext cx="1238886" cy="367277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Arrow Connector 431">
            <a:extLst>
              <a:ext uri="{FF2B5EF4-FFF2-40B4-BE49-F238E27FC236}">
                <a16:creationId xmlns:a16="http://schemas.microsoft.com/office/drawing/2014/main" id="{60FC927A-2748-E345-89A9-FEE0D2E2C8C2}"/>
              </a:ext>
            </a:extLst>
          </p:cNvPr>
          <p:cNvCxnSpPr>
            <a:cxnSpLocks/>
          </p:cNvCxnSpPr>
          <p:nvPr/>
        </p:nvCxnSpPr>
        <p:spPr>
          <a:xfrm>
            <a:off x="4165763" y="2721340"/>
            <a:ext cx="2078521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Arrow Connector 432">
            <a:extLst>
              <a:ext uri="{FF2B5EF4-FFF2-40B4-BE49-F238E27FC236}">
                <a16:creationId xmlns:a16="http://schemas.microsoft.com/office/drawing/2014/main" id="{74497FB2-E245-A640-B392-F3F227CC5F23}"/>
              </a:ext>
            </a:extLst>
          </p:cNvPr>
          <p:cNvCxnSpPr>
            <a:cxnSpLocks/>
          </p:cNvCxnSpPr>
          <p:nvPr/>
        </p:nvCxnSpPr>
        <p:spPr>
          <a:xfrm>
            <a:off x="4165764" y="2883956"/>
            <a:ext cx="400245" cy="166982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68267CB8-7442-D047-8C33-1165AC1CDB79}"/>
              </a:ext>
            </a:extLst>
          </p:cNvPr>
          <p:cNvSpPr txBox="1"/>
          <p:nvPr/>
        </p:nvSpPr>
        <p:spPr>
          <a:xfrm>
            <a:off x="6398310" y="2947087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cxnSp>
        <p:nvCxnSpPr>
          <p:cNvPr id="445" name="Straight Arrow Connector 444">
            <a:extLst>
              <a:ext uri="{FF2B5EF4-FFF2-40B4-BE49-F238E27FC236}">
                <a16:creationId xmlns:a16="http://schemas.microsoft.com/office/drawing/2014/main" id="{818DAA1A-D5C9-AB4A-A207-AE50A61A4AAD}"/>
              </a:ext>
            </a:extLst>
          </p:cNvPr>
          <p:cNvCxnSpPr>
            <a:cxnSpLocks/>
          </p:cNvCxnSpPr>
          <p:nvPr/>
        </p:nvCxnSpPr>
        <p:spPr>
          <a:xfrm>
            <a:off x="1432006" y="2643142"/>
            <a:ext cx="530281" cy="5419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CE9DA9BC-5996-3848-902A-F1093218E243}"/>
              </a:ext>
            </a:extLst>
          </p:cNvPr>
          <p:cNvGrpSpPr/>
          <p:nvPr/>
        </p:nvGrpSpPr>
        <p:grpSpPr>
          <a:xfrm>
            <a:off x="914169" y="3271659"/>
            <a:ext cx="10855713" cy="2092904"/>
            <a:chOff x="914169" y="3271659"/>
            <a:chExt cx="10855713" cy="2092904"/>
          </a:xfrm>
        </p:grpSpPr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57CF7FE-0685-8F41-9D7B-D5B885C0136B}"/>
                </a:ext>
              </a:extLst>
            </p:cNvPr>
            <p:cNvSpPr txBox="1"/>
            <p:nvPr/>
          </p:nvSpPr>
          <p:spPr>
            <a:xfrm>
              <a:off x="4671279" y="3271659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5834B25C-78BB-0D43-A2B0-7950BD0F242D}"/>
                </a:ext>
              </a:extLst>
            </p:cNvPr>
            <p:cNvGrpSpPr/>
            <p:nvPr/>
          </p:nvGrpSpPr>
          <p:grpSpPr>
            <a:xfrm>
              <a:off x="2793288" y="4511982"/>
              <a:ext cx="4433068" cy="574881"/>
              <a:chOff x="5366964" y="5459934"/>
              <a:chExt cx="4476119" cy="574881"/>
            </a:xfrm>
          </p:grpSpPr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14BE4348-A8EF-074B-A9F5-5DCA38BC7661}"/>
                  </a:ext>
                </a:extLst>
              </p:cNvPr>
              <p:cNvSpPr/>
              <p:nvPr/>
            </p:nvSpPr>
            <p:spPr>
              <a:xfrm>
                <a:off x="5366964" y="5459934"/>
                <a:ext cx="4476119" cy="574881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235452 w 1404583"/>
                  <a:gd name="connsiteY7" fmla="*/ 78019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256 w 1404370"/>
                  <a:gd name="connsiteY0" fmla="*/ 8251 h 747963"/>
                  <a:gd name="connsiteX1" fmla="*/ 127207 w 1404370"/>
                  <a:gd name="connsiteY1" fmla="*/ 62648 h 747963"/>
                  <a:gd name="connsiteX2" fmla="*/ 4744 w 1404370"/>
                  <a:gd name="connsiteY2" fmla="*/ 465184 h 747963"/>
                  <a:gd name="connsiteX3" fmla="*/ 69632 w 1404370"/>
                  <a:gd name="connsiteY3" fmla="*/ 632722 h 747963"/>
                  <a:gd name="connsiteX4" fmla="*/ 363375 w 1404370"/>
                  <a:gd name="connsiteY4" fmla="*/ 745499 h 747963"/>
                  <a:gd name="connsiteX5" fmla="*/ 1278445 w 1404370"/>
                  <a:gd name="connsiteY5" fmla="*/ 695962 h 747963"/>
                  <a:gd name="connsiteX6" fmla="*/ 1377634 w 1404370"/>
                  <a:gd name="connsiteY6" fmla="*/ 300828 h 747963"/>
                  <a:gd name="connsiteX7" fmla="*/ 1235239 w 1404370"/>
                  <a:gd name="connsiteY7" fmla="*/ 64951 h 747963"/>
                  <a:gd name="connsiteX8" fmla="*/ 838951 w 1404370"/>
                  <a:gd name="connsiteY8" fmla="*/ 0 h 747963"/>
                  <a:gd name="connsiteX9" fmla="*/ 231256 w 1404370"/>
                  <a:gd name="connsiteY9" fmla="*/ 8251 h 747963"/>
                  <a:gd name="connsiteX0" fmla="*/ 215386 w 1388500"/>
                  <a:gd name="connsiteY0" fmla="*/ 8251 h 747963"/>
                  <a:gd name="connsiteX1" fmla="*/ 111337 w 1388500"/>
                  <a:gd name="connsiteY1" fmla="*/ 62648 h 747963"/>
                  <a:gd name="connsiteX2" fmla="*/ 11592 w 1388500"/>
                  <a:gd name="connsiteY2" fmla="*/ 300323 h 747963"/>
                  <a:gd name="connsiteX3" fmla="*/ 53762 w 1388500"/>
                  <a:gd name="connsiteY3" fmla="*/ 632722 h 747963"/>
                  <a:gd name="connsiteX4" fmla="*/ 347505 w 1388500"/>
                  <a:gd name="connsiteY4" fmla="*/ 745499 h 747963"/>
                  <a:gd name="connsiteX5" fmla="*/ 1262575 w 1388500"/>
                  <a:gd name="connsiteY5" fmla="*/ 695962 h 747963"/>
                  <a:gd name="connsiteX6" fmla="*/ 1361764 w 1388500"/>
                  <a:gd name="connsiteY6" fmla="*/ 300828 h 747963"/>
                  <a:gd name="connsiteX7" fmla="*/ 1219369 w 1388500"/>
                  <a:gd name="connsiteY7" fmla="*/ 64951 h 747963"/>
                  <a:gd name="connsiteX8" fmla="*/ 823081 w 1388500"/>
                  <a:gd name="connsiteY8" fmla="*/ 0 h 747963"/>
                  <a:gd name="connsiteX9" fmla="*/ 215386 w 1388500"/>
                  <a:gd name="connsiteY9" fmla="*/ 8251 h 747963"/>
                  <a:gd name="connsiteX0" fmla="*/ 216608 w 1389722"/>
                  <a:gd name="connsiteY0" fmla="*/ 8251 h 747963"/>
                  <a:gd name="connsiteX1" fmla="*/ 112559 w 1389722"/>
                  <a:gd name="connsiteY1" fmla="*/ 62648 h 747963"/>
                  <a:gd name="connsiteX2" fmla="*/ 12814 w 1389722"/>
                  <a:gd name="connsiteY2" fmla="*/ 300323 h 747963"/>
                  <a:gd name="connsiteX3" fmla="*/ 54984 w 1389722"/>
                  <a:gd name="connsiteY3" fmla="*/ 632722 h 747963"/>
                  <a:gd name="connsiteX4" fmla="*/ 348727 w 1389722"/>
                  <a:gd name="connsiteY4" fmla="*/ 745499 h 747963"/>
                  <a:gd name="connsiteX5" fmla="*/ 1263797 w 1389722"/>
                  <a:gd name="connsiteY5" fmla="*/ 695962 h 747963"/>
                  <a:gd name="connsiteX6" fmla="*/ 1362986 w 1389722"/>
                  <a:gd name="connsiteY6" fmla="*/ 300828 h 747963"/>
                  <a:gd name="connsiteX7" fmla="*/ 1220591 w 1389722"/>
                  <a:gd name="connsiteY7" fmla="*/ 64951 h 747963"/>
                  <a:gd name="connsiteX8" fmla="*/ 824303 w 1389722"/>
                  <a:gd name="connsiteY8" fmla="*/ 0 h 747963"/>
                  <a:gd name="connsiteX9" fmla="*/ 216608 w 1389722"/>
                  <a:gd name="connsiteY9" fmla="*/ 8251 h 747963"/>
                  <a:gd name="connsiteX0" fmla="*/ 216608 w 1389722"/>
                  <a:gd name="connsiteY0" fmla="*/ 79781 h 819493"/>
                  <a:gd name="connsiteX1" fmla="*/ 112559 w 1389722"/>
                  <a:gd name="connsiteY1" fmla="*/ 134178 h 819493"/>
                  <a:gd name="connsiteX2" fmla="*/ 12814 w 1389722"/>
                  <a:gd name="connsiteY2" fmla="*/ 371853 h 819493"/>
                  <a:gd name="connsiteX3" fmla="*/ 54984 w 1389722"/>
                  <a:gd name="connsiteY3" fmla="*/ 704252 h 819493"/>
                  <a:gd name="connsiteX4" fmla="*/ 348727 w 1389722"/>
                  <a:gd name="connsiteY4" fmla="*/ 817029 h 819493"/>
                  <a:gd name="connsiteX5" fmla="*/ 1263797 w 1389722"/>
                  <a:gd name="connsiteY5" fmla="*/ 767492 h 819493"/>
                  <a:gd name="connsiteX6" fmla="*/ 1362986 w 1389722"/>
                  <a:gd name="connsiteY6" fmla="*/ 372358 h 819493"/>
                  <a:gd name="connsiteX7" fmla="*/ 1301587 w 1389722"/>
                  <a:gd name="connsiteY7" fmla="*/ 11721 h 819493"/>
                  <a:gd name="connsiteX8" fmla="*/ 824303 w 1389722"/>
                  <a:gd name="connsiteY8" fmla="*/ 71530 h 819493"/>
                  <a:gd name="connsiteX9" fmla="*/ 216608 w 1389722"/>
                  <a:gd name="connsiteY9" fmla="*/ 79781 h 819493"/>
                  <a:gd name="connsiteX0" fmla="*/ 216608 w 1400780"/>
                  <a:gd name="connsiteY0" fmla="*/ 79781 h 820631"/>
                  <a:gd name="connsiteX1" fmla="*/ 112559 w 1400780"/>
                  <a:gd name="connsiteY1" fmla="*/ 134178 h 820631"/>
                  <a:gd name="connsiteX2" fmla="*/ 12814 w 1400780"/>
                  <a:gd name="connsiteY2" fmla="*/ 371853 h 820631"/>
                  <a:gd name="connsiteX3" fmla="*/ 54984 w 1400780"/>
                  <a:gd name="connsiteY3" fmla="*/ 704252 h 820631"/>
                  <a:gd name="connsiteX4" fmla="*/ 348727 w 1400780"/>
                  <a:gd name="connsiteY4" fmla="*/ 817029 h 820631"/>
                  <a:gd name="connsiteX5" fmla="*/ 1263797 w 1400780"/>
                  <a:gd name="connsiteY5" fmla="*/ 767492 h 820631"/>
                  <a:gd name="connsiteX6" fmla="*/ 1378790 w 1400780"/>
                  <a:gd name="connsiteY6" fmla="*/ 350080 h 820631"/>
                  <a:gd name="connsiteX7" fmla="*/ 1301587 w 1400780"/>
                  <a:gd name="connsiteY7" fmla="*/ 11721 h 820631"/>
                  <a:gd name="connsiteX8" fmla="*/ 824303 w 1400780"/>
                  <a:gd name="connsiteY8" fmla="*/ 71530 h 820631"/>
                  <a:gd name="connsiteX9" fmla="*/ 216608 w 1400780"/>
                  <a:gd name="connsiteY9" fmla="*/ 79781 h 820631"/>
                  <a:gd name="connsiteX0" fmla="*/ 216608 w 1388697"/>
                  <a:gd name="connsiteY0" fmla="*/ 79781 h 820631"/>
                  <a:gd name="connsiteX1" fmla="*/ 112559 w 1388697"/>
                  <a:gd name="connsiteY1" fmla="*/ 134178 h 820631"/>
                  <a:gd name="connsiteX2" fmla="*/ 12814 w 1388697"/>
                  <a:gd name="connsiteY2" fmla="*/ 371853 h 820631"/>
                  <a:gd name="connsiteX3" fmla="*/ 54984 w 1388697"/>
                  <a:gd name="connsiteY3" fmla="*/ 704252 h 820631"/>
                  <a:gd name="connsiteX4" fmla="*/ 348727 w 1388697"/>
                  <a:gd name="connsiteY4" fmla="*/ 817029 h 820631"/>
                  <a:gd name="connsiteX5" fmla="*/ 1263797 w 1388697"/>
                  <a:gd name="connsiteY5" fmla="*/ 767492 h 820631"/>
                  <a:gd name="connsiteX6" fmla="*/ 1378790 w 1388697"/>
                  <a:gd name="connsiteY6" fmla="*/ 350080 h 820631"/>
                  <a:gd name="connsiteX7" fmla="*/ 1301587 w 1388697"/>
                  <a:gd name="connsiteY7" fmla="*/ 11721 h 820631"/>
                  <a:gd name="connsiteX8" fmla="*/ 824303 w 1388697"/>
                  <a:gd name="connsiteY8" fmla="*/ 71530 h 820631"/>
                  <a:gd name="connsiteX9" fmla="*/ 216608 w 1388697"/>
                  <a:gd name="connsiteY9" fmla="*/ 79781 h 820631"/>
                  <a:gd name="connsiteX0" fmla="*/ 216608 w 1391225"/>
                  <a:gd name="connsiteY0" fmla="*/ 79781 h 826967"/>
                  <a:gd name="connsiteX1" fmla="*/ 112559 w 1391225"/>
                  <a:gd name="connsiteY1" fmla="*/ 134178 h 826967"/>
                  <a:gd name="connsiteX2" fmla="*/ 12814 w 1391225"/>
                  <a:gd name="connsiteY2" fmla="*/ 371853 h 826967"/>
                  <a:gd name="connsiteX3" fmla="*/ 54984 w 1391225"/>
                  <a:gd name="connsiteY3" fmla="*/ 704252 h 826967"/>
                  <a:gd name="connsiteX4" fmla="*/ 348727 w 1391225"/>
                  <a:gd name="connsiteY4" fmla="*/ 817029 h 826967"/>
                  <a:gd name="connsiteX5" fmla="*/ 1270711 w 1391225"/>
                  <a:gd name="connsiteY5" fmla="*/ 780860 h 826967"/>
                  <a:gd name="connsiteX6" fmla="*/ 1378790 w 1391225"/>
                  <a:gd name="connsiteY6" fmla="*/ 350080 h 826967"/>
                  <a:gd name="connsiteX7" fmla="*/ 1301587 w 1391225"/>
                  <a:gd name="connsiteY7" fmla="*/ 11721 h 826967"/>
                  <a:gd name="connsiteX8" fmla="*/ 824303 w 1391225"/>
                  <a:gd name="connsiteY8" fmla="*/ 71530 h 826967"/>
                  <a:gd name="connsiteX9" fmla="*/ 216608 w 1391225"/>
                  <a:gd name="connsiteY9" fmla="*/ 79781 h 826967"/>
                  <a:gd name="connsiteX0" fmla="*/ 216608 w 1379141"/>
                  <a:gd name="connsiteY0" fmla="*/ 79781 h 826967"/>
                  <a:gd name="connsiteX1" fmla="*/ 112559 w 1379141"/>
                  <a:gd name="connsiteY1" fmla="*/ 134178 h 826967"/>
                  <a:gd name="connsiteX2" fmla="*/ 12814 w 1379141"/>
                  <a:gd name="connsiteY2" fmla="*/ 371853 h 826967"/>
                  <a:gd name="connsiteX3" fmla="*/ 54984 w 1379141"/>
                  <a:gd name="connsiteY3" fmla="*/ 704252 h 826967"/>
                  <a:gd name="connsiteX4" fmla="*/ 348727 w 1379141"/>
                  <a:gd name="connsiteY4" fmla="*/ 817029 h 826967"/>
                  <a:gd name="connsiteX5" fmla="*/ 1270711 w 1379141"/>
                  <a:gd name="connsiteY5" fmla="*/ 780860 h 826967"/>
                  <a:gd name="connsiteX6" fmla="*/ 1378790 w 1379141"/>
                  <a:gd name="connsiteY6" fmla="*/ 350080 h 826967"/>
                  <a:gd name="connsiteX7" fmla="*/ 1301587 w 1379141"/>
                  <a:gd name="connsiteY7" fmla="*/ 11721 h 826967"/>
                  <a:gd name="connsiteX8" fmla="*/ 824303 w 1379141"/>
                  <a:gd name="connsiteY8" fmla="*/ 71530 h 826967"/>
                  <a:gd name="connsiteX9" fmla="*/ 216608 w 1379141"/>
                  <a:gd name="connsiteY9" fmla="*/ 79781 h 826967"/>
                  <a:gd name="connsiteX0" fmla="*/ 216608 w 1379281"/>
                  <a:gd name="connsiteY0" fmla="*/ 79781 h 826967"/>
                  <a:gd name="connsiteX1" fmla="*/ 112559 w 1379281"/>
                  <a:gd name="connsiteY1" fmla="*/ 134178 h 826967"/>
                  <a:gd name="connsiteX2" fmla="*/ 12814 w 1379281"/>
                  <a:gd name="connsiteY2" fmla="*/ 371853 h 826967"/>
                  <a:gd name="connsiteX3" fmla="*/ 54984 w 1379281"/>
                  <a:gd name="connsiteY3" fmla="*/ 704252 h 826967"/>
                  <a:gd name="connsiteX4" fmla="*/ 348727 w 1379281"/>
                  <a:gd name="connsiteY4" fmla="*/ 817029 h 826967"/>
                  <a:gd name="connsiteX5" fmla="*/ 1270711 w 1379281"/>
                  <a:gd name="connsiteY5" fmla="*/ 780860 h 826967"/>
                  <a:gd name="connsiteX6" fmla="*/ 1378790 w 1379281"/>
                  <a:gd name="connsiteY6" fmla="*/ 350080 h 826967"/>
                  <a:gd name="connsiteX7" fmla="*/ 1301587 w 1379281"/>
                  <a:gd name="connsiteY7" fmla="*/ 11721 h 826967"/>
                  <a:gd name="connsiteX8" fmla="*/ 824303 w 1379281"/>
                  <a:gd name="connsiteY8" fmla="*/ 71530 h 826967"/>
                  <a:gd name="connsiteX9" fmla="*/ 216608 w 1379281"/>
                  <a:gd name="connsiteY9" fmla="*/ 79781 h 826967"/>
                  <a:gd name="connsiteX0" fmla="*/ 216608 w 1383421"/>
                  <a:gd name="connsiteY0" fmla="*/ 79781 h 826967"/>
                  <a:gd name="connsiteX1" fmla="*/ 112559 w 1383421"/>
                  <a:gd name="connsiteY1" fmla="*/ 134178 h 826967"/>
                  <a:gd name="connsiteX2" fmla="*/ 12814 w 1383421"/>
                  <a:gd name="connsiteY2" fmla="*/ 371853 h 826967"/>
                  <a:gd name="connsiteX3" fmla="*/ 54984 w 1383421"/>
                  <a:gd name="connsiteY3" fmla="*/ 704252 h 826967"/>
                  <a:gd name="connsiteX4" fmla="*/ 348727 w 1383421"/>
                  <a:gd name="connsiteY4" fmla="*/ 817029 h 826967"/>
                  <a:gd name="connsiteX5" fmla="*/ 1270711 w 1383421"/>
                  <a:gd name="connsiteY5" fmla="*/ 780860 h 826967"/>
                  <a:gd name="connsiteX6" fmla="*/ 1378790 w 1383421"/>
                  <a:gd name="connsiteY6" fmla="*/ 350080 h 826967"/>
                  <a:gd name="connsiteX7" fmla="*/ 1301587 w 1383421"/>
                  <a:gd name="connsiteY7" fmla="*/ 11721 h 826967"/>
                  <a:gd name="connsiteX8" fmla="*/ 824303 w 1383421"/>
                  <a:gd name="connsiteY8" fmla="*/ 71530 h 826967"/>
                  <a:gd name="connsiteX9" fmla="*/ 216608 w 1383421"/>
                  <a:gd name="connsiteY9" fmla="*/ 79781 h 826967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9141" h="806768">
                    <a:moveTo>
                      <a:pt x="216608" y="59582"/>
                    </a:moveTo>
                    <a:cubicBezTo>
                      <a:pt x="97984" y="70023"/>
                      <a:pt x="146525" y="65300"/>
                      <a:pt x="112559" y="113979"/>
                    </a:cubicBezTo>
                    <a:cubicBezTo>
                      <a:pt x="78593" y="162658"/>
                      <a:pt x="25373" y="149706"/>
                      <a:pt x="12814" y="351654"/>
                    </a:cubicBezTo>
                    <a:cubicBezTo>
                      <a:pt x="255" y="553602"/>
                      <a:pt x="-21645" y="640069"/>
                      <a:pt x="54984" y="684053"/>
                    </a:cubicBezTo>
                    <a:cubicBezTo>
                      <a:pt x="99551" y="702915"/>
                      <a:pt x="160041" y="781314"/>
                      <a:pt x="348727" y="796830"/>
                    </a:cubicBezTo>
                    <a:cubicBezTo>
                      <a:pt x="812788" y="793482"/>
                      <a:pt x="1165213" y="838487"/>
                      <a:pt x="1270711" y="760661"/>
                    </a:cubicBezTo>
                    <a:cubicBezTo>
                      <a:pt x="1376209" y="682835"/>
                      <a:pt x="1380962" y="491721"/>
                      <a:pt x="1378790" y="329881"/>
                    </a:cubicBezTo>
                    <a:cubicBezTo>
                      <a:pt x="1373459" y="210569"/>
                      <a:pt x="1340858" y="86687"/>
                      <a:pt x="1280844" y="13800"/>
                    </a:cubicBezTo>
                    <a:cubicBezTo>
                      <a:pt x="1177821" y="-34285"/>
                      <a:pt x="885108" y="59362"/>
                      <a:pt x="824303" y="51331"/>
                    </a:cubicBezTo>
                    <a:cubicBezTo>
                      <a:pt x="701546" y="58788"/>
                      <a:pt x="335232" y="49141"/>
                      <a:pt x="216608" y="59582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FA268A8-ABF2-2241-8D20-ADABF787D7DB}"/>
                  </a:ext>
                </a:extLst>
              </p:cNvPr>
              <p:cNvCxnSpPr>
                <a:cxnSpLocks/>
                <a:stCxn id="622" idx="0"/>
              </p:cNvCxnSpPr>
              <p:nvPr/>
            </p:nvCxnSpPr>
            <p:spPr>
              <a:xfrm flipH="1" flipV="1">
                <a:off x="8591314" y="5631767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59F888C-411C-1440-A32A-CADF8C516051}"/>
                  </a:ext>
                </a:extLst>
              </p:cNvPr>
              <p:cNvCxnSpPr>
                <a:cxnSpLocks/>
                <a:stCxn id="641" idx="9"/>
              </p:cNvCxnSpPr>
              <p:nvPr/>
            </p:nvCxnSpPr>
            <p:spPr>
              <a:xfrm>
                <a:off x="8270073" y="5586838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DA040B7D-AE14-8149-A8F2-AD2B46A60BA7}"/>
                  </a:ext>
                </a:extLst>
              </p:cNvPr>
              <p:cNvCxnSpPr>
                <a:cxnSpLocks/>
                <a:stCxn id="641" idx="2"/>
              </p:cNvCxnSpPr>
              <p:nvPr/>
            </p:nvCxnSpPr>
            <p:spPr>
              <a:xfrm>
                <a:off x="8269779" y="5582623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DA3FBF40-1787-5F4F-95BD-1262A4703D41}"/>
                  </a:ext>
                </a:extLst>
              </p:cNvPr>
              <p:cNvCxnSpPr>
                <a:cxnSpLocks/>
                <a:endCxn id="627" idx="2"/>
              </p:cNvCxnSpPr>
              <p:nvPr/>
            </p:nvCxnSpPr>
            <p:spPr>
              <a:xfrm>
                <a:off x="8289329" y="5888859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46322858-FB0E-9141-B7EB-244A61CE0CB9}"/>
                  </a:ext>
                </a:extLst>
              </p:cNvPr>
              <p:cNvCxnSpPr>
                <a:cxnSpLocks/>
                <a:stCxn id="636" idx="4"/>
                <a:endCxn id="648" idx="2"/>
              </p:cNvCxnSpPr>
              <p:nvPr/>
            </p:nvCxnSpPr>
            <p:spPr>
              <a:xfrm flipH="1">
                <a:off x="8269832" y="5614796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7D8A2AA-1273-864F-A874-B501544A1914}"/>
                  </a:ext>
                </a:extLst>
              </p:cNvPr>
              <p:cNvCxnSpPr/>
              <p:nvPr/>
            </p:nvCxnSpPr>
            <p:spPr>
              <a:xfrm flipV="1">
                <a:off x="8289330" y="5631766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894B2426-E845-6840-B607-5B8219E84FE1}"/>
                  </a:ext>
                </a:extLst>
              </p:cNvPr>
              <p:cNvGrpSpPr/>
              <p:nvPr/>
            </p:nvGrpSpPr>
            <p:grpSpPr>
              <a:xfrm>
                <a:off x="8178961" y="5824636"/>
                <a:ext cx="182938" cy="111323"/>
                <a:chOff x="7493876" y="2774731"/>
                <a:chExt cx="1481958" cy="894622"/>
              </a:xfrm>
            </p:grpSpPr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BFD2963A-59B5-BF4A-A6E1-FDDD2916B990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87E899D9-74CF-C140-B797-B3971E5E0A2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73C2874F-B969-DF46-8C72-687D62D7A5B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E1BE4264-17D6-994E-81E1-D96DD6F975C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E5B4E29F-735E-F047-B24C-5E015F89169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208BB4B0-A69D-5941-BF89-9D224CC7FBF6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67C1AC62-BB60-0144-84C1-9F9A772EEE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ACCCDD1-F72D-914C-B61D-31A25871AAFF}"/>
                  </a:ext>
                </a:extLst>
              </p:cNvPr>
              <p:cNvGrpSpPr/>
              <p:nvPr/>
            </p:nvGrpSpPr>
            <p:grpSpPr>
              <a:xfrm>
                <a:off x="8182762" y="5545189"/>
                <a:ext cx="175179" cy="107525"/>
                <a:chOff x="7493876" y="2774731"/>
                <a:chExt cx="1481958" cy="894622"/>
              </a:xfrm>
            </p:grpSpPr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C6B0F009-E9EB-C548-AA74-A726F28C570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CD8F146A-64AA-D54D-B82F-4529F086BCB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E0C6945D-6F85-0B43-B06E-C6DF075860B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90D84452-F0A2-6F49-9FB7-C63D0934669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0F230E87-7389-4D47-951B-3AADDC18042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C5593166-104F-0142-B5ED-C681EE24000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9AA00B36-A763-884D-88DA-C7922A01CC2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E681FD39-8832-D545-BE3E-640BBA141552}"/>
                  </a:ext>
                </a:extLst>
              </p:cNvPr>
              <p:cNvGrpSpPr/>
              <p:nvPr/>
            </p:nvGrpSpPr>
            <p:grpSpPr>
              <a:xfrm>
                <a:off x="8515547" y="5580583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1330810-F34C-324A-84F3-B39D20384C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A3249ED8-C024-3A4A-9CCB-AA25B076F3A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0" name="Group 629">
                  <a:extLst>
                    <a:ext uri="{FF2B5EF4-FFF2-40B4-BE49-F238E27FC236}">
                      <a16:creationId xmlns:a16="http://schemas.microsoft.com/office/drawing/2014/main" id="{B01CDC5F-DA3A-E74E-AF65-7E3256F046F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301EE12F-0F7F-994F-8AA2-5819EAB9496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9E4C604A-82B1-E340-B4F3-42AC61E0686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AB91445-B40A-394E-B296-8024B424EFE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82EA1CC9-EC88-344F-9F86-8435310D5FE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0C1C8FB-0408-714E-A1DD-78F85B60437B}"/>
                  </a:ext>
                </a:extLst>
              </p:cNvPr>
              <p:cNvGrpSpPr/>
              <p:nvPr/>
            </p:nvGrpSpPr>
            <p:grpSpPr>
              <a:xfrm>
                <a:off x="8570325" y="5882671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9B4D64EF-FFF5-9446-B44D-24388D84572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457542F7-4030-C840-A950-8AB02A1839A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23" name="Group 622">
                  <a:extLst>
                    <a:ext uri="{FF2B5EF4-FFF2-40B4-BE49-F238E27FC236}">
                      <a16:creationId xmlns:a16="http://schemas.microsoft.com/office/drawing/2014/main" id="{D9C210E7-B327-514B-A0C7-94FDD9A9BD9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C13FE213-9244-E845-A3F1-B52267AF78F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4A014DC0-CDBF-6344-A08C-8B7DC7401C2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79781B3B-658A-AE4C-BE7D-F77DFBB2CEB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95A1B600-62A0-8147-9FD0-6D74D0E7EE1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3096215" y="4614313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D6E6C8-84CD-CB4A-84F1-067117845CF7}"/>
                </a:ext>
              </a:extLst>
            </p:cNvPr>
            <p:cNvGrpSpPr/>
            <p:nvPr/>
          </p:nvGrpSpPr>
          <p:grpSpPr>
            <a:xfrm>
              <a:off x="914169" y="3784413"/>
              <a:ext cx="6320401" cy="1580150"/>
              <a:chOff x="2495834" y="3549633"/>
              <a:chExt cx="6320401" cy="1580150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FCD09193-6AE8-9045-9CDC-6EFB0AA50425}"/>
                  </a:ext>
                </a:extLst>
              </p:cNvPr>
              <p:cNvGrpSpPr/>
              <p:nvPr/>
            </p:nvGrpSpPr>
            <p:grpSpPr>
              <a:xfrm>
                <a:off x="2495834" y="3549633"/>
                <a:ext cx="6206323" cy="1243997"/>
                <a:chOff x="2495834" y="3537276"/>
                <a:chExt cx="6206323" cy="1243997"/>
              </a:xfrm>
            </p:grpSpPr>
            <p:grpSp>
              <p:nvGrpSpPr>
                <p:cNvPr id="237" name="Group 652">
                  <a:extLst>
                    <a:ext uri="{FF2B5EF4-FFF2-40B4-BE49-F238E27FC236}">
                      <a16:creationId xmlns:a16="http://schemas.microsoft.com/office/drawing/2014/main" id="{B7A574D4-B4C4-F24D-A52D-60F53A34CE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5834" y="4101197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238" name="Picture 653" descr="iphone_stylized_small">
                    <a:extLst>
                      <a:ext uri="{FF2B5EF4-FFF2-40B4-BE49-F238E27FC236}">
                        <a16:creationId xmlns:a16="http://schemas.microsoft.com/office/drawing/2014/main" id="{E40B5A73-5458-324C-9C33-8F55121BEDA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654" descr="antenna_radiation_stylized">
                    <a:extLst>
                      <a:ext uri="{FF2B5EF4-FFF2-40B4-BE49-F238E27FC236}">
                        <a16:creationId xmlns:a16="http://schemas.microsoft.com/office/drawing/2014/main" id="{60774E42-B6D2-6342-AEC6-08E82A54789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90" name="Group 289">
                  <a:extLst>
                    <a:ext uri="{FF2B5EF4-FFF2-40B4-BE49-F238E27FC236}">
                      <a16:creationId xmlns:a16="http://schemas.microsoft.com/office/drawing/2014/main" id="{C9C48704-237C-E042-A607-8A9FFF15112D}"/>
                    </a:ext>
                  </a:extLst>
                </p:cNvPr>
                <p:cNvGrpSpPr/>
                <p:nvPr/>
              </p:nvGrpSpPr>
              <p:grpSpPr>
                <a:xfrm>
                  <a:off x="3472122" y="3537276"/>
                  <a:ext cx="790834" cy="1208131"/>
                  <a:chOff x="5970432" y="1600694"/>
                  <a:chExt cx="888604" cy="1226172"/>
                </a:xfrm>
              </p:grpSpPr>
              <p:grpSp>
                <p:nvGrpSpPr>
                  <p:cNvPr id="291" name="Group 290">
                    <a:extLst>
                      <a:ext uri="{FF2B5EF4-FFF2-40B4-BE49-F238E27FC236}">
                        <a16:creationId xmlns:a16="http://schemas.microsoft.com/office/drawing/2014/main" id="{EC48FFA5-0B8D-8940-9578-5CAAB8B434CA}"/>
                      </a:ext>
                    </a:extLst>
                  </p:cNvPr>
                  <p:cNvGrpSpPr/>
                  <p:nvPr/>
                </p:nvGrpSpPr>
                <p:grpSpPr>
                  <a:xfrm>
                    <a:off x="5970432" y="1600694"/>
                    <a:ext cx="466245" cy="953439"/>
                    <a:chOff x="6476205" y="1279015"/>
                    <a:chExt cx="466245" cy="953439"/>
                  </a:xfrm>
                </p:grpSpPr>
                <p:grpSp>
                  <p:nvGrpSpPr>
                    <p:cNvPr id="316" name="Group 817">
                      <a:extLst>
                        <a:ext uri="{FF2B5EF4-FFF2-40B4-BE49-F238E27FC236}">
                          <a16:creationId xmlns:a16="http://schemas.microsoft.com/office/drawing/2014/main" id="{C2EF0451-0CA1-724A-BA7D-FA7A8388A4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76205" y="1279015"/>
                      <a:ext cx="466245" cy="420795"/>
                      <a:chOff x="2920" y="1424"/>
                      <a:chExt cx="326" cy="310"/>
                    </a:xfrm>
                  </p:grpSpPr>
                  <p:sp>
                    <p:nvSpPr>
                      <p:cNvPr id="333" name="Oval 818">
                        <a:extLst>
                          <a:ext uri="{FF2B5EF4-FFF2-40B4-BE49-F238E27FC236}">
                            <a16:creationId xmlns:a16="http://schemas.microsoft.com/office/drawing/2014/main" id="{A613AA86-1E03-5344-825E-696D7901DD7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20" y="1445"/>
                        <a:ext cx="326" cy="28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grpSp>
                    <p:nvGrpSpPr>
                      <p:cNvPr id="334" name="Group 819">
                        <a:extLst>
                          <a:ext uri="{FF2B5EF4-FFF2-40B4-BE49-F238E27FC236}">
                            <a16:creationId xmlns:a16="http://schemas.microsoft.com/office/drawing/2014/main" id="{C922C50E-F1D7-FC45-ABFC-A32030B84EA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949" y="1424"/>
                        <a:ext cx="265" cy="280"/>
                        <a:chOff x="2949" y="1424"/>
                        <a:chExt cx="265" cy="280"/>
                      </a:xfrm>
                    </p:grpSpPr>
                    <p:sp>
                      <p:nvSpPr>
                        <p:cNvPr id="335" name="Oval 820">
                          <a:extLst>
                            <a:ext uri="{FF2B5EF4-FFF2-40B4-BE49-F238E27FC236}">
                              <a16:creationId xmlns:a16="http://schemas.microsoft.com/office/drawing/2014/main" id="{7AB8EDE7-CA20-EA49-AE13-8B0E3024B61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30" y="1545"/>
                          <a:ext cx="107" cy="92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6" name="Oval 821">
                          <a:extLst>
                            <a:ext uri="{FF2B5EF4-FFF2-40B4-BE49-F238E27FC236}">
                              <a16:creationId xmlns:a16="http://schemas.microsoft.com/office/drawing/2014/main" id="{CFF1CFAD-0B4A-5249-BE82-B24B699A090A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06" y="1525"/>
                          <a:ext cx="154" cy="131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7" name="Oval 822">
                          <a:extLst>
                            <a:ext uri="{FF2B5EF4-FFF2-40B4-BE49-F238E27FC236}">
                              <a16:creationId xmlns:a16="http://schemas.microsoft.com/office/drawing/2014/main" id="{290B1727-5427-6149-A5EF-2A0BE27D150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83" y="1501"/>
                          <a:ext cx="203" cy="179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8" name="Oval 823">
                          <a:extLst>
                            <a:ext uri="{FF2B5EF4-FFF2-40B4-BE49-F238E27FC236}">
                              <a16:creationId xmlns:a16="http://schemas.microsoft.com/office/drawing/2014/main" id="{4793DA61-B3FF-2E4D-AA14-FDB0E9C19E69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49" y="1476"/>
                          <a:ext cx="265" cy="228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9" name="Freeform 824">
                          <a:extLst>
                            <a:ext uri="{FF2B5EF4-FFF2-40B4-BE49-F238E27FC236}">
                              <a16:creationId xmlns:a16="http://schemas.microsoft.com/office/drawing/2014/main" id="{EE24D3D4-F5C1-6749-8657-7DFA356631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 flipV="1">
                          <a:off x="2987" y="1424"/>
                          <a:ext cx="205" cy="143"/>
                        </a:xfrm>
                        <a:custGeom>
                          <a:avLst/>
                          <a:gdLst>
                            <a:gd name="T0" fmla="*/ 0 w 1180"/>
                            <a:gd name="T1" fmla="*/ 0 h 956"/>
                            <a:gd name="T2" fmla="*/ 0 w 1180"/>
                            <a:gd name="T3" fmla="*/ 0 h 956"/>
                            <a:gd name="T4" fmla="*/ 0 w 1180"/>
                            <a:gd name="T5" fmla="*/ 0 h 956"/>
                            <a:gd name="T6" fmla="*/ 0 w 1180"/>
                            <a:gd name="T7" fmla="*/ 0 h 956"/>
                            <a:gd name="T8" fmla="*/ 0 w 1180"/>
                            <a:gd name="T9" fmla="*/ 0 h 956"/>
                            <a:gd name="T10" fmla="*/ 0 w 1180"/>
                            <a:gd name="T11" fmla="*/ 0 h 956"/>
                            <a:gd name="T12" fmla="*/ 0 w 1180"/>
                            <a:gd name="T13" fmla="*/ 0 h 956"/>
                            <a:gd name="T14" fmla="*/ 0 w 1180"/>
                            <a:gd name="T15" fmla="*/ 0 h 956"/>
                            <a:gd name="T16" fmla="*/ 0 w 1180"/>
                            <a:gd name="T17" fmla="*/ 0 h 956"/>
                            <a:gd name="T18" fmla="*/ 0 w 1180"/>
                            <a:gd name="T19" fmla="*/ 0 h 95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0" t="0" r="r" b="b"/>
                          <a:pathLst>
                            <a:path w="1180" h="956">
                              <a:moveTo>
                                <a:pt x="499" y="7"/>
                              </a:moveTo>
                              <a:lnTo>
                                <a:pt x="0" y="780"/>
                              </a:lnTo>
                              <a:lnTo>
                                <a:pt x="134" y="885"/>
                              </a:lnTo>
                              <a:lnTo>
                                <a:pt x="366" y="920"/>
                              </a:lnTo>
                              <a:lnTo>
                                <a:pt x="534" y="956"/>
                              </a:lnTo>
                              <a:lnTo>
                                <a:pt x="829" y="949"/>
                              </a:lnTo>
                              <a:lnTo>
                                <a:pt x="1096" y="850"/>
                              </a:lnTo>
                              <a:lnTo>
                                <a:pt x="1180" y="801"/>
                              </a:lnTo>
                              <a:lnTo>
                                <a:pt x="668" y="0"/>
                              </a:lnTo>
                              <a:lnTo>
                                <a:pt x="499" y="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xmlns="" w="19050" cmpd="sng">
                              <a:solidFill>
                                <a:schemeClr val="tx1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 dirty="0"/>
                        </a:p>
                      </p:txBody>
                    </p:sp>
                  </p:grpSp>
                </p:grpSp>
                <p:grpSp>
                  <p:nvGrpSpPr>
                    <p:cNvPr id="317" name="Group 398">
                      <a:extLst>
                        <a:ext uri="{FF2B5EF4-FFF2-40B4-BE49-F238E27FC236}">
                          <a16:creationId xmlns:a16="http://schemas.microsoft.com/office/drawing/2014/main" id="{65393C64-CECA-704C-B52A-6E54FB659C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527789" y="1518577"/>
                      <a:ext cx="375668" cy="713877"/>
                      <a:chOff x="3130" y="3288"/>
                      <a:chExt cx="410" cy="742"/>
                    </a:xfrm>
                  </p:grpSpPr>
                  <p:sp>
                    <p:nvSpPr>
                      <p:cNvPr id="318" name="Line 270">
                        <a:extLst>
                          <a:ext uri="{FF2B5EF4-FFF2-40B4-BE49-F238E27FC236}">
                            <a16:creationId xmlns:a16="http://schemas.microsoft.com/office/drawing/2014/main" id="{30F58770-7764-E447-889D-2E708BF29FC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9" name="Line 271">
                        <a:extLst>
                          <a:ext uri="{FF2B5EF4-FFF2-40B4-BE49-F238E27FC236}">
                            <a16:creationId xmlns:a16="http://schemas.microsoft.com/office/drawing/2014/main" id="{D1123060-6CBC-0944-9E3E-400C044C82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0" name="Line 272">
                        <a:extLst>
                          <a:ext uri="{FF2B5EF4-FFF2-40B4-BE49-F238E27FC236}">
                            <a16:creationId xmlns:a16="http://schemas.microsoft.com/office/drawing/2014/main" id="{5B0B371A-5EE5-CC45-ACD3-4D8AF2CAFF4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1" name="Line 273">
                        <a:extLst>
                          <a:ext uri="{FF2B5EF4-FFF2-40B4-BE49-F238E27FC236}">
                            <a16:creationId xmlns:a16="http://schemas.microsoft.com/office/drawing/2014/main" id="{A4376E8F-930A-3D47-86E0-0F0ACB1B2BF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2" name="Line 274">
                        <a:extLst>
                          <a:ext uri="{FF2B5EF4-FFF2-40B4-BE49-F238E27FC236}">
                            <a16:creationId xmlns:a16="http://schemas.microsoft.com/office/drawing/2014/main" id="{DC4D63DA-C320-6349-824D-67CD7CE7860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3" name="Line 275">
                        <a:extLst>
                          <a:ext uri="{FF2B5EF4-FFF2-40B4-BE49-F238E27FC236}">
                            <a16:creationId xmlns:a16="http://schemas.microsoft.com/office/drawing/2014/main" id="{E96001AD-A9DD-F747-9E27-D2C4D30841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4" name="Line 276">
                        <a:extLst>
                          <a:ext uri="{FF2B5EF4-FFF2-40B4-BE49-F238E27FC236}">
                            <a16:creationId xmlns:a16="http://schemas.microsoft.com/office/drawing/2014/main" id="{030A895B-C421-5442-8B45-738E486243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5" name="Line 277">
                        <a:extLst>
                          <a:ext uri="{FF2B5EF4-FFF2-40B4-BE49-F238E27FC236}">
                            <a16:creationId xmlns:a16="http://schemas.microsoft.com/office/drawing/2014/main" id="{72F25B95-31AF-C549-B80C-BDFDCD9A046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6" name="Line 278">
                        <a:extLst>
                          <a:ext uri="{FF2B5EF4-FFF2-40B4-BE49-F238E27FC236}">
                            <a16:creationId xmlns:a16="http://schemas.microsoft.com/office/drawing/2014/main" id="{2F371059-41B6-A947-AEDC-5E3A4D33FB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7" name="Line 279">
                        <a:extLst>
                          <a:ext uri="{FF2B5EF4-FFF2-40B4-BE49-F238E27FC236}">
                            <a16:creationId xmlns:a16="http://schemas.microsoft.com/office/drawing/2014/main" id="{1AD7838F-EEF9-414D-8E67-948B41173FA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8" name="Line 280">
                        <a:extLst>
                          <a:ext uri="{FF2B5EF4-FFF2-40B4-BE49-F238E27FC236}">
                            <a16:creationId xmlns:a16="http://schemas.microsoft.com/office/drawing/2014/main" id="{B2725003-B064-3140-8EBB-BA8E67BD09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9" name="Line 281">
                        <a:extLst>
                          <a:ext uri="{FF2B5EF4-FFF2-40B4-BE49-F238E27FC236}">
                            <a16:creationId xmlns:a16="http://schemas.microsoft.com/office/drawing/2014/main" id="{97765559-BD7A-1F41-91EA-B3FD894E1B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0" name="Line 282">
                        <a:extLst>
                          <a:ext uri="{FF2B5EF4-FFF2-40B4-BE49-F238E27FC236}">
                            <a16:creationId xmlns:a16="http://schemas.microsoft.com/office/drawing/2014/main" id="{4EA72013-A268-854B-BE9E-B0D6C2D327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1" name="Line 283">
                        <a:extLst>
                          <a:ext uri="{FF2B5EF4-FFF2-40B4-BE49-F238E27FC236}">
                            <a16:creationId xmlns:a16="http://schemas.microsoft.com/office/drawing/2014/main" id="{428197BC-47D0-1E4B-8244-36200B1648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2" name="Line 284">
                        <a:extLst>
                          <a:ext uri="{FF2B5EF4-FFF2-40B4-BE49-F238E27FC236}">
                            <a16:creationId xmlns:a16="http://schemas.microsoft.com/office/drawing/2014/main" id="{04A1EF6D-F5EE-524C-9DB7-09BE19C1978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292" name="Group 291">
                    <a:extLst>
                      <a:ext uri="{FF2B5EF4-FFF2-40B4-BE49-F238E27FC236}">
                        <a16:creationId xmlns:a16="http://schemas.microsoft.com/office/drawing/2014/main" id="{C90CA754-8C8F-4644-9A2D-7588F908497A}"/>
                      </a:ext>
                    </a:extLst>
                  </p:cNvPr>
                  <p:cNvGrpSpPr/>
                  <p:nvPr/>
                </p:nvGrpSpPr>
                <p:grpSpPr>
                  <a:xfrm>
                    <a:off x="6091888" y="2409568"/>
                    <a:ext cx="767148" cy="417298"/>
                    <a:chOff x="1503784" y="3006600"/>
                    <a:chExt cx="1771786" cy="957087"/>
                  </a:xfrm>
                </p:grpSpPr>
                <p:grpSp>
                  <p:nvGrpSpPr>
                    <p:cNvPr id="293" name="Group 292">
                      <a:extLst>
                        <a:ext uri="{FF2B5EF4-FFF2-40B4-BE49-F238E27FC236}">
                          <a16:creationId xmlns:a16="http://schemas.microsoft.com/office/drawing/2014/main" id="{1DD9292E-07D8-4E49-AD9F-6BCA22D8E7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03784" y="3006600"/>
                      <a:ext cx="1771786" cy="957087"/>
                      <a:chOff x="1465684" y="2997075"/>
                      <a:chExt cx="1771786" cy="957087"/>
                    </a:xfrm>
                  </p:grpSpPr>
                  <p:sp>
                    <p:nvSpPr>
                      <p:cNvPr id="314" name="Freeform 313">
                        <a:extLst>
                          <a:ext uri="{FF2B5EF4-FFF2-40B4-BE49-F238E27FC236}">
                            <a16:creationId xmlns:a16="http://schemas.microsoft.com/office/drawing/2014/main" id="{3025F10C-A7CC-B74A-B72A-260BD7C01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684" y="3328365"/>
                        <a:ext cx="1771786" cy="625797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315" name="Oval 314">
                        <a:extLst>
                          <a:ext uri="{FF2B5EF4-FFF2-40B4-BE49-F238E27FC236}">
                            <a16:creationId xmlns:a16="http://schemas.microsoft.com/office/drawing/2014/main" id="{C7C4B94C-718E-BC42-B3DD-65ECBDB87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04" y="2997075"/>
                        <a:ext cx="1769640" cy="619577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</p:grpSp>
                <p:grpSp>
                  <p:nvGrpSpPr>
                    <p:cNvPr id="294" name="Group 293">
                      <a:extLst>
                        <a:ext uri="{FF2B5EF4-FFF2-40B4-BE49-F238E27FC236}">
                          <a16:creationId xmlns:a16="http://schemas.microsoft.com/office/drawing/2014/main" id="{EF8CC307-7C37-7946-B4D3-A9A26E598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7616" y="3038475"/>
                      <a:ext cx="768409" cy="553944"/>
                      <a:chOff x="1968091" y="3022600"/>
                      <a:chExt cx="768409" cy="553944"/>
                    </a:xfrm>
                  </p:grpSpPr>
                  <p:grpSp>
                    <p:nvGrpSpPr>
                      <p:cNvPr id="295" name="Group 294">
                        <a:extLst>
                          <a:ext uri="{FF2B5EF4-FFF2-40B4-BE49-F238E27FC236}">
                            <a16:creationId xmlns:a16="http://schemas.microsoft.com/office/drawing/2014/main" id="{CB7CD814-5CDC-5645-AE0C-90FDDAFDE8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32000" y="3022600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2" name="Parallelogram 311">
                          <a:extLst>
                            <a:ext uri="{FF2B5EF4-FFF2-40B4-BE49-F238E27FC236}">
                              <a16:creationId xmlns:a16="http://schemas.microsoft.com/office/drawing/2014/main" id="{8E889163-B02D-E347-A498-06833F8E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3" name="Parallelogram 312">
                          <a:extLst>
                            <a:ext uri="{FF2B5EF4-FFF2-40B4-BE49-F238E27FC236}">
                              <a16:creationId xmlns:a16="http://schemas.microsoft.com/office/drawing/2014/main" id="{B05B7D60-9C12-8745-B9A5-0F06F770CD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grpSp>
                    <p:nvGrpSpPr>
                      <p:cNvPr id="296" name="Group 295">
                        <a:extLst>
                          <a:ext uri="{FF2B5EF4-FFF2-40B4-BE49-F238E27FC236}">
                            <a16:creationId xmlns:a16="http://schemas.microsoft.com/office/drawing/2014/main" id="{4CBF821B-0228-DA47-9701-A3B07F74EBA9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2441575" y="3032125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0" name="Parallelogram 309">
                          <a:extLst>
                            <a:ext uri="{FF2B5EF4-FFF2-40B4-BE49-F238E27FC236}">
                              <a16:creationId xmlns:a16="http://schemas.microsoft.com/office/drawing/2014/main" id="{B7BA5D20-D1EE-A042-B6D8-882623998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1" name="Parallelogram 310">
                          <a:extLst>
                            <a:ext uri="{FF2B5EF4-FFF2-40B4-BE49-F238E27FC236}">
                              <a16:creationId xmlns:a16="http://schemas.microsoft.com/office/drawing/2014/main" id="{209D920C-CBF5-8B4A-A3D6-3A0C29BC6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297" name="Parallelogram 296">
                        <a:extLst>
                          <a:ext uri="{FF2B5EF4-FFF2-40B4-BE49-F238E27FC236}">
                            <a16:creationId xmlns:a16="http://schemas.microsoft.com/office/drawing/2014/main" id="{F3DFBC33-07D6-D14F-8660-FB92A0A355B9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057400" y="3130550"/>
                        <a:ext cx="625475" cy="60324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8" name="Parallelogram 297">
                        <a:extLst>
                          <a:ext uri="{FF2B5EF4-FFF2-40B4-BE49-F238E27FC236}">
                            <a16:creationId xmlns:a16="http://schemas.microsoft.com/office/drawing/2014/main" id="{5F8E4D95-8830-4642-933D-152E438E5BC7}"/>
                          </a:ext>
                        </a:extLst>
                      </p:cNvPr>
                      <p:cNvSpPr/>
                      <p:nvPr/>
                    </p:nvSpPr>
                    <p:spPr>
                      <a:xfrm rot="17056647">
                        <a:off x="2079626" y="3187701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9" name="Parallelogram 298">
                        <a:extLst>
                          <a:ext uri="{FF2B5EF4-FFF2-40B4-BE49-F238E27FC236}">
                            <a16:creationId xmlns:a16="http://schemas.microsoft.com/office/drawing/2014/main" id="{B53D3EC8-FC7D-3F46-960B-2BCCE314822F}"/>
                          </a:ext>
                        </a:extLst>
                      </p:cNvPr>
                      <p:cNvSpPr/>
                      <p:nvPr/>
                    </p:nvSpPr>
                    <p:spPr>
                      <a:xfrm rot="17384936" flipV="1">
                        <a:off x="1990347" y="3141540"/>
                        <a:ext cx="95195" cy="50805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0" name="Parallelogram 299">
                        <a:extLst>
                          <a:ext uri="{FF2B5EF4-FFF2-40B4-BE49-F238E27FC236}">
                            <a16:creationId xmlns:a16="http://schemas.microsoft.com/office/drawing/2014/main" id="{69342E0E-2F87-214D-8EBC-4B68F934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000" y="3162300"/>
                        <a:ext cx="6508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1" name="Parallelogram 300">
                        <a:extLst>
                          <a:ext uri="{FF2B5EF4-FFF2-40B4-BE49-F238E27FC236}">
                            <a16:creationId xmlns:a16="http://schemas.microsoft.com/office/drawing/2014/main" id="{7CDD0829-5C36-0E44-8EF9-190197145B6F}"/>
                          </a:ext>
                        </a:extLst>
                      </p:cNvPr>
                      <p:cNvSpPr/>
                      <p:nvPr/>
                    </p:nvSpPr>
                    <p:spPr>
                      <a:xfrm rot="4215064" flipH="1" flipV="1">
                        <a:off x="2627741" y="3146398"/>
                        <a:ext cx="9519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2" name="Parallelogram 301">
                        <a:extLst>
                          <a:ext uri="{FF2B5EF4-FFF2-40B4-BE49-F238E27FC236}">
                            <a16:creationId xmlns:a16="http://schemas.microsoft.com/office/drawing/2014/main" id="{468F4077-4B3A-7849-B5E1-24484BF5706C}"/>
                          </a:ext>
                        </a:extLst>
                      </p:cNvPr>
                      <p:cNvSpPr/>
                      <p:nvPr/>
                    </p:nvSpPr>
                    <p:spPr>
                      <a:xfrm rot="4492456">
                        <a:off x="2397126" y="31972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0D143A56-E6D4-A94B-986F-BBEC688460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68091" y="3322545"/>
                        <a:ext cx="768409" cy="96354"/>
                        <a:chOff x="1968092" y="3319370"/>
                        <a:chExt cx="677104" cy="96354"/>
                      </a:xfrm>
                    </p:grpSpPr>
                    <p:sp>
                      <p:nvSpPr>
                        <p:cNvPr id="306" name="Parallelogram 305">
                          <a:extLst>
                            <a:ext uri="{FF2B5EF4-FFF2-40B4-BE49-F238E27FC236}">
                              <a16:creationId xmlns:a16="http://schemas.microsoft.com/office/drawing/2014/main" id="{6C304F3C-95D0-2548-8E7F-827537C311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1">
                          <a:off x="2012950" y="3330575"/>
                          <a:ext cx="625475" cy="60324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7" name="Parallelogram 306">
                          <a:extLst>
                            <a:ext uri="{FF2B5EF4-FFF2-40B4-BE49-F238E27FC236}">
                              <a16:creationId xmlns:a16="http://schemas.microsoft.com/office/drawing/2014/main" id="{AA9AD67B-3FD9-634E-AF71-D7AD37EE4D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7384936" flipV="1">
                          <a:off x="1945897" y="3341565"/>
                          <a:ext cx="95195" cy="50805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8" name="Parallelogram 307">
                          <a:extLst>
                            <a:ext uri="{FF2B5EF4-FFF2-40B4-BE49-F238E27FC236}">
                              <a16:creationId xmlns:a16="http://schemas.microsoft.com/office/drawing/2014/main" id="{B22CE6A1-596E-5545-B5B8-8D41A868B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87550" y="3362325"/>
                          <a:ext cx="650875" cy="45719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9" name="Parallelogram 308">
                          <a:extLst>
                            <a:ext uri="{FF2B5EF4-FFF2-40B4-BE49-F238E27FC236}">
                              <a16:creationId xmlns:a16="http://schemas.microsoft.com/office/drawing/2014/main" id="{9FD2047A-D458-CC4F-AD9B-70B23F17B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4215064" flipH="1" flipV="1">
                          <a:off x="2577455" y="3347983"/>
                          <a:ext cx="95195" cy="40287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304" name="Parallelogram 303">
                        <a:extLst>
                          <a:ext uri="{FF2B5EF4-FFF2-40B4-BE49-F238E27FC236}">
                            <a16:creationId xmlns:a16="http://schemas.microsoft.com/office/drawing/2014/main" id="{151B1FCA-94A3-BA49-9F2E-45003647B01F}"/>
                          </a:ext>
                        </a:extLst>
                      </p:cNvPr>
                      <p:cNvSpPr/>
                      <p:nvPr/>
                    </p:nvSpPr>
                    <p:spPr>
                      <a:xfrm rot="4389628">
                        <a:off x="2495482" y="3370576"/>
                        <a:ext cx="160883" cy="55150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5" name="Parallelogram 304">
                        <a:extLst>
                          <a:ext uri="{FF2B5EF4-FFF2-40B4-BE49-F238E27FC236}">
                            <a16:creationId xmlns:a16="http://schemas.microsoft.com/office/drawing/2014/main" id="{37C7EC95-C865-C341-9E7A-21973768010D}"/>
                          </a:ext>
                        </a:extLst>
                      </p:cNvPr>
                      <p:cNvSpPr/>
                      <p:nvPr/>
                    </p:nvSpPr>
                    <p:spPr>
                      <a:xfrm rot="17068257">
                        <a:off x="2025651" y="33623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</p:grpSp>
              </p:grpSp>
            </p:grpSp>
            <p:grpSp>
              <p:nvGrpSpPr>
                <p:cNvPr id="365" name="Group 364">
                  <a:extLst>
                    <a:ext uri="{FF2B5EF4-FFF2-40B4-BE49-F238E27FC236}">
                      <a16:creationId xmlns:a16="http://schemas.microsoft.com/office/drawing/2014/main" id="{856A1DDB-8A37-2946-9861-ED06BA6666AE}"/>
                    </a:ext>
                  </a:extLst>
                </p:cNvPr>
                <p:cNvGrpSpPr/>
                <p:nvPr/>
              </p:nvGrpSpPr>
              <p:grpSpPr>
                <a:xfrm>
                  <a:off x="6186618" y="4320744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66" name="Freeform 365">
                    <a:extLst>
                      <a:ext uri="{FF2B5EF4-FFF2-40B4-BE49-F238E27FC236}">
                        <a16:creationId xmlns:a16="http://schemas.microsoft.com/office/drawing/2014/main" id="{8615A553-E639-DF42-BDCB-5BB57EE5986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F8067D52-9209-6148-A320-1F5BE3B5106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798508E8-3B65-D449-8561-602F236A69A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AF59777D-3B0D-7B41-B2E2-74E245379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B8D755EB-C300-714A-900B-B7C65F9CE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93107367-2FA4-ED4F-9007-933D22AD9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3832D63A-24A8-D64A-B1B2-A5429F198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85D18497-858A-D84C-A6E9-6FE0DB7482FC}"/>
                    </a:ext>
                  </a:extLst>
                </p:cNvPr>
                <p:cNvGrpSpPr/>
                <p:nvPr/>
              </p:nvGrpSpPr>
              <p:grpSpPr>
                <a:xfrm>
                  <a:off x="8007181" y="4312506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74" name="Freeform 373">
                    <a:extLst>
                      <a:ext uri="{FF2B5EF4-FFF2-40B4-BE49-F238E27FC236}">
                        <a16:creationId xmlns:a16="http://schemas.microsoft.com/office/drawing/2014/main" id="{BF5450DD-84DD-4A45-AC8D-808A9F2BEB9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5" name="Oval 374">
                    <a:extLst>
                      <a:ext uri="{FF2B5EF4-FFF2-40B4-BE49-F238E27FC236}">
                        <a16:creationId xmlns:a16="http://schemas.microsoft.com/office/drawing/2014/main" id="{4AC3F3C9-1FB4-9549-A4C7-97C0B23615D8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6" name="Group 375">
                    <a:extLst>
                      <a:ext uri="{FF2B5EF4-FFF2-40B4-BE49-F238E27FC236}">
                        <a16:creationId xmlns:a16="http://schemas.microsoft.com/office/drawing/2014/main" id="{42CE386C-F2A0-5541-B45F-4EB471DBDB7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1D699DC1-31D4-D643-AD24-1D6C2CB48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5FC03BE6-8981-4C41-9F09-AFC69FCE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F9E610FD-C3BC-3043-8C97-1CDE74FB6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Freeform 379">
                      <a:extLst>
                        <a:ext uri="{FF2B5EF4-FFF2-40B4-BE49-F238E27FC236}">
                          <a16:creationId xmlns:a16="http://schemas.microsoft.com/office/drawing/2014/main" id="{C45E6477-B144-F241-B0AA-8D8A371F5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FCEA10CE-F10F-2B40-8FF7-8413B69B3A33}"/>
                  </a:ext>
                </a:extLst>
              </p:cNvPr>
              <p:cNvSpPr txBox="1"/>
              <p:nvPr/>
            </p:nvSpPr>
            <p:spPr>
              <a:xfrm>
                <a:off x="3405528" y="4791229"/>
                <a:ext cx="12776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base station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cxnSp>
            <p:nvCxnSpPr>
              <p:cNvPr id="434" name="Straight Arrow Connector 433">
                <a:extLst>
                  <a:ext uri="{FF2B5EF4-FFF2-40B4-BE49-F238E27FC236}">
                    <a16:creationId xmlns:a16="http://schemas.microsoft.com/office/drawing/2014/main" id="{D11E9C6D-FA23-594D-B4A0-6137146194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34266" y="4554323"/>
                <a:ext cx="530281" cy="5419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triangl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E9787C5-171A-164E-A2EC-E94F3700D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2689" y="4554323"/>
                <a:ext cx="764985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A0F82358-FBA1-D84A-9E2E-12741B5869CA}"/>
                  </a:ext>
                </a:extLst>
              </p:cNvPr>
              <p:cNvSpPr txBox="1"/>
              <p:nvPr/>
            </p:nvSpPr>
            <p:spPr>
              <a:xfrm>
                <a:off x="8052781" y="4766735"/>
                <a:ext cx="7634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P-GW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9E8890E6-D82E-3A4D-A11C-C9A5D25F08A4}"/>
                  </a:ext>
                </a:extLst>
              </p:cNvPr>
              <p:cNvSpPr txBox="1"/>
              <p:nvPr/>
            </p:nvSpPr>
            <p:spPr>
              <a:xfrm>
                <a:off x="6228229" y="4790108"/>
                <a:ext cx="75367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S-GW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450342" y="4450690"/>
                <a:ext cx="1508938" cy="207264"/>
              </a:xfrm>
              <a:prstGeom prst="rect">
                <a:avLst/>
              </a:prstGeom>
            </p:spPr>
          </p:pic>
          <p:cxnSp>
            <p:nvCxnSpPr>
              <p:cNvPr id="441" name="Straight Arrow Connector 440">
                <a:extLst>
                  <a:ext uri="{FF2B5EF4-FFF2-40B4-BE49-F238E27FC236}">
                    <a16:creationId xmlns:a16="http://schemas.microsoft.com/office/drawing/2014/main" id="{7CAC19E2-26CF-9343-A487-53BAF5D76C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279805" y="4554323"/>
                <a:ext cx="214699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D5F52536-805A-F342-A9F4-681180CF6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69965" y="4554323"/>
                <a:ext cx="397397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3" name="Picture 442">
                <a:extLst>
                  <a:ext uri="{FF2B5EF4-FFF2-40B4-BE49-F238E27FC236}">
                    <a16:creationId xmlns:a16="http://schemas.microsoft.com/office/drawing/2014/main" id="{456403D6-6165-1943-9BE5-A8C0D7F8DE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20621" y="4458294"/>
                <a:ext cx="816721" cy="207264"/>
              </a:xfrm>
              <a:prstGeom prst="rect">
                <a:avLst/>
              </a:prstGeom>
            </p:spPr>
          </p:pic>
          <p:cxnSp>
            <p:nvCxnSpPr>
              <p:cNvPr id="444" name="Straight Arrow Connector 443">
                <a:extLst>
                  <a:ext uri="{FF2B5EF4-FFF2-40B4-BE49-F238E27FC236}">
                    <a16:creationId xmlns:a16="http://schemas.microsoft.com/office/drawing/2014/main" id="{468982C8-6B67-274B-9623-B5D646A9F7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94126" y="4561927"/>
                <a:ext cx="139746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543800" y="4118420"/>
              <a:ext cx="4226082" cy="1129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4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new protocols at link, physical layers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3D1603-A64B-F145-A1E2-09B91D2DFF3E}"/>
                </a:ext>
              </a:extLst>
            </p:cNvPr>
            <p:cNvCxnSpPr/>
            <p:nvPr/>
          </p:nvCxnSpPr>
          <p:spPr>
            <a:xfrm>
              <a:off x="1124466" y="3620530"/>
              <a:ext cx="9564129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7D1DF1AE-E1D6-5743-A791-649C5E92B823}"/>
              </a:ext>
            </a:extLst>
          </p:cNvPr>
          <p:cNvGrpSpPr/>
          <p:nvPr/>
        </p:nvGrpSpPr>
        <p:grpSpPr>
          <a:xfrm>
            <a:off x="4000586" y="4902565"/>
            <a:ext cx="7756939" cy="1064378"/>
            <a:chOff x="4000586" y="4902565"/>
            <a:chExt cx="7756939" cy="1064378"/>
          </a:xfrm>
        </p:grpSpPr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C93A37D2-1C2E-5848-A79A-A27DCB2A11AB}"/>
                </a:ext>
              </a:extLst>
            </p:cNvPr>
            <p:cNvGrpSpPr/>
            <p:nvPr/>
          </p:nvGrpSpPr>
          <p:grpSpPr>
            <a:xfrm>
              <a:off x="4000586" y="4902565"/>
              <a:ext cx="1695879" cy="1064378"/>
              <a:chOff x="5705818" y="5074585"/>
              <a:chExt cx="1695879" cy="954142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2BE0431-F59D-3E41-B261-0FC69F8ACC1D}"/>
                  </a:ext>
                </a:extLst>
              </p:cNvPr>
              <p:cNvSpPr txBox="1"/>
              <p:nvPr/>
            </p:nvSpPr>
            <p:spPr>
              <a:xfrm>
                <a:off x="5993028" y="5659395"/>
                <a:ext cx="111440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011199"/>
                    </a:solidFill>
                  </a:rPr>
                  <a:t>IP tunnels</a:t>
                </a:r>
              </a:p>
            </p:txBody>
          </p: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CCF3D979-6442-4146-AB30-8C00D62FB12C}"/>
                  </a:ext>
                </a:extLst>
              </p:cNvPr>
              <p:cNvCxnSpPr>
                <a:endCxn id="47" idx="0"/>
              </p:cNvCxnSpPr>
              <p:nvPr/>
            </p:nvCxnSpPr>
            <p:spPr>
              <a:xfrm flipH="1">
                <a:off x="6550232" y="5078627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2B6F403B-71C7-7441-A65F-001085A240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5818" y="5074585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79922F25-9593-A648-96F1-55A2286E30B1}"/>
                </a:ext>
              </a:extLst>
            </p:cNvPr>
            <p:cNvSpPr txBox="1"/>
            <p:nvPr/>
          </p:nvSpPr>
          <p:spPr>
            <a:xfrm>
              <a:off x="7531443" y="5135794"/>
              <a:ext cx="4226082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extensive use of tunneling to facilitate mobility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72255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70369" y="5117463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73296" y="5219794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557320" y="5161005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77883" y="5152767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85158" y="5082258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753391" y="5382227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423483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98931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044" y="5278594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650507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940667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1323" y="5286198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64828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621427" y="500448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5"/>
            <a:ext cx="6217806" cy="347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link layer protocols: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Packet Data Convergence: header compression, encryption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Radio Link Control (RLC) Protocol: fragmentation/reassembly, reliable data transfer 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Medium Access:</a:t>
            </a:r>
            <a:r>
              <a:rPr lang="en-US" dirty="0"/>
              <a:t> </a:t>
            </a:r>
            <a:r>
              <a:rPr lang="en-US" sz="2400" dirty="0"/>
              <a:t>requesting, use of radio transmission slots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ED57797-B3BB-9C45-BA3D-8AC7DBEE0C54}"/>
              </a:ext>
            </a:extLst>
          </p:cNvPr>
          <p:cNvCxnSpPr>
            <a:cxnSpLocks/>
          </p:cNvCxnSpPr>
          <p:nvPr/>
        </p:nvCxnSpPr>
        <p:spPr>
          <a:xfrm flipH="1">
            <a:off x="5067300" y="2014151"/>
            <a:ext cx="715663" cy="85039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Straight Connector 519">
            <a:extLst>
              <a:ext uri="{FF2B5EF4-FFF2-40B4-BE49-F238E27FC236}">
                <a16:creationId xmlns:a16="http://schemas.microsoft.com/office/drawing/2014/main" id="{3E139753-3549-614C-86DD-BD1FB426F26A}"/>
              </a:ext>
            </a:extLst>
          </p:cNvPr>
          <p:cNvCxnSpPr>
            <a:cxnSpLocks/>
          </p:cNvCxnSpPr>
          <p:nvPr/>
        </p:nvCxnSpPr>
        <p:spPr>
          <a:xfrm flipH="1">
            <a:off x="5067300" y="2821459"/>
            <a:ext cx="707425" cy="42444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6E41BEEB-A082-9942-9E30-E9698642D275}"/>
              </a:ext>
            </a:extLst>
          </p:cNvPr>
          <p:cNvCxnSpPr>
            <a:cxnSpLocks/>
          </p:cNvCxnSpPr>
          <p:nvPr/>
        </p:nvCxnSpPr>
        <p:spPr>
          <a:xfrm flipH="1" flipV="1">
            <a:off x="5067300" y="3549259"/>
            <a:ext cx="719782" cy="425499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555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4"/>
            <a:ext cx="6217806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radio access network: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 </a:t>
            </a:r>
            <a:r>
              <a:rPr lang="en-US" sz="2400" dirty="0">
                <a:solidFill>
                  <a:srgbClr val="011199"/>
                </a:solidFill>
              </a:rPr>
              <a:t>downstream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011199"/>
                </a:solidFill>
              </a:rPr>
              <a:t>channel: </a:t>
            </a:r>
            <a:r>
              <a:rPr lang="en-US" sz="2400" dirty="0"/>
              <a:t>FDM, TDM within frequency channel (OFDM - orthogonal frequency division multiplexing)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/>
              <a:t>“orthogonal”: minimal interference between channels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>
                <a:solidFill>
                  <a:srgbClr val="011199"/>
                </a:solidFill>
              </a:rPr>
              <a:t>upstream: </a:t>
            </a:r>
            <a:r>
              <a:rPr lang="en-US" sz="2400" dirty="0"/>
              <a:t>FDM, TDM similar to OFDM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each active mobile device allocated two or more 0.5 ms time slots over 12 frequencies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scheduling algorithm not standardized – up to operator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100’s Mbps per device possible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3DC3AFF-4CEE-8D4B-A4CD-03852C8D2996}"/>
              </a:ext>
            </a:extLst>
          </p:cNvPr>
          <p:cNvSpPr/>
          <p:nvPr/>
        </p:nvSpPr>
        <p:spPr>
          <a:xfrm rot="20830024">
            <a:off x="1846970" y="4403041"/>
            <a:ext cx="2916195" cy="772397"/>
          </a:xfrm>
          <a:prstGeom prst="ellipse">
            <a:avLst/>
          </a:prstGeom>
          <a:solidFill>
            <a:srgbClr val="C000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5449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6489B-96DA-EB48-8E6E-59D9DF907CEC}"/>
              </a:ext>
            </a:extLst>
          </p:cNvPr>
          <p:cNvGrpSpPr/>
          <p:nvPr/>
        </p:nvGrpSpPr>
        <p:grpSpPr>
          <a:xfrm>
            <a:off x="814516" y="2184682"/>
            <a:ext cx="2611987" cy="3194228"/>
            <a:chOff x="814516" y="2184682"/>
            <a:chExt cx="2611987" cy="319422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933477" y="4204640"/>
              <a:ext cx="2493026" cy="1174270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565693">
                  <a:moveTo>
                    <a:pt x="744708" y="1565693"/>
                  </a:moveTo>
                  <a:cubicBezTo>
                    <a:pt x="575040" y="582684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836305" y="757012"/>
                    <a:pt x="826077" y="1470381"/>
                  </a:cubicBezTo>
                  <a:lnTo>
                    <a:pt x="744708" y="1565693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25F485-695F-8A4B-959D-E89C44CDA475}"/>
                </a:ext>
              </a:extLst>
            </p:cNvPr>
            <p:cNvGrpSpPr/>
            <p:nvPr/>
          </p:nvGrpSpPr>
          <p:grpSpPr>
            <a:xfrm>
              <a:off x="814516" y="2184682"/>
              <a:ext cx="2583593" cy="2044418"/>
              <a:chOff x="814516" y="2184682"/>
              <a:chExt cx="2583593" cy="2044418"/>
            </a:xfrm>
          </p:grpSpPr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03612BDE-2C06-D745-BE63-05862F0039F0}"/>
                  </a:ext>
                </a:extLst>
              </p:cNvPr>
              <p:cNvSpPr/>
              <p:nvPr/>
            </p:nvSpPr>
            <p:spPr>
              <a:xfrm>
                <a:off x="929429" y="2784239"/>
                <a:ext cx="1232156" cy="143275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1A0A1163-5D32-CD4E-B323-69357BCD2867}"/>
                  </a:ext>
                </a:extLst>
              </p:cNvPr>
              <p:cNvSpPr txBox="1"/>
              <p:nvPr/>
            </p:nvSpPr>
            <p:spPr>
              <a:xfrm>
                <a:off x="1405045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547ED238-5176-8847-AFB5-7F1D34DF13BA}"/>
                  </a:ext>
                </a:extLst>
              </p:cNvPr>
              <p:cNvSpPr txBox="1"/>
              <p:nvPr/>
            </p:nvSpPr>
            <p:spPr>
              <a:xfrm>
                <a:off x="1038967" y="3072096"/>
                <a:ext cx="991555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Packet Data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Convergence</a:t>
                </a:r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86B20778-D31C-9147-AD26-234E205F0927}"/>
                  </a:ext>
                </a:extLst>
              </p:cNvPr>
              <p:cNvSpPr txBox="1"/>
              <p:nvPr/>
            </p:nvSpPr>
            <p:spPr>
              <a:xfrm>
                <a:off x="1117603" y="3409930"/>
                <a:ext cx="8242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Radio Link</a:t>
                </a:r>
                <a:endParaRPr lang="en-US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A562068D-66A2-4442-86EE-3752EFA5BFAC}"/>
                  </a:ext>
                </a:extLst>
              </p:cNvPr>
              <p:cNvSpPr txBox="1"/>
              <p:nvPr/>
            </p:nvSpPr>
            <p:spPr>
              <a:xfrm>
                <a:off x="959379" y="3645335"/>
                <a:ext cx="11673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Medium Access</a:t>
                </a:r>
                <a:endParaRPr lang="en-US" sz="2400" dirty="0"/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6337B67E-3C27-5248-A0D8-48E5AB5C833F}"/>
                  </a:ext>
                </a:extLst>
              </p:cNvPr>
              <p:cNvSpPr txBox="1"/>
              <p:nvPr/>
            </p:nvSpPr>
            <p:spPr>
              <a:xfrm>
                <a:off x="1107335" y="389421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DFE23CB5-F057-C84D-BBFF-3D5CE2E663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061" y="3929005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5BCFC2D-F1C7-3B43-AFA0-7C82CA2A2B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2997" y="3433297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Straight Connector 389">
                <a:extLst>
                  <a:ext uri="{FF2B5EF4-FFF2-40B4-BE49-F238E27FC236}">
                    <a16:creationId xmlns:a16="http://schemas.microsoft.com/office/drawing/2014/main" id="{3C6D0B74-A1B9-1743-BC8D-85FF512C4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757" y="2784146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261FB3E7-B7E8-9045-89B5-9E618ABE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9011" y="3060570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E9D2F2F-5898-F64C-90EB-0EC486D02C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2462" y="3653783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BCE7458-4BFF-6F46-8047-2600926BA082}"/>
                  </a:ext>
                </a:extLst>
              </p:cNvPr>
              <p:cNvGrpSpPr/>
              <p:nvPr/>
            </p:nvGrpSpPr>
            <p:grpSpPr>
              <a:xfrm>
                <a:off x="2160462" y="2184682"/>
                <a:ext cx="1237647" cy="2032308"/>
                <a:chOff x="2160462" y="2184682"/>
                <a:chExt cx="1237647" cy="2032308"/>
              </a:xfrm>
            </p:grpSpPr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0272AE-6223-7744-A5DD-4790A7D90D0F}"/>
                    </a:ext>
                  </a:extLst>
                </p:cNvPr>
                <p:cNvSpPr/>
                <p:nvPr/>
              </p:nvSpPr>
              <p:spPr>
                <a:xfrm>
                  <a:off x="2165388" y="2199503"/>
                  <a:ext cx="1232156" cy="2017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000" dirty="0"/>
                </a:p>
              </p:txBody>
            </p: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581CADE3-7F1A-DE40-BE8F-9AF40453A829}"/>
                    </a:ext>
                  </a:extLst>
                </p:cNvPr>
                <p:cNvSpPr txBox="1"/>
                <p:nvPr/>
              </p:nvSpPr>
              <p:spPr>
                <a:xfrm>
                  <a:off x="2431735" y="2184682"/>
                  <a:ext cx="62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GTP-U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5001E5FC-9040-7D4D-B138-F8353BECD90F}"/>
                    </a:ext>
                  </a:extLst>
                </p:cNvPr>
                <p:cNvSpPr txBox="1"/>
                <p:nvPr/>
              </p:nvSpPr>
              <p:spPr>
                <a:xfrm>
                  <a:off x="2522760" y="2477319"/>
                  <a:ext cx="477211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UDP</a:t>
                  </a:r>
                </a:p>
              </p:txBody>
            </p:sp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E6B94F46-CB06-E64F-8640-4D8C9E45D688}"/>
                    </a:ext>
                  </a:extLst>
                </p:cNvPr>
                <p:cNvSpPr txBox="1"/>
                <p:nvPr/>
              </p:nvSpPr>
              <p:spPr>
                <a:xfrm>
                  <a:off x="2641004" y="2745372"/>
                  <a:ext cx="29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IP</a:t>
                  </a:r>
                </a:p>
              </p:txBody>
            </p: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39B640E7-396B-9A48-BCB2-D9869E6C75E7}"/>
                    </a:ext>
                  </a:extLst>
                </p:cNvPr>
                <p:cNvSpPr txBox="1"/>
                <p:nvPr/>
              </p:nvSpPr>
              <p:spPr>
                <a:xfrm>
                  <a:off x="2518651" y="3343496"/>
                  <a:ext cx="41533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link</a:t>
                  </a:r>
                  <a:endParaRPr lang="en-US" sz="3200" dirty="0"/>
                </a:p>
              </p:txBody>
            </p:sp>
            <p:sp>
              <p:nvSpPr>
                <p:cNvPr id="136" name="TextBox 135">
                  <a:extLst>
                    <a:ext uri="{FF2B5EF4-FFF2-40B4-BE49-F238E27FC236}">
                      <a16:creationId xmlns:a16="http://schemas.microsoft.com/office/drawing/2014/main" id="{9624781B-5C01-5B4D-BC6B-CA53EC986E14}"/>
                    </a:ext>
                  </a:extLst>
                </p:cNvPr>
                <p:cNvSpPr txBox="1"/>
                <p:nvPr/>
              </p:nvSpPr>
              <p:spPr>
                <a:xfrm>
                  <a:off x="2313796" y="3894219"/>
                  <a:ext cx="743789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Physical</a:t>
                  </a:r>
                  <a:endParaRPr lang="en-US" sz="2400" dirty="0"/>
                </a:p>
              </p:txBody>
            </p:sp>
            <p:cxnSp>
              <p:nvCxnSpPr>
                <p:cNvPr id="137" name="Straight Connector 136">
                  <a:extLst>
                    <a:ext uri="{FF2B5EF4-FFF2-40B4-BE49-F238E27FC236}">
                      <a16:creationId xmlns:a16="http://schemas.microsoft.com/office/drawing/2014/main" id="{C1D82ACC-E0EE-2348-B890-423D23C1EF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020" y="3929006"/>
                  <a:ext cx="1229581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Straight Connector 137">
                  <a:extLst>
                    <a:ext uri="{FF2B5EF4-FFF2-40B4-BE49-F238E27FC236}">
                      <a16:creationId xmlns:a16="http://schemas.microsoft.com/office/drawing/2014/main" id="{2DB145EA-3219-004F-A23E-FB2999175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0462" y="2507722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Straight Connector 139">
                  <a:extLst>
                    <a:ext uri="{FF2B5EF4-FFF2-40B4-BE49-F238E27FC236}">
                      <a16:creationId xmlns:a16="http://schemas.microsoft.com/office/drawing/2014/main" id="{0AA57595-69A7-FB47-861C-260753AC75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2716" y="2784147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Straight Connector 140">
                  <a:extLst>
                    <a:ext uri="{FF2B5EF4-FFF2-40B4-BE49-F238E27FC236}">
                      <a16:creationId xmlns:a16="http://schemas.microsoft.com/office/drawing/2014/main" id="{B9DCE83D-6FD6-1D43-8628-D244B5294D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970" y="3060571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347F37DA-3C33-4A46-BB08-CEF2C9614C19}"/>
                  </a:ext>
                </a:extLst>
              </p:cNvPr>
              <p:cNvSpPr/>
              <p:nvPr/>
            </p:nvSpPr>
            <p:spPr>
              <a:xfrm>
                <a:off x="814516" y="2710248"/>
                <a:ext cx="1352036" cy="1518852"/>
              </a:xfrm>
              <a:prstGeom prst="rect">
                <a:avLst/>
              </a:prstGeom>
              <a:solidFill>
                <a:schemeClr val="bg1">
                  <a:alpha val="7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 packet core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B2C4908-6AF5-4E40-BEA7-AF2FB61795AD}"/>
              </a:ext>
            </a:extLst>
          </p:cNvPr>
          <p:cNvGrpSpPr/>
          <p:nvPr/>
        </p:nvGrpSpPr>
        <p:grpSpPr>
          <a:xfrm>
            <a:off x="4796570" y="2196792"/>
            <a:ext cx="2526431" cy="3132436"/>
            <a:chOff x="4796570" y="2196792"/>
            <a:chExt cx="2526431" cy="3132436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BE969560-692E-A942-8410-B9F73CA0E966}"/>
                </a:ext>
              </a:extLst>
            </p:cNvPr>
            <p:cNvGrpSpPr/>
            <p:nvPr/>
          </p:nvGrpSpPr>
          <p:grpSpPr>
            <a:xfrm>
              <a:off x="4796570" y="2196792"/>
              <a:ext cx="1237647" cy="2032308"/>
              <a:chOff x="2160462" y="2184682"/>
              <a:chExt cx="1237647" cy="2032308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46E0073-42DA-D24A-A4EC-6A54A41FEB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96C4881-41D5-124D-9B71-858A49D6BE13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95BAB027-0A6C-224B-9E50-B34BBA668B87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23F5B520-412C-1243-9A57-C2BC4F3A4AC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F0DA3D4F-C95B-C844-9E36-5985F9F25C3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A3433732-12B1-F240-8E22-5B73D009927D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78551E58-C8D2-5840-BBDC-29C079129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4C882FB-CB3A-7C44-9B26-8ABB9BA95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6F0AA963-B936-D64A-9037-C9B378F54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3E040E8-A2E3-414C-B175-D28B7DF9D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F380DFF-8282-D243-90DC-C48972CF0694}"/>
                </a:ext>
              </a:extLst>
            </p:cNvPr>
            <p:cNvGrpSpPr/>
            <p:nvPr/>
          </p:nvGrpSpPr>
          <p:grpSpPr>
            <a:xfrm>
              <a:off x="5999294" y="2196792"/>
              <a:ext cx="1237647" cy="2032308"/>
              <a:chOff x="2160462" y="2184682"/>
              <a:chExt cx="1237647" cy="2032308"/>
            </a:xfrm>
          </p:grpSpPr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0B23F6FB-4938-0844-BE98-E497854E710D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0DD464DC-8853-DF40-99EA-099A720F36EE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2059F2B-9B51-0B44-80BA-31DD3854E525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A0E6ADB-5D3B-AE49-B8AC-1C33E4D3A35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15ED722-1510-D54F-96E7-C7645BE37EAA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A4280CC-8310-E846-865C-14CCFD7279CC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7A8D91A-62EE-AA48-B231-C1F1D52F64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4AE9CA62-2BDB-2E48-ADF4-0C3CF084C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AEDB6E1-97F9-FB4E-BEA4-C6461196BA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1CD18770-70F8-0D40-BE8F-FB3FEB239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EBBBE68-5555-0D42-81E3-5BAA4C005CEC}"/>
                </a:ext>
              </a:extLst>
            </p:cNvPr>
            <p:cNvSpPr/>
            <p:nvPr/>
          </p:nvSpPr>
          <p:spPr>
            <a:xfrm flipH="1">
              <a:off x="4829975" y="4229099"/>
              <a:ext cx="2493026" cy="1100129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  <a:gd name="connsiteX0" fmla="*/ 554728 w 934860"/>
                <a:gd name="connsiteY0" fmla="*/ 1466838 h 1470381"/>
                <a:gd name="connsiteX1" fmla="*/ 0 w 934860"/>
                <a:gd name="connsiteY1" fmla="*/ 0 h 1470381"/>
                <a:gd name="connsiteX2" fmla="*/ 934860 w 934860"/>
                <a:gd name="connsiteY2" fmla="*/ 18745 h 1470381"/>
                <a:gd name="connsiteX3" fmla="*/ 826077 w 934860"/>
                <a:gd name="connsiteY3" fmla="*/ 1470381 h 1470381"/>
                <a:gd name="connsiteX4" fmla="*/ 554728 w 934860"/>
                <a:gd name="connsiteY4" fmla="*/ 1466838 h 1470381"/>
                <a:gd name="connsiteX0" fmla="*/ 554728 w 934860"/>
                <a:gd name="connsiteY0" fmla="*/ 1466838 h 1466838"/>
                <a:gd name="connsiteX1" fmla="*/ 0 w 934860"/>
                <a:gd name="connsiteY1" fmla="*/ 0 h 1466838"/>
                <a:gd name="connsiteX2" fmla="*/ 934860 w 934860"/>
                <a:gd name="connsiteY2" fmla="*/ 18745 h 1466838"/>
                <a:gd name="connsiteX3" fmla="*/ 691701 w 934860"/>
                <a:gd name="connsiteY3" fmla="*/ 1453905 h 1466838"/>
                <a:gd name="connsiteX4" fmla="*/ 554728 w 934860"/>
                <a:gd name="connsiteY4" fmla="*/ 1466838 h 146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466838">
                  <a:moveTo>
                    <a:pt x="554728" y="1466838"/>
                  </a:moveTo>
                  <a:cubicBezTo>
                    <a:pt x="385060" y="483829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701929" y="740536"/>
                    <a:pt x="691701" y="1453905"/>
                  </a:cubicBezTo>
                  <a:lnTo>
                    <a:pt x="554728" y="1466838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57583815-207F-3F40-B71D-607AA8049E15}"/>
              </a:ext>
            </a:extLst>
          </p:cNvPr>
          <p:cNvGrpSpPr/>
          <p:nvPr/>
        </p:nvGrpSpPr>
        <p:grpSpPr>
          <a:xfrm>
            <a:off x="3591328" y="5117463"/>
            <a:ext cx="4433068" cy="574881"/>
            <a:chOff x="5366964" y="5459934"/>
            <a:chExt cx="4476119" cy="574881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3806000-F8D5-1243-B442-2CE4C18F3222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3B00005-8084-274A-B4E5-21E4A031BDAC}"/>
                </a:ext>
              </a:extLst>
            </p:cNvPr>
            <p:cNvCxnSpPr>
              <a:cxnSpLocks/>
              <a:stCxn id="181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4CA44BED-C2DE-0A46-8B3F-B7098DF7E6A2}"/>
                </a:ext>
              </a:extLst>
            </p:cNvPr>
            <p:cNvCxnSpPr>
              <a:cxnSpLocks/>
              <a:stCxn id="217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E772C3-F0C1-0F4B-857F-194A64130195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A7AC545-6351-1B40-B31C-C9E821815418}"/>
                </a:ext>
              </a:extLst>
            </p:cNvPr>
            <p:cNvCxnSpPr>
              <a:cxnSpLocks/>
              <a:endCxn id="195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D9AE005-9B1E-8C4C-A49D-5F721D0E3256}"/>
                </a:ext>
              </a:extLst>
            </p:cNvPr>
            <p:cNvCxnSpPr>
              <a:cxnSpLocks/>
              <a:stCxn id="212" idx="4"/>
              <a:endCxn id="229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A1783B7E-0F5B-A44C-BA15-73D23A81D9FE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F3324C53-9080-2944-B798-E35B0FE67F85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651BC55-DED4-B247-A4A0-BEE3C67C533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7C63CF2-2B3E-0C45-AF32-1B499275C9D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CB6E02C-B25A-2C44-85FC-65BF0E119AF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B248822B-EA31-684D-9A81-E4638C059F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E0627D70-491A-CC47-8EAC-73385A17E5B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877D3DC7-EAF9-9D4D-8350-8DD86C83A7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6AD1D6F7-F4EF-A24D-B13F-C938C0965C0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0C5F6C3F-5D96-6A40-B82E-4A14C249EF59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BE706F9E-E1B5-6C4E-B083-4D8CB09C85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1BC495A7-A16E-1C4B-8573-01BD01479C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2A98A955-1138-AF4E-8652-F9CE7B79B7D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887B3BC-7533-2F46-9AB8-786A34D718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0EF020B-DAB9-2546-88DE-FE49ADE959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FE4DCADC-F570-EB4B-866E-84F2A7F90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D74ACE9C-71E8-1745-AFAD-F11F6385981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1285B64-90FE-144F-AEE8-A7C0AB2E1A64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7642E8F-4615-B346-A76C-4AD629765D1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1A77EF2E-28DE-3948-9163-1C2553F6B8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5B7ECFA3-F9DA-DF45-BE44-7A0E21BCD3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98B2252C-DD84-834F-A9EC-C3343AB528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2711BA82-810D-1141-AFBA-1EE4C29A4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46B20000-9166-DA4A-818B-E392ACA738B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9B74C9B9-DF7C-5541-8BE3-232BEF97D5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19EE649-7365-214B-BACD-C80B6C3F44F5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1FC7EF55-285B-B143-8094-85F75C3A86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011C0EDE-A0A3-1C4B-8404-4B95ECFBB11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77E9BD11-DCFD-3643-9F4D-DC18211F7E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BF8752DD-75E4-1A43-80F9-DF726B1B178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1AADF556-0D2C-0C4B-80BF-5DC6BE1F20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142A78AA-9D7B-6A40-B95D-2752E589457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6D151B61-FDA9-4245-AAAF-08C5B6CC1D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9B3C0BA-CAE0-FE43-A006-EE5FFCCECF79}"/>
              </a:ext>
            </a:extLst>
          </p:cNvPr>
          <p:cNvGrpSpPr/>
          <p:nvPr/>
        </p:nvGrpSpPr>
        <p:grpSpPr>
          <a:xfrm>
            <a:off x="3894255" y="5219794"/>
            <a:ext cx="998795" cy="445007"/>
            <a:chOff x="4332883" y="5571655"/>
            <a:chExt cx="998795" cy="445007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946F0E32-B6FD-2E43-A5CC-D907A0881CE5}"/>
                </a:ext>
              </a:extLst>
            </p:cNvPr>
            <p:cNvCxnSpPr>
              <a:cxnSpLocks/>
              <a:stCxn id="26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D043DB0-800F-754D-9B6F-AD33EB3C9240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FF2F439-BBFA-ED43-B8FC-B5E83DBA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DA90B2F6-819E-8943-B1B3-C7E6DEA4C29C}"/>
                </a:ext>
              </a:extLst>
            </p:cNvPr>
            <p:cNvCxnSpPr>
              <a:cxnSpLocks/>
              <a:stCxn id="28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B0A8DD6-B0A4-8444-8006-E35E095AABEA}"/>
                </a:ext>
              </a:extLst>
            </p:cNvPr>
            <p:cNvCxnSpPr>
              <a:cxnSpLocks/>
              <a:stCxn id="28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5737FBC-BD91-6D43-A98A-9C6EF04F9C42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4E54D75-6949-9A48-AE1C-E752FB4564B0}"/>
                </a:ext>
              </a:extLst>
            </p:cNvPr>
            <p:cNvCxnSpPr>
              <a:cxnSpLocks/>
              <a:stCxn id="27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3301B9BD-CB77-DF41-B137-FA23480082FF}"/>
                </a:ext>
              </a:extLst>
            </p:cNvPr>
            <p:cNvCxnSpPr>
              <a:cxnSpLocks/>
              <a:endCxn id="27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60BA23F2-D714-C04B-9A63-687645E50678}"/>
                </a:ext>
              </a:extLst>
            </p:cNvPr>
            <p:cNvCxnSpPr>
              <a:cxnSpLocks/>
              <a:stCxn id="283" idx="4"/>
              <a:endCxn id="344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DE30104-86C4-D748-98C2-E04E745DEC64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78808923-FC5C-A547-AAC8-B586CD9B6344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9066CD51-9113-2F4A-8B5D-8EE36F1569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83527AC5-AD00-384F-A2C5-4AA56EB5504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D89F5851-8D09-BF4B-A216-51EEC0F4AC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8C480EBA-E7EB-2445-8D65-61DBA84D81A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F2457045-0DFD-4441-B9DA-9390A3999BB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B3C6EAFE-A1F8-0E4A-8CEF-B11866284B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EB6026F8-B667-CE4A-B54E-C8374287C0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F402EC4-E285-774E-8AF4-EBCE7E1A2E42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5BC1BD96-2DFB-7148-AB79-2F39B03FD9E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906E06FF-B1D6-1C40-953B-23AB177583C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03E6CE22-8435-4F4F-A8AC-9DB5F59F0AC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85" name="Freeform 284">
                  <a:extLst>
                    <a:ext uri="{FF2B5EF4-FFF2-40B4-BE49-F238E27FC236}">
                      <a16:creationId xmlns:a16="http://schemas.microsoft.com/office/drawing/2014/main" id="{B08BF507-15CF-5547-B9B1-B2FD08767C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Freeform 285">
                  <a:extLst>
                    <a:ext uri="{FF2B5EF4-FFF2-40B4-BE49-F238E27FC236}">
                      <a16:creationId xmlns:a16="http://schemas.microsoft.com/office/drawing/2014/main" id="{8E37D877-B476-9140-B26A-8A661E503C3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CBDD7129-A520-B04A-B0D3-45329D92095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C879E560-86B1-CA41-8B69-23E20A0B5EF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39F81AB-EDF9-3C47-A749-1DDB22584168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CD7BD88-8993-F944-935A-731D63DF82F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3241775-DB11-C14B-BF51-FABF9D5C739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7" name="Group 276">
                <a:extLst>
                  <a:ext uri="{FF2B5EF4-FFF2-40B4-BE49-F238E27FC236}">
                    <a16:creationId xmlns:a16="http://schemas.microsoft.com/office/drawing/2014/main" id="{25B9CA5A-F873-414C-906A-9188B8D65E7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D79FCB20-CC5D-6947-8B50-0BB502313CA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BA5B4674-E636-4E48-91B6-DB0D2611BD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F06904D6-E378-AD41-8C2E-8ECF3D3ACCE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4B75E508-20BE-E04A-AD0C-7AFFE9853F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4020149E-9277-2A42-ABE5-B8A73D6FFB2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FB58ACE8-27AF-C74F-A75B-4665B03B383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1C2973A-A250-134D-8ECC-EDB6C29FF56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D35A77B6-17F3-1C40-A554-657B03FF1F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1BB570A-9C16-FC42-8E2B-E1EA002F199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A4864AFB-0603-F44C-9E55-0296F0F1052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3581ED50-E87B-2745-9319-9BB0304E6BF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DCB6FEB8-52E8-794E-8EE4-9D4D80A2B12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C5E2B52-FF8B-DD4E-AD39-5584297AB46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95D05934-0CDB-6B4E-BE97-CB557C5D37C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6A7CF0F6-7913-8840-AA75-60C0D924291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74788EA9-21D2-E642-B1C3-59F2D5C21D9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76C76CA5-6549-E940-8F46-698551E0EC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0C41DB-977A-7C45-B063-CEE488E8926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DC11234B-FCC7-D740-912E-275B7AFE16C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4DF585A8-F681-5D45-8F21-64F09F2FA5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8ABD7ED1-BFE6-E540-810D-710B2D899F45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3E0781F9-E709-B949-ADED-EA20396C67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F473E31-8D00-2A4E-830D-3DD896A5CA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D8FE7B10-05C9-1948-B64A-AA214517E0D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246F377-7D10-8241-AF42-D0CAEF63151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4907160-1121-E440-B945-2CA8883200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969240C3-12A7-CC4B-82E1-0E74415830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160FBB61-7788-E64F-AE97-5F34A0FBB0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329D165-B5EF-0043-94DF-15E5F1D4C12B}"/>
              </a:ext>
            </a:extLst>
          </p:cNvPr>
          <p:cNvGrpSpPr/>
          <p:nvPr/>
        </p:nvGrpSpPr>
        <p:grpSpPr>
          <a:xfrm>
            <a:off x="2663783" y="4405625"/>
            <a:ext cx="790834" cy="1180042"/>
            <a:chOff x="5970432" y="1629202"/>
            <a:chExt cx="888604" cy="1197664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65949EE1-DF32-4444-95D6-6AFA4E19C360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93" name="Group 817">
                <a:extLst>
                  <a:ext uri="{FF2B5EF4-FFF2-40B4-BE49-F238E27FC236}">
                    <a16:creationId xmlns:a16="http://schemas.microsoft.com/office/drawing/2014/main" id="{0292AC73-815F-F340-9760-C4B577F8F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410" name="Oval 818">
                  <a:extLst>
                    <a:ext uri="{FF2B5EF4-FFF2-40B4-BE49-F238E27FC236}">
                      <a16:creationId xmlns:a16="http://schemas.microsoft.com/office/drawing/2014/main" id="{E25E41A2-C83C-2840-AB52-5956B2D5E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1" name="Group 819">
                  <a:extLst>
                    <a:ext uri="{FF2B5EF4-FFF2-40B4-BE49-F238E27FC236}">
                      <a16:creationId xmlns:a16="http://schemas.microsoft.com/office/drawing/2014/main" id="{86CBA856-CE6E-B84A-AF53-5EB9C48E7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412" name="Oval 820">
                    <a:extLst>
                      <a:ext uri="{FF2B5EF4-FFF2-40B4-BE49-F238E27FC236}">
                        <a16:creationId xmlns:a16="http://schemas.microsoft.com/office/drawing/2014/main" id="{4F4CFF0D-5E76-6C40-8379-2F0A96356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3" name="Oval 821">
                    <a:extLst>
                      <a:ext uri="{FF2B5EF4-FFF2-40B4-BE49-F238E27FC236}">
                        <a16:creationId xmlns:a16="http://schemas.microsoft.com/office/drawing/2014/main" id="{C0F626F4-60DB-8A45-A342-631E719638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4" name="Oval 822">
                    <a:extLst>
                      <a:ext uri="{FF2B5EF4-FFF2-40B4-BE49-F238E27FC236}">
                        <a16:creationId xmlns:a16="http://schemas.microsoft.com/office/drawing/2014/main" id="{093F7A89-42E4-F447-8C0B-FE2C2EACB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5" name="Oval 823">
                    <a:extLst>
                      <a:ext uri="{FF2B5EF4-FFF2-40B4-BE49-F238E27FC236}">
                        <a16:creationId xmlns:a16="http://schemas.microsoft.com/office/drawing/2014/main" id="{3C3BA735-3EA2-204F-86F3-4EB67BE7D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4" name="Group 398">
                <a:extLst>
                  <a:ext uri="{FF2B5EF4-FFF2-40B4-BE49-F238E27FC236}">
                    <a16:creationId xmlns:a16="http://schemas.microsoft.com/office/drawing/2014/main" id="{98321EE2-A9F5-EA4E-8375-A25122C41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95" name="Line 270">
                  <a:extLst>
                    <a:ext uri="{FF2B5EF4-FFF2-40B4-BE49-F238E27FC236}">
                      <a16:creationId xmlns:a16="http://schemas.microsoft.com/office/drawing/2014/main" id="{4E650008-229D-884C-A550-9FF9F0837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6" name="Line 271">
                  <a:extLst>
                    <a:ext uri="{FF2B5EF4-FFF2-40B4-BE49-F238E27FC236}">
                      <a16:creationId xmlns:a16="http://schemas.microsoft.com/office/drawing/2014/main" id="{F53B0842-7E77-6341-8C0F-70F845464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Line 272">
                  <a:extLst>
                    <a:ext uri="{FF2B5EF4-FFF2-40B4-BE49-F238E27FC236}">
                      <a16:creationId xmlns:a16="http://schemas.microsoft.com/office/drawing/2014/main" id="{3E4E7872-FD2D-864C-BDF2-CEF6009A2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8" name="Line 273">
                  <a:extLst>
                    <a:ext uri="{FF2B5EF4-FFF2-40B4-BE49-F238E27FC236}">
                      <a16:creationId xmlns:a16="http://schemas.microsoft.com/office/drawing/2014/main" id="{BBBBAA6D-595D-C644-955F-E559477A9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274">
                  <a:extLst>
                    <a:ext uri="{FF2B5EF4-FFF2-40B4-BE49-F238E27FC236}">
                      <a16:creationId xmlns:a16="http://schemas.microsoft.com/office/drawing/2014/main" id="{5B79AAF0-0CD3-9948-80F2-AF74D8214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275">
                  <a:extLst>
                    <a:ext uri="{FF2B5EF4-FFF2-40B4-BE49-F238E27FC236}">
                      <a16:creationId xmlns:a16="http://schemas.microsoft.com/office/drawing/2014/main" id="{C6C33E99-8CA4-424E-A792-55FD559E5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Line 276">
                  <a:extLst>
                    <a:ext uri="{FF2B5EF4-FFF2-40B4-BE49-F238E27FC236}">
                      <a16:creationId xmlns:a16="http://schemas.microsoft.com/office/drawing/2014/main" id="{0FA8FC4B-06DD-8A45-87E3-388544E9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Line 277">
                  <a:extLst>
                    <a:ext uri="{FF2B5EF4-FFF2-40B4-BE49-F238E27FC236}">
                      <a16:creationId xmlns:a16="http://schemas.microsoft.com/office/drawing/2014/main" id="{002C2EF5-83DE-E942-B41A-63A761D68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3" name="Line 278">
                  <a:extLst>
                    <a:ext uri="{FF2B5EF4-FFF2-40B4-BE49-F238E27FC236}">
                      <a16:creationId xmlns:a16="http://schemas.microsoft.com/office/drawing/2014/main" id="{BB3D6793-196D-5C4E-8384-A136F178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4" name="Line 279">
                  <a:extLst>
                    <a:ext uri="{FF2B5EF4-FFF2-40B4-BE49-F238E27FC236}">
                      <a16:creationId xmlns:a16="http://schemas.microsoft.com/office/drawing/2014/main" id="{01B0B86C-D14F-E64D-9076-7F3B161D3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5" name="Line 280">
                  <a:extLst>
                    <a:ext uri="{FF2B5EF4-FFF2-40B4-BE49-F238E27FC236}">
                      <a16:creationId xmlns:a16="http://schemas.microsoft.com/office/drawing/2014/main" id="{F2CA1FE8-0D16-E34B-BC91-A65FCF8645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Line 281">
                  <a:extLst>
                    <a:ext uri="{FF2B5EF4-FFF2-40B4-BE49-F238E27FC236}">
                      <a16:creationId xmlns:a16="http://schemas.microsoft.com/office/drawing/2014/main" id="{374ABBDD-FF60-3F41-B1D6-6BD309597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7" name="Line 282">
                  <a:extLst>
                    <a:ext uri="{FF2B5EF4-FFF2-40B4-BE49-F238E27FC236}">
                      <a16:creationId xmlns:a16="http://schemas.microsoft.com/office/drawing/2014/main" id="{ED522EE1-A1C4-A742-929F-DCC29FAD2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283">
                  <a:extLst>
                    <a:ext uri="{FF2B5EF4-FFF2-40B4-BE49-F238E27FC236}">
                      <a16:creationId xmlns:a16="http://schemas.microsoft.com/office/drawing/2014/main" id="{1647E183-0861-3F41-AB5B-A6965FDB9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284">
                  <a:extLst>
                    <a:ext uri="{FF2B5EF4-FFF2-40B4-BE49-F238E27FC236}">
                      <a16:creationId xmlns:a16="http://schemas.microsoft.com/office/drawing/2014/main" id="{B4043621-7049-B142-85EC-B03D30CB7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30328418-FEE1-EE47-98BF-A21F2A99E81E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A3ECB4C7-CD8E-134B-B4A4-435CF1AA05A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D09803A5-A9B3-C84A-94AF-BB42BD4CF4B8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C3B4DE2F-6F33-0D4C-8C75-FC7AF19474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5DF2BA87-8F1C-0941-BA17-4BF3946CFAD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A7B77710-B95E-AB47-98C2-0509B34F24DC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6" name="Parallelogram 385">
                    <a:extLst>
                      <a:ext uri="{FF2B5EF4-FFF2-40B4-BE49-F238E27FC236}">
                        <a16:creationId xmlns:a16="http://schemas.microsoft.com/office/drawing/2014/main" id="{CDE545DE-3076-CB4D-AE64-7C7583B81C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7" name="Parallelogram 386">
                    <a:extLst>
                      <a:ext uri="{FF2B5EF4-FFF2-40B4-BE49-F238E27FC236}">
                        <a16:creationId xmlns:a16="http://schemas.microsoft.com/office/drawing/2014/main" id="{65DB0FE8-CFE8-6E4B-A607-67127410727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099A3123-5D76-0F4D-974C-DC5350468F97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3" name="Parallelogram 382">
                    <a:extLst>
                      <a:ext uri="{FF2B5EF4-FFF2-40B4-BE49-F238E27FC236}">
                        <a16:creationId xmlns:a16="http://schemas.microsoft.com/office/drawing/2014/main" id="{8560BCA9-79CE-FB46-8807-91CAB323DCBD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5" name="Parallelogram 384">
                    <a:extLst>
                      <a:ext uri="{FF2B5EF4-FFF2-40B4-BE49-F238E27FC236}">
                        <a16:creationId xmlns:a16="http://schemas.microsoft.com/office/drawing/2014/main" id="{E7301516-CEAA-9A49-AD53-294B7201952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2" name="Parallelogram 351">
                  <a:extLst>
                    <a:ext uri="{FF2B5EF4-FFF2-40B4-BE49-F238E27FC236}">
                      <a16:creationId xmlns:a16="http://schemas.microsoft.com/office/drawing/2014/main" id="{0F919CD9-B57A-B040-BB1E-8555E13A7BA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3" name="Parallelogram 352">
                  <a:extLst>
                    <a:ext uri="{FF2B5EF4-FFF2-40B4-BE49-F238E27FC236}">
                      <a16:creationId xmlns:a16="http://schemas.microsoft.com/office/drawing/2014/main" id="{371B4E30-D3FD-914F-A495-2E8FF6C64ED6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4" name="Parallelogram 353">
                  <a:extLst>
                    <a:ext uri="{FF2B5EF4-FFF2-40B4-BE49-F238E27FC236}">
                      <a16:creationId xmlns:a16="http://schemas.microsoft.com/office/drawing/2014/main" id="{58A0847E-BEC9-4746-A827-C278B8F2F1F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5" name="Parallelogram 354">
                  <a:extLst>
                    <a:ext uri="{FF2B5EF4-FFF2-40B4-BE49-F238E27FC236}">
                      <a16:creationId xmlns:a16="http://schemas.microsoft.com/office/drawing/2014/main" id="{872A9D5B-3F77-E647-9210-C43AD11DFF1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6" name="Parallelogram 355">
                  <a:extLst>
                    <a:ext uri="{FF2B5EF4-FFF2-40B4-BE49-F238E27FC236}">
                      <a16:creationId xmlns:a16="http://schemas.microsoft.com/office/drawing/2014/main" id="{A3FFE56B-1AF2-9F44-85B7-FD5400AB6C78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7" name="Parallelogram 356">
                  <a:extLst>
                    <a:ext uri="{FF2B5EF4-FFF2-40B4-BE49-F238E27FC236}">
                      <a16:creationId xmlns:a16="http://schemas.microsoft.com/office/drawing/2014/main" id="{DB31337C-4205-A446-9A39-ECDC77C0069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E3783F0D-649F-D24F-A2F1-B95B548BC62D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61" name="Parallelogram 360">
                    <a:extLst>
                      <a:ext uri="{FF2B5EF4-FFF2-40B4-BE49-F238E27FC236}">
                        <a16:creationId xmlns:a16="http://schemas.microsoft.com/office/drawing/2014/main" id="{04BC5C13-E442-6B45-9F72-9EEBD7BF0EA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2" name="Parallelogram 361">
                    <a:extLst>
                      <a:ext uri="{FF2B5EF4-FFF2-40B4-BE49-F238E27FC236}">
                        <a16:creationId xmlns:a16="http://schemas.microsoft.com/office/drawing/2014/main" id="{FF0928FB-1A51-FC4D-BDF1-CE12016F30D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3" name="Parallelogram 362">
                    <a:extLst>
                      <a:ext uri="{FF2B5EF4-FFF2-40B4-BE49-F238E27FC236}">
                        <a16:creationId xmlns:a16="http://schemas.microsoft.com/office/drawing/2014/main" id="{B78DCC03-7FF2-3A49-89D6-935400F03A8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4" name="Parallelogram 363">
                    <a:extLst>
                      <a:ext uri="{FF2B5EF4-FFF2-40B4-BE49-F238E27FC236}">
                        <a16:creationId xmlns:a16="http://schemas.microsoft.com/office/drawing/2014/main" id="{88C83F6D-AACA-274B-AA34-19E3C5437C7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9" name="Parallelogram 358">
                  <a:extLst>
                    <a:ext uri="{FF2B5EF4-FFF2-40B4-BE49-F238E27FC236}">
                      <a16:creationId xmlns:a16="http://schemas.microsoft.com/office/drawing/2014/main" id="{E8F65E59-4BF3-8F4C-9B2C-6B6E0C3E8EA6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0" name="Parallelogram 359">
                  <a:extLst>
                    <a:ext uri="{FF2B5EF4-FFF2-40B4-BE49-F238E27FC236}">
                      <a16:creationId xmlns:a16="http://schemas.microsoft.com/office/drawing/2014/main" id="{C8E8AA3A-3716-4F4C-A3A5-C5BC0456891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ECE066FF-41E3-DB48-97B8-0811DA170B7B}"/>
              </a:ext>
            </a:extLst>
          </p:cNvPr>
          <p:cNvGrpSpPr/>
          <p:nvPr/>
        </p:nvGrpSpPr>
        <p:grpSpPr>
          <a:xfrm>
            <a:off x="5378279" y="5161005"/>
            <a:ext cx="694976" cy="460529"/>
            <a:chOff x="7493876" y="2774731"/>
            <a:chExt cx="1481958" cy="894622"/>
          </a:xfrm>
        </p:grpSpPr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A17D7E2-0EC2-4147-BACE-C86863E791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D2C8B71A-ED08-704F-BBA9-A41AA021D4B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4FBFBD37-6872-CF4B-BBD0-B2D00683FDF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3A6B00A4-C316-784D-90CE-A48AB80C972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DB5B3B43-C97E-9A4C-956E-FB78D96ED4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07557CC0-A13F-494D-ADE7-5DEE27608B3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B4AE89FB-CBFD-5041-A09B-8CB7F28A7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7337DE54-8E37-9B40-85AE-009543DEA547}"/>
              </a:ext>
            </a:extLst>
          </p:cNvPr>
          <p:cNvGrpSpPr/>
          <p:nvPr/>
        </p:nvGrpSpPr>
        <p:grpSpPr>
          <a:xfrm>
            <a:off x="7198842" y="5152767"/>
            <a:ext cx="694976" cy="460529"/>
            <a:chOff x="7493876" y="2774731"/>
            <a:chExt cx="1481958" cy="894622"/>
          </a:xfrm>
        </p:grpSpPr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40BDAD1B-D03A-154B-8252-A2C77DC8AB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232CB1C6-1225-D54B-8C4F-DE2F3947CF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2AE3D40-DDBD-3B4B-88BE-B3BB611891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94E635BD-A20D-D845-B2D4-5406C71A90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DBDEEC0-B741-A94C-9991-B7B4C5F975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8534E27-606E-A948-A60D-BF5C124C52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D7DF4F3-E1F8-AC4C-B937-292FDCEE40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9" name="Straight Arrow Connector 438">
            <a:extLst>
              <a:ext uri="{FF2B5EF4-FFF2-40B4-BE49-F238E27FC236}">
                <a16:creationId xmlns:a16="http://schemas.microsoft.com/office/drawing/2014/main" id="{85D80446-F7D0-D944-BE27-B5A2D76C1189}"/>
              </a:ext>
            </a:extLst>
          </p:cNvPr>
          <p:cNvCxnSpPr>
            <a:cxnSpLocks/>
          </p:cNvCxnSpPr>
          <p:nvPr/>
        </p:nvCxnSpPr>
        <p:spPr>
          <a:xfrm>
            <a:off x="1638299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6" name="TextBox 445">
            <a:extLst>
              <a:ext uri="{FF2B5EF4-FFF2-40B4-BE49-F238E27FC236}">
                <a16:creationId xmlns:a16="http://schemas.microsoft.com/office/drawing/2014/main" id="{0085033F-D459-8842-BC6F-18CE34CFE6F6}"/>
              </a:ext>
            </a:extLst>
          </p:cNvPr>
          <p:cNvSpPr txBox="1"/>
          <p:nvPr/>
        </p:nvSpPr>
        <p:spPr>
          <a:xfrm>
            <a:off x="7244442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5202305B-97C0-714B-8E9D-C2F53BF0958C}"/>
              </a:ext>
            </a:extLst>
          </p:cNvPr>
          <p:cNvSpPr txBox="1"/>
          <p:nvPr/>
        </p:nvSpPr>
        <p:spPr>
          <a:xfrm>
            <a:off x="5419890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8" name="Picture 447">
            <a:extLst>
              <a:ext uri="{FF2B5EF4-FFF2-40B4-BE49-F238E27FC236}">
                <a16:creationId xmlns:a16="http://schemas.microsoft.com/office/drawing/2014/main" id="{3E61C666-A840-0548-8BD1-3305B1ABC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003" y="5278594"/>
            <a:ext cx="1508938" cy="207264"/>
          </a:xfrm>
          <a:prstGeom prst="rect">
            <a:avLst/>
          </a:prstGeom>
        </p:spPr>
      </p:pic>
      <p:cxnSp>
        <p:nvCxnSpPr>
          <p:cNvPr id="449" name="Straight Arrow Connector 448">
            <a:extLst>
              <a:ext uri="{FF2B5EF4-FFF2-40B4-BE49-F238E27FC236}">
                <a16:creationId xmlns:a16="http://schemas.microsoft.com/office/drawing/2014/main" id="{3081E220-1785-C649-92F7-B8A2826D52B1}"/>
              </a:ext>
            </a:extLst>
          </p:cNvPr>
          <p:cNvCxnSpPr>
            <a:cxnSpLocks/>
          </p:cNvCxnSpPr>
          <p:nvPr/>
        </p:nvCxnSpPr>
        <p:spPr>
          <a:xfrm flipH="1">
            <a:off x="3471466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Arrow Connector 449">
            <a:extLst>
              <a:ext uri="{FF2B5EF4-FFF2-40B4-BE49-F238E27FC236}">
                <a16:creationId xmlns:a16="http://schemas.microsoft.com/office/drawing/2014/main" id="{7DA9677E-A81A-644B-BF51-E40EDB7870D4}"/>
              </a:ext>
            </a:extLst>
          </p:cNvPr>
          <p:cNvCxnSpPr>
            <a:cxnSpLocks/>
          </p:cNvCxnSpPr>
          <p:nvPr/>
        </p:nvCxnSpPr>
        <p:spPr>
          <a:xfrm>
            <a:off x="6761626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51" name="Picture 450">
            <a:extLst>
              <a:ext uri="{FF2B5EF4-FFF2-40B4-BE49-F238E27FC236}">
                <a16:creationId xmlns:a16="http://schemas.microsoft.com/office/drawing/2014/main" id="{39DAE686-A685-F342-91A9-D042707C23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2282" y="5286198"/>
            <a:ext cx="816721" cy="207264"/>
          </a:xfrm>
          <a:prstGeom prst="rect">
            <a:avLst/>
          </a:prstGeom>
        </p:spPr>
      </p:pic>
      <p:cxnSp>
        <p:nvCxnSpPr>
          <p:cNvPr id="452" name="Straight Arrow Connector 451">
            <a:extLst>
              <a:ext uri="{FF2B5EF4-FFF2-40B4-BE49-F238E27FC236}">
                <a16:creationId xmlns:a16="http://schemas.microsoft.com/office/drawing/2014/main" id="{C5248A87-9F9F-FB45-A49E-F182F70A9DCB}"/>
              </a:ext>
            </a:extLst>
          </p:cNvPr>
          <p:cNvCxnSpPr>
            <a:cxnSpLocks/>
          </p:cNvCxnSpPr>
          <p:nvPr/>
        </p:nvCxnSpPr>
        <p:spPr>
          <a:xfrm flipH="1">
            <a:off x="6085787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3" name="Group 652">
            <a:extLst>
              <a:ext uri="{FF2B5EF4-FFF2-40B4-BE49-F238E27FC236}">
                <a16:creationId xmlns:a16="http://schemas.microsoft.com/office/drawing/2014/main" id="{6D593388-4921-4845-A11A-59BF19E95C08}"/>
              </a:ext>
            </a:extLst>
          </p:cNvPr>
          <p:cNvGrpSpPr>
            <a:grpSpLocks/>
          </p:cNvGrpSpPr>
          <p:nvPr/>
        </p:nvGrpSpPr>
        <p:grpSpPr bwMode="auto">
          <a:xfrm>
            <a:off x="970802" y="5003243"/>
            <a:ext cx="733407" cy="660273"/>
            <a:chOff x="2751" y="1851"/>
            <a:chExt cx="462" cy="478"/>
          </a:xfrm>
        </p:grpSpPr>
        <p:pic>
          <p:nvPicPr>
            <p:cNvPr id="454" name="Picture 653" descr="iphone_stylized_small">
              <a:extLst>
                <a:ext uri="{FF2B5EF4-FFF2-40B4-BE49-F238E27FC236}">
                  <a16:creationId xmlns:a16="http://schemas.microsoft.com/office/drawing/2014/main" id="{DF8308B6-F22D-674D-A6C8-0DC70B6A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5" name="Picture 654" descr="antenna_radiation_stylized">
              <a:extLst>
                <a:ext uri="{FF2B5EF4-FFF2-40B4-BE49-F238E27FC236}">
                  <a16:creationId xmlns:a16="http://schemas.microsoft.com/office/drawing/2014/main" id="{E27DC4A0-F181-D547-B504-8544D6EB6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6" name="Rectangle 455">
            <a:extLst>
              <a:ext uri="{FF2B5EF4-FFF2-40B4-BE49-F238E27FC236}">
                <a16:creationId xmlns:a16="http://schemas.microsoft.com/office/drawing/2014/main" id="{64D8096B-CEE8-6C49-8488-6C3D24817187}"/>
              </a:ext>
            </a:extLst>
          </p:cNvPr>
          <p:cNvSpPr/>
          <p:nvPr/>
        </p:nvSpPr>
        <p:spPr>
          <a:xfrm>
            <a:off x="884538" y="4930345"/>
            <a:ext cx="1352036" cy="790833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3D213BE3-42AD-EC4B-A270-370359D352CA}"/>
              </a:ext>
            </a:extLst>
          </p:cNvPr>
          <p:cNvSpPr txBox="1"/>
          <p:nvPr/>
        </p:nvSpPr>
        <p:spPr>
          <a:xfrm>
            <a:off x="2597189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98CB3660-6858-AB4D-9977-086702926CE8}"/>
              </a:ext>
            </a:extLst>
          </p:cNvPr>
          <p:cNvSpPr/>
          <p:nvPr/>
        </p:nvSpPr>
        <p:spPr>
          <a:xfrm>
            <a:off x="2236572" y="5325762"/>
            <a:ext cx="556055" cy="148281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\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728008-6E72-6D4D-9C4F-5F2B2D7E33B6}"/>
              </a:ext>
            </a:extLst>
          </p:cNvPr>
          <p:cNvGrpSpPr/>
          <p:nvPr/>
        </p:nvGrpSpPr>
        <p:grpSpPr>
          <a:xfrm>
            <a:off x="3101546" y="2458996"/>
            <a:ext cx="2928551" cy="2923232"/>
            <a:chOff x="2987392" y="2753884"/>
            <a:chExt cx="2351943" cy="2628343"/>
          </a:xfrm>
        </p:grpSpPr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0693F20D-02FD-EB41-A70D-132AF1EF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574350" y="5382227"/>
              <a:ext cx="764985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863E31E-C892-E640-8593-ECFF64CF4C55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72E75D5-45DF-F349-8AE1-B44D076819B9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45CA4C0-E1AD-A846-AF56-0C91E8BFB3F1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6FF396D-811D-5D4F-8702-FBEADF5398B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59976A9-19B1-B44F-85AD-39D8DA64481D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45DB6A5-4B6A-C946-A573-3F5C3B13308D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E764A06-94D9-8141-B09C-4F6BF5C73E01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0B9A70EB-AB3F-7C41-AD24-103618D808B2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3635D05A-D79E-D94B-9932-6015467DB250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536B64EC-BB40-0C45-91F3-8DEE2A78B9C8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4302713-F5DB-994B-A5C8-AB92AC4E90BC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69" name="Rectangle 4">
            <a:extLst>
              <a:ext uri="{FF2B5EF4-FFF2-40B4-BE49-F238E27FC236}">
                <a16:creationId xmlns:a16="http://schemas.microsoft.com/office/drawing/2014/main" id="{F7F77A83-A1E9-7346-8216-26AA3A5A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816" y="1467152"/>
            <a:ext cx="3756453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tunneling: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datagram encapsulated using GPRS Tunneling Protocol (GTP), sent inside UDP datagram to S-GW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S-GW re-tunnels datagrams to P-GW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supporting mobility: only tunneling endpoints change when mobile user moves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064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plane: associating with a BS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361691" y="2394238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37139" y="2417611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9A2CD29-28A9-7049-A340-612EF3CCAFEF}"/>
              </a:ext>
            </a:extLst>
          </p:cNvPr>
          <p:cNvGrpSpPr/>
          <p:nvPr/>
        </p:nvGrpSpPr>
        <p:grpSpPr>
          <a:xfrm>
            <a:off x="1358538" y="1494309"/>
            <a:ext cx="1265790" cy="660273"/>
            <a:chOff x="1358538" y="1494309"/>
            <a:chExt cx="1265790" cy="660273"/>
          </a:xfrm>
        </p:grpSpPr>
        <p:sp>
          <p:nvSpPr>
            <p:cNvPr id="15" name="Right Arrow 14">
              <a:extLst>
                <a:ext uri="{FF2B5EF4-FFF2-40B4-BE49-F238E27FC236}">
                  <a16:creationId xmlns:a16="http://schemas.microsoft.com/office/drawing/2014/main" id="{749EEDF9-9C8C-4542-968F-37420C5D5D16}"/>
                </a:ext>
              </a:extLst>
            </p:cNvPr>
            <p:cNvSpPr/>
            <p:nvPr/>
          </p:nvSpPr>
          <p:spPr>
            <a:xfrm>
              <a:off x="1358538" y="1666386"/>
              <a:ext cx="1265790" cy="354003"/>
            </a:xfrm>
            <a:prstGeom prst="rightArrow">
              <a:avLst/>
            </a:prstGeom>
            <a:gradFill>
              <a:gsLst>
                <a:gs pos="1000">
                  <a:schemeClr val="bg1"/>
                </a:gs>
                <a:gs pos="100000">
                  <a:srgbClr val="011199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196" y="1494309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14438" y="2418732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F2650593-9A08-B344-9242-E09F728AF027}"/>
              </a:ext>
            </a:extLst>
          </p:cNvPr>
          <p:cNvGrpSpPr/>
          <p:nvPr/>
        </p:nvGrpSpPr>
        <p:grpSpPr>
          <a:xfrm>
            <a:off x="1334529" y="2866776"/>
            <a:ext cx="8644912" cy="845497"/>
            <a:chOff x="1692874" y="1754660"/>
            <a:chExt cx="8644912" cy="845497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60EB57C-EB9F-394B-96BA-085086A90499}"/>
                </a:ext>
              </a:extLst>
            </p:cNvPr>
            <p:cNvSpPr txBox="1"/>
            <p:nvPr/>
          </p:nvSpPr>
          <p:spPr>
            <a:xfrm>
              <a:off x="2051222" y="1791731"/>
              <a:ext cx="8286564" cy="8084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BS broadcasts primary synch signal every 5 ms on all frequencies</a:t>
              </a:r>
            </a:p>
            <a:p>
              <a:pPr marL="406400" indent="-284163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BSs from multiple carriers may be broadcasting synch signals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944B2775-9A56-7642-A56B-ECCD8289F717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26C1143-1217-DC47-816F-CBFE6F46F487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7570F6DC-9CE5-984D-B407-4D97F7F7EE26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927735CC-EA0C-EA4F-A0C7-E10BFFB9C2F8}"/>
              </a:ext>
            </a:extLst>
          </p:cNvPr>
          <p:cNvGrpSpPr/>
          <p:nvPr/>
        </p:nvGrpSpPr>
        <p:grpSpPr>
          <a:xfrm>
            <a:off x="1326292" y="3785289"/>
            <a:ext cx="10696831" cy="1524520"/>
            <a:chOff x="1692874" y="1729946"/>
            <a:chExt cx="10696831" cy="1524520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FC33E48-1D78-E04B-9821-AD1AB20D33EA}"/>
                </a:ext>
              </a:extLst>
            </p:cNvPr>
            <p:cNvSpPr txBox="1"/>
            <p:nvPr/>
          </p:nvSpPr>
          <p:spPr>
            <a:xfrm>
              <a:off x="2051222" y="1729946"/>
              <a:ext cx="10338483" cy="15245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60325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finds a primary synch signal, then locates 2</a:t>
              </a:r>
              <a:r>
                <a:rPr lang="en-US" sz="2400" baseline="30000" dirty="0"/>
                <a:t>nd</a:t>
              </a:r>
              <a:r>
                <a:rPr lang="en-US" sz="2400" dirty="0"/>
                <a:t> synch signal on this freq. 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then finds info broadcast by BS: channel bandwidth, configurations; BS’s cellular carrier info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may get info from multiple base stations, multiple cellular networks</a:t>
              </a:r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4E3314EA-5157-5A4F-BC7A-B9CCCBC5D4AC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24732"/>
              <a:chOff x="1223317" y="2026508"/>
              <a:chExt cx="370703" cy="424732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CBF3F2B4-CF9A-C744-850E-65625633B09F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247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39A7CEE9-D494-0D49-9EBA-71712BDBC803}"/>
                  </a:ext>
                </a:extLst>
              </p:cNvPr>
              <p:cNvSpPr/>
              <p:nvPr/>
            </p:nvSpPr>
            <p:spPr>
              <a:xfrm>
                <a:off x="1223317" y="2063578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90000"/>
                  </a:lnSpc>
                </a:pPr>
                <a:endParaRPr lang="en-US" dirty="0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3438A08-E49B-354E-9957-21DF0854A8E2}"/>
              </a:ext>
            </a:extLst>
          </p:cNvPr>
          <p:cNvGrpSpPr/>
          <p:nvPr/>
        </p:nvGrpSpPr>
        <p:grpSpPr>
          <a:xfrm>
            <a:off x="1351005" y="5292804"/>
            <a:ext cx="10073123" cy="461665"/>
            <a:chOff x="1692874" y="1754660"/>
            <a:chExt cx="10073123" cy="461665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B50B3A-1E1A-FA4D-A2C2-C59F8A48A935}"/>
                </a:ext>
              </a:extLst>
            </p:cNvPr>
            <p:cNvSpPr txBox="1"/>
            <p:nvPr/>
          </p:nvSpPr>
          <p:spPr>
            <a:xfrm>
              <a:off x="2051222" y="1767017"/>
              <a:ext cx="9714775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selects which BS to associate with (</a:t>
              </a:r>
              <a:r>
                <a:rPr lang="en-US" sz="2400" i="1" dirty="0"/>
                <a:t>e.g., </a:t>
              </a:r>
              <a:r>
                <a:rPr lang="en-US" sz="2400" dirty="0"/>
                <a:t>preference for home carrier)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1CDC44A-F7D2-C64C-A3B9-4347B0E2E901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AE900756-8B8E-F748-B322-BB4FF568342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458E91A-1959-E344-BDA4-E156B57D263B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6FA772-C38F-2841-B2DD-5C396165A204}"/>
              </a:ext>
            </a:extLst>
          </p:cNvPr>
          <p:cNvGrpSpPr/>
          <p:nvPr/>
        </p:nvGrpSpPr>
        <p:grpSpPr>
          <a:xfrm>
            <a:off x="1342767" y="5803556"/>
            <a:ext cx="9718411" cy="474160"/>
            <a:chOff x="1692874" y="1754660"/>
            <a:chExt cx="9718411" cy="474160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A437B04-13FD-5A40-AC92-B348D12DF9B5}"/>
                </a:ext>
              </a:extLst>
            </p:cNvPr>
            <p:cNvSpPr txBox="1"/>
            <p:nvPr/>
          </p:nvSpPr>
          <p:spPr>
            <a:xfrm>
              <a:off x="2051222" y="1804088"/>
              <a:ext cx="9360063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more steps still needed to authenticate, establish state, set up data plane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DE32324F-2BA2-324D-8E1D-F3F20DE83A8D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57DBA98F-3B1B-E346-B833-749EFBFD6BC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60BFC349-6F9B-2C42-9511-FF699C3C8A4E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165F5B5-1241-494E-B0B0-6A124C700708}"/>
              </a:ext>
            </a:extLst>
          </p:cNvPr>
          <p:cNvGrpSpPr/>
          <p:nvPr/>
        </p:nvGrpSpPr>
        <p:grpSpPr>
          <a:xfrm>
            <a:off x="2865846" y="1402834"/>
            <a:ext cx="666750" cy="369332"/>
            <a:chOff x="10795000" y="942031"/>
            <a:chExt cx="666750" cy="369332"/>
          </a:xfrm>
        </p:grpSpPr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B64251DE-007D-0F45-B529-90C0E85287A5}"/>
                </a:ext>
              </a:extLst>
            </p:cNvPr>
            <p:cNvCxnSpPr/>
            <p:nvPr/>
          </p:nvCxnSpPr>
          <p:spPr>
            <a:xfrm flipH="1">
              <a:off x="10795000" y="11271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73CFBC7-B595-B04A-9C6A-4D18E0599AF3}"/>
                </a:ext>
              </a:extLst>
            </p:cNvPr>
            <p:cNvSpPr/>
            <p:nvPr/>
          </p:nvSpPr>
          <p:spPr>
            <a:xfrm>
              <a:off x="11020425" y="10033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5D65A95-1F89-584D-A7F8-9DC5385E5246}"/>
                </a:ext>
              </a:extLst>
            </p:cNvPr>
            <p:cNvSpPr txBox="1"/>
            <p:nvPr/>
          </p:nvSpPr>
          <p:spPr>
            <a:xfrm>
              <a:off x="10997685" y="9420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9888C8C-90C9-9B43-B824-E46C90C9310C}"/>
              </a:ext>
            </a:extLst>
          </p:cNvPr>
          <p:cNvGrpSpPr/>
          <p:nvPr/>
        </p:nvGrpSpPr>
        <p:grpSpPr>
          <a:xfrm>
            <a:off x="2675826" y="1692030"/>
            <a:ext cx="301686" cy="369332"/>
            <a:chOff x="11140560" y="1335731"/>
            <a:chExt cx="301686" cy="369332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EEFC8E6-7F66-D644-9D3B-EA76FE5E45A0}"/>
                </a:ext>
              </a:extLst>
            </p:cNvPr>
            <p:cNvSpPr/>
            <p:nvPr/>
          </p:nvSpPr>
          <p:spPr>
            <a:xfrm>
              <a:off x="11163300" y="13970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10CB571-7305-4B4A-9EE5-940148C575FC}"/>
                </a:ext>
              </a:extLst>
            </p:cNvPr>
            <p:cNvSpPr txBox="1"/>
            <p:nvPr/>
          </p:nvSpPr>
          <p:spPr>
            <a:xfrm>
              <a:off x="11140560" y="13357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2FB2EEB-63DE-984E-937C-2DB8D480C825}"/>
              </a:ext>
            </a:extLst>
          </p:cNvPr>
          <p:cNvGrpSpPr/>
          <p:nvPr/>
        </p:nvGrpSpPr>
        <p:grpSpPr>
          <a:xfrm>
            <a:off x="2916462" y="1968163"/>
            <a:ext cx="666750" cy="369332"/>
            <a:chOff x="11080750" y="1729431"/>
            <a:chExt cx="666750" cy="369332"/>
          </a:xfrm>
        </p:grpSpPr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3084C769-A49B-8744-A798-C333A0608D94}"/>
                </a:ext>
              </a:extLst>
            </p:cNvPr>
            <p:cNvCxnSpPr>
              <a:cxnSpLocks/>
            </p:cNvCxnSpPr>
            <p:nvPr/>
          </p:nvCxnSpPr>
          <p:spPr>
            <a:xfrm>
              <a:off x="11080750" y="19145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13F8AF10-1842-1248-8BF6-634D84E71034}"/>
                </a:ext>
              </a:extLst>
            </p:cNvPr>
            <p:cNvSpPr/>
            <p:nvPr/>
          </p:nvSpPr>
          <p:spPr>
            <a:xfrm>
              <a:off x="11306175" y="17907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8E1F095-DFDA-924E-8674-E34EB06EC66B}"/>
                </a:ext>
              </a:extLst>
            </p:cNvPr>
            <p:cNvSpPr txBox="1"/>
            <p:nvPr/>
          </p:nvSpPr>
          <p:spPr>
            <a:xfrm>
              <a:off x="11283435" y="17294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708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mobiles: sleep modes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0" name="Group 652">
            <a:extLst>
              <a:ext uri="{FF2B5EF4-FFF2-40B4-BE49-F238E27FC236}">
                <a16:creationId xmlns:a16="http://schemas.microsoft.com/office/drawing/2014/main" id="{69518215-9CA9-8A43-AED3-9AE24FFA160D}"/>
              </a:ext>
            </a:extLst>
          </p:cNvPr>
          <p:cNvGrpSpPr>
            <a:grpSpLocks/>
          </p:cNvGrpSpPr>
          <p:nvPr/>
        </p:nvGrpSpPr>
        <p:grpSpPr bwMode="auto">
          <a:xfrm>
            <a:off x="2767673" y="1651063"/>
            <a:ext cx="733407" cy="660273"/>
            <a:chOff x="2751" y="1851"/>
            <a:chExt cx="462" cy="478"/>
          </a:xfrm>
        </p:grpSpPr>
        <p:pic>
          <p:nvPicPr>
            <p:cNvPr id="271" name="Picture 653" descr="iphone_stylized_small">
              <a:extLst>
                <a:ext uri="{FF2B5EF4-FFF2-40B4-BE49-F238E27FC236}">
                  <a16:creationId xmlns:a16="http://schemas.microsoft.com/office/drawing/2014/main" id="{6F510F68-9790-C847-B263-F57B82070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654" descr="antenna_radiation_stylized">
              <a:extLst>
                <a:ext uri="{FF2B5EF4-FFF2-40B4-BE49-F238E27FC236}">
                  <a16:creationId xmlns:a16="http://schemas.microsoft.com/office/drawing/2014/main" id="{A048F8A3-1CE0-F846-8AF2-822C19183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C44511C-F44D-B44C-869C-8F71E2363907}"/>
              </a:ext>
            </a:extLst>
          </p:cNvPr>
          <p:cNvGrpSpPr/>
          <p:nvPr/>
        </p:nvGrpSpPr>
        <p:grpSpPr>
          <a:xfrm>
            <a:off x="2095499" y="1351006"/>
            <a:ext cx="744189" cy="435534"/>
            <a:chOff x="2095499" y="1351006"/>
            <a:chExt cx="744189" cy="435534"/>
          </a:xfrm>
        </p:grpSpPr>
        <p:sp>
          <p:nvSpPr>
            <p:cNvPr id="274" name="Cloud Callout 273">
              <a:extLst>
                <a:ext uri="{FF2B5EF4-FFF2-40B4-BE49-F238E27FC236}">
                  <a16:creationId xmlns:a16="http://schemas.microsoft.com/office/drawing/2014/main" id="{C04674C8-92A0-4943-A34C-E32EE0962A3E}"/>
                </a:ext>
              </a:extLst>
            </p:cNvPr>
            <p:cNvSpPr/>
            <p:nvPr/>
          </p:nvSpPr>
          <p:spPr>
            <a:xfrm>
              <a:off x="2095499" y="1351006"/>
              <a:ext cx="729049" cy="435534"/>
            </a:xfrm>
            <a:prstGeom prst="cloudCallout">
              <a:avLst>
                <a:gd name="adj1" fmla="val 42681"/>
                <a:gd name="adj2" fmla="val 86703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136123A-D9D2-D746-AD0E-8B98F3695A2D}"/>
                </a:ext>
              </a:extLst>
            </p:cNvPr>
            <p:cNvSpPr txBox="1"/>
            <p:nvPr/>
          </p:nvSpPr>
          <p:spPr>
            <a:xfrm>
              <a:off x="2150076" y="1359244"/>
              <a:ext cx="6896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Z</a:t>
              </a:r>
              <a:r>
                <a:rPr lang="en-US" sz="1600" dirty="0"/>
                <a:t>Z</a:t>
              </a:r>
              <a:r>
                <a:rPr lang="en-US" sz="1400" dirty="0"/>
                <a:t>ZZ...</a:t>
              </a:r>
              <a:endParaRPr lang="en-US" dirty="0"/>
            </a:p>
          </p:txBody>
        </p:sp>
      </p:grpSp>
      <p:sp>
        <p:nvSpPr>
          <p:cNvPr id="276" name="Rectangle 4">
            <a:extLst>
              <a:ext uri="{FF2B5EF4-FFF2-40B4-BE49-F238E27FC236}">
                <a16:creationId xmlns:a16="http://schemas.microsoft.com/office/drawing/2014/main" id="{DA757698-B4BD-EC40-9EF5-BB4B555B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22" y="2872770"/>
            <a:ext cx="11181805" cy="3201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60325">
              <a:spcBef>
                <a:spcPts val="6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r>
              <a:rPr lang="en-US" sz="2800" dirty="0"/>
              <a:t>as in WiFi, Bluetooth: LTE mobile may put radio to “sleep” to conserve battery: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light sleep</a:t>
            </a:r>
            <a:r>
              <a:rPr lang="en-US" sz="2800" dirty="0"/>
              <a:t>: after 100’s msec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wake up periodically (100’s msec) to check for downstream transmissions</a:t>
            </a:r>
          </a:p>
          <a:p>
            <a:pPr marL="349250" indent="-288925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deep sleep: </a:t>
            </a:r>
            <a:r>
              <a:rPr lang="en-US" sz="2800" dirty="0"/>
              <a:t>after 5-10 secs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may change cells while deep sleeping – need to re-establish association</a:t>
            </a:r>
            <a:endParaRPr lang="en-US" sz="2000" dirty="0"/>
          </a:p>
          <a:p>
            <a:pPr marL="342900" indent="-342900"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7328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Global cellular network: a network of IP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629271" y="2975004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439162"/>
            <a:chOff x="153945" y="4485503"/>
            <a:chExt cx="2436745" cy="1439162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global identify info in home network</a:t>
              </a:r>
            </a:p>
          </p:txBody>
        </p:sp>
      </p:grpSp>
      <p:sp>
        <p:nvSpPr>
          <p:cNvPr id="865" name="Rectangle 4">
            <a:extLst>
              <a:ext uri="{FF2B5EF4-FFF2-40B4-BE49-F238E27FC236}">
                <a16:creationId xmlns:a16="http://schemas.microsoft.com/office/drawing/2014/main" id="{3B33309C-DA91-114B-AD43-B77C86F6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7243" y="3122956"/>
            <a:ext cx="3756453" cy="2709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all IP: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carriers interconnect with each other, and public internet at exchange points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legacy 2G, 3G: not all IP, handled otherwise</a:t>
            </a:r>
          </a:p>
          <a:p>
            <a:pPr marL="342900" indent="-34290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2EE7DB4-480E-4F49-A9CE-BDE7FF84A02A}"/>
              </a:ext>
            </a:extLst>
          </p:cNvPr>
          <p:cNvCxnSpPr>
            <a:cxnSpLocks/>
          </p:cNvCxnSpPr>
          <p:nvPr/>
        </p:nvCxnSpPr>
        <p:spPr>
          <a:xfrm>
            <a:off x="7068065" y="3336324"/>
            <a:ext cx="1136822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08342"/>
            <a:ext cx="7006281" cy="1593206"/>
            <a:chOff x="4905633" y="1508342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173" y="1508342"/>
              <a:ext cx="373174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 HSS: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identify &amp; services info, while in home network and roaming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332396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21894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On to 5G!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367" name="Rectangle 4">
            <a:extLst>
              <a:ext uri="{FF2B5EF4-FFF2-40B4-BE49-F238E27FC236}">
                <a16:creationId xmlns:a16="http://schemas.microsoft.com/office/drawing/2014/main" id="{88FFA6EA-DE94-B64C-8876-D4415A8CC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28" y="1291105"/>
            <a:ext cx="11181805" cy="4837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goal: </a:t>
            </a:r>
            <a:r>
              <a:rPr lang="en-US" sz="2800" dirty="0"/>
              <a:t>10x increase in peak bitrate, 10x decrease in latency, 100x increase in traffic capacity over 4G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5G NR (new radio):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two frequency bands: </a:t>
            </a:r>
            <a:r>
              <a:rPr lang="en-US" sz="2000" dirty="0"/>
              <a:t>FR1 (450 MHz–6 GHz) </a:t>
            </a:r>
            <a:r>
              <a:rPr lang="en-US" sz="2400" dirty="0"/>
              <a:t>and FR2 </a:t>
            </a:r>
            <a:r>
              <a:rPr lang="en-US" sz="2000" dirty="0"/>
              <a:t>(24 GHz–52 GHz): </a:t>
            </a:r>
            <a:r>
              <a:rPr lang="en-US" sz="2400" dirty="0"/>
              <a:t>millimeter wave frequencies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not backwards-compatible with 4G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MIMO: multiple directional antennae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millimeter wave frequencies: </a:t>
            </a:r>
            <a:r>
              <a:rPr lang="en-US" sz="2800" dirty="0"/>
              <a:t>much higher data rates, but over shorter distances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pico-cells: cells diameters: 10-100 m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massive, dense deployment of new base stations required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23624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92256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1C9095-1094-BA4C-995A-67D9351D69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network (routers) handle it: </a:t>
            </a:r>
          </a:p>
          <a:p>
            <a:pPr lvl="1" indent="-339725">
              <a:defRPr/>
            </a:pPr>
            <a:r>
              <a:rPr lang="en-US" sz="2800" dirty="0"/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defRPr/>
            </a:pPr>
            <a:r>
              <a:rPr lang="en-US" sz="2800" dirty="0"/>
              <a:t>Internet routing could do this already </a:t>
            </a:r>
            <a:r>
              <a:rPr lang="en-US" sz="2800" i="1" dirty="0">
                <a:solidFill>
                  <a:srgbClr val="0012A0"/>
                </a:solidFill>
              </a:rPr>
              <a:t>with no </a:t>
            </a:r>
            <a:r>
              <a:rPr lang="en-US" sz="2800" dirty="0"/>
              <a:t>changes! Routing tables indicate where each mobile located via longest prefix match!</a:t>
            </a:r>
          </a:p>
        </p:txBody>
      </p:sp>
    </p:spTree>
    <p:extLst>
      <p:ext uri="{BB962C8B-B14F-4D97-AF65-F5344CB8AC3E}">
        <p14:creationId xmlns:p14="http://schemas.microsoft.com/office/powerpoint/2010/main" val="942432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let network (routers) handle it: 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Internet routing could do this already </a:t>
            </a:r>
            <a:r>
              <a:rPr lang="en-US" sz="2800" i="1" dirty="0">
                <a:solidFill>
                  <a:schemeClr val="bg1">
                    <a:lumMod val="75000"/>
                  </a:schemeClr>
                </a:solidFill>
              </a:rPr>
              <a:t>with no </a:t>
            </a: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changes! Routing tables indicate where each mobile located via longest prefix match!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53F458-51F8-7341-A2F3-08E71E4DFE10}"/>
              </a:ext>
            </a:extLst>
          </p:cNvPr>
          <p:cNvSpPr txBox="1">
            <a:spLocks noChangeArrowheads="1"/>
          </p:cNvSpPr>
          <p:nvPr/>
        </p:nvSpPr>
        <p:spPr>
          <a:xfrm>
            <a:off x="1092444" y="4101538"/>
            <a:ext cx="10535449" cy="23538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end-systems handle it: </a:t>
            </a:r>
            <a:r>
              <a:rPr lang="en-US" sz="3200" dirty="0"/>
              <a:t>functionality at the “edge”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indirect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communication from correspondent to mobile goes through home network, then forwarded to remote mobile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correspondent gets foreign address of mobile, send directly to mobile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1E929CD-BD07-844C-B171-F0D97433B71D}"/>
              </a:ext>
            </a:extLst>
          </p:cNvPr>
          <p:cNvGrpSpPr/>
          <p:nvPr/>
        </p:nvGrpSpPr>
        <p:grpSpPr>
          <a:xfrm>
            <a:off x="5094548" y="1851951"/>
            <a:ext cx="2271713" cy="1743075"/>
            <a:chOff x="3101975" y="1770063"/>
            <a:chExt cx="2271713" cy="1743075"/>
          </a:xfrm>
        </p:grpSpPr>
        <p:sp>
          <p:nvSpPr>
            <p:cNvPr id="7" name="Oval 4">
              <a:extLst>
                <a:ext uri="{FF2B5EF4-FFF2-40B4-BE49-F238E27FC236}">
                  <a16:creationId xmlns:a16="http://schemas.microsoft.com/office/drawing/2014/main" id="{586DEAB4-8AD5-C14E-A99E-EF0AF3BF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A8F5BF46-C17B-AF46-9495-456D8D43F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D16F08E7-A82A-6F4D-AB93-FFF1DB60E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not 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scalable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to billions of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 mobiles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275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Contacting a mobile friend: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156" name="Rectangle 3">
            <a:extLst>
              <a:ext uri="{FF2B5EF4-FFF2-40B4-BE49-F238E27FC236}">
                <a16:creationId xmlns:a16="http://schemas.microsoft.com/office/drawing/2014/main" id="{10C398DB-2763-A841-AE31-774DDE65C9A0}"/>
              </a:ext>
            </a:extLst>
          </p:cNvPr>
          <p:cNvSpPr txBox="1">
            <a:spLocks noChangeArrowheads="1"/>
          </p:cNvSpPr>
          <p:nvPr/>
        </p:nvSpPr>
        <p:spPr>
          <a:xfrm>
            <a:off x="1392072" y="2532703"/>
            <a:ext cx="4553496" cy="14461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search all phone books?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expect her to let you know where he/she is?</a:t>
            </a:r>
          </a:p>
        </p:txBody>
      </p:sp>
      <p:pic>
        <p:nvPicPr>
          <p:cNvPr id="157" name="Picture 4" descr="worldf">
            <a:extLst>
              <a:ext uri="{FF2B5EF4-FFF2-40B4-BE49-F238E27FC236}">
                <a16:creationId xmlns:a16="http://schemas.microsoft.com/office/drawing/2014/main" id="{E4F2C176-D600-AD47-9307-B0F2E740F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01892" y="2973984"/>
            <a:ext cx="4813300" cy="248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58" name="Picture 5" descr="Alice">
            <a:extLst>
              <a:ext uri="{FF2B5EF4-FFF2-40B4-BE49-F238E27FC236}">
                <a16:creationId xmlns:a16="http://schemas.microsoft.com/office/drawing/2014/main" id="{A3C4AA4C-C167-3540-AF71-0669A017A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8755" y="4599584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" name="Picture 6" descr="Bob">
            <a:extLst>
              <a:ext uri="{FF2B5EF4-FFF2-40B4-BE49-F238E27FC236}">
                <a16:creationId xmlns:a16="http://schemas.microsoft.com/office/drawing/2014/main" id="{27C03823-8CD4-D14F-89DC-C4A5129669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6342" y="2396134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" name="Text Box 7">
            <a:extLst>
              <a:ext uri="{FF2B5EF4-FFF2-40B4-BE49-F238E27FC236}">
                <a16:creationId xmlns:a16="http://schemas.microsoft.com/office/drawing/2014/main" id="{8DBBD923-4D1B-814A-93A7-2FA2CA4A1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2817" y="861021"/>
            <a:ext cx="2644775" cy="830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latin typeface="+mn-lt"/>
                <a:cs typeface="Arial" charset="0"/>
              </a:rPr>
              <a:t>I wonder where Alice moved to?</a:t>
            </a:r>
          </a:p>
        </p:txBody>
      </p:sp>
      <p:sp>
        <p:nvSpPr>
          <p:cNvPr id="161" name="Oval 8">
            <a:extLst>
              <a:ext uri="{FF2B5EF4-FFF2-40B4-BE49-F238E27FC236}">
                <a16:creationId xmlns:a16="http://schemas.microsoft.com/office/drawing/2014/main" id="{F436AEAE-6DA7-3F40-8328-A89D5196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417" y="773709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2" name="Oval 9">
            <a:extLst>
              <a:ext uri="{FF2B5EF4-FFF2-40B4-BE49-F238E27FC236}">
                <a16:creationId xmlns:a16="http://schemas.microsoft.com/office/drawing/2014/main" id="{D1DD4E87-F5E2-6C45-B4D7-8220517ED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4892" y="1665884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3" name="Oval 10">
            <a:extLst>
              <a:ext uri="{FF2B5EF4-FFF2-40B4-BE49-F238E27FC236}">
                <a16:creationId xmlns:a16="http://schemas.microsoft.com/office/drawing/2014/main" id="{E81EE3E1-AEAC-924A-97CF-7A348DFC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6630" y="2005609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4" name="Oval 11">
            <a:extLst>
              <a:ext uri="{FF2B5EF4-FFF2-40B4-BE49-F238E27FC236}">
                <a16:creationId xmlns:a16="http://schemas.microsoft.com/office/drawing/2014/main" id="{A2DCD9BC-4D38-AD4B-860A-1CA856D2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9030" y="2205634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5" name="Rectangle 12">
            <a:extLst>
              <a:ext uri="{FF2B5EF4-FFF2-40B4-BE49-F238E27FC236}">
                <a16:creationId xmlns:a16="http://schemas.microsoft.com/office/drawing/2014/main" id="{0773B241-CD4F-5840-9A96-162A1BEE2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990" y="1453889"/>
            <a:ext cx="6689063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Consider friend frequently changing locations, how do you find him/her?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8BA98B9F-9E33-7748-8BCA-BF7B412AB824}"/>
              </a:ext>
            </a:extLst>
          </p:cNvPr>
          <p:cNvSpPr txBox="1">
            <a:spLocks noChangeArrowheads="1"/>
          </p:cNvSpPr>
          <p:nvPr/>
        </p:nvSpPr>
        <p:spPr>
          <a:xfrm>
            <a:off x="1383834" y="3858994"/>
            <a:ext cx="4553496" cy="10466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call his/her parents?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Facebook!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A368555-13C0-4443-ACA7-FA4A57B92E26}"/>
              </a:ext>
            </a:extLst>
          </p:cNvPr>
          <p:cNvGrpSpPr/>
          <p:nvPr/>
        </p:nvGrpSpPr>
        <p:grpSpPr>
          <a:xfrm>
            <a:off x="1075038" y="2582562"/>
            <a:ext cx="4831492" cy="2384853"/>
            <a:chOff x="1075038" y="2582562"/>
            <a:chExt cx="4831492" cy="2384853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BDF6FB7B-9DBD-384C-A555-0EF5F3515D21}"/>
                </a:ext>
              </a:extLst>
            </p:cNvPr>
            <p:cNvSpPr/>
            <p:nvPr/>
          </p:nvSpPr>
          <p:spPr>
            <a:xfrm>
              <a:off x="1421027" y="2582562"/>
              <a:ext cx="4485503" cy="1223319"/>
            </a:xfrm>
            <a:prstGeom prst="rect">
              <a:avLst/>
            </a:prstGeom>
            <a:solidFill>
              <a:schemeClr val="bg1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5DF07831-2F16-ED4F-8814-4D7D8EA7BA68}"/>
                </a:ext>
              </a:extLst>
            </p:cNvPr>
            <p:cNvSpPr/>
            <p:nvPr/>
          </p:nvSpPr>
          <p:spPr>
            <a:xfrm>
              <a:off x="1075038" y="3608173"/>
              <a:ext cx="3966519" cy="135924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6338463D-5AF0-EB49-8B6B-3467E5C96EF8}"/>
              </a:ext>
            </a:extLst>
          </p:cNvPr>
          <p:cNvSpPr txBox="1"/>
          <p:nvPr/>
        </p:nvSpPr>
        <p:spPr>
          <a:xfrm>
            <a:off x="1037966" y="5016843"/>
            <a:ext cx="6570388" cy="1261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The importance of having a “home”: 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definitive source of information about you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place where people can find out where you are</a:t>
            </a:r>
          </a:p>
        </p:txBody>
      </p:sp>
    </p:spTree>
    <p:extLst>
      <p:ext uri="{BB962C8B-B14F-4D97-AF65-F5344CB8AC3E}">
        <p14:creationId xmlns:p14="http://schemas.microsoft.com/office/powerpoint/2010/main" val="1761370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4G/5G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580284" y="3007662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674611"/>
            <a:chOff x="153945" y="4485503"/>
            <a:chExt cx="2436745" cy="1674611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10361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</a:t>
              </a:r>
              <a:r>
                <a:rPr lang="en-US" i="1" dirty="0">
                  <a:solidFill>
                    <a:srgbClr val="011199"/>
                  </a:solidFill>
                </a:rPr>
                <a:t>global</a:t>
              </a:r>
              <a:r>
                <a:rPr lang="en-US" dirty="0"/>
                <a:t> identify info including  home network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57329"/>
            <a:ext cx="7006281" cy="1593206"/>
            <a:chOff x="4905633" y="1557329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4043" y="1557329"/>
              <a:ext cx="405787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(paid) service plan with cellular provider, e.g., Verizon, Orange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home network HSS stores identify &amp; services info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294841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9D9C8FB-27B9-5145-B9CE-99561DEB6107}"/>
              </a:ext>
            </a:extLst>
          </p:cNvPr>
          <p:cNvGrpSpPr/>
          <p:nvPr/>
        </p:nvGrpSpPr>
        <p:grpSpPr>
          <a:xfrm>
            <a:off x="6645728" y="4044712"/>
            <a:ext cx="5255301" cy="2176473"/>
            <a:chOff x="6656614" y="1508341"/>
            <a:chExt cx="5255301" cy="2176473"/>
          </a:xfrm>
        </p:grpSpPr>
        <p:sp>
          <p:nvSpPr>
            <p:cNvPr id="368" name="Rectangle 4">
              <a:extLst>
                <a:ext uri="{FF2B5EF4-FFF2-40B4-BE49-F238E27FC236}">
                  <a16:creationId xmlns:a16="http://schemas.microsoft.com/office/drawing/2014/main" id="{F9A9C184-3C18-184C-9284-8A0C20110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587" y="1508341"/>
              <a:ext cx="4014328" cy="2176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visited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any network other than your home network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service agreement with other networks: to provide access to visiting mobile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69B8B4D-8876-E34D-8C8E-91AC46630DCA}"/>
                </a:ext>
              </a:extLst>
            </p:cNvPr>
            <p:cNvCxnSpPr>
              <a:cxnSpLocks/>
            </p:cNvCxnSpPr>
            <p:nvPr/>
          </p:nvCxnSpPr>
          <p:spPr>
            <a:xfrm>
              <a:off x="6656614" y="2386765"/>
              <a:ext cx="152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086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ISP/WiFi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878285" y="3072976"/>
            <a:ext cx="1061357" cy="5410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614B020-ED5D-5644-AECB-0544E2761C00}"/>
              </a:ext>
            </a:extLst>
          </p:cNvPr>
          <p:cNvGrpSpPr/>
          <p:nvPr/>
        </p:nvGrpSpPr>
        <p:grpSpPr>
          <a:xfrm>
            <a:off x="4623470" y="2613088"/>
            <a:ext cx="591681" cy="375090"/>
            <a:chOff x="7493876" y="2774731"/>
            <a:chExt cx="1481958" cy="894622"/>
          </a:xfrm>
        </p:grpSpPr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0122CEA-C90E-C343-A412-D71D11DF7B5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43807674-4BD1-E84F-A598-9AE45A9607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D581F774-7914-534A-9989-AF909D8067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9879E72-F3AD-F644-9C83-FDDD85AAD7B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DF935CA5-74F1-1244-9CEC-C5567C1D09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17E56-85D1-A44C-A630-86D05449F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2E012050-BD17-E54D-BF24-93E68E6783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305166" y="2114504"/>
            <a:ext cx="1707651" cy="736694"/>
            <a:chOff x="3056709" y="2599509"/>
            <a:chExt cx="1707651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cxnSp>
        <p:nvCxnSpPr>
          <p:cNvPr id="529" name="Straight Connector 528">
            <a:extLst>
              <a:ext uri="{FF2B5EF4-FFF2-40B4-BE49-F238E27FC236}">
                <a16:creationId xmlns:a16="http://schemas.microsoft.com/office/drawing/2014/main" id="{69AE70FE-61CC-B148-B52F-5A99CC4D3D21}"/>
              </a:ext>
            </a:extLst>
          </p:cNvPr>
          <p:cNvCxnSpPr>
            <a:cxnSpLocks/>
          </p:cNvCxnSpPr>
          <p:nvPr/>
        </p:nvCxnSpPr>
        <p:spPr>
          <a:xfrm flipH="1">
            <a:off x="1966116" y="2345807"/>
            <a:ext cx="927410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3" y="2743200"/>
            <a:ext cx="1188308" cy="1767015"/>
            <a:chOff x="297593" y="2743200"/>
            <a:chExt cx="1188308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3" y="3558745"/>
              <a:ext cx="118830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attach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2425929" y="5791050"/>
            <a:ext cx="1767015" cy="329834"/>
            <a:chOff x="2425929" y="5791050"/>
            <a:chExt cx="1767015" cy="329834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2449287" y="5791050"/>
              <a:ext cx="1051723" cy="329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attach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3D41F3D-AFCE-D443-B02F-25DA166E2858}"/>
              </a:ext>
            </a:extLst>
          </p:cNvPr>
          <p:cNvGrpSpPr/>
          <p:nvPr/>
        </p:nvGrpSpPr>
        <p:grpSpPr>
          <a:xfrm>
            <a:off x="1132111" y="1715180"/>
            <a:ext cx="1038225" cy="1004887"/>
            <a:chOff x="8790214" y="1617209"/>
            <a:chExt cx="1038225" cy="1004887"/>
          </a:xfrm>
        </p:grpSpPr>
        <p:sp>
          <p:nvSpPr>
            <p:cNvPr id="371" name="Oval 23">
              <a:extLst>
                <a:ext uri="{FF2B5EF4-FFF2-40B4-BE49-F238E27FC236}">
                  <a16:creationId xmlns:a16="http://schemas.microsoft.com/office/drawing/2014/main" id="{5952E974-B93B-8B44-886C-B2E78877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72" name="Group 361">
              <a:extLst>
                <a:ext uri="{FF2B5EF4-FFF2-40B4-BE49-F238E27FC236}">
                  <a16:creationId xmlns:a16="http://schemas.microsoft.com/office/drawing/2014/main" id="{C2BA1641-94ED-C448-8AE6-6DB618C45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73" name="Picture 358" descr="access_point_stylized_small">
                <a:extLst>
                  <a:ext uri="{FF2B5EF4-FFF2-40B4-BE49-F238E27FC236}">
                    <a16:creationId xmlns:a16="http://schemas.microsoft.com/office/drawing/2014/main" id="{AE084EE0-E940-8E4E-808A-2AA060C2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4" name="Picture 360" descr="antenna_radiation_stylized">
                <a:extLst>
                  <a:ext uri="{FF2B5EF4-FFF2-40B4-BE49-F238E27FC236}">
                    <a16:creationId xmlns:a16="http://schemas.microsoft.com/office/drawing/2014/main" id="{82F0C39A-0B16-EA40-9268-092A48B3B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5" name="Group 356">
              <a:extLst>
                <a:ext uri="{FF2B5EF4-FFF2-40B4-BE49-F238E27FC236}">
                  <a16:creationId xmlns:a16="http://schemas.microsoft.com/office/drawing/2014/main" id="{CC1CB608-AC80-0147-B36D-9A2EE45CA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76" name="Picture 354" descr="laptop_stylized_small">
                <a:extLst>
                  <a:ext uri="{FF2B5EF4-FFF2-40B4-BE49-F238E27FC236}">
                    <a16:creationId xmlns:a16="http://schemas.microsoft.com/office/drawing/2014/main" id="{6E2EA505-E0D6-764B-9D5C-BCD2FEFB8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7" name="Picture 355" descr="antenna_stylized">
                <a:extLst>
                  <a:ext uri="{FF2B5EF4-FFF2-40B4-BE49-F238E27FC236}">
                    <a16:creationId xmlns:a16="http://schemas.microsoft.com/office/drawing/2014/main" id="{A85FBB02-569E-AB47-8C1C-C034D29CB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8" name="Group 403">
              <a:extLst>
                <a:ext uri="{FF2B5EF4-FFF2-40B4-BE49-F238E27FC236}">
                  <a16:creationId xmlns:a16="http://schemas.microsoft.com/office/drawing/2014/main" id="{BD3F7468-5992-734C-B2B0-2A9FD45F8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79" name="Picture 364" descr="iphone_stylized_small">
                <a:extLst>
                  <a:ext uri="{FF2B5EF4-FFF2-40B4-BE49-F238E27FC236}">
                    <a16:creationId xmlns:a16="http://schemas.microsoft.com/office/drawing/2014/main" id="{90183E2E-B05B-7641-B0FB-A84336B6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0" name="Picture 402" descr="antenna_radiation_stylized">
                <a:extLst>
                  <a:ext uri="{FF2B5EF4-FFF2-40B4-BE49-F238E27FC236}">
                    <a16:creationId xmlns:a16="http://schemas.microsoft.com/office/drawing/2014/main" id="{0BCD87B1-7C64-9642-9EDB-93863AAE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8A63E586-45C4-414D-A89D-A45C108CCA5E}"/>
              </a:ext>
            </a:extLst>
          </p:cNvPr>
          <p:cNvGrpSpPr/>
          <p:nvPr/>
        </p:nvGrpSpPr>
        <p:grpSpPr>
          <a:xfrm>
            <a:off x="1631950" y="2736850"/>
            <a:ext cx="751114" cy="702128"/>
            <a:chOff x="8790214" y="1617209"/>
            <a:chExt cx="1038225" cy="1004887"/>
          </a:xfrm>
        </p:grpSpPr>
        <p:sp>
          <p:nvSpPr>
            <p:cNvPr id="382" name="Oval 23">
              <a:extLst>
                <a:ext uri="{FF2B5EF4-FFF2-40B4-BE49-F238E27FC236}">
                  <a16:creationId xmlns:a16="http://schemas.microsoft.com/office/drawing/2014/main" id="{69FB5EE9-A00A-0D45-9343-A5B94A315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83" name="Group 361">
              <a:extLst>
                <a:ext uri="{FF2B5EF4-FFF2-40B4-BE49-F238E27FC236}">
                  <a16:creationId xmlns:a16="http://schemas.microsoft.com/office/drawing/2014/main" id="{A858EF67-8D41-C242-A415-10D99818B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90" name="Picture 358" descr="access_point_stylized_small">
                <a:extLst>
                  <a:ext uri="{FF2B5EF4-FFF2-40B4-BE49-F238E27FC236}">
                    <a16:creationId xmlns:a16="http://schemas.microsoft.com/office/drawing/2014/main" id="{547FDFB0-87B6-3941-A102-F072DC5A0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1" name="Picture 360" descr="antenna_radiation_stylized">
                <a:extLst>
                  <a:ext uri="{FF2B5EF4-FFF2-40B4-BE49-F238E27FC236}">
                    <a16:creationId xmlns:a16="http://schemas.microsoft.com/office/drawing/2014/main" id="{A72F20D0-2C15-964A-9606-B68E23102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4" name="Group 356">
              <a:extLst>
                <a:ext uri="{FF2B5EF4-FFF2-40B4-BE49-F238E27FC236}">
                  <a16:creationId xmlns:a16="http://schemas.microsoft.com/office/drawing/2014/main" id="{04DB64A5-F11E-8846-B2BA-F59DFB34C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88" name="Picture 354" descr="laptop_stylized_small">
                <a:extLst>
                  <a:ext uri="{FF2B5EF4-FFF2-40B4-BE49-F238E27FC236}">
                    <a16:creationId xmlns:a16="http://schemas.microsoft.com/office/drawing/2014/main" id="{3997BDFA-BB50-7145-BDA6-95B0AA8A1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9" name="Picture 355" descr="antenna_stylized">
                <a:extLst>
                  <a:ext uri="{FF2B5EF4-FFF2-40B4-BE49-F238E27FC236}">
                    <a16:creationId xmlns:a16="http://schemas.microsoft.com/office/drawing/2014/main" id="{21393C64-F6B8-E643-9084-DA69DBD01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5" name="Group 403">
              <a:extLst>
                <a:ext uri="{FF2B5EF4-FFF2-40B4-BE49-F238E27FC236}">
                  <a16:creationId xmlns:a16="http://schemas.microsoft.com/office/drawing/2014/main" id="{84A12335-E573-8241-B7A7-457D54541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86" name="Picture 364" descr="iphone_stylized_small">
                <a:extLst>
                  <a:ext uri="{FF2B5EF4-FFF2-40B4-BE49-F238E27FC236}">
                    <a16:creationId xmlns:a16="http://schemas.microsoft.com/office/drawing/2014/main" id="{3E8555BA-D804-764A-AC6F-8A7D58D61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7" name="Picture 402" descr="antenna_radiation_stylized">
                <a:extLst>
                  <a:ext uri="{FF2B5EF4-FFF2-40B4-BE49-F238E27FC236}">
                    <a16:creationId xmlns:a16="http://schemas.microsoft.com/office/drawing/2014/main" id="{B5092C44-639A-2F46-B117-B56BC091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2CCC946-F332-0444-8738-9B4A789C216A}"/>
              </a:ext>
            </a:extLst>
          </p:cNvPr>
          <p:cNvGrpSpPr/>
          <p:nvPr/>
        </p:nvGrpSpPr>
        <p:grpSpPr>
          <a:xfrm>
            <a:off x="2460175" y="3346678"/>
            <a:ext cx="751114" cy="702128"/>
            <a:chOff x="8790214" y="1617209"/>
            <a:chExt cx="1038225" cy="1004887"/>
          </a:xfrm>
        </p:grpSpPr>
        <p:sp>
          <p:nvSpPr>
            <p:cNvPr id="393" name="Oval 23">
              <a:extLst>
                <a:ext uri="{FF2B5EF4-FFF2-40B4-BE49-F238E27FC236}">
                  <a16:creationId xmlns:a16="http://schemas.microsoft.com/office/drawing/2014/main" id="{330F0250-B67A-7C47-B809-E2741C72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94" name="Group 361">
              <a:extLst>
                <a:ext uri="{FF2B5EF4-FFF2-40B4-BE49-F238E27FC236}">
                  <a16:creationId xmlns:a16="http://schemas.microsoft.com/office/drawing/2014/main" id="{107DFA4B-0CE9-8844-B4B5-1CD06B44E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01" name="Picture 358" descr="access_point_stylized_small">
                <a:extLst>
                  <a:ext uri="{FF2B5EF4-FFF2-40B4-BE49-F238E27FC236}">
                    <a16:creationId xmlns:a16="http://schemas.microsoft.com/office/drawing/2014/main" id="{3FC8BC7D-3171-FA44-92B0-512A0DDEA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2" name="Picture 360" descr="antenna_radiation_stylized">
                <a:extLst>
                  <a:ext uri="{FF2B5EF4-FFF2-40B4-BE49-F238E27FC236}">
                    <a16:creationId xmlns:a16="http://schemas.microsoft.com/office/drawing/2014/main" id="{8CDFA272-7B97-5F4A-AB8F-397CE2275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5" name="Group 356">
              <a:extLst>
                <a:ext uri="{FF2B5EF4-FFF2-40B4-BE49-F238E27FC236}">
                  <a16:creationId xmlns:a16="http://schemas.microsoft.com/office/drawing/2014/main" id="{8CB65A57-672F-7A44-B85A-92FFCE2DB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99" name="Picture 354" descr="laptop_stylized_small">
                <a:extLst>
                  <a:ext uri="{FF2B5EF4-FFF2-40B4-BE49-F238E27FC236}">
                    <a16:creationId xmlns:a16="http://schemas.microsoft.com/office/drawing/2014/main" id="{60371BD7-72E6-8045-807F-312552140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" name="Picture 355" descr="antenna_stylized">
                <a:extLst>
                  <a:ext uri="{FF2B5EF4-FFF2-40B4-BE49-F238E27FC236}">
                    <a16:creationId xmlns:a16="http://schemas.microsoft.com/office/drawing/2014/main" id="{866491C5-EFE9-F049-900B-3705951E7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6" name="Group 403">
              <a:extLst>
                <a:ext uri="{FF2B5EF4-FFF2-40B4-BE49-F238E27FC236}">
                  <a16:creationId xmlns:a16="http://schemas.microsoft.com/office/drawing/2014/main" id="{20E9540C-B106-5143-8526-5C19121A8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97" name="Picture 364" descr="iphone_stylized_small">
                <a:extLst>
                  <a:ext uri="{FF2B5EF4-FFF2-40B4-BE49-F238E27FC236}">
                    <a16:creationId xmlns:a16="http://schemas.microsoft.com/office/drawing/2014/main" id="{D2C80B71-3FAD-C143-9CAE-EC5DBA7DE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8" name="Picture 402" descr="antenna_radiation_stylized">
                <a:extLst>
                  <a:ext uri="{FF2B5EF4-FFF2-40B4-BE49-F238E27FC236}">
                    <a16:creationId xmlns:a16="http://schemas.microsoft.com/office/drawing/2014/main" id="{0562F7D4-5B6E-8C4D-B449-8AF8728F2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52EE72C1-3F74-4F40-89BE-5DD7A200707F}"/>
              </a:ext>
            </a:extLst>
          </p:cNvPr>
          <p:cNvGrpSpPr/>
          <p:nvPr/>
        </p:nvGrpSpPr>
        <p:grpSpPr>
          <a:xfrm>
            <a:off x="4152907" y="4182836"/>
            <a:ext cx="751114" cy="702128"/>
            <a:chOff x="8790214" y="1617209"/>
            <a:chExt cx="1038225" cy="1004887"/>
          </a:xfrm>
        </p:grpSpPr>
        <p:sp>
          <p:nvSpPr>
            <p:cNvPr id="404" name="Oval 23">
              <a:extLst>
                <a:ext uri="{FF2B5EF4-FFF2-40B4-BE49-F238E27FC236}">
                  <a16:creationId xmlns:a16="http://schemas.microsoft.com/office/drawing/2014/main" id="{39486161-1BD3-664B-8E3A-F31ECF46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05" name="Group 361">
              <a:extLst>
                <a:ext uri="{FF2B5EF4-FFF2-40B4-BE49-F238E27FC236}">
                  <a16:creationId xmlns:a16="http://schemas.microsoft.com/office/drawing/2014/main" id="{FDF4A396-785B-6743-94B6-0DBE4835B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12" name="Picture 358" descr="access_point_stylized_small">
                <a:extLst>
                  <a:ext uri="{FF2B5EF4-FFF2-40B4-BE49-F238E27FC236}">
                    <a16:creationId xmlns:a16="http://schemas.microsoft.com/office/drawing/2014/main" id="{EDEE91F2-8F72-5947-B8AD-DAFE1E823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3" name="Picture 360" descr="antenna_radiation_stylized">
                <a:extLst>
                  <a:ext uri="{FF2B5EF4-FFF2-40B4-BE49-F238E27FC236}">
                    <a16:creationId xmlns:a16="http://schemas.microsoft.com/office/drawing/2014/main" id="{83E9D0C1-6EAB-E942-AC6A-ECCA9C5D4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6" name="Group 356">
              <a:extLst>
                <a:ext uri="{FF2B5EF4-FFF2-40B4-BE49-F238E27FC236}">
                  <a16:creationId xmlns:a16="http://schemas.microsoft.com/office/drawing/2014/main" id="{EBDFE2A8-3DA2-1546-98DC-F2E92B429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10" name="Picture 354" descr="laptop_stylized_small">
                <a:extLst>
                  <a:ext uri="{FF2B5EF4-FFF2-40B4-BE49-F238E27FC236}">
                    <a16:creationId xmlns:a16="http://schemas.microsoft.com/office/drawing/2014/main" id="{34454A1B-ED13-7842-8231-884439107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1" name="Picture 355" descr="antenna_stylized">
                <a:extLst>
                  <a:ext uri="{FF2B5EF4-FFF2-40B4-BE49-F238E27FC236}">
                    <a16:creationId xmlns:a16="http://schemas.microsoft.com/office/drawing/2014/main" id="{84AB0168-C972-F047-BA2B-CC666D14A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7" name="Group 403">
              <a:extLst>
                <a:ext uri="{FF2B5EF4-FFF2-40B4-BE49-F238E27FC236}">
                  <a16:creationId xmlns:a16="http://schemas.microsoft.com/office/drawing/2014/main" id="{7E31A31B-7617-EC40-AD6C-1C8F60A5D4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08" name="Picture 364" descr="iphone_stylized_small">
                <a:extLst>
                  <a:ext uri="{FF2B5EF4-FFF2-40B4-BE49-F238E27FC236}">
                    <a16:creationId xmlns:a16="http://schemas.microsoft.com/office/drawing/2014/main" id="{7E039DD0-9F4A-AF42-98DD-B4A1009B8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" name="Picture 402" descr="antenna_radiation_stylized">
                <a:extLst>
                  <a:ext uri="{FF2B5EF4-FFF2-40B4-BE49-F238E27FC236}">
                    <a16:creationId xmlns:a16="http://schemas.microsoft.com/office/drawing/2014/main" id="{6168528C-F7B0-E24F-99C0-5DF27B9F9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8B56345A-A248-1541-B5CC-5C3E4290B691}"/>
              </a:ext>
            </a:extLst>
          </p:cNvPr>
          <p:cNvGrpSpPr/>
          <p:nvPr/>
        </p:nvGrpSpPr>
        <p:grpSpPr>
          <a:xfrm>
            <a:off x="3837225" y="4872036"/>
            <a:ext cx="751114" cy="702128"/>
            <a:chOff x="8790214" y="1617209"/>
            <a:chExt cx="1038225" cy="1004887"/>
          </a:xfrm>
        </p:grpSpPr>
        <p:sp>
          <p:nvSpPr>
            <p:cNvPr id="415" name="Oval 23">
              <a:extLst>
                <a:ext uri="{FF2B5EF4-FFF2-40B4-BE49-F238E27FC236}">
                  <a16:creationId xmlns:a16="http://schemas.microsoft.com/office/drawing/2014/main" id="{B8A49987-ACD2-ED40-9D56-E12266A44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361">
              <a:extLst>
                <a:ext uri="{FF2B5EF4-FFF2-40B4-BE49-F238E27FC236}">
                  <a16:creationId xmlns:a16="http://schemas.microsoft.com/office/drawing/2014/main" id="{D521E02F-9A96-E548-B19F-AA138DE3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23" name="Picture 358" descr="access_point_stylized_small">
                <a:extLst>
                  <a:ext uri="{FF2B5EF4-FFF2-40B4-BE49-F238E27FC236}">
                    <a16:creationId xmlns:a16="http://schemas.microsoft.com/office/drawing/2014/main" id="{FFC36A9A-7051-3E4B-8998-F2264408B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4" name="Picture 360" descr="antenna_radiation_stylized">
                <a:extLst>
                  <a:ext uri="{FF2B5EF4-FFF2-40B4-BE49-F238E27FC236}">
                    <a16:creationId xmlns:a16="http://schemas.microsoft.com/office/drawing/2014/main" id="{BB59752D-3958-0E42-B2A6-6F2871DDF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7" name="Group 356">
              <a:extLst>
                <a:ext uri="{FF2B5EF4-FFF2-40B4-BE49-F238E27FC236}">
                  <a16:creationId xmlns:a16="http://schemas.microsoft.com/office/drawing/2014/main" id="{4985CE08-EBE6-CB48-B922-AC4CB38BC3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21" name="Picture 354" descr="laptop_stylized_small">
                <a:extLst>
                  <a:ext uri="{FF2B5EF4-FFF2-40B4-BE49-F238E27FC236}">
                    <a16:creationId xmlns:a16="http://schemas.microsoft.com/office/drawing/2014/main" id="{0F3F4BBB-FEAE-E24E-B1F1-90BD4F41E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2" name="Picture 355" descr="antenna_stylized">
                <a:extLst>
                  <a:ext uri="{FF2B5EF4-FFF2-40B4-BE49-F238E27FC236}">
                    <a16:creationId xmlns:a16="http://schemas.microsoft.com/office/drawing/2014/main" id="{26764A5D-7FB7-1F4A-9280-2DEB782B2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8" name="Group 403">
              <a:extLst>
                <a:ext uri="{FF2B5EF4-FFF2-40B4-BE49-F238E27FC236}">
                  <a16:creationId xmlns:a16="http://schemas.microsoft.com/office/drawing/2014/main" id="{8D6E283D-4418-134A-9296-F6C104BC2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19" name="Picture 364" descr="iphone_stylized_small">
                <a:extLst>
                  <a:ext uri="{FF2B5EF4-FFF2-40B4-BE49-F238E27FC236}">
                    <a16:creationId xmlns:a16="http://schemas.microsoft.com/office/drawing/2014/main" id="{B50C9924-6E3E-7044-A6A5-51CD57DB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0" name="Picture 402" descr="antenna_radiation_stylized">
                <a:extLst>
                  <a:ext uri="{FF2B5EF4-FFF2-40B4-BE49-F238E27FC236}">
                    <a16:creationId xmlns:a16="http://schemas.microsoft.com/office/drawing/2014/main" id="{86795628-5D6A-0C42-A6B3-8F63BD7F2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43A1635D-6776-5340-BFDF-600711A109ED}"/>
              </a:ext>
            </a:extLst>
          </p:cNvPr>
          <p:cNvGrpSpPr/>
          <p:nvPr/>
        </p:nvGrpSpPr>
        <p:grpSpPr>
          <a:xfrm>
            <a:off x="4566572" y="5757178"/>
            <a:ext cx="751114" cy="702128"/>
            <a:chOff x="8790214" y="1617209"/>
            <a:chExt cx="1038225" cy="1004887"/>
          </a:xfrm>
        </p:grpSpPr>
        <p:sp>
          <p:nvSpPr>
            <p:cNvPr id="426" name="Oval 23">
              <a:extLst>
                <a:ext uri="{FF2B5EF4-FFF2-40B4-BE49-F238E27FC236}">
                  <a16:creationId xmlns:a16="http://schemas.microsoft.com/office/drawing/2014/main" id="{64AE3E01-A722-F143-9C63-5B4B273C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7" name="Group 361">
              <a:extLst>
                <a:ext uri="{FF2B5EF4-FFF2-40B4-BE49-F238E27FC236}">
                  <a16:creationId xmlns:a16="http://schemas.microsoft.com/office/drawing/2014/main" id="{DC7C5F8C-F556-9A44-8B24-21BD1B11A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34" name="Picture 358" descr="access_point_stylized_small">
                <a:extLst>
                  <a:ext uri="{FF2B5EF4-FFF2-40B4-BE49-F238E27FC236}">
                    <a16:creationId xmlns:a16="http://schemas.microsoft.com/office/drawing/2014/main" id="{99558A3F-FEBA-1A4A-ABB7-B5DF7ECAA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5" name="Picture 360" descr="antenna_radiation_stylized">
                <a:extLst>
                  <a:ext uri="{FF2B5EF4-FFF2-40B4-BE49-F238E27FC236}">
                    <a16:creationId xmlns:a16="http://schemas.microsoft.com/office/drawing/2014/main" id="{CE567380-1149-EF4D-9295-7FCB018D3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8" name="Group 356">
              <a:extLst>
                <a:ext uri="{FF2B5EF4-FFF2-40B4-BE49-F238E27FC236}">
                  <a16:creationId xmlns:a16="http://schemas.microsoft.com/office/drawing/2014/main" id="{415D2D32-9CCA-6D49-94CB-9C8293884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32" name="Picture 354" descr="laptop_stylized_small">
                <a:extLst>
                  <a:ext uri="{FF2B5EF4-FFF2-40B4-BE49-F238E27FC236}">
                    <a16:creationId xmlns:a16="http://schemas.microsoft.com/office/drawing/2014/main" id="{713403ED-F466-B94C-939C-B791CAB5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3" name="Picture 355" descr="antenna_stylized">
                <a:extLst>
                  <a:ext uri="{FF2B5EF4-FFF2-40B4-BE49-F238E27FC236}">
                    <a16:creationId xmlns:a16="http://schemas.microsoft.com/office/drawing/2014/main" id="{DC8233F4-1507-0B4D-BEFF-02CACEFAE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9" name="Group 403">
              <a:extLst>
                <a:ext uri="{FF2B5EF4-FFF2-40B4-BE49-F238E27FC236}">
                  <a16:creationId xmlns:a16="http://schemas.microsoft.com/office/drawing/2014/main" id="{B4FF0B20-F826-764C-9332-5D2A1EE78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30" name="Picture 364" descr="iphone_stylized_small">
                <a:extLst>
                  <a:ext uri="{FF2B5EF4-FFF2-40B4-BE49-F238E27FC236}">
                    <a16:creationId xmlns:a16="http://schemas.microsoft.com/office/drawing/2014/main" id="{C9F91536-9D8F-9F4E-B0B3-44CD95914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1" name="Picture 402" descr="antenna_radiation_stylized">
                <a:extLst>
                  <a:ext uri="{FF2B5EF4-FFF2-40B4-BE49-F238E27FC236}">
                    <a16:creationId xmlns:a16="http://schemas.microsoft.com/office/drawing/2014/main" id="{39AB3849-8279-2747-85F4-95282115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86A389B9-8F54-B449-959E-1BD8825EF998}"/>
              </a:ext>
            </a:extLst>
          </p:cNvPr>
          <p:cNvGrpSpPr/>
          <p:nvPr/>
        </p:nvGrpSpPr>
        <p:grpSpPr>
          <a:xfrm>
            <a:off x="5351681" y="4961119"/>
            <a:ext cx="1707651" cy="736694"/>
            <a:chOff x="3056709" y="2599509"/>
            <a:chExt cx="1707651" cy="736694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6D3AC6-9251-E948-9AD7-CB6AACA87187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BB9A4D78-AA96-664B-A1DF-12C0C7E51781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001E42BB-16EB-1841-A6AE-7104294EFED8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442" name="Rectangle 441">
                  <a:extLst>
                    <a:ext uri="{FF2B5EF4-FFF2-40B4-BE49-F238E27FC236}">
                      <a16:creationId xmlns:a16="http://schemas.microsoft.com/office/drawing/2014/main" id="{692C8361-45AC-474C-B35B-D7E0F5159E56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3" name="Oval 442">
                  <a:extLst>
                    <a:ext uri="{FF2B5EF4-FFF2-40B4-BE49-F238E27FC236}">
                      <a16:creationId xmlns:a16="http://schemas.microsoft.com/office/drawing/2014/main" id="{B29686B0-DBC3-EE42-AA0B-2AF1280FEBC3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4" name="Oval 443">
                  <a:extLst>
                    <a:ext uri="{FF2B5EF4-FFF2-40B4-BE49-F238E27FC236}">
                      <a16:creationId xmlns:a16="http://schemas.microsoft.com/office/drawing/2014/main" id="{42E9F79C-2C78-1B4B-B220-27A3C1C38D32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5" name="Rectangle 444">
                  <a:extLst>
                    <a:ext uri="{FF2B5EF4-FFF2-40B4-BE49-F238E27FC236}">
                      <a16:creationId xmlns:a16="http://schemas.microsoft.com/office/drawing/2014/main" id="{3EF894B5-3205-A444-B464-FFD21DEFBE87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440" name="Can 439">
                <a:extLst>
                  <a:ext uri="{FF2B5EF4-FFF2-40B4-BE49-F238E27FC236}">
                    <a16:creationId xmlns:a16="http://schemas.microsoft.com/office/drawing/2014/main" id="{7EA9FC0D-1BE4-224A-A58E-3866A8EEABDA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441" name="Picture 440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E10AB5F-A5FB-1A40-8C43-345A0E0AEB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DFC788E-C5BF-AA48-86A3-6B5F366BE7C6}"/>
              </a:ext>
            </a:extLst>
          </p:cNvPr>
          <p:cNvGrpSpPr/>
          <p:nvPr/>
        </p:nvGrpSpPr>
        <p:grpSpPr>
          <a:xfrm>
            <a:off x="1266874" y="4533900"/>
            <a:ext cx="1019126" cy="952130"/>
            <a:chOff x="7432700" y="2327293"/>
            <a:chExt cx="534987" cy="407988"/>
          </a:xfrm>
        </p:grpSpPr>
        <p:pic>
          <p:nvPicPr>
            <p:cNvPr id="447" name="Picture 1017" descr="antenna_stylized">
              <a:extLst>
                <a:ext uri="{FF2B5EF4-FFF2-40B4-BE49-F238E27FC236}">
                  <a16:creationId xmlns:a16="http://schemas.microsoft.com/office/drawing/2014/main" id="{AE542E63-9A2B-B44E-843B-0C20DA2CB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8" name="Picture 1018" descr="laptop_keyboard">
              <a:extLst>
                <a:ext uri="{FF2B5EF4-FFF2-40B4-BE49-F238E27FC236}">
                  <a16:creationId xmlns:a16="http://schemas.microsoft.com/office/drawing/2014/main" id="{326B978D-F98F-B546-8E24-D7C5D7471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9" name="Freeform 1019">
              <a:extLst>
                <a:ext uri="{FF2B5EF4-FFF2-40B4-BE49-F238E27FC236}">
                  <a16:creationId xmlns:a16="http://schemas.microsoft.com/office/drawing/2014/main" id="{A637125D-826D-F840-AC90-A4DC5498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50" name="Picture 1020" descr="screen">
              <a:extLst>
                <a:ext uri="{FF2B5EF4-FFF2-40B4-BE49-F238E27FC236}">
                  <a16:creationId xmlns:a16="http://schemas.microsoft.com/office/drawing/2014/main" id="{6F0E0D1A-2347-A74B-B5D7-5C3782D70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" name="Freeform 1021">
              <a:extLst>
                <a:ext uri="{FF2B5EF4-FFF2-40B4-BE49-F238E27FC236}">
                  <a16:creationId xmlns:a16="http://schemas.microsoft.com/office/drawing/2014/main" id="{1EAB11A2-8CE1-5E4A-BCD5-B2E22189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 1022">
              <a:extLst>
                <a:ext uri="{FF2B5EF4-FFF2-40B4-BE49-F238E27FC236}">
                  <a16:creationId xmlns:a16="http://schemas.microsoft.com/office/drawing/2014/main" id="{CB815F07-32FD-0C40-8AB4-1CCF8036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 1023">
              <a:extLst>
                <a:ext uri="{FF2B5EF4-FFF2-40B4-BE49-F238E27FC236}">
                  <a16:creationId xmlns:a16="http://schemas.microsoft.com/office/drawing/2014/main" id="{81A31836-51B2-EF48-A125-37A7E50C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4" name="Freeform 1024">
              <a:extLst>
                <a:ext uri="{FF2B5EF4-FFF2-40B4-BE49-F238E27FC236}">
                  <a16:creationId xmlns:a16="http://schemas.microsoft.com/office/drawing/2014/main" id="{6A0CC77E-7C0A-9141-BB41-E76E31E62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Freeform 1025">
              <a:extLst>
                <a:ext uri="{FF2B5EF4-FFF2-40B4-BE49-F238E27FC236}">
                  <a16:creationId xmlns:a16="http://schemas.microsoft.com/office/drawing/2014/main" id="{C386F23C-8030-5847-AAE2-053FF3E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 1026">
              <a:extLst>
                <a:ext uri="{FF2B5EF4-FFF2-40B4-BE49-F238E27FC236}">
                  <a16:creationId xmlns:a16="http://schemas.microsoft.com/office/drawing/2014/main" id="{DFB858DE-85CF-334A-AC13-866A72F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1027">
              <a:extLst>
                <a:ext uri="{FF2B5EF4-FFF2-40B4-BE49-F238E27FC236}">
                  <a16:creationId xmlns:a16="http://schemas.microsoft.com/office/drawing/2014/main" id="{19C35F65-1EF7-E64F-B8CF-97AD21BF95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464" name="Freeform 1028">
                <a:extLst>
                  <a:ext uri="{FF2B5EF4-FFF2-40B4-BE49-F238E27FC236}">
                    <a16:creationId xmlns:a16="http://schemas.microsoft.com/office/drawing/2014/main" id="{91EAD8C7-BA6E-6042-8AE0-053E7EA5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1029">
                <a:extLst>
                  <a:ext uri="{FF2B5EF4-FFF2-40B4-BE49-F238E27FC236}">
                    <a16:creationId xmlns:a16="http://schemas.microsoft.com/office/drawing/2014/main" id="{8D2D3880-4CF3-594C-89DE-1C528932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1030">
                <a:extLst>
                  <a:ext uri="{FF2B5EF4-FFF2-40B4-BE49-F238E27FC236}">
                    <a16:creationId xmlns:a16="http://schemas.microsoft.com/office/drawing/2014/main" id="{8D68A719-56EE-C941-9A97-C2F785930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1031">
                <a:extLst>
                  <a:ext uri="{FF2B5EF4-FFF2-40B4-BE49-F238E27FC236}">
                    <a16:creationId xmlns:a16="http://schemas.microsoft.com/office/drawing/2014/main" id="{30F32EA2-C02E-5349-B944-0D4D9D6E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1032">
                <a:extLst>
                  <a:ext uri="{FF2B5EF4-FFF2-40B4-BE49-F238E27FC236}">
                    <a16:creationId xmlns:a16="http://schemas.microsoft.com/office/drawing/2014/main" id="{C34FDEAB-61FB-2D43-BDA7-1266A740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1033">
                <a:extLst>
                  <a:ext uri="{FF2B5EF4-FFF2-40B4-BE49-F238E27FC236}">
                    <a16:creationId xmlns:a16="http://schemas.microsoft.com/office/drawing/2014/main" id="{CDE0D39D-80F5-1040-A7A0-AE116439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58" name="Freeform 1034">
              <a:extLst>
                <a:ext uri="{FF2B5EF4-FFF2-40B4-BE49-F238E27FC236}">
                  <a16:creationId xmlns:a16="http://schemas.microsoft.com/office/drawing/2014/main" id="{6A006EB5-142A-884B-BE28-2798675A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 1035">
              <a:extLst>
                <a:ext uri="{FF2B5EF4-FFF2-40B4-BE49-F238E27FC236}">
                  <a16:creationId xmlns:a16="http://schemas.microsoft.com/office/drawing/2014/main" id="{AB7CD916-EAB8-D142-B916-1EBC5646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 1036">
              <a:extLst>
                <a:ext uri="{FF2B5EF4-FFF2-40B4-BE49-F238E27FC236}">
                  <a16:creationId xmlns:a16="http://schemas.microsoft.com/office/drawing/2014/main" id="{11B30E92-FE0D-6D45-805E-26ACAEB7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 1037">
              <a:extLst>
                <a:ext uri="{FF2B5EF4-FFF2-40B4-BE49-F238E27FC236}">
                  <a16:creationId xmlns:a16="http://schemas.microsoft.com/office/drawing/2014/main" id="{18BAAE0C-EED3-4F48-9D1F-CE7279D7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 1038">
              <a:extLst>
                <a:ext uri="{FF2B5EF4-FFF2-40B4-BE49-F238E27FC236}">
                  <a16:creationId xmlns:a16="http://schemas.microsoft.com/office/drawing/2014/main" id="{4DC6716A-D0EB-2344-B5B5-34192B17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 1039">
              <a:extLst>
                <a:ext uri="{FF2B5EF4-FFF2-40B4-BE49-F238E27FC236}">
                  <a16:creationId xmlns:a16="http://schemas.microsoft.com/office/drawing/2014/main" id="{1A91F4BB-2898-9A42-B592-E72FA4340D9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1" name="Rectangle 4">
            <a:extLst>
              <a:ext uri="{FF2B5EF4-FFF2-40B4-BE49-F238E27FC236}">
                <a16:creationId xmlns:a16="http://schemas.microsoft.com/office/drawing/2014/main" id="{D1FEE552-BC4D-614B-8800-A433A11E6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0550" y="1557329"/>
            <a:ext cx="5977720" cy="8446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ISP/WiFi: no notion of global  “home”</a:t>
            </a:r>
          </a:p>
          <a:p>
            <a:pPr marL="517525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473" name="Rectangle 4">
            <a:extLst>
              <a:ext uri="{FF2B5EF4-FFF2-40B4-BE49-F238E27FC236}">
                <a16:creationId xmlns:a16="http://schemas.microsoft.com/office/drawing/2014/main" id="{8CB29973-307B-A240-945D-CD00F0822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268" y="2009981"/>
            <a:ext cx="4424149" cy="40928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credentials from ISP (e.g., username, password) stored on device or with user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ISPs may have national, international presence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different networks: different credentials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cs typeface="+mn-cs"/>
              </a:rPr>
              <a:t>some exceptions (e.g., eduroam)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architectures exist (mobile IP) for 4G-like mobility, but not used</a:t>
            </a:r>
            <a:endParaRPr lang="en-US" sz="2400" dirty="0">
              <a:cs typeface="+mn-cs"/>
            </a:endParaRPr>
          </a:p>
          <a:p>
            <a:pPr marL="860425" lvl="1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38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generic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F1AECB1-AC73-5545-BF06-CD7027918FB7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9BDBC390-BAD0-5A42-B7A6-4075B2606878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138998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66" grpId="0"/>
      <p:bldP spid="204" grpId="0"/>
      <p:bldP spid="15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sp>
        <p:nvSpPr>
          <p:cNvPr id="69" name="Rectangle 22">
            <a:extLst>
              <a:ext uri="{FF2B5EF4-FFF2-40B4-BE49-F238E27FC236}">
                <a16:creationId xmlns:a16="http://schemas.microsoft.com/office/drawing/2014/main" id="{3C0793A8-3B36-744C-8476-1985E3A78602}"/>
              </a:ext>
            </a:extLst>
          </p:cNvPr>
          <p:cNvSpPr txBox="1">
            <a:spLocks noChangeArrowheads="1"/>
          </p:cNvSpPr>
          <p:nvPr/>
        </p:nvSpPr>
        <p:spPr>
          <a:xfrm>
            <a:off x="939114" y="4744995"/>
            <a:ext cx="7772400" cy="14704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end result:</a:t>
            </a:r>
          </a:p>
          <a:p>
            <a:pPr marL="517525" indent="-271463">
              <a:spcBef>
                <a:spcPts val="600"/>
              </a:spcBef>
              <a:defRPr/>
            </a:pPr>
            <a:r>
              <a:rPr lang="en-US" dirty="0"/>
              <a:t>visited mobility manager knows about mobile</a:t>
            </a:r>
          </a:p>
          <a:p>
            <a:pPr marL="517525" indent="-271463">
              <a:spcBef>
                <a:spcPts val="0"/>
              </a:spcBef>
              <a:defRPr/>
            </a:pPr>
            <a:r>
              <a:rPr lang="en-US" dirty="0"/>
              <a:t>home HSS knows location of mobile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62E789E-B681-7146-B2FD-D5E6739345F6}"/>
              </a:ext>
            </a:extLst>
          </p:cNvPr>
          <p:cNvGrpSpPr/>
          <p:nvPr/>
        </p:nvGrpSpPr>
        <p:grpSpPr>
          <a:xfrm>
            <a:off x="5325762" y="2486788"/>
            <a:ext cx="6627514" cy="2161709"/>
            <a:chOff x="5325762" y="2486788"/>
            <a:chExt cx="6627514" cy="2161709"/>
          </a:xfrm>
        </p:grpSpPr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B0A1B7D-D016-6B49-83CF-67CB3F28EC01}"/>
                </a:ext>
              </a:extLst>
            </p:cNvPr>
            <p:cNvGrpSpPr/>
            <p:nvPr/>
          </p:nvGrpSpPr>
          <p:grpSpPr>
            <a:xfrm>
              <a:off x="5325762" y="2486788"/>
              <a:ext cx="2557848" cy="400110"/>
              <a:chOff x="8649730" y="4550367"/>
              <a:chExt cx="2557848" cy="400110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C0542208-4BF3-7542-BBEE-563DE9383C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9730" y="4757351"/>
                <a:ext cx="2557848" cy="0"/>
              </a:xfrm>
              <a:prstGeom prst="straightConnector1">
                <a:avLst/>
              </a:prstGeom>
              <a:ln w="254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649A4FE0-CE39-0742-8223-6BA980B96F0A}"/>
                  </a:ext>
                </a:extLst>
              </p:cNvPr>
              <p:cNvGrpSpPr/>
              <p:nvPr/>
            </p:nvGrpSpPr>
            <p:grpSpPr>
              <a:xfrm>
                <a:off x="9376891" y="4550367"/>
                <a:ext cx="320675" cy="400110"/>
                <a:chOff x="7581042" y="5188800"/>
                <a:chExt cx="320675" cy="400110"/>
              </a:xfrm>
            </p:grpSpPr>
            <p:sp>
              <p:nvSpPr>
                <p:cNvPr id="84" name="Oval 124">
                  <a:extLst>
                    <a:ext uri="{FF2B5EF4-FFF2-40B4-BE49-F238E27FC236}">
                      <a16:creationId xmlns:a16="http://schemas.microsoft.com/office/drawing/2014/main" id="{D32D593A-E821-FE43-9485-898BC148F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85" name="Text Box 125">
                  <a:extLst>
                    <a:ext uri="{FF2B5EF4-FFF2-40B4-BE49-F238E27FC236}">
                      <a16:creationId xmlns:a16="http://schemas.microsoft.com/office/drawing/2014/main" id="{08BF6377-30D3-C64A-A34A-A3A9EFCAB7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2</a:t>
                  </a: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8A7437C-0723-A044-B124-69CEBB3865DC}"/>
                </a:ext>
              </a:extLst>
            </p:cNvPr>
            <p:cNvGrpSpPr/>
            <p:nvPr/>
          </p:nvGrpSpPr>
          <p:grpSpPr>
            <a:xfrm>
              <a:off x="6339017" y="2852478"/>
              <a:ext cx="5614259" cy="1796019"/>
              <a:chOff x="6174260" y="1414976"/>
              <a:chExt cx="5614259" cy="1796019"/>
            </a:xfrm>
          </p:grpSpPr>
          <p:sp>
            <p:nvSpPr>
              <p:cNvPr id="80" name="Text Box 126">
                <a:extLst>
                  <a:ext uri="{FF2B5EF4-FFF2-40B4-BE49-F238E27FC236}">
                    <a16:creationId xmlns:a16="http://schemas.microsoft.com/office/drawing/2014/main" id="{EB87002D-8781-CD43-9CCE-69B3A96D82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70731" y="1789067"/>
                <a:ext cx="2617788" cy="14219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defRPr/>
                </a:pPr>
                <a:r>
                  <a:rPr lang="en-US" sz="2400" dirty="0">
                    <a:latin typeface="+mn-lt"/>
                    <a:cs typeface="Arial" charset="0"/>
                  </a:rPr>
                  <a:t>visited mobility manager </a:t>
                </a:r>
                <a:r>
                  <a:rPr lang="en-US" sz="2400" i="1" dirty="0">
                    <a:solidFill>
                      <a:srgbClr val="011199"/>
                    </a:solidFill>
                    <a:latin typeface="+mn-lt"/>
                    <a:cs typeface="Arial" charset="0"/>
                  </a:rPr>
                  <a:t>registers</a:t>
                </a:r>
                <a:r>
                  <a:rPr lang="en-US" sz="2400" dirty="0">
                    <a:latin typeface="+mn-lt"/>
                    <a:cs typeface="Arial" charset="0"/>
                  </a:rPr>
                  <a:t> mobile’s location with home HSS</a:t>
                </a:r>
              </a:p>
            </p:txBody>
          </p:sp>
          <p:sp>
            <p:nvSpPr>
              <p:cNvPr id="81" name="Line 127">
                <a:extLst>
                  <a:ext uri="{FF2B5EF4-FFF2-40B4-BE49-F238E27FC236}">
                    <a16:creationId xmlns:a16="http://schemas.microsoft.com/office/drawing/2014/main" id="{8ACAB241-A9FA-894E-92D1-8FDC34CBC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74260" y="1414976"/>
                <a:ext cx="2977978" cy="570344"/>
              </a:xfrm>
              <a:prstGeom prst="line">
                <a:avLst/>
              </a:prstGeom>
              <a:noFill/>
              <a:ln w="1270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0BD3E4-FE4D-954A-BAE0-1BCA3612E586}"/>
              </a:ext>
            </a:extLst>
          </p:cNvPr>
          <p:cNvGrpSpPr/>
          <p:nvPr/>
        </p:nvGrpSpPr>
        <p:grpSpPr>
          <a:xfrm>
            <a:off x="7216346" y="1999134"/>
            <a:ext cx="4738000" cy="1089529"/>
            <a:chOff x="7216346" y="1999134"/>
            <a:chExt cx="4738000" cy="1089529"/>
          </a:xfrm>
        </p:grpSpPr>
        <p:sp>
          <p:nvSpPr>
            <p:cNvPr id="73" name="Text Box 126">
              <a:extLst>
                <a:ext uri="{FF2B5EF4-FFF2-40B4-BE49-F238E27FC236}">
                  <a16:creationId xmlns:a16="http://schemas.microsoft.com/office/drawing/2014/main" id="{1269B2BC-1688-044C-9022-A969D0775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558" y="1999134"/>
              <a:ext cx="2617788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mobile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associates</a:t>
              </a:r>
              <a:r>
                <a:rPr lang="en-US" sz="2400" dirty="0">
                  <a:latin typeface="+mn-lt"/>
                  <a:cs typeface="Arial" charset="0"/>
                </a:rPr>
                <a:t> with visited mobility manager</a:t>
              </a: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8FE0DC6-9BA2-F541-8C04-5DC68DC3010A}"/>
                </a:ext>
              </a:extLst>
            </p:cNvPr>
            <p:cNvGrpSpPr/>
            <p:nvPr/>
          </p:nvGrpSpPr>
          <p:grpSpPr>
            <a:xfrm>
              <a:off x="7216346" y="2013113"/>
              <a:ext cx="605481" cy="445881"/>
              <a:chOff x="7216346" y="2013113"/>
              <a:chExt cx="605481" cy="445881"/>
            </a:xfrm>
          </p:grpSpPr>
          <p:sp>
            <p:nvSpPr>
              <p:cNvPr id="86" name="Line 122">
                <a:extLst>
                  <a:ext uri="{FF2B5EF4-FFF2-40B4-BE49-F238E27FC236}">
                    <a16:creationId xmlns:a16="http://schemas.microsoft.com/office/drawing/2014/main" id="{86BE8E76-117C-DD4C-AD58-31C4A1EAF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16346" y="2026508"/>
                <a:ext cx="605481" cy="432486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71" name="Group 70">
                <a:extLst>
                  <a:ext uri="{FF2B5EF4-FFF2-40B4-BE49-F238E27FC236}">
                    <a16:creationId xmlns:a16="http://schemas.microsoft.com/office/drawing/2014/main" id="{AC546F72-1250-EC41-AB15-D44C49455C90}"/>
                  </a:ext>
                </a:extLst>
              </p:cNvPr>
              <p:cNvGrpSpPr/>
              <p:nvPr/>
            </p:nvGrpSpPr>
            <p:grpSpPr>
              <a:xfrm>
                <a:off x="7358621" y="2013113"/>
                <a:ext cx="320675" cy="400110"/>
                <a:chOff x="7581042" y="5188800"/>
                <a:chExt cx="320675" cy="400110"/>
              </a:xfrm>
            </p:grpSpPr>
            <p:sp>
              <p:nvSpPr>
                <p:cNvPr id="75" name="Oval 124">
                  <a:extLst>
                    <a:ext uri="{FF2B5EF4-FFF2-40B4-BE49-F238E27FC236}">
                      <a16:creationId xmlns:a16="http://schemas.microsoft.com/office/drawing/2014/main" id="{7659E1CD-C1C3-5446-9569-C9DDC5DDE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76" name="Text Box 125">
                  <a:extLst>
                    <a:ext uri="{FF2B5EF4-FFF2-40B4-BE49-F238E27FC236}">
                      <a16:creationId xmlns:a16="http://schemas.microsoft.com/office/drawing/2014/main" id="{41D97DCC-4813-DF47-AD7A-EF1D315372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1</a:t>
                  </a:r>
                </a:p>
              </p:txBody>
            </p:sp>
          </p:grp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2496A45-33F2-A845-9D26-07A350BC82C3}"/>
                </a:ext>
              </a:extLst>
            </p:cNvPr>
            <p:cNvCxnSpPr>
              <a:cxnSpLocks/>
            </p:cNvCxnSpPr>
            <p:nvPr/>
          </p:nvCxnSpPr>
          <p:spPr>
            <a:xfrm>
              <a:off x="7735330" y="2199502"/>
              <a:ext cx="1569308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itle 2">
            <a:extLst>
              <a:ext uri="{FF2B5EF4-FFF2-40B4-BE49-F238E27FC236}">
                <a16:creationId xmlns:a16="http://schemas.microsoft.com/office/drawing/2014/main" id="{992DA82E-9A73-2948-83D9-485365515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38878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Registration: home needs to know where you are!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D9D720B-391B-8E45-895B-B6D9E62A2162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325712-B497-4B4A-AAFD-6043AE7EBA6F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2594977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CDF9A25-948E-DF45-A460-5FF04CB84A84}"/>
              </a:ext>
            </a:extLst>
          </p:cNvPr>
          <p:cNvGrpSpPr/>
          <p:nvPr/>
        </p:nvGrpSpPr>
        <p:grpSpPr>
          <a:xfrm>
            <a:off x="741921" y="4646142"/>
            <a:ext cx="4287279" cy="1582254"/>
            <a:chOff x="704850" y="4250726"/>
            <a:chExt cx="4287279" cy="1582254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850" y="4743451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uses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address as datagram destination address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53015" y="4250726"/>
              <a:ext cx="939114" cy="70433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ED4DDB9-1A10-2042-8AB0-207A561B4622}"/>
              </a:ext>
            </a:extLst>
          </p:cNvPr>
          <p:cNvGrpSpPr/>
          <p:nvPr/>
        </p:nvGrpSpPr>
        <p:grpSpPr>
          <a:xfrm>
            <a:off x="370745" y="3410339"/>
            <a:ext cx="4891720" cy="1625716"/>
            <a:chOff x="370745" y="3410339"/>
            <a:chExt cx="4891720" cy="1625716"/>
          </a:xfrm>
        </p:grpSpPr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1763587A-5CF8-B64D-A794-820B4B8C4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745" y="3946526"/>
              <a:ext cx="3830551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home gateway receives datagram, forwards (tunnels)  to remote gateway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8D6F4AD8-4F2D-3546-8400-949BFAB82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72250" y="3410339"/>
              <a:ext cx="1790215" cy="82802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1001BFB-F729-9446-A2C0-7037F1487006}"/>
              </a:ext>
            </a:extLst>
          </p:cNvPr>
          <p:cNvGrpSpPr/>
          <p:nvPr/>
        </p:nvGrpSpPr>
        <p:grpSpPr>
          <a:xfrm>
            <a:off x="4584357" y="3115736"/>
            <a:ext cx="2137719" cy="369332"/>
            <a:chOff x="4534929" y="3177521"/>
            <a:chExt cx="2137719" cy="369332"/>
          </a:xfrm>
        </p:grpSpPr>
        <p:cxnSp>
          <p:nvCxnSpPr>
            <p:cNvPr id="98" name="Straight Arrow Connector 97">
              <a:extLst>
                <a:ext uri="{FF2B5EF4-FFF2-40B4-BE49-F238E27FC236}">
                  <a16:creationId xmlns:a16="http://schemas.microsoft.com/office/drawing/2014/main" id="{2DB81F6A-4D6E-E245-9F9B-CB69935DA108}"/>
                </a:ext>
              </a:extLst>
            </p:cNvPr>
            <p:cNvCxnSpPr>
              <a:cxnSpLocks/>
            </p:cNvCxnSpPr>
            <p:nvPr/>
          </p:nvCxnSpPr>
          <p:spPr>
            <a:xfrm>
              <a:off x="4534929" y="3299255"/>
              <a:ext cx="2137719" cy="222422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69F105C-1731-AD4D-8A7D-ECB8BA5725D2}"/>
                </a:ext>
              </a:extLst>
            </p:cNvPr>
            <p:cNvGrpSpPr/>
            <p:nvPr/>
          </p:nvGrpSpPr>
          <p:grpSpPr>
            <a:xfrm>
              <a:off x="5252793" y="3177521"/>
              <a:ext cx="318711" cy="369332"/>
              <a:chOff x="201265" y="5990352"/>
              <a:chExt cx="318711" cy="369332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349D114-71E8-5F42-A13A-784BA999E2ED}"/>
                  </a:ext>
                </a:extLst>
              </p:cNvPr>
              <p:cNvSpPr/>
              <p:nvPr/>
            </p:nvSpPr>
            <p:spPr>
              <a:xfrm>
                <a:off x="201265" y="603138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A6EA962-9CB9-C54C-842E-6EB5A19EE881}"/>
                  </a:ext>
                </a:extLst>
              </p:cNvPr>
              <p:cNvSpPr txBox="1"/>
              <p:nvPr/>
            </p:nvSpPr>
            <p:spPr>
              <a:xfrm>
                <a:off x="208933" y="5990352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6F3B3C5-001A-7A47-BBDD-583E844F012D}"/>
              </a:ext>
            </a:extLst>
          </p:cNvPr>
          <p:cNvGrpSpPr/>
          <p:nvPr/>
        </p:nvGrpSpPr>
        <p:grpSpPr>
          <a:xfrm>
            <a:off x="4704570" y="3409989"/>
            <a:ext cx="2054831" cy="1741728"/>
            <a:chOff x="4704570" y="3409989"/>
            <a:chExt cx="2054831" cy="1741728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2498F2C-8AE6-714C-A69C-8B8005F507FC}"/>
                </a:ext>
              </a:extLst>
            </p:cNvPr>
            <p:cNvSpPr/>
            <p:nvPr/>
          </p:nvSpPr>
          <p:spPr>
            <a:xfrm>
              <a:off x="4704570" y="3427364"/>
              <a:ext cx="2019342" cy="1724353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1081882 w 2019342"/>
                <a:gd name="connsiteY0" fmla="*/ 1662569 h 1662569"/>
                <a:gd name="connsiteX1" fmla="*/ 0 w 2019342"/>
                <a:gd name="connsiteY1" fmla="*/ 0 h 1662569"/>
                <a:gd name="connsiteX2" fmla="*/ 2019342 w 2019342"/>
                <a:gd name="connsiteY2" fmla="*/ 212452 h 1662569"/>
                <a:gd name="connsiteX0" fmla="*/ 1180736 w 2019342"/>
                <a:gd name="connsiteY0" fmla="*/ 1724353 h 1724353"/>
                <a:gd name="connsiteX1" fmla="*/ 0 w 2019342"/>
                <a:gd name="connsiteY1" fmla="*/ 0 h 1724353"/>
                <a:gd name="connsiteX2" fmla="*/ 2019342 w 2019342"/>
                <a:gd name="connsiteY2" fmla="*/ 212452 h 17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9342" h="1724353">
                  <a:moveTo>
                    <a:pt x="1180736" y="1724353"/>
                  </a:moveTo>
                  <a:cubicBezTo>
                    <a:pt x="1011576" y="1508613"/>
                    <a:pt x="53322" y="171133"/>
                    <a:pt x="0" y="0"/>
                  </a:cubicBezTo>
                  <a:cubicBezTo>
                    <a:pt x="142553" y="5776"/>
                    <a:pt x="1613826" y="156754"/>
                    <a:pt x="2019342" y="212452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BC9A9D5-A533-D94B-A7E6-664DBB37CA06}"/>
                </a:ext>
              </a:extLst>
            </p:cNvPr>
            <p:cNvSpPr/>
            <p:nvPr/>
          </p:nvSpPr>
          <p:spPr>
            <a:xfrm>
              <a:off x="6025968" y="3716938"/>
              <a:ext cx="733433" cy="1379498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0 w 533072"/>
                <a:gd name="connsiteY0" fmla="*/ 1108934 h 1108934"/>
                <a:gd name="connsiteX1" fmla="*/ 533072 w 533072"/>
                <a:gd name="connsiteY1" fmla="*/ 0 h 1108934"/>
                <a:gd name="connsiteX0" fmla="*/ 0 w 520435"/>
                <a:gd name="connsiteY0" fmla="*/ 1014161 h 1014161"/>
                <a:gd name="connsiteX1" fmla="*/ 520435 w 520435"/>
                <a:gd name="connsiteY1" fmla="*/ 0 h 1014161"/>
                <a:gd name="connsiteX0" fmla="*/ 0 w 886911"/>
                <a:gd name="connsiteY0" fmla="*/ 1336389 h 1336389"/>
                <a:gd name="connsiteX1" fmla="*/ 886911 w 886911"/>
                <a:gd name="connsiteY1" fmla="*/ 0 h 1336389"/>
                <a:gd name="connsiteX0" fmla="*/ 0 w 931141"/>
                <a:gd name="connsiteY0" fmla="*/ 1330071 h 1330071"/>
                <a:gd name="connsiteX1" fmla="*/ 931141 w 931141"/>
                <a:gd name="connsiteY1" fmla="*/ 0 h 1330071"/>
                <a:gd name="connsiteX0" fmla="*/ 0 w 733433"/>
                <a:gd name="connsiteY0" fmla="*/ 1379498 h 1379498"/>
                <a:gd name="connsiteX1" fmla="*/ 733433 w 733433"/>
                <a:gd name="connsiteY1" fmla="*/ 0 h 137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433" h="1379498">
                  <a:moveTo>
                    <a:pt x="0" y="1379498"/>
                  </a:moveTo>
                  <a:cubicBezTo>
                    <a:pt x="310380" y="936141"/>
                    <a:pt x="423053" y="443357"/>
                    <a:pt x="733433" y="0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04B8BBA-F5B2-DA4A-8028-9E922E0EEDAA}"/>
                </a:ext>
              </a:extLst>
            </p:cNvPr>
            <p:cNvGrpSpPr/>
            <p:nvPr/>
          </p:nvGrpSpPr>
          <p:grpSpPr>
            <a:xfrm>
              <a:off x="5840610" y="3409989"/>
              <a:ext cx="464084" cy="369332"/>
              <a:chOff x="4620433" y="4568517"/>
              <a:chExt cx="464084" cy="369332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A0061C8-4418-9A4E-ACB6-879E10712810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972D838E-55A2-194E-A51D-E329C55C51E8}"/>
                  </a:ext>
                </a:extLst>
              </p:cNvPr>
              <p:cNvSpPr txBox="1"/>
              <p:nvPr/>
            </p:nvSpPr>
            <p:spPr>
              <a:xfrm>
                <a:off x="4620433" y="456851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4a</a:t>
                </a: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BEF2FF40-530D-A040-991B-F5101F3D7955}"/>
                </a:ext>
              </a:extLst>
            </p:cNvPr>
            <p:cNvGrpSpPr/>
            <p:nvPr/>
          </p:nvGrpSpPr>
          <p:grpSpPr>
            <a:xfrm>
              <a:off x="6032356" y="4558079"/>
              <a:ext cx="464084" cy="369332"/>
              <a:chOff x="4604558" y="4574867"/>
              <a:chExt cx="464084" cy="369332"/>
            </a:xfrm>
          </p:grpSpPr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35E0ED51-7040-F84F-BCB0-57949432F4CB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A60306B-6194-444D-B073-1650D30F3D45}"/>
                  </a:ext>
                </a:extLst>
              </p:cNvPr>
              <p:cNvSpPr txBox="1"/>
              <p:nvPr/>
            </p:nvSpPr>
            <p:spPr>
              <a:xfrm>
                <a:off x="4604558" y="457486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4b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/>
            <p:nvPr/>
          </p:nvCxnSpPr>
          <p:spPr>
            <a:xfrm>
              <a:off x="7834184" y="269377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F7E5C9E-5D05-D741-8FBC-C346AA9FBCE0}"/>
              </a:ext>
            </a:extLst>
          </p:cNvPr>
          <p:cNvGrpSpPr/>
          <p:nvPr/>
        </p:nvGrpSpPr>
        <p:grpSpPr>
          <a:xfrm>
            <a:off x="6760175" y="4032422"/>
            <a:ext cx="5301049" cy="1761944"/>
            <a:chOff x="6598508" y="1989438"/>
            <a:chExt cx="5301049" cy="176194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A7F1DE8-477D-B945-B7F0-3DD2EB634E9F}"/>
                </a:ext>
              </a:extLst>
            </p:cNvPr>
            <p:cNvSpPr txBox="1"/>
            <p:nvPr/>
          </p:nvSpPr>
          <p:spPr>
            <a:xfrm>
              <a:off x="7615881" y="2384854"/>
              <a:ext cx="4283676" cy="13665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reply to correspondent via home network (4a) or directly (4b)</a:t>
              </a:r>
            </a:p>
            <a:p>
              <a:endParaRPr lang="en-US" dirty="0"/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AAF43734-07B0-4E47-B538-7C3FD63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598508" y="1989438"/>
              <a:ext cx="1054444" cy="60136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5251621" y="4691746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40" name="Group 201">
            <a:extLst>
              <a:ext uri="{FF2B5EF4-FFF2-40B4-BE49-F238E27FC236}">
                <a16:creationId xmlns:a16="http://schemas.microsoft.com/office/drawing/2014/main" id="{A82965DD-13BE-154C-A612-FDB3340B17CB}"/>
              </a:ext>
            </a:extLst>
          </p:cNvPr>
          <p:cNvGrpSpPr>
            <a:grpSpLocks/>
          </p:cNvGrpSpPr>
          <p:nvPr/>
        </p:nvGrpSpPr>
        <p:grpSpPr bwMode="auto">
          <a:xfrm>
            <a:off x="6602626" y="3497259"/>
            <a:ext cx="358347" cy="362168"/>
            <a:chOff x="375561" y="297711"/>
            <a:chExt cx="1252683" cy="213836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1069D72-0BEF-CD49-80E1-B0B7FA3042F7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D7C30C9-5CD1-F442-906F-7107A904396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7DFB986-BE0D-184A-9AB9-D3D9D27D6AD6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768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44660B0-B1C7-EC47-A4FF-C31002FDA0F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5612027" cy="1451659"/>
          </a:xfrm>
        </p:spPr>
        <p:txBody>
          <a:bodyPr>
            <a:normAutofit/>
          </a:bodyPr>
          <a:lstStyle/>
          <a:p>
            <a:r>
              <a:rPr lang="en-US" dirty="0"/>
              <a:t>triangle routing:</a:t>
            </a:r>
          </a:p>
          <a:p>
            <a:pPr lvl="1"/>
            <a:r>
              <a:rPr lang="en-US" sz="2800" dirty="0"/>
              <a:t>inefficient when correspondent and mobile are in same network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171" name="Content Placeholder 1">
            <a:extLst>
              <a:ext uri="{FF2B5EF4-FFF2-40B4-BE49-F238E27FC236}">
                <a16:creationId xmlns:a16="http://schemas.microsoft.com/office/drawing/2014/main" id="{849E3BC1-CD52-9F4C-8EC5-72D5FA2A4513}"/>
              </a:ext>
            </a:extLst>
          </p:cNvPr>
          <p:cNvSpPr txBox="1">
            <a:spLocks/>
          </p:cNvSpPr>
          <p:nvPr/>
        </p:nvSpPr>
        <p:spPr>
          <a:xfrm>
            <a:off x="891745" y="3173884"/>
            <a:ext cx="10773033" cy="31404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mobile moves among visited networks: transparent to correspondent!</a:t>
            </a:r>
          </a:p>
          <a:p>
            <a:pPr lvl="1">
              <a:defRPr/>
            </a:pPr>
            <a:r>
              <a:rPr lang="en-US" sz="2800" dirty="0"/>
              <a:t>registers in new visited network</a:t>
            </a:r>
          </a:p>
          <a:p>
            <a:pPr lvl="1">
              <a:defRPr/>
            </a:pPr>
            <a:r>
              <a:rPr lang="en-US" sz="2800" dirty="0"/>
              <a:t>new visited network registers with home HSS</a:t>
            </a:r>
          </a:p>
          <a:p>
            <a:pPr lvl="1">
              <a:defRPr/>
            </a:pPr>
            <a:r>
              <a:rPr lang="en-US" sz="2800" dirty="0"/>
              <a:t>datagrams continue to be forwarded from home network to mobile in new network  </a:t>
            </a:r>
          </a:p>
          <a:p>
            <a:pPr lvl="1">
              <a:defRPr/>
            </a:pPr>
            <a:r>
              <a:rPr lang="en-US" sz="2800" i="1" dirty="0">
                <a:solidFill>
                  <a:srgbClr val="011199"/>
                </a:solidFill>
              </a:rPr>
              <a:t>on-going (e.g., TCP) connections between correspondent and mobile can be maintained!</a:t>
            </a:r>
          </a:p>
          <a:p>
            <a:endParaRPr lang="en-US" dirty="0"/>
          </a:p>
          <a:p>
            <a:pPr marL="463550" lvl="1" indent="0">
              <a:buFont typeface="Arial" panose="020B0604020202020204" pitchFamily="34" charset="0"/>
              <a:buNone/>
            </a:pPr>
            <a:endParaRPr lang="en-US" dirty="0"/>
          </a:p>
          <a:p>
            <a:endParaRPr lang="en-US" dirty="0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A50DC78-A347-0D47-88E3-D499829F9A72}"/>
              </a:ext>
            </a:extLst>
          </p:cNvPr>
          <p:cNvGrpSpPr/>
          <p:nvPr/>
        </p:nvGrpSpPr>
        <p:grpSpPr>
          <a:xfrm>
            <a:off x="7249726" y="1470453"/>
            <a:ext cx="2295440" cy="1485237"/>
            <a:chOff x="2733837" y="1551322"/>
            <a:chExt cx="6172468" cy="4493558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F1EBF5C8-49E1-AF4C-9EC4-87A2C48A9097}"/>
                </a:ext>
              </a:extLst>
            </p:cNvPr>
            <p:cNvSpPr/>
            <p:nvPr/>
          </p:nvSpPr>
          <p:spPr>
            <a:xfrm>
              <a:off x="2733837" y="1585690"/>
              <a:ext cx="2536501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  <a:gd name="connsiteX0" fmla="*/ 910971 w 2491918"/>
                <a:gd name="connsiteY0" fmla="*/ 57599 h 2518288"/>
                <a:gd name="connsiteX1" fmla="*/ 459082 w 2491918"/>
                <a:gd name="connsiteY1" fmla="*/ 200298 h 2518288"/>
                <a:gd name="connsiteX2" fmla="*/ 154652 w 2491918"/>
                <a:gd name="connsiteY2" fmla="*/ 647420 h 2518288"/>
                <a:gd name="connsiteX3" fmla="*/ 7194 w 2491918"/>
                <a:gd name="connsiteY3" fmla="*/ 1151621 h 2518288"/>
                <a:gd name="connsiteX4" fmla="*/ 50004 w 2491918"/>
                <a:gd name="connsiteY4" fmla="*/ 1679605 h 2518288"/>
                <a:gd name="connsiteX5" fmla="*/ 283084 w 2491918"/>
                <a:gd name="connsiteY5" fmla="*/ 2236129 h 2518288"/>
                <a:gd name="connsiteX6" fmla="*/ 929997 w 2491918"/>
                <a:gd name="connsiteY6" fmla="*/ 2502500 h 2518288"/>
                <a:gd name="connsiteX7" fmla="*/ 1434210 w 2491918"/>
                <a:gd name="connsiteY7" fmla="*/ 2483473 h 2518288"/>
                <a:gd name="connsiteX8" fmla="*/ 1919395 w 2491918"/>
                <a:gd name="connsiteY8" fmla="*/ 2450177 h 2518288"/>
                <a:gd name="connsiteX9" fmla="*/ 2380797 w 2491918"/>
                <a:gd name="connsiteY9" fmla="*/ 1831817 h 2518288"/>
                <a:gd name="connsiteX10" fmla="*/ 2471174 w 2491918"/>
                <a:gd name="connsiteY10" fmla="*/ 1246753 h 2518288"/>
                <a:gd name="connsiteX11" fmla="*/ 2452444 w 2491918"/>
                <a:gd name="connsiteY11" fmla="*/ 688289 h 2518288"/>
                <a:gd name="connsiteX12" fmla="*/ 2066853 w 2491918"/>
                <a:gd name="connsiteY12" fmla="*/ 371536 h 2518288"/>
                <a:gd name="connsiteX13" fmla="*/ 1838531 w 2491918"/>
                <a:gd name="connsiteY13" fmla="*/ 86139 h 2518288"/>
                <a:gd name="connsiteX14" fmla="*/ 1258211 w 2491918"/>
                <a:gd name="connsiteY14" fmla="*/ 520 h 2518288"/>
                <a:gd name="connsiteX15" fmla="*/ 910971 w 2491918"/>
                <a:gd name="connsiteY15" fmla="*/ 57599 h 2518288"/>
                <a:gd name="connsiteX0" fmla="*/ 910971 w 2518269"/>
                <a:gd name="connsiteY0" fmla="*/ 57599 h 2518288"/>
                <a:gd name="connsiteX1" fmla="*/ 459082 w 2518269"/>
                <a:gd name="connsiteY1" fmla="*/ 200298 h 2518288"/>
                <a:gd name="connsiteX2" fmla="*/ 154652 w 2518269"/>
                <a:gd name="connsiteY2" fmla="*/ 647420 h 2518288"/>
                <a:gd name="connsiteX3" fmla="*/ 7194 w 2518269"/>
                <a:gd name="connsiteY3" fmla="*/ 1151621 h 2518288"/>
                <a:gd name="connsiteX4" fmla="*/ 50004 w 2518269"/>
                <a:gd name="connsiteY4" fmla="*/ 1679605 h 2518288"/>
                <a:gd name="connsiteX5" fmla="*/ 283084 w 2518269"/>
                <a:gd name="connsiteY5" fmla="*/ 2236129 h 2518288"/>
                <a:gd name="connsiteX6" fmla="*/ 929997 w 2518269"/>
                <a:gd name="connsiteY6" fmla="*/ 2502500 h 2518288"/>
                <a:gd name="connsiteX7" fmla="*/ 1434210 w 2518269"/>
                <a:gd name="connsiteY7" fmla="*/ 2483473 h 2518288"/>
                <a:gd name="connsiteX8" fmla="*/ 1919395 w 2518269"/>
                <a:gd name="connsiteY8" fmla="*/ 2450177 h 2518288"/>
                <a:gd name="connsiteX9" fmla="*/ 2380797 w 2518269"/>
                <a:gd name="connsiteY9" fmla="*/ 1831817 h 2518288"/>
                <a:gd name="connsiteX10" fmla="*/ 2471174 w 2518269"/>
                <a:gd name="connsiteY10" fmla="*/ 1246753 h 2518288"/>
                <a:gd name="connsiteX11" fmla="*/ 2452444 w 2518269"/>
                <a:gd name="connsiteY11" fmla="*/ 688289 h 2518288"/>
                <a:gd name="connsiteX12" fmla="*/ 2066853 w 2518269"/>
                <a:gd name="connsiteY12" fmla="*/ 371536 h 2518288"/>
                <a:gd name="connsiteX13" fmla="*/ 1838531 w 2518269"/>
                <a:gd name="connsiteY13" fmla="*/ 86139 h 2518288"/>
                <a:gd name="connsiteX14" fmla="*/ 1258211 w 2518269"/>
                <a:gd name="connsiteY14" fmla="*/ 520 h 2518288"/>
                <a:gd name="connsiteX15" fmla="*/ 910971 w 2518269"/>
                <a:gd name="connsiteY15" fmla="*/ 57599 h 2518288"/>
                <a:gd name="connsiteX0" fmla="*/ 910971 w 2536501"/>
                <a:gd name="connsiteY0" fmla="*/ 57599 h 2518288"/>
                <a:gd name="connsiteX1" fmla="*/ 459082 w 2536501"/>
                <a:gd name="connsiteY1" fmla="*/ 200298 h 2518288"/>
                <a:gd name="connsiteX2" fmla="*/ 154652 w 2536501"/>
                <a:gd name="connsiteY2" fmla="*/ 647420 h 2518288"/>
                <a:gd name="connsiteX3" fmla="*/ 7194 w 2536501"/>
                <a:gd name="connsiteY3" fmla="*/ 1151621 h 2518288"/>
                <a:gd name="connsiteX4" fmla="*/ 50004 w 2536501"/>
                <a:gd name="connsiteY4" fmla="*/ 1679605 h 2518288"/>
                <a:gd name="connsiteX5" fmla="*/ 283084 w 2536501"/>
                <a:gd name="connsiteY5" fmla="*/ 2236129 h 2518288"/>
                <a:gd name="connsiteX6" fmla="*/ 929997 w 2536501"/>
                <a:gd name="connsiteY6" fmla="*/ 2502500 h 2518288"/>
                <a:gd name="connsiteX7" fmla="*/ 1434210 w 2536501"/>
                <a:gd name="connsiteY7" fmla="*/ 2483473 h 2518288"/>
                <a:gd name="connsiteX8" fmla="*/ 1919395 w 2536501"/>
                <a:gd name="connsiteY8" fmla="*/ 2450177 h 2518288"/>
                <a:gd name="connsiteX9" fmla="*/ 2380797 w 2536501"/>
                <a:gd name="connsiteY9" fmla="*/ 1831817 h 2518288"/>
                <a:gd name="connsiteX10" fmla="*/ 2532819 w 2536501"/>
                <a:gd name="connsiteY10" fmla="*/ 1394709 h 2518288"/>
                <a:gd name="connsiteX11" fmla="*/ 2452444 w 2536501"/>
                <a:gd name="connsiteY11" fmla="*/ 688289 h 2518288"/>
                <a:gd name="connsiteX12" fmla="*/ 2066853 w 2536501"/>
                <a:gd name="connsiteY12" fmla="*/ 371536 h 2518288"/>
                <a:gd name="connsiteX13" fmla="*/ 1838531 w 2536501"/>
                <a:gd name="connsiteY13" fmla="*/ 86139 h 2518288"/>
                <a:gd name="connsiteX14" fmla="*/ 1258211 w 2536501"/>
                <a:gd name="connsiteY14" fmla="*/ 520 h 2518288"/>
                <a:gd name="connsiteX15" fmla="*/ 910971 w 2536501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36501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78560" y="2007728"/>
                    <a:pt x="2380797" y="1831817"/>
                  </a:cubicBezTo>
                  <a:cubicBezTo>
                    <a:pt x="2483034" y="1655906"/>
                    <a:pt x="2520878" y="1585297"/>
                    <a:pt x="2532819" y="1394709"/>
                  </a:cubicBezTo>
                  <a:cubicBezTo>
                    <a:pt x="2544760" y="1204121"/>
                    <a:pt x="2530105" y="858818"/>
                    <a:pt x="2452444" y="688289"/>
                  </a:cubicBezTo>
                  <a:cubicBezTo>
                    <a:pt x="2374783" y="517760"/>
                    <a:pt x="2169172" y="471894"/>
                    <a:pt x="2066853" y="371536"/>
                  </a:cubicBezTo>
                  <a:cubicBezTo>
                    <a:pt x="1964534" y="271178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36F2FDA7-2329-BE42-9F95-6E8865829CF0}"/>
                </a:ext>
              </a:extLst>
            </p:cNvPr>
            <p:cNvSpPr/>
            <p:nvPr/>
          </p:nvSpPr>
          <p:spPr>
            <a:xfrm>
              <a:off x="6426611" y="1551322"/>
              <a:ext cx="2479694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9694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88834" y="2032388"/>
                    <a:pt x="2380797" y="1831817"/>
                  </a:cubicBezTo>
                  <a:cubicBezTo>
                    <a:pt x="2472760" y="1631246"/>
                    <a:pt x="2494165" y="1439396"/>
                    <a:pt x="2471174" y="1246753"/>
                  </a:cubicBezTo>
                  <a:cubicBezTo>
                    <a:pt x="2448183" y="1054110"/>
                    <a:pt x="2310239" y="821828"/>
                    <a:pt x="2242852" y="675959"/>
                  </a:cubicBezTo>
                  <a:cubicBezTo>
                    <a:pt x="2175465" y="530090"/>
                    <a:pt x="2134240" y="469839"/>
                    <a:pt x="2066853" y="371536"/>
                  </a:cubicBezTo>
                  <a:cubicBezTo>
                    <a:pt x="1999466" y="273233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410CA62-8E88-844D-93D1-7B14217A0F5E}"/>
                </a:ext>
              </a:extLst>
            </p:cNvPr>
            <p:cNvSpPr/>
            <p:nvPr/>
          </p:nvSpPr>
          <p:spPr>
            <a:xfrm flipV="1">
              <a:off x="4827446" y="4937117"/>
              <a:ext cx="2158078" cy="1107763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D0D0F482-BF3E-9D46-8349-7D42DC6BF349}"/>
                </a:ext>
              </a:extLst>
            </p:cNvPr>
            <p:cNvGrpSpPr/>
            <p:nvPr/>
          </p:nvGrpSpPr>
          <p:grpSpPr>
            <a:xfrm>
              <a:off x="4943128" y="3697579"/>
              <a:ext cx="1763990" cy="1007767"/>
              <a:chOff x="2611175" y="5012905"/>
              <a:chExt cx="1763990" cy="1007767"/>
            </a:xfrm>
          </p:grpSpPr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32410177-B1FF-4B42-A1F7-34710F963990}"/>
                  </a:ext>
                </a:extLst>
              </p:cNvPr>
              <p:cNvSpPr/>
              <p:nvPr/>
            </p:nvSpPr>
            <p:spPr>
              <a:xfrm>
                <a:off x="3161857" y="5183726"/>
                <a:ext cx="733868" cy="333063"/>
              </a:xfrm>
              <a:prstGeom prst="rect">
                <a:avLst/>
              </a:prstGeom>
              <a:solidFill>
                <a:srgbClr val="E0EAF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303494A4-B4E8-244F-A295-B98739F46F4C}"/>
                  </a:ext>
                </a:extLst>
              </p:cNvPr>
              <p:cNvCxnSpPr/>
              <p:nvPr/>
            </p:nvCxnSpPr>
            <p:spPr>
              <a:xfrm>
                <a:off x="3462434" y="5820469"/>
                <a:ext cx="0" cy="189913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9A964173-65DE-2C42-B415-52B1293E8FED}"/>
                  </a:ext>
                </a:extLst>
              </p:cNvPr>
              <p:cNvSpPr/>
              <p:nvPr/>
            </p:nvSpPr>
            <p:spPr>
              <a:xfrm>
                <a:off x="2611175" y="5012905"/>
                <a:ext cx="1763990" cy="1007767"/>
              </a:xfrm>
              <a:custGeom>
                <a:avLst/>
                <a:gdLst>
                  <a:gd name="connsiteX0" fmla="*/ 793763 w 1763990"/>
                  <a:gd name="connsiteY0" fmla="*/ 21490 h 1007767"/>
                  <a:gd name="connsiteX1" fmla="*/ 343771 w 1763990"/>
                  <a:gd name="connsiteY1" fmla="*/ 101492 h 1007767"/>
                  <a:gd name="connsiteX2" fmla="*/ 133775 w 1763990"/>
                  <a:gd name="connsiteY2" fmla="*/ 356499 h 1007767"/>
                  <a:gd name="connsiteX3" fmla="*/ 3777 w 1763990"/>
                  <a:gd name="connsiteY3" fmla="*/ 616506 h 1007767"/>
                  <a:gd name="connsiteX4" fmla="*/ 278772 w 1763990"/>
                  <a:gd name="connsiteY4" fmla="*/ 951515 h 1007767"/>
                  <a:gd name="connsiteX5" fmla="*/ 868762 w 1763990"/>
                  <a:gd name="connsiteY5" fmla="*/ 1006517 h 1007767"/>
                  <a:gd name="connsiteX6" fmla="*/ 1228755 w 1763990"/>
                  <a:gd name="connsiteY6" fmla="*/ 941515 h 1007767"/>
                  <a:gd name="connsiteX7" fmla="*/ 1688747 w 1763990"/>
                  <a:gd name="connsiteY7" fmla="*/ 916514 h 1007767"/>
                  <a:gd name="connsiteX8" fmla="*/ 1743746 w 1763990"/>
                  <a:gd name="connsiteY8" fmla="*/ 556504 h 1007767"/>
                  <a:gd name="connsiteX9" fmla="*/ 1483750 w 1763990"/>
                  <a:gd name="connsiteY9" fmla="*/ 156493 h 1007767"/>
                  <a:gd name="connsiteX10" fmla="*/ 1013759 w 1763990"/>
                  <a:gd name="connsiteY10" fmla="*/ 11489 h 1007767"/>
                  <a:gd name="connsiteX11" fmla="*/ 793763 w 1763990"/>
                  <a:gd name="connsiteY11" fmla="*/ 21490 h 1007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63990" h="1007767">
                    <a:moveTo>
                      <a:pt x="793763" y="21490"/>
                    </a:moveTo>
                    <a:cubicBezTo>
                      <a:pt x="682098" y="36490"/>
                      <a:pt x="453769" y="45657"/>
                      <a:pt x="343771" y="101492"/>
                    </a:cubicBezTo>
                    <a:cubicBezTo>
                      <a:pt x="233773" y="157327"/>
                      <a:pt x="190441" y="270663"/>
                      <a:pt x="133775" y="356499"/>
                    </a:cubicBezTo>
                    <a:cubicBezTo>
                      <a:pt x="77109" y="442335"/>
                      <a:pt x="-20389" y="517337"/>
                      <a:pt x="3777" y="616506"/>
                    </a:cubicBezTo>
                    <a:cubicBezTo>
                      <a:pt x="27943" y="715675"/>
                      <a:pt x="134608" y="886513"/>
                      <a:pt x="278772" y="951515"/>
                    </a:cubicBezTo>
                    <a:cubicBezTo>
                      <a:pt x="422936" y="1016517"/>
                      <a:pt x="710432" y="1008184"/>
                      <a:pt x="868762" y="1006517"/>
                    </a:cubicBezTo>
                    <a:cubicBezTo>
                      <a:pt x="1027092" y="1004850"/>
                      <a:pt x="1092091" y="956516"/>
                      <a:pt x="1228755" y="941515"/>
                    </a:cubicBezTo>
                    <a:cubicBezTo>
                      <a:pt x="1365419" y="926515"/>
                      <a:pt x="1602915" y="980683"/>
                      <a:pt x="1688747" y="916514"/>
                    </a:cubicBezTo>
                    <a:cubicBezTo>
                      <a:pt x="1774579" y="852346"/>
                      <a:pt x="1777912" y="683174"/>
                      <a:pt x="1743746" y="556504"/>
                    </a:cubicBezTo>
                    <a:cubicBezTo>
                      <a:pt x="1709580" y="429834"/>
                      <a:pt x="1605415" y="247329"/>
                      <a:pt x="1483750" y="156493"/>
                    </a:cubicBezTo>
                    <a:cubicBezTo>
                      <a:pt x="1362086" y="65657"/>
                      <a:pt x="1130423" y="35656"/>
                      <a:pt x="1013759" y="11489"/>
                    </a:cubicBezTo>
                    <a:cubicBezTo>
                      <a:pt x="897095" y="-12678"/>
                      <a:pt x="905428" y="6490"/>
                      <a:pt x="793763" y="21490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78" name="Triangle 177">
              <a:extLst>
                <a:ext uri="{FF2B5EF4-FFF2-40B4-BE49-F238E27FC236}">
                  <a16:creationId xmlns:a16="http://schemas.microsoft.com/office/drawing/2014/main" id="{0F6B556C-316F-6848-8A28-191C034EB300}"/>
                </a:ext>
              </a:extLst>
            </p:cNvPr>
            <p:cNvSpPr/>
            <p:nvPr/>
          </p:nvSpPr>
          <p:spPr>
            <a:xfrm flipV="1">
              <a:off x="4015945" y="2767912"/>
              <a:ext cx="3892378" cy="2755558"/>
            </a:xfrm>
            <a:prstGeom prst="triangle">
              <a:avLst>
                <a:gd name="adj" fmla="val 50327"/>
              </a:avLst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123A8993-DC1F-3A43-856B-385BBE477225}"/>
              </a:ext>
            </a:extLst>
          </p:cNvPr>
          <p:cNvGrpSpPr/>
          <p:nvPr/>
        </p:nvGrpSpPr>
        <p:grpSpPr>
          <a:xfrm>
            <a:off x="8999920" y="1469425"/>
            <a:ext cx="410780" cy="655938"/>
            <a:chOff x="3533208" y="1227996"/>
            <a:chExt cx="567057" cy="933976"/>
          </a:xfrm>
        </p:grpSpPr>
        <p:pic>
          <p:nvPicPr>
            <p:cNvPr id="186" name="Picture 185" descr="mobile_or_tablet.png">
              <a:extLst>
                <a:ext uri="{FF2B5EF4-FFF2-40B4-BE49-F238E27FC236}">
                  <a16:creationId xmlns:a16="http://schemas.microsoft.com/office/drawing/2014/main" id="{C47269DE-5032-5247-80C1-771E7D49C7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7EA2BD4A-48C7-314E-9CAD-B85E65583501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57F32E4-F32D-B04C-BD83-B1F3C904E9C4}"/>
              </a:ext>
            </a:extLst>
          </p:cNvPr>
          <p:cNvGrpSpPr/>
          <p:nvPr/>
        </p:nvGrpSpPr>
        <p:grpSpPr>
          <a:xfrm>
            <a:off x="8118390" y="2607276"/>
            <a:ext cx="471234" cy="425450"/>
            <a:chOff x="283029" y="4319993"/>
            <a:chExt cx="1226174" cy="1258225"/>
          </a:xfrm>
        </p:grpSpPr>
        <p:pic>
          <p:nvPicPr>
            <p:cNvPr id="192" name="Picture 180" descr="desktop_computer_stylized_medium">
              <a:extLst>
                <a:ext uri="{FF2B5EF4-FFF2-40B4-BE49-F238E27FC236}">
                  <a16:creationId xmlns:a16="http://schemas.microsoft.com/office/drawing/2014/main" id="{60512D18-5AEF-5D4D-B300-69E9C8237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83029" y="4319993"/>
              <a:ext cx="1226174" cy="125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3" name="Freeform 181">
              <a:extLst>
                <a:ext uri="{FF2B5EF4-FFF2-40B4-BE49-F238E27FC236}">
                  <a16:creationId xmlns:a16="http://schemas.microsoft.com/office/drawing/2014/main" id="{0955FDB5-5512-794B-BE7C-ED611F50A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5497" y="4440692"/>
              <a:ext cx="596213" cy="576165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9229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18A5CE-5A7A-A849-88F0-035A21A77B6D}"/>
              </a:ext>
            </a:extLst>
          </p:cNvPr>
          <p:cNvGrpSpPr/>
          <p:nvPr/>
        </p:nvGrpSpPr>
        <p:grpSpPr>
          <a:xfrm>
            <a:off x="766635" y="4032423"/>
            <a:ext cx="4250208" cy="1343357"/>
            <a:chOff x="-493754" y="4847969"/>
            <a:chExt cx="4250208" cy="1343357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93754" y="5101797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contacts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HSS, gets mobile’s visited network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19632" y="5474045"/>
              <a:ext cx="1136822" cy="67962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AE2E1453-8E0F-7844-9F4A-D712B477D3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07276" y="4847969"/>
              <a:ext cx="1079157" cy="130569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>
              <a:cxnSpLocks/>
            </p:cNvCxnSpPr>
            <p:nvPr/>
          </p:nvCxnSpPr>
          <p:spPr>
            <a:xfrm>
              <a:off x="7834184" y="2693773"/>
              <a:ext cx="1198605" cy="35727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37">
            <a:extLst>
              <a:ext uri="{FF2B5EF4-FFF2-40B4-BE49-F238E27FC236}">
                <a16:creationId xmlns:a16="http://schemas.microsoft.com/office/drawing/2014/main" id="{567C1314-3308-4E48-81E8-DFC6341689EE}"/>
              </a:ext>
            </a:extLst>
          </p:cNvPr>
          <p:cNvGrpSpPr>
            <a:grpSpLocks/>
          </p:cNvGrpSpPr>
          <p:nvPr/>
        </p:nvGrpSpPr>
        <p:grpSpPr bwMode="auto">
          <a:xfrm>
            <a:off x="4625851" y="3210611"/>
            <a:ext cx="1322389" cy="1905000"/>
            <a:chOff x="1915" y="2230"/>
            <a:chExt cx="833" cy="1200"/>
          </a:xfrm>
        </p:grpSpPr>
        <p:sp>
          <p:nvSpPr>
            <p:cNvPr id="122" name="Line 138">
              <a:extLst>
                <a:ext uri="{FF2B5EF4-FFF2-40B4-BE49-F238E27FC236}">
                  <a16:creationId xmlns:a16="http://schemas.microsoft.com/office/drawing/2014/main" id="{AA66713F-006C-A640-84B7-6F703C89B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3" name="Group 139">
              <a:extLst>
                <a:ext uri="{FF2B5EF4-FFF2-40B4-BE49-F238E27FC236}">
                  <a16:creationId xmlns:a16="http://schemas.microsoft.com/office/drawing/2014/main" id="{A1CAB2E9-58F0-4B49-B8CF-C51CAEAF0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8" y="2539"/>
              <a:ext cx="202" cy="252"/>
              <a:chOff x="554" y="3337"/>
              <a:chExt cx="202" cy="252"/>
            </a:xfrm>
          </p:grpSpPr>
          <p:sp>
            <p:nvSpPr>
              <p:cNvPr id="124" name="Oval 140">
                <a:extLst>
                  <a:ext uri="{FF2B5EF4-FFF2-40B4-BE49-F238E27FC236}">
                    <a16:creationId xmlns:a16="http://schemas.microsoft.com/office/drawing/2014/main" id="{5E13FCDB-CB6E-754E-9F6E-82D90C887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3374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Text Box 141">
                <a:extLst>
                  <a:ext uri="{FF2B5EF4-FFF2-40B4-BE49-F238E27FC236}">
                    <a16:creationId xmlns:a16="http://schemas.microsoft.com/office/drawing/2014/main" id="{EFECD87D-AE0B-2340-A740-238167129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7" y="3337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2</a:t>
                </a:r>
              </a:p>
            </p:txBody>
          </p:sp>
        </p:grpSp>
      </p:grpSp>
      <p:grpSp>
        <p:nvGrpSpPr>
          <p:cNvPr id="126" name="Group 137">
            <a:extLst>
              <a:ext uri="{FF2B5EF4-FFF2-40B4-BE49-F238E27FC236}">
                <a16:creationId xmlns:a16="http://schemas.microsoft.com/office/drawing/2014/main" id="{7DCCFC3E-FF34-1C43-8781-E2F7B55DB97A}"/>
              </a:ext>
            </a:extLst>
          </p:cNvPr>
          <p:cNvGrpSpPr>
            <a:grpSpLocks/>
          </p:cNvGrpSpPr>
          <p:nvPr/>
        </p:nvGrpSpPr>
        <p:grpSpPr bwMode="auto">
          <a:xfrm>
            <a:off x="6286332" y="3699820"/>
            <a:ext cx="803276" cy="1604963"/>
            <a:chOff x="1028" y="1656"/>
            <a:chExt cx="506" cy="1011"/>
          </a:xfrm>
        </p:grpSpPr>
        <p:sp>
          <p:nvSpPr>
            <p:cNvPr id="127" name="Line 138">
              <a:extLst>
                <a:ext uri="{FF2B5EF4-FFF2-40B4-BE49-F238E27FC236}">
                  <a16:creationId xmlns:a16="http://schemas.microsoft.com/office/drawing/2014/main" id="{242F26A0-18FF-8C44-92B2-1684C63AB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28" y="1656"/>
              <a:ext cx="506" cy="1011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2729741"/>
                <a:gd name="connsiteY0" fmla="*/ 0 h 1213365"/>
                <a:gd name="connsiteX1" fmla="*/ 2729741 w 2729741"/>
                <a:gd name="connsiteY1" fmla="*/ 1213365 h 1213365"/>
                <a:gd name="connsiteX0" fmla="*/ 0 w 802625"/>
                <a:gd name="connsiteY0" fmla="*/ 1715344 h 1779818"/>
                <a:gd name="connsiteX1" fmla="*/ 802625 w 802625"/>
                <a:gd name="connsiteY1" fmla="*/ 110172 h 1779818"/>
                <a:gd name="connsiteX0" fmla="*/ 0 w 802625"/>
                <a:gd name="connsiteY0" fmla="*/ 1764540 h 1764540"/>
                <a:gd name="connsiteX1" fmla="*/ 802625 w 802625"/>
                <a:gd name="connsiteY1" fmla="*/ 159368 h 1764540"/>
                <a:gd name="connsiteX0" fmla="*/ 0 w 802625"/>
                <a:gd name="connsiteY0" fmla="*/ 1605172 h 1605172"/>
                <a:gd name="connsiteX1" fmla="*/ 802625 w 802625"/>
                <a:gd name="connsiteY1" fmla="*/ 0 h 160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2625" h="1605172">
                  <a:moveTo>
                    <a:pt x="0" y="1605172"/>
                  </a:moveTo>
                  <a:cubicBezTo>
                    <a:pt x="191244" y="1062396"/>
                    <a:pt x="352408" y="865372"/>
                    <a:pt x="802625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8" name="Group 139">
              <a:extLst>
                <a:ext uri="{FF2B5EF4-FFF2-40B4-BE49-F238E27FC236}">
                  <a16:creationId xmlns:a16="http://schemas.microsoft.com/office/drawing/2014/main" id="{4C08F486-76E9-FF49-BFD8-662FFB21C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838"/>
              <a:ext cx="207" cy="252"/>
              <a:chOff x="-253" y="2636"/>
              <a:chExt cx="207" cy="252"/>
            </a:xfrm>
          </p:grpSpPr>
          <p:sp>
            <p:nvSpPr>
              <p:cNvPr id="129" name="Oval 140">
                <a:extLst>
                  <a:ext uri="{FF2B5EF4-FFF2-40B4-BE49-F238E27FC236}">
                    <a16:creationId xmlns:a16="http://schemas.microsoft.com/office/drawing/2014/main" id="{D7F72C4A-7E0C-6D46-9672-E3DB86AE4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8" y="265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Text Box 141">
                <a:extLst>
                  <a:ext uri="{FF2B5EF4-FFF2-40B4-BE49-F238E27FC236}">
                    <a16:creationId xmlns:a16="http://schemas.microsoft.com/office/drawing/2014/main" id="{DE3F69BA-E896-E44D-8CA7-3D158B6C5C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253" y="2636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</p:grp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6215448" y="4840028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A89977-F97D-CE45-B70C-F8C7A9697953}"/>
              </a:ext>
            </a:extLst>
          </p:cNvPr>
          <p:cNvGrpSpPr/>
          <p:nvPr/>
        </p:nvGrpSpPr>
        <p:grpSpPr>
          <a:xfrm>
            <a:off x="7133968" y="4291913"/>
            <a:ext cx="4287794" cy="1871922"/>
            <a:chOff x="7133968" y="4291913"/>
            <a:chExt cx="4287794" cy="187192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4ACBF94F-50D2-6F47-B6ED-DDEBB305C324}"/>
                </a:ext>
              </a:extLst>
            </p:cNvPr>
            <p:cNvSpPr txBox="1"/>
            <p:nvPr/>
          </p:nvSpPr>
          <p:spPr>
            <a:xfrm>
              <a:off x="8429580" y="4464908"/>
              <a:ext cx="2992182" cy="1698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Correspondent addresses datagram to visited network address</a:t>
              </a:r>
            </a:p>
            <a:p>
              <a:endParaRPr lang="en-US" dirty="0"/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7EBF82F-DD0C-894E-A6FA-96E9442AA281}"/>
                </a:ext>
              </a:extLst>
            </p:cNvPr>
            <p:cNvCxnSpPr/>
            <p:nvPr/>
          </p:nvCxnSpPr>
          <p:spPr>
            <a:xfrm>
              <a:off x="7133968" y="429191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3925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D5BBCDB-3424-D248-8475-C6340CD674DA}"/>
              </a:ext>
            </a:extLst>
          </p:cNvPr>
          <p:cNvSpPr txBox="1">
            <a:spLocks noChangeArrowheads="1"/>
          </p:cNvSpPr>
          <p:nvPr/>
        </p:nvSpPr>
        <p:spPr>
          <a:xfrm>
            <a:off x="927012" y="1545497"/>
            <a:ext cx="1109611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41313">
              <a:defRPr/>
            </a:pPr>
            <a:r>
              <a:rPr lang="en-US" dirty="0"/>
              <a:t>overcomes triangle routing inefficiencies</a:t>
            </a:r>
          </a:p>
          <a:p>
            <a:pPr indent="-341313">
              <a:defRPr/>
            </a:pPr>
            <a:r>
              <a:rPr lang="en-US" i="1" dirty="0">
                <a:solidFill>
                  <a:srgbClr val="011199"/>
                </a:solidFill>
              </a:rPr>
              <a:t>non-transparent to correspondent: </a:t>
            </a:r>
            <a:r>
              <a:rPr lang="en-US" dirty="0"/>
              <a:t>correspondent must get care-of-address from home agent</a:t>
            </a:r>
          </a:p>
          <a:p>
            <a:pPr indent="-341313">
              <a:defRPr/>
            </a:pPr>
            <a:r>
              <a:rPr lang="en-US" sz="2800" dirty="0"/>
              <a:t>what if mobile changes visited network?</a:t>
            </a:r>
          </a:p>
          <a:p>
            <a:pPr lvl="1" indent="-341313">
              <a:defRPr/>
            </a:pPr>
            <a:r>
              <a:rPr lang="en-US" sz="2800" dirty="0"/>
              <a:t>can be handled, but with additional complexity</a:t>
            </a:r>
          </a:p>
        </p:txBody>
      </p:sp>
    </p:spTree>
    <p:extLst>
      <p:ext uri="{BB962C8B-B14F-4D97-AF65-F5344CB8AC3E}">
        <p14:creationId xmlns:p14="http://schemas.microsoft.com/office/powerpoint/2010/main" val="2674608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7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16546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4211041" y="1878227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4615174" y="2655294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5880043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6288255" y="2881035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4638656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Mobility in 4G networks: major mobility tasks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5358074" y="3803946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939101" y="1865870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2211838" y="4424820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2018627" y="29913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3292487" y="4553881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2674706" y="3116401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1033966" y="2725714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2697672" y="3472900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5639107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4989064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539C14D-9686-C041-A0C9-2320F732F8AD}"/>
              </a:ext>
            </a:extLst>
          </p:cNvPr>
          <p:cNvGrpSpPr/>
          <p:nvPr/>
        </p:nvGrpSpPr>
        <p:grpSpPr>
          <a:xfrm>
            <a:off x="6184507" y="2122386"/>
            <a:ext cx="668534" cy="338554"/>
            <a:chOff x="5504898" y="2800672"/>
            <a:chExt cx="668534" cy="33855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E92567FA-9547-D94C-95A5-01B1DDC0051C}"/>
                </a:ext>
              </a:extLst>
            </p:cNvPr>
            <p:cNvCxnSpPr/>
            <p:nvPr/>
          </p:nvCxnSpPr>
          <p:spPr>
            <a:xfrm flipV="1">
              <a:off x="5504898" y="2991028"/>
              <a:ext cx="668534" cy="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64D464D0-572B-864F-B3E0-19E407779BA5}"/>
                </a:ext>
              </a:extLst>
            </p:cNvPr>
            <p:cNvGrpSpPr/>
            <p:nvPr/>
          </p:nvGrpSpPr>
          <p:grpSpPr>
            <a:xfrm>
              <a:off x="5692943" y="2800672"/>
              <a:ext cx="291138" cy="338554"/>
              <a:chOff x="2641317" y="2175013"/>
              <a:chExt cx="291138" cy="338554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4B9FACCA-5DDA-E04F-B5CA-B1F953091C96}"/>
                  </a:ext>
                </a:extLst>
              </p:cNvPr>
              <p:cNvSpPr/>
              <p:nvPr/>
            </p:nvSpPr>
            <p:spPr>
              <a:xfrm>
                <a:off x="2641317" y="2224712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4AF1C38A-BB21-FA43-BDB0-54391CE70144}"/>
                  </a:ext>
                </a:extLst>
              </p:cNvPr>
              <p:cNvSpPr txBox="1"/>
              <p:nvPr/>
            </p:nvSpPr>
            <p:spPr>
              <a:xfrm>
                <a:off x="2642700" y="2175013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282654" y="2136912"/>
            <a:ext cx="4622054" cy="362086"/>
            <a:chOff x="2282654" y="2136912"/>
            <a:chExt cx="4622054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2282654" y="2327165"/>
              <a:ext cx="4622054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1766" h="171833">
                  <a:moveTo>
                    <a:pt x="0" y="14640"/>
                  </a:moveTo>
                  <a:lnTo>
                    <a:pt x="2723069" y="0"/>
                  </a:lnTo>
                  <a:lnTo>
                    <a:pt x="2887706" y="171833"/>
                  </a:lnTo>
                  <a:lnTo>
                    <a:pt x="3671766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86CAC50-CB08-9B42-992A-840E66D4F28B}"/>
              </a:ext>
            </a:extLst>
          </p:cNvPr>
          <p:cNvGrpSpPr/>
          <p:nvPr/>
        </p:nvGrpSpPr>
        <p:grpSpPr>
          <a:xfrm>
            <a:off x="2623090" y="2610520"/>
            <a:ext cx="2855609" cy="343828"/>
            <a:chOff x="2623090" y="2610520"/>
            <a:chExt cx="2855609" cy="343828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66F570-ACDD-A344-86FF-757FE78A8C28}"/>
                </a:ext>
              </a:extLst>
            </p:cNvPr>
            <p:cNvSpPr/>
            <p:nvPr/>
          </p:nvSpPr>
          <p:spPr>
            <a:xfrm rot="10800000" flipH="1">
              <a:off x="2623090" y="2610520"/>
              <a:ext cx="2855609" cy="197639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692" h="197639">
                  <a:moveTo>
                    <a:pt x="0" y="14640"/>
                  </a:moveTo>
                  <a:lnTo>
                    <a:pt x="2723069" y="0"/>
                  </a:lnTo>
                  <a:lnTo>
                    <a:pt x="2931692" y="19763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0D4CE805-BBFB-BB4C-9AD8-17EFBB6ACDBC}"/>
                </a:ext>
              </a:extLst>
            </p:cNvPr>
            <p:cNvGrpSpPr/>
            <p:nvPr/>
          </p:nvGrpSpPr>
          <p:grpSpPr>
            <a:xfrm>
              <a:off x="3572298" y="2615794"/>
              <a:ext cx="291138" cy="338554"/>
              <a:chOff x="2637271" y="2166921"/>
              <a:chExt cx="291138" cy="338554"/>
            </a:xfrm>
          </p:grpSpPr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15435795-47D3-C64C-819F-C37B4FFB25A5}"/>
                  </a:ext>
                </a:extLst>
              </p:cNvPr>
              <p:cNvSpPr/>
              <p:nvPr/>
            </p:nvSpPr>
            <p:spPr>
              <a:xfrm>
                <a:off x="2637271" y="2212574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6196B45-4A8D-DD44-A300-062B2BDEE6FD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E5E935C-0FD7-E048-8977-9C640ED4F4DE}"/>
              </a:ext>
            </a:extLst>
          </p:cNvPr>
          <p:cNvGrpSpPr/>
          <p:nvPr/>
        </p:nvGrpSpPr>
        <p:grpSpPr>
          <a:xfrm>
            <a:off x="6439511" y="2702941"/>
            <a:ext cx="571920" cy="707046"/>
            <a:chOff x="6439511" y="2702941"/>
            <a:chExt cx="571920" cy="707046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02675ED-5ABC-1044-9EE9-FD6DE86A851C}"/>
                </a:ext>
              </a:extLst>
            </p:cNvPr>
            <p:cNvSpPr/>
            <p:nvPr/>
          </p:nvSpPr>
          <p:spPr>
            <a:xfrm rot="16200000">
              <a:off x="6379747" y="2778302"/>
              <a:ext cx="707046" cy="55632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1005476 w 2931692"/>
                <a:gd name="connsiteY1" fmla="*/ 11027 h 197639"/>
                <a:gd name="connsiteX2" fmla="*/ 2723069 w 2931692"/>
                <a:gd name="connsiteY2" fmla="*/ 0 h 197639"/>
                <a:gd name="connsiteX3" fmla="*/ 2931692 w 2931692"/>
                <a:gd name="connsiteY3" fmla="*/ 197639 h 197639"/>
                <a:gd name="connsiteX0" fmla="*/ 1030876 w 1926216"/>
                <a:gd name="connsiteY0" fmla="*/ 311103 h 311103"/>
                <a:gd name="connsiteX1" fmla="*/ 0 w 1926216"/>
                <a:gd name="connsiteY1" fmla="*/ 11027 h 311103"/>
                <a:gd name="connsiteX2" fmla="*/ 1717593 w 1926216"/>
                <a:gd name="connsiteY2" fmla="*/ 0 h 311103"/>
                <a:gd name="connsiteX3" fmla="*/ 1926216 w 1926216"/>
                <a:gd name="connsiteY3" fmla="*/ 197639 h 311103"/>
                <a:gd name="connsiteX0" fmla="*/ 1377055 w 2272395"/>
                <a:gd name="connsiteY0" fmla="*/ 311103 h 311103"/>
                <a:gd name="connsiteX1" fmla="*/ -1 w 2272395"/>
                <a:gd name="connsiteY1" fmla="*/ 14690 h 311103"/>
                <a:gd name="connsiteX2" fmla="*/ 2063772 w 2272395"/>
                <a:gd name="connsiteY2" fmla="*/ 0 h 311103"/>
                <a:gd name="connsiteX3" fmla="*/ 2272395 w 2272395"/>
                <a:gd name="connsiteY3" fmla="*/ 197639 h 311103"/>
                <a:gd name="connsiteX0" fmla="*/ 1377055 w 2272395"/>
                <a:gd name="connsiteY0" fmla="*/ 600246 h 600246"/>
                <a:gd name="connsiteX1" fmla="*/ -1 w 2272395"/>
                <a:gd name="connsiteY1" fmla="*/ 303833 h 600246"/>
                <a:gd name="connsiteX2" fmla="*/ 1849953 w 2272395"/>
                <a:gd name="connsiteY2" fmla="*/ 0 h 600246"/>
                <a:gd name="connsiteX3" fmla="*/ 2272395 w 2272395"/>
                <a:gd name="connsiteY3" fmla="*/ 486782 h 600246"/>
                <a:gd name="connsiteX0" fmla="*/ 1387237 w 2282577"/>
                <a:gd name="connsiteY0" fmla="*/ 600246 h 600246"/>
                <a:gd name="connsiteX1" fmla="*/ -1 w 2282577"/>
                <a:gd name="connsiteY1" fmla="*/ 237955 h 600246"/>
                <a:gd name="connsiteX2" fmla="*/ 1860135 w 2282577"/>
                <a:gd name="connsiteY2" fmla="*/ 0 h 600246"/>
                <a:gd name="connsiteX3" fmla="*/ 2282577 w 2282577"/>
                <a:gd name="connsiteY3" fmla="*/ 486782 h 600246"/>
                <a:gd name="connsiteX0" fmla="*/ 1387237 w 2282577"/>
                <a:gd name="connsiteY0" fmla="*/ 556323 h 556323"/>
                <a:gd name="connsiteX1" fmla="*/ -1 w 2282577"/>
                <a:gd name="connsiteY1" fmla="*/ 194032 h 556323"/>
                <a:gd name="connsiteX2" fmla="*/ 1941588 w 2282577"/>
                <a:gd name="connsiteY2" fmla="*/ 0 h 556323"/>
                <a:gd name="connsiteX3" fmla="*/ 2282577 w 2282577"/>
                <a:gd name="connsiteY3" fmla="*/ 442859 h 556323"/>
                <a:gd name="connsiteX0" fmla="*/ 1387237 w 1966943"/>
                <a:gd name="connsiteY0" fmla="*/ 556323 h 556323"/>
                <a:gd name="connsiteX1" fmla="*/ -1 w 1966943"/>
                <a:gd name="connsiteY1" fmla="*/ 194032 h 556323"/>
                <a:gd name="connsiteX2" fmla="*/ 1941588 w 1966943"/>
                <a:gd name="connsiteY2" fmla="*/ 0 h 556323"/>
                <a:gd name="connsiteX3" fmla="*/ 1966943 w 1966943"/>
                <a:gd name="connsiteY3" fmla="*/ 439199 h 55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6943" h="556323">
                  <a:moveTo>
                    <a:pt x="1387237" y="556323"/>
                  </a:moveTo>
                  <a:lnTo>
                    <a:pt x="-1" y="194032"/>
                  </a:lnTo>
                  <a:lnTo>
                    <a:pt x="1941588" y="0"/>
                  </a:lnTo>
                  <a:lnTo>
                    <a:pt x="1966943" y="43919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8EA92217-9396-F84E-8639-926AB465EF43}"/>
                </a:ext>
              </a:extLst>
            </p:cNvPr>
            <p:cNvGrpSpPr/>
            <p:nvPr/>
          </p:nvGrpSpPr>
          <p:grpSpPr>
            <a:xfrm>
              <a:off x="6439511" y="2994586"/>
              <a:ext cx="291138" cy="338554"/>
              <a:chOff x="7860550" y="3254078"/>
              <a:chExt cx="291138" cy="338554"/>
            </a:xfrm>
          </p:grpSpPr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9C48B737-3FF8-F446-8A4A-52F3958FB5F7}"/>
                  </a:ext>
                </a:extLst>
              </p:cNvPr>
              <p:cNvSpPr/>
              <p:nvPr/>
            </p:nvSpPr>
            <p:spPr>
              <a:xfrm>
                <a:off x="7860550" y="3299731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6ECB3BE0-DF10-344B-8607-7D4960667C4A}"/>
                  </a:ext>
                </a:extLst>
              </p:cNvPr>
              <p:cNvSpPr txBox="1"/>
              <p:nvPr/>
            </p:nvSpPr>
            <p:spPr>
              <a:xfrm>
                <a:off x="7865979" y="3254078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82147" y="2665950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143217" y="1952367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606502" y="1964725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4626479" y="2977546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4619019" y="377897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588" y="4451521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4620503" y="3447134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B401DFA-C5BE-1142-BACC-6CB2D06D539B}"/>
              </a:ext>
            </a:extLst>
          </p:cNvPr>
          <p:cNvGrpSpPr/>
          <p:nvPr/>
        </p:nvGrpSpPr>
        <p:grpSpPr>
          <a:xfrm>
            <a:off x="7628143" y="1517824"/>
            <a:ext cx="4563857" cy="2492990"/>
            <a:chOff x="7768186" y="2075943"/>
            <a:chExt cx="4563857" cy="2492990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A1C7A544-F7C8-CF43-9CE6-14DBCF26730A}"/>
                </a:ext>
              </a:extLst>
            </p:cNvPr>
            <p:cNvSpPr txBox="1"/>
            <p:nvPr/>
          </p:nvSpPr>
          <p:spPr>
            <a:xfrm>
              <a:off x="8117951" y="2075943"/>
              <a:ext cx="4214092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base station association</a:t>
              </a:r>
              <a:r>
                <a:rPr lang="en-US" sz="2400" dirty="0"/>
                <a:t>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covered earlier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 provides IMSI </a:t>
              </a:r>
              <a:r>
                <a:rPr lang="en-US" sz="2000" dirty="0"/>
                <a:t>– identifying itself, home network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6A2C267E-6558-C045-B540-4BB3B6ED9020}"/>
                </a:ext>
              </a:extLst>
            </p:cNvPr>
            <p:cNvGrpSpPr/>
            <p:nvPr/>
          </p:nvGrpSpPr>
          <p:grpSpPr>
            <a:xfrm>
              <a:off x="7768186" y="2117241"/>
              <a:ext cx="332771" cy="400110"/>
              <a:chOff x="2630642" y="2290491"/>
              <a:chExt cx="347383" cy="400110"/>
            </a:xfrm>
          </p:grpSpPr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857DB811-3510-7E49-A856-01D4D172AC8C}"/>
                  </a:ext>
                </a:extLst>
              </p:cNvPr>
              <p:cNvSpPr/>
              <p:nvPr/>
            </p:nvSpPr>
            <p:spPr>
              <a:xfrm>
                <a:off x="2630642" y="234249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48A7444-AAFA-1742-B100-F2F471EEF879}"/>
                  </a:ext>
                </a:extLst>
              </p:cNvPr>
              <p:cNvSpPr txBox="1"/>
              <p:nvPr/>
            </p:nvSpPr>
            <p:spPr>
              <a:xfrm>
                <a:off x="2642700" y="229049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B4417A2-0FE1-BA47-9BD8-EFA78D493E11}"/>
              </a:ext>
            </a:extLst>
          </p:cNvPr>
          <p:cNvGrpSpPr/>
          <p:nvPr/>
        </p:nvGrpSpPr>
        <p:grpSpPr>
          <a:xfrm>
            <a:off x="7661616" y="3163341"/>
            <a:ext cx="4151442" cy="1652760"/>
            <a:chOff x="7760472" y="2817345"/>
            <a:chExt cx="4151442" cy="1652760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C5AE47E-31BC-BD45-A1CF-0CB6534FECC4}"/>
                </a:ext>
              </a:extLst>
            </p:cNvPr>
            <p:cNvSpPr txBox="1"/>
            <p:nvPr/>
          </p:nvSpPr>
          <p:spPr>
            <a:xfrm>
              <a:off x="8145159" y="2817345"/>
              <a:ext cx="3766755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control-plane configuration:</a:t>
              </a:r>
            </a:p>
            <a:p>
              <a:pPr marL="342900" indent="-220663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MME, home HSS establish control-plane state -  mobile is in visited network</a:t>
              </a:r>
            </a:p>
            <a:p>
              <a:endParaRPr lang="en-US" dirty="0"/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39B479E7-7A01-F44B-97CC-CB48621FDB2E}"/>
                </a:ext>
              </a:extLst>
            </p:cNvPr>
            <p:cNvGrpSpPr/>
            <p:nvPr/>
          </p:nvGrpSpPr>
          <p:grpSpPr>
            <a:xfrm>
              <a:off x="7760472" y="2862763"/>
              <a:ext cx="332771" cy="400110"/>
              <a:chOff x="2630642" y="2166921"/>
              <a:chExt cx="347383" cy="400110"/>
            </a:xfrm>
          </p:grpSpPr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23485D65-5B53-7D4A-A0AE-56080369EE72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0A45CB14-CC3A-C24E-A2F6-64AC37611292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38D921D-2FE1-EC48-A666-C12B8C57B45F}"/>
              </a:ext>
            </a:extLst>
          </p:cNvPr>
          <p:cNvGrpSpPr/>
          <p:nvPr/>
        </p:nvGrpSpPr>
        <p:grpSpPr>
          <a:xfrm>
            <a:off x="5416808" y="4588479"/>
            <a:ext cx="6606316" cy="1652760"/>
            <a:chOff x="5416808" y="4588479"/>
            <a:chExt cx="6606316" cy="1652760"/>
          </a:xfrm>
        </p:grpSpPr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EE39575-FF5C-2F4F-B51E-7AD5499DF1D1}"/>
                </a:ext>
              </a:extLst>
            </p:cNvPr>
            <p:cNvSpPr txBox="1"/>
            <p:nvPr/>
          </p:nvSpPr>
          <p:spPr>
            <a:xfrm>
              <a:off x="5774724" y="4588479"/>
              <a:ext cx="6248400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data-plane configuration: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 configures forwarding tunnels for mobile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visited, home network establish tunnels from home P-GW to mobile</a:t>
              </a:r>
            </a:p>
            <a:p>
              <a:endParaRPr lang="en-US" dirty="0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28580F8A-B514-5A4B-818D-58CD2ECF8899}"/>
                </a:ext>
              </a:extLst>
            </p:cNvPr>
            <p:cNvGrpSpPr/>
            <p:nvPr/>
          </p:nvGrpSpPr>
          <p:grpSpPr>
            <a:xfrm>
              <a:off x="5416808" y="4609187"/>
              <a:ext cx="332771" cy="400110"/>
              <a:chOff x="2630642" y="2166921"/>
              <a:chExt cx="347383" cy="400110"/>
            </a:xfrm>
          </p:grpSpPr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8419A69A-75BB-C34A-9000-B5DFD57688C9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3123F943-D9C8-5942-847A-1BB79890FA58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6765FE-657C-6A4C-BAEE-545ABE1B8A24}"/>
              </a:ext>
            </a:extLst>
          </p:cNvPr>
          <p:cNvGrpSpPr/>
          <p:nvPr/>
        </p:nvGrpSpPr>
        <p:grpSpPr>
          <a:xfrm>
            <a:off x="2157940" y="5655274"/>
            <a:ext cx="8666580" cy="800219"/>
            <a:chOff x="2157940" y="5655274"/>
            <a:chExt cx="8666580" cy="800219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8232AE0-BCFD-2D48-AA78-793058368563}"/>
                </a:ext>
              </a:extLst>
            </p:cNvPr>
            <p:cNvSpPr txBox="1"/>
            <p:nvPr/>
          </p:nvSpPr>
          <p:spPr>
            <a:xfrm>
              <a:off x="2491946" y="5655274"/>
              <a:ext cx="83325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mobile handover: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device changes its point of attachment to visited network</a:t>
              </a: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AA2B2954-94B5-E142-94C9-590977F111D1}"/>
                </a:ext>
              </a:extLst>
            </p:cNvPr>
            <p:cNvGrpSpPr/>
            <p:nvPr/>
          </p:nvGrpSpPr>
          <p:grpSpPr>
            <a:xfrm>
              <a:off x="2157940" y="5675984"/>
              <a:ext cx="333577" cy="400110"/>
              <a:chOff x="2629801" y="2166921"/>
              <a:chExt cx="348224" cy="400110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B9211D6D-B8EA-9348-B242-357D9F62BCA5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AF6AB557-1221-7749-86C7-13A6B557DC81}"/>
                  </a:ext>
                </a:extLst>
              </p:cNvPr>
              <p:cNvSpPr txBox="1"/>
              <p:nvPr/>
            </p:nvSpPr>
            <p:spPr>
              <a:xfrm>
                <a:off x="2629801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2975365" y="1878227"/>
            <a:ext cx="3186468" cy="1556951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3767019" y="2673626"/>
            <a:ext cx="456130" cy="238683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4644367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3402980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081E99-7CCE-534F-B2F3-F59BE98909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87627" y="3874102"/>
            <a:ext cx="10515600" cy="2526698"/>
          </a:xfrm>
        </p:spPr>
        <p:txBody>
          <a:bodyPr>
            <a:normAutofit/>
          </a:bodyPr>
          <a:lstStyle/>
          <a:p>
            <a:r>
              <a:rPr lang="en-US" dirty="0"/>
              <a:t>Mobile communicates with local MME via BS control-plane channel</a:t>
            </a:r>
          </a:p>
          <a:p>
            <a:r>
              <a:rPr lang="en-US" dirty="0"/>
              <a:t>MME uses mobile’s IMSI info to contact mobile’s home HSS</a:t>
            </a:r>
          </a:p>
          <a:p>
            <a:pPr lvl="1"/>
            <a:r>
              <a:rPr lang="en-US" sz="2800" dirty="0"/>
              <a:t>retrieve authentication, encryption, network service information</a:t>
            </a:r>
          </a:p>
          <a:p>
            <a:pPr lvl="1"/>
            <a:r>
              <a:rPr lang="en-US" sz="2800" dirty="0"/>
              <a:t>home HHS knows mobile now resident in visited network</a:t>
            </a:r>
          </a:p>
          <a:p>
            <a:r>
              <a:rPr lang="en-US" dirty="0"/>
              <a:t>BS, mobile select parameters for BS-mobile data-plane radio channel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 Configuring LTE control-plane elements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4228416" y="3028694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864960" y="1853514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1944486" y="2979043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959825" y="2713358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4403431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3753388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319724" y="2136912"/>
            <a:ext cx="3349308" cy="362086"/>
            <a:chOff x="3555400" y="2136912"/>
            <a:chExt cx="3349308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3555400" y="2327165"/>
              <a:ext cx="3349308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  <a:gd name="connsiteX0" fmla="*/ 0 w 2660695"/>
                <a:gd name="connsiteY0" fmla="*/ 14640 h 171833"/>
                <a:gd name="connsiteX1" fmla="*/ 1711998 w 2660695"/>
                <a:gd name="connsiteY1" fmla="*/ 0 h 171833"/>
                <a:gd name="connsiteX2" fmla="*/ 1876635 w 2660695"/>
                <a:gd name="connsiteY2" fmla="*/ 171833 h 171833"/>
                <a:gd name="connsiteX3" fmla="*/ 2660695 w 2660695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0695" h="171833">
                  <a:moveTo>
                    <a:pt x="0" y="14640"/>
                  </a:moveTo>
                  <a:lnTo>
                    <a:pt x="1711998" y="0"/>
                  </a:lnTo>
                  <a:lnTo>
                    <a:pt x="1876635" y="171833"/>
                  </a:lnTo>
                  <a:lnTo>
                    <a:pt x="2660695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08006" y="2653594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069076" y="1940011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5461687" y="2038866"/>
            <a:ext cx="642552" cy="556054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3702676" y="2892302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3114986" y="289770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0211C68-13F1-BE4E-98B3-300388AAAD79}"/>
              </a:ext>
            </a:extLst>
          </p:cNvPr>
          <p:cNvGrpSpPr/>
          <p:nvPr/>
        </p:nvGrpSpPr>
        <p:grpSpPr>
          <a:xfrm>
            <a:off x="3190549" y="2680252"/>
            <a:ext cx="456130" cy="238683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D149E5C-64DB-9345-A23F-99A22CE771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918D33C7-160B-3841-B26E-2EC6548ED32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BA4A189-0F10-9C45-868F-5C8E910C6C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4B62B118-A4C7-2948-B2AF-B413BE073A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7C2FE84A-9561-4B4E-8E67-83D17A81B7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95BD777C-FD32-704F-9ED4-CFA8D2D8D3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3593A1B1-B710-D044-B8BD-F9D326F242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38" name="Picture 337" descr="A picture containing sitting, drawing, bus&#10;&#10;Description automatically generated">
            <a:extLst>
              <a:ext uri="{FF2B5EF4-FFF2-40B4-BE49-F238E27FC236}">
                <a16:creationId xmlns:a16="http://schemas.microsoft.com/office/drawing/2014/main" id="{8FC7C625-2F57-DF43-A82B-FB97606C6E2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7870" y="2582561"/>
            <a:ext cx="458905" cy="259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8935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8613577" y="1618048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9001835" y="2420515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10266704" y="1724952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10674916" y="2646256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9025317" y="1481780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2276" y="43887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 Configuring data-plane tunnels for mobile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5325762" y="1631091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6598499" y="4190041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6405288" y="2756620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7679148" y="4319102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7061367" y="2881622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7084333" y="3238121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10025768" y="2464709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9375725" y="2086359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6368808" y="2431171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5529878" y="1717588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10993163" y="1729946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9013140" y="2742767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9005680" y="35441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0249" y="4216742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9007164" y="3212355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CFD3BFD2-F0E0-884D-B6BE-448D71ADBF64}"/>
              </a:ext>
            </a:extLst>
          </p:cNvPr>
          <p:cNvCxnSpPr/>
          <p:nvPr/>
        </p:nvCxnSpPr>
        <p:spPr>
          <a:xfrm rot="20906515" flipV="1">
            <a:off x="9896790" y="2423662"/>
            <a:ext cx="464131" cy="5797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71A573B-1A36-9E41-BA93-1504A5DA2FFD}"/>
              </a:ext>
            </a:extLst>
          </p:cNvPr>
          <p:cNvCxnSpPr/>
          <p:nvPr/>
        </p:nvCxnSpPr>
        <p:spPr>
          <a:xfrm flipH="1">
            <a:off x="10840635" y="2349575"/>
            <a:ext cx="496226" cy="5943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6" name="Freeform 335">
            <a:extLst>
              <a:ext uri="{FF2B5EF4-FFF2-40B4-BE49-F238E27FC236}">
                <a16:creationId xmlns:a16="http://schemas.microsoft.com/office/drawing/2014/main" id="{9E7D6D60-8A88-1443-A68D-2DD1F7A6C801}"/>
              </a:ext>
            </a:extLst>
          </p:cNvPr>
          <p:cNvSpPr/>
          <p:nvPr/>
        </p:nvSpPr>
        <p:spPr>
          <a:xfrm>
            <a:off x="6734082" y="2576072"/>
            <a:ext cx="782783" cy="1736085"/>
          </a:xfrm>
          <a:custGeom>
            <a:avLst/>
            <a:gdLst>
              <a:gd name="connsiteX0" fmla="*/ 79928 w 995582"/>
              <a:gd name="connsiteY0" fmla="*/ 0 h 1635577"/>
              <a:gd name="connsiteX1" fmla="*/ 79928 w 995582"/>
              <a:gd name="connsiteY1" fmla="*/ 266182 h 1635577"/>
              <a:gd name="connsiteX2" fmla="*/ 910569 w 995582"/>
              <a:gd name="connsiteY2" fmla="*/ 756855 h 1635577"/>
              <a:gd name="connsiteX3" fmla="*/ 968297 w 995582"/>
              <a:gd name="connsiteY3" fmla="*/ 1635577 h 1635577"/>
              <a:gd name="connsiteX0" fmla="*/ 58304 w 1018857"/>
              <a:gd name="connsiteY0" fmla="*/ 0 h 1622749"/>
              <a:gd name="connsiteX1" fmla="*/ 103203 w 1018857"/>
              <a:gd name="connsiteY1" fmla="*/ 253354 h 1622749"/>
              <a:gd name="connsiteX2" fmla="*/ 933844 w 1018857"/>
              <a:gd name="connsiteY2" fmla="*/ 744027 h 1622749"/>
              <a:gd name="connsiteX3" fmla="*/ 991572 w 1018857"/>
              <a:gd name="connsiteY3" fmla="*/ 1622749 h 1622749"/>
              <a:gd name="connsiteX0" fmla="*/ 32684 w 993237"/>
              <a:gd name="connsiteY0" fmla="*/ 0 h 1622749"/>
              <a:gd name="connsiteX1" fmla="*/ 77583 w 993237"/>
              <a:gd name="connsiteY1" fmla="*/ 253354 h 1622749"/>
              <a:gd name="connsiteX2" fmla="*/ 908224 w 993237"/>
              <a:gd name="connsiteY2" fmla="*/ 744027 h 1622749"/>
              <a:gd name="connsiteX3" fmla="*/ 965952 w 993237"/>
              <a:gd name="connsiteY3" fmla="*/ 1622749 h 1622749"/>
              <a:gd name="connsiteX0" fmla="*/ 52066 w 980548"/>
              <a:gd name="connsiteY0" fmla="*/ 0 h 1622749"/>
              <a:gd name="connsiteX1" fmla="*/ 64894 w 980548"/>
              <a:gd name="connsiteY1" fmla="*/ 253354 h 1622749"/>
              <a:gd name="connsiteX2" fmla="*/ 895535 w 980548"/>
              <a:gd name="connsiteY2" fmla="*/ 744027 h 1622749"/>
              <a:gd name="connsiteX3" fmla="*/ 953263 w 980548"/>
              <a:gd name="connsiteY3" fmla="*/ 1622749 h 1622749"/>
              <a:gd name="connsiteX0" fmla="*/ 0 w 928482"/>
              <a:gd name="connsiteY0" fmla="*/ 0 h 1622749"/>
              <a:gd name="connsiteX1" fmla="*/ 12828 w 928482"/>
              <a:gd name="connsiteY1" fmla="*/ 253354 h 1622749"/>
              <a:gd name="connsiteX2" fmla="*/ 843469 w 928482"/>
              <a:gd name="connsiteY2" fmla="*/ 744027 h 1622749"/>
              <a:gd name="connsiteX3" fmla="*/ 901197 w 928482"/>
              <a:gd name="connsiteY3" fmla="*/ 1622749 h 1622749"/>
              <a:gd name="connsiteX0" fmla="*/ 54147 w 979422"/>
              <a:gd name="connsiteY0" fmla="*/ 0 h 1625956"/>
              <a:gd name="connsiteX1" fmla="*/ 63768 w 979422"/>
              <a:gd name="connsiteY1" fmla="*/ 256561 h 1625956"/>
              <a:gd name="connsiteX2" fmla="*/ 894409 w 979422"/>
              <a:gd name="connsiteY2" fmla="*/ 747234 h 1625956"/>
              <a:gd name="connsiteX3" fmla="*/ 952137 w 979422"/>
              <a:gd name="connsiteY3" fmla="*/ 1625956 h 1625956"/>
              <a:gd name="connsiteX0" fmla="*/ 0 w 925275"/>
              <a:gd name="connsiteY0" fmla="*/ 0 h 1625956"/>
              <a:gd name="connsiteX1" fmla="*/ 9621 w 925275"/>
              <a:gd name="connsiteY1" fmla="*/ 256561 h 1625956"/>
              <a:gd name="connsiteX2" fmla="*/ 840262 w 925275"/>
              <a:gd name="connsiteY2" fmla="*/ 747234 h 1625956"/>
              <a:gd name="connsiteX3" fmla="*/ 897990 w 925275"/>
              <a:gd name="connsiteY3" fmla="*/ 1625956 h 1625956"/>
              <a:gd name="connsiteX0" fmla="*/ 0 w 963319"/>
              <a:gd name="connsiteY0" fmla="*/ 0 h 1625956"/>
              <a:gd name="connsiteX1" fmla="*/ 9621 w 963319"/>
              <a:gd name="connsiteY1" fmla="*/ 256561 h 1625956"/>
              <a:gd name="connsiteX2" fmla="*/ 840262 w 963319"/>
              <a:gd name="connsiteY2" fmla="*/ 747234 h 1625956"/>
              <a:gd name="connsiteX3" fmla="*/ 958925 w 963319"/>
              <a:gd name="connsiteY3" fmla="*/ 1625956 h 1625956"/>
              <a:gd name="connsiteX0" fmla="*/ 49637 w 1008562"/>
              <a:gd name="connsiteY0" fmla="*/ 0 h 1625956"/>
              <a:gd name="connsiteX1" fmla="*/ 59258 w 1008562"/>
              <a:gd name="connsiteY1" fmla="*/ 256561 h 1625956"/>
              <a:gd name="connsiteX2" fmla="*/ 828964 w 1008562"/>
              <a:gd name="connsiteY2" fmla="*/ 686301 h 1625956"/>
              <a:gd name="connsiteX3" fmla="*/ 1008562 w 1008562"/>
              <a:gd name="connsiteY3" fmla="*/ 1625956 h 1625956"/>
              <a:gd name="connsiteX0" fmla="*/ 56046 w 1028285"/>
              <a:gd name="connsiteY0" fmla="*/ 0 h 1625956"/>
              <a:gd name="connsiteX1" fmla="*/ 65667 w 1028285"/>
              <a:gd name="connsiteY1" fmla="*/ 256561 h 1625956"/>
              <a:gd name="connsiteX2" fmla="*/ 921965 w 1028285"/>
              <a:gd name="connsiteY2" fmla="*/ 657438 h 1625956"/>
              <a:gd name="connsiteX3" fmla="*/ 1014971 w 1028285"/>
              <a:gd name="connsiteY3" fmla="*/ 1625956 h 1625956"/>
              <a:gd name="connsiteX0" fmla="*/ 59608 w 1057830"/>
              <a:gd name="connsiteY0" fmla="*/ 0 h 1625956"/>
              <a:gd name="connsiteX1" fmla="*/ 69229 w 1057830"/>
              <a:gd name="connsiteY1" fmla="*/ 256561 h 1625956"/>
              <a:gd name="connsiteX2" fmla="*/ 973634 w 1057830"/>
              <a:gd name="connsiteY2" fmla="*/ 628575 h 1625956"/>
              <a:gd name="connsiteX3" fmla="*/ 1018533 w 1057830"/>
              <a:gd name="connsiteY3" fmla="*/ 1625956 h 1625956"/>
              <a:gd name="connsiteX0" fmla="*/ 59608 w 1042952"/>
              <a:gd name="connsiteY0" fmla="*/ 0 h 1625956"/>
              <a:gd name="connsiteX1" fmla="*/ 69229 w 1042952"/>
              <a:gd name="connsiteY1" fmla="*/ 256561 h 1625956"/>
              <a:gd name="connsiteX2" fmla="*/ 973634 w 1042952"/>
              <a:gd name="connsiteY2" fmla="*/ 628575 h 1625956"/>
              <a:gd name="connsiteX3" fmla="*/ 1018533 w 1042952"/>
              <a:gd name="connsiteY3" fmla="*/ 1625956 h 1625956"/>
              <a:gd name="connsiteX0" fmla="*/ 59608 w 1084668"/>
              <a:gd name="connsiteY0" fmla="*/ 0 h 1625956"/>
              <a:gd name="connsiteX1" fmla="*/ 69229 w 1084668"/>
              <a:gd name="connsiteY1" fmla="*/ 256561 h 1625956"/>
              <a:gd name="connsiteX2" fmla="*/ 973634 w 1084668"/>
              <a:gd name="connsiteY2" fmla="*/ 628575 h 1625956"/>
              <a:gd name="connsiteX3" fmla="*/ 1069847 w 1084668"/>
              <a:gd name="connsiteY3" fmla="*/ 1625956 h 1625956"/>
              <a:gd name="connsiteX0" fmla="*/ 0 w 1025060"/>
              <a:gd name="connsiteY0" fmla="*/ 0 h 1625956"/>
              <a:gd name="connsiteX1" fmla="*/ 9621 w 1025060"/>
              <a:gd name="connsiteY1" fmla="*/ 256561 h 1625956"/>
              <a:gd name="connsiteX2" fmla="*/ 914026 w 1025060"/>
              <a:gd name="connsiteY2" fmla="*/ 628575 h 1625956"/>
              <a:gd name="connsiteX3" fmla="*/ 1010239 w 1025060"/>
              <a:gd name="connsiteY3" fmla="*/ 1625956 h 1625956"/>
              <a:gd name="connsiteX0" fmla="*/ 4233 w 1029293"/>
              <a:gd name="connsiteY0" fmla="*/ 0 h 1625956"/>
              <a:gd name="connsiteX1" fmla="*/ 13854 w 1029293"/>
              <a:gd name="connsiteY1" fmla="*/ 256561 h 1625956"/>
              <a:gd name="connsiteX2" fmla="*/ 918259 w 1029293"/>
              <a:gd name="connsiteY2" fmla="*/ 628575 h 1625956"/>
              <a:gd name="connsiteX3" fmla="*/ 1014472 w 1029293"/>
              <a:gd name="connsiteY3" fmla="*/ 1625956 h 1625956"/>
              <a:gd name="connsiteX0" fmla="*/ 55456 w 1086930"/>
              <a:gd name="connsiteY0" fmla="*/ 0 h 1625956"/>
              <a:gd name="connsiteX1" fmla="*/ 71491 w 1086930"/>
              <a:gd name="connsiteY1" fmla="*/ 256561 h 1625956"/>
              <a:gd name="connsiteX2" fmla="*/ 975896 w 1086930"/>
              <a:gd name="connsiteY2" fmla="*/ 628575 h 1625956"/>
              <a:gd name="connsiteX3" fmla="*/ 1072109 w 1086930"/>
              <a:gd name="connsiteY3" fmla="*/ 1625956 h 1625956"/>
              <a:gd name="connsiteX0" fmla="*/ 3455 w 1034929"/>
              <a:gd name="connsiteY0" fmla="*/ 0 h 1625956"/>
              <a:gd name="connsiteX1" fmla="*/ 19490 w 1034929"/>
              <a:gd name="connsiteY1" fmla="*/ 256561 h 1625956"/>
              <a:gd name="connsiteX2" fmla="*/ 923895 w 1034929"/>
              <a:gd name="connsiteY2" fmla="*/ 628575 h 1625956"/>
              <a:gd name="connsiteX3" fmla="*/ 1020108 w 1034929"/>
              <a:gd name="connsiteY3" fmla="*/ 1625956 h 1625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4929" h="1625956">
                <a:moveTo>
                  <a:pt x="3455" y="0"/>
                </a:moveTo>
                <a:cubicBezTo>
                  <a:pt x="7999" y="95676"/>
                  <a:pt x="-15254" y="187076"/>
                  <a:pt x="19490" y="256561"/>
                </a:cubicBezTo>
                <a:cubicBezTo>
                  <a:pt x="54234" y="326046"/>
                  <a:pt x="757125" y="400343"/>
                  <a:pt x="923895" y="628575"/>
                </a:cubicBezTo>
                <a:cubicBezTo>
                  <a:pt x="1090665" y="856807"/>
                  <a:pt x="1020108" y="1625956"/>
                  <a:pt x="1020108" y="1625956"/>
                </a:cubicBezTo>
              </a:path>
            </a:pathLst>
          </a:cu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09A6648-EFB8-3943-B46A-E5218CD8264E}"/>
              </a:ext>
            </a:extLst>
          </p:cNvPr>
          <p:cNvGrpSpPr/>
          <p:nvPr/>
        </p:nvGrpSpPr>
        <p:grpSpPr>
          <a:xfrm>
            <a:off x="7007195" y="2463030"/>
            <a:ext cx="1984577" cy="218510"/>
            <a:chOff x="4041573" y="2957301"/>
            <a:chExt cx="1984577" cy="218510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7DDB1FA6-77C6-614D-BD82-B9E4B4199664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0FBE258-C083-2D4F-A69C-840E2F838902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0464BD62-6851-9D4E-8EC7-D08BEF56AD90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DE92EBFE-9A46-D44D-8555-375374485D9A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4750FC29-3909-D347-80EB-BC9704812E96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86FF22AE-3362-E24B-8883-B5B190B5AE6D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764ECD9E-0DDA-9748-8C2A-9445D56693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2AAEE96-D2F9-7F4E-A657-7685DA3ED232}"/>
              </a:ext>
            </a:extLst>
          </p:cNvPr>
          <p:cNvGrpSpPr/>
          <p:nvPr/>
        </p:nvGrpSpPr>
        <p:grpSpPr>
          <a:xfrm rot="20899240">
            <a:off x="9791368" y="2349452"/>
            <a:ext cx="404020" cy="197661"/>
            <a:chOff x="1616358" y="2551230"/>
            <a:chExt cx="2141698" cy="21851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EC8E462-FB13-674B-B585-DCE701467A52}"/>
                </a:ext>
              </a:extLst>
            </p:cNvPr>
            <p:cNvSpPr/>
            <p:nvPr/>
          </p:nvSpPr>
          <p:spPr>
            <a:xfrm>
              <a:off x="1673508" y="2551230"/>
              <a:ext cx="2027398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1D5CEED2-B767-3F4F-9FF2-C27379845958}"/>
                </a:ext>
              </a:extLst>
            </p:cNvPr>
            <p:cNvSpPr/>
            <p:nvPr/>
          </p:nvSpPr>
          <p:spPr>
            <a:xfrm>
              <a:off x="1616358" y="2551230"/>
              <a:ext cx="114300" cy="218510"/>
            </a:xfrm>
            <a:prstGeom prst="ellipse">
              <a:avLst/>
            </a:prstGeom>
            <a:solidFill>
              <a:srgbClr val="7ACCF4"/>
            </a:soli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50982CB2-3FC0-EC4C-8BA3-8E8637F87CFB}"/>
                </a:ext>
              </a:extLst>
            </p:cNvPr>
            <p:cNvSpPr/>
            <p:nvPr/>
          </p:nvSpPr>
          <p:spPr>
            <a:xfrm>
              <a:off x="3643756" y="2551230"/>
              <a:ext cx="114300" cy="218510"/>
            </a:xfrm>
            <a:prstGeom prst="ellipse">
              <a:avLst/>
            </a:prstGeom>
            <a:gradFill flip="none" rotWithShape="1">
              <a:gsLst>
                <a:gs pos="0">
                  <a:srgbClr val="011199"/>
                </a:gs>
                <a:gs pos="100000">
                  <a:srgbClr val="011199"/>
                </a:gs>
                <a:gs pos="50000">
                  <a:srgbClr val="7ACCF4"/>
                </a:gs>
              </a:gsLst>
              <a:lin ang="16200000" scaled="0"/>
              <a:tileRect/>
            </a:gra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B7CCD938-DD6B-CD4C-B9DE-969E07F2D0A1}"/>
                </a:ext>
              </a:extLst>
            </p:cNvPr>
            <p:cNvSpPr/>
            <p:nvPr/>
          </p:nvSpPr>
          <p:spPr>
            <a:xfrm>
              <a:off x="3491356" y="2551230"/>
              <a:ext cx="209550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</p:grp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B36E049F-4ACF-C546-B674-027F711023CB}"/>
              </a:ext>
            </a:extLst>
          </p:cNvPr>
          <p:cNvCxnSpPr/>
          <p:nvPr/>
        </p:nvCxnSpPr>
        <p:spPr>
          <a:xfrm rot="20906515">
            <a:off x="9609030" y="2518898"/>
            <a:ext cx="203668" cy="0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9" name="TextBox 348">
            <a:extLst>
              <a:ext uri="{FF2B5EF4-FFF2-40B4-BE49-F238E27FC236}">
                <a16:creationId xmlns:a16="http://schemas.microsoft.com/office/drawing/2014/main" id="{E3E1098A-A48F-6B4B-85DC-703CBA9FB795}"/>
              </a:ext>
            </a:extLst>
          </p:cNvPr>
          <p:cNvSpPr txBox="1"/>
          <p:nvPr/>
        </p:nvSpPr>
        <p:spPr>
          <a:xfrm>
            <a:off x="9744735" y="3569167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FF6E866-3556-4748-A1CD-F33B17405DF2}"/>
              </a:ext>
            </a:extLst>
          </p:cNvPr>
          <p:cNvSpPr txBox="1"/>
          <p:nvPr/>
        </p:nvSpPr>
        <p:spPr>
          <a:xfrm>
            <a:off x="5420627" y="2490935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351" name="Content Placeholder 2">
            <a:extLst>
              <a:ext uri="{FF2B5EF4-FFF2-40B4-BE49-F238E27FC236}">
                <a16:creationId xmlns:a16="http://schemas.microsoft.com/office/drawing/2014/main" id="{6E8EC976-A4DB-4741-9AA6-0102B71A8E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6417" y="1649886"/>
            <a:ext cx="4339281" cy="3391672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0012A0"/>
                </a:solidFill>
              </a:rPr>
              <a:t>S-GW to BS tunnel</a:t>
            </a:r>
            <a:r>
              <a:rPr lang="en-US" dirty="0"/>
              <a:t>: when mobile changes base stations, simply change endpoint IP address of tunnel</a:t>
            </a:r>
          </a:p>
          <a:p>
            <a:r>
              <a:rPr lang="en-US" dirty="0">
                <a:solidFill>
                  <a:srgbClr val="0012A0"/>
                </a:solidFill>
              </a:rPr>
              <a:t>S-GW to home P-GW tunnel: </a:t>
            </a:r>
            <a:r>
              <a:rPr lang="en-US" dirty="0"/>
              <a:t>implementation of indirect routing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52" name="Content Placeholder 2">
            <a:extLst>
              <a:ext uri="{FF2B5EF4-FFF2-40B4-BE49-F238E27FC236}">
                <a16:creationId xmlns:a16="http://schemas.microsoft.com/office/drawing/2014/main" id="{F911BA04-D2F1-854D-AD8A-832332A06523}"/>
              </a:ext>
            </a:extLst>
          </p:cNvPr>
          <p:cNvSpPr txBox="1">
            <a:spLocks/>
          </p:cNvSpPr>
          <p:nvPr/>
        </p:nvSpPr>
        <p:spPr>
          <a:xfrm>
            <a:off x="768179" y="5115696"/>
            <a:ext cx="10735962" cy="1000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12A0"/>
                </a:solidFill>
              </a:rPr>
              <a:t>tunneling via GTP </a:t>
            </a:r>
            <a:r>
              <a:rPr lang="en-US" sz="2400" dirty="0"/>
              <a:t>(GPRS tunneling protocol): </a:t>
            </a:r>
            <a:r>
              <a:rPr lang="en-US" dirty="0"/>
              <a:t>mobile’s datagram to streaming server encapsulated using GTP inside UDP, inside datagram</a:t>
            </a:r>
          </a:p>
          <a:p>
            <a:pPr marL="130175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9494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13569EAF-EE3D-0048-9D23-F62CE0F922F6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33CEF85A-B3CE-524B-9448-D522A443B700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E92346B9-CDCD-114E-9D23-9600310716A6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sp>
        <p:nvSpPr>
          <p:cNvPr id="386" name="TextBox 385">
            <a:extLst>
              <a:ext uri="{FF2B5EF4-FFF2-40B4-BE49-F238E27FC236}">
                <a16:creationId xmlns:a16="http://schemas.microsoft.com/office/drawing/2014/main" id="{03A36E60-FFEC-5940-BCAC-7297F28652D0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91" name="Group 490">
            <a:extLst>
              <a:ext uri="{FF2B5EF4-FFF2-40B4-BE49-F238E27FC236}">
                <a16:creationId xmlns:a16="http://schemas.microsoft.com/office/drawing/2014/main" id="{56BDD917-2F7E-C643-92DB-42339F467FA7}"/>
              </a:ext>
            </a:extLst>
          </p:cNvPr>
          <p:cNvGrpSpPr/>
          <p:nvPr/>
        </p:nvGrpSpPr>
        <p:grpSpPr>
          <a:xfrm rot="20440135">
            <a:off x="3260114" y="2251612"/>
            <a:ext cx="1690954" cy="185014"/>
            <a:chOff x="4041573" y="2957301"/>
            <a:chExt cx="1984577" cy="218510"/>
          </a:xfrm>
        </p:grpSpPr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CA4B32B7-3892-7044-98B9-E077474A5702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E12B6FC-9614-A647-AF5B-E4E5624E0198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99147F66-4694-084D-8DEE-00B911014804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4E2086BE-C122-3B4D-BB11-7A88BF0D3683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EBE0D631-59EE-F840-AC7F-54E173252DE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A8B23F7F-6A04-F24C-A925-0FBD3BBAAE68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82CBED8A-D004-9141-AB23-87EDA94626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B1A11A3-A155-094E-990C-C3F1DE53F476}"/>
              </a:ext>
            </a:extLst>
          </p:cNvPr>
          <p:cNvGrpSpPr/>
          <p:nvPr/>
        </p:nvGrpSpPr>
        <p:grpSpPr>
          <a:xfrm>
            <a:off x="929896" y="1795181"/>
            <a:ext cx="5740747" cy="815546"/>
            <a:chOff x="919545" y="1791730"/>
            <a:chExt cx="5740747" cy="815546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65B013D-FE75-2945-B23E-E04CEE6DB3A9}"/>
                </a:ext>
              </a:extLst>
            </p:cNvPr>
            <p:cNvSpPr/>
            <p:nvPr/>
          </p:nvSpPr>
          <p:spPr>
            <a:xfrm>
              <a:off x="3422822" y="1952368"/>
              <a:ext cx="3237470" cy="654908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654908">
                  <a:moveTo>
                    <a:pt x="0" y="654908"/>
                  </a:moveTo>
                  <a:lnTo>
                    <a:pt x="1791729" y="0"/>
                  </a:lnTo>
                  <a:lnTo>
                    <a:pt x="3237470" y="469556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8B82826-EA67-C64D-B6CE-44CEB9F6B8C7}"/>
                </a:ext>
              </a:extLst>
            </p:cNvPr>
            <p:cNvSpPr txBox="1"/>
            <p:nvPr/>
          </p:nvSpPr>
          <p:spPr>
            <a:xfrm>
              <a:off x="919545" y="1791730"/>
              <a:ext cx="29658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before</a:t>
              </a:r>
              <a:r>
                <a:rPr lang="en-US" sz="2000" i="1" dirty="0"/>
                <a:t> handover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D2D62EC-BC55-3445-B872-D286CE8A4F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81168" y="2038866"/>
              <a:ext cx="529575" cy="25076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7609C10-2F43-AC43-BB47-BBF391C60D65}"/>
              </a:ext>
            </a:extLst>
          </p:cNvPr>
          <p:cNvGrpSpPr/>
          <p:nvPr/>
        </p:nvGrpSpPr>
        <p:grpSpPr>
          <a:xfrm>
            <a:off x="894837" y="2870887"/>
            <a:ext cx="5732503" cy="1270550"/>
            <a:chOff x="894837" y="2870887"/>
            <a:chExt cx="5732503" cy="1270550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CD528183-16D3-3948-8FA7-9E3D78AC8FCC}"/>
                </a:ext>
              </a:extLst>
            </p:cNvPr>
            <p:cNvSpPr/>
            <p:nvPr/>
          </p:nvSpPr>
          <p:spPr>
            <a:xfrm flipV="1">
              <a:off x="3389870" y="2870887"/>
              <a:ext cx="3237470" cy="889687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3237470"/>
                <a:gd name="connsiteY0" fmla="*/ 889687 h 889687"/>
                <a:gd name="connsiteX1" fmla="*/ 1940010 w 3237470"/>
                <a:gd name="connsiteY1" fmla="*/ 0 h 889687"/>
                <a:gd name="connsiteX2" fmla="*/ 3237470 w 3237470"/>
                <a:gd name="connsiteY2" fmla="*/ 704335 h 88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889687">
                  <a:moveTo>
                    <a:pt x="0" y="889687"/>
                  </a:moveTo>
                  <a:lnTo>
                    <a:pt x="1940010" y="0"/>
                  </a:lnTo>
                  <a:lnTo>
                    <a:pt x="3237470" y="704335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3DEDE12-9552-0046-AAF1-1D43C1E99420}"/>
                </a:ext>
              </a:extLst>
            </p:cNvPr>
            <p:cNvSpPr txBox="1"/>
            <p:nvPr/>
          </p:nvSpPr>
          <p:spPr>
            <a:xfrm>
              <a:off x="894837" y="3550506"/>
              <a:ext cx="1819857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after</a:t>
              </a:r>
              <a:r>
                <a:rPr lang="en-US" sz="2000" i="1" dirty="0"/>
                <a:t> </a:t>
              </a:r>
            </a:p>
            <a:p>
              <a:pPr algn="r">
                <a:lnSpc>
                  <a:spcPct val="80000"/>
                </a:lnSpc>
              </a:pPr>
              <a:r>
                <a:rPr lang="en-US" sz="2000" i="1" dirty="0"/>
                <a:t>handover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572BA2A-78CF-D24C-8B0E-81659CB0E94D}"/>
                </a:ext>
              </a:extLst>
            </p:cNvPr>
            <p:cNvCxnSpPr/>
            <p:nvPr/>
          </p:nvCxnSpPr>
          <p:spPr>
            <a:xfrm flipH="1">
              <a:off x="2627086" y="3077029"/>
              <a:ext cx="1193800" cy="64588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8A24C51-BD92-DA4C-884D-EBC11A5FC13A}"/>
              </a:ext>
            </a:extLst>
          </p:cNvPr>
          <p:cNvGrpSpPr/>
          <p:nvPr/>
        </p:nvGrpSpPr>
        <p:grpSpPr>
          <a:xfrm>
            <a:off x="7553237" y="1713235"/>
            <a:ext cx="4420461" cy="1093882"/>
            <a:chOff x="7553237" y="1713235"/>
            <a:chExt cx="4420461" cy="1093882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91BBA20-A08B-244F-8A67-601970B6DE60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9FF046EA-BF0F-CB42-A27A-C9054C24332C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E8BD1B8-4FB7-5547-A132-CB05AA359933}"/>
                  </a:ext>
                </a:extLst>
              </p:cNvPr>
              <p:cNvSpPr txBox="1"/>
              <p:nvPr/>
            </p:nvSpPr>
            <p:spPr>
              <a:xfrm>
                <a:off x="7615879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EED362-49DA-364D-8806-92ACCEDF16AC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current (source) BS selects target BS, sends </a:t>
              </a:r>
              <a:r>
                <a:rPr lang="en-US" sz="2400" i="1" dirty="0">
                  <a:solidFill>
                    <a:prstClr val="black"/>
                  </a:solidFill>
                </a:rPr>
                <a:t>Handover Request message</a:t>
              </a:r>
              <a:r>
                <a:rPr lang="en-US" sz="2400" dirty="0">
                  <a:solidFill>
                    <a:prstClr val="black"/>
                  </a:solidFill>
                </a:rPr>
                <a:t> to target BS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DF1BF3CD-717B-6546-B067-E810847567C8}"/>
              </a:ext>
            </a:extLst>
          </p:cNvPr>
          <p:cNvGrpSpPr/>
          <p:nvPr/>
        </p:nvGrpSpPr>
        <p:grpSpPr>
          <a:xfrm>
            <a:off x="7322578" y="3002456"/>
            <a:ext cx="4420461" cy="1093882"/>
            <a:chOff x="7553237" y="1713235"/>
            <a:chExt cx="4420461" cy="1093882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D57CFF-CEAF-6345-A242-2AECA20B2102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F1DA580B-DD3B-3844-A5FD-0261638FCB3E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37252C6A-ABC4-5446-8613-D90C580D25F9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2 </a:t>
                </a:r>
              </a:p>
            </p:txBody>
          </p:sp>
        </p:grp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D55742-112B-AB49-9197-B7D7CDED7617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pre-allocates radio time slots, responds with HR ACK with info for mobile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4727555" y="4328748"/>
            <a:ext cx="6480014" cy="1145178"/>
            <a:chOff x="7578978" y="1713235"/>
            <a:chExt cx="5077295" cy="1145178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78978" y="1713235"/>
              <a:ext cx="285428" cy="461665"/>
              <a:chOff x="7578978" y="1713235"/>
              <a:chExt cx="285428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78978" y="1777108"/>
                <a:ext cx="285428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3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140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informs mobile of new BS 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mobile can now send via new BS - handover </a:t>
              </a:r>
              <a:r>
                <a:rPr lang="en-US" sz="2400" i="1" dirty="0">
                  <a:solidFill>
                    <a:prstClr val="black"/>
                  </a:solidFill>
                </a:rPr>
                <a:t>looks</a:t>
              </a:r>
              <a:r>
                <a:rPr lang="en-US" sz="2400" dirty="0">
                  <a:solidFill>
                    <a:prstClr val="black"/>
                  </a:solidFill>
                </a:rPr>
                <a:t> complete to mobile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74860" y="5531473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4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stops sending datagrams to mobile, instead forwards to new BS (who forwards to mobile over radio channel)</a:t>
              </a:r>
            </a:p>
          </p:txBody>
        </p:sp>
      </p:grpSp>
      <p:sp>
        <p:nvSpPr>
          <p:cNvPr id="570" name="Freeform 569">
            <a:extLst>
              <a:ext uri="{FF2B5EF4-FFF2-40B4-BE49-F238E27FC236}">
                <a16:creationId xmlns:a16="http://schemas.microsoft.com/office/drawing/2014/main" id="{B209C417-6680-994B-96AA-4E0674716D09}"/>
              </a:ext>
            </a:extLst>
          </p:cNvPr>
          <p:cNvSpPr/>
          <p:nvPr/>
        </p:nvSpPr>
        <p:spPr>
          <a:xfrm rot="1152071" flipV="1">
            <a:off x="5453609" y="2257286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075D086-EB03-6941-BABC-5B56144F25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178DA2C6-3972-0945-BADF-B6D81BB8B2AD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5637B-0567-9A42-BCCA-01B51D2070A1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E3108DE0-DF6F-994C-B6DA-31959FFCFD3C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5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animBg="1"/>
      <p:bldP spid="570" grpId="1" animBg="1"/>
      <p:bldP spid="571" grpId="0" animBg="1"/>
      <p:bldP spid="572" grpId="0" animBg="1"/>
      <p:bldP spid="573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23A2126-26FB-D64E-B3BA-9392C80880E9}"/>
              </a:ext>
            </a:extLst>
          </p:cNvPr>
          <p:cNvGrpSpPr/>
          <p:nvPr/>
        </p:nvGrpSpPr>
        <p:grpSpPr>
          <a:xfrm>
            <a:off x="5455399" y="2259413"/>
            <a:ext cx="280177" cy="1079044"/>
            <a:chOff x="7333626" y="2741327"/>
            <a:chExt cx="280177" cy="1079044"/>
          </a:xfrm>
        </p:grpSpPr>
        <p:cxnSp>
          <p:nvCxnSpPr>
            <p:cNvPr id="396" name="Straight Arrow Connector 395">
              <a:extLst>
                <a:ext uri="{FF2B5EF4-FFF2-40B4-BE49-F238E27FC236}">
                  <a16:creationId xmlns:a16="http://schemas.microsoft.com/office/drawing/2014/main" id="{6B7D4D45-B41F-5F47-86A7-010659181B55}"/>
                </a:ext>
              </a:extLst>
            </p:cNvPr>
            <p:cNvCxnSpPr/>
            <p:nvPr/>
          </p:nvCxnSpPr>
          <p:spPr>
            <a:xfrm flipV="1">
              <a:off x="7474463" y="2741327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F03CB074-7E99-4541-ACDA-3F7C1EF27FEB}"/>
                </a:ext>
              </a:extLst>
            </p:cNvPr>
            <p:cNvGrpSpPr/>
            <p:nvPr/>
          </p:nvGrpSpPr>
          <p:grpSpPr>
            <a:xfrm>
              <a:off x="7333626" y="3084575"/>
              <a:ext cx="280177" cy="369332"/>
              <a:chOff x="476841" y="5911252"/>
              <a:chExt cx="341714" cy="438908"/>
            </a:xfrm>
          </p:grpSpPr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E3A8B135-6975-4B4B-B071-4246574D6882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DD5A0FC2-1A68-C74B-9AE3-6F59DB99272E}"/>
                  </a:ext>
                </a:extLst>
              </p:cNvPr>
              <p:cNvSpPr txBox="1"/>
              <p:nvPr/>
            </p:nvSpPr>
            <p:spPr>
              <a:xfrm>
                <a:off x="476841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6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45C757E-4FB9-994D-8A52-918844555535}"/>
              </a:ext>
            </a:extLst>
          </p:cNvPr>
          <p:cNvGrpSpPr/>
          <p:nvPr/>
        </p:nvGrpSpPr>
        <p:grpSpPr>
          <a:xfrm>
            <a:off x="3305566" y="3529589"/>
            <a:ext cx="1631884" cy="369332"/>
            <a:chOff x="5183793" y="4011503"/>
            <a:chExt cx="1631884" cy="369332"/>
          </a:xfrm>
        </p:grpSpPr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25B9D50B-E21F-1B49-809B-D0192D984D44}"/>
                </a:ext>
              </a:extLst>
            </p:cNvPr>
            <p:cNvCxnSpPr/>
            <p:nvPr/>
          </p:nvCxnSpPr>
          <p:spPr>
            <a:xfrm flipH="1">
              <a:off x="5183793" y="4184862"/>
              <a:ext cx="1631884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F7AACAF2-1587-D841-805F-6C3278D3F0F6}"/>
                </a:ext>
              </a:extLst>
            </p:cNvPr>
            <p:cNvSpPr/>
            <p:nvPr/>
          </p:nvSpPr>
          <p:spPr>
            <a:xfrm>
              <a:off x="5816201" y="4061559"/>
              <a:ext cx="261316" cy="268189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C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590A2DA-80DA-4A4B-90C1-DECD24336D6C}"/>
                </a:ext>
              </a:extLst>
            </p:cNvPr>
            <p:cNvSpPr txBox="1"/>
            <p:nvPr/>
          </p:nvSpPr>
          <p:spPr>
            <a:xfrm>
              <a:off x="5847524" y="4011503"/>
              <a:ext cx="1966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rgbClr val="C00000"/>
                  </a:solidFill>
                </a:rPr>
                <a:t>5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AC9C88E-27A4-E54F-A12A-B48D5EAC1365}"/>
              </a:ext>
            </a:extLst>
          </p:cNvPr>
          <p:cNvGrpSpPr/>
          <p:nvPr/>
        </p:nvGrpSpPr>
        <p:grpSpPr>
          <a:xfrm>
            <a:off x="2941077" y="2859464"/>
            <a:ext cx="261316" cy="564979"/>
            <a:chOff x="4852757" y="3380408"/>
            <a:chExt cx="261316" cy="564979"/>
          </a:xfrm>
        </p:grpSpPr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D1CF5153-F20C-D74C-B15B-577E057E1D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87206" y="3380408"/>
              <a:ext cx="3881" cy="56497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0D8FF44-7373-BE4A-9926-38F953E6A8A8}"/>
                </a:ext>
              </a:extLst>
            </p:cNvPr>
            <p:cNvGrpSpPr/>
            <p:nvPr/>
          </p:nvGrpSpPr>
          <p:grpSpPr>
            <a:xfrm>
              <a:off x="4852757" y="3527520"/>
              <a:ext cx="261316" cy="369332"/>
              <a:chOff x="4813725" y="3527520"/>
              <a:chExt cx="261316" cy="369332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EAAFF8DB-F145-4B4A-B87B-B057694B9A6A}"/>
                  </a:ext>
                </a:extLst>
              </p:cNvPr>
              <p:cNvSpPr/>
              <p:nvPr/>
            </p:nvSpPr>
            <p:spPr>
              <a:xfrm>
                <a:off x="4813725" y="3572000"/>
                <a:ext cx="261316" cy="268189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0FCCCE9E-0DC8-3B4A-A870-456A84040950}"/>
                  </a:ext>
                </a:extLst>
              </p:cNvPr>
              <p:cNvSpPr txBox="1"/>
              <p:nvPr/>
            </p:nvSpPr>
            <p:spPr>
              <a:xfrm>
                <a:off x="4850624" y="3527520"/>
                <a:ext cx="19666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5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83" name="Group 482">
            <a:extLst>
              <a:ext uri="{FF2B5EF4-FFF2-40B4-BE49-F238E27FC236}">
                <a16:creationId xmlns:a16="http://schemas.microsoft.com/office/drawing/2014/main" id="{E9AE1E74-7BFB-6A4B-B646-1CC83D1A756F}"/>
              </a:ext>
            </a:extLst>
          </p:cNvPr>
          <p:cNvGrpSpPr/>
          <p:nvPr/>
        </p:nvGrpSpPr>
        <p:grpSpPr>
          <a:xfrm rot="1486542">
            <a:off x="3186674" y="3107772"/>
            <a:ext cx="1899396" cy="185014"/>
            <a:chOff x="4041573" y="2957301"/>
            <a:chExt cx="1984577" cy="218510"/>
          </a:xfrm>
        </p:grpSpPr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512ED486-037A-164A-9DBC-1E506E9A55FB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707FD24D-5A9E-C148-95BD-2EE3973F3D9C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F4B58F15-1BC1-F24E-8274-94CAA2E3D01D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4260278C-FEAA-0546-8D7D-750F70F6F38F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4065F965-5BCB-0046-B284-688C737DA54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7C20725D-1021-3F4A-A744-7C4B04ED6DE3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36DC542-8836-A64A-BDF0-9A480827B8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7179275" y="2339310"/>
            <a:ext cx="4695573" cy="1809976"/>
            <a:chOff x="7524953" y="1713235"/>
            <a:chExt cx="5131320" cy="1809976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24953" y="1713235"/>
              <a:ext cx="388032" cy="461665"/>
              <a:chOff x="7524953" y="1713235"/>
              <a:chExt cx="388032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24953" y="1780283"/>
                <a:ext cx="388032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5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805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informs MME that it is new BS for mobile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MME instructs S-GW to change tunnel endpoint to be (new) target BS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99573" y="4394652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6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ACKs back to source BS: handover complete, source BS can release resources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06750812-BE35-A942-A1E0-3A97940367AD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78A5CAD-43A9-FB49-A3D7-6E7221B53CF9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EE151A10-60BF-6240-AAC4-9D08CE15FFC1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64C9DF63-FE33-EA47-A376-292F0C9C0DFB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1CD9715C-E2B0-CB46-A005-60B01AC1382E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20B52BBE-F8A9-AB4C-BEC4-B38886B156AD}"/>
              </a:ext>
            </a:extLst>
          </p:cNvPr>
          <p:cNvGrpSpPr/>
          <p:nvPr/>
        </p:nvGrpSpPr>
        <p:grpSpPr>
          <a:xfrm rot="20440135">
            <a:off x="3317714" y="2241759"/>
            <a:ext cx="1690954" cy="185014"/>
            <a:chOff x="4041573" y="2957301"/>
            <a:chExt cx="1984577" cy="21851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6C9E614-EEBB-1341-AF6F-AD2D54FA40CE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F6680063-ADD0-AD4A-B80F-A18E931240DD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18B1804B-538B-6A4F-9E1D-0EF72D0EB957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BD84279-6763-A340-8A0F-D1E6EF57A592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E9417B8A-61A6-BB48-8A2E-C7906A7CCC33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8A17D38F-6DEE-9141-8EBA-7F67204EEB82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74EC913-15AB-784D-B1D4-33B9009334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" name="Freeform 219">
            <a:extLst>
              <a:ext uri="{FF2B5EF4-FFF2-40B4-BE49-F238E27FC236}">
                <a16:creationId xmlns:a16="http://schemas.microsoft.com/office/drawing/2014/main" id="{5ABE49C2-D7C8-7648-B24B-3F4566287D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941D8A61-A808-F741-A06F-DA3EEB10B0B8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12358A54-18EE-0E41-B151-4B0E96586A39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5C240AD-68EB-AE47-98D3-4E7153286D90}"/>
              </a:ext>
            </a:extLst>
          </p:cNvPr>
          <p:cNvGrpSpPr/>
          <p:nvPr/>
        </p:nvGrpSpPr>
        <p:grpSpPr>
          <a:xfrm>
            <a:off x="5467739" y="3015654"/>
            <a:ext cx="1018903" cy="589696"/>
            <a:chOff x="7345966" y="3497568"/>
            <a:chExt cx="1018903" cy="589696"/>
          </a:xfrm>
        </p:grpSpPr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6E15AA65-69F6-3B4D-B435-C8CDE14BBF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45966" y="3497568"/>
              <a:ext cx="1018903" cy="589696"/>
            </a:xfrm>
            <a:prstGeom prst="straightConnector1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6F08E39A-3AC4-FC40-8700-D4AF5364AE0B}"/>
                </a:ext>
              </a:extLst>
            </p:cNvPr>
            <p:cNvGrpSpPr/>
            <p:nvPr/>
          </p:nvGrpSpPr>
          <p:grpSpPr>
            <a:xfrm>
              <a:off x="7741044" y="3568415"/>
              <a:ext cx="261315" cy="369333"/>
              <a:chOff x="370357" y="5829279"/>
              <a:chExt cx="318709" cy="438909"/>
            </a:xfrm>
          </p:grpSpPr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8DD36AB7-2950-CA43-A38D-5BA079D57306}"/>
                  </a:ext>
                </a:extLst>
              </p:cNvPr>
              <p:cNvSpPr/>
              <p:nvPr/>
            </p:nvSpPr>
            <p:spPr>
              <a:xfrm>
                <a:off x="370357" y="5893203"/>
                <a:ext cx="318709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B17E6058-57DB-6347-843B-1AACB6E498EE}"/>
                  </a:ext>
                </a:extLst>
              </p:cNvPr>
              <p:cNvSpPr txBox="1"/>
              <p:nvPr/>
            </p:nvSpPr>
            <p:spPr>
              <a:xfrm>
                <a:off x="422222" y="5829279"/>
                <a:ext cx="239856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7</a:t>
                </a: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E610684-A17C-A241-B2FF-A64F3B11ABBB}"/>
              </a:ext>
            </a:extLst>
          </p:cNvPr>
          <p:cNvGrpSpPr/>
          <p:nvPr/>
        </p:nvGrpSpPr>
        <p:grpSpPr>
          <a:xfrm>
            <a:off x="1391335" y="5251387"/>
            <a:ext cx="9758577" cy="461665"/>
            <a:chOff x="7553237" y="1713235"/>
            <a:chExt cx="9758577" cy="461665"/>
          </a:xfrm>
        </p:grpSpPr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E87FDD4-AAC4-1141-8426-22F563CDA13C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43FED391-3597-2245-86FE-C336E518E919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E0CA677-F461-7F4C-AADC-5CADDB2CFDAC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7 </a:t>
                </a:r>
              </a:p>
            </p:txBody>
          </p:sp>
        </p:grp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D301E21-5BC8-3D42-ABC7-B51578EB9F97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424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mobile’s datagrams now flow through new tunnel from target BS to S-GW</a:t>
              </a:r>
            </a:p>
          </p:txBody>
        </p:sp>
      </p:grpSp>
      <p:sp>
        <p:nvSpPr>
          <p:cNvPr id="236" name="Freeform 235">
            <a:extLst>
              <a:ext uri="{FF2B5EF4-FFF2-40B4-BE49-F238E27FC236}">
                <a16:creationId xmlns:a16="http://schemas.microsoft.com/office/drawing/2014/main" id="{FA384088-94B6-A747-8547-5E922F64FFF9}"/>
              </a:ext>
            </a:extLst>
          </p:cNvPr>
          <p:cNvSpPr/>
          <p:nvPr/>
        </p:nvSpPr>
        <p:spPr>
          <a:xfrm rot="1503498" flipV="1">
            <a:off x="3178775" y="3146047"/>
            <a:ext cx="1991085" cy="66792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9631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nimBg="1"/>
      <p:bldP spid="230" grpId="0" animBg="1"/>
      <p:bldP spid="230" grpId="1" animBg="1"/>
      <p:bldP spid="236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r>
              <a:rPr lang="en-US" dirty="0"/>
              <a:t>mobile IP architecture standardized ~20 years ago </a:t>
            </a:r>
            <a:r>
              <a:rPr lang="en-US" sz="2400" dirty="0"/>
              <a:t>[RFC 5944]</a:t>
            </a:r>
          </a:p>
          <a:p>
            <a:pPr lvl="1"/>
            <a:r>
              <a:rPr lang="en-US" dirty="0"/>
              <a:t>long before ubiquitous smartphones, 4G support for Internet protocols</a:t>
            </a:r>
          </a:p>
          <a:p>
            <a:pPr lvl="1"/>
            <a:r>
              <a:rPr lang="en-US" dirty="0"/>
              <a:t>did not see wide deployment/use</a:t>
            </a:r>
          </a:p>
          <a:p>
            <a:pPr lvl="1"/>
            <a:r>
              <a:rPr lang="en-US" dirty="0"/>
              <a:t>perhaps WiFi for Internet, and 2G/3G phones for voice were “good enough” at the time</a:t>
            </a:r>
          </a:p>
          <a:p>
            <a:r>
              <a:rPr lang="en-US" sz="2400" dirty="0"/>
              <a:t>mobile IP architecture:</a:t>
            </a:r>
          </a:p>
          <a:p>
            <a:pPr lvl="1"/>
            <a:r>
              <a:rPr lang="en-US" dirty="0"/>
              <a:t>indirect routing to node (via home network) using tunnels</a:t>
            </a:r>
          </a:p>
          <a:p>
            <a:pPr lvl="1"/>
            <a:r>
              <a:rPr lang="en-US" dirty="0"/>
              <a:t>mobile IP home agent: combined roles of 4G HSS and home P-GW</a:t>
            </a:r>
          </a:p>
          <a:p>
            <a:pPr lvl="1"/>
            <a:r>
              <a:rPr lang="en-US" dirty="0"/>
              <a:t>mobile IP foreign agent: combined roles of 4G MME and S-GW</a:t>
            </a:r>
          </a:p>
          <a:p>
            <a:pPr lvl="1"/>
            <a:r>
              <a:rPr lang="en-US" dirty="0"/>
              <a:t>protocols for agent discovery in visited network, registration of visited location in home network via ICMP extensions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Mobile IP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026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pPr>
              <a:defRPr/>
            </a:pPr>
            <a:r>
              <a:rPr lang="en-US" dirty="0"/>
              <a:t>logically, impact </a:t>
            </a:r>
            <a:r>
              <a:rPr lang="en-US" i="1" dirty="0"/>
              <a:t>should</a:t>
            </a:r>
            <a:r>
              <a:rPr lang="en-US" dirty="0"/>
              <a:t> be minimal …</a:t>
            </a:r>
          </a:p>
          <a:p>
            <a:pPr lvl="1">
              <a:defRPr/>
            </a:pPr>
            <a:r>
              <a:rPr lang="en-US" dirty="0"/>
              <a:t>best effort service model remains unchanged </a:t>
            </a:r>
          </a:p>
          <a:p>
            <a:pPr lvl="1">
              <a:defRPr/>
            </a:pPr>
            <a:r>
              <a:rPr lang="en-US" dirty="0"/>
              <a:t>TCP and UDP can (and do) run over wireless, mobile</a:t>
            </a:r>
          </a:p>
          <a:p>
            <a:pPr>
              <a:defRPr/>
            </a:pPr>
            <a:r>
              <a:rPr lang="en-US" dirty="0"/>
              <a:t>… but performance-wise:</a:t>
            </a:r>
          </a:p>
          <a:p>
            <a:pPr lvl="1">
              <a:defRPr/>
            </a:pPr>
            <a:r>
              <a:rPr lang="en-US" dirty="0"/>
              <a:t>packet loss/delay due to bit-errors (discarded packets, delays for link-layer retransmissions), and handover loss</a:t>
            </a:r>
          </a:p>
          <a:p>
            <a:pPr lvl="1">
              <a:defRPr/>
            </a:pPr>
            <a:r>
              <a:rPr lang="en-US" dirty="0"/>
              <a:t>TCP interprets loss as congestion, will decrease congestion window un-necessarily</a:t>
            </a:r>
          </a:p>
          <a:p>
            <a:pPr lvl="1">
              <a:defRPr/>
            </a:pPr>
            <a:r>
              <a:rPr lang="en-US" dirty="0"/>
              <a:t>delay impairments for real-time traffic</a:t>
            </a:r>
          </a:p>
          <a:p>
            <a:pPr lvl="1">
              <a:defRPr/>
            </a:pPr>
            <a:r>
              <a:rPr lang="en-US" dirty="0"/>
              <a:t>bandwidth a scare resource for wireless links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451821"/>
            <a:ext cx="1077715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Wireless, mobility: impact on higher layer protocols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7078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summary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823785" y="1333500"/>
            <a:ext cx="7047471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818291" y="3379617"/>
            <a:ext cx="10537568" cy="3255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principles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practice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4G/5G networks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Mobile IP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Mobility: impact on higher-layer protocols</a:t>
            </a:r>
            <a:endParaRPr lang="en-US" sz="3000" dirty="0"/>
          </a:p>
        </p:txBody>
      </p:sp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CF0040AD-09CA-8248-A16F-07B3734F66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510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27137</TotalTime>
  <Words>6501</Words>
  <Application>Microsoft Office PowerPoint</Application>
  <PresentationFormat>Widescreen</PresentationFormat>
  <Paragraphs>1815</Paragraphs>
  <Slides>76</Slides>
  <Notes>73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76</vt:i4>
      </vt:variant>
    </vt:vector>
  </HeadingPairs>
  <TitlesOfParts>
    <vt:vector size="86" baseType="lpstr">
      <vt:lpstr>ＭＳ Ｐゴシック</vt:lpstr>
      <vt:lpstr>Arial</vt:lpstr>
      <vt:lpstr>Calibri</vt:lpstr>
      <vt:lpstr>Calibri Light</vt:lpstr>
      <vt:lpstr>Cambria</vt:lpstr>
      <vt:lpstr>Gill Sans MT</vt:lpstr>
      <vt:lpstr>Symbol</vt:lpstr>
      <vt:lpstr>Tahoma</vt:lpstr>
      <vt:lpstr>Wingdings</vt:lpstr>
      <vt:lpstr>Office Theme</vt:lpstr>
      <vt:lpstr>PowerPoint Presentation</vt:lpstr>
      <vt:lpstr>Wireless and Mobile Networks: context</vt:lpstr>
      <vt:lpstr>Chapter 7 outline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Elements of a wireless network</vt:lpstr>
      <vt:lpstr>Elements of a wireless network</vt:lpstr>
      <vt:lpstr>Wireless network taxonomy</vt:lpstr>
      <vt:lpstr>Chapter 7 outline</vt:lpstr>
      <vt:lpstr>Wireless link characteristics (1)</vt:lpstr>
      <vt:lpstr>Wireless link characteristics (2)</vt:lpstr>
      <vt:lpstr>Wireless link characteristics (3)</vt:lpstr>
      <vt:lpstr>Code Division Multiple Access (CDMA)</vt:lpstr>
      <vt:lpstr>CDMA encode/decode</vt:lpstr>
      <vt:lpstr>CDMA: two-sender interference</vt:lpstr>
      <vt:lpstr>PowerPoint Presentation</vt:lpstr>
      <vt:lpstr>PowerPoint Presentation</vt:lpstr>
      <vt:lpstr>PowerPoint Presentation</vt:lpstr>
      <vt:lpstr>Chapter 7 outline</vt:lpstr>
      <vt:lpstr>IEEE 802.11 Wireless LAN</vt:lpstr>
      <vt:lpstr>802.11 LAN architecture</vt:lpstr>
      <vt:lpstr>802.11: Channels, association</vt:lpstr>
      <vt:lpstr>802.11: passive/active scanning</vt:lpstr>
      <vt:lpstr>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802.11: mobility within same subnet</vt:lpstr>
      <vt:lpstr>802.11: advanced capabilities</vt:lpstr>
      <vt:lpstr>802.11: advanced capabilities</vt:lpstr>
      <vt:lpstr>Personal area networks: Bluetooth</vt:lpstr>
      <vt:lpstr>Personal area networks: Bluetooth</vt:lpstr>
      <vt:lpstr>Chapter 7 outline</vt:lpstr>
      <vt:lpstr>4G/5G cellular networks</vt:lpstr>
      <vt:lpstr>4G/5G cellular networks</vt:lpstr>
      <vt:lpstr>Elements of 4G LTE architecture</vt:lpstr>
      <vt:lpstr>Elements of 4G LTE architecture</vt:lpstr>
      <vt:lpstr>Elements of 4G LTE architecture</vt:lpstr>
      <vt:lpstr>Elements of 4G LTE architecture</vt:lpstr>
      <vt:lpstr>Elements of 4G LTE architecture</vt:lpstr>
      <vt:lpstr>LTE: data plane control plane separation</vt:lpstr>
      <vt:lpstr>LTE data plane protocol stack: first hop</vt:lpstr>
      <vt:lpstr>LTE data plane protocol stack: first hop</vt:lpstr>
      <vt:lpstr>LTE data plane protocol stack:  packet core</vt:lpstr>
      <vt:lpstr>LTE data plane: associating with a BS</vt:lpstr>
      <vt:lpstr>LTE mobiles: sleep modes</vt:lpstr>
      <vt:lpstr>Global cellular network: a network of IP networks</vt:lpstr>
      <vt:lpstr>On to 5G!</vt:lpstr>
      <vt:lpstr>Chapter 7 outline</vt:lpstr>
      <vt:lpstr>What is mobility?</vt:lpstr>
      <vt:lpstr>Mobility approaches</vt:lpstr>
      <vt:lpstr>Mobility approaches</vt:lpstr>
      <vt:lpstr>Contacting a mobile friend:</vt:lpstr>
      <vt:lpstr>Home network, visited network: 4G/5G</vt:lpstr>
      <vt:lpstr>Home network, visited network: ISP/WiFi</vt:lpstr>
      <vt:lpstr>Home network, visited network: generic</vt:lpstr>
      <vt:lpstr>Registration: home needs to know where you are!</vt:lpstr>
      <vt:lpstr>Mobility with indirect routing</vt:lpstr>
      <vt:lpstr>Mobility with indirect routing: comments</vt:lpstr>
      <vt:lpstr>Mobility with direct routing</vt:lpstr>
      <vt:lpstr>Mobility with direct routing: comments</vt:lpstr>
      <vt:lpstr>Chapter 7 outline</vt:lpstr>
      <vt:lpstr>Mobility in 4G networks: major mobility tasks</vt:lpstr>
      <vt:lpstr> Configuring LTE control-plane elements</vt:lpstr>
      <vt:lpstr> Configuring data-plane tunnels for mobile</vt:lpstr>
      <vt:lpstr>Handover between BSs in same cellular network</vt:lpstr>
      <vt:lpstr>Handover between BSs in same cellular network</vt:lpstr>
      <vt:lpstr>Mobile IP</vt:lpstr>
      <vt:lpstr>Wireless, mobility: impact on higher layer protocols</vt:lpstr>
      <vt:lpstr>Chapter 7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FIROZ BIN YUSUF PATEL DAWOODI</cp:lastModifiedBy>
  <cp:revision>972</cp:revision>
  <dcterms:created xsi:type="dcterms:W3CDTF">2020-01-18T07:24:59Z</dcterms:created>
  <dcterms:modified xsi:type="dcterms:W3CDTF">2026-01-06T17:29:42Z</dcterms:modified>
</cp:coreProperties>
</file>